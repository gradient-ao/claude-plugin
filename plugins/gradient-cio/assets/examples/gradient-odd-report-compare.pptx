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4.85</c:v>
                </c:pt>
                <c:pt idx="2">
                  <c:v>1.92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</c:v>
                </c:pt>
                <c:pt idx="1">
                  <c:v>28.0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/>
                      <a:t>$12.40B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/>
                      <a:t>$4.85B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/>
                      <a:t>$1.92B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Pos val="outEnd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Ridgeview (n=214)</c:v>
                </c:pt>
                <c:pt idx="1">
                  <c:v>Harbor (n=187)</c:v>
                </c:pt>
                <c:pt idx="2">
                  <c:v>Northfield (n=96)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78.0</c:v>
                </c:pt>
                <c:pt idx="1">
                  <c:v>59.0</c:v>
                </c:pt>
                <c:pt idx="2">
                  <c:v>42.0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Scale differs without deciding mandate fit</a:t>
            </a:r>
          </a:p>
          <a:p>
            <a:r>
              <a:t>Observation: Ridgeview reports the most RAUM and clients; all three report zero Item 11 disclosures [S1][S2][S3]. Why it matters: Scale changes operating complexity, not mandate quality. Uncertainty: Adviser cohorts differ in strategy and client bases. What would change the view: User criteria requiring a named operating-scale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Evidence gaps differ</a:t>
            </a:r>
          </a:p>
          <a:p>
            <a:r>
              <a:t>Observation: Harbor lacks complete provider evidence, while Northfield also lacks catalog identity [S2][S3]. Why it matters: The gaps require different diligence paths before selection. Uncertainty: The public sample omits some corroborating provider detail. What would change the view: Updated governed records resolving either named evidence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Reported overlap is limited</a:t>
            </a:r>
          </a:p>
          <a:p>
            <a:r>
              <a:t>Observation: Ridgeview and Harbor have 18.4% weighted overlap across 31 positions [S6]. Why it matters: Their reported long books are not interchangeable. Uncertainty: Northfield lacks usable same-period Form 13F identity coverage. What would change the view: Complete same-period filings showing materially different weighted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Identity and coverage gaps govern interpretation</a:t>
            </a:r>
          </a:p>
          <a:p>
            <a:r>
              <a:t>Observation: Ridgeview and Harbor have usable consistency checks, while Northfield is outside the catalog [S8][S11][S3]. Why it matters: Evidence depth materially differs across the three managers. Uncertainty: Northfield event coverage and catalog identity remain unavailable. What would change the view: Catalog resolution plus published Northfield event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MANAGER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Global Macro Mandate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73552"/>
            <a:ext cx="9692640" cy="594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Three-manager operational diligence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05072"/>
            <a:ext cx="822960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MANAGERS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15968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FORM ADV AS 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07992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37759"/>
            <a:ext cx="470916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REPORT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29783"/>
            <a:ext cx="4709160" cy="310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80467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556248"/>
            <a:ext cx="8046720" cy="12801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 sample · not client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99032"/>
            <a:ext cx="73152" cy="71302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96112" y="1371600"/>
            <a:ext cx="10588752" cy="498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Two of three managers carry open flags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94933"/>
            <a:ext cx="10908792" cy="247056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2294933"/>
            <a:ext cx="54864" cy="247056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240466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688125"/>
            <a:ext cx="10616184" cy="19859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Three advisers were compared for the global macro mandate: Ridgeview reports $12.40B regulatory AUM, Harbor $4.85B and Northfield $1.92B [S1][S2][S3]. None reports an Item 11 disciplinary disclosure [S1][S2][S3]. Harbor has 2 of 9 private funds with no administrator named and Northfield reports custody through a related person, so both carry medium flags [S2][S3]. Weighted 13F overlap between Ridgeview and Harbor is 18.4% for the 2026-06-30 period [S6]; Northfield is not in the diligence catalog, so it has no 13F, consistency or events evidence. This is an evidence comparison, not a ranking.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75223"/>
            <a:ext cx="2644902" cy="13426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4875223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49808" y="500323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MANAGERS COMPARED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59271"/>
            <a:ext cx="2425446" cy="46994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Named by user [S1]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4710" y="4875223"/>
            <a:ext cx="2644902" cy="13426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3394710" y="4875223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504438" y="500323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MANAGERS WITH FLAGS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259271"/>
            <a:ext cx="2425446" cy="46994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Medium only [S2][S3]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4875223"/>
            <a:ext cx="2644902" cy="13426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149340" y="4875223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259068" y="500323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13F OVERLAP PAIRS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9068" y="5259271"/>
            <a:ext cx="2425446" cy="46994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 of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Same-period filings [S6]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03970" y="4875223"/>
            <a:ext cx="2644902" cy="13426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0" name="Rectangle 29"/>
          <p:cNvSpPr/>
          <p:nvPr/>
        </p:nvSpPr>
        <p:spPr>
          <a:xfrm>
            <a:off x="8903970" y="4875223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013698" y="5003239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11 DISCLOSURES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3698" y="5259271"/>
            <a:ext cx="2425446" cy="46994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All three advisers [S1–S3] [S4]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SHORTLIST 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927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3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3197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Advisors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 flags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ODD report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31971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 Example Capital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$4.85B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Reconcile DDQ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3197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Example Capital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$1.92B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ODD report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546373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Order follows the user's list. Flags are evidence for follow-up, not a verdict on the manager.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8981"/>
            <a:ext cx="10908792" cy="121359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2838981"/>
            <a:ext cx="54864" cy="121359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294870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Open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232173"/>
            <a:ext cx="10616184" cy="72896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of the three managers carry open flags; only Northfield is clean [S1]. Why it matters: Flags must be resolved or accepted before either flagged manager advances. Uncertainty: Flags reflect filings to 2026-10-01 and may lag recent changes. What would change the view: A filing or diligence response that closes the medium-severity flags.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62308"/>
            <a:ext cx="10908792" cy="100388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4162308"/>
            <a:ext cx="54864" cy="1003883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427203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Field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555500"/>
            <a:ext cx="10616184" cy="51925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Three managers are compared on the same mandate [S2]. Why it matters: A three-way field keeps a credible alternative if one candidate drops out. Uncertainty: Strategy fit beyond the filings is not assessed here. What would change the view: A fourth candidate or a mandate change.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75919"/>
            <a:ext cx="10908792" cy="94200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640080" y="5275919"/>
            <a:ext cx="54864" cy="942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804671" y="538564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Disclosures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5669111"/>
            <a:ext cx="10616184" cy="4573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None of the three managers reports an Item 11 disclosure [S3]. Why it matters: There is no disciplinary history to weigh between candidates. Uncertainty: Item 11 covers reportable events only. What would change the view: A new disclosure in an amended Form ADV.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REGULATORY ASSETS UNDER MANAGEMENT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CLIENT COUNT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ITEM 11 DISCLOSURES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RAUM COHORT PERCENTILE POSITIONING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608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CRD / SEC no.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999901 / 801-00001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999902 / 801-00002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999903 / 801-00003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$4.85B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$1.92B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Discretionary share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100.0%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96.2%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100.0%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Clients / main type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41 / pooled vehicles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28 / pooled vehicles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 / pension plans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Employees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Private funds / gross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/ $10.86B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 / $4.10B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/ $1.15B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Custody (Item 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Yes, $10.86B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Yes, $4.10B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Related person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Auditor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 of 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Administrator named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 of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Custodian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 of 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Auditor, administrator and custodian counts are private funds with a provider named in Schedule D 7.B.1, out of funds returned. 'Yes' responses count affirmative Form ADV answers, not disciplinary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TABLE — CONTINUED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93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232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 11 disclosures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'yes' responses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total / positions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$3.21B / 184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$1.07B / 96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not in catalog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 ADV filing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2026-09-12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2026-08-28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2026-03-30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32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Latest 13F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557718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Auditor, administrator and custodian counts are private funds with a provider named in Schedule D 7.B.1, out of funds returned. 'Yes' responses count affirmative Form ADV answers, not disciplinary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50326"/>
            <a:ext cx="10908792" cy="85856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50326"/>
            <a:ext cx="54864" cy="85856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96005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Cohort percentiles are not comparable across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43518"/>
            <a:ext cx="10616184" cy="37393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Each adviser is positioned within its own Gradient-selected cohort (Ridgeview: 214 advisers; Harbor: 187; Northfield: 96) [S7]. Percentiles are positioning, not a quality ranking.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18621"/>
            <a:ext cx="10908792" cy="139929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4818621"/>
            <a:ext cx="54864" cy="139929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4928349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Scale differs without deciding mandate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211813"/>
            <a:ext cx="10616184" cy="91466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Ridgeview reports the most RAUM and clients; all three report zero Item 11 disclosures [S1][S2][S3]. Why it matters: Scale changes operating complexity, not mandate quality. Uncertainty: Adviser…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Operational flags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FLAGS BY SEVERITY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Operational flags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66751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667511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Ridgeview Advisors: no flags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Checked: Form ADV profile, Schedule D service providers, 13F, ADV–13F consistency, open findings [S1][S4][S8][S9]. Events not published [S10].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103120"/>
          <a:ext cx="10908792" cy="200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6751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675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 Example Capital: 2 of 9 private funds name no administrator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Schedule D 7.B.1 rows for Harbor Example Opportunities Fund and Harbor Example Credit Fund leave the administrator blank [S2]. Ask who prepares investor statements.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 Example Capital: PCAOB registry check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Auditor Example Audit LLP is named on all funds; Gradient's PCAOB registry evidence was unavailable (advisory) 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4215383"/>
          <a:ext cx="10908792" cy="2002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6751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6751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Example Capital: custody through a related person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 9 reports a related person with custody of client assets; independent verification answer not found in the returned data 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Example Capital: not in diligence catalog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catalog firm ID, so 13F, consistency, events and findings are not available [S3].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S8 · S9 · S10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Operational flags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Evidence gaps differ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Harbor lacks complete provider evidence, while Northfield also lacks catalog identity [S2][S3]. Why it matters: The gaps require different diligence paths before selection. Uncertainty: The public sample…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overlap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WEIGHTED 13F OVERLAP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1539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overlap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WEIGHTED OVERLAP (PERIOD 2026-06-30)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291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2288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288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18.4%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88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18.4%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28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1004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Ridgeview–Harbor: 31 common positions [S6].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265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TOP SHARED POSITIONS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76973"/>
          <a:ext cx="10908792" cy="149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318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Issuer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CUSIP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31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Index ETF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000000AA1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$412.5M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$138.2M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1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Semiconductor Corp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000000BB2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$96.1M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$41.7M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31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Software Inc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000000CC3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$71.8M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$22.9M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5079426"/>
            <a:ext cx="10908792" cy="113849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5079426"/>
            <a:ext cx="54864" cy="113849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518915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How to read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472618"/>
            <a:ext cx="10616184" cy="65386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Overlap uses same-period, complete SEC Form 13F reported long positions. It excludes shorts, cash, many non-US securities and confidential-treatment holdings, and does not imply manager intent [S6]. 13F is firm-level and lagged; it is not the mandate's portfolio.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Form 13F overlap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Reported overlap is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Ridgeview and Harbor have 18.4% weighted overlap across 31 positions [S6]. Why it matters: Their reported long books are not interchangeable. Uncertainty: Northfield lacks usable same-period Form…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IDENTITY, RECENCY AND SCOPE FLAGS — NOT A DILIGENCE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ADV–13F consistency and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9905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99051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Firm and fund event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50588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event publication is not ready for Ridgeview or Harbor; Northfield is not in the diligence catalog [S10][S3]. Absence is not evidence of no events.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426127"/>
          <a:ext cx="10908792" cy="1943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4859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 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/ 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Identity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59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$3.21B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25.9%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96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subset of RAUM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59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$4.85B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$1.07B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22.1% [S11]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96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Unconfirmed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subset of RAUM [S11]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59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$1.92B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in catalog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479749"/>
            <a:ext cx="10908792" cy="173817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479749"/>
            <a:ext cx="54864" cy="173817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458947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Identity and coverage gaps govern 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872941"/>
            <a:ext cx="10616184" cy="125353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Ridgeview and Harbor have usable consistency checks, while Northfield is outside the catalog [S8][S11][S3]. Why it matters: Evidence depth materially differs across the three managers. Uncertainty: Northfield…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S8 · S10 · S11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WHAT RETURNED AND THE PERMITTED FOLLOW-UP FOR EACH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5239512" cy="3851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48144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profiles (3)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Report 2026-10-01 [S1][S2][S3]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Cohort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Each adviser in its own cohort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13F (2 of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Partly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 not in catalog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Partly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of 3 pairs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ADV–13F consistency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Partly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Identity unconfirmed [S8][S11]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144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Event records not yet published [S10]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8145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 only (rostered): none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61524"/>
            <a:ext cx="5239512" cy="6563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Completeness excludes catalog-inapplicable evidence and treats unpublished events as unavailable, not as a quiet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9144" cy="4892040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23951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NEXT STEPS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600200"/>
          <a:ext cx="5239512" cy="28321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/>
                <a:gridCol w="1746504"/>
                <a:gridCol w="1746504"/>
              </a:tblGrid>
              <a:tr h="70802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Run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flags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080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Reconcile DDQ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Administrator gap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080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Run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Related-person custody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309360" y="4450590"/>
            <a:ext cx="523951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Offers only; no action has been taken.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743198"/>
            <a:ext cx="5239512" cy="14747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Optional, only on request after a previewed dry run: add a manager to the research watchlist or start Form ADV monitoring.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 · S10 · S11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6804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— 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checked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— Harbor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Form ADV profile — Northfield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checked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snapshot — Ridgeview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snapshot — Harbor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get_multi_manager_13f_overlap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Cohort comparison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checked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ADV–13F consistency — Ridgeview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findings — 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get_manager_diligence_findings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get_firm_fund_events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ADV–13F consistency — Harbor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Illustrative, Gradient Maintained — demo data, not the client's holdings or managers. All organizations, portfolios, managers and results in this public example are illustrative.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 · S10 · S11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SOURCE AUDIT TRAIL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41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36804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sha256:9364230b9895a9186656f1afaa4fdd9ff25a070143a72a1b504df9822dbd0c2c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sha256:0ba26a4bbb2e102faee753294979c1138f605a155f985ac94efe3e887fdc52f7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sha256:079104f42a886920dde0e602181eea3c7622408e953d392d251e822c3d4c40fc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sha256:02bde3555a826680ac703dc2f2b89fbb093036a42c537ffa067590dde6b99d98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sha256:ac6a4099593588f1ff12b41d56187683d45a4860c1d6b076ea601db88f9a9544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sha256:92cdf7540064d7e561fae2a2b9b1cb371e49a0421b9ca8ccaf8d5ef73a6ed907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sha256:3cb10846a6ea6eae69552d0fdba086d996c6b674c6e6c2c707ffd556f51bf50d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sha256:052330f5bbf0bf07ded0648cdacf9f452a9be7aef933b86130551d39c5cd9236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sha256:c5b2df526a01725ac3e9171b38b2b72687d5f5faa1864768ec4c3bc85ceeb816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sha256:50e4d573d06639839dc345c94ef1e122c0380d0a1c5e1c5c7477c6e8715cb44f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804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sha256:ac4c506efcb81b48fdc16e42bff6a13136fcc0a2b78fcad838a590e4fccee0ab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scope for every source: Illustrative sample data. Each digest is the SHA-256 fingerprint of the exact data the report used.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 · S9 · S10 · S11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Unsupported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Block type 'two_col' is not available in PowerPoint.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S8 · S11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 and methods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Disclaimer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investment, legal or compliance advice. No manager is ranked or recommended. Form ADV is adviser-reported, not SEC-verified. Form 13F is lagged, long-only reportable exposure. Percentiles are Gradient cohort positioning, not a quality ranking. All names and figures in this public sample are illustrative.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manager diligence review · Data as of 2026-10-01 (Form ADV); 2026-06-30 (Form 13F)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Macro Mandate</dc:title>
  <dc:subject>Manager Comparison</dc:subject>
  <dc:creator>GradientCIO</dc:creator>
  <cp:keywords>Gradient report theme 2.3.0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