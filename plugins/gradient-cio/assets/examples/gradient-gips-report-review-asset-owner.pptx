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Met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Benchmark</c:v>
                </c:pt>
                <c:pt idx="2">
                  <c:v>Valuation</c:v>
                </c:pt>
                <c:pt idx="3">
                  <c:v>Oversight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Partially met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Benchmark</c:v>
                </c:pt>
                <c:pt idx="2">
                  <c:v>Valuation</c:v>
                </c:pt>
                <c:pt idx="3">
                  <c:v>Oversight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1.0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met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Benchmark</c:v>
                </c:pt>
                <c:pt idx="2">
                  <c:v>Valuation</c:v>
                </c:pt>
                <c:pt idx="3">
                  <c:v>Oversight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1.0</c:v>
                </c:pt>
                <c:pt idx="3">
                  <c:v>0.0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found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Sheet1!$A$2:$A$5</c:f>
              <c:strCache>
                <c:ptCount val="4"/>
                <c:pt idx="0">
                  <c:v>Returns</c:v>
                </c:pt>
                <c:pt idx="1">
                  <c:v>Benchmark</c:v>
                </c:pt>
                <c:pt idx="2">
                  <c:v>Valuation</c:v>
                </c:pt>
                <c:pt idx="3">
                  <c:v>Oversight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1.0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cat>
            <c:strRef>
              <c:f>Sheet1!$A$2:$A$4</c:f>
              <c:strCache>
                <c:ptCount val="3"/>
                <c:pt idx="0">
                  <c:v>High</c:v>
                </c:pt>
                <c:pt idx="1">
                  <c:v>Medium</c:v>
                </c:pt>
                <c:pt idx="2">
                  <c:v>Low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</c:v>
                </c:pt>
                <c:pt idx="1">
                  <c:v>2.0</c:v>
                </c:pt>
                <c:pt idx="2">
                  <c:v>1.0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benchmark comparability is bounded</a:t>
            </a:r>
          </a:p>
          <a:p>
            <a:r>
              <a:t>Observation: One benchmark change lacks an effective date [S1, S2]. Why it matters: Period comparability requires dated benchmark lineage. Uncertainty: Approval records supporting the change were not supplied. What would change the view: Follow-up request 1 producing dated approval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oversight controls are not evidenced</a:t>
            </a:r>
          </a:p>
          <a:p>
            <a:r>
              <a:t>Observation: Two control policies, valuation and error correction, are absent [S3]. Why it matters: Reporting oversight cannot be assessed without both policies. Uncertainty: The reviewed custodian package may omit separately maintained policies. What would change the view: Follow-up request 2 producing approved policy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GIPS ASSET OWNER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Public Trust (TEST) — GIPS Asset Owner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Total-fund reporting · SYNTHETIC 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Public Trust (TEST)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Asset owner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Fictional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PREPARED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REVIEW 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2026-10-09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Satisfactory with follow-ups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REQUIREMENTS EVIDENCED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4 of 5 · 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866268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86626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Bottom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38163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Total-fund return and benchmark evidence is present, while benchmark-change and policy documentation remain incomplete [S1][S2][S3].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301876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4980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Return basis and policy benchmark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3394710" y="3301876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0443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PARTIALLY MET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Benchmark-change disclosure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6149340" y="3301876"/>
            <a:ext cx="2644902" cy="45720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25906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MET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Valuation policy evidence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970" y="3301876"/>
            <a:ext cx="2644902" cy="2916043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8903970" y="3301876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013698" y="3429892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FOUND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3685924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Error-correction policy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EVIDENCE COVERAGE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989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9738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9738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Board performance report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Total-fund evidence through 2026-06-30 [S1]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738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benchmark approved for 2026 [S2]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738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Custodian package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Performance schedules supplied; control policies absent 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699472"/>
            <a:ext cx="10908792" cy="124512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Overall assessment:** Satisfactory with follow-ups. Total-fund return and policy-benchmark evidence 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54325"/>
            <a:ext cx="10908792" cy="116359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5054325"/>
            <a:ext cx="54864" cy="116359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516405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total-fund basis is explicit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447517"/>
            <a:ext cx="10616184" cy="67896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board report states that total-fund returns are net of external manager fees [S1]. This explicit basis supports interpretation of the reported results, although it does not establish how every underlying expense is treated or whether the same convention applies outside the reviewed report.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156336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1563361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policy benchmark is identified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07872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investment policy names the benchmark used in the board report [S1, S2]. Matching the two records supports benchmark identity, but the evidence does not by itself establish uninterrupted methodology, approval history, or comparability across every reported period.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98969"/>
            <a:ext cx="10908792" cy="1557527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2998969"/>
            <a:ext cx="54864" cy="1557527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10869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benchmark lineage is incomplete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3392161"/>
            <a:ext cx="10616184" cy="107289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benchmark change is disclosed without an effective date or approval rationale [S1, S2]. That omission prevents period-level lineage testing, so comparability remains bounded until dated approval records identify when the change took effect and why it was adopted.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66225"/>
            <a:ext cx="10908792" cy="155169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640080" y="4666225"/>
            <a:ext cx="54864" cy="1551694"/>
          </a:xfrm>
          <a:prstGeom prst="rect">
            <a:avLst/>
          </a:prstGeom>
          <a:solidFill>
            <a:srgbClr val="FF6B5E"/>
          </a:solidFill>
          <a:ln>
            <a:solidFill>
              <a:srgbClr val="FF6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804671" y="477595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control policies are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5059417"/>
            <a:ext cx="10616184" cy="106706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custodian package does not include valuation or error-correction policies [S3]. Without those two control records, the review cannot assess how pricing exceptions are resolved or how material reporting errors are identified, approved, corrected and communicated.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CHECKLIST STATUS BY AREA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FINDINGS BY SEVERITY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PRIORITY FINDINGS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105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52641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Severity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Detail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date absent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report omits the benchmark-change effective date [S1][S2].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 policy absent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The reviewed package does not include the valuation policy [S3].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641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LOW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Error policy not found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error-correction policy was supplied [S2][S3].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15588"/>
            <a:ext cx="10908792" cy="108180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benchmark-change disclosure omits its effective date, the valuation policy was not supplied, and no</a:t>
            </a:r>
            <a:br/>
            <a:br/>
            <a:r>
              <a:rPr>
                <a:latin typeface="Inter"/>
              </a:rPr>
              <a:t>error-correction policy was found in the reviewed package [S1][S2][S3].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007125"/>
            <a:ext cx="10908792" cy="121079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5007125"/>
            <a:ext cx="54864" cy="121079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511685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benchmark comparability is bounded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400317"/>
            <a:ext cx="10616184" cy="72616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One benchmark change lacks an effective date [S1, S2]. Why it matters: Period comparability requires dated benchmark lineage. Uncertainty: Approval records supporting the change were not supplied…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Findings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489204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oversight controls are not evidenced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0740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Two control policies, valuation and error correction, are absent [S3]. Why it matters: Reporting oversight cannot be assessed without both policies. Uncertainty: The reviewed custodian package may…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Oversight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OVERSIGHT EVIDENCE BY REPORTING AREA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7198"/>
                <a:gridCol w="2727198"/>
                <a:gridCol w="2727198"/>
                <a:gridCol w="2727198"/>
              </a:tblGrid>
              <a:tr h="769620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Incomplete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supplied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Total-fund return 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 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Valuation controls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  <a:tr h="76962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Error correction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Oversight summary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board report presents total-fund returns net of external manager fees and identifies the approved policy</a:t>
            </a:r>
            <a:br/>
            <a:br/>
            <a:r>
              <a:rPr>
                <a:latin typeface="Inter"/>
              </a:rPr>
              <a:t>benchmark [S1][S2]. Oversight evidence is incomplete for the benchmark change because its effective date and</a:t>
            </a:r>
            <a:br/>
            <a:br/>
            <a:r>
              <a:rPr>
                <a:latin typeface="Inter"/>
              </a:rPr>
              <a:t>rationale are absent. The custodian package also does not include the valuation or error-correction policies</a:t>
            </a:r>
            <a:br/>
            <a:br/>
            <a:r>
              <a:rPr>
                <a:latin typeface="Inter"/>
              </a:rPr>
              <a:t>needed to understand the reporting control framework [S3].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Follow-up requests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977665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  Provide the benchmark-change effective date, approval record and rationale.</a:t>
            </a:r>
            <a:br/>
            <a:r>
              <a:rPr>
                <a:latin typeface="Inter"/>
              </a:rPr>
              <a:t>      Closes the 22.C.9 lineage gap [S1][S2].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  Provide the current valuation and error-correction policies.</a:t>
            </a:r>
            <a:br/>
            <a:r>
              <a:rPr>
                <a:latin typeface="Inter"/>
              </a:rPr>
              <a:t>      Closes the control-evidence gaps [S3].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13273"/>
            <a:ext cx="10908792" cy="180464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benchmark-change effective date, approval record and rationale (22.C.9) [S1][S2].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Provide the current valuation and error-correction policies (21.A.6; 22.C.20) [S3].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Findings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Area  ·  Requirement  ·  Provision  ·  Status  ·  Evidence  ·  Finding / follow-up  · </a:t>
            </a:r>
            <a:br/>
            <a:br/>
            <a:r>
              <a:rPr>
                <a:latin typeface="Inter"/>
              </a:rPr>
              <a:t> ·  Returns  ·  Total-fund return basis  ·  Asset Owner 22.A.1  ·  Met  ·  Board report [S1]  ·  —  · </a:t>
            </a:r>
            <a:br/>
            <a:br/>
            <a:r>
              <a:rPr>
                <a:latin typeface="Inter"/>
              </a:rPr>
              <a:t> ·  Benchmark  ·  Policy benchmark identified  ·  Asset Owner 22.C.8  ·  Met  ·  Policy [S2]  ·  —  · </a:t>
            </a:r>
            <a:br/>
            <a:br/>
            <a:r>
              <a:rPr>
                <a:latin typeface="Inter"/>
              </a:rPr>
              <a:t> ·  Benchmark  ·  Change disclosure  ·  Asset Owner 22.C.9  ·  Partially met  ·  Board report [S1]  ·  Effective date absent  · </a:t>
            </a:r>
            <a:br/>
            <a:br/>
            <a:r>
              <a:rPr>
                <a:latin typeface="Inter"/>
              </a:rPr>
              <a:t> ·  Valuation  ·  Valuation policy availability  ·  Asset Owner 21.A.6  ·  Not met  ·  Custodian package [S3]  ·  Policy not supplied  · </a:t>
            </a:r>
            <a:br/>
            <a:br/>
            <a:r>
              <a:rPr>
                <a:latin typeface="Inter"/>
              </a:rPr>
              <a:t> ·  Oversight  ·  Error-correction policy  ·  Asset Owner 22.C.20  ·  Not found  ·  —  ·  Request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·  Tag  ·  Source  ·  Detail  ·  As of  ·  Validation  · </a:t>
            </a:r>
            <a:br/>
            <a:br/>
            <a:r>
              <a:rPr>
                <a:latin typeface="Inter"/>
              </a:rPr>
              <a:t> ·  S1  ·  Board performance report (TEST)  ·  Total-fund pages 2–6  ·  2026-06-30  ·  Synthetic document  · </a:t>
            </a:r>
            <a:br/>
            <a:br/>
            <a:r>
              <a:rPr>
                <a:latin typeface="Inter"/>
              </a:rPr>
              <a:t> ·  S2  ·  Investment policy (TEST)  ·  Benchmark section  ·  2026-01-01  ·  Synthetic document  · </a:t>
            </a:r>
            <a:br/>
            <a:br/>
            <a:r>
              <a:rPr>
                <a:latin typeface="Inter"/>
              </a:rPr>
              <a:t> ·  S3  ·  Custodian package (TEST)  ·  Performance schedules  ·  2026-06-30  ·  Synthetic document  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— Method &amp; disclaimer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4892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This fictional asset-owner review tests the shared GIPS handoff contract. It is not verification, certification, legal advice or an assessment of any real organization.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SYNTHETIC TEST DATA — fictional regression fixture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Public Trust (TEST) — GIPS Asset Owner Review</dc:title>
  <dc:subject>GIPS Review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