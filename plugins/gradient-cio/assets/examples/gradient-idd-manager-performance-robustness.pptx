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Comparison unavailable</a:t>
            </a:r>
          </a:p>
          <a:p>
            <a:r>
              <a:t>Observation: Comparative metrics are unavailable [S1]. Why it matters: No ranking is supportable. Uncertainty: Missing evidence may differ by manager. What would change the view: A governed comparison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Relative evidence missing</a:t>
            </a:r>
          </a:p>
          <a:p>
            <a:r>
              <a:t>Observation: Relative evidence is unavailable [S1]. Why it matters: Benchmark-relative behavior is unknown. Uncertainty: Capture may vary by window. What would change the view: A governed relative-return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Robustness unavailable</a:t>
            </a:r>
          </a:p>
          <a:p>
            <a:r>
              <a:t>Observation: Robustness evidence is unavailable [S1]. Why it matters: Persistence cannot be assessed. Uncertainty: Results may depend on dates. What would change the view: Governed window tests.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664208"/>
            <a:ext cx="9966960" cy="274320"/>
          </a:xfrm>
          <a:prstGeom prst="rect">
            <a:avLst/>
          </a:prstGeom>
          <a:noFill/>
        </p:spPr>
        <p:txBody>
          <a:bodyPr wrap="none" lIns="9144" rIns="9144" tIns="9144" bIns="9144" anchor="t">
            <a:spAutoFit/>
          </a:bodyPr>
          <a:lstStyle/>
          <a:p>
            <a:pPr algn="l">
              <a:spcAft>
                <a:spcPts val="0"/>
              </a:spcAft>
              <a:defRPr sz="850" b="1">
                <a:solidFill>
                  <a:srgbClr val="C6F432"/>
                </a:solidFill>
                <a:latin typeface="Inter"/>
              </a:defRPr>
            </a:pPr>
            <a:r>
              <a:rPr>
                <a:latin typeface="Inter"/>
              </a:rPr>
              <a:t>INVESTMENT DUE DILIGENCE</a:t>
            </a:r>
          </a:p>
        </p:txBody>
      </p:sp>
      <p:sp>
        <p:nvSpPr>
          <p:cNvPr id="6" name="TextBox 5"/>
          <p:cNvSpPr txBox="1"/>
          <p:nvPr/>
        </p:nvSpPr>
        <p:spPr>
          <a:xfrm>
            <a:off x="685800" y="2011680"/>
            <a:ext cx="9966960" cy="1234440"/>
          </a:xfrm>
          <a:prstGeom prst="rect">
            <a:avLst/>
          </a:prstGeom>
          <a:noFill/>
        </p:spPr>
        <p:txBody>
          <a:bodyPr wrap="none" lIns="9144" rIns="9144" tIns="9144" bIns="9144" anchor="t">
            <a:spAutoFit/>
          </a:bodyPr>
          <a:lstStyle/>
          <a:p>
            <a:pPr algn="l">
              <a:spcAft>
                <a:spcPts val="0"/>
              </a:spcAft>
              <a:defRPr sz="3300" b="1">
                <a:solidFill>
                  <a:srgbClr val="FFFFFF"/>
                </a:solidFill>
                <a:latin typeface="Inter"/>
              </a:defRPr>
            </a:pPr>
            <a:r>
              <a:rPr>
                <a:latin typeface="Inter"/>
              </a:rPr>
              <a:t>Northstar Manager Robustness Review</a:t>
            </a:r>
          </a:p>
        </p:txBody>
      </p:sp>
      <p:sp>
        <p:nvSpPr>
          <p:cNvPr id="7" name="TextBox 6"/>
          <p:cNvSpPr txBox="1"/>
          <p:nvPr/>
        </p:nvSpPr>
        <p:spPr>
          <a:xfrm>
            <a:off x="685800" y="3273552"/>
            <a:ext cx="9692640" cy="594360"/>
          </a:xfrm>
          <a:prstGeom prst="rect">
            <a:avLst/>
          </a:prstGeom>
          <a:noFill/>
        </p:spPr>
        <p:txBody>
          <a:bodyPr wrap="none" lIns="9144" rIns="9144" tIns="9144" bIns="9144" anchor="t">
            <a:spAutoFit/>
          </a:bodyPr>
          <a:lstStyle/>
          <a:p>
            <a:pPr algn="l">
              <a:spcAft>
                <a:spcPts val="0"/>
              </a:spcAft>
              <a:defRPr sz="1400" b="0">
                <a:solidFill>
                  <a:srgbClr val="9AA5B1"/>
                </a:solidFill>
                <a:latin typeface="Inter"/>
              </a:defRPr>
            </a:pPr>
            <a:r>
              <a:rPr>
                <a:latin typeface="Inter"/>
              </a:rPr>
              <a:t>Performance consistency across market environments</a:t>
            </a:r>
          </a:p>
        </p:txBody>
      </p:sp>
      <p:sp>
        <p:nvSpPr>
          <p:cNvPr id="8" name="Rectangle 7"/>
          <p:cNvSpPr/>
          <p:nvPr/>
        </p:nvSpPr>
        <p:spPr>
          <a:xfrm>
            <a:off x="685800" y="4005072"/>
            <a:ext cx="822960"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REVIEW</a:t>
            </a:r>
          </a:p>
        </p:txBody>
      </p:sp>
      <p:sp>
        <p:nvSpPr>
          <p:cNvPr id="10" name="TextBox 9"/>
          <p:cNvSpPr txBox="1"/>
          <p:nvPr/>
        </p:nvSpPr>
        <p:spPr>
          <a:xfrm>
            <a:off x="68580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Robustness</a:t>
            </a:r>
          </a:p>
        </p:txBody>
      </p:sp>
      <p:sp>
        <p:nvSpPr>
          <p:cNvPr id="11" name="TextBox 10"/>
          <p:cNvSpPr txBox="1"/>
          <p:nvPr/>
        </p:nvSpPr>
        <p:spPr>
          <a:xfrm>
            <a:off x="585216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PREPARED FOR</a:t>
            </a:r>
          </a:p>
        </p:txBody>
      </p:sp>
      <p:sp>
        <p:nvSpPr>
          <p:cNvPr id="12" name="TextBox 11"/>
          <p:cNvSpPr txBox="1"/>
          <p:nvPr/>
        </p:nvSpPr>
        <p:spPr>
          <a:xfrm>
            <a:off x="585216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Investment Committee</a:t>
            </a:r>
          </a:p>
        </p:txBody>
      </p:sp>
      <p:sp>
        <p:nvSpPr>
          <p:cNvPr id="13" name="TextBox 12"/>
          <p:cNvSpPr txBox="1"/>
          <p:nvPr/>
        </p:nvSpPr>
        <p:spPr>
          <a:xfrm>
            <a:off x="68580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DATA AS OF</a:t>
            </a:r>
          </a:p>
        </p:txBody>
      </p:sp>
      <p:sp>
        <p:nvSpPr>
          <p:cNvPr id="14" name="TextBox 13"/>
          <p:cNvSpPr txBox="1"/>
          <p:nvPr/>
        </p:nvSpPr>
        <p:spPr>
          <a:xfrm>
            <a:off x="68580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2025-12-31</a:t>
            </a:r>
          </a:p>
        </p:txBody>
      </p:sp>
      <p:sp>
        <p:nvSpPr>
          <p:cNvPr id="15" name="TextBox 14"/>
          <p:cNvSpPr txBox="1"/>
          <p:nvPr/>
        </p:nvSpPr>
        <p:spPr>
          <a:xfrm>
            <a:off x="685800" y="6400800"/>
            <a:ext cx="8046720" cy="146304"/>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manager selection review</a:t>
            </a:r>
          </a:p>
        </p:txBody>
      </p:sp>
      <p:sp>
        <p:nvSpPr>
          <p:cNvPr id="16" name="TextBox 15"/>
          <p:cNvSpPr txBox="1"/>
          <p:nvPr/>
        </p:nvSpPr>
        <p:spPr>
          <a:xfrm>
            <a:off x="685800" y="6556248"/>
            <a:ext cx="8046720" cy="128016"/>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Illustrative sample · not client data</a:t>
            </a:r>
          </a:p>
        </p:txBody>
      </p:sp>
      <p:sp>
        <p:nvSpPr>
          <p:cNvPr id="17" name="TextBox 16"/>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EVIDENCE DOES NOT SUPPORT A COMPARATIVE CONCLUSION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conclusion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Rectangle 7"/>
          <p:cNvSpPr/>
          <p:nvPr/>
        </p:nvSpPr>
        <p:spPr>
          <a:xfrm>
            <a:off x="640080" y="1325880"/>
            <a:ext cx="10908792" cy="159938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1599385"/>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Coverage</a:t>
            </a:r>
          </a:p>
        </p:txBody>
      </p:sp>
      <p:sp>
        <p:nvSpPr>
          <p:cNvPr id="11" name="TextBox 10"/>
          <p:cNvSpPr txBox="1"/>
          <p:nvPr/>
        </p:nvSpPr>
        <p:spPr>
          <a:xfrm>
            <a:off x="804671" y="1719072"/>
            <a:ext cx="10616184" cy="111475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Only one of four robustness inputs is available [S1]. Why it matters: Persistence cannot be judged from one input. Uncertainty: Missing windows may change the result. What would change the view: A complete monthly return history.</a:t>
            </a:r>
          </a:p>
        </p:txBody>
      </p:sp>
      <p:sp>
        <p:nvSpPr>
          <p:cNvPr id="12" name="Rectangle 11"/>
          <p:cNvSpPr/>
          <p:nvPr/>
        </p:nvSpPr>
        <p:spPr>
          <a:xfrm>
            <a:off x="640080" y="3034993"/>
            <a:ext cx="10908792" cy="150685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034993"/>
            <a:ext cx="54864" cy="1506858"/>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14472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Benchmarks</a:t>
            </a:r>
          </a:p>
        </p:txBody>
      </p:sp>
      <p:sp>
        <p:nvSpPr>
          <p:cNvPr id="15" name="TextBox 14"/>
          <p:cNvSpPr txBox="1"/>
          <p:nvPr/>
        </p:nvSpPr>
        <p:spPr>
          <a:xfrm>
            <a:off x="804671" y="3428185"/>
            <a:ext cx="10616184" cy="102222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The benchmark match is suggested, not confirmed [S1]. Why it matters: Excess return depends on the right benchmark. Uncertainty: Mandate fit is unconfirmed. What would change the view: A confirmed benchmark mapping.</a:t>
            </a:r>
          </a:p>
        </p:txBody>
      </p:sp>
      <p:sp>
        <p:nvSpPr>
          <p:cNvPr id="16" name="Rectangle 15"/>
          <p:cNvSpPr/>
          <p:nvPr/>
        </p:nvSpPr>
        <p:spPr>
          <a:xfrm>
            <a:off x="640080" y="4651579"/>
            <a:ext cx="10908792" cy="15663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Rectangle 16"/>
          <p:cNvSpPr/>
          <p:nvPr/>
        </p:nvSpPr>
        <p:spPr>
          <a:xfrm>
            <a:off x="640080" y="4651579"/>
            <a:ext cx="54864" cy="156634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04671" y="47613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Reliability</a:t>
            </a:r>
          </a:p>
        </p:txBody>
      </p:sp>
      <p:sp>
        <p:nvSpPr>
          <p:cNvPr id="19" name="TextBox 18"/>
          <p:cNvSpPr txBox="1"/>
          <p:nvPr/>
        </p:nvSpPr>
        <p:spPr>
          <a:xfrm>
            <a:off x="804671" y="5044771"/>
            <a:ext cx="10616184" cy="10817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Rolling-window results are not available [S1]. Why it matters: Without them, skill and luck cannot be separated. Uncertainty: The result may depend on the start date. What would change the view: A date-window robustness run.</a:t>
            </a:r>
          </a:p>
        </p:txBody>
      </p:sp>
      <p:sp>
        <p:nvSpPr>
          <p:cNvPr id="20" name="Rectangle 1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1" name="TextBox 2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2" name="TextBox 2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3" name="TextBox 2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BENCHMARK IDENTITY REMAINS ADVISORY FOR THE REVIEWED CANDIDATES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Coverage and tested windows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244602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2446020">
                <a:tc>
                  <a:txBody>
                    <a:bodyPr/>
                    <a:lstStyle/>
                    <a:p>
                      <a:pPr>
                        <a:defRPr sz="800" b="1">
                          <a:solidFill>
                            <a:srgbClr val="0D1117"/>
                          </a:solidFill>
                          <a:latin typeface="Inter"/>
                        </a:defRPr>
                      </a:pPr>
                      <a:r>
                        <a:rPr>
                          <a:latin typeface="Inter"/>
                        </a:rPr>
                        <a:t>Benchmark mapping</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Not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Canonical match unavailable [S1]</a:t>
                      </a:r>
                    </a:p>
                  </a:txBody>
                  <a:tcPr marL="54864" marR="54864" marT="27432" marB="27432" anchor="ctr">
                    <a:solidFill>
                      <a:srgbClr val="FFFFFF"/>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RISK AND RETURN COMPARISON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Window sensitivity</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Rectangle 7"/>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Governed comparison result missing [S1].</a:t>
            </a:r>
          </a:p>
        </p:txBody>
      </p:sp>
      <p:sp>
        <p:nvSpPr>
          <p:cNvPr id="12" name="Rectangle 11"/>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Comparison unavailable</a:t>
            </a:r>
          </a:p>
        </p:txBody>
      </p:sp>
      <p:sp>
        <p:nvSpPr>
          <p:cNvPr id="15" name="TextBox 14"/>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Comparative metrics are unavailable [S1]. Why it matters: No ranking is supportable. Uncertainty: Missing evidence may differ by manager. What would change the view: A governed comparison…</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RELATIVE AND CAPTURE EVIDENCE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Rolling evidence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Rectangle 7"/>
          <p:cNvSpPr/>
          <p:nvPr/>
        </p:nvSpPr>
        <p:spPr>
          <a:xfrm>
            <a:off x="640080" y="1325880"/>
            <a:ext cx="10908792" cy="237403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74035"/>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88940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Relative-return result missing [S1].</a:t>
            </a:r>
          </a:p>
        </p:txBody>
      </p:sp>
      <p:sp>
        <p:nvSpPr>
          <p:cNvPr id="12" name="Rectangle 11"/>
          <p:cNvSpPr/>
          <p:nvPr/>
        </p:nvSpPr>
        <p:spPr>
          <a:xfrm>
            <a:off x="640080" y="3809643"/>
            <a:ext cx="10908792" cy="240827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09643"/>
            <a:ext cx="54864" cy="240827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1937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Relative evidence missing</a:t>
            </a:r>
          </a:p>
        </p:txBody>
      </p:sp>
      <p:sp>
        <p:nvSpPr>
          <p:cNvPr id="15" name="TextBox 14"/>
          <p:cNvSpPr txBox="1"/>
          <p:nvPr/>
        </p:nvSpPr>
        <p:spPr>
          <a:xfrm>
            <a:off x="804671" y="4202835"/>
            <a:ext cx="10616184" cy="192364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Relative evidence is unavailable [S1]. Why it matters: Benchmark-relative behavior is unknown. Uncertainty: Capture may vary by window. What would change the view: A governed relative-return result.</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PERSISTENCE AND CORRELATION EVIDENCE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Regime evidence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8" name="Rectangle 7"/>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Governed robustness and correlation results missing [S1].</a:t>
            </a:r>
          </a:p>
        </p:txBody>
      </p:sp>
      <p:sp>
        <p:nvSpPr>
          <p:cNvPr id="12" name="Rectangle 11"/>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Robustness unavailable</a:t>
            </a:r>
          </a:p>
        </p:txBody>
      </p:sp>
      <p:sp>
        <p:nvSpPr>
          <p:cNvPr id="15" name="TextBox 14"/>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Robustness evidence is unavailable [S1]. Why it matters: Persistence cannot be assessed. Uncertainty: Results may depend on dates. What would change the view: Governed window tests.</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ONE GOVERNED EVIDENCE REQUEST REMAINS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What changes the view</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0"/>
              </a:spcAft>
              <a:defRPr sz="1000" b="0">
                <a:solidFill>
                  <a:srgbClr val="0D1117"/>
                </a:solidFill>
                <a:latin typeface="Inter"/>
              </a:defRPr>
            </a:pPr>
            <a:r>
              <a:rPr>
                <a:latin typeface="Inter"/>
              </a:rPr>
              <a:t>01  Return canonical benchmark and comparison evidence.</a:t>
            </a:r>
            <a:br/>
            <a:r>
              <a:rPr>
                <a:latin typeface="Inter"/>
              </a:rPr>
              <a:t>      Required to assess manager-relative performance [S1].</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ILLUSTRATIVE SAMPLE EVIDENCE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8" name="Table 7"/>
          <p:cNvGraphicFramePr>
            <a:graphicFrameLocks noGrp="1"/>
          </p:cNvGraphicFramePr>
          <p:nvPr/>
        </p:nvGraphicFramePr>
        <p:xfrm>
          <a:off x="640080" y="1325880"/>
          <a:ext cx="10908792" cy="712350"/>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356175">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Check</a:t>
                      </a:r>
                    </a:p>
                  </a:txBody>
                  <a:tcPr marL="54864" marR="54864" marT="27432" marB="27432" anchor="ctr">
                    <a:solidFill>
                      <a:srgbClr val="0D1117"/>
                    </a:solidFill>
                  </a:tcPr>
                </a:tc>
              </a:tr>
              <a:tr h="356175">
                <a:tc>
                  <a:txBody>
                    <a:bodyPr/>
                    <a:lstStyle/>
                    <a:p>
                      <a:pPr>
                        <a:defRPr sz="72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Typed unavailable test response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2025-12-31</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bl>
          </a:graphicData>
        </a:graphic>
      </p:graphicFrame>
      <p:sp>
        <p:nvSpPr>
          <p:cNvPr id="9" name="TextBox 8"/>
          <p:cNvSpPr txBox="1"/>
          <p:nvPr/>
        </p:nvSpPr>
        <p:spPr>
          <a:xfrm>
            <a:off x="640080" y="2056518"/>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Illustrative, Gradient Maintained — demo data, not the client's holdings or managers. All organizations, portfolios, managers and results in this public example are illustrative.</a:t>
            </a:r>
          </a:p>
        </p:txBody>
      </p:sp>
      <p:sp>
        <p:nvSpPr>
          <p:cNvPr id="10" name="TextBox 9"/>
          <p:cNvSpPr txBox="1"/>
          <p:nvPr/>
        </p:nvSpPr>
        <p:spPr>
          <a:xfrm>
            <a:off x="640080" y="2349126"/>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SOURCE AUDIT TRAIL</a:t>
            </a:r>
          </a:p>
        </p:txBody>
      </p:sp>
      <p:graphicFrame>
        <p:nvGraphicFramePr>
          <p:cNvPr id="11" name="Table 10"/>
          <p:cNvGraphicFramePr>
            <a:graphicFrameLocks noGrp="1"/>
          </p:cNvGraphicFramePr>
          <p:nvPr/>
        </p:nvGraphicFramePr>
        <p:xfrm>
          <a:off x="640080" y="2623446"/>
          <a:ext cx="10908792" cy="438030"/>
        </p:xfrm>
        <a:graphic>
          <a:graphicData uri="http://schemas.openxmlformats.org/drawingml/2006/table">
            <a:tbl>
              <a:tblPr firstRow="1" bandRow="1">
                <a:tableStyleId>{5C22544A-7EE6-4342-B048-85BDC9FD1C3A}</a:tableStyleId>
              </a:tblPr>
              <a:tblGrid>
                <a:gridCol w="2011680"/>
                <a:gridCol w="2965704"/>
                <a:gridCol w="2965704"/>
                <a:gridCol w="2965704"/>
              </a:tblGrid>
              <a:tr h="219015">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Key parameters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Data scope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Digest</a:t>
                      </a:r>
                    </a:p>
                  </a:txBody>
                  <a:tcPr marL="54864" marR="54864" marT="27432" marB="27432" anchor="ctr">
                    <a:solidFill>
                      <a:srgbClr val="0D1117"/>
                    </a:solidFill>
                  </a:tcPr>
                </a:tc>
              </a:tr>
              <a:tr h="219015">
                <a:tc>
                  <a:txBody>
                    <a:bodyPr/>
                    <a:lstStyle/>
                    <a:p>
                      <a:pPr>
                        <a:defRPr sz="80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Illustrative sample data</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sha256:aaaaaaaaaaaaaaaaaaaaaaaaaaaaaaaaaaaaaaaaaaaaaaaaaaaaaaaaaaaaaaaa</a:t>
                      </a:r>
                    </a:p>
                  </a:txBody>
                  <a:tcPr marL="54864" marR="54864" marT="27432" marB="27432" anchor="ctr">
                    <a:solidFill>
                      <a:srgbClr val="FFFFFF"/>
                    </a:solidFill>
                  </a:tcPr>
                </a:tc>
              </a:tr>
            </a:tbl>
          </a:graphicData>
        </a:graphic>
      </p:graphicFrame>
      <p:sp>
        <p:nvSpPr>
          <p:cNvPr id="12" name="TextBox 11"/>
          <p:cNvSpPr txBox="1"/>
          <p:nvPr/>
        </p:nvSpPr>
        <p:spPr>
          <a:xfrm>
            <a:off x="640080" y="3079765"/>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Each digest is the SHA-256 fingerprint of the exact data the report used.</a:t>
            </a:r>
          </a:p>
        </p:txBody>
      </p:sp>
      <p:sp>
        <p:nvSpPr>
          <p:cNvPr id="13" name="Rectangle 12"/>
          <p:cNvSpPr/>
          <p:nvPr/>
        </p:nvSpPr>
        <p:spPr>
          <a:xfrm>
            <a:off x="640080" y="3372373"/>
            <a:ext cx="10908792" cy="127513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372373"/>
            <a:ext cx="54864" cy="127513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348210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Governed evidence boundary</a:t>
            </a:r>
          </a:p>
        </p:txBody>
      </p:sp>
      <p:sp>
        <p:nvSpPr>
          <p:cNvPr id="16" name="TextBox 15"/>
          <p:cNvSpPr txBox="1"/>
          <p:nvPr/>
        </p:nvSpPr>
        <p:spPr>
          <a:xfrm>
            <a:off x="804671" y="3765565"/>
            <a:ext cx="10616184" cy="79050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The report preserves the returned subject identity, benchmark mapping, observation window, units, methods, coverage status and request provenance [S1]. Missing performance, correlation, capture, simulation or regime fields remain unavailable. No local statistics, substitutions, rankings or neutral defaults are introduced.</a:t>
            </a:r>
          </a:p>
        </p:txBody>
      </p:sp>
      <p:sp>
        <p:nvSpPr>
          <p:cNvPr id="17" name="Rectangle 16"/>
          <p:cNvSpPr/>
          <p:nvPr/>
        </p:nvSpPr>
        <p:spPr>
          <a:xfrm>
            <a:off x="640080" y="4757237"/>
            <a:ext cx="10908792" cy="146068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Rectangle 17"/>
          <p:cNvSpPr/>
          <p:nvPr/>
        </p:nvSpPr>
        <p:spPr>
          <a:xfrm>
            <a:off x="640080" y="4757237"/>
            <a:ext cx="54864" cy="146068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804671" y="4866965"/>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Decision-use boundary</a:t>
            </a:r>
          </a:p>
        </p:txBody>
      </p:sp>
      <p:sp>
        <p:nvSpPr>
          <p:cNvPr id="20" name="TextBox 19"/>
          <p:cNvSpPr txBox="1"/>
          <p:nvPr/>
        </p:nvSpPr>
        <p:spPr>
          <a:xfrm>
            <a:off x="804671" y="5150429"/>
            <a:ext cx="10616184" cy="97605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Typed unavailability limits the conclusion and drives the insufficient signal where most required slots are absent [S1]. The evidence supports follow-up collection only; operational diligence and committee decisions remain separate handoffs with their own governed evidence and validation contracts. Every unresolved field remains reader-visible in the delivered report.</a:t>
            </a:r>
          </a:p>
        </p:txBody>
      </p:sp>
      <p:sp>
        <p:nvSpPr>
          <p:cNvPr id="21" name="Rectangle 2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TextBox 2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3" name="TextBox 2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4" name="TextBox 2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ILLUSTRATIVE SAMPLE EVIDENCE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8" name="Rectangle 7"/>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Metric and digest interpretation</a:t>
            </a:r>
          </a:p>
        </p:txBody>
      </p:sp>
      <p:sp>
        <p:nvSpPr>
          <p:cNvPr id="11" name="TextBox 10"/>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Historical claims must use returned realized metrics with their exact periods, while path-distribution statistics must remain explicitly simulated [S1]. Successful tool evidence records the SHA-256 digest of the saved response; a failed call instead uses the typed no-payload sentinel and preserves its error code and request ID in the validation field. These controls prevent simulated statistics or request identifiers from being presented as observed evidence. The source row also retains the tool name, key parameters, as-of date and data scope so a reviewer can reproduce the evidence boundary without treating an unavailable payload as a successful observation. Advisory benchmark selections remain visibly advisory throughout the report and handoff. This distinction tells reviewers which comparisons are server-matched and which still require independent benchmark confirmation.</a:t>
            </a:r>
          </a:p>
        </p:txBody>
      </p:sp>
      <p:sp>
        <p:nvSpPr>
          <p:cNvPr id="12" name="Rectangle 11"/>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4" name="TextBox 13"/>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5" name="TextBox 14"/>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Manager Robustness Review</dc:title>
  <dc:subject>Manager Performance</dc:subject>
  <dc:creator>GradientCIO</dc:creator>
  <cp:keywords>Gradient report theme 2.3.0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