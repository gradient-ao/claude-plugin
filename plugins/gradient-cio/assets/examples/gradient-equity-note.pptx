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2860">
              <a:solidFill>
                <a:srgbClr val="0D1117"/>
              </a:solidFill>
            </a:ln>
          </c:spPr>
          <c:cat>
            <c:strRef>
              <c:f>Sheet1!$A$2:$A$5</c:f>
              <c:strCache>
                <c:ptCount val="4"/>
                <c:pt idx="0">
                  <c:v>2022-12-31</c:v>
                </c:pt>
                <c:pt idx="1">
                  <c:v>2023-12-31</c:v>
                </c:pt>
                <c:pt idx="2">
                  <c:v>2024-12-31</c:v>
                </c:pt>
                <c:pt idx="3">
                  <c:v>2025-12-31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9.8</c:v>
                </c:pt>
                <c:pt idx="1">
                  <c:v>10.7</c:v>
                </c:pt>
                <c:pt idx="2">
                  <c:v>11.68</c:v>
                </c:pt>
                <c:pt idx="3">
                  <c:v>12.4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spPr>
            <a:ln w="22860">
              <a:solidFill>
                <a:srgbClr val="0D1117"/>
              </a:solidFill>
            </a:ln>
          </c:spPr>
          <c:cat>
            <c:strRef>
              <c:f>Sheet1!$A$2:$A$5</c:f>
              <c:strCache>
                <c:ptCount val="4"/>
                <c:pt idx="0">
                  <c:v>2022-12-31</c:v>
                </c:pt>
                <c:pt idx="1">
                  <c:v>2023-12-31</c:v>
                </c:pt>
                <c:pt idx="2">
                  <c:v>2024-12-31</c:v>
                </c:pt>
                <c:pt idx="3">
                  <c:v>2025-12-31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15.2</c:v>
                </c:pt>
                <c:pt idx="1">
                  <c:v>15.9</c:v>
                </c:pt>
                <c:pt idx="2">
                  <c:v>16.1</c:v>
                </c:pt>
                <c:pt idx="3">
                  <c:v>14.8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15.2</c:v>
                </c:pt>
                <c:pt idx="1">
                  <c:v>15.9</c:v>
                </c:pt>
                <c:pt idx="2">
                  <c:v>16.1</c:v>
                </c:pt>
                <c:pt idx="3">
                  <c:v>14.8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Filer ownership</c:v>
                </c:pt>
                <c:pt idx="1">
                  <c:v>Median holder weight</c:v>
                </c:pt>
                <c:pt idx="2">
                  <c:v>Consensus percentile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62.1</c:v>
                </c:pt>
                <c:pt idx="1">
                  <c:v>0.84</c:v>
                </c:pt>
                <c:pt idx="2">
                  <c:v>44.0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Filing changes sharpen review</a:t>
            </a:r>
          </a:p>
          <a:p>
            <a:r>
              <a:t>Observation: Revenue rose while margin fell and a new supply-chain passage appeared [S1][S3][S6]. Why it matters: Holders should distinguish growth from operating and disclosure changes. Uncertainty: Filing language does not quantify impact. What would change the view: Later filings showing margin recovery or removal of the cited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Supplier dependence is the clearest disclosed pressure</a:t>
            </a:r>
          </a:p>
          <a:p>
            <a:r>
              <a:t>Observation: Supplier concentration is evidenced while buyer power is not retrieved [S7]. Why it matters: Disclosed dependency can constrain operating resilience. Uncertainty: Filing text does not measure probability or loss. What would change the view: Diversification evidence or quantified supplier exposure in a later filing.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Ownership is broad but not a directional signal</a:t>
            </a:r>
          </a:p>
          <a:p>
            <a:r>
              <a:t>Observation: 18 of 29 filers report the issuer, but it is absent from building and unwinding panels [S9]. Why it matters: Breadth alone does not establish momentum. Uncertainty: 13F data are delayed and omit shorts. What would change the view: A governed panel showing a sustained build or unwind.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274320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6F432"/>
                </a:solidFill>
                <a:latin typeface="Inter"/>
              </a:defRPr>
            </a:pPr>
            <a:r>
              <a:t>EQUITY RESEARCH 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Inter"/>
              </a:defRPr>
            </a:pPr>
            <a:r>
              <a:t>Example Industrial Corp. (TEST)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9692640" cy="640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AA5B1"/>
                </a:solidFill>
                <a:latin typeface="Inter"/>
              </a:defRPr>
            </a:pPr>
            <a:r>
              <a:t>EXIC · Example Exchange · Industrial machinery · FY ends 12-31 · RENDER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1005840" cy="5486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TICKER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EXIC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CIK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0000000000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LATEST FILING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10-Q, 2026-08-05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FISCAL YEAR 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12-31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PREPARED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Example Allocator (TEST)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REPORT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2026-10-04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80467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t>RENDER TEST — fictional issuer and figures · Not investment advice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6473952"/>
            <a:ext cx="16459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RENDER TEST WITH FICTIONAL DATA — NOT A REAL ISSUER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239512" cy="270165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701654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494690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Bottom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4946904" cy="221702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Example Industrial reported FY2025 revenue of $12.40B, up 6.2% year over year, with operating margin of 14.8% versus 16.1% a year earlier [S1]. Capital expenditures rose 58.0% to $1.32B while free cash flow margin fell to 5.1% [S1][S2], and the latest 10-Q added 3 risk-factor passages [S3]. 18 of 29 cohort hedge funds held the stock at 2026-06-30 [S9]. Sector signal context was unavailable, so completeness is degraded.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37262"/>
            <a:ext cx="1227582" cy="208065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137262"/>
            <a:ext cx="122758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265278"/>
            <a:ext cx="100812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REVENUE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521310"/>
            <a:ext cx="100812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+6.2%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888736"/>
            <a:ext cx="100812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FY2025 vs FY2024, 10-K [S1]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77389" y="4137262"/>
            <a:ext cx="1227582" cy="208065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7389" y="4137262"/>
            <a:ext cx="122758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87117" y="4265278"/>
            <a:ext cx="100812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OPERATING 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7117" y="4521310"/>
            <a:ext cx="100812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14.8%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87117" y="5888736"/>
            <a:ext cx="100812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16.1% prior year [S1]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4700" y="4137262"/>
            <a:ext cx="1227582" cy="208065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4700" y="4137262"/>
            <a:ext cx="122758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4428" y="4265278"/>
            <a:ext cx="100812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NET DEBT / 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4428" y="4521310"/>
            <a:ext cx="100812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1.9x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4428" y="5888736"/>
            <a:ext cx="100812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FY2025 [S1]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52009" y="4137262"/>
            <a:ext cx="1227582" cy="208065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52009" y="4137262"/>
            <a:ext cx="122758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61738" y="4265278"/>
            <a:ext cx="100812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LATEST FILING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1738" y="4521310"/>
            <a:ext cx="100812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10-Q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1738" y="5888736"/>
            <a:ext cx="100812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Filed 2026-08-05 [S5]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1325880"/>
            <a:ext cx="523951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1325880"/>
            <a:ext cx="54864" cy="489204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1435607"/>
            <a:ext cx="494690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Unsupported block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1719072"/>
            <a:ext cx="494690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Block type 'two_col' is not available in PowerPoint.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S5 · S9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issuer and figures · Not investment advice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RENDER TEST WITH FICTIONAL DATA — NOT A REAL ISSUER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summary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EVIDENCE COVERAGE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1979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Fundamentals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FY2025 10-K facts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Change report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8 ranked changes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Filing changes (10-Q vs 10-Q)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partial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 input missing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Peer comparison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partial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 peers, some metrics incomparable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Risk findings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12 findings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Industry 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partial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 of 5 forces evidenced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Earnings release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8-K 2026-07-30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Hedge-fund crowding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 panel [S9]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Sector equity signal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equity_signal_stale_contributors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98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Roster holdings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CUSIP 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S4 · S6 · S7 · S8 · S9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issuer and figures · Not investment advice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RENDER TEST WITH FICTIONAL DATA — NOT A REAL ISSUER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summary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153853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1538533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headline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05390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fictional TEST report carries a 2 items to review signal [S1]. Why it matters: The signal frames the review. Uncertainty: Evidence coverage is bounded. What would change the view: New governed evidence that changes the signal.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74141"/>
            <a:ext cx="10908792" cy="159551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974141"/>
            <a:ext cx="54864" cy="159551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08386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primary 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367333"/>
            <a:ext cx="10616184" cy="111088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Revenue growth is +6.2% in the TEST evidence [S2]. Why it matters: This measure anchors the executive view. Uncertainty: The fixture is deliberately compact. What would change the view: A refreshed source with a materially different value.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79386"/>
            <a:ext cx="10908792" cy="153853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679386"/>
            <a:ext cx="54864" cy="1538533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478911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monitoring priority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5072578"/>
            <a:ext cx="10616184" cy="105390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Latest filing is 10-Q in the TEST evidence [S3]. Why it matters: It identifies a monitoring priority. Uncertainty: Supporting detail is limited. What would change the view: Corroborated evidence that resolves or reverses the item.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issuer and figures · Not investment advice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SEC XBRL FACTS, FY2025 10-K AND 2026 10-QS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Fundamentals, filing changes and risk factors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REVENUE (USD BILLIONS)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OPERATING MARGIN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936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issuer and figures · Not investment advice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SEC XBRL FACTS, FY2025 10-K AND 2026 10-QS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Fundamentals, filing changes and risk factors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FILING-CHANGE INTENSITY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6264"/>
                <a:gridCol w="3636264"/>
                <a:gridCol w="3636264"/>
              </a:tblGrid>
              <a:tr h="153924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Added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Removed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10-Q 2026-08-05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Risk factors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5F6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issuer and figures · Not investment advice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SEC XBRL FACTS, FY2025 10-K AND 2026 10-QS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Fundamentals, filing changes and risk factors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ANNUAL CHANGES (FY2025 VS FY2024, 10-K)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416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73609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FY2025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FY2024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Change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3609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Revenue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$12.40B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$11.68B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+6.2%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3609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Operating income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$1.84B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$1.88B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-2.1%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3609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Operating cash flow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$1.95B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$1.90B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+2.6%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3609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Capital expenditures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$1.32B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$0.84B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+58.0%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3609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Diluted EPS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$4.12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$4.20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-1.9%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03504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t>All values as first filed; no revisions or amendments flagged [S1].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issuer and figures · Not investment advice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SEC XBRL FACTS, FY2025 10-K AND 2026 10-QS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Fundamentals, filing changes and risk factors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OPERATING MARGIN BY FISCAL YEAR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CASH AND CAPITAL ALLOCATION (FY2025)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09360" y="1600200"/>
          <a:ext cx="523951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9756"/>
                <a:gridCol w="2619756"/>
              </a:tblGrid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Free cash flow margin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5.1%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Earnings cash conversion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1.24x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Dividends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$0.31B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Repurchases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$0.22B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Liabilities / equity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1.42x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issuer and figures · Not investment advice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SEC XBRL FACTS, FY2025 10-K AND 2026 10-QS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Fundamentals, filing changes and risk factors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LATEST 10-Q VS PRIOR 10-Q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741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7092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Form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Current filed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Prior filed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Passages added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Passages removed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0923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10-Q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2026-08-05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2026-05-06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2360333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t>Counts of disclosure passages from the filing diff [S3].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2941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RISK-FACTOR FINDINGS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2927261"/>
          <a:ext cx="10908792" cy="1206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402298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Category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Filing language (excerpt)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Filing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Freshness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0229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Supply chain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"Disruptions at single-source suppliers could delay shipments."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10-Q 2026-08-05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new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0229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Competitive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"We face competition from larger, diversified manufacturers."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10-K 2026-02-20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" y="4152444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t>Fictional sample sentences [S6].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45052"/>
            <a:ext cx="10908792" cy="177286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445052"/>
            <a:ext cx="54864" cy="177286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455478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Filing changes sharpen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838244"/>
            <a:ext cx="10616184" cy="128823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Revenue rose while margin fell and a new supply-chain passage appeared [S1][S3][S6]. Why it matters: Holders should distinguish growth from operating and disclosure changes. Uncertainty: Filing language…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S3 · S6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issuer and figures · Not investment advice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USER-SELECTED PEERS; PERIOD-ALIGNED METRICS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Peers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CROWDING MEASURES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issuer and figures · Not investment advice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USER-SELECTED PEERS; PERIOD-ALIGNED METRICS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Peers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0" cy="4690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1172718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EXIC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PEER1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PEER2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Peer median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EXIC rank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17271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Gross margin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31.4%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28.9%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31.5%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 of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17271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FCF margin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7.2%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8.5%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 of 3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17271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Net debt / EBITDA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1.9x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2.6x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1.1x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1.9x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 of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03504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t>Annual periods ending 2025-12-31 [S4]. Rank 1 = most favourable per rank_direction.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issuer and figures · Not investment advice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SUPPLIER CONCENTRATION IS THE CLEAREST DISCLOSED STRUCTURAL 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Industry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2644902" cy="116747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2644902" cy="45720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FORCES EVIDENCED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709928"/>
            <a:ext cx="2425446" cy="4086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2 of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64172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3394710" y="1325880"/>
            <a:ext cx="2644902" cy="116747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4710" y="1325880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443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SINGLE-SOURCE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4438" y="1709928"/>
            <a:ext cx="2425446" cy="4086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Disclosed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4438" y="2164172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6149340" y="1325880"/>
            <a:ext cx="2644902" cy="116747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9340" y="1325880"/>
            <a:ext cx="2644902" cy="45720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906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BUYER POWER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1709928"/>
            <a:ext cx="2425446" cy="4086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Not found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9068" y="2164172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8903970" y="1325880"/>
            <a:ext cx="2644902" cy="116747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03970" y="1325880"/>
            <a:ext cx="2644902" cy="45720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369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EVIDENCE BASIS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3698" y="1709928"/>
            <a:ext cx="2425446" cy="4086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SEC 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3698" y="2164172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640080" y="2603084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INDUSTRY STRUCTURE (DISCLOSURE EVIDENCE)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40080" y="2877404"/>
          <a:ext cx="10908792" cy="1192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29800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Force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9800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Rivalry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Competition disclosure in Item 1A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9800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Supplier power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Single-source supplier disclosure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9800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Buyer power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 matching sentence retrieved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t>● missing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640080" y="4179162"/>
            <a:ext cx="10908792" cy="74718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179162"/>
            <a:ext cx="54864" cy="747184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1" y="428889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How to read this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" y="4572354"/>
            <a:ext cx="10616184" cy="2625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Filing sentences are issuer disclosures, not measurements of industry force strength or moat durability [S7].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036074"/>
            <a:ext cx="10908792" cy="118184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5036074"/>
            <a:ext cx="54864" cy="1181845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" y="5145802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Supplier dependence is the clearest disclosed pressure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1" y="5429266"/>
            <a:ext cx="10616184" cy="69721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Supplier concentration is evidenced while buyer power is not retrieved [S7]. Why it matters: Disclosed dependency can constrain operating resilience. Uncertainty: Filing text does not measure probability…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issuer and figures · Not investment advice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FORM 8-K ITEM 2.02, EX-99.1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Latest earnings release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2681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893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Filed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2026-07-30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893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Items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2.02, 9.01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89383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Guidance changes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None extracted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117118"/>
            <a:ext cx="10908792" cy="210080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Quarterly revenue $3.21B, up 4.0% (GAAP) [S8]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One-time item: none returned [S8]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issuer and figures · Not investment advice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HEDGE-FUND 13F COHORT, PERIOD 2026-06-30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Positioning and crowding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78461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78461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Visual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29998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Not available — No governed visual was returned for this fictional TEST fixture.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20226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EXIC IN THE CROWDING PANELS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2494546"/>
          <a:ext cx="10908792" cy="1598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39973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Consensus rank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14 of 25 shown [S9]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973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Holders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18 of 29 filers (62.1%) [S9]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9973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Median weight (holders)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0.84% [S9]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97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Building / unwinding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in either top-25 panel [S9]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40080" y="4203229"/>
            <a:ext cx="10908792" cy="78461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203229"/>
            <a:ext cx="54864" cy="78461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431295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How to read 13F crowding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596421"/>
            <a:ext cx="10616184" cy="29998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13F filings are delayed (49 days at the report date), cover long U.S.-listed positions only, omit shorts and most non-U.S. exposure, and do not show intent [S9].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097575"/>
            <a:ext cx="10908792" cy="112034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097575"/>
            <a:ext cx="54864" cy="1120344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520730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Ownership is broad but not a directional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5490767"/>
            <a:ext cx="10616184" cy="63571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18 of 29 filers report the issuer, but it is absent from building and unwinding panels [S9]. Why it matters: Breadth alone does not establish momentum. Uncertainty…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issuer and figures · Not investment advice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FIRM-LEVEL FORM 13F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Who holds it on the roster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Not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No CUSIP was available for the issuer, so roster holdings were not checked. This is not evidence that no rostered manager holds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issuer and figures · Not investment advice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— sources and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SOURCES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46177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Tool / 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Fundamentals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fundamentals / fundamentals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not_run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aa11bb22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Change report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fundamentals / change_report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cc33dd44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Filing changes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fundamentals / changes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ee55ff66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Peer comparison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fundamentals / peer_comparison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2026-08-05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advisory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11223344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Filing inventory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filing_evidence / filings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55667788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Risk findings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filing_evidence / risk_findings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99aabbcc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Industry 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filing_evidence / industry_structure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ddeeff00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Earnings release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filing_evidence / earnings_release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2026-07-30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0a1b2c3d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Hedge-fund crowding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market_positioning / hedge_fund_crowding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4e5f6a7b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S4 · S5 · S6 · S7 · S8 · S9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issuer and figures · Not investment advice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— sources and method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SERVER METRIC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188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39612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Server method / 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9612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Net debt / EBITDA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get_public_equity_fundamentals.leverage_metric; preserve returned formula_id, formula_version, period_basis, units and source facts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612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Liabilities / equity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get_public_equity_change_report.leverage_metric; preserve returned formula_id, formula_version, period_basis, units and source facts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2898306"/>
            <a:ext cx="10908792" cy="146269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Review flags: elevated = negative annual operating income or OCF, revised or amended facts, net debt / EBITDA ≥ 3.0x, or filed impairment / restatement / going-concern items; watch = revenue down, operating margin down ≥ 2.0 pts, capex up ≥ 50% with FCF margin down, risk passages added or removed, or ≥ 50% cohort holder share; clear = none; insufficient = fundamentals unavailable.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Sector mapping is SEC SIC to a Gradient sector, not GICS.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470732"/>
            <a:ext cx="10908792" cy="174718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70732"/>
            <a:ext cx="54864" cy="1747187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58046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Disclaimer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863924"/>
            <a:ext cx="10616184" cy="126255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This note summarizes public SEC filings and Gradient-normalized data as of the dates shown. It is not investment, legal, tax or accounting advice, not a recommendation to buy, sell or hold any security, and contains no price target or rating. Filed figures are issuer-reported; Form 13F data is delayed and incomplete. Verify against the source filings before relying on any figure.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issuer and figures · Not investment advice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Industrial Corp. (TEST)</dc:title>
  <dc:subject>Equity Research Note</dc:subject>
  <dc:creator>GradientCIO</dc:creator>
  <cp:keywords/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