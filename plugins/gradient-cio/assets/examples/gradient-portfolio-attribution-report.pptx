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Sheet1!$A$2:$A$6</c:f>
              <c:strCache>
                <c:ptCount val="5"/>
                <c:pt idx="0">
                  <c:v>2025-07-31</c:v>
                </c:pt>
                <c:pt idx="1">
                  <c:v>2025-10-31</c:v>
                </c:pt>
                <c:pt idx="2">
                  <c:v>2026-01-31</c:v>
                </c:pt>
                <c:pt idx="3">
                  <c:v>2026-04-30</c:v>
                </c:pt>
                <c:pt idx="4">
                  <c:v>2026-06-30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102.4</c:v>
                </c:pt>
                <c:pt idx="2">
                  <c:v>104.6</c:v>
                </c:pt>
                <c:pt idx="3">
                  <c:v>106.3</c:v>
                </c:pt>
                <c:pt idx="4">
                  <c:v>108.4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Sheet1!$A$2:$A$6</c:f>
              <c:strCache>
                <c:ptCount val="5"/>
                <c:pt idx="0">
                  <c:v>2025-07-31</c:v>
                </c:pt>
                <c:pt idx="1">
                  <c:v>2025-10-31</c:v>
                </c:pt>
                <c:pt idx="2">
                  <c:v>2026-01-31</c:v>
                </c:pt>
                <c:pt idx="3">
                  <c:v>2026-04-30</c:v>
                </c:pt>
                <c:pt idx="4">
                  <c:v>2026-06-30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100.0</c:v>
                </c:pt>
                <c:pt idx="1">
                  <c:v>102.7</c:v>
                </c:pt>
                <c:pt idx="2">
                  <c:v>105.0</c:v>
                </c:pt>
                <c:pt idx="3">
                  <c:v>106.8</c:v>
                </c:pt>
                <c:pt idx="4">
                  <c:v>109.0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Sheet1!$A$2:$A$4</c:f>
              <c:strCache>
                <c:ptCount val="3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</c:v>
                </c:pt>
                <c:pt idx="1">
                  <c:v>0.0</c:v>
                </c:pt>
                <c:pt idx="2">
                  <c:v>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Sheet1!$A$2:$A$4</c:f>
              <c:strCache>
                <c:ptCount val="3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</c:v>
                </c:pt>
                <c:pt idx="1">
                  <c:v>0.8</c:v>
                </c:pt>
                <c:pt idx="2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FF6B5E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FF6B5E"/>
              </a:solidFill>
            </c:spPr>
          </c:dPt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Private assets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-0.6</c:v>
                </c:pt>
                <c:pt idx="1">
                  <c:v>0.3</c:v>
                </c:pt>
                <c:pt idx="2">
                  <c:v>-0.3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FF6B5E"/>
              </a:solidFill>
            </c:spPr>
          </c:dPt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Private assets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-0.2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Relative returns trailed recently</a:t>
            </a:r>
          </a:p>
          <a:p>
            <a:r>
              <a:t>Observation: The portfolio trailed over QTD, YTD and 1Y [S3]. Why it matters: The pattern establishes context for attribution. Uncertainty: Return totals do not identify causes. What would change the view: A complete later period with sustained positive excess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Equity selection drove detractor</a:t>
            </a:r>
          </a:p>
          <a:p>
            <a:r>
              <a:t>Observation: Public-equity selection is the largest detractor, and its resolved managers have one open finding [S4][S6]. Why it matters: The effect and diligence context concentrate oversight. Uncertainty: The balanced macro regime is contextual, not causal [S7]. What would change the view: Closed findings or refreshed attribution showing a different leading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Assumption lineage remains incomplete</a:t>
            </a:r>
          </a:p>
          <a:p>
            <a:r>
              <a:t>Observation: Ex ante active return is +0.4pp, but no assumption set or regime is linked [S5]. Why it matters: Persisted inputs cannot be tied to a named release. Uncertainty: Input dates may differ by segment. What would change the view: A named release and regime linked to every segment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Public equity changes sign</a:t>
            </a:r>
          </a:p>
          <a:p>
            <a:r>
              <a:t>Observation: Public equity is -0.6pp historically and +0.3pp ex ante [S4][S5]. Why it matters: The sign change separates realized experience from expectations. Uncertainty: The lanes use different periods and weight bases. What would change the view: Refreshed persisted expectations on the intended policy basis.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PORTFOLIO ATTRIBUTION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Example Attribution Portfolio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Historical and governed ex ante attribution · period to 2026-06-30 · prepared for the Investment Committee (TEST)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HISTORICAL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2025-07-31 to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EX ANTE AS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2026-10-08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BASE CURRENCY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USD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BENCHMARK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PARENT COHORT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DATA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Fictional TEST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REALIZED AND ASSUMPTION-BASED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Attribution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61156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61156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Attribution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12693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The portfolio's realized active return was -0.6pp, led by a -0.8pp public-equity selection effect [S4]. Governed ex ante attribution is +0.4pp on persisted one-year expected returns, with fixed-income selection the largest positive effect [S5]. Both lanes reconcile within their returned tolerance, but their realized linked and single-period expected bases are not interchangeable [S4][S5].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47177"/>
            <a:ext cx="2644902" cy="217074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04717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7519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HISTORICAL ACTIVE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3122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-0.6pp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12 months to 2026-06-30 [S4]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4047177"/>
            <a:ext cx="2644902" cy="217074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4710" y="404717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4438" y="417519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LARGEST HISTORICAL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43122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-0.8pp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Public equity selection [S4]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4047177"/>
            <a:ext cx="2644902" cy="217074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9340" y="404717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417519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EX ANTE ACTIVE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43122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+0.4pp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One-year expected basis [S5]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4047177"/>
            <a:ext cx="2644902" cy="217074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3970" y="404717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3698" y="417519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EX ANTE RESIDUAL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43122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0.0bp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Within tolerance [S5]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REALIZED AND ASSUMPTION-BASED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Attribution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AT A GLANCE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775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29596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Evidence-based 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959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result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 return was -0.6pp; public-equity selection was the largest negative effect [S4].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59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 ante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 active return is +0.4pp; fixed-income selection is the largest positive effect [S5].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59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Reconciliation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Both total effects reconcile to their returned active return within tolerance [S4][S5].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59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 ante effects use persisted base-currency expected returns and current cohort weights [S5].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Assumption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597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 required fictional TEST sources are available [S1][S2][S3][S4][S5].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485739"/>
            <a:ext cx="10908792" cy="72893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85739"/>
            <a:ext cx="54864" cy="72893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59546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878931"/>
            <a:ext cx="10616184" cy="24430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This is a monitoring analysis, not an investment recommendation or forecast. Ex ante expected returns and effects are assumptions, not guarantees.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24402"/>
            <a:ext cx="10908792" cy="86210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324402"/>
            <a:ext cx="54864" cy="86210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443413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headline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717594"/>
            <a:ext cx="10616184" cy="37747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report carries a Both lanes reconcile signal [S1]. Why it matters: The signal frames the review. Uncertainty: Evidence coverage is bounded. What would change the view: New governed evidence that changes the signal.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96237"/>
            <a:ext cx="10908792" cy="9216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296237"/>
            <a:ext cx="54864" cy="92168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54059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primary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689429"/>
            <a:ext cx="10616184" cy="4370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Historical active return is -0.6pp in the TEST evidence [S2]. Why it matters: This measure anchors the executive view. Uncertainty: The fixture is deliberately compact. What would change the view: A refreshed source with a materially different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REALIZED AND ASSUMPTION-BASED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Attribution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monitoring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Ex ante residual is 0.0bp in the TEST evidence [S3]. Why it matters: It identifies a monitoring priority. Uncertainty: Supporting detail is limited. What would change the view: Corroborated evidence that resolves or reverses the item.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TWO ATTRIBUTION LANES USE DIFFERENT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Benchmark and Data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3475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Attribution Portfolio (TEST)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2025-07-31 to 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Parent cohort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Root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Benchmark role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 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basis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Monthly total returns; beginning-of-period weights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 ante 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One-year expected returns; current normalized cohort weights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9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910754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METHOD BOUNDARY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5185074"/>
          <a:ext cx="10908790" cy="1032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4428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Lane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Weights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Returns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Horizon / linking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Method 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4428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Beginning of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total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 monthly periods / symmetric Carino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realized_brinson_fachler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428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 ante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 actual and persisted policy weights, normalized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Annualized expected return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One expected period / no linker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1.0.0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S4 · S5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OBSERVED PERFORMANCE PROVIDES CONTEXT, NOT CAUSAL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Returns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GROWTH OF 100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OBSERVED PERFORMANCE PROVIDES CONTEXT, NOT CAUSAL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Returns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STANDARD PERIODS TO 2026-06-30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630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611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611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QTD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611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YTD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4.6%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611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611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3Y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249063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Returned labels, annualization and coverage are preserved [S3].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41671"/>
            <a:ext cx="10908792" cy="167624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541671"/>
            <a:ext cx="54864" cy="167624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65139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Relative returns trailed recently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934863"/>
            <a:ext cx="10616184" cy="11916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portfolio trailed over QTD, YTD and 1Y [S3]. Why it matters: The pattern establishes context for attribution. Uncertainty: Return totals do not identify causes. What would…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ALLOCATION → SELECTION → INTERACTION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HISTORICAL RECONCILIATION AND METHOD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756"/>
                <a:gridCol w="2619756"/>
              </a:tblGrid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-0.6pp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Total effects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-0.6pp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0.0bp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0.00000001pp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Brinson-Fachler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Symmetric Carino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HISTORICAL SEGMENT TOTAL EFFECTS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HISTORICAL TOTAL EFFECTS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548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0975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097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97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-0.8pp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97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975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Total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258679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HISTORICAL SEGMENT EFFECTS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532999"/>
          <a:ext cx="10908792" cy="1023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25576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5576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-0.8pp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576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576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4574344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Rows are returned effects and are not recalculated [S4].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66952"/>
            <a:ext cx="10908792" cy="135096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66952"/>
            <a:ext cx="54864" cy="135096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97668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Equity selection drove detractor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5260144"/>
            <a:ext cx="10616184" cy="86633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Public-equity selection is the largest detractor, and its resolved managers have one open finding [S4][S6]. Why it matters: The effect and diligence context concentrate oversight. Uncertainty: The…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S6 · S7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SINGLE-PERIOD EXPECTED EFFECTS FROM PERSISTED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Governed Ex Ante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GOVERNED EX ANTE SEGMENT TOTAL EFFECTS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SINGLE-PERIOD EXPECTED EFFECTS FROM PERSISTED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Governed Ex Ante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87338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87338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Assumptions, not forecasts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38874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The one-year expected returns and resulting effects are assumptions, not forecasts or guarantees [S5].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08988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EX ANTE TOTAL EFFECTS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583308"/>
          <a:ext cx="10908792" cy="181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6217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6217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17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217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17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Total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4503911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EX ANTE SEGMENT EFFECTS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4778231"/>
          <a:ext cx="10908792" cy="123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3096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Portfolio wt.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Benchmark wt.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Portfolio exp.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Benchmark exp.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096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96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96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" y="6035039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Inputs and effects are returned by the governed ex ante contract [S5].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SINGLE-PERIOD EXPECTED EFFECTS FROM PERSISTED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Governed Ex Ante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EX ANTE RECONCILIATION AND METHOD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3276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095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 active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+0.4pp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5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Total effects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+0.4pp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95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0.0bp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5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Method / version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 Brinson-Fachler / 1.0.0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95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Horizon / linking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One year / none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5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 sources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 and benchmark expected return base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95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Assumption set / regime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linked / Not linked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51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986011"/>
            <a:ext cx="10908792" cy="123190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986011"/>
            <a:ext cx="54864" cy="123190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509573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Assumption lineage remains incomplete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379203"/>
            <a:ext cx="10616184" cy="74727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Ex ante active return is +0.4pp, but no assumption set or regime is linked [S5]. Why it matters: Persisted inputs cannot be tied to a named release…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DIRECTIONAL COMPARISON WITH EXPLICIT BASIS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Historical-versus-Ex-Ante Scope and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SEGMENT EFFECTS BY ATTRIBUTION LANE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115443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Historical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 ante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-0.3</a:t>
                      </a:r>
                    </a:p>
                  </a:txBody>
                  <a:tcPr marL="54864" marR="54864" marT="27432" marB="27432" anchor="ctr">
                    <a:solidFill>
                      <a:srgbClr val="E5F6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-0.2</a:t>
                      </a:r>
                    </a:p>
                  </a:txBody>
                  <a:tcPr marL="54864" marR="54864" marT="27432" marB="27432" anchor="ctr">
                    <a:solidFill>
                      <a:srgbClr val="E0F6A1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DIRECTIONAL COMPARISON WITH EXPLICIT BASIS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Historical-versus-Ex-Ante Scope and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07306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07306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Basis 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58843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Historical effects use realized monthly observations and symmetric-Carino linking; ex ante effects use current normalized cohort weights and one expected period. The values are not directly interchangeable [S4][S5].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0867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DIRECTIONAL COMPARISON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782995"/>
          <a:ext cx="10908792" cy="1763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4075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Historical total 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 ante total 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Direction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 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4075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Changed sign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linked vs expected single period [S4][S5]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075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Same sign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linked vs expected single period [S4][S5]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4075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Same sign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linked vs expected single period [S4][S5]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4655733"/>
            <a:ext cx="10908792" cy="156218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55733"/>
            <a:ext cx="54864" cy="156218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476546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Public equity changes 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048925"/>
            <a:ext cx="10616184" cy="107755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Public equity is -0.6pp historically and +0.3pp ex ante [S4][S5]. Why it matters: The sign change separates realized experience from expectations. Uncertainty: The lanes use different periods…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RECONCILIATION, COVERAGE AND MODEL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Diagnostics and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RECONCILIATION DIAGNOSTICS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281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2727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Lane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Within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Warnings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727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0.0bp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0.00000001pp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Yes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None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727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 ante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0.0bp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0.00000001pp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Yes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Assumption set and regime IDs are null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991757"/>
            <a:ext cx="10908792" cy="322616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Historical effects cover 12 complete monthly observations and use returned symmetric-Carino linking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Ex ante effects use current actual and persisted policy benchmark weights normalized within the root sibling cohort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Persisted expected returns are in USD; currency effects are not separately included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Assumption-set and regime identities are not attached to the persisted expectations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Missing evidence would remain unavailable rather than being treated as zero.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AVAILABILITY OF EVERY EXPECTED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115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Analytics live fictional TEST access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and 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Root cohort; three segments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returns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through 2026-06-30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 monthly periods; residual within tolerance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ex ante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One-year expected basis; residual within tolerance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Largest-detractor manager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One open finding for resolved public-equity managers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Macro regime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Balanced regime context for the historical period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A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71016"/>
                <a:gridCol w="1271016"/>
                <a:gridCol w="1271016"/>
                <a:gridCol w="1271016"/>
                <a:gridCol w="1271016"/>
                <a:gridCol w="1271016"/>
                <a:gridCol w="1271016"/>
              </a:tblGrid>
              <a:tr h="6115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detail=full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and root cohort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view=allocation_tree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returns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get_portfolio_historical_returns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five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policy; root; all sections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ex ante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get_portfolio_ex_ante_attribution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policy; root; 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Largest-detractor manager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get_manager_diligence_findings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view=open; public-equity managers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Macro regime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get_macro_signals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view=gradient_signal; regime_state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B — Server Metric Methods and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281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2727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Lane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727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Allocation, selection, 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Brinson-Fachler with symmetric Carino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governed-portfolio-attribution-v1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Monthly total return; decimal fraction; 1e-10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72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 ante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Allocation, selection, interaction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Single-period expected Brinson-Fachler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1.0.0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Annualized expected return; decimal fraction; 1e-10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991757"/>
            <a:ext cx="10908792" cy="322616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Ex ante expected returns and effects are assumptions, not forecasts or guarantees.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Historical attribution is realized and linked as returned.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Historical and ex ante bases are not directly interchangeable.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Missing evidence is not zero.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AI-assisted monitoring analysis; not investment, legal or compliance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Attribution Portfolio (TEST)</dc:title>
  <dc:subject>Portfolio Attribution Report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