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Private equity</c:v>
                </c:pt>
                <c:pt idx="1">
                  <c:v>Private credit</c:v>
                </c:pt>
                <c:pt idx="2">
                  <c:v>Infrastructure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120000000.0</c:v>
                </c:pt>
                <c:pt idx="1">
                  <c:v>70000000.0</c:v>
                </c:pt>
                <c:pt idx="2">
                  <c:v>40000000.0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Private equity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12.0</c:v>
                </c:pt>
                <c:pt idx="1">
                  <c:v>11.0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Private credit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7.0</c:v>
                </c:pt>
                <c:pt idx="1">
                  <c:v>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Infrastructure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4.0</c:v>
                </c:pt>
                <c:pt idx="1">
                  <c:v>6.0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Secondaries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0.0</c:v>
                </c:pt>
                <c:pt idx="1">
                  <c:v>1.0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2022 and earlier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62.0</c:v>
                </c:pt>
                <c:pt idx="1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2023–2024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28.0</c:v>
                </c:pt>
                <c:pt idx="1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2025–2026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10.0</c:v>
                </c:pt>
                <c:pt idx="1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0.0</c:v>
                </c:pt>
                <c:pt idx="1">
                  <c:v>35.0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2027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0.0</c:v>
                </c:pt>
                <c:pt idx="1">
                  <c:v>35.0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2028</c:v>
                </c:pt>
              </c:strCache>
            </c:strRef>
          </c:tx>
          <c:spPr>
            <a:solidFill>
              <a:srgbClr val="9AA5B1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0">
                  <c:v>0.0</c:v>
                </c:pt>
                <c:pt idx="1">
                  <c:v>30.0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Buyout</c:v>
                </c:pt>
                <c:pt idx="1">
                  <c:v>Venture</c:v>
                </c:pt>
                <c:pt idx="2">
                  <c:v>Secondaries</c:v>
                </c:pt>
                <c:pt idx="3">
                  <c:v>Private credit</c:v>
                </c:pt>
                <c:pt idx="4">
                  <c:v>Infrastructure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Sheet1!$A$2:$A$6</c:f>
              <c:strCache>
                <c:ptCount val="5"/>
                <c:pt idx="0">
                  <c:v>Buyout</c:v>
                </c:pt>
                <c:pt idx="1">
                  <c:v>Venture</c:v>
                </c:pt>
                <c:pt idx="2">
                  <c:v>Secondaries</c:v>
                </c:pt>
                <c:pt idx="3">
                  <c:v>Private credit</c:v>
                </c:pt>
                <c:pt idx="4">
                  <c:v>Infrastructure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1.0</c:v>
                </c:pt>
                <c:pt idx="3">
                  <c:v>1.0</c:v>
                </c:pt>
                <c:pt idx="4">
                  <c:v>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Sheet1!$A$2:$A$6</c:f>
              <c:strCache>
                <c:ptCount val="5"/>
                <c:pt idx="0">
                  <c:v>Buyout</c:v>
                </c:pt>
                <c:pt idx="1">
                  <c:v>Venture</c:v>
                </c:pt>
                <c:pt idx="2">
                  <c:v>Secondaries</c:v>
                </c:pt>
                <c:pt idx="3">
                  <c:v>Private credit</c:v>
                </c:pt>
                <c:pt idx="4">
                  <c:v>Infrastructure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2.0</c:v>
                </c:pt>
                <c:pt idx="1">
                  <c:v>1.0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Private-assets total effect</c:v>
                </c:pt>
                <c:pt idx="1">
                  <c:v>Total active return</c:v>
                </c:pt>
                <c:pt idx="2">
                  <c:v>Residual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Sheet1!$A$2:$A$4</c:f>
              <c:strCache>
                <c:ptCount val="3"/>
                <c:pt idx="0">
                  <c:v>Private-assets total effect</c:v>
                </c:pt>
                <c:pt idx="1">
                  <c:v>Total active return</c:v>
                </c:pt>
                <c:pt idx="2">
                  <c:v>Residual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0.12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Sheet1!$A$2:$A$4</c:f>
              <c:strCache>
                <c:ptCount val="3"/>
                <c:pt idx="0">
                  <c:v>Private-assets total effect</c:v>
                </c:pt>
                <c:pt idx="1">
                  <c:v>Total active return</c:v>
                </c:pt>
                <c:pt idx="2">
                  <c:v>Residual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</c:v>
                </c:pt>
                <c:pt idx="1">
                  <c:v>0.2</c:v>
                </c:pt>
                <c:pt idx="2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9.6%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18.5%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Current ? Private equity</c:v>
                </c:pt>
                <c:pt idx="1">
                  <c:v>Proposed ? Private equity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9.6</c:v>
                </c:pt>
                <c:pt idx="1">
                  <c:v>18.5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Sheet1!$A$2:$A$5</c:f>
              <c:strCache>
                <c:ptCount val="4"/>
                <c:pt idx="0">
                  <c:v>2026-12-31</c:v>
                </c:pt>
                <c:pt idx="1">
                  <c:v>2027-06-30</c:v>
                </c:pt>
                <c:pt idx="2">
                  <c:v>2027-12-31</c:v>
                </c:pt>
                <c:pt idx="3">
                  <c:v>2028-06-30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26.0</c:v>
                </c:pt>
                <c:pt idx="1">
                  <c:v>22.0</c:v>
                </c:pt>
                <c:pt idx="2">
                  <c:v>18.0</c:v>
                </c:pt>
                <c:pt idx="3">
                  <c:v>15.0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Distributions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Sheet1!$A$2:$A$5</c:f>
              <c:strCache>
                <c:ptCount val="4"/>
                <c:pt idx="0">
                  <c:v>2026-12-31</c:v>
                </c:pt>
                <c:pt idx="1">
                  <c:v>2027-06-30</c:v>
                </c:pt>
                <c:pt idx="2">
                  <c:v>2027-12-31</c:v>
                </c:pt>
                <c:pt idx="3">
                  <c:v>2028-06-30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14.0</c:v>
                </c:pt>
                <c:pt idx="1">
                  <c:v>16.0</c:v>
                </c:pt>
                <c:pt idx="2">
                  <c:v>19.0</c:v>
                </c:pt>
                <c:pt idx="3">
                  <c:v>20.0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4.8x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Base liquid coverage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4.8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Liquid / marketable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68.3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Illiquid / restricted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New pacing increases two roles, infrastructure and secondaries, versus the current mix [S6]. Why it matters: The broader mix remains inside policy boundaries [S3]. Uncertainty: CMA, regime and manager-finding coverage remain incomplete [S7]. What would change the view: Liquidity coverage below policy or completed records rejecting either role [S3][S7].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Assumptions frame tradeoffs</a:t>
            </a:r>
          </a:p>
          <a:p>
            <a:r>
              <a:t>Observation: Private equity has higher expected return and volatility than every other selected segment [S5]. Why it matters: Segment sizing balances return potential against modeled risk. Uncertainty: These long-horizon assumptions are not manager forecasts. What would change the view: A governed assumptions refresh reversing either relative ranking [S5].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Coverage supports pacing</a:t>
            </a:r>
          </a:p>
          <a:p>
            <a:r>
              <a:t>Observation: Base liquid coverage is 4.8x against unfunded commitments [S3][S4]. Why it matters: Current resources support the staged pacing case. Uncertainty: A governed denominator-stress result remains unavailable for this portfolio. What would change the view: Lower resources, higher calls, or stress results below the policy threshold [S3][S6].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PRIVATE MARKETS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Private Markets Program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Portfolio construction review · prepared for the Investment Committee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PRIVATE-MARKETS NAV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$230.0M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UNFUNDED COMMITMENTS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$92.0M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Program construction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RECOMMENDATION AND COMMITTEE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99032"/>
            <a:ext cx="73152" cy="103150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96112" y="1371600"/>
            <a:ext cx="10588752" cy="6831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Pacing and concentration need monitoring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13415"/>
            <a:ext cx="10908792" cy="165445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2613415"/>
            <a:ext cx="54864" cy="165445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272314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006607"/>
            <a:ext cx="10616184" cy="116981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a two-year $80.0M commitment program that shifts new commitments toward infrastructure and secondary private equity while keeping private-markets exposure inside the 15.0%–30.0% policy range [S3][S6]. Committee action requested: approve the program ceiling and first-year pacing, subject to manager diligence and quarterly liquidity tests [S3][S7].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377595"/>
            <a:ext cx="2644902" cy="18403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377595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749808" y="450561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PRIVATE-MARKETS WEIGHT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76164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23.0%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range 15.0%–30.0% [S3]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94710" y="4377595"/>
            <a:ext cx="2644902" cy="18403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3394710" y="4377595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3504438" y="450561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UNFUNDED COMMITMENTS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476164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$92.0M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443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9.2% of NAV [S4]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9340" y="4377595"/>
            <a:ext cx="2644902" cy="18403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149340" y="4377595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259068" y="450561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 COVERAGE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476164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4.8x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base case [S3]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03970" y="4377595"/>
            <a:ext cx="2644902" cy="18403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Rectangle 29"/>
          <p:cNvSpPr/>
          <p:nvPr/>
        </p:nvSpPr>
        <p:spPr>
          <a:xfrm>
            <a:off x="8903970" y="4377595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9013698" y="450561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STATUS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476164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Near limit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1369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 concentration [S3]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RECOMMENDATION AND COMMITTEE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97169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971695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action requested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8706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a two-year $80.0M commitment program. Committee action requested: approve a $45.0M first-year ceiling and require completed diligence before each commitment [S3][S6][S7].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0730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SUMMARY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2681623"/>
          <a:ext cx="10908792" cy="13734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4336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33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Program size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$80.0M over two years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33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First-year ceiling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336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fit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Remain within 15.0%–30.0%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4164801"/>
            <a:ext cx="10908792" cy="97169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164801"/>
            <a:ext cx="54864" cy="97169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427452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Conditions and limits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4557993"/>
            <a:ext cx="10616184" cy="48706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Each manager requires completed operational and GIPS diligence; quarterly pacing proceeds only while governed liquidity coverage remains at or above the returned policy threshold [S3][S7].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246224"/>
            <a:ext cx="10908792" cy="97169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640080" y="5246224"/>
            <a:ext cx="54864" cy="97169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04671" y="535595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Pacing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1" y="5639416"/>
            <a:ext cx="10616184" cy="48706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Commitment pacing and manager concentration both need monitoring [S1]. Why it matters: The $45.0M first-year ceiling keeps the program inside its liquidity limits. Uncertainty: Capital calls depend on manager deployment speed. What would change the view: Calls running ahead of the pacing plan.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S6 · S7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RECOMMENDATION AND COMMITTEE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9115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Sleeve size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9065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Private markets are 23.0% of total NAV [S2]. Why it matters: New commitments are sized against this weight and the unfunded balance. Uncertainty: Private valuations lag public markets. What would change the view: A valuation update that moves the weight by more than 2pp.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26763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826763"/>
            <a:ext cx="54864" cy="239115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93649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Policy limit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219955"/>
            <a:ext cx="10616184" cy="19065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private-markets allocation is near its policy limit [S3]. Why it matters: Each new commitment must be checked against the limit before signing. Uncertainty: The limit test uses lagged valuations. What would change the view: Distributions that bring the weight back toward target.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POLICY AND PROGRAM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 and Construction Objective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Diversified private-markets program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 range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15.0%–30.0% of total NAV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FRAMEWORK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markets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15.0%–30.0%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 ratio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NAV, COMMITMENTS AND VALUATION 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Private Markets 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PRIVATE-MARKETS NAV BY STRATEGY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NAV, COMMITMENTS AND VALUATION 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Private Markets Portfolio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PROGRAM SNAPSHOT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20564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51410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1410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$210.0M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410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$70.0M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410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$75.0M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766332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ILPA COMPANY COVERAGE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040652"/>
          <a:ext cx="10908792" cy="1046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271016"/>
                <a:gridCol w="1271016"/>
                <a:gridCol w="1271016"/>
                <a:gridCol w="1271016"/>
                <a:gridCol w="1271016"/>
                <a:gridCol w="1271016"/>
                <a:gridCol w="1271016"/>
              </a:tblGrid>
              <a:tr h="52345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Mapped companies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Valued companies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Assessed / 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Aggregate completeness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Selected artifacts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Reporting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Draft label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34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 /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Incomplete — one unknown-grain holding excluded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Draft — July 22, 2026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197299"/>
            <a:ext cx="10908792" cy="10206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All reported private-market NAVs are dated 2026-03-31 and therefore lag the report date; unfunded amounts are shown separately and are not included in NAV. Company look-through is a non-additive risk overlay; the partial server aggregates assess two of three holdings, with one unknown grain excluded [S4][S9].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480413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equity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85742" y="2038883"/>
            <a:ext cx="1673809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4686071" y="194652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4499705" y="183108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2791206"/>
            <a:ext cx="1480413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credit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48838" y="3193313"/>
            <a:ext cx="125535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Oval 14"/>
          <p:cNvSpPr/>
          <p:nvPr/>
        </p:nvSpPr>
        <p:spPr>
          <a:xfrm>
            <a:off x="3639940" y="310095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3662800" y="298551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3945636"/>
            <a:ext cx="1480413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Infrastructure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39612" y="4347743"/>
            <a:ext cx="1046130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Oval 18"/>
          <p:cNvSpPr/>
          <p:nvPr/>
        </p:nvSpPr>
        <p:spPr>
          <a:xfrm>
            <a:off x="3012262" y="425538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3453574" y="413994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5100066"/>
            <a:ext cx="1480413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Secondaries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11933" y="5502173"/>
            <a:ext cx="627678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Oval 22"/>
          <p:cNvSpPr/>
          <p:nvPr/>
        </p:nvSpPr>
        <p:spPr>
          <a:xfrm>
            <a:off x="2175357" y="540981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2407443" y="529437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TARGET MIX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" name="Rectangle 2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VINTAGE-YEAR MIX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 ALLOCATION CHANGES (PERCENTAGE POINTS)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S6 · S7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VERSUS TARGET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2401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48021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021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8.0%–16.0%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Use slower new pacing 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21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4.0%–10.0%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income role [S5][S7]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021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3.0%–8.0%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Direct new commitments here [S5][S6]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21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Secondaries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Add vintage diversification [S6][S7]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110992"/>
            <a:ext cx="10908792" cy="129683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110992"/>
            <a:ext cx="54864" cy="129683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22072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504184"/>
            <a:ext cx="10616184" cy="81220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New pacing increases two roles, infrastructure and secondaries, versus the current mix [S6]. Why it matters: The broader mix remains inside policy boundaries [S3]. Uncertainty: CMA, regime…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17557"/>
            <a:ext cx="10908792" cy="70036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Targets are a committee proposal from the illustrative mandate and returned policy headroom; they are not changes saved to GradientCIO [S3][S7].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S5 · S6 · S7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EVIDENCE; SLEEVE GAPS REMAIN EXPLICIT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EVIDENCE; SLEEVE GAPS REMAIN EXPLICIT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467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8909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909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 total 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909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total portfolio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17720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ATTRIBUTION EFFECTS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451527"/>
          <a:ext cx="10908792" cy="19486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8717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71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Private-assets total effect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71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active 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717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509952"/>
            <a:ext cx="10908792" cy="70796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method and reconciliation metadata follow 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EVIDENCE; SLEEVE GAPS REMAIN EXPLICIT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METHOD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Brinson-Fachler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bp; reconciled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EXPECTED-RETURN COMPARISON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test-pm-forward-2026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PRIVATE-MARKET FORWARD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30944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773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73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73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7362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804410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804410"/>
            <a:ext cx="54864" cy="84658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91413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Assumptions frame tradeoffs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197601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Private equity has higher expected return and volatility than every other selected segment [S5]. Why it matters: Segment sizing balances return potential against modeled risk. Uncertainty: These…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760720"/>
            <a:ext cx="10908792" cy="4572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figures are long-horizon assumptions under the selected context, not forecasts or guarantees [S5].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COMMITMENT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Pacing and Cash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 PACING (USD MILLIONS)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COMMITMENT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Pacing and Cash Flow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PROJECTED CALLS AND DISTRIBUTIONS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Calls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26,000,000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14,000,000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22,000,000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16,000,000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18,000,000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19,000,000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2028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15,000,000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20,000,000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COMMITMENT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Pacing and Cash Flow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NEAR-TERM PACING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Calls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cash flow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$26.0M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$14.0M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-$12.0M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projection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$22.0M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$16.0M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-$6.0M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projection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$18.0M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$19.0M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+$1.0M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projection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COVERAGE REMAINS ADEQUATE UNDER THE SAMPLE STRESS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Denominator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SCENARIO COVERAGE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COMPOSITION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COVERAGE REMAINS ADEQUATE UNDER THE SAMPLE STRESS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Denominator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PROFILE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1392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797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Bucket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97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 to quarterly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least 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97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Over two years / locked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$230.0M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30.0%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2849162"/>
          <a:ext cx="10908792" cy="2195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54875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$440.0M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75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 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$92.0M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875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4.8x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75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Near-term projected calls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$48.0M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5153923"/>
            <a:ext cx="10908792" cy="106399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5153923"/>
            <a:ext cx="54864" cy="106399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526365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Coverage supports pacing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547115"/>
            <a:ext cx="10616184" cy="57936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Base liquid coverage is 4.8x against unfunded commitments [S3][S4]. Why it matters: Current resources support the staged pacing case. Uncertainty: A governed denominator-stress result remains unavailable for…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COVERAGE REMAINS ADEQUATE UNDER THE SAMPLE STRESS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Denominator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SUPPORTED SCENARIOS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 resources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need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base case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$92.0M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Denominator stress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stress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CONCENTRATION AND PRE-COMMITMENT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Diversification and Manager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DIVERSIFICATION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4488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28977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Axis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metric / 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8977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Private Manager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 exposure; additive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8977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52.2% of private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 exposure; additive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8977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company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Company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24.0% of valued company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Partly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company_concentration; canonical NAV; non-additive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8977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Technology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41.0% of valued company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Partly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sector_concentration; canonical NAV; non-additive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158802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PORTFOLIO-COMPANY EVIDENCE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433122"/>
          <a:ext cx="10908792" cy="8353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88568"/>
                <a:gridCol w="988568"/>
                <a:gridCol w="988568"/>
                <a:gridCol w="988568"/>
                <a:gridCol w="988568"/>
                <a:gridCol w="988568"/>
                <a:gridCol w="988568"/>
                <a:gridCol w="988568"/>
                <a:gridCol w="988568"/>
              </a:tblGrid>
              <a:tr h="2784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Company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 ILPA 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/ reporting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Projected range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Leverage / 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Covenant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Operating-quality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Reconciliation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784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Company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$24.0M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FMV $24.0M in USD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/ 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Leverage 3.0–4.0x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Interest coverage 2.0–3.0x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 compliance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Revenue growth 5%–10%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Matched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846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Company 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$18.0M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FMV $18.0M in USD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/ 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Leverage 4.0–5.0x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Interest coverage 1.5–2.0x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 watch list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EBITDA margin 15%–20%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Matched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4378231"/>
            <a:ext cx="10908792" cy="62025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Selected artifact illustrative-ilpa-artifact-test, version 1; parser ilpa_portfolio_company_draft_2026_07_22 version 1.0.0; projection registry private-markets-holding-exact-to-range-v1, checksum aaaaaaaaaaaaaaaaaaaaaaaaaaaaaaaaaaaaaaaaaaaaaaaaaaaaaaaaaaaaaaaa. Draft — July 22, 2026. Canonical values, exact ILPA source values and projected Gradient ranges remain separate [S9].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08218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 EVIDENCE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" y="5382538"/>
          <a:ext cx="10908792" cy="8353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2784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fund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7846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Private Manager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$114.0M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Medium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Close valuation-control follow-up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846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infrastructure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funded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 manager comparison and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S7 · S9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PHASED COMMITMENTS WITH DECISION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Proposed Program and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 PROGRAM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9737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9475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9475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 and liquid reserve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75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 remains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9475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Secondaries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 and cash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Committee checkpoint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75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2028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Reserve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 be determined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refresh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68370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ALTERNATIVES CONSIDERED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958025"/>
          <a:ext cx="10908792" cy="11734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911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9113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new commitments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liquidity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 exposure declines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Does not address program objective 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113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Front-load 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Faster target progress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Higher near-term calls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 sensitivity [S3][S6]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241161"/>
            <a:ext cx="10908792" cy="97675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Phase each commitment after diligence clearance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Refresh pacing and policy liquidity quarterly [S3][S6].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Return to committee if manager concentration reaches its governed limit [S3].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 · S7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CONDITIONS THAT GOVERN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Risks, Open Items and Approvals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RISKS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and denominator lag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Q1 valuations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Quarterly headroom 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concentration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11.4% vs 12.0%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 follow-on 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Near-term net calls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$18.0M through 2027 H1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liquidity gate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Treasury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ITEMS AND APPROVALS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101083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first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markets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30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Document pacing limits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Final program schedule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valuations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Q2 NAVs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4943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liquidity and concentration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NAV, commitments and unfunded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ILPA portfolio-company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 of 3 holdings assessed; one unknown grain; Draft — July 22, 2026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Commitments charts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pacing projection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diligence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manager not assessed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sleeve-specific return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CMA consensus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context not returned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 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context not returned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Lab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selected series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 allocation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context not returned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Transaction costs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S4 · S5 · S6 · S7 · S8 · S9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6908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Private-market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Commitments and pacing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mandate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/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ILPA company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get_private_markets_holdings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Partly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4165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pages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165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paged; server aggregates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 for every source: Illustrative sample data. Each digest is the SHA-256 fingerprint of the exact data the report used.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9571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9142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9142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portfolio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9142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exposure aggregation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portfolio-exposure-v1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USD; unfunded separate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9142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statistics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Expected-statistics charts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chart-contract-v1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10-year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91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Company concentration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aggregates only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private-markets-holding-exact-to-range-v1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NAV; non-additive; partial coverage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667052"/>
            <a:ext cx="10908792" cy="155086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Private-market valuations may lag the report date [S4]. Company look-through is non-additive to commitment exposure, and exact ILPA source money is not summed across currencies [S9]. The selected portfolio-company artifact is Draft — July 22, 2026, not a final ILPA release [S9]. Forward values are assumptions, not forecasts or guarantees [S5]. Portfolio Analytics and Strategy Lab are separate analytical scopes. This AI-assisted construction analysis is not investment, legal or compliance advice.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Private Markets Program</dc:title>
  <dc:subject>Private Markets Portfolio Construction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