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 equity</c:v>
                </c:pt>
                <c:pt idx="1">
                  <c:v>Private credit</c:v>
                </c:pt>
                <c:pt idx="2">
                  <c:v>Infrastructure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120000000.0</c:v>
                </c:pt>
                <c:pt idx="1">
                  <c:v>70000000.0</c:v>
                </c:pt>
                <c:pt idx="2">
                  <c:v>40000000.0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Private equity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</c:v>
                </c:pt>
                <c:pt idx="1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Infrastructure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6.0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Secondaries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2022 and earlier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62.0</c:v>
                </c:pt>
                <c:pt idx="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2023–2024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28.0</c:v>
                </c:pt>
                <c:pt idx="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2025–2026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2028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0.0</c:v>
                </c:pt>
                <c:pt idx="1">
                  <c:v>30.0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Current ? Private equity</c:v>
                </c:pt>
                <c:pt idx="1">
                  <c:v>Proposed ? Private equity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22.0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Distributions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14.0</c:v>
                </c:pt>
                <c:pt idx="1">
                  <c:v>16.0</c:v>
                </c:pt>
                <c:pt idx="2">
                  <c:v>19.0</c:v>
                </c:pt>
                <c:pt idx="3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 liquid coverage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New pacing increases two roles, infrastructure and secondaries, versus the current mix [S6]. Why it matters: The broader mix remains inside policy boundaries [S3]. Uncertainty: CMA, regime and manager-finding coverage remain incomplete [S7]. What would change the view: Liquidity coverage below policy or completed records rejecting either role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frame tradeoffs</a:t>
            </a:r>
          </a:p>
          <a:p>
            <a:r>
              <a:t>Observation: Private equity has higher expected return and volatility than every other selected segment [S5]. Why it matters: Segment sizing balances return potential against modeled risk. Uncertainty: These long-horizon assumptions are not manager forecasts. What would change the view: A governed assumptions refresh reversing either relative ranking [S5].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Coverage supports pacing</a:t>
            </a:r>
          </a:p>
          <a:p>
            <a:r>
              <a:t>Observation: Base liquid coverage is 4.8x against unfunded commitments [S3][S4]. Why it matters: Current resources support the staged pacing case. Uncertainty: A governed denominator-stress result remains unavailable for this portfolio. What would change the view: Lower resources, higher calls, or stress results below the policy threshold [S3][S6].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PRIVATE MARKETS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Private Markets Program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PRIVATE-MARKETS NAV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$230.0M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Pacing and concentration on watch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5166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5166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0320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 that shifts new commitments toward infrastructure and secondary private equity while keeping private-markets exposure inside the 15.0%–30.0% policy range [S3][S6]. Committee action requested: approve the program ceiling and first-year pacing, subject to manager diligence and quarterly liquidity tests [S3][S7].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23.0%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range 15.0%–30.0%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9.2% of NAV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4.8x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base case [S3]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concentration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7848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784877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002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program. Committee action requested: approve a $45.0M first-year ceiling and require completed diligence before each commitment [S3][S6][S7].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2048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494805"/>
          <a:ext cx="10908792" cy="1266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6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Program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 over two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First-year ceiling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5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fit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Remain within 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3870536"/>
            <a:ext cx="10908792" cy="7848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870536"/>
            <a:ext cx="54864" cy="78487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39802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263728"/>
            <a:ext cx="10616184" cy="3002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manager requires completed operational and GIPS diligence; quarterly pacing proceeds only while governed liquidity coverage remains at or above the returned policy threshold [S3][S7].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65141"/>
            <a:ext cx="10908792" cy="14527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4765141"/>
            <a:ext cx="54864" cy="145277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48748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158333"/>
            <a:ext cx="10616184" cy="9681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pacing-and-concentration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 · S7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28535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28535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007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Private-markets weight is 23.0%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20960"/>
            <a:ext cx="10908792" cy="24969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20960"/>
            <a:ext cx="54864" cy="249695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306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14152"/>
            <a:ext cx="10616184" cy="20123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Policy status is Watch rather than Clear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POLICY AND PROGRAM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Construction Objective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Diversified private-markets program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range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 of total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NAV BY STRATEGY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PROGRAM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033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5831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5831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743198"/>
            <a:ext cx="1090879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reported private-market NAVs are dated 2026-03-31 and therefore lag the report date; unfunded amounts are shown separately and are not included in NAV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4576" y="2038883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025128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8506205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3193313"/>
            <a:ext cx="325069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316218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339078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Infrastructure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5665" y="4347743"/>
            <a:ext cx="2708910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4690872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5797296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Secondaries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5502173"/>
            <a:ext cx="162534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2523744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088386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VINTAGE-YEAR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44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89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slower new pacing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4.0%–10.0%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income role [S5][S7]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new commitments here [S5][S6]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vintage diversification [S6][S7]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54817"/>
            <a:ext cx="10908792" cy="16400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54817"/>
            <a:ext cx="54864" cy="16400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76454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48009"/>
            <a:ext cx="10616184" cy="11554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pacing increases two roles, infrastructure and secondaries, versus the current mix [S6]. Why it matters: The broader mix remains inside policy boundaries [S3]. Uncertainty: CMA, regime…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04597"/>
            <a:ext cx="10908792" cy="8133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Targets are a committee proposal from the fictional mandate and returned policy headroom; they are not changes saved to GradientCIO [S3][S7].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total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total portfolio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07768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352007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Private-assets total effect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test-pm-forward-2026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170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1704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frame tradeoffs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6858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equity has higher expected return and volatility than every other selected segment [S5]. Why it matters: Segment sizing balances return potential against modeled risk. Uncertainty: These…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06103"/>
            <a:ext cx="10908792" cy="1611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figures are long-horizon assumptions under the selected context, not forecasts or guarantees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 (USD MILLIONS)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14,000,000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22,000,000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15,000,000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20,000,000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NEAR-TERM PACING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cash flow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+$1.0M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COVERAGE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006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3559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two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716722"/>
          <a:ext cx="10908792" cy="1989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projected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$48.0M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815824"/>
            <a:ext cx="10908792" cy="14020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815824"/>
            <a:ext cx="54864" cy="14020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9255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Coverage supports pacing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209016"/>
            <a:ext cx="10616184" cy="9174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Base liquid coverage is 4.8x against unfunded commitments [S3][S4]. Why it matters: Current resources support the staged pacing case. Uncertainty: A governed denominator-stress result remains unavailable for…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resources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need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base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DIVERSIFICATION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056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52.2% of private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056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valuation-control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manager 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PHASED COMMITMENTS WITH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Program and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PROGRAM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581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62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liquid reserve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remains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Reserve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 be determined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refresh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9104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65361"/>
          <a:ext cx="10908792" cy="9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68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68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new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exposure declines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program objective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8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Front-load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progress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near-term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sensitivity 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595629"/>
            <a:ext cx="10908792" cy="16222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Phase each commitment after diligence clearance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pacing and policy liquidity quarterly [S3][S6].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Return to committee if manager concentration reaches its governed limit 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CONDITIONS THAT GOVERN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and denominator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Q1 valuations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 headroom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 vs 12.0%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 follow-on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net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 through 2027 H1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liquidity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Treasury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first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pacing limits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Final program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63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NAV, commitments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(TEST)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pacing projection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sleeve-specific return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get_chart_data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evidence and mandate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 document; diligence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765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4148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4148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48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4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75887"/>
            <a:ext cx="10908792" cy="2742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 valuations may lag the report date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Private Markets Program (TEST)</dc:title>
  <dc:subject>Private Markets Portfolio Construction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