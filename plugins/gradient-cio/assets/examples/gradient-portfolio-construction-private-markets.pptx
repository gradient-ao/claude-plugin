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Private equity</c:v>
                </c:pt>
                <c:pt idx="1">
                  <c:v>Private credit</c:v>
                </c:pt>
                <c:pt idx="2">
                  <c:v>Infrastructure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120000000.0</c:v>
                </c:pt>
                <c:pt idx="1">
                  <c:v>70000000.0</c:v>
                </c:pt>
                <c:pt idx="2">
                  <c:v>40000000.0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Private equity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12.0</c:v>
                </c:pt>
                <c:pt idx="1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Private credit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7.0</c:v>
                </c:pt>
                <c:pt idx="1">
                  <c:v>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Infrastructure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4.0</c:v>
                </c:pt>
                <c:pt idx="1">
                  <c:v>6.0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Secondaries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2022 and earlier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62.0</c:v>
                </c:pt>
                <c:pt idx="1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2023–2024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28.0</c:v>
                </c:pt>
                <c:pt idx="1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2025–2026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10.0</c:v>
                </c:pt>
                <c:pt idx="1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35.0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2027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0.0</c:v>
                </c:pt>
                <c:pt idx="1">
                  <c:v>35.0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2028</c:v>
                </c:pt>
              </c:strCache>
            </c:strRef>
          </c:tx>
          <c:spPr>
            <a:solidFill>
              <a:srgbClr val="9AA5B1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0.0</c:v>
                </c:pt>
                <c:pt idx="1">
                  <c:v>30.0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1.0</c:v>
                </c:pt>
                <c:pt idx="4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0.2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9.6%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18.5%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Private equity</c:v>
                </c:pt>
                <c:pt idx="1">
                  <c:v>Proposed ? Private equity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9.6</c:v>
                </c:pt>
                <c:pt idx="1">
                  <c:v>18.5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2026-12-31</c:v>
                </c:pt>
                <c:pt idx="1">
                  <c:v>2027-06-30</c:v>
                </c:pt>
                <c:pt idx="2">
                  <c:v>2027-12-31</c:v>
                </c:pt>
                <c:pt idx="3">
                  <c:v>2028-06-30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26.0</c:v>
                </c:pt>
                <c:pt idx="1">
                  <c:v>22.0</c:v>
                </c:pt>
                <c:pt idx="2">
                  <c:v>18.0</c:v>
                </c:pt>
                <c:pt idx="3">
                  <c:v>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Distributions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Sheet1!$A$2:$A$5</c:f>
              <c:strCache>
                <c:ptCount val="4"/>
                <c:pt idx="0">
                  <c:v>2026-12-31</c:v>
                </c:pt>
                <c:pt idx="1">
                  <c:v>2027-06-30</c:v>
                </c:pt>
                <c:pt idx="2">
                  <c:v>2027-12-31</c:v>
                </c:pt>
                <c:pt idx="3">
                  <c:v>2028-06-30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14.0</c:v>
                </c:pt>
                <c:pt idx="1">
                  <c:v>16.0</c:v>
                </c:pt>
                <c:pt idx="2">
                  <c:v>19.0</c:v>
                </c:pt>
                <c:pt idx="3">
                  <c:v>20.0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4.8x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 liquid coverage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New pacing increases two roles, infrastructure and secondaries, versus the current mix [S6]. Why it matters: The broader mix remains inside policy boundaries [S3]. Uncertainty: CMA, regime and manager-finding coverage remain incomplete [S7]. What would change the view: Liquidity coverage below policy or completed records rejecting either role [S3][S7].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Assumptions frame tradeoffs</a:t>
            </a:r>
          </a:p>
          <a:p>
            <a:r>
              <a:t>Observation: Private equity has higher expected return and volatility than every other selected segment [S5]. Why it matters: Segment sizing balances return potential against modeled risk. Uncertainty: These long-horizon assumptions are not manager forecasts. What would change the view: A governed assumptions refresh reversing either relative ranking [S5].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Coverage supports pacing</a:t>
            </a:r>
          </a:p>
          <a:p>
            <a:r>
              <a:t>Observation: Base liquid coverage is 4.8x against unfunded commitments [S3][S4]. Why it matters: Current resources support the staged pacing case. Uncertainty: A governed denominator-stress result remains unavailable for this portfolio. What would change the view: Lower resources, higher calls, or stress results below the policy threshold [S3][S6].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PRIVATE MARKETS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Private Markets Program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PRIVATE-MARKETS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$230.0M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$92.0M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Program construction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Pacing and concentration on watch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9 of 10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51663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51663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203200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two-year $80.0M commitment program that shifts new commitments toward infrastructure and secondary private equity while keeping private-markets exposure inside the 15.0%–30.0% policy range [S3][S6]. Committee action requested: approve the program ceiling and first-year pacing, subject to manager diligence and quarterly liquidity tests [S3][S7].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95224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PRIVATE-MARKETS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23.0%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range 15.0%–30.0% [S3]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395224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$92.0M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9.2% of NAV [S4]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395224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COVERAGE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4.8x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base case [S3]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395224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Watch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concentration [S3]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7901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790104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3054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two-year $80.0M commitment program. Committee action requested: approve a $45.0M first-year ceiling and require completed diligence before each commitment [S3][S6][S7].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2571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2500032"/>
          <a:ext cx="10908792" cy="1276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1906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06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Program size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$80.0M over two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06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First-year ceiling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06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fit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Remain within 15.0%–30.0%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40080" y="3886021"/>
            <a:ext cx="10908792" cy="7901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3886021"/>
            <a:ext cx="54864" cy="79010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399574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279213"/>
            <a:ext cx="10616184" cy="3054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Each manager requires completed operational and GIPS diligence; quarterly pacing proceeds only while governed liquidity coverage remains at or above the returned policy threshold [S3][S7].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785854"/>
            <a:ext cx="10908792" cy="143206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40080" y="4785854"/>
            <a:ext cx="54864" cy="143206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4671" y="489558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" y="5179046"/>
            <a:ext cx="10616184" cy="94743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pacing-and-concentration signal above the clear threshold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S6 · S7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3184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31848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8338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Private-markets weight is 23.0%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54095"/>
            <a:ext cx="10908792" cy="24638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754095"/>
            <a:ext cx="54864" cy="246382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86382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147287"/>
            <a:ext cx="10616184" cy="19791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Policy status is Watch rather than Clear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POLICY AND PROGRAM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 and Construction Objective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Diversified private-markets program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 range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15.0%–30.0% of total NAV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15.0%–30.0%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NAV, COMMITMENTS AND VALUATION 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Private Markets Portfolio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PRIVATE-MARKETS NAV BY STRATEGY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NAV, COMMITMENTS AND VALUATION 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Private Markets Portfolio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PROGRAM SNAPSHOT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19345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8364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364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364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364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64449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ILPA COMPANY COVERAGE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918814"/>
          <a:ext cx="10908792" cy="9778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48892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Mapped companies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Valued companies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Assessed / 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Aggregate completeness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Selected artifacts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Reporting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Draft label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8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/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 — one unknown-grain holding excluded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Draft — July 22, 2026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5006393"/>
            <a:ext cx="10908792" cy="12115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 reported private-market NAVs are dated 2026-03-31 and therefore lag the report date; unfunded amounts are shown separately and are not included in NAV. Company look-through is a non-additive risk overlay; the partial server aggregates assess two of three holdings, with one unknown grain excluded [S4][S9].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3677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94576" y="2038883"/>
            <a:ext cx="433425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9025128" y="194652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8506205" y="183108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279120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credit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27448" y="3193313"/>
            <a:ext cx="325069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6316218" y="310095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339078" y="298551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394563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Infrastructure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85665" y="4347743"/>
            <a:ext cx="2708910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Oval 19"/>
          <p:cNvSpPr/>
          <p:nvPr/>
        </p:nvSpPr>
        <p:spPr>
          <a:xfrm>
            <a:off x="4690872" y="425538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5797296" y="413994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510006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Secondaries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5502173"/>
            <a:ext cx="162534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Oval 23"/>
          <p:cNvSpPr/>
          <p:nvPr/>
        </p:nvSpPr>
        <p:spPr>
          <a:xfrm>
            <a:off x="2523744" y="540981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3088386" y="529437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Rectangle 2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VINTAGE-YEAR MIX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1944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889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8.0%–16.0%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 slower new pacing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4.0%–10.0%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income role [S5][S7]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3.0%–8.0%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 new commitments here [S5][S6]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98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Secondaries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 vintage diversification [S6][S7]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654817"/>
            <a:ext cx="10908792" cy="16400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654817"/>
            <a:ext cx="54864" cy="16400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76454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048009"/>
            <a:ext cx="10616184" cy="11554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New pacing increases two roles, infrastructure and secondaries, versus the current mix [S6]. Why it matters: The broader mix remains inside policy boundaries [S3]. Uncertainty: CMA, regime…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04597"/>
            <a:ext cx="10908792" cy="8133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Targets are a committee proposal from the illustrative mandate and returned policy headroom; they are not changes saved to GradientCIO [S3][S7].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36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5591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9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total 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59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total portfolio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07768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352007"/>
          <a:ext cx="10908792" cy="1821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554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Private-assets total effect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active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54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5283403"/>
            <a:ext cx="10908792" cy="9345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METHOD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test-pm-forward-2026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 FORWARD ASSUMPTIONS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31704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317049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Assumptions frame tradeoffs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26858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 equity has higher expected return and volatility than every other selected segment [S5]. Why it matters: Segment sizing balances return potential against modeled risk. Uncertainty: These…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06103"/>
            <a:ext cx="10908792" cy="16118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figures are long-horizon assumptions under the selected context, not forecasts or guarantees [S5].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PACING (USD MILLIONS)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26,000,000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14,000,000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22,000,000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16,000,000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18,000,000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19,000,000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2028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15,000,000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20,000,000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NEAR-TERM PACING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cash flow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$26.0M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-$12.0M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$16.0M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-$6.0M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$19.0M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+$1.0M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COVERAGE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COMPOSITION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006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3559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3559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quarterly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559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 two years / locked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2716722"/>
          <a:ext cx="10908792" cy="19893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$92.0M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4.8x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73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Near-term projected calls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$48.0M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4815824"/>
            <a:ext cx="10908792" cy="14020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815824"/>
            <a:ext cx="54864" cy="140209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92555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Coverage supports pacing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5209016"/>
            <a:ext cx="10616184" cy="9174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Base liquid coverage is 4.8x against unfunded commitments [S3][S4]. Why it matters: Current resources support the staged pacing case. Uncertainty: A governed denominator-stress result remains unavailable for…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resources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need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base case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Denominator stress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stress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AND PRE-COMMITMENT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Diversification and Manager Diligence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DIVERSIFICATION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18542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7085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metric / 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Private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 exposure; additive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52.2% of private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 exposure; additive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company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Company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 of valued company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company_concentration; canonical NAV; non-additive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85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Technology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41.0% of valued company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sector_concentration; canonical NAV; non-additive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56418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PORTFOLIO-COMPANY EVIDENCE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838501"/>
          <a:ext cx="10908792" cy="10964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</a:tblGrid>
              <a:tr h="36547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Company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ILPA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/ reporting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Projected 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/ 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Covenant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Operating-quality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Reconciliation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547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Company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FMV $24.0M in USD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/ 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3.0–4.0x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Interest coverage 2.0–3.0x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 compliance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Revenue growth 5%–10%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Matched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48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Company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FMV $18.0M in USD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/ 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4.0–5.0x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Interest coverage 1.5–2.0x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EBITDA margin 15%–20%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Matched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5044666"/>
            <a:ext cx="10908792" cy="117325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Selected artifact illustrative-ilpa-artifact-test, version 1; parser ilpa_portfolio_company_draft_2026_07_22 version 1.0.0; projection registry private-markets-holding-exact-to-range-v1, checksum aaaaaaaaaaaaaaaaaaaaaaaaaaaaaaaaaaaaaaaaaaaaaaaaaaaaaaaaaaaaaaaa. Draft — July 22, 2026. Canonical values, exact ILPA source values and projected Gradient ranges remain separate [S9].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AND PRE-COMMITMENT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Diversification and Manager Diligence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EVIDENCE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Private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$114.0M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Medium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Close valuation-control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infrastructure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manager comparison and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PHASED COMMITMENTS WITH DECISION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Program and 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PROGRAM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15811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1622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 and liquid reserve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remains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Secondaries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 and 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 checkpoint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622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2028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Reserve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 be determined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refresh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29104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565361"/>
          <a:ext cx="10908792" cy="9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068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68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new commitments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 exposure declines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program objective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68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Front-load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Faster target progress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Higher near-term calls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sensitivity 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4595629"/>
            <a:ext cx="10908792" cy="16222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Phase each commitment after diligence clearance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Refresh pacing and policy liquidity quarterly [S3][S6].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Return to committee if manager concentration reaches its governed limit [S3].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CONDITIONS THAT GOVERN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and denominator 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Q1 valuations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 headroom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 vs 12.0%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 follow-on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Near-term net calls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 through 2027 H1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liquidity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Treasury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first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Document pacing limits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Final program schedule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valuations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Q2 NAVs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4943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NAV, commitments and unfunded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ILPA portfolio-company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 — 2 of 3 holdings assessed; one unknown grain; Draft — July 22, 2026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 charts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pacing projection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sleeve-specific return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consensus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series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 costs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 ·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46908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Private-market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 and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get_chart_data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mandate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/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ILPA company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get_private_markets_holdings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paged; server aggregates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494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9891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891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portfolio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91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USD; unfunded separate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891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Expected-statistics charts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9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Company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aggregates only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private-markets-holding-exact-to-range-v1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NAV; non-additive; partial coverage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204484"/>
            <a:ext cx="10908792" cy="20134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 valuations may lag the report date [S4]. Company look-through is non-additive to commitment exposure, and exact ILPA source money is not summed across currencies [S9]. The selected portfolio-company artifact is Draft — July 22, 2026, not a final ILPA release [S9]. Forward values are assumptions, not forecasts or guarantees [S5]. Portfolio Analytics and Strategy Lab are separate analytical scopes. This AI-assisted construction analysis is not investment, legal or compliance advice.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Private Markets Program</dc:title>
  <dc:subject>Private Markets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