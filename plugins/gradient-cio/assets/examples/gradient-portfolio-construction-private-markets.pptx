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  <ns0:sldId id="280" ns1:id="rId31"/>
    <ns0:sldId id="281" ns1:id="rId32"/>
    <ns0:sldId id="282" ns1:id="rId33"/>
    <ns0:sldId id="283" ns1:id="rId34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Private equity</c:v>
                </c:pt>
                <c:pt idx="1">
                  <c:v>Private credit</c:v>
                </c:pt>
                <c:pt idx="2">
                  <c:v>Infrastructure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120000000.0</c:v>
                </c:pt>
                <c:pt idx="1">
                  <c:v>70000000.0</c:v>
                </c:pt>
                <c:pt idx="2">
                  <c:v>40000000.0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Private equity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12.0</c:v>
                </c:pt>
                <c:pt idx="1">
                  <c:v>11.0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Private credit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7.0</c:v>
                </c:pt>
                <c:pt idx="1">
                  <c:v>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Infrastructure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4.0</c:v>
                </c:pt>
                <c:pt idx="1">
                  <c:v>6.0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Secondaries</c:v>
                </c:pt>
              </c:strCache>
            </c:strRef>
          </c:tx>
          <c:spPr>
            <a:solidFill>
              <a:srgbClr val="5B8DEF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0.0</c:v>
                </c:pt>
                <c:pt idx="1">
                  <c:v>1.0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2022 and earlier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Sheet1!$A$2:$A$3</c:f>
              <c:strCache>
                <c:ptCount val="2"/>
                <c:pt idx="0">
                  <c:v>Current NAV</c:v>
                </c:pt>
                <c:pt idx="1">
                  <c:v>Proposed commitments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62.0</c:v>
                </c:pt>
                <c:pt idx="1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2023–2024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Sheet1!$A$2:$A$3</c:f>
              <c:strCache>
                <c:ptCount val="2"/>
                <c:pt idx="0">
                  <c:v>Current NAV</c:v>
                </c:pt>
                <c:pt idx="1">
                  <c:v>Proposed commitments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28.0</c:v>
                </c:pt>
                <c:pt idx="1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2025–2026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Sheet1!$A$2:$A$3</c:f>
              <c:strCache>
                <c:ptCount val="2"/>
                <c:pt idx="0">
                  <c:v>Current NAV</c:v>
                </c:pt>
                <c:pt idx="1">
                  <c:v>Proposed commitments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10.0</c:v>
                </c:pt>
                <c:pt idx="1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5B8DEF"/>
            </a:solidFill>
          </c:spPr>
          <c:cat>
            <c:strRef>
              <c:f>Sheet1!$A$2:$A$3</c:f>
              <c:strCache>
                <c:ptCount val="2"/>
                <c:pt idx="0">
                  <c:v>Current NAV</c:v>
                </c:pt>
                <c:pt idx="1">
                  <c:v>Proposed commitments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0.0</c:v>
                </c:pt>
                <c:pt idx="1">
                  <c:v>35.0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2027</c:v>
                </c:pt>
              </c:strCache>
            </c:strRef>
          </c:tx>
          <c:spPr>
            <a:solidFill>
              <a:srgbClr val="FF6B5E"/>
            </a:solidFill>
          </c:spPr>
          <c:cat>
            <c:strRef>
              <c:f>Sheet1!$A$2:$A$3</c:f>
              <c:strCache>
                <c:ptCount val="2"/>
                <c:pt idx="0">
                  <c:v>Current NAV</c:v>
                </c:pt>
                <c:pt idx="1">
                  <c:v>Proposed commitments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0.0</c:v>
                </c:pt>
                <c:pt idx="1">
                  <c:v>35.0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2028</c:v>
                </c:pt>
              </c:strCache>
            </c:strRef>
          </c:tx>
          <c:spPr>
            <a:solidFill>
              <a:srgbClr val="9AA5B1"/>
            </a:solidFill>
          </c:spPr>
          <c:cat>
            <c:strRef>
              <c:f>Sheet1!$A$2:$A$3</c:f>
              <c:strCache>
                <c:ptCount val="2"/>
                <c:pt idx="0">
                  <c:v>Current NAV</c:v>
                </c:pt>
                <c:pt idx="1">
                  <c:v>Proposed commitments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0.0</c:v>
                </c:pt>
                <c:pt idx="1">
                  <c:v>30.0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Buyout</c:v>
                </c:pt>
                <c:pt idx="1">
                  <c:v>Venture</c:v>
                </c:pt>
                <c:pt idx="2">
                  <c:v>Secondaries</c:v>
                </c:pt>
                <c:pt idx="3">
                  <c:v>Private credit</c:v>
                </c:pt>
                <c:pt idx="4">
                  <c:v>Infrastructure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C6F432"/>
            </a:solidFill>
          </c:spPr>
          <c:cat>
            <c:strRef>
              <c:f>Sheet1!$A$2:$A$6</c:f>
              <c:strCache>
                <c:ptCount val="5"/>
                <c:pt idx="0">
                  <c:v>Buyout</c:v>
                </c:pt>
                <c:pt idx="1">
                  <c:v>Venture</c:v>
                </c:pt>
                <c:pt idx="2">
                  <c:v>Secondaries</c:v>
                </c:pt>
                <c:pt idx="3">
                  <c:v>Private credit</c:v>
                </c:pt>
                <c:pt idx="4">
                  <c:v>Infrastructure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FF6B5E"/>
            </a:solidFill>
          </c:spPr>
          <c:cat>
            <c:strRef>
              <c:f>Sheet1!$A$2:$A$6</c:f>
              <c:strCache>
                <c:ptCount val="5"/>
                <c:pt idx="0">
                  <c:v>Buyout</c:v>
                </c:pt>
                <c:pt idx="1">
                  <c:v>Venture</c:v>
                </c:pt>
                <c:pt idx="2">
                  <c:v>Secondaries</c:v>
                </c:pt>
                <c:pt idx="3">
                  <c:v>Private credit</c:v>
                </c:pt>
                <c:pt idx="4">
                  <c:v>Infrastructure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Private-assets total effect</c:v>
                </c:pt>
                <c:pt idx="1">
                  <c:v>Total active return</c:v>
                </c:pt>
                <c:pt idx="2">
                  <c:v>Residual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C6F432"/>
            </a:solidFill>
          </c:spPr>
          <c:cat>
            <c:strRef>
              <c:f>Sheet1!$A$2:$A$4</c:f>
              <c:strCache>
                <c:ptCount val="3"/>
                <c:pt idx="0">
                  <c:v>Private-assets total effect</c:v>
                </c:pt>
                <c:pt idx="1">
                  <c:v>Total active return</c:v>
                </c:pt>
                <c:pt idx="2">
                  <c:v>Residual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0.12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FF6B5E"/>
            </a:solidFill>
          </c:spPr>
          <c:cat>
            <c:strRef>
              <c:f>Sheet1!$A$2:$A$4</c:f>
              <c:strCache>
                <c:ptCount val="3"/>
                <c:pt idx="0">
                  <c:v>Private-assets total effect</c:v>
                </c:pt>
                <c:pt idx="1">
                  <c:v>Total active return</c:v>
                </c:pt>
                <c:pt idx="2">
                  <c:v>Residual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</c:v>
                </c:pt>
                <c:pt idx="1">
                  <c:v>0.2</c:v>
                </c:pt>
                <c:pt idx="2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9.6%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18.5%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Current ? Private equity</c:v>
                </c:pt>
                <c:pt idx="1">
                  <c:v>Proposed ? Private equity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9.6</c:v>
                </c:pt>
                <c:pt idx="1">
                  <c:v>18.5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ln w="22860">
              <a:solidFill>
                <a:srgbClr val="0D1117"/>
              </a:solidFill>
            </a:ln>
          </c:spPr>
          <c:cat>
            <c:strRef>
              <c:f>Sheet1!$A$2:$A$5</c:f>
              <c:strCache>
                <c:ptCount val="4"/>
                <c:pt idx="0">
                  <c:v>2026-12-31</c:v>
                </c:pt>
                <c:pt idx="1">
                  <c:v>2027-06-30</c:v>
                </c:pt>
                <c:pt idx="2">
                  <c:v>2027-12-31</c:v>
                </c:pt>
                <c:pt idx="3">
                  <c:v>2028-06-30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26.0</c:v>
                </c:pt>
                <c:pt idx="1">
                  <c:v>22.0</c:v>
                </c:pt>
                <c:pt idx="2">
                  <c:v>18.0</c:v>
                </c:pt>
                <c:pt idx="3">
                  <c:v>15.0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Distributions</c:v>
                </c:pt>
              </c:strCache>
            </c:strRef>
          </c:tx>
          <c:spPr>
            <a:ln w="22860">
              <a:solidFill>
                <a:srgbClr val="7FA600"/>
              </a:solidFill>
            </a:ln>
          </c:spPr>
          <c:cat>
            <c:strRef>
              <c:f>Sheet1!$A$2:$A$5</c:f>
              <c:strCache>
                <c:ptCount val="4"/>
                <c:pt idx="0">
                  <c:v>2026-12-31</c:v>
                </c:pt>
                <c:pt idx="1">
                  <c:v>2027-06-30</c:v>
                </c:pt>
                <c:pt idx="2">
                  <c:v>2027-12-31</c:v>
                </c:pt>
                <c:pt idx="3">
                  <c:v>2028-06-30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14.0</c:v>
                </c:pt>
                <c:pt idx="1">
                  <c:v>16.0</c:v>
                </c:pt>
                <c:pt idx="2">
                  <c:v>19.0</c:v>
                </c:pt>
                <c:pt idx="3">
                  <c:v>20.0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7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4.8x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Base liquid coverage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4.8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Liquid / marketable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Sheet1!$A$2:$A$2</c:f>
              <c:strCache>
                <c:ptCount val="1"/>
                <c:pt idx="0">
                  <c:v>Portfolio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68.3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Illiquid / restricted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Sheet1!$A$2:$A$2</c:f>
              <c:strCache>
                <c:ptCount val="1"/>
                <c:pt idx="0">
                  <c:v>Portfolio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31.7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Why this target</a:t>
            </a:r>
          </a:p>
          <a:p>
            <a:r>
              <a:t>Observation: New pacing increases two roles, infrastructure and secondaries, versus the current mix [S6]. Why it matters: The broader mix remains inside policy boundaries [S3]. Uncertainty: CMA, regime and manager-finding coverage remain incomplete [S7]. What would change the view: Liquidity coverage below policy or completed records rejecting either role [S3][S7].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Assumptions frame tradeoffs</a:t>
            </a:r>
          </a:p>
          <a:p>
            <a:r>
              <a:t>Observation: Private equity has higher expected return and volatility than every other selected segment [S5]. Why it matters: Segment sizing balances return potential against modeled risk. Uncertainty: These long-horizon assumptions are not manager forecasts. What would change the view: A governed assumptions refresh reversing either relative ranking [S5].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Coverage supports pacing</a:t>
            </a:r>
          </a:p>
          <a:p>
            <a:r>
              <a:t>Observation: Base liquid coverage is 4.8x against unfunded commitments [S3][S4]. Why it matters: Current resources support the staged pacing case. Uncertainty: A governed denominator-stress result remains unavailable for this portfolio. What would change the view: Lower resources, higher calls, or stress results below the policy threshold [S3][S6].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PRIVATE MARKETS PORTFOLIO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3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Northstar Private Markets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73552"/>
            <a:ext cx="9692640" cy="59436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Portfolio construction review · prepared for the Investment Committee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005072"/>
            <a:ext cx="822960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AS 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PRIVATE-MARKETS NAV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$230.0M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UNFUNDED COMMITMENTS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$92.0M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Program construction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687568"/>
            <a:ext cx="3337560" cy="530352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22960" y="5760720"/>
            <a:ext cx="3063240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2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OVERALL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161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Pacing and concentration on watch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5733288"/>
            <a:ext cx="310896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SCOPE REVIEWED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934456"/>
            <a:ext cx="3108960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9 of 10 · Partial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00800"/>
            <a:ext cx="80467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556248"/>
            <a:ext cx="8046720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 sample · not client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RECOMMENDATION AND COMMITTEE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08792" cy="226398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54864" cy="226398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Recommendation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719072"/>
            <a:ext cx="10616184" cy="177934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We recommend a two-year $80.0M commitment program that shifts new commitments toward infrastructure and secondary private equity while keeping private-markets exposure inside the 15.0%–30.0% policy range [S3][S6]. Committee action requested: approve the program ceiling and first-year pacing, subject to manager diligence and quarterly liquidity tests [S3][S7].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99588"/>
            <a:ext cx="2644902" cy="251833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640080" y="3699588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49808" y="3827604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PRIVATE-MARKETS WEIGHT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083636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23.0%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Policy range 15.0%–30.0% [S3]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94710" y="3699588"/>
            <a:ext cx="2644902" cy="251833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3394710" y="3699588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3504438" y="3827604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UNFUNDED COMMITMENTS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4438" y="4083636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$92.0M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443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9.2% of NAV [S4]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3699588"/>
            <a:ext cx="2644902" cy="251833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4" name="Rectangle 23"/>
          <p:cNvSpPr/>
          <p:nvPr/>
        </p:nvSpPr>
        <p:spPr>
          <a:xfrm>
            <a:off x="6149340" y="3699588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259068" y="3827604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LIQUID COVERAGE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9068" y="4083636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4.8x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906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base case [S3]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03970" y="3699588"/>
            <a:ext cx="2644902" cy="251833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8903970" y="3699588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9013698" y="3827604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POLICY 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3698" y="4083636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Watch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369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Manager concentration [S3]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S6 · S7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RECOMMENDATION AND COMMITTEE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Decision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08792" cy="92938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54864" cy="929385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Recommendation and action requested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719072"/>
            <a:ext cx="10616184" cy="44475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We recommend a two-year $80.0M commitment program. Committee action requested: approve a $45.0M first-year ceiling and require completed diligence before each commitment [S3][S6][S7].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64993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DECISION SUMMARY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2639313"/>
          <a:ext cx="10908792" cy="1301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2542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Decision element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2542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Program size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$80.0M over two years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Proposed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2542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First-year ceiling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$45.0M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Proposed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2542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 fit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Remain within 15.0%–30.0%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40080" y="4050745"/>
            <a:ext cx="10908792" cy="92938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640080" y="4050745"/>
            <a:ext cx="54864" cy="929385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04671" y="416047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Conditions and 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443937"/>
            <a:ext cx="10616184" cy="44475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Each manager requires completed operational and GIPS diligence; quarterly pacing proceeds only while governed liquidity coverage remains at or above the returned policy threshold [S3][S7].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089858"/>
            <a:ext cx="10908792" cy="112806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Rectangle 19"/>
          <p:cNvSpPr/>
          <p:nvPr/>
        </p:nvSpPr>
        <p:spPr>
          <a:xfrm>
            <a:off x="640080" y="5089858"/>
            <a:ext cx="54864" cy="1128061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04671" y="5199586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headline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5483050"/>
            <a:ext cx="10616184" cy="64342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sample report carries a pacing-and-concentration signal above the clear threshold [S1]. Why it matters: This signal focuses oversight on the report's most decision-relevant condition. Uncertainty: Evidence coverage may exclude newer or more detailed observations. What would change the view: A governed refresh showing a different signal or breached threshold.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S3 · S6 · S7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RECOMMENDATION AND COMMITTEE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Decision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08792" cy="216025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54864" cy="2160255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primary measure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719072"/>
            <a:ext cx="10616184" cy="167562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Private-markets weight is 23.0% in the review evidence [S2]. Why it matters: This measure establishes the baseline for comparing later governed results. Uncertainty: The source basis may omit newer observations outside the reviewed evidence. What would change the view: A refreshed source report showing a change above 1%.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95863"/>
            <a:ext cx="10908792" cy="262205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640080" y="3595863"/>
            <a:ext cx="54864" cy="2622056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04671" y="370559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monitoring priority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989055"/>
            <a:ext cx="10616184" cy="213742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Policy status is Watch rather than Clear in the review evidence [S3]. Why it matters: This result determines which item receives priority in the next monitoring cycle. Uncertainty: Supporting coverage may omit later filings or corroborating detail. What would change the view: A new filing or report that resolves the item or changes it by 1%.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 · S3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POLICY AND PROGRAM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Mandate and Construction Objective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25880"/>
          <a:ext cx="10908792" cy="29774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Northstar Total Fund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Objective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Diversified private-markets program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Horizon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 years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Target range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15.0%–30.0% of total NAV [S3]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Base currency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 [S1]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413057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FRAMEWORK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4687377"/>
          <a:ext cx="10908792" cy="1530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8263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Area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Objective or limit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Observed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8263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markets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15.0%–30.0%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23.0%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63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Single manager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At or below 12.0%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11.4%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263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Unfunded ratio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At or below 12.0%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NAV, COMMITMENTS AND VALUATION 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Current Private Markets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PRIVATE-MARKETS NAV BY STRATEGY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NAV, COMMITMENTS AND VALUATION 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Current Private Markets Portfolio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PROGRAM SNAPSHOT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0" cy="2056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51410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Strategy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NAV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Unfunded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Commitment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% NAV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Valuation date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14101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equity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$120.0M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$42.0M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$210.0M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2026-03-31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4101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credit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$70.0M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$30.0M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$125.0M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2026-03-31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14101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Infrastructure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$40.0M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$20.0M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$75.0M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2026-03-31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3766332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ILPA COMPANY COVERAGE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4040652"/>
          <a:ext cx="10908792" cy="1046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71016"/>
                <a:gridCol w="1271016"/>
                <a:gridCol w="1271016"/>
                <a:gridCol w="1271016"/>
                <a:gridCol w="1271016"/>
                <a:gridCol w="1271016"/>
                <a:gridCol w="1271016"/>
              </a:tblGrid>
              <a:tr h="52345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Data 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Mapped companies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Valued companies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Assessed / total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Aggregate completeness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Selected artifacts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Reporting date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Draft label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34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Partial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 /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Partial — one unknown-grain holding excluded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Draft — July 22, 2026 [S9]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" y="5197299"/>
            <a:ext cx="10908792" cy="10206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All reported private-market NAVs are dated 2026-03-31 and therefore lag the report date; unfunded amounts are shown separately and are not included in NAV. Company look-through is a non-additive risk overlay; the partial server aggregates assess two of three holdings, with one unknown grain excluded [S4][S9].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S4 · S9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THE PROPOSED MIX REDUCES CONCENTRATED RISK WHILE PRESERVING MANDATE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Target Portfolio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WEIGHT VERSUS POLICY 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36776"/>
            <a:ext cx="1480413" cy="110871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Private equity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5742" y="2038883"/>
            <a:ext cx="1673809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Oval 11"/>
          <p:cNvSpPr/>
          <p:nvPr/>
        </p:nvSpPr>
        <p:spPr>
          <a:xfrm>
            <a:off x="4686071" y="1946529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4499705" y="1831086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2791206"/>
            <a:ext cx="1480413" cy="110871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Private credit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48838" y="3193313"/>
            <a:ext cx="1255356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Oval 15"/>
          <p:cNvSpPr/>
          <p:nvPr/>
        </p:nvSpPr>
        <p:spPr>
          <a:xfrm>
            <a:off x="3639940" y="3100959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3662800" y="2985516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40080" y="3945636"/>
            <a:ext cx="1480413" cy="110871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Infrastructure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9612" y="4347743"/>
            <a:ext cx="1046130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Oval 19"/>
          <p:cNvSpPr/>
          <p:nvPr/>
        </p:nvSpPr>
        <p:spPr>
          <a:xfrm>
            <a:off x="3012262" y="4255389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3453574" y="4139946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40080" y="5100066"/>
            <a:ext cx="1480413" cy="110871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Secondaries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11933" y="5502173"/>
            <a:ext cx="627678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4" name="Oval 23"/>
          <p:cNvSpPr/>
          <p:nvPr/>
        </p:nvSpPr>
        <p:spPr>
          <a:xfrm>
            <a:off x="2175357" y="5409819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5" name="Rectangle 24"/>
          <p:cNvSpPr/>
          <p:nvPr/>
        </p:nvSpPr>
        <p:spPr>
          <a:xfrm>
            <a:off x="2407443" y="5294376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6" name="Rectangle 25"/>
          <p:cNvSpPr/>
          <p:nvPr/>
        </p:nvSpPr>
        <p:spPr>
          <a:xfrm>
            <a:off x="6080760" y="1325880"/>
            <a:ext cx="9144" cy="4892040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0936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AND TARGET MIX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6309360" y="1600200"/>
          <a:ext cx="523951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Rectangle 2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THE PROPOSED MIX REDUCES CONCENTRATED RISK WHILE PRESERVING MANDATE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Target Portfolio Structure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VINTAGE-YEAR MIX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600200"/>
          <a:ext cx="523951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080760" y="1325880"/>
            <a:ext cx="9144" cy="4892040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30936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TARGET ALLOCATION CHANGES (PERCENTAGE POINTS)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309360" y="1600200"/>
          <a:ext cx="5239512" cy="4617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S6 · S7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THE PROPOSED MIX REDUCES CONCENTRATED RISK WHILE PRESERVING MANDATE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Target Portfolio Structure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VERSUS TARGET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0" cy="2401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48021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Segment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Target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Change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Range / constraint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Rationale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8021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equity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11.0%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-1.0pp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8.0%–16.0%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Use slower new pacing [S3][S6]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021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credit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4.0%–10.0%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Maintain income role [S5][S7]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8021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Infrastructure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+2.0pp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3.0%–8.0%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Direct new commitments here [S5][S6]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0216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Secondaries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+1.0pp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At or below 3.0%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Add vintage diversification [S6][S7]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4110992"/>
            <a:ext cx="10908792" cy="129683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4110992"/>
            <a:ext cx="54864" cy="1296837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671" y="422072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Why this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504184"/>
            <a:ext cx="10616184" cy="81220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New pacing increases two roles, infrastructure and secondaries, versus the current mix [S6]. Why it matters: The broader mix remains inside policy boundaries [S3]. Uncertainty: CMA, regime…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17557"/>
            <a:ext cx="10908792" cy="70036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Targets are a committee proposal from the illustrative mandate and returned policy headroom; they are not changes saved to GradientCIO [S3][S7].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S5 · S6 · S7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RETURNED PORTFOLIO EVIDENCE; SLEEVE GAPS REMAIN EXPLICIT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Performance and Attribution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ATTRIBUTION EFFECTS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RETURNED PORTFOLIO EVIDENCE; SLEEVE GAPS REMAIN EXPLICIT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Performance and Attribution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STANDARD PERIODS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2" cy="1467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89093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Period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/ sleeve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Excess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89093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1Y total portfolio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-0.4pp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9093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3Y total portfolio (ann.)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6.8%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+0.3pp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3177207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ATTRIBUTION EFFECTS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3451527"/>
          <a:ext cx="10908792" cy="1948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48717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Effect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Contribution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8717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Private-assets total effect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+0.12pp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717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Total active return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-0.20pp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8717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Residual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" y="5509952"/>
            <a:ext cx="10908792" cy="70796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attribution method and reconciliation metadata follow [S5].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 · S8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RETURNED PORTFOLIO EVIDENCE; SLEEVE GAPS REMAIN EXPLICIT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Performance and Attribution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METHOD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Method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Brinson-Fachler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Linking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Symmetric Carino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Net, monthly linked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Tolerance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 bp; reconciled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Forward Return and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FORWARD EXPECTED-RETURN COMPARISON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Forward Return and Risk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Assumption set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 Strategic CMA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Regime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Baseline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Horizon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 years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Currency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Context fingerprint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test-pm-forward-2026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Forward Return and Risk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PRIVATE-MARKET FORWARD ASSUMPTIONS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2" cy="3094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7736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Segment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 return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 volatility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736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equity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18.5%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736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credit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9.2%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7362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Infrastructure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11.8%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4804410"/>
            <a:ext cx="10908792" cy="84658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4804410"/>
            <a:ext cx="54864" cy="84658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671" y="4914138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Assumptions frame tradeoffs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5197601"/>
            <a:ext cx="10616184" cy="36195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Private equity has higher expected return and volatility than every other selected segment [S5]. Why it matters: Segment sizing balances return potential against modeled risk. Uncertainty: These…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60720"/>
            <a:ext cx="10908792" cy="4572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figures are long-horizon assumptions under the selected context, not forecasts or guarantees [S5].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RETURNED PORTFOLIO COMMITMENT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Commitments, Pacing and Cash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COMMITMENT PACING (USD MILLIONS)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RETURNED PORTFOLIO COMMITMENT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Commitments, Pacing and Cash Flow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PROJECTED CALLS AND DISTRIBUTIONS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Period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Calls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Distributions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 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26,000,000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14,000,000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2027 H1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22,000,000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16,000,000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2027 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18,000,000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19,000,000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2028 H1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15,000,000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20,000,000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RETURNED PORTFOLIO COMMITMENT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Commitments, Pacing and Cash Flow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NEAR-TERM PACING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115443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Period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Calls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Distributions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Net cash flow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 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$26.0M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$14.0M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-$12.0M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Returned projection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2027 H1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$22.0M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$16.0M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-$6.0M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Returned projection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2027 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$18.0M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$19.0M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+$1.0M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Returned projection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COVERAGE REMAINS ADEQUATE UNDER THE SAMPLE STRESS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Liquidity and Denominator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SCENARIO COVERAGE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600200"/>
          <a:ext cx="523951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080760" y="1325880"/>
            <a:ext cx="9144" cy="4892040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30936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LIQUIDITY COMPOSITION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309360" y="1600200"/>
          <a:ext cx="5239512" cy="4617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S3 · S6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COVERAGE REMAINS ADEQUATE UNDER THE SAMPLE STRESS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Liquidity and Denominator Risk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LIQUIDITY PROFILE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2" cy="1139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797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Bucket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% NAV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Amount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Requirement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7974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Daily to quarterly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$440.0M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At least 25.0%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7974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Over two years / locked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23.0%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$230.0M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At or below 30.0%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2849162"/>
          <a:ext cx="10908792" cy="2195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54875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Liquid assets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$440.0M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75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Unfunded commitments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$92.0M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4875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Base coverage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4.8x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75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Near-term projected calls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$48.0M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" y="5153923"/>
            <a:ext cx="10908792" cy="106399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5153923"/>
            <a:ext cx="54864" cy="1063996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526365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Coverage supports pacing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5547115"/>
            <a:ext cx="10616184" cy="57936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Base liquid coverage is 4.8x against unfunded commitments [S3][S4]. Why it matters: Current resources support the staged pacing case. Uncertainty: A governed denominator-stress result remains unavailable for…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S3 · S4 · S6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COVERAGE REMAINS ADEQUATE UNDER THE SAMPLE STRESS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Liquidity and Denominator Risk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SUPPORTED SCENARIOS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15392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Scenario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Liquid resources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Funding need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Governed base case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$440.0M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$92.0M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4.8x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Denominator stress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 — no governed stress result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not assessed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CONCENTRATION AND PRE-COMMITMENT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Diversification and Manager Diligence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DIVERSIFICATION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0" cy="1448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28977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Axis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Largest exposure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Limit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Server metric / basis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28977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Private Manager 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11.4%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Commitment exposure; additive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8977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Strategy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equity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52.2% of private NAV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assessed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not assessed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Commitment exposure; additive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8977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company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Company 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24.0% of valued company NAV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assessed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Partial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Server company_concentration; canonical NAV; non-additive [S9]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8977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Sector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Technology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41.0% of valued company NAV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assessed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Partial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Server sector_concentration; canonical NAV; non-additive [S9]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3158802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PORTFOLIO-COMPANY EVIDENCE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3433122"/>
          <a:ext cx="10908792" cy="835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88568"/>
                <a:gridCol w="988568"/>
                <a:gridCol w="988568"/>
                <a:gridCol w="988568"/>
                <a:gridCol w="988568"/>
                <a:gridCol w="988568"/>
                <a:gridCol w="988568"/>
                <a:gridCol w="988568"/>
                <a:gridCol w="988568"/>
              </a:tblGrid>
              <a:tr h="27846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Company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Canonical NAV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Exact ILPA value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Valuation / reporting date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Projected range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Leverage / coverage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Covenant 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Operating-quality 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Reconciliation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2784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Company 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$24.0M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FMV $24.0M in USD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 / 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Leverage 3.0–4.0x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Interest coverage 2.0–3.0x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 compliance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Revenue growth 5%–10%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Matched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[S9]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461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Company 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$18.0M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FMV $18.0M in USD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 / 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Leverage 4.0–5.0x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Interest coverage 1.5–2.0x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EBITDA margin 15%–20%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Matched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[S9]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" y="4378231"/>
            <a:ext cx="10908792" cy="62025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Selected artifact illustrative-ilpa-artifact-test, version 1; parser ilpa_portfolio_company_draft_2026_07_22 version 1.0.0; projection registry private-markets-holding-exact-to-range-v1, checksum aaaaaaaaaaaaaaaaaaaaaaaaaaaaaaaaaaaaaaaaaaaaaaaaaaaaaaaaaaaaaaaa. Draft — July 22, 2026. Canonical values, exact ILPA source values and projected Gradient ranges remain separate [S9].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08218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MANAGER EVIDENCE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" y="5382538"/>
          <a:ext cx="10908792" cy="835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27846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/ fund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Exposure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Diligence 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findings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Next step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27846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Private Manager 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$114.0M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Current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 Medium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Close valuation-control follow-up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461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infrastructure manager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funded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assessed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assessed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Run manager comparison and ODD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S4 · S7 · S9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PHASED COMMITMENTS WITH DECISION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Proposed Program and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COMMITMENT PROGRAM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0" cy="19737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39475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Period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Segment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amount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Funding 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Condition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94755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 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Infrastructure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$25.0M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Distributions and liquid reserve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 ODD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[S6][S7]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4755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2027 H1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credit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$20.0M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Distributions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Coverage remains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94755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2027 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Secondaries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$20.0M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Distributions and cash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Committee checkpoint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475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2028 H1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Reserve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$15.0M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 be determined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 refresh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3683705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ALTERNATIVES CONSIDERED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3958025"/>
          <a:ext cx="10908792" cy="1173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9113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Alternative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Benefit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Cost / risk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Reason not selected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9113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new commitments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Maximum liquidity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Target exposure declines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Does not address program objective [S3][S6]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113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Front-load commitments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Faster target progress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Higher near-term calls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Coverage sensitivity [S3][S6]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" y="5241161"/>
            <a:ext cx="10908792" cy="97675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Phase each commitment after diligence clearance [S7].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Refresh pacing and policy liquidity quarterly [S3][S6].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Return to committee if manager concentration reaches its governed limit [S3].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S6 · S7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CONDITIONS THAT GOVERN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Risks, Open Items and Approvals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DECISION RISKS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2" cy="2116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52920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Priority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Mitigation / condition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Valuation and denominator lag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Q1 valuations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Quarterly headroom 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Investment staff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concentration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11.4% vs 12.0% 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Cap follow-on commitments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CIO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Near-term net calls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$18.0M through 2027 H1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Maintain liquidity gate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Treasury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3826763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OPEN ITEMS AND APPROVALS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4101083"/>
          <a:ext cx="10908792" cy="2116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52920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Timing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Required 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Before approval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Confirm first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Comparison and ODD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markets team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Within 30 days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Document pacing limits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Final program schedule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CIO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Next review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Refresh valuations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 Q2 NAVs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Operations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S6 · S7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34943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4943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and 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943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Allocation, liquidity and concentration [S3]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4943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Exposure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NAV, commitments and unfunded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943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ILPA portfolio-company look-through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degraded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Partial — 2 of 3 holdings assessed; one unknown grain; Draft — July 22, 2026 [S9]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4943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Forward assumptions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 Strategic CMA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943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Commitments charts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Returned pacing projection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4943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diligence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degraded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manager not assessed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943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Returns and 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degraded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sleeve-specific return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4943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CMA consensus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Optional context not returned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943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Macro regime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Optional context not returned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4943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Strategy Lab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selected series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943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Peer allocation context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Optional context not returned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4943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Transaction costs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returned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 · S3 · S4 · S5 · S6 · S7 · S8 · S9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690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12139"/>
                <a:gridCol w="1112139"/>
                <a:gridCol w="1112139"/>
                <a:gridCol w="1112139"/>
                <a:gridCol w="1112139"/>
                <a:gridCol w="1112139"/>
                <a:gridCol w="1112139"/>
                <a:gridCol w="1112139"/>
              </a:tblGrid>
              <a:tr h="46908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Tool / 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Key parameters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6908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Org 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list_organizations; get_gradient_capabilities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org=test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908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/ allocation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list_portfolios; get_portfolio_structure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allocation_tree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6908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 assessment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check_portfolio_policy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portfolio=test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908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Private-market 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get_portfolio_exposure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 pages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2026-03-31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6908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Forward assumptions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get_capital_market_assumptions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baseline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908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Commitments and pacing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get_portfolio_exposure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commitments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6908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/ mandate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get_gradient_capabilities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advisory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908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Returns / 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get_portfolio_historical_returns; get_portfolio_attribution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 sections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degraded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69089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ILPA company look-through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get_private_markets_holdings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paged; server aggregates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partial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035040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managers. All organizations, portfolios, managers and results in this public example are illustrative.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S6 · S7 · S8 · S9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Server Metric Methods and Disclosures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SERVER METRIC METHODS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2957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59142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Quantity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Method / formula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Version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 / units / tolerance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9142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 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Governed portfolio assessment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portfolio-policy-v1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Returned 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9142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Server exposure aggregation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portfolio-exposure-v1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USD; unfunded separate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9142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Forward statistics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Expected-statistics charts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chart-contract-v1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10-year assumptions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9142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S9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Company concentration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Server aggregates only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private-markets-holding-exact-to-range-v1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Canonical NAV; non-additive; partial coverage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667052"/>
            <a:ext cx="10908792" cy="155086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Private-market valuations may lag the report date [S4]. Company look-through is non-additive to commitment exposure, and exact ILPA source money is not summed across currencies [S9]. The selected portfolio-company artifact is Draft — July 22, 2026, not a final ILPA release [S9]. Forward values are assumptions, not forecasts or guarantees [S5]. Portfolio Analytics and Strategy Lab are separate analytical scopes. This AI-assisted construction analysis is not investment, legal or compliance advice.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S5 · S9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Private Markets Program</dc:title>
  <dc:subject>Private Markets Portfolio Construction</dc:subject>
  <dc:creator>GradientCIO</dc:creator>
  <cp:keywords>Gradient report theme 2.3.0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