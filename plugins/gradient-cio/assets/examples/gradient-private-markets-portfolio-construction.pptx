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Private equity</c:v>
                </c:pt>
                <c:pt idx="1">
                  <c:v>Private credit</c:v>
                </c:pt>
                <c:pt idx="2">
                  <c:v>Infrastructure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120000000.0</c:v>
                </c:pt>
                <c:pt idx="1">
                  <c:v>70000000.0</c:v>
                </c:pt>
                <c:pt idx="2">
                  <c:v>40000000.0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Private equity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7.0</c:v>
                </c:pt>
                <c:pt idx="1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Infrastructure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4.0</c:v>
                </c:pt>
                <c:pt idx="1">
                  <c:v>6.0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Secondaries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Sheet1!$A$2:$A$6</c:f>
              <c:strCache>
                <c:ptCount val="5"/>
                <c:pt idx="0">
                  <c:v>Buyout</c:v>
                </c:pt>
                <c:pt idx="1">
                  <c:v>Venture</c:v>
                </c:pt>
                <c:pt idx="2">
                  <c:v>Secondaries</c:v>
                </c:pt>
                <c:pt idx="3">
                  <c:v>Private credit</c:v>
                </c:pt>
                <c:pt idx="4">
                  <c:v>Infrastructure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2026-12-31</c:v>
                </c:pt>
                <c:pt idx="1">
                  <c:v>2027-06-30</c:v>
                </c:pt>
                <c:pt idx="2">
                  <c:v>2027-12-31</c:v>
                </c:pt>
                <c:pt idx="3">
                  <c:v>2028-06-30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26.0</c:v>
                </c:pt>
                <c:pt idx="1">
                  <c:v>22.0</c:v>
                </c:pt>
                <c:pt idx="2">
                  <c:v>18.0</c:v>
                </c:pt>
                <c:pt idx="3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Distributions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Sheet1!$A$2:$A$5</c:f>
              <c:strCache>
                <c:ptCount val="4"/>
                <c:pt idx="0">
                  <c:v>2026-12-31</c:v>
                </c:pt>
                <c:pt idx="1">
                  <c:v>2027-06-30</c:v>
                </c:pt>
                <c:pt idx="2">
                  <c:v>2027-12-31</c:v>
                </c:pt>
                <c:pt idx="3">
                  <c:v>2028-06-30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14.0</c:v>
                </c:pt>
                <c:pt idx="1">
                  <c:v>16.0</c:v>
                </c:pt>
                <c:pt idx="2">
                  <c:v>19.0</c:v>
                </c:pt>
                <c:pt idx="3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Base liquid coverage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New pacing shifts exposure toward infrastructure and secondaries [S6]. Why it matters: The mix broadens within policy [S3]. Uncertainty: CMA consensus, macro regime and manager findings remain incomplete [S7]. What would change the view: Weaker liquidity coverage or completed context that does not support the proposed roles [S3][S7].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Assumptions frame tradeoffs</a:t>
            </a:r>
          </a:p>
          <a:p>
            <a:r>
              <a:t>Observation: Private equity carries the highest expected return and volatility in the selected assumptions [S5]. Why it matters: Segment sizing trades return potential against risk. Uncertainty: These are long-horizon assumptions, not forecasts. What would change the view: A refreshed governed assumption set with materially different relative return or volatility [S5].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Coverage supports pacing</a:t>
            </a:r>
          </a:p>
          <a:p>
            <a:r>
              <a:t>Observation: Base liquid coverage is 4.8x against unfunded commitments [S3][S4]. Why it matters: Current resources support the staged pacing case. Uncertainty: No governed denominator stress result is available. What would change the view: Lower liquid resources, higher calls, or a returned stress result below the policy threshold [S3][S6].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PRIVATE MARKETS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Northstar Private Markets Program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Decision pack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$1,000.0M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PRIVATE-MARKETS NAV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$230.0M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UNFUNDED COMMITMENTS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$92.0M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TEST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51663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51663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03200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a two-year $80.0M commitment program that shifts new commitments toward infrastructure and secondary private equity while keeping private-markets exposure inside the 15.0%–30.0% policy range [S3][S6]. Committee action requested: approve the program ceiling and first-year pacing, subject to manager diligence and quarterly liquidity tests [S3][S7].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52247"/>
            <a:ext cx="2644902" cy="22656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5224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8026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PRIVATE-MARKETS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3629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Policy range 15.0%–30.0%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3952247"/>
            <a:ext cx="2644902" cy="22656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395224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4438" y="408026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UNFUNDED COMMITMENTS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33629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$92.0M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9.2% of NAV [S4]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3952247"/>
            <a:ext cx="2644902" cy="22656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395224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408026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LIQUID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33629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4.8x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Governed base case [S3]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3952247"/>
            <a:ext cx="2644902" cy="22656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3970" y="395224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3698" y="408026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POLICY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33629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Manager concentration [S3]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S6 · S7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761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76176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 and action requested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915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a two-year $80.0M commitment program. Committee action requested: approve a $45.0M first-year ceiling and require completed diligence before each commitment [S3][S6][S7].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178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SUMMARY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586104"/>
          <a:ext cx="10908792" cy="1445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6129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12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Program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$80.0M over two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12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First-year ceiling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12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fit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Remain within 15.0%–30.0%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4141007"/>
            <a:ext cx="10908792" cy="8761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41007"/>
            <a:ext cx="54864" cy="87617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25073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Conditions and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534199"/>
            <a:ext cx="10616184" cy="3915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Each manager requires completed operational and GIPS diligence; quarterly pacing proceeds only while governed liquidity coverage remains at or above the returned policy threshold [S3][S7].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6912"/>
            <a:ext cx="10908792" cy="10910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26912"/>
            <a:ext cx="54864" cy="109100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23664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520104"/>
            <a:ext cx="10616184" cy="60637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Pacing and concentration on watch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S6 · S7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RECOMMENDATION AND COMMITTEE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46706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46706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8243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Private-markets weight is 23.0%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02673"/>
            <a:ext cx="10908792" cy="231524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02673"/>
            <a:ext cx="54864" cy="231524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401240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95865"/>
            <a:ext cx="10616184" cy="183061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Policy status is Watch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POLICY AND PROGRAM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Mandate and Construction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Northstar Total Fund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Objective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Diversified private-markets program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Target range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15.0%–30.0% of total NAV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FRAMEWORK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markets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15.0%–30.0%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Unfunded 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NAV, COMMITMENTS AND VALUATION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Private Markets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PRIVATE-MARKETS NAV BY STRATEGY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NAV, COMMITMENTS AND VALUATION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Private Markets Portfolio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PROGRAM SNAPSHOT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303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5831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Commitment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Valuation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$70.0M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5831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$75.0M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743198"/>
            <a:ext cx="1090879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All reported private-market NAVs are dated 2026-03-31 and therefore lag the report date; unfunded amounts are shown separately and are not included in NAV 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RETURNED PORTFOLIO EVIDENCE; SLEEVE GAPS REMAIN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Performance and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STANDARD PERIODS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17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945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1Y total 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3Y total portfolio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Private-markets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sleeve return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8827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ATTRIBUTION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162592"/>
          <a:ext cx="10908792" cy="117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945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Private-assets total effect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active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-0.20pp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45066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METHOD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724985"/>
          <a:ext cx="10908792" cy="1492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Brinson-Fachler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Symmetric Carino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Net, monthly linked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2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bp; reconciled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Private equity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4576" y="2038883"/>
            <a:ext cx="43342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25128" y="194652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6205" y="183108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9120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Private credit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3193313"/>
            <a:ext cx="325069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6218" y="310095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9078" y="298551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4563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5665" y="4347743"/>
            <a:ext cx="2708910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90872" y="425538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97296" y="413994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0006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Secondaries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5502173"/>
            <a:ext cx="162534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23744" y="540981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88386" y="529437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AND TARGET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985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971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8.0%–16.0%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Use slower new pacing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4.0%–10.0%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Maintain income role [S5][S7]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719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3.0%–8.0%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Direct new commitments here [S5][S6]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719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Secondaries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Add vintage diversification [S6][S7]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695889"/>
            <a:ext cx="10908792" cy="158392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95889"/>
            <a:ext cx="54864" cy="158392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80561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089081"/>
            <a:ext cx="10616184" cy="109929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New pacing shifts exposure toward infrastructure and secondaries [S6]. Why it matters: The mix broadens within policy [S3]. Uncertainty: CMA consensus, macro regime and manager findings remain…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89544"/>
            <a:ext cx="10908792" cy="82837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Targets are a committee proposal from the fictional mandate and returned policy headroom; they are not changes saved to GradientCIO [S3][S7].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S5 · S6 · S7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Strategic CMA (TEST)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test-pm-forward-2026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PRIVATE-MARKET FORWARD ASSUMPTIONS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2083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20838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Assumptions frame tradeoffs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72375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Private equity carries the highest expected return and volatility in the selected assumptions [S5]. Why it matters: Segment sizing trades return potential against risk. Uncertainty: These are…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3994"/>
            <a:ext cx="10908792" cy="15739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 figures are long-horizon assumptions under the selected context, not forecasts or guarantees [S5].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Commitments, Pacing and Cash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COMMITMENT PACING (USD MILLIONS)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Commitments, Pacing and Cash Flow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PROJECTED CALLS AND DISTRIBUTIONS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26,000,000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14,000,000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22,000,000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16,000,000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18,000,000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19,000,000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2028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15,000,000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20,000,000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RETURNED PORTFOLIO COMMITMENT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Commitments, Pacing and Cash Flow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NEAR-TERM PACING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Net cash flow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$26.0M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$14.0M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-$12.0M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$22.0M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$16.0M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-$6.0M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$18.0M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$19.0M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+$1.0M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projection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COVERAGE REMAINS ADEQUATE UNDER THE FICTIONAL TEST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Denominator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SCENARIO COVERAGE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COVERAGE REMAINS ADEQUATE UNDER THE FICTIONAL TEST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Denominator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COMPOSITION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COVERAGE REMAINS ADEQUATE UNDER THE FICTIONAL TEST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Denominator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015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3854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385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Daily to quarterly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least 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3854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Over two years / locked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725570"/>
          <a:ext cx="10908792" cy="2003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5007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Liquid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$440.0M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7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Unfunded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$92.0M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07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4.8x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7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Near-term projected calls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$48.0M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4838410"/>
            <a:ext cx="10908792" cy="137950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838410"/>
            <a:ext cx="54864" cy="137950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94813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Coverage supports pacing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231602"/>
            <a:ext cx="10616184" cy="8948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Base liquid coverage is 4.8x against unfunded commitments [S3][S4]. Why it matters: Current resources support the staged pacing case. Uncertainty: No governed denominator stress result is available…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COVERAGE REMAINS ADEQUATE UNDER THE FICTIONAL TEST STRESS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Denominator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SUPPORTED SCENARIOS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Liquid resources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Funding need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base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$92.0M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Denominator stress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no governed stress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CONCENTRATION AND PRE-COMMITMENT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Diversification and Manager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DIVERSIFICATION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0561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Largest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Private Manager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52.2% of private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MANAGER EVIDENCE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0561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Private Manager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$114.0M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Medium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Close valuation-control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infrastructure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Run manager comparison and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PHASED COMMITMENTS WITH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Proposed Program and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COMMITMENT PROGRAM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581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1622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622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Distributions and liquid reserve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622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 remains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622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Secondaries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Distributions and cash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Committee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622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2028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Reserve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 be determined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Evidence refresh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9104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ALTERNATIVES CONSIDERED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565361"/>
          <a:ext cx="10908792" cy="92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0684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68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new commitments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Maximum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Target exposure declines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Does not address program objective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68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Front-load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Faster target progress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Higher near-term calls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 sensitivity [S3][S6]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595629"/>
            <a:ext cx="10908792" cy="16222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Phase each commitment after diligence clearance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Refresh pacing and policy liquidity quarterly [S3][S6].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Return to committee if manager concentration reaches its governed limit [S3].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 ·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CONDITIONS THAT GOVERN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Risks, Open Items and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Valuation and denominator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Q1 valuations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Quarterly headroom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11.4% vs 12.0%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 follow-on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Near-term net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$18.0M through 2027 H1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Maintain liquidity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Treasury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OPEN ITEMS AND APPROVALS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Confirm first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markets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Document pacing limits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Final program schedule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valuations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Q2 NAVs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S6 · 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Allocation, liquidity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NAV, commitments and unfunded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Strategic CMA (TEST)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Commitments charts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pacing projection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diligence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manager not assessed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sleeve-specific return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Private-market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Commitments and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get_chart_data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evidence and mandate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User document; diligence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pm-s8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997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995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portfolio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USD; unfunded separate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Expected-statistics charts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10-year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Commitment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commitments pack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Projected cash flows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07801"/>
            <a:ext cx="10908792" cy="25101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Private-market valuations may lag the report date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Forward values are assumptions, not forecasts or guarantees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This AI-assisted construction analysis is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Private Markets Program (TEST)</dc:title>
  <dc:subject>Private Markets Portfolio Construction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