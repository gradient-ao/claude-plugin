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Private equity</c:v>
                </c:pt>
                <c:pt idx="1">
                  <c:v>Private credit</c:v>
                </c:pt>
                <c:pt idx="2">
                  <c:v>Infrastructure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120000000.0</c:v>
                </c:pt>
                <c:pt idx="1">
                  <c:v>70000000.0</c:v>
                </c:pt>
                <c:pt idx="2">
                  <c:v>40000000.0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Private equity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12.0</c:v>
                </c:pt>
                <c:pt idx="1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Private credit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7.0</c:v>
                </c:pt>
                <c:pt idx="1">
                  <c:v>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Infrastructure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4.0</c:v>
                </c:pt>
                <c:pt idx="1">
                  <c:v>6.0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Secondaries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1.0</c:v>
                </c:pt>
                <c:pt idx="4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2026-12-31</c:v>
                </c:pt>
                <c:pt idx="1">
                  <c:v>2027-06-30</c:v>
                </c:pt>
                <c:pt idx="2">
                  <c:v>2027-12-31</c:v>
                </c:pt>
                <c:pt idx="3">
                  <c:v>2028-06-30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26.0</c:v>
                </c:pt>
                <c:pt idx="1">
                  <c:v>22.0</c:v>
                </c:pt>
                <c:pt idx="2">
                  <c:v>18.0</c:v>
                </c:pt>
                <c:pt idx="3">
                  <c:v>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Distributions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Sheet1!$A$2:$A$5</c:f>
              <c:strCache>
                <c:ptCount val="4"/>
                <c:pt idx="0">
                  <c:v>2026-12-31</c:v>
                </c:pt>
                <c:pt idx="1">
                  <c:v>2027-06-30</c:v>
                </c:pt>
                <c:pt idx="2">
                  <c:v>2027-12-31</c:v>
                </c:pt>
                <c:pt idx="3">
                  <c:v>2028-06-30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14.0</c:v>
                </c:pt>
                <c:pt idx="1">
                  <c:v>16.0</c:v>
                </c:pt>
                <c:pt idx="2">
                  <c:v>19.0</c:v>
                </c:pt>
                <c:pt idx="3">
                  <c:v>20.0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cat>
            <c:strRef>
              <c:f>Sheet1!$A$2:$A$2</c:f>
              <c:strCache>
                <c:ptCount val="1"/>
                <c:pt idx="0">
                  <c:v>Base liquid coverage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 (TEST)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 (TEST)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New pacing shifts exposure toward infrastructure and secondaries [S6]. Why it matters: The mix broadens within policy [S3]. Uncertainty: CMA consensus, macro regime and manager findings remain incomplete [S7]. What would change the view: Weaker liquidity coverage or completed context that does not support the proposed roles [S3][S7].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Assumptions frame tradeoffs</a:t>
            </a:r>
          </a:p>
          <a:p>
            <a:r>
              <a:t>Observation: Private equity carries the highest expected return and volatility in the selected assumptions [S5]. Why it matters: Segment sizing trades return potential against risk. Uncertainty: These are long-horizon assumptions, not forecasts. What would change the view: A refreshed governed assumption set with materially different relative return or volatility [S5].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Coverage supports pacing</a:t>
            </a:r>
          </a:p>
          <a:p>
            <a:r>
              <a:t>Observation: Base liquid coverage is 4.8x against unfunded commitments [S3][S4]. Why it matters: Current resources support the staged pacing case. Uncertainty: No governed denominator stress result is available. What would change the view: Lower liquid resources, higher calls, or a returned stress result below the policy threshold [S3][S6].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PRIVATE MARKETS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Northstar Private Markets Program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Decision pack · prepared for the Investment Committee (TEST)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BASE 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TOTAL NAV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$1,000.0M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PRIVATE-MARKETS NAV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$230.0M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UNFUNDED COMMITMENTS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$92.0M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DATA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Fictional TEST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51663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51663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03200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We recommend a two-year $80.0M commitment program that shifts new commitments toward infrastructure and secondary private equity while keeping private-markets exposure inside the 15.0%–30.0% policy range [S3][S6]. Committee action requested: approve the program ceiling and first-year pacing, subject to manager diligence and quarterly liquidity tests [S3][S7].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95224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PRIVATE-MARKETS WEIGHT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23.0%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Policy range 15.0%–30.0% [S3]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94710" y="395224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443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UNFUNDED COMMITMENTS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$92.0M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9.2% of NAV [S4]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9340" y="395224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906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LIQUID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4.8x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Governed base case [S3]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03970" y="395224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369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POLICY 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Watch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Manager concentration [S3]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S6 · S7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8761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876176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Recommendation and action requested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39154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We recommend a two-year $80.0M commitment program. Committee action requested: approve a $45.0M first-year ceiling and require completed diligence before each commitment [S3][S6][S7].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1178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DECISION SUMMARY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586104"/>
          <a:ext cx="10908792" cy="1445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6129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12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Program size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$80.0M over two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12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First-year ceiling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$45.0M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129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 fit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Remain within 15.0%–30.0%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4141007"/>
            <a:ext cx="10908792" cy="8761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141007"/>
            <a:ext cx="54864" cy="87617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425073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Conditions and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534199"/>
            <a:ext cx="10616184" cy="39154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Each manager requires completed operational and GIPS diligence; quarterly pacing proceeds only while governed liquidity coverage remains at or above the returned policy threshold [S3][S7].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126912"/>
            <a:ext cx="10908792" cy="10910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126912"/>
            <a:ext cx="54864" cy="109100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" y="523664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headline 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520104"/>
            <a:ext cx="10616184" cy="60637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fictional TEST report carries a Pacing and concentration on watch signal [S1]. Why it matters: The signal frames the review. Uncertainty: Evidence coverage is bounded. What would change the view: New governed evidence that changes the signal.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S3 · S6 · S7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46706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46706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primary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8243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Private-markets weight is 23.0% in the TEST evidence [S2]. Why it matters: This measure anchors the executive view. Uncertainty: The fixture is deliberately compact. What would change the view: A refreshed source with a materially different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902673"/>
            <a:ext cx="10908792" cy="231524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902673"/>
            <a:ext cx="54864" cy="231524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401240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95865"/>
            <a:ext cx="10616184" cy="18306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Policy status is Watch in the TEST evidence [S3]. Why it matters: It identifies a monitoring priority. Uncertainty: Supporting detail is limited. What would change the view: Corroborated evidence that resolves or reverses the item.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POLICY AND PROGRAM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Mandate and Construction Objective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Northstar Total Fund (TEST)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Objective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Diversified private-markets program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 years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Target range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15.0%–30.0% of total NAV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GOVERNED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markets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15.0%–30.0%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Unfunded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NAV, COMMITMENTS AND VALUATION 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Current Private Markets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PRIVATE-MARKETS NAV BY STRATEGY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NAV, COMMITMENTS AND VALUATION 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Current Private Markets Portfolio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PROGRAM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3033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5831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Commitment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Valuation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5831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$42.0M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$210.0M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5831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$70.0M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5831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$75.0M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743198"/>
            <a:ext cx="10908792" cy="147472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All reported private-market NAVs are dated 2026-03-31 and therefore lag the report date; unfunded amounts are shown separately and are not included in NAV 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Performance and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STANDARD PERIODS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178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9458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9458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1Y total 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9458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3Y total portfolio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9458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Private-markets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sleeve return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Unavailable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88827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ATTRIBUTION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162592"/>
          <a:ext cx="10908792" cy="1178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9458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9458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Private-assets total effect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+0.12pp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9458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Total active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-0.20pp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9458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45066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METHOD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4724985"/>
          <a:ext cx="10908792" cy="14929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7323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Brinson-Fachler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23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Symmetric Carino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323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Net, monthly linked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2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 bp; reconciled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Portfolio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Private equity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4576" y="2038883"/>
            <a:ext cx="433425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25128" y="194652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06205" y="183108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9120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Private credit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7448" y="3193313"/>
            <a:ext cx="325069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16218" y="310095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39078" y="298551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4563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Infrastructure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5665" y="4347743"/>
            <a:ext cx="2708910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690872" y="425538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97296" y="413994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10006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Secondaries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5502173"/>
            <a:ext cx="162534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523744" y="540981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88386" y="529437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AND TARGET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9859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9719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719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8.0%–16.0%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Use slower new pacing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719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4.0%–10.0%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Maintain income role [S5][S7]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719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3.0%–8.0%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Direct new commitments here [S5][S6]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719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Secondaries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or below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Add vintage diversification [S6][S7]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695889"/>
            <a:ext cx="10908792" cy="158392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695889"/>
            <a:ext cx="54864" cy="158392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380561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089081"/>
            <a:ext cx="10616184" cy="109929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New pacing shifts exposure toward infrastructure and secondaries [S6]. Why it matters: The mix broadens within policy [S3]. Uncertainty: CMA consensus, macro regime and manager findings remain…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89544"/>
            <a:ext cx="10908792" cy="82837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Targets are a committee proposal from the fictional mandate and returned policy headroom; they are not changes saved to GradientCIO [S3][S7].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S5 · S6 · S7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 Strategic CMA (TEST)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Baseline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 years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test-pm-forward-2026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PRIVATE-MARKET FORWARD ASSUMPTIONS (TEST)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18.5%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320838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320838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Assumptions frame tradeoffs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72375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Private equity carries the highest expected return and volatility in the selected assumptions [S5]. Why it matters: Segment sizing trades return potential against risk. Uncertainty: These are…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43994"/>
            <a:ext cx="10908792" cy="15739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The figures are long-horizon assumptions under the selected context, not forecasts or guarantees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Commitments, Pacing and Cash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COMMITMENT PACING (USD MILLIONS)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Commitments, Pacing and Cash Flow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PROJECTED CALLS AND DISTRIBUTIONS (TEST)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26,000,000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14,000,000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22,000,000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16,000,000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18,000,000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19,000,000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2028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15,000,000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20,000,000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Commitments, Pacing and Cash Flow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NEAR-TERM PACING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Net cash flow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$26.0M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-$12.0M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$22.0M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$16.0M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-$6.0M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$18.0M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$19.0M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+$1.0M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COVERAGE REMAINS ADEQUATE UNDER THE FICTIONAL TEST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 and Denominator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GOVERNED SCENARIO COVERAGE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COVERAGE REMAINS ADEQUATE UNDER THE FICTIONAL TEST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 and Denominator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LIQUIDITY COMPOSITION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COVERAGE REMAINS ADEQUATE UNDER THE FICTIONAL TEST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 and Denominator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LIQUIDITY PROFILE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0156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3854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385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Daily to quarterly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$440.0M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least 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854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Over two years / locked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$230.0M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or below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2725570"/>
          <a:ext cx="10908792" cy="2003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50077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Liquid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$440.0M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77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Unfunded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$92.0M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077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4.8x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77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Near-term projected calls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$48.0M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838410"/>
            <a:ext cx="10908792" cy="137950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838410"/>
            <a:ext cx="54864" cy="137950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494813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Coverage supports pacing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231602"/>
            <a:ext cx="10616184" cy="8948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Base liquid coverage is 4.8x against unfunded commitments [S3][S4]. Why it matters: Current resources support the staged pacing case. Uncertainty: No governed denominator stress result is available…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COVERAGE REMAINS ADEQUATE UNDER THE FICTIONAL TEST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 and Denominator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SUPPORTED SCENARIOS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Liquid resources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Funding need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base case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$440.0M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$92.0M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4.8x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Denominator stress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no governed stress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CONCENTRATION AND PRE-COMMITMENT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Diversification and Manager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DIVERSIFICATION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0561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Largest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Share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056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Private Manager A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056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52.2% of private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MANAGER EVIDENCE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0561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056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Private Manager A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$114.0M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 Medium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Close valuation-control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056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Proposed infrastructure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Run manager comparison and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PHASED COMMITMENTS WITH DECISION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Proposed Program and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COMMITMENT PROGRAM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5811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1622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Proposed 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Distributions and liquid reserve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[S6][S7]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Coverage remains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Secondaries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Distributions and 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Committee checkpoint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622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2028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Reserve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 be determined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Evidence refresh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29104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ALTERNATIVES CONSIDERED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565361"/>
          <a:ext cx="10908792" cy="9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068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68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new commitments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Maximum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Target exposure declines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Does not address program objective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68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Front-load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Faster target progress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Higher near-term calls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Coverage sensitivity 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595629"/>
            <a:ext cx="10908792" cy="16222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Phase each commitment after diligence clearance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Refresh pacing and policy liquidity quarterly [S3][S6].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Return to committee if manager concentration reaches its governed limit [S3].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S6 ·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CONDITIONS THAT GOVERN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Risks, Open Items and 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DECISION RISKS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Valuation and denominator 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Q1 valuations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Quarterly headroom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11.4% vs 12.0%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Cap follow-on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Near-term net calls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$18.0M through 2027 H1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Maintain liquidity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Treasury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OPEN ITEMS AND APPROVALS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Confirm first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markets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Document pacing limits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Final program schedule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Refresh valuations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 Q2 NAVs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S6 · 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NAV, commitments and unfunded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 Strategic CMA (TEST)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Commitments charts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Returned pacing projection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diligence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Proposed manager not assessed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sleeve-specific return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A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5435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pm-s1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pm-s2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pm-s3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Private-market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2026-03-31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pm-s4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pm-s5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Commitments and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get_chart_data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pm-s6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evidence and mandate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User document; diligence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pm-s7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pm-s8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B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9978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995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95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portfolio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5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USD; unfunded separate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95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Expected-statistics charts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10-year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5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Commitment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Returned commitments pack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Projected cash flows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07801"/>
            <a:ext cx="10908792" cy="25101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Private-market valuations may lag the report date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Forward values are assumptions, not forecasts or guarantees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This AI-assisted construction analysis is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S5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Private Markets Program (TEST)</dc:title>
  <dc:subject>Private Markets Portfolio Construction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