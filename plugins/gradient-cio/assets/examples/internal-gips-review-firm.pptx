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Met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Sheet1!$A$2:$A$6</c:f>
              <c:strCache>
                <c:ptCount val="5"/>
                <c:pt idx="0">
                  <c:v>Returns</c:v>
                </c:pt>
                <c:pt idx="1">
                  <c:v>Benchmark</c:v>
                </c:pt>
                <c:pt idx="2">
                  <c:v>Composite</c:v>
                </c:pt>
                <c:pt idx="3">
                  <c:v>Fees</c:v>
                </c:pt>
                <c:pt idx="4">
                  <c:v>Events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met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Sheet1!$A$2:$A$6</c:f>
              <c:strCache>
                <c:ptCount val="5"/>
                <c:pt idx="0">
                  <c:v>Returns</c:v>
                </c:pt>
                <c:pt idx="1">
                  <c:v>Benchmark</c:v>
                </c:pt>
                <c:pt idx="2">
                  <c:v>Composite</c:v>
                </c:pt>
                <c:pt idx="3">
                  <c:v>Fees</c:v>
                </c:pt>
                <c:pt idx="4">
                  <c:v>Events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1.0</c:v>
                </c:pt>
                <c:pt idx="4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met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Sheet1!$A$2:$A$6</c:f>
              <c:strCache>
                <c:ptCount val="5"/>
                <c:pt idx="0">
                  <c:v>Returns</c:v>
                </c:pt>
                <c:pt idx="1">
                  <c:v>Benchmark</c:v>
                </c:pt>
                <c:pt idx="2">
                  <c:v>Composite</c:v>
                </c:pt>
                <c:pt idx="3">
                  <c:v>Fees</c:v>
                </c:pt>
                <c:pt idx="4">
                  <c:v>Events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found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Sheet1!$A$2:$A$6</c:f>
              <c:strCache>
                <c:ptCount val="5"/>
                <c:pt idx="0">
                  <c:v>Returns</c:v>
                </c:pt>
                <c:pt idx="1">
                  <c:v>Benchmark</c:v>
                </c:pt>
                <c:pt idx="2">
                  <c:v>Composite</c:v>
                </c:pt>
                <c:pt idx="3">
                  <c:v>Fees</c:v>
                </c:pt>
                <c:pt idx="4">
                  <c:v>Events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0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2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1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2.0</c:v>
                </c:pt>
                <c:pt idx="2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event context is incomplete</a:t>
            </a:r>
          </a:p>
          <a:p>
            <a:r>
              <a:t>Observation: One significant event lacks an effective date [S1]. Why it matters: Readers cannot align the event with reported returns. Uncertainty: The date may exist outside the supplied report. What would change the view: Follow-up request 1 producing dated event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fee interpretation remains open</a:t>
            </a:r>
          </a:p>
          <a:p>
            <a:r>
              <a:t>Observation: One performance-fee term remains unclear in the disclosure schedule [S2]. Why it matters: Net-return disclosures require an explicit and complete fee basis. Uncertainty: The approved fee schedule was not supplied. What would change the view: Follow-up request 2 producing the approved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GIPS REPORT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Alder Ridge Composite — GIPS Report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Composite presentation · performance standards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COMPOSITE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Alder Ridge Composite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Composite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99032"/>
            <a:ext cx="73152" cy="116529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371600"/>
            <a:ext cx="10588752" cy="76072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Satisfactory with follow-ups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7210"/>
            <a:ext cx="10908792" cy="13116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2747210"/>
            <a:ext cx="54864" cy="131160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285693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40402"/>
            <a:ext cx="10616184" cy="82697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Performance history and benchmark evidence are present; the Preparer Fix List addresses fee wording and the missing significant-event date [S1][S2].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8541"/>
            <a:ext cx="2644902" cy="204937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4168541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49808" y="429655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55258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Returns, benchmark and 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4710" y="4168541"/>
            <a:ext cx="2644902" cy="204937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3394710" y="4168541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504438" y="429655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PARTIALLY MET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455258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Fee disclosure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4168541"/>
            <a:ext cx="2644902" cy="204937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6149340" y="4168541"/>
            <a:ext cx="264490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259068" y="429655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MET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455258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Significant-event 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3970" y="4168541"/>
            <a:ext cx="2644902" cy="204937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8903970" y="4168541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013698" y="429655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FOUND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455258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 unlocated requirements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EVIDENCE COVERAGE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28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2930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293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Composite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Annual gross, net and benchmark returns through 2025-12-31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3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Disclosure schedule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Incomplete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Performance-fee wording is incomplete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997830"/>
            <a:ext cx="10908792" cy="94680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Overall assessment:** Satisfactory with follow-ups. Return and benchmark history are present, while 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54360"/>
            <a:ext cx="10908792" cy="107789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054360"/>
            <a:ext cx="54864" cy="1077897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16408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return history is present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447552"/>
            <a:ext cx="10616184" cy="5932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report presents annual gross, net and benchmark returns for the required periods [S1]. This three-series history supports performance comparison, while completeness still depends on the accompanying disclosures, calculation basis and any period-specific qualifications in the reviewed report.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41985"/>
            <a:ext cx="10908792" cy="97593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5241985"/>
            <a:ext cx="54864" cy="97593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535171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composite identity is 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635177"/>
            <a:ext cx="10616184" cy="49130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disclosure schedule identifies the illustrative composite and its mandate [S2]. That pairing anchors the presented results to a named strategy, although identity alone does not resolve whether every account assignment and historical definition remained consistent.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33444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334448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event timing is absent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8498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report names one significant event without the effective date needed to place it in the record [S1]. Readers therefore cannot align the event with reported returns, and dated evidence is required before assessing its period-specific relevance.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70056"/>
            <a:ext cx="10908792" cy="24478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770056"/>
            <a:ext cx="54864" cy="244786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87978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fee text is incomplete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163248"/>
            <a:ext cx="10616184" cy="196323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disclosure schedule does not clearly state whether a performance fee applies [S2]. That omission limits net-return interpretation because readers cannot determine whether the reported result reflects every applicable fee or compare the basis consistently.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CHECKLIST STATUS BY AREA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FINDINGS BY SEVERITY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PRIORITY FINDINGS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140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3501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3501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Event date absent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report does not date the significant event [S1].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501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Fee wording incomplete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schedule does not clearly state the performance fee [S2].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3501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Approval evidence not supplied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supplied schedule does not include preparer approval evidence 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49987"/>
            <a:ext cx="10908792" cy="109744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One Not met event disclosure and one Partially met fee disclosure drive the fix list. The underlying annual</a:t>
            </a:r>
            <a:br/>
            <a:br/>
            <a:r>
              <a:rPr>
                <a:latin typeface="Inter"/>
              </a:rPr>
              <a:t>gross, net and benchmark return history is present [S1][S2].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57160"/>
            <a:ext cx="10908792" cy="116075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5057160"/>
            <a:ext cx="54864" cy="116075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516688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event context is incomplete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450352"/>
            <a:ext cx="10616184" cy="67612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One significant event lacks an effective date [S1]. Why it matters: Readers cannot align the event with reported returns. Uncertainty: The date may exist outside the supplied…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fee interpretation remains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One performance-fee term remains unclear in the disclosure schedule [S2]. Why it matters: Net-return disclosures require an explicit and complete fee basis. Uncertainty: The approved fee schedule…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Preparer fix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DISCLOSURE READINESS BY REPORT AREA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923544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Ready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Fix required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presentation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Composite description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Fee disclosure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Significant events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Preparer fix list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Add the significant event's effective date to the report before the next issue (4.C.19)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State the complete management and performance fee schedule in the disclosure note (4.C.11) [S2].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Follow-up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9776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Provide the significant-event effective date and approved disclosure text.</a:t>
            </a:r>
            <a:br/>
            <a:r>
              <a:rPr>
                <a:latin typeface="Inter"/>
              </a:rPr>
              <a:t>      Closes the 4.C.19 gap [S1].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  Provide the complete fee schedule and approved disclosure text.</a:t>
            </a:r>
            <a:br/>
            <a:r>
              <a:rPr>
                <a:latin typeface="Inter"/>
              </a:rPr>
              <a:t>      Closes the 4.C.11 gap [S2].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13273"/>
            <a:ext cx="10908792" cy="180464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significant-event effective date and the approved disclosure text (4.C.19)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complete fee schedule and approved disclosure text (4.C.11) [S2].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Findings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Area  ·  Requirement  ·  Provision  ·  Status  ·  Evidence  ·  Finding / follow-up  · </a:t>
            </a:r>
            <a:br/>
            <a:br/>
            <a:r>
              <a:rPr>
                <a:latin typeface="Inter"/>
              </a:rPr>
              <a:t> ·  Returns  ·  Required annual returns  ·  4.A.1  ·  Met  ·  Report pp.1–2 [S1]  ·  —  · </a:t>
            </a:r>
            <a:br/>
            <a:br/>
            <a:r>
              <a:rPr>
                <a:latin typeface="Inter"/>
              </a:rPr>
              <a:t> ·  Benchmark  ·  Benchmark returns  ·  4.A.1  ·  Met  ·  Report pp.1–2 [S1]  ·  —  · </a:t>
            </a:r>
            <a:br/>
            <a:br/>
            <a:r>
              <a:rPr>
                <a:latin typeface="Inter"/>
              </a:rPr>
              <a:t> ·  Composite  ·  Composite description  ·  4.C.10  ·  Met  ·  Schedule [S2]  ·  —  · </a:t>
            </a:r>
            <a:br/>
            <a:br/>
            <a:r>
              <a:rPr>
                <a:latin typeface="Inter"/>
              </a:rPr>
              <a:t> ·  Fees  ·  Fee disclosure  ·  4.C.11  ·  Partially met  ·  Schedule [S2]  ·  Performance fee unclear  · </a:t>
            </a:r>
            <a:br/>
            <a:br/>
            <a:r>
              <a:rPr>
                <a:latin typeface="Inter"/>
              </a:rPr>
              <a:t> ·  Events  ·  Significant-event disclosure  ·  4.C.19  ·  Not met  ·  Report [S1]  ·  Event date absent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</a:t>
            </a:r>
            <a:br/>
            <a:br/>
            <a:r>
              <a:rPr>
                <a:latin typeface="Inter"/>
              </a:rPr>
              <a:t>portfolios, managers and results in this public example are illustrative.</a:t>
            </a:r>
            <a:br/>
            <a:br/>
            <a:r>
              <a:rPr>
                <a:latin typeface="Inter"/>
              </a:rPr>
              <a:t> ·  Tag  ·  Source  ·  Detail  ·  As of  ·  Validation  · </a:t>
            </a:r>
            <a:br/>
            <a:br/>
            <a:r>
              <a:rPr>
                <a:latin typeface="Inter"/>
              </a:rPr>
              <a:t> ·  S1  ·  Composite report  ·  Pages 1–4  ·  2025-12-31  ·  Illustrative document  · </a:t>
            </a:r>
            <a:br/>
            <a:br/>
            <a:r>
              <a:rPr>
                <a:latin typeface="Inter"/>
              </a:rPr>
              <a:t> ·  S2  ·  Disclosure schedule  ·  Fee and composite notes  ·  2026-03-31  ·  Illustrative document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Method &amp;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This illustrative review is not verification, certification, legal advice or an assessment of any real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performance standards review · Data as of 2025-12-31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Alder Ridge Composite — GIPS Report Review</dc:title>
  <dc:subject>GIPS Review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