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Met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1.0</c:v>
                </c:pt>
                <c:pt idx="1">
                  <c:v>1.0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Partially met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met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1.0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Not found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0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2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2.0</c:v>
                </c:pt>
                <c:pt idx="2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event context is incomplete</a:t>
            </a:r>
          </a:p>
          <a:p>
            <a:r>
              <a:t>Observation: One significant event lacks an effective date [S1]. Why it matters: Readers cannot align the event with reported returns. Uncertainty: The date may exist outside the supplied report. What would change the view: Follow-up request 1 producing dated event evidence.</a:t>
            </a:r>
          </a:p>
          <a:p/>
          <a:p>
            <a:r>
              <a:t>Analysis — fee interpretation remains open</a:t>
            </a:r>
          </a:p>
          <a:p>
            <a:r>
              <a:t>Observation: One performance-fee term remains unclear in the disclosure schedule [S2]. Why it matters: Net-return disclosures require an explicit and complete fee basis. Uncertainty: The approved fee schedule was not supplied. What would change the view: Follow-up request 2 producing the approved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GIPS REPORT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Alder Ridge Composite — GIPS Report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Composite presentation · performance standards review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SUBJECT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Alder Ridge Composite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Composite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Satisfactory with follow-ups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5 of 5 · Complete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79336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79336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30873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Performance history and benchmark evidence are present; the Preparer Fix List addresses fee wording and the missing significant-event date [S1][S2].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28975"/>
            <a:ext cx="2644902" cy="298894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228975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335699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61302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Returns, benchmark and description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3228975"/>
            <a:ext cx="2644902" cy="298894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3394710" y="3228975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504438" y="335699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PARTIALLY MET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361302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Fee disclosure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3228975"/>
            <a:ext cx="2644902" cy="298894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149340" y="3228975"/>
            <a:ext cx="264490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259068" y="335699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MET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361302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Significant-event date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3228975"/>
            <a:ext cx="2644902" cy="298894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8903970" y="3228975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13698" y="335699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FOUND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361302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unlocated requirements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EVIDENCE COVERAGE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1871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957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57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Composite report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 gross, net and benchmark returns through 2025-12-31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572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Disclosure schedule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Performance-fee wording is incomplete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897102"/>
            <a:ext cx="10908792" cy="5314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Overall assessment:** Satisfactory with follow-ups. Return and benchmark history are present, while the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38282"/>
            <a:ext cx="10908792" cy="82006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538282"/>
            <a:ext cx="54864" cy="82006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64801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return history is present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931474"/>
            <a:ext cx="10616184" cy="3354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presents annual gross, net and benchmark returns for the required periods [S1]. This three-series history supports performance comparison, while completeness still depends on the accompanying disclosures, calculation basis and any period-specific qualifications in the reviewed report.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68070"/>
            <a:ext cx="10908792" cy="82006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4468070"/>
            <a:ext cx="54864" cy="82006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457779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composite identity is clear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4861262"/>
            <a:ext cx="10616184" cy="3354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disclosure schedule identifies the illustrative composite and its mandate [S2]. That pairing anchors the presented results to a named strategy, although identity alone does not resolve whether every account assignment and historical definition remained consistent.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397859"/>
            <a:ext cx="10908792" cy="82006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40080" y="5397859"/>
            <a:ext cx="54864" cy="82006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04671" y="550758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event timing is absent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1" y="5791051"/>
            <a:ext cx="10616184" cy="3354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names one significant event without the effective date needed to place it in the record [S1]. Readers therefore cannot align the event with reported returns, and dated evidence is required before assessing its period-specific relevance.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fee text is incomplete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disclosure schedule does not clearly state whether a performance fee applies [S2]. That omission limits net-return interpretation because readers cannot determine whether the reported result reflects every applicable fee or compare the basis consistently.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CHECKLIST STATUS BY AREA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FINDINGS BY SEVERITY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PRIORITY FINDINGS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8438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6095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6095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 date absent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report does not date the significant event [S1].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095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Fee wording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schedule does not clearly state the performance fee [S2].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095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Approval evidence not supplied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supplied schedule does not include preparer approval evidence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553761"/>
            <a:ext cx="10908792" cy="6619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One Not met event disclosure and one Partially met fee disclosure drive the fix list. The underlying annual</a:t>
            </a:r>
            <a:br/>
            <a:br/>
            <a:r>
              <a:rPr>
                <a:latin typeface="Inter"/>
              </a:rPr>
              <a:t>gross, net and benchmark return history is present [S1][S2].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325412"/>
            <a:ext cx="10908792" cy="89138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325412"/>
            <a:ext cx="54864" cy="89138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43514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event context is incomplete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718604"/>
            <a:ext cx="10616184" cy="4067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significant event lacks an effective date [S1]. Why it matters: Readers cannot align the event with reported returns. Uncertainty: The date may exist outside the supplied…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326530"/>
            <a:ext cx="10908792" cy="89138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5326530"/>
            <a:ext cx="54864" cy="89138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543625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fee interpretation remains open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719722"/>
            <a:ext cx="10616184" cy="4067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performance-fee term remains unclear in the disclosure schedule [S2]. Why it matters: Net-return disclosures require an explicit and complete fee basis. Uncertainty: The approved fee schedule…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Preparer fix 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DISCLOSURE READINESS BY REPORT AREA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959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264"/>
                <a:gridCol w="3636264"/>
                <a:gridCol w="3636264"/>
              </a:tblGrid>
              <a:tr h="79187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Ready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 required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9187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presentation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9187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Composite description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9187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Fee disclosure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  <a:tr h="79187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Significant events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669280"/>
            <a:ext cx="10908792" cy="5486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Add the significant event's effective date to the report before the next issue (4.C.19)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State the complete management and performance fee schedule in the disclosure note (4.C.11) [S2].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Follow-up requests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35070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Provide the significant-event effective date and approved disclosure text.</a:t>
            </a:r>
            <a:br/>
            <a:r>
              <a:rPr>
                <a:latin typeface="Inter"/>
              </a:rPr>
              <a:t>      Closes the 4.C.19 gap [S1].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  Provide the complete fee schedule and approved disclosure text.</a:t>
            </a:r>
            <a:br/>
            <a:r>
              <a:rPr>
                <a:latin typeface="Inter"/>
              </a:rPr>
              <a:t>      Closes the 4.C.11 gap [S2].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42636"/>
            <a:ext cx="10908792" cy="127528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Provide the significant-event effective date and the approved disclosure text (4.C.19)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Provide the complete fee schedule and approved disclosure text (4.C.11) [S2].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Findings checklist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Area  ·  Requirement  ·  Provision  ·  Status  ·  Evidence  ·  Finding / follow-up  · </a:t>
            </a:r>
            <a:br/>
            <a:br/>
            <a:r>
              <a:rPr>
                <a:latin typeface="Inter"/>
              </a:rPr>
              <a:t> ·  Returns  ·  Required annual returns  ·  4.A.1  ·  Met  ·  Report pp.1–2 [S1]  ·  —  · </a:t>
            </a:r>
            <a:br/>
            <a:br/>
            <a:r>
              <a:rPr>
                <a:latin typeface="Inter"/>
              </a:rPr>
              <a:t> ·  Benchmark  ·  Benchmark returns  ·  4.A.1  ·  Met  ·  Report pp.1–2 [S1]  ·  —  · </a:t>
            </a:r>
            <a:br/>
            <a:br/>
            <a:r>
              <a:rPr>
                <a:latin typeface="Inter"/>
              </a:rPr>
              <a:t> ·  Composite  ·  Composite description  ·  4.C.10  ·  Met  ·  Schedule [S2]  ·  —  · </a:t>
            </a:r>
            <a:br/>
            <a:br/>
            <a:r>
              <a:rPr>
                <a:latin typeface="Inter"/>
              </a:rPr>
              <a:t> ·  Fees  ·  Fee disclosure  ·  4.C.11  ·  Partially met  ·  Schedule [S2]  ·  Performance fee unclear  · </a:t>
            </a:r>
            <a:br/>
            <a:br/>
            <a:r>
              <a:rPr>
                <a:latin typeface="Inter"/>
              </a:rPr>
              <a:t> ·  Events  ·  Significant-event disclosure  ·  4.C.19  ·  Not met  ·  Report [S1]  ·  Event date absent  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</a:t>
            </a:r>
            <a:br/>
            <a:br/>
            <a:r>
              <a:rPr>
                <a:latin typeface="Inter"/>
              </a:rPr>
              <a:t>portfolios, managers and results in this public example are illustrative.</a:t>
            </a:r>
            <a:br/>
            <a:br/>
            <a:r>
              <a:rPr>
                <a:latin typeface="Inter"/>
              </a:rPr>
              <a:t> ·  Tag  ·  Source  ·  Detail  ·  As of  ·  Validation  · </a:t>
            </a:r>
            <a:br/>
            <a:br/>
            <a:r>
              <a:rPr>
                <a:latin typeface="Inter"/>
              </a:rPr>
              <a:t> ·  S1  ·  Composite report  ·  Pages 1–4  ·  2025-12-31  ·  Illustrative document  · </a:t>
            </a:r>
            <a:br/>
            <a:br/>
            <a:r>
              <a:rPr>
                <a:latin typeface="Inter"/>
              </a:rPr>
              <a:t> ·  S2  ·  Disclosure schedule  ·  Fee and composite notes  ·  2026-03-31  ·  Illustrative document  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Method &amp;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This illustrative review is not verification, certification, legal advice or an assessment of any real product.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Alder Ridge Composite — GIPS Report Review</dc:title>
  <dc:subject>GIPS Review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