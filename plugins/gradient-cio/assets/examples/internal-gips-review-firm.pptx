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context is incomplete</a:t>
            </a:r>
          </a:p>
          <a:p>
            <a:r>
              <a:t>Observation: One significant event lacks an effective date [S1]. Why it matters: Readers cannot align the event with reported returns. Uncertainty: The date may exist outside the supplied report. What would change the view: Follow-up request 1 producing dated event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fee interpretation remains open</a:t>
            </a:r>
          </a:p>
          <a:p>
            <a:r>
              <a:t>Observation: One performance-fee term remains unclear in the disclosure schedule [S2]. Why it matters: Net-return disclosures require an explicit and complete fee basis. Uncertainty: The approved fee schedule was not supplied. What would change the view: Follow-up request 2 producing the approved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REPORT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 — GIPS Report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Composite presentation · performance standards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Composite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866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866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81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Performance history and benchmark evidence are present; the Preparer Fix List addresses fee wording and the missing significant-event date [S1][S2].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Returns, benchmark and description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Fee disclosure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30187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Significant-event date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unlocated requirements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293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93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 gross, net and benchmark returns through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3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Disclosure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Performance-fee wording is incomplete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97830"/>
            <a:ext cx="10908792" cy="9468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Return and benchmark history are present, while the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54360"/>
            <a:ext cx="10908792" cy="10778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054360"/>
            <a:ext cx="54864" cy="107789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1640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history is present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447552"/>
            <a:ext cx="10616184" cy="5932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presents annual gross, net and benchmark returns for the required periods [S1]. This three-series history supports performance comparison, while completeness still depends on the accompanying disclosures, calculation basis and any period-specific qualifications in the reviewed report.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241985"/>
            <a:ext cx="10908792" cy="9759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241985"/>
            <a:ext cx="54864" cy="97593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35171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composite identity is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635177"/>
            <a:ext cx="10616184" cy="4913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identifies the illustrative composite and its mandate [S2]. That pairing anchors the presented results to a named strategy, although identity alone does not resolve whether every account assignment and historical definition remained consistent.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344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3444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event timing is absent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49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names one significant event without the effective date needed to place it in the record [S1]. Readers therefore cannot align the event with reported returns, and dated evidence is required before assessing its period-specific relevance.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0056"/>
            <a:ext cx="10908792" cy="24478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70056"/>
            <a:ext cx="54864" cy="244786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7978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fee text is incomplete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63248"/>
            <a:ext cx="10616184" cy="19632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does not clearly state whether a performance fee applies [S2]. That omission limits net-return interpretation because readers cannot determine whether the reported result reflects every applicable fee or compare the basis consistently.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400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350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5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report does not date the significant event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5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wording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schedule does not clearly state the performance fee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350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Approval evidence not supplied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supplied schedule does not include preparer approval evidence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49987"/>
            <a:ext cx="10908792" cy="10974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Not met event disclosure and one Partially met fee disclosure drive the fix list. The underlying annual</a:t>
            </a:r>
            <a:br/>
            <a:br/>
            <a:r>
              <a:rPr>
                <a:latin typeface="Inter"/>
              </a:rPr>
              <a:t>gross, net and benchmark return history is present [S1][S2].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057160"/>
            <a:ext cx="10908792" cy="11607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057160"/>
            <a:ext cx="54864" cy="116075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1668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context is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450352"/>
            <a:ext cx="10616184" cy="6761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significant event lacks an effective date [S1]. Why it matters: Readers cannot align the event with reported returns. Uncertainty: The date may exist outside the supplied…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fee interpretation remains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performance-fee term remains unclear in the disclosure schedule [S2]. Why it matters: Net-return disclosures require an explicit and complete fee basis. Uncertainty: The approved fee schedule…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Preparer fix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DISCLOSURE READINESS BY REPORT AREA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 required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presentation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description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disclosure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Significant events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Preparer fix list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Add the significant event's effective date to the report before the next issue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State the complete management and performance fee schedule in the disclosure note (4.C.11) [S2].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977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significant-event effective date and approved disclosure text.</a:t>
            </a:r>
            <a:br/>
            <a:r>
              <a:rPr>
                <a:latin typeface="Inter"/>
              </a:rPr>
              <a:t>      Closes the 4.C.19 gap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complete fee schedule and approved disclosure text.</a:t>
            </a:r>
            <a:br/>
            <a:r>
              <a:rPr>
                <a:latin typeface="Inter"/>
              </a:rPr>
              <a:t>      Closes the 4.C.11 gap [S2].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13273"/>
            <a:ext cx="10908792" cy="18046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significant-event effective date and the approved disclosure text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complete fee schedule and approved disclosure text (4.C.11) [S2].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Returns  ·  Required annual returns  ·  4.A.1  ·  Met  ·  Report pp.1–2 [S1]  ·  —  · </a:t>
            </a:r>
            <a:br/>
            <a:br/>
            <a:r>
              <a:rPr>
                <a:latin typeface="Inter"/>
              </a:rPr>
              <a:t> ·  Benchmark  ·  Benchmark returns  ·  4.A.1  ·  Met  ·  Report pp.1–2 [S1]  ·  —  · </a:t>
            </a:r>
            <a:br/>
            <a:br/>
            <a:r>
              <a:rPr>
                <a:latin typeface="Inter"/>
              </a:rPr>
              <a:t> ·  Composite  ·  Composite description  ·  4.C.10  ·  Met  ·  Schedule [S2]  ·  —  · </a:t>
            </a:r>
            <a:br/>
            <a:br/>
            <a:r>
              <a:rPr>
                <a:latin typeface="Inter"/>
              </a:rPr>
              <a:t> ·  Fees  ·  Fee disclosure  ·  4.C.11  ·  Partially met  ·  Schedule [S2]  ·  Performance fee unclear  · </a:t>
            </a:r>
            <a:br/>
            <a:br/>
            <a:r>
              <a:rPr>
                <a:latin typeface="Inter"/>
              </a:rPr>
              <a:t> ·  Events  ·  Significant-event disclosure  ·  4.C.19  ·  Not met  ·  Report [S1]  ·  Event date absent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Tag  ·  Source  ·  Detail  ·  As of  ·  Validation  · </a:t>
            </a:r>
            <a:br/>
            <a:br/>
            <a:r>
              <a:rPr>
                <a:latin typeface="Inter"/>
              </a:rPr>
              <a:t> ·  S1  ·  Composite report  ·  Pages 1–4  ·  2025-12-31  ·  Illustrative document  · </a:t>
            </a:r>
            <a:br/>
            <a:br/>
            <a:r>
              <a:rPr>
                <a:latin typeface="Inter"/>
              </a:rPr>
              <a:t> ·  S2  ·  Disclosure schedule  ·  Fee and composite notes  ·  2026-03-31  ·  Illustrative document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illustrative review is not verification, certification, legal advice or an assessment of any real product.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Alder Ridge Composite — GIPS Report Review</dc:title>
  <dc:subject>GIPS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