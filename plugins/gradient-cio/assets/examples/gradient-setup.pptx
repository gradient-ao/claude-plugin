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57200"/>
            <a:ext cx="274320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t>SETUP &amp; READINESS</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t>Gradient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t>GradientCIO connection, access and data readiness</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ORGANIZATION</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Gradient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ROLE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Admin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LICENSED MODULES</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4 of 7</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ROSTER FUNDS</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1 of 3 slots</a:t>
            </a:r>
          </a:p>
        </p:txBody>
      </p:sp>
      <p:sp>
        <p:nvSpPr>
          <p:cNvPr id="17" name="TextBox 16"/>
          <p:cNvSpPr txBox="1"/>
          <p:nvPr/>
        </p:nvSpPr>
        <p:spPr>
          <a:xfrm>
            <a:off x="416052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MCP VERSION</a:t>
            </a:r>
          </a:p>
        </p:txBody>
      </p:sp>
      <p:sp>
        <p:nvSpPr>
          <p:cNvPr id="18" name="TextBox 17"/>
          <p:cNvSpPr txBox="1"/>
          <p:nvPr/>
        </p:nvSpPr>
        <p:spPr>
          <a:xfrm>
            <a:off x="416052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gradient-mcp 0.7.0</a:t>
            </a:r>
          </a:p>
        </p:txBody>
      </p:sp>
      <p:sp>
        <p:nvSpPr>
          <p:cNvPr id="19" name="TextBox 18"/>
          <p:cNvSpPr txBox="1"/>
          <p:nvPr/>
        </p:nvSpPr>
        <p:spPr>
          <a:xfrm>
            <a:off x="763524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CHECKED</a:t>
            </a:r>
          </a:p>
        </p:txBody>
      </p:sp>
      <p:sp>
        <p:nvSpPr>
          <p:cNvPr id="20" name="TextBox 19"/>
          <p:cNvSpPr txBox="1"/>
          <p:nvPr/>
        </p:nvSpPr>
        <p:spPr>
          <a:xfrm>
            <a:off x="763524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2026-10-04</a:t>
            </a:r>
          </a:p>
        </p:txBody>
      </p:sp>
      <p:sp>
        <p:nvSpPr>
          <p:cNvPr id="21" name="TextBox 20"/>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t>Confidential — prepared for internal investment use</a:t>
            </a:r>
          </a:p>
        </p:txBody>
      </p:sp>
      <p:sp>
        <p:nvSpPr>
          <p:cNvPr id="22" name="TextBox 21"/>
          <p:cNvSpPr txBox="1"/>
          <p:nvPr/>
        </p:nvSpPr>
        <p:spPr>
          <a:xfrm>
            <a:off x="9875520" y="6473952"/>
            <a:ext cx="164592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CAN THIS ORGANIZATION USE THE GRADIENT SKILLS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Summary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01</a:t>
            </a:r>
          </a:p>
        </p:txBody>
      </p:sp>
      <p:sp>
        <p:nvSpPr>
          <p:cNvPr id="8" name="Rectangle 7"/>
          <p:cNvSpPr/>
          <p:nvPr/>
        </p:nvSpPr>
        <p:spPr>
          <a:xfrm>
            <a:off x="640080" y="1325880"/>
            <a:ext cx="10908792" cy="193578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325880"/>
            <a:ext cx="54864" cy="193578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Bottom line</a:t>
            </a:r>
          </a:p>
        </p:txBody>
      </p:sp>
      <p:sp>
        <p:nvSpPr>
          <p:cNvPr id="11" name="TextBox 10"/>
          <p:cNvSpPr txBox="1"/>
          <p:nvPr/>
        </p:nvSpPr>
        <p:spPr>
          <a:xfrm>
            <a:off x="804671" y="1719072"/>
            <a:ext cx="10616184" cy="145115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GradientCIO is connected and healthy for organization Gradient [S1][S2]. Nine of eleven skills are ready; the macro briefing is ready with one view unavailable, and the IC memo needs the Portfolio and Strategy Lab modules for live portfolio data [S2]. 13 of 14 contract checks passed; the one failure (macro regime state, HTTP 500) is a known issue the skills work around [S3].</a:t>
            </a:r>
          </a:p>
        </p:txBody>
      </p:sp>
      <p:sp>
        <p:nvSpPr>
          <p:cNvPr id="12" name="Rectangle 11"/>
          <p:cNvSpPr/>
          <p:nvPr/>
        </p:nvSpPr>
        <p:spPr>
          <a:xfrm>
            <a:off x="640080" y="3371392"/>
            <a:ext cx="2644902" cy="166877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371392"/>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499408"/>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SKILLS READY</a:t>
            </a:r>
          </a:p>
        </p:txBody>
      </p:sp>
      <p:sp>
        <p:nvSpPr>
          <p:cNvPr id="15" name="TextBox 14"/>
          <p:cNvSpPr txBox="1"/>
          <p:nvPr/>
        </p:nvSpPr>
        <p:spPr>
          <a:xfrm>
            <a:off x="749808" y="3755440"/>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9</a:t>
            </a:r>
          </a:p>
        </p:txBody>
      </p:sp>
      <p:sp>
        <p:nvSpPr>
          <p:cNvPr id="16" name="TextBox 15"/>
          <p:cNvSpPr txBox="1"/>
          <p:nvPr/>
        </p:nvSpPr>
        <p:spPr>
          <a:xfrm>
            <a:off x="749808" y="471098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of 11</a:t>
            </a:r>
          </a:p>
        </p:txBody>
      </p:sp>
      <p:sp>
        <p:nvSpPr>
          <p:cNvPr id="17" name="Rectangle 16"/>
          <p:cNvSpPr/>
          <p:nvPr/>
        </p:nvSpPr>
        <p:spPr>
          <a:xfrm>
            <a:off x="3394710" y="3371392"/>
            <a:ext cx="2644902" cy="166877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94710" y="3371392"/>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04438" y="3499408"/>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PARTIAL</a:t>
            </a:r>
          </a:p>
        </p:txBody>
      </p:sp>
      <p:sp>
        <p:nvSpPr>
          <p:cNvPr id="20" name="TextBox 19"/>
          <p:cNvSpPr txBox="1"/>
          <p:nvPr/>
        </p:nvSpPr>
        <p:spPr>
          <a:xfrm>
            <a:off x="3504438" y="3755440"/>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2</a:t>
            </a:r>
          </a:p>
        </p:txBody>
      </p:sp>
      <p:sp>
        <p:nvSpPr>
          <p:cNvPr id="21" name="TextBox 20"/>
          <p:cNvSpPr txBox="1"/>
          <p:nvPr/>
        </p:nvSpPr>
        <p:spPr>
          <a:xfrm>
            <a:off x="3504438" y="471098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Macro brief · IC memo</a:t>
            </a:r>
          </a:p>
        </p:txBody>
      </p:sp>
      <p:sp>
        <p:nvSpPr>
          <p:cNvPr id="22" name="Rectangle 21"/>
          <p:cNvSpPr/>
          <p:nvPr/>
        </p:nvSpPr>
        <p:spPr>
          <a:xfrm>
            <a:off x="6149340" y="3371392"/>
            <a:ext cx="2644902" cy="166877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49340" y="3371392"/>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59068" y="3499408"/>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NOT LICENSED</a:t>
            </a:r>
          </a:p>
        </p:txBody>
      </p:sp>
      <p:sp>
        <p:nvSpPr>
          <p:cNvPr id="25" name="TextBox 24"/>
          <p:cNvSpPr txBox="1"/>
          <p:nvPr/>
        </p:nvSpPr>
        <p:spPr>
          <a:xfrm>
            <a:off x="6259068" y="3755440"/>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2 modules</a:t>
            </a:r>
          </a:p>
        </p:txBody>
      </p:sp>
      <p:sp>
        <p:nvSpPr>
          <p:cNvPr id="26" name="TextBox 25"/>
          <p:cNvSpPr txBox="1"/>
          <p:nvPr/>
        </p:nvSpPr>
        <p:spPr>
          <a:xfrm>
            <a:off x="6259068" y="471098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Portfolio · Strategy Lab</a:t>
            </a:r>
          </a:p>
        </p:txBody>
      </p:sp>
      <p:sp>
        <p:nvSpPr>
          <p:cNvPr id="27" name="Rectangle 26"/>
          <p:cNvSpPr/>
          <p:nvPr/>
        </p:nvSpPr>
        <p:spPr>
          <a:xfrm>
            <a:off x="8903970" y="3371392"/>
            <a:ext cx="2644902" cy="166877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03970" y="3371392"/>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13698" y="3499408"/>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CHECKS PASSED</a:t>
            </a:r>
          </a:p>
        </p:txBody>
      </p:sp>
      <p:sp>
        <p:nvSpPr>
          <p:cNvPr id="30" name="TextBox 29"/>
          <p:cNvSpPr txBox="1"/>
          <p:nvPr/>
        </p:nvSpPr>
        <p:spPr>
          <a:xfrm>
            <a:off x="9013698" y="3755440"/>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13 / 14</a:t>
            </a:r>
          </a:p>
        </p:txBody>
      </p:sp>
      <p:sp>
        <p:nvSpPr>
          <p:cNvPr id="31" name="TextBox 30"/>
          <p:cNvSpPr txBox="1"/>
          <p:nvPr/>
        </p:nvSpPr>
        <p:spPr>
          <a:xfrm>
            <a:off x="9013698" y="471098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1 known issue</a:t>
            </a:r>
          </a:p>
        </p:txBody>
      </p:sp>
      <p:sp>
        <p:nvSpPr>
          <p:cNvPr id="32" name="Rectangle 31"/>
          <p:cNvSpPr/>
          <p:nvPr/>
        </p:nvSpPr>
        <p:spPr>
          <a:xfrm>
            <a:off x="640080" y="5149900"/>
            <a:ext cx="10908792" cy="106801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49900"/>
            <a:ext cx="54864" cy="1068019"/>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1" y="525962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What to do next</a:t>
            </a:r>
          </a:p>
        </p:txBody>
      </p:sp>
      <p:sp>
        <p:nvSpPr>
          <p:cNvPr id="35" name="TextBox 34"/>
          <p:cNvSpPr txBox="1"/>
          <p:nvPr/>
        </p:nvSpPr>
        <p:spPr>
          <a:xfrm>
            <a:off x="804671" y="5543092"/>
            <a:ext cx="10616184" cy="58338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Nothing is blocking day-to-day use. To write IC memos from live portfolio data, license the Portfolio and Strategy Lab modules; until then the memo can be written from holdings you supply.</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S3</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STATUS OF EACH SKILL FOR THIS ORGANIZATION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Skills you can use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965704"/>
                <a:gridCol w="2965704"/>
                <a:gridCol w="2965704"/>
              </a:tblGrid>
              <a:tr h="611505">
                <a:tc>
                  <a:txBody>
                    <a:bodyPr/>
                    <a:lstStyle/>
                    <a:p>
                      <a:pPr>
                        <a:defRPr sz="750" b="1">
                          <a:solidFill>
                            <a:srgbClr val="FFFFFF"/>
                          </a:solidFill>
                          <a:latin typeface="Inter"/>
                        </a:defRPr>
                      </a:pPr>
                      <a:r>
                        <a:t>Skill</a:t>
                      </a:r>
                    </a:p>
                  </a:txBody>
                  <a:tcPr marL="54864" marR="54864" marT="27432" marB="27432" anchor="ctr">
                    <a:solidFill>
                      <a:srgbClr val="0D1117"/>
                    </a:solidFill>
                  </a:tcPr>
                </a:tc>
                <a:tc>
                  <a:txBody>
                    <a:bodyPr/>
                    <a:lstStyle/>
                    <a:p>
                      <a:pPr>
                        <a:defRPr sz="750" b="1">
                          <a:solidFill>
                            <a:srgbClr val="FFFFFF"/>
                          </a:solidFill>
                          <a:latin typeface="Inter"/>
                        </a:defRPr>
                      </a:pPr>
                      <a:r>
                        <a:t>Produces</a:t>
                      </a:r>
                    </a:p>
                  </a:txBody>
                  <a:tcPr marL="54864" marR="54864" marT="27432" marB="27432" anchor="ctr">
                    <a:solidFill>
                      <a:srgbClr val="0D1117"/>
                    </a:solidFill>
                  </a:tcPr>
                </a:tc>
                <a:tc>
                  <a:txBody>
                    <a:bodyPr/>
                    <a:lstStyle/>
                    <a:p>
                      <a:pPr>
                        <a:defRPr sz="750" b="1">
                          <a:solidFill>
                            <a:srgbClr val="FFFFFF"/>
                          </a:solidFill>
                          <a:latin typeface="Inter"/>
                        </a:defRPr>
                      </a:pPr>
                      <a:r>
                        <a:t>Status</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611505">
                <a:tc>
                  <a:txBody>
                    <a:bodyPr/>
                    <a:lstStyle/>
                    <a:p>
                      <a:pPr>
                        <a:defRPr sz="800" b="1">
                          <a:solidFill>
                            <a:srgbClr val="0D1117"/>
                          </a:solidFill>
                          <a:latin typeface="Inter"/>
                        </a:defRPr>
                      </a:pPr>
                      <a:r>
                        <a:t>gradient-odd-report</a:t>
                      </a:r>
                    </a:p>
                  </a:txBody>
                  <a:tcPr marL="54864" marR="54864" marT="27432" marB="27432" anchor="ctr">
                    <a:solidFill>
                      <a:srgbClr val="FFFFFF"/>
                    </a:solidFill>
                  </a:tcPr>
                </a:tc>
                <a:tc>
                  <a:txBody>
                    <a:bodyPr/>
                    <a:lstStyle/>
                    <a:p>
                      <a:pPr>
                        <a:defRPr sz="800" b="0">
                          <a:solidFill>
                            <a:srgbClr val="0D1117"/>
                          </a:solidFill>
                          <a:latin typeface="Inter"/>
                        </a:defRPr>
                      </a:pPr>
                      <a:r>
                        <a:t>ODD report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Event feed not yet published; reports say so</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gradient-ddq-reconcile</a:t>
                      </a:r>
                    </a:p>
                  </a:txBody>
                  <a:tcPr marL="54864" marR="54864" marT="27432" marB="27432" anchor="ctr">
                    <a:solidFill>
                      <a:srgbClr val="F5F7F9"/>
                    </a:solidFill>
                  </a:tcPr>
                </a:tc>
                <a:tc>
                  <a:txBody>
                    <a:bodyPr/>
                    <a:lstStyle/>
                    <a:p>
                      <a:pPr>
                        <a:defRPr sz="800" b="0">
                          <a:solidFill>
                            <a:srgbClr val="0D1117"/>
                          </a:solidFill>
                          <a:latin typeface="Inter"/>
                        </a:defRPr>
                      </a:pPr>
                      <a:r>
                        <a:t>DDQ reconciliation</a:t>
                      </a:r>
                    </a:p>
                  </a:txBody>
                  <a:tcPr marL="54864" marR="54864" marT="27432" marB="27432" anchor="ctr">
                    <a:solidFill>
                      <a:srgbClr val="F5F7F9"/>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One subject per call; saving runs not yet available</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gradient-manager-monitor</a:t>
                      </a:r>
                    </a:p>
                  </a:txBody>
                  <a:tcPr marL="54864" marR="54864" marT="27432" marB="27432" anchor="ctr">
                    <a:solidFill>
                      <a:srgbClr val="FFFFFF"/>
                    </a:solidFill>
                  </a:tcPr>
                </a:tc>
                <a:tc>
                  <a:txBody>
                    <a:bodyPr/>
                    <a:lstStyle/>
                    <a:p>
                      <a:pPr>
                        <a:defRPr sz="800" b="0">
                          <a:solidFill>
                            <a:srgbClr val="0D1117"/>
                          </a:solidFill>
                          <a:latin typeface="Inter"/>
                        </a:defRPr>
                      </a:pPr>
                      <a:r>
                        <a:t>Weekly monitoring digest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1 roster fund monitored</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gradient-macro-brief</a:t>
                      </a:r>
                    </a:p>
                  </a:txBody>
                  <a:tcPr marL="54864" marR="54864" marT="27432" marB="27432" anchor="ctr">
                    <a:solidFill>
                      <a:srgbClr val="F5F7F9"/>
                    </a:solidFill>
                  </a:tcPr>
                </a:tc>
                <a:tc>
                  <a:txBody>
                    <a:bodyPr/>
                    <a:lstStyle/>
                    <a:p>
                      <a:pPr>
                        <a:defRPr sz="800" b="0">
                          <a:solidFill>
                            <a:srgbClr val="0D1117"/>
                          </a:solidFill>
                          <a:latin typeface="Inter"/>
                        </a:defRPr>
                      </a:pPr>
                      <a:r>
                        <a:t>Macro briefing deck</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Regime-state view unavailable; deck uses Gradient signal instead</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gradient-ic-memo</a:t>
                      </a:r>
                    </a:p>
                  </a:txBody>
                  <a:tcPr marL="54864" marR="54864" marT="27432" marB="27432" anchor="ctr">
                    <a:solidFill>
                      <a:srgbClr val="FFFFFF"/>
                    </a:solidFill>
                  </a:tcPr>
                </a:tc>
                <a:tc>
                  <a:txBody>
                    <a:bodyPr/>
                    <a:lstStyle/>
                    <a:p>
                      <a:pPr>
                        <a:defRPr sz="800" b="0">
                          <a:solidFill>
                            <a:srgbClr val="0D1117"/>
                          </a:solidFill>
                          <a:latin typeface="Inter"/>
                        </a:defRPr>
                      </a:pPr>
                      <a:r>
                        <a:t>IC memo</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Portfolio and Strategy Lab not licensed: memo from supplied holdings only</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gradient-gips-* (5 skills)</a:t>
                      </a:r>
                    </a:p>
                  </a:txBody>
                  <a:tcPr marL="54864" marR="54864" marT="27432" marB="27432" anchor="ctr">
                    <a:solidFill>
                      <a:srgbClr val="F5F7F9"/>
                    </a:solidFill>
                  </a:tcPr>
                </a:tc>
                <a:tc>
                  <a:txBody>
                    <a:bodyPr/>
                    <a:lstStyle/>
                    <a:p>
                      <a:pPr>
                        <a:defRPr sz="800" b="0">
                          <a:solidFill>
                            <a:srgbClr val="0D1117"/>
                          </a:solidFill>
                          <a:latin typeface="Inter"/>
                        </a:defRPr>
                      </a:pPr>
                      <a:r>
                        <a:t>GIPS reviews and briefing notes</a:t>
                      </a:r>
                    </a:p>
                  </a:txBody>
                  <a:tcPr marL="54864" marR="54864" marT="27432" marB="27432" anchor="ctr">
                    <a:solidFill>
                      <a:srgbClr val="F5F7F9"/>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Work from documents; Gradient evidence used when available</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gradient-setup</a:t>
                      </a:r>
                    </a:p>
                  </a:txBody>
                  <a:tcPr marL="54864" marR="54864" marT="27432" marB="27432" anchor="ctr">
                    <a:solidFill>
                      <a:srgbClr val="FFFFFF"/>
                    </a:solidFill>
                  </a:tcPr>
                </a:tc>
                <a:tc>
                  <a:txBody>
                    <a:bodyPr/>
                    <a:lstStyle/>
                    <a:p>
                      <a:pPr>
                        <a:defRPr sz="800" b="0">
                          <a:solidFill>
                            <a:srgbClr val="0D1117"/>
                          </a:solidFill>
                          <a:latin typeface="Inter"/>
                        </a:defRPr>
                      </a:pPr>
                      <a:r>
                        <a:t>This report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Access and data</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ORGANIZATION</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t>Name</a:t>
                      </a:r>
                    </a:p>
                  </a:txBody>
                  <a:tcPr marL="54864" marR="54864" marT="27432" marB="27432" anchor="ctr">
                    <a:solidFill>
                      <a:srgbClr val="FFFFFF"/>
                    </a:solidFill>
                  </a:tcPr>
                </a:tc>
                <a:tc>
                  <a:txBody>
                    <a:bodyPr/>
                    <a:lstStyle/>
                    <a:p>
                      <a:pPr>
                        <a:defRPr sz="800" b="0">
                          <a:solidFill>
                            <a:srgbClr val="0D1117"/>
                          </a:solidFill>
                          <a:latin typeface="Inter"/>
                        </a:defRPr>
                      </a:pPr>
                      <a: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t>Role</a:t>
                      </a:r>
                    </a:p>
                  </a:txBody>
                  <a:tcPr marL="54864" marR="54864" marT="27432" marB="27432" anchor="ctr">
                    <a:solidFill>
                      <a:srgbClr val="F5F7F9"/>
                    </a:solidFill>
                  </a:tcPr>
                </a:tc>
                <a:tc>
                  <a:txBody>
                    <a:bodyPr/>
                    <a:lstStyle/>
                    <a:p>
                      <a:pPr>
                        <a:defRPr sz="800" b="0">
                          <a:solidFill>
                            <a:srgbClr val="0D1117"/>
                          </a:solidFill>
                          <a:latin typeface="Inter"/>
                        </a:defRPr>
                      </a:pPr>
                      <a: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t>Licensed modules</a:t>
                      </a:r>
                    </a:p>
                  </a:txBody>
                  <a:tcPr marL="54864" marR="54864" marT="27432" marB="27432" anchor="ctr">
                    <a:solidFill>
                      <a:srgbClr val="FFFFFF"/>
                    </a:solidFill>
                  </a:tcPr>
                </a:tc>
                <a:tc>
                  <a:txBody>
                    <a:bodyPr/>
                    <a:lstStyle/>
                    <a:p>
                      <a:pPr>
                        <a:defRPr sz="800" b="0">
                          <a:solidFill>
                            <a:srgbClr val="0D1117"/>
                          </a:solidFill>
                          <a:latin typeface="Inter"/>
                        </a:defRPr>
                      </a:pPr>
                      <a: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t>Not licensed</a:t>
                      </a:r>
                    </a:p>
                  </a:txBody>
                  <a:tcPr marL="54864" marR="54864" marT="27432" marB="27432" anchor="ctr">
                    <a:solidFill>
                      <a:srgbClr val="F5F7F9"/>
                    </a:solidFill>
                  </a:tcPr>
                </a:tc>
                <a:tc>
                  <a:txBody>
                    <a:bodyPr/>
                    <a:lstStyle/>
                    <a:p>
                      <a:pPr>
                        <a:defRPr sz="800" b="0">
                          <a:solidFill>
                            <a:srgbClr val="0D1117"/>
                          </a:solidFill>
                          <a:latin typeface="Inter"/>
                        </a:defRPr>
                      </a:pPr>
                      <a: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t>Tools entitled</a:t>
                      </a:r>
                    </a:p>
                  </a:txBody>
                  <a:tcPr marL="54864" marR="54864" marT="27432" marB="27432" anchor="ctr">
                    <a:solidFill>
                      <a:srgbClr val="FFFFFF"/>
                    </a:solidFill>
                  </a:tcPr>
                </a:tc>
                <a:tc>
                  <a:txBody>
                    <a:bodyPr/>
                    <a:lstStyle/>
                    <a:p>
                      <a:pPr>
                        <a:defRPr sz="800" b="0">
                          <a:solidFill>
                            <a:srgbClr val="0D1117"/>
                          </a:solidFill>
                          <a:latin typeface="Inter"/>
                        </a:defRPr>
                      </a:pPr>
                      <a: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t>Backend</a:t>
                      </a:r>
                    </a:p>
                  </a:txBody>
                  <a:tcPr marL="54864" marR="54864" marT="27432" marB="27432" anchor="ctr">
                    <a:solidFill>
                      <a:srgbClr val="F5F7F9"/>
                    </a:solidFill>
                  </a:tcPr>
                </a:tc>
                <a:tc>
                  <a:txBody>
                    <a:bodyPr/>
                    <a:lstStyle/>
                    <a:p>
                      <a:pPr>
                        <a:defRPr sz="800" b="0">
                          <a:solidFill>
                            <a:srgbClr val="0D1117"/>
                          </a:solidFill>
                          <a:latin typeface="Inter"/>
                        </a:defRPr>
                      </a:pPr>
                      <a: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t>Roster capacity</a:t>
                      </a:r>
                    </a:p>
                  </a:txBody>
                  <a:tcPr marL="54864" marR="54864" marT="27432" marB="27432" anchor="ctr">
                    <a:solidFill>
                      <a:srgbClr val="FFFFFF"/>
                    </a:solidFill>
                  </a:tcPr>
                </a:tc>
                <a:tc>
                  <a:txBody>
                    <a:bodyPr/>
                    <a:lstStyle/>
                    <a:p>
                      <a:pPr>
                        <a:defRPr sz="800" b="0">
                          <a:solidFill>
                            <a:srgbClr val="0D1117"/>
                          </a:solidFill>
                          <a:latin typeface="Inter"/>
                        </a:defRPr>
                      </a:pPr>
                      <a:r>
                        <a:t>1 of 3 fund slots used [S4]</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S4</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Access and data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DATA DOMAINS</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t>Source</a:t>
                      </a:r>
                    </a:p>
                  </a:txBody>
                  <a:tcPr marL="54864" marR="54864" marT="27432" marB="27432" anchor="ctr">
                    <a:solidFill>
                      <a:srgbClr val="0D1117"/>
                    </a:solidFill>
                  </a:tcPr>
                </a:tc>
                <a:tc>
                  <a:txBody>
                    <a:bodyPr/>
                    <a:lstStyle/>
                    <a:p>
                      <a:pPr>
                        <a:defRPr sz="750" b="1">
                          <a:solidFill>
                            <a:srgbClr val="FFFFFF"/>
                          </a:solidFill>
                          <a:latin typeface="Inter"/>
                        </a:defRPr>
                      </a:pPr>
                      <a:r>
                        <a:t>Status</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t>Manager diligence</a:t>
                      </a:r>
                    </a:p>
                  </a:txBody>
                  <a:tcPr marL="54864" marR="54864" marT="27432" marB="27432" anchor="ctr">
                    <a:solidFill>
                      <a:srgbClr val="FFFFFF"/>
                    </a:solidFill>
                  </a:tcPr>
                </a:tc>
                <a:tc>
                  <a:txBody>
                    <a:bodyPr/>
                    <a:lstStyle/>
                    <a:p>
                      <a:pPr>
                        <a:defRPr sz="800" b="1">
                          <a:solidFill>
                            <a:srgbClr val="C6F432"/>
                          </a:solidFill>
                          <a:latin typeface="Inter"/>
                        </a:defRPr>
                      </a:pPr>
                      <a:r>
                        <a:t>● available</a:t>
                      </a:r>
                    </a:p>
                  </a:txBody>
                  <a:tcPr marL="54864" marR="54864" marT="27432" marB="27432" anchor="ctr">
                    <a:solidFill>
                      <a:srgbClr val="F5F7F9"/>
                    </a:solidFill>
                  </a:tcPr>
                </a:tc>
                <a:tc>
                  <a:txBody>
                    <a:bodyPr/>
                    <a:lstStyle/>
                    <a:p>
                      <a:pPr>
                        <a:defRPr sz="800" b="0">
                          <a:solidFill>
                            <a:srgbClr val="0D1117"/>
                          </a:solidFill>
                          <a:latin typeface="Inter"/>
                        </a:defRPr>
                      </a:pPr>
                      <a: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t>Macro research</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t>Market data</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t>Public equity</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t>Strategy Lab</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t>Peer intelligence</a:t>
                      </a:r>
                    </a:p>
                  </a:txBody>
                  <a:tcPr marL="54864" marR="54864" marT="27432" marB="27432" anchor="ctr">
                    <a:solidFill>
                      <a:srgbClr val="FFFFFF"/>
                    </a:solidFill>
                  </a:tcPr>
                </a:tc>
                <a:tc>
                  <a:txBody>
                    <a:bodyPr/>
                    <a:lstStyle/>
                    <a:p>
                      <a:pPr>
                        <a:defRPr sz="800" b="1">
                          <a:solidFill>
                            <a:srgbClr val="9AA5B1"/>
                          </a:solidFill>
                          <a:latin typeface="Inter"/>
                        </a:defRPr>
                      </a:pPr>
                      <a:r>
                        <a:t>● unavailable</a:t>
                      </a:r>
                    </a:p>
                  </a:txBody>
                  <a:tcPr marL="54864" marR="54864" marT="27432" marB="27432" anchor="ctr">
                    <a:solidFill>
                      <a:srgbClr val="F5F7F9"/>
                    </a:solidFill>
                  </a:tcPr>
                </a:tc>
                <a:tc>
                  <a:txBody>
                    <a:bodyPr/>
                    <a:lstStyle/>
                    <a:p>
                      <a:pPr>
                        <a:defRPr sz="800" b="0">
                          <a:solidFill>
                            <a:srgbClr val="0D1117"/>
                          </a:solidFill>
                          <a:latin typeface="Inter"/>
                        </a:defRPr>
                      </a:pPr>
                      <a:r>
                        <a:t>Not licensed</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Contract checks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04</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t>Probe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Result</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t>orgs</a:t>
                      </a:r>
                    </a:p>
                  </a:txBody>
                  <a:tcPr marL="54864" marR="54864" marT="27432" marB="27432" anchor="ctr">
                    <a:solidFill>
                      <a:srgbClr val="FFFFFF"/>
                    </a:solidFill>
                  </a:tcPr>
                </a:tc>
                <a:tc>
                  <a:txBody>
                    <a:bodyPr/>
                    <a:lstStyle/>
                    <a:p>
                      <a:pPr>
                        <a:defRPr sz="720" b="0">
                          <a:solidFill>
                            <a:srgbClr val="0D1117"/>
                          </a:solidFill>
                          <a:latin typeface="Inter"/>
                        </a:defRPr>
                      </a:pPr>
                      <a: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t>roster</a:t>
                      </a:r>
                    </a:p>
                  </a:txBody>
                  <a:tcPr marL="54864" marR="54864" marT="27432" marB="27432" anchor="ctr">
                    <a:solidFill>
                      <a:srgbClr val="F5F7F9"/>
                    </a:solidFill>
                  </a:tcPr>
                </a:tc>
                <a:tc>
                  <a:txBody>
                    <a:bodyPr/>
                    <a:lstStyle/>
                    <a:p>
                      <a:pPr>
                        <a:defRPr sz="720" b="0">
                          <a:solidFill>
                            <a:srgbClr val="0D1117"/>
                          </a:solidFill>
                          <a:latin typeface="Inter"/>
                        </a:defRPr>
                      </a:pPr>
                      <a: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odd_profile</a:t>
                      </a:r>
                    </a:p>
                  </a:txBody>
                  <a:tcPr marL="54864" marR="54864" marT="27432" marB="27432" anchor="ctr">
                    <a:solidFill>
                      <a:srgbClr val="FFFFFF"/>
                    </a:solidFill>
                  </a:tcPr>
                </a:tc>
                <a:tc>
                  <a:txBody>
                    <a:bodyPr/>
                    <a:lstStyle/>
                    <a:p>
                      <a:pPr>
                        <a:defRPr sz="720" b="0">
                          <a:solidFill>
                            <a:srgbClr val="0D1117"/>
                          </a:solidFill>
                          <a:latin typeface="Inter"/>
                        </a:defRPr>
                      </a:pPr>
                      <a: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t>monitor_coverage</a:t>
                      </a:r>
                    </a:p>
                  </a:txBody>
                  <a:tcPr marL="54864" marR="54864" marT="27432" marB="27432" anchor="ctr">
                    <a:solidFill>
                      <a:srgbClr val="F5F7F9"/>
                    </a:solidFill>
                  </a:tcPr>
                </a:tc>
                <a:tc>
                  <a:txBody>
                    <a:bodyPr/>
                    <a:lstStyle/>
                    <a:p>
                      <a:pPr>
                        <a:defRPr sz="720" b="0">
                          <a:solidFill>
                            <a:srgbClr val="0D1117"/>
                          </a:solidFill>
                          <a:latin typeface="Inter"/>
                        </a:defRPr>
                      </a:pPr>
                      <a: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2026-10-01</a:t>
                      </a:r>
                    </a:p>
                  </a:txBody>
                  <a:tcPr marL="54864" marR="54864" marT="27432" marB="27432" anchor="ctr">
                    <a:solidFill>
                      <a:srgbClr val="F5F7F9"/>
                    </a:solidFill>
                  </a:tcPr>
                </a:tc>
                <a:tc>
                  <a:txBody>
                    <a:bodyPr/>
                    <a:lstStyle/>
                    <a:p>
                      <a:pPr>
                        <a:defRPr sz="720" b="0">
                          <a:solidFill>
                            <a:srgbClr val="0D1117"/>
                          </a:solidFill>
                          <a:latin typeface="Inter"/>
                        </a:defRPr>
                      </a:pPr>
                      <a: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t>the_read</a:t>
                      </a:r>
                    </a:p>
                  </a:txBody>
                  <a:tcPr marL="54864" marR="54864" marT="27432" marB="27432" anchor="ctr">
                    <a:solidFill>
                      <a:srgbClr val="FFFFFF"/>
                    </a:solidFill>
                  </a:tcPr>
                </a:tc>
                <a:tc>
                  <a:txBody>
                    <a:bodyPr/>
                    <a:lstStyle/>
                    <a:p>
                      <a:pPr>
                        <a:defRPr sz="720" b="0">
                          <a:solidFill>
                            <a:srgbClr val="0D1117"/>
                          </a:solidFill>
                          <a:latin typeface="Inter"/>
                        </a:defRPr>
                      </a:pPr>
                      <a:r>
                        <a:t>get_the_read</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0">
                          <a:solidFill>
                            <a:srgbClr val="0D1117"/>
                          </a:solidFill>
                          <a:latin typeface="Inter"/>
                        </a:defRPr>
                      </a:pPr>
                      <a: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t>calendar</a:t>
                      </a:r>
                    </a:p>
                  </a:txBody>
                  <a:tcPr marL="54864" marR="54864" marT="27432" marB="27432" anchor="ctr">
                    <a:solidFill>
                      <a:srgbClr val="F5F7F9"/>
                    </a:solidFill>
                  </a:tcPr>
                </a:tc>
                <a:tc>
                  <a:txBody>
                    <a:bodyPr/>
                    <a:lstStyle/>
                    <a:p>
                      <a:pPr>
                        <a:defRPr sz="720" b="0">
                          <a:solidFill>
                            <a:srgbClr val="0D1117"/>
                          </a:solidFill>
                          <a:latin typeface="Inter"/>
                        </a:defRPr>
                      </a:pPr>
                      <a: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attention</a:t>
                      </a:r>
                    </a:p>
                  </a:txBody>
                  <a:tcPr marL="54864" marR="54864" marT="27432" marB="27432" anchor="ctr">
                    <a:solidFill>
                      <a:srgbClr val="FFFFFF"/>
                    </a:solidFill>
                  </a:tcPr>
                </a:tc>
                <a:tc>
                  <a:txBody>
                    <a:bodyPr/>
                    <a:lstStyle/>
                    <a:p>
                      <a:pPr>
                        <a:defRPr sz="720" b="0">
                          <a:solidFill>
                            <a:srgbClr val="0D1117"/>
                          </a:solidFill>
                          <a:latin typeface="Inter"/>
                        </a:defRPr>
                      </a:pPr>
                      <a: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t>findings</a:t>
                      </a:r>
                    </a:p>
                  </a:txBody>
                  <a:tcPr marL="54864" marR="54864" marT="27432" marB="27432" anchor="ctr">
                    <a:solidFill>
                      <a:srgbClr val="F5F7F9"/>
                    </a:solidFill>
                  </a:tcPr>
                </a:tc>
                <a:tc>
                  <a:txBody>
                    <a:bodyPr/>
                    <a:lstStyle/>
                    <a:p>
                      <a:pPr>
                        <a:defRPr sz="720" b="0">
                          <a:solidFill>
                            <a:srgbClr val="0D1117"/>
                          </a:solidFill>
                          <a:latin typeface="Inter"/>
                        </a:defRPr>
                      </a:pPr>
                      <a: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t>events</a:t>
                      </a:r>
                    </a:p>
                  </a:txBody>
                  <a:tcPr marL="54864" marR="54864" marT="27432" marB="27432" anchor="ctr">
                    <a:solidFill>
                      <a:srgbClr val="FFFFFF"/>
                    </a:solidFill>
                  </a:tcPr>
                </a:tc>
                <a:tc>
                  <a:txBody>
                    <a:bodyPr/>
                    <a:lstStyle/>
                    <a:p>
                      <a:pPr>
                        <a:defRPr sz="720" b="0">
                          <a:solidFill>
                            <a:srgbClr val="0D1117"/>
                          </a:solidFill>
                          <a:latin typeface="Inter"/>
                        </a:defRPr>
                      </a:pPr>
                      <a: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t>conditions</a:t>
                      </a:r>
                    </a:p>
                  </a:txBody>
                  <a:tcPr marL="54864" marR="54864" marT="27432" marB="27432" anchor="ctr">
                    <a:solidFill>
                      <a:srgbClr val="F5F7F9"/>
                    </a:solidFill>
                  </a:tcPr>
                </a:tc>
                <a:tc>
                  <a:txBody>
                    <a:bodyPr/>
                    <a:lstStyle/>
                    <a:p>
                      <a:pPr>
                        <a:defRPr sz="720" b="0">
                          <a:solidFill>
                            <a:srgbClr val="0D1117"/>
                          </a:solidFill>
                          <a:latin typeface="Inter"/>
                        </a:defRPr>
                      </a:pPr>
                      <a: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gradient_signal</a:t>
                      </a:r>
                    </a:p>
                  </a:txBody>
                  <a:tcPr marL="54864" marR="54864" marT="27432" marB="27432" anchor="ctr">
                    <a:solidFill>
                      <a:srgbClr val="FFFFFF"/>
                    </a:solidFill>
                  </a:tcPr>
                </a:tc>
                <a:tc>
                  <a:txBody>
                    <a:bodyPr/>
                    <a:lstStyle/>
                    <a:p>
                      <a:pPr>
                        <a:defRPr sz="720" b="0">
                          <a:solidFill>
                            <a:srgbClr val="0D1117"/>
                          </a:solidFill>
                          <a:latin typeface="Inter"/>
                        </a:defRPr>
                      </a:pPr>
                      <a:r>
                        <a:t>get_macro_signals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0">
                          <a:solidFill>
                            <a:srgbClr val="0D1117"/>
                          </a:solidFill>
                          <a:latin typeface="Inter"/>
                        </a:defRPr>
                      </a:pPr>
                      <a: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t>regime_state</a:t>
                      </a:r>
                    </a:p>
                  </a:txBody>
                  <a:tcPr marL="54864" marR="54864" marT="27432" marB="27432" anchor="ctr">
                    <a:solidFill>
                      <a:srgbClr val="F5F7F9"/>
                    </a:solidFill>
                  </a:tcPr>
                </a:tc>
                <a:tc>
                  <a:txBody>
                    <a:bodyPr/>
                    <a:lstStyle/>
                    <a:p>
                      <a:pPr>
                        <a:defRPr sz="720" b="0">
                          <a:solidFill>
                            <a:srgbClr val="0D1117"/>
                          </a:solidFill>
                          <a:latin typeface="Inter"/>
                        </a:defRPr>
                      </a:pPr>
                      <a:r>
                        <a:t>get_macro_signals</a:t>
                      </a:r>
                    </a:p>
                  </a:txBody>
                  <a:tcPr marL="54864" marR="54864" marT="27432" marB="27432" anchor="ctr">
                    <a:solidFill>
                      <a:srgbClr val="F5F7F9"/>
                    </a:solidFill>
                  </a:tcPr>
                </a:tc>
                <a:tc>
                  <a:txBody>
                    <a:bodyPr/>
                    <a:lstStyle/>
                    <a:p>
                      <a:pPr>
                        <a:defRPr sz="720" b="1">
                          <a:solidFill>
                            <a:srgbClr val="F2A93B"/>
                          </a:solidFill>
                          <a:latin typeface="Inter"/>
                        </a:defRPr>
                      </a:pPr>
                      <a:r>
                        <a:t>● Known issue</a:t>
                      </a:r>
                    </a:p>
                  </a:txBody>
                  <a:tcPr marL="54864" marR="54864" marT="27432" marB="27432" anchor="ctr">
                    <a:solidFill>
                      <a:srgbClr val="F5F7F9"/>
                    </a:solidFill>
                  </a:tcPr>
                </a:tc>
                <a:tc>
                  <a:txBody>
                    <a:bodyPr/>
                    <a:lstStyle/>
                    <a:p>
                      <a:pPr>
                        <a:defRPr sz="720" b="0">
                          <a:solidFill>
                            <a:srgbClr val="0D1117"/>
                          </a:solidFill>
                          <a:latin typeface="Inter"/>
                        </a:defRPr>
                      </a:pPr>
                      <a:r>
                        <a:t>—</a:t>
                      </a:r>
                    </a:p>
                  </a:txBody>
                  <a:tcPr marL="54864" marR="54864" marT="27432" marB="27432" anchor="ctr">
                    <a:solidFill>
                      <a:srgbClr val="F5F7F9"/>
                    </a:solidFill>
                  </a:tcPr>
                </a:tc>
                <a:tc>
                  <a:txBody>
                    <a:bodyPr/>
                    <a:lstStyle/>
                    <a:p>
                      <a:pPr>
                        <a:defRPr sz="720" b="0">
                          <a:solidFill>
                            <a:srgbClr val="0D1117"/>
                          </a:solidFill>
                          <a:latin typeface="Inter"/>
                        </a:defRPr>
                      </a:pPr>
                      <a:r>
                        <a:t>HTTP 500 MCP_TOOL_EXECUTION_FAILED; retried once</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Contract checks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TABLE — CONTINUED</a:t>
            </a:r>
          </a:p>
        </p:txBody>
      </p:sp>
      <p:graphicFrame>
        <p:nvGraphicFramePr>
          <p:cNvPr id="9" name="Table 8"/>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t>Probe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Result</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t>cma_baseline</a:t>
                      </a:r>
                    </a:p>
                  </a:txBody>
                  <a:tcPr marL="54864" marR="54864" marT="27432" marB="27432" anchor="ctr">
                    <a:solidFill>
                      <a:srgbClr val="FFFFFF"/>
                    </a:solidFill>
                  </a:tcPr>
                </a:tc>
                <a:tc>
                  <a:txBody>
                    <a:bodyPr/>
                    <a:lstStyle/>
                    <a:p>
                      <a:pPr>
                        <a:defRPr sz="720" b="0">
                          <a:solidFill>
                            <a:srgbClr val="0D1117"/>
                          </a:solidFill>
                          <a:latin typeface="Inter"/>
                        </a:defRPr>
                      </a:pPr>
                      <a: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Risk-free fresh; receipt unvalidated (known)</a:t>
                      </a:r>
                    </a:p>
                  </a:txBody>
                  <a:tcPr marL="54864" marR="54864" marT="27432" marB="27432" anchor="ctr">
                    <a:solidFill>
                      <a:srgbClr val="FFFFFF"/>
                    </a:solidFill>
                  </a:tcPr>
                </a:tc>
              </a:tr>
              <a:tr h="1010105">
                <a:tc>
                  <a:txBody>
                    <a:bodyPr/>
                    <a:lstStyle/>
                    <a:p>
                      <a:pPr>
                        <a:defRPr sz="720" b="1">
                          <a:solidFill>
                            <a:srgbClr val="0D1117"/>
                          </a:solidFill>
                          <a:latin typeface="Inter"/>
                        </a:defRPr>
                      </a:pPr>
                      <a:r>
                        <a:t>watchlist</a:t>
                      </a:r>
                    </a:p>
                  </a:txBody>
                  <a:tcPr marL="54864" marR="54864" marT="27432" marB="27432" anchor="ctr">
                    <a:solidFill>
                      <a:srgbClr val="F5F7F9"/>
                    </a:solidFill>
                  </a:tcPr>
                </a:tc>
                <a:tc>
                  <a:txBody>
                    <a:bodyPr/>
                    <a:lstStyle/>
                    <a:p>
                      <a:pPr>
                        <a:defRPr sz="720" b="0">
                          <a:solidFill>
                            <a:srgbClr val="0D1117"/>
                          </a:solidFill>
                          <a:latin typeface="Inter"/>
                        </a:defRPr>
                      </a:pPr>
                      <a: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r>
                        <a:t>No items selected</a:t>
                      </a:r>
                    </a:p>
                  </a:txBody>
                  <a:tcPr marL="54864" marR="54864" marT="27432" marB="27432" anchor="ctr">
                    <a:solidFill>
                      <a:srgbClr val="F5F7F9"/>
                    </a:solidFill>
                  </a:tcPr>
                </a:tc>
              </a:tr>
            </a:tbl>
          </a:graphicData>
        </a:graphic>
      </p:graphicFrame>
      <p:sp>
        <p:nvSpPr>
          <p:cNvPr id="10" name="Rectangle 9"/>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No new failures</a:t>
            </a:r>
          </a:p>
        </p:txBody>
      </p:sp>
      <p:sp>
        <p:nvSpPr>
          <p:cNvPr id="13" name="TextBox 12"/>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Every failure matched the known-issues list. Since the last list: the CMA baseline now returns a fresh risk-free rate (previously HTTP 422).</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PROMPTS THAT WORK FOR THIS ORGANIZATION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Try next</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05</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t>01  Run an ODD report on Ridgeview Global Macro Fund II.</a:t>
            </a:r>
            <a:br/>
            <a:r>
              <a:t>      Your one roster fund; a new Form ADV was filed after its last review.</a:t>
            </a:r>
          </a:p>
          <a:p>
            <a:pPr algn="l">
              <a:spcAft>
                <a:spcPts val="500"/>
              </a:spcAft>
              <a:defRPr sz="1000" b="0">
                <a:solidFill>
                  <a:srgbClr val="0D1117"/>
                </a:solidFill>
                <a:latin typeface="Inter"/>
              </a:defRPr>
            </a:pPr>
            <a:r>
              <a:t>02  Give me this week's manager monitoring digest, and schedule it for Mondays.</a:t>
            </a:r>
            <a:br/>
            <a:r>
              <a:t>      Keeps the roster under watch without manual checks.</a:t>
            </a:r>
          </a:p>
          <a:p>
            <a:pPr algn="l">
              <a:spcAft>
                <a:spcPts val="500"/>
              </a:spcAft>
              <a:defRPr sz="1000" b="0">
                <a:solidFill>
                  <a:srgbClr val="0D1117"/>
                </a:solidFill>
                <a:latin typeface="Inter"/>
              </a:defRPr>
            </a:pPr>
            <a:r>
              <a:t>03  Build the macro briefing deck for Thursday's committee.</a:t>
            </a:r>
            <a:br/>
            <a:r>
              <a:t>      Uses The Read, rates, Gradient signal, calendar and CMAs.</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Appendix — Sources</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A</a:t>
            </a:r>
          </a:p>
        </p:txBody>
      </p:sp>
      <p:graphicFrame>
        <p:nvGraphicFramePr>
          <p:cNvPr id="7" name="Table 6"/>
          <p:cNvGraphicFramePr>
            <a:graphicFrameLocks noGrp="1"/>
          </p:cNvGraphicFramePr>
          <p:nvPr/>
        </p:nvGraphicFramePr>
        <p:xfrm>
          <a:off x="640080" y="1325880"/>
          <a:ext cx="10908792" cy="3499699"/>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699939">
                <a:tc>
                  <a:txBody>
                    <a:bodyPr/>
                    <a:lstStyle/>
                    <a:p>
                      <a:pPr>
                        <a:defRPr sz="750" b="1">
                          <a:solidFill>
                            <a:srgbClr val="FFFFFF"/>
                          </a:solidFill>
                          <a:latin typeface="Inter"/>
                        </a:defRPr>
                      </a:pPr>
                      <a:r>
                        <a:t>Tag</a:t>
                      </a:r>
                    </a:p>
                  </a:txBody>
                  <a:tcPr marL="54864" marR="54864" marT="27432" marB="27432" anchor="ctr">
                    <a:solidFill>
                      <a:srgbClr val="0D1117"/>
                    </a:solidFill>
                  </a:tcPr>
                </a:tc>
                <a:tc>
                  <a:txBody>
                    <a:bodyPr/>
                    <a:lstStyle/>
                    <a:p>
                      <a:pPr>
                        <a:defRPr sz="750" b="1">
                          <a:solidFill>
                            <a:srgbClr val="FFFFFF"/>
                          </a:solidFill>
                          <a:latin typeface="Inter"/>
                        </a:defRPr>
                      </a:pPr>
                      <a:r>
                        <a:t>Evidence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Validation</a:t>
                      </a:r>
                    </a:p>
                  </a:txBody>
                  <a:tcPr marL="54864" marR="54864" marT="27432" marB="27432" anchor="ctr">
                    <a:solidFill>
                      <a:srgbClr val="0D1117"/>
                    </a:solidFill>
                  </a:tcPr>
                </a:tc>
              </a:tr>
              <a:tr h="699939">
                <a:tc>
                  <a:txBody>
                    <a:bodyPr/>
                    <a:lstStyle/>
                    <a:p>
                      <a:pPr>
                        <a:defRPr sz="720" b="1">
                          <a:solidFill>
                            <a:srgbClr val="0D1117"/>
                          </a:solidFill>
                          <a:latin typeface="Inter"/>
                        </a:defRPr>
                      </a:pPr>
                      <a:r>
                        <a:t>S1</a:t>
                      </a:r>
                    </a:p>
                  </a:txBody>
                  <a:tcPr marL="54864" marR="54864" marT="27432" marB="27432" anchor="ctr">
                    <a:solidFill>
                      <a:srgbClr val="FFFFFF"/>
                    </a:solidFill>
                  </a:tcPr>
                </a:tc>
                <a:tc>
                  <a:txBody>
                    <a:bodyPr/>
                    <a:lstStyle/>
                    <a:p>
                      <a:pPr>
                        <a:defRPr sz="720" b="0">
                          <a:solidFill>
                            <a:srgbClr val="0D1117"/>
                          </a:solidFill>
                          <a:latin typeface="Inter"/>
                        </a:defRPr>
                      </a:pPr>
                      <a: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1">
                          <a:solidFill>
                            <a:srgbClr val="9AA5B1"/>
                          </a:solidFill>
                          <a:latin typeface="Inter"/>
                        </a:defRPr>
                      </a:pPr>
                      <a:r>
                        <a:t>● n/a</a:t>
                      </a:r>
                    </a:p>
                  </a:txBody>
                  <a:tcPr marL="54864" marR="54864" marT="27432" marB="27432" anchor="ctr">
                    <a:solidFill>
                      <a:srgbClr val="F5F7F9"/>
                    </a:solidFill>
                  </a:tcPr>
                </a:tc>
              </a:tr>
              <a:tr h="699939">
                <a:tc>
                  <a:txBody>
                    <a:bodyPr/>
                    <a:lstStyle/>
                    <a:p>
                      <a:pPr>
                        <a:defRPr sz="720" b="1">
                          <a:solidFill>
                            <a:srgbClr val="0D1117"/>
                          </a:solidFill>
                          <a:latin typeface="Inter"/>
                        </a:defRPr>
                      </a:pPr>
                      <a:r>
                        <a:t>S2</a:t>
                      </a:r>
                    </a:p>
                  </a:txBody>
                  <a:tcPr marL="54864" marR="54864" marT="27432" marB="27432" anchor="ctr">
                    <a:solidFill>
                      <a:srgbClr val="F5F7F9"/>
                    </a:solidFill>
                  </a:tcPr>
                </a:tc>
                <a:tc>
                  <a:txBody>
                    <a:bodyPr/>
                    <a:lstStyle/>
                    <a:p>
                      <a:pPr>
                        <a:defRPr sz="720" b="0">
                          <a:solidFill>
                            <a:srgbClr val="0D1117"/>
                          </a:solidFill>
                          <a:latin typeface="Inter"/>
                        </a:defRPr>
                      </a:pPr>
                      <a: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1">
                          <a:solidFill>
                            <a:srgbClr val="9AA5B1"/>
                          </a:solidFill>
                          <a:latin typeface="Inter"/>
                        </a:defRPr>
                      </a:pPr>
                      <a:r>
                        <a:t>● n/a</a:t>
                      </a:r>
                    </a:p>
                  </a:txBody>
                  <a:tcPr marL="54864" marR="54864" marT="27432" marB="27432" anchor="ctr">
                    <a:solidFill>
                      <a:srgbClr val="F5F7F9"/>
                    </a:solidFill>
                  </a:tcPr>
                </a:tc>
              </a:tr>
              <a:tr h="699939">
                <a:tc>
                  <a:txBody>
                    <a:bodyPr/>
                    <a:lstStyle/>
                    <a:p>
                      <a:pPr>
                        <a:defRPr sz="720" b="1">
                          <a:solidFill>
                            <a:srgbClr val="0D1117"/>
                          </a:solidFill>
                          <a:latin typeface="Inter"/>
                        </a:defRPr>
                      </a:pPr>
                      <a:r>
                        <a:t>S3</a:t>
                      </a:r>
                    </a:p>
                  </a:txBody>
                  <a:tcPr marL="54864" marR="54864" marT="27432" marB="27432" anchor="ctr">
                    <a:solidFill>
                      <a:srgbClr val="FFFFFF"/>
                    </a:solidFill>
                  </a:tcPr>
                </a:tc>
                <a:tc>
                  <a:txBody>
                    <a:bodyPr/>
                    <a:lstStyle/>
                    <a:p>
                      <a:pPr>
                        <a:defRPr sz="720" b="0">
                          <a:solidFill>
                            <a:srgbClr val="0D1117"/>
                          </a:solidFill>
                          <a:latin typeface="Inter"/>
                        </a:defRPr>
                      </a:pPr>
                      <a: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r>
              <a:tr h="699943">
                <a:tc>
                  <a:txBody>
                    <a:bodyPr/>
                    <a:lstStyle/>
                    <a:p>
                      <a:pPr>
                        <a:defRPr sz="720" b="1">
                          <a:solidFill>
                            <a:srgbClr val="0D1117"/>
                          </a:solidFill>
                          <a:latin typeface="Inter"/>
                        </a:defRPr>
                      </a:pPr>
                      <a:r>
                        <a:t>S4</a:t>
                      </a:r>
                    </a:p>
                  </a:txBody>
                  <a:tcPr marL="54864" marR="54864" marT="27432" marB="27432" anchor="ctr">
                    <a:solidFill>
                      <a:srgbClr val="F5F7F9"/>
                    </a:solidFill>
                  </a:tcPr>
                </a:tc>
                <a:tc>
                  <a:txBody>
                    <a:bodyPr/>
                    <a:lstStyle/>
                    <a:p>
                      <a:pPr>
                        <a:defRPr sz="720" b="0">
                          <a:solidFill>
                            <a:srgbClr val="0D1117"/>
                          </a:solidFill>
                          <a:latin typeface="Inter"/>
                        </a:defRPr>
                      </a:pPr>
                      <a:r>
                        <a:t>Diligence Roster</a:t>
                      </a:r>
                    </a:p>
                  </a:txBody>
                  <a:tcPr marL="54864" marR="54864" marT="27432" marB="27432" anchor="ctr">
                    <a:solidFill>
                      <a:srgbClr val="F5F7F9"/>
                    </a:solidFill>
                  </a:tcPr>
                </a:tc>
                <a:tc>
                  <a:txBody>
                    <a:bodyPr/>
                    <a:lstStyle/>
                    <a:p>
                      <a:pPr>
                        <a:defRPr sz="720" b="0">
                          <a:solidFill>
                            <a:srgbClr val="0D1117"/>
                          </a:solidFill>
                          <a:latin typeface="Inter"/>
                        </a:defRPr>
                      </a:pPr>
                      <a: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r>
            </a:tbl>
          </a:graphicData>
        </a:graphic>
      </p:graphicFrame>
      <p:sp>
        <p:nvSpPr>
          <p:cNvPr id="8" name="TextBox 7"/>
          <p:cNvSpPr txBox="1"/>
          <p:nvPr/>
        </p:nvSpPr>
        <p:spPr>
          <a:xfrm>
            <a:off x="640080" y="4935307"/>
            <a:ext cx="10908792" cy="1282612"/>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t>Readiness reflects entitlement, OAuth scope, backend health and data readiness reported by GradientCIO at the time of the check. Tool availability does not guarantee that data is published for every subject.</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S3 · S4</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dc:title>
  <dc:subject>Readiness Check</dc:subject>
  <dc:creator>GradientCIO</dc:creator>
  <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