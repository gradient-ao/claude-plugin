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PLATFORM READINESS</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Investment Office</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Access, licensed capabilities and data coverage</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ORGANIZATION</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Investment Office</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ACCESS</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Connected</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LICENSED CAPABILITIES</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4 of 7</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REVIEWED</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2026-10-04</a:t>
            </a:r>
          </a:p>
        </p:txBody>
      </p:sp>
      <p:sp>
        <p:nvSpPr>
          <p:cNvPr id="17" name="Rectangle 16"/>
          <p:cNvSpPr/>
          <p:nvPr/>
        </p:nvSpPr>
        <p:spPr>
          <a:xfrm>
            <a:off x="685800" y="5687568"/>
            <a:ext cx="3337560" cy="5303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READINESS</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Ready, with limits</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CAPABILITIES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13 of 14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operational readiness review</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CAN THIS ORGANIZATION USE THE GRADIENT SKILLS TODAY?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Summary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8230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8230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13384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GradientCIO is connected and healthy for organization Gradient [S1][S2]. Nineteen of twenty-one skills are ready; the macro briefing has one unavailable view, and the IC memo needs the Portfolio and Strategy Lab modules for live portfolio data [S2]. 13 of 14 contract checks passed; macro regime state returned Not available (HTTP 500) [S3].</a:t>
            </a:r>
          </a:p>
        </p:txBody>
      </p:sp>
      <p:sp>
        <p:nvSpPr>
          <p:cNvPr id="13" name="Rectangle 12"/>
          <p:cNvSpPr/>
          <p:nvPr/>
        </p:nvSpPr>
        <p:spPr>
          <a:xfrm>
            <a:off x="64008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SKILLS READY</a:t>
            </a:r>
          </a:p>
        </p:txBody>
      </p:sp>
      <p:sp>
        <p:nvSpPr>
          <p:cNvPr id="16" name="TextBox 15"/>
          <p:cNvSpPr txBox="1"/>
          <p:nvPr/>
        </p:nvSpPr>
        <p:spPr>
          <a:xfrm>
            <a:off x="74980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19</a:t>
            </a:r>
          </a:p>
        </p:txBody>
      </p:sp>
      <p:sp>
        <p:nvSpPr>
          <p:cNvPr id="17" name="TextBox 16"/>
          <p:cNvSpPr txBox="1"/>
          <p:nvPr/>
        </p:nvSpPr>
        <p:spPr>
          <a:xfrm>
            <a:off x="74980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of 21</a:t>
            </a:r>
          </a:p>
        </p:txBody>
      </p:sp>
      <p:sp>
        <p:nvSpPr>
          <p:cNvPr id="18" name="Rectangle 17"/>
          <p:cNvSpPr/>
          <p:nvPr/>
        </p:nvSpPr>
        <p:spPr>
          <a:xfrm>
            <a:off x="339471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PARTIAL</a:t>
            </a:r>
          </a:p>
        </p:txBody>
      </p:sp>
      <p:sp>
        <p:nvSpPr>
          <p:cNvPr id="21" name="TextBox 20"/>
          <p:cNvSpPr txBox="1"/>
          <p:nvPr/>
        </p:nvSpPr>
        <p:spPr>
          <a:xfrm>
            <a:off x="350443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a:t>
            </a:r>
          </a:p>
        </p:txBody>
      </p:sp>
      <p:sp>
        <p:nvSpPr>
          <p:cNvPr id="22" name="TextBox 21"/>
          <p:cNvSpPr txBox="1"/>
          <p:nvPr/>
        </p:nvSpPr>
        <p:spPr>
          <a:xfrm>
            <a:off x="350443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Macro brief · IC memo</a:t>
            </a:r>
          </a:p>
        </p:txBody>
      </p:sp>
      <p:sp>
        <p:nvSpPr>
          <p:cNvPr id="23" name="Rectangle 22"/>
          <p:cNvSpPr/>
          <p:nvPr/>
        </p:nvSpPr>
        <p:spPr>
          <a:xfrm>
            <a:off x="614934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NOT LICENSED</a:t>
            </a:r>
          </a:p>
        </p:txBody>
      </p:sp>
      <p:sp>
        <p:nvSpPr>
          <p:cNvPr id="26" name="TextBox 25"/>
          <p:cNvSpPr txBox="1"/>
          <p:nvPr/>
        </p:nvSpPr>
        <p:spPr>
          <a:xfrm>
            <a:off x="625906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 modules</a:t>
            </a:r>
          </a:p>
        </p:txBody>
      </p:sp>
      <p:sp>
        <p:nvSpPr>
          <p:cNvPr id="27" name="TextBox 26"/>
          <p:cNvSpPr txBox="1"/>
          <p:nvPr/>
        </p:nvSpPr>
        <p:spPr>
          <a:xfrm>
            <a:off x="625906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Portfolio · Strategy Lab</a:t>
            </a:r>
          </a:p>
        </p:txBody>
      </p:sp>
      <p:sp>
        <p:nvSpPr>
          <p:cNvPr id="28" name="Rectangle 27"/>
          <p:cNvSpPr/>
          <p:nvPr/>
        </p:nvSpPr>
        <p:spPr>
          <a:xfrm>
            <a:off x="890397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CHECKS PASSED</a:t>
            </a:r>
          </a:p>
        </p:txBody>
      </p:sp>
      <p:sp>
        <p:nvSpPr>
          <p:cNvPr id="31" name="TextBox 30"/>
          <p:cNvSpPr txBox="1"/>
          <p:nvPr/>
        </p:nvSpPr>
        <p:spPr>
          <a:xfrm>
            <a:off x="901369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13 / 14</a:t>
            </a:r>
          </a:p>
        </p:txBody>
      </p:sp>
      <p:sp>
        <p:nvSpPr>
          <p:cNvPr id="32" name="TextBox 31"/>
          <p:cNvSpPr txBox="1"/>
          <p:nvPr/>
        </p:nvSpPr>
        <p:spPr>
          <a:xfrm>
            <a:off x="901369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 unavailable check</a:t>
            </a:r>
          </a:p>
        </p:txBody>
      </p:sp>
      <p:sp>
        <p:nvSpPr>
          <p:cNvPr id="33" name="Rectangle 32"/>
          <p:cNvSpPr/>
          <p:nvPr/>
        </p:nvSpPr>
        <p:spPr>
          <a:xfrm>
            <a:off x="640080" y="5105909"/>
            <a:ext cx="10908792" cy="111201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Rectangle 33"/>
          <p:cNvSpPr/>
          <p:nvPr/>
        </p:nvSpPr>
        <p:spPr>
          <a:xfrm>
            <a:off x="640080" y="5105909"/>
            <a:ext cx="54864" cy="111201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5" name="TextBox 34"/>
          <p:cNvSpPr txBox="1"/>
          <p:nvPr/>
        </p:nvSpPr>
        <p:spPr>
          <a:xfrm>
            <a:off x="804671" y="521563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What to do next</a:t>
            </a:r>
          </a:p>
        </p:txBody>
      </p:sp>
      <p:sp>
        <p:nvSpPr>
          <p:cNvPr id="36" name="TextBox 35"/>
          <p:cNvSpPr txBox="1"/>
          <p:nvPr/>
        </p:nvSpPr>
        <p:spPr>
          <a:xfrm>
            <a:off x="804671" y="5499101"/>
            <a:ext cx="10616184" cy="62737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Nothing is blocking day-to-day use. To write IC memos from live portfolio data, license the Portfolio and Strategy Lab modules; until then the memo can be written from holdings you supply.</a:t>
            </a:r>
          </a:p>
        </p:txBody>
      </p:sp>
      <p:sp>
        <p:nvSpPr>
          <p:cNvPr id="37" name="Rectangle 3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8" name="TextBox 3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9" name="TextBox 3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40" name="TextBox 3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STATUS OF EACH SKILL FOR THIS ORGANIZATION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Skills you can use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READY</a:t>
            </a:r>
          </a:p>
        </p:txBody>
      </p:sp>
      <p:graphicFrame>
        <p:nvGraphicFramePr>
          <p:cNvPr id="10" name="Table 9"/>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69620">
                <a:tc>
                  <a:txBody>
                    <a:bodyPr/>
                    <a:lstStyle/>
                    <a:p>
                      <a:pPr>
                        <a:defRPr sz="800" b="1">
                          <a:solidFill>
                            <a:srgbClr val="0D1117"/>
                          </a:solidFill>
                          <a:latin typeface="Inter"/>
                        </a:defRPr>
                      </a:pPr>
                      <a:r>
                        <a:rPr>
                          <a:latin typeface="Inter"/>
                        </a:rPr>
                        <a:t>gradient-odd-report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ODD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Event feed not published; reports disclose the gap</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gradient-odd-ddq-reconcile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DDQ reconciliation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One subject per call</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gradient-odd-manager-monitor</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Weekly digest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roster fund monitored</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gradient-gips-* (5)</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GIPS reviews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Works from supplied documents</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gradient-setup</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Readiness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Current check</a:t>
                      </a:r>
                    </a:p>
                  </a:txBody>
                  <a:tcPr marL="54864" marR="54864" marT="27432" marB="27432" anchor="ctr">
                    <a:solidFill>
                      <a:srgbClr val="FFFFFF"/>
                    </a:solidFill>
                  </a:tcPr>
                </a:tc>
              </a:tr>
            </a:tbl>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PARTIAL</a:t>
            </a:r>
          </a:p>
        </p:txBody>
      </p:sp>
      <p:graphicFrame>
        <p:nvGraphicFramePr>
          <p:cNvPr id="13" name="Table 12"/>
          <p:cNvGraphicFramePr>
            <a:graphicFrameLocks noGrp="1"/>
          </p:cNvGraphicFramePr>
          <p:nvPr/>
        </p:nvGraphicFramePr>
        <p:xfrm>
          <a:off x="630936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230886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308860">
                <a:tc>
                  <a:txBody>
                    <a:bodyPr/>
                    <a:lstStyle/>
                    <a:p>
                      <a:pPr>
                        <a:defRPr sz="800" b="1">
                          <a:solidFill>
                            <a:srgbClr val="0D1117"/>
                          </a:solidFill>
                          <a:latin typeface="Inter"/>
                        </a:defRPr>
                      </a:pPr>
                      <a:r>
                        <a:rPr>
                          <a:latin typeface="Inter"/>
                        </a:rPr>
                        <a:t>gradient-decision-ic-memo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IC 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Portfolio core: Not licensed; Strategy Lab supplement: Not licensed (optional). Use supplied holdings</a:t>
                      </a:r>
                    </a:p>
                  </a:txBody>
                  <a:tcPr marL="54864" marR="54864" marT="27432" marB="27432" anchor="ctr">
                    <a:solidFill>
                      <a:srgbClr val="FFFFFF"/>
                    </a:solidFill>
                  </a:tcPr>
                </a:tc>
              </a:tr>
            </a:tbl>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ORGANIZATION</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rPr>
                          <a:latin typeface="Inter"/>
                        </a:rPr>
                        <a:t>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Role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Licensed modules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Not licensed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Tools entitled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Backend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rPr>
                          <a:latin typeface="Inter"/>
                        </a:rPr>
                        <a:t>Roster capacity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of 3 fund slots used [S4]</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S4</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DATA DOMAINS</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rPr>
                          <a:latin typeface="Inter"/>
                        </a:rPr>
                        <a:t>Manager diligence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Macro research</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Market data</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Strategy Lab</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Peer intelligence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licensed</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rPr>
                          <a:latin typeface="Inter"/>
                        </a:rPr>
                        <a:t>orgs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odd_profile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monitor_coverage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2026-10-01</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attention</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findings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events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gradient_signal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rPr>
                          <a:latin typeface="Inter"/>
                        </a:rPr>
                        <a:t>regime_state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5F7F9"/>
                    </a:solidFill>
                  </a:tcPr>
                </a:tc>
                <a:tc>
                  <a:txBody>
                    <a:bodyPr/>
                    <a:lstStyle/>
                    <a:p>
                      <a:pPr>
                        <a:defRPr sz="720" b="1">
                          <a:solidFill>
                            <a:srgbClr val="F2A93B"/>
                          </a:solidFill>
                          <a:latin typeface="Inter"/>
                        </a:defRPr>
                      </a:pPr>
                      <a:r>
                        <a:rPr>
                          <a:latin typeface="Inter"/>
                        </a:rPr>
                        <a:t>● Not available</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HTTP 500 MCP_TOOL_EXECUTION_FAILED; retried once</a:t>
                      </a:r>
                    </a:p>
                  </a:txBody>
                  <a:tcPr marL="54864" marR="54864" marT="27432" marB="27432" anchor="ctr">
                    <a:solidFill>
                      <a:srgbClr val="F5F7F9"/>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TABLE — CONTINUED</a:t>
            </a:r>
          </a:p>
        </p:txBody>
      </p:sp>
      <p:graphicFrame>
        <p:nvGraphicFramePr>
          <p:cNvPr id="10" name="Table 9"/>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rPr>
                          <a:latin typeface="Inter"/>
                        </a:rPr>
                        <a:t>cma_baseline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rPr>
                          <a:latin typeface="Inter"/>
                        </a:rPr>
                        <a:t>watchlist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No items selected</a:t>
                      </a:r>
                    </a:p>
                  </a:txBody>
                  <a:tcPr marL="54864" marR="54864" marT="27432" marB="27432" anchor="ctr">
                    <a:solidFill>
                      <a:srgbClr val="F5F7F9"/>
                    </a:solidFill>
                  </a:tcPr>
                </a:tc>
              </a:tr>
            </a:tbl>
          </a:graphicData>
        </a:graphic>
      </p:graphicFrame>
      <p:sp>
        <p:nvSpPr>
          <p:cNvPr id="11" name="Rectangle 10"/>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 new failures</a:t>
            </a:r>
          </a:p>
        </p:txBody>
      </p:sp>
      <p:sp>
        <p:nvSpPr>
          <p:cNvPr id="14" name="TextBox 13"/>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All probes completed without a new failure. The CMA baseline returns a fresh risk-free rate.</a:t>
            </a:r>
          </a:p>
        </p:txBody>
      </p:sp>
      <p:sp>
        <p:nvSpPr>
          <p:cNvPr id="15" name="Rectangle 1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7" name="TextBox 1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8" name="TextBox 1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PROMPTS THAT WORK FOR THIS ORGANIZATION TODAY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Try next</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Run an ODD report on Ridgeview Global Macro Fund II.</a:t>
            </a:r>
            <a:br/>
            <a:r>
              <a:rPr>
                <a:latin typeface="Inter"/>
              </a:rPr>
              <a:t>      Your one roster fund; a new Form ADV was filed after its last review.</a:t>
            </a:r>
          </a:p>
          <a:p>
            <a:pPr algn="l">
              <a:spcAft>
                <a:spcPts val="500"/>
              </a:spcAft>
              <a:defRPr sz="1000" b="0">
                <a:solidFill>
                  <a:srgbClr val="0D1117"/>
                </a:solidFill>
                <a:latin typeface="Inter"/>
              </a:defRPr>
            </a:pPr>
            <a:r>
              <a:rPr>
                <a:latin typeface="Inter"/>
              </a:rPr>
              <a:t>02  Give me this week's manager monitoring digest, and schedule it for Mondays.</a:t>
            </a:r>
            <a:br/>
            <a:r>
              <a:rPr>
                <a:latin typeface="Inter"/>
              </a:rPr>
              <a:t>      Keeps the roster under watch without manual checks.</a:t>
            </a:r>
          </a:p>
          <a:p>
            <a:pPr algn="l">
              <a:spcAft>
                <a:spcPts val="500"/>
              </a:spcAft>
              <a:defRPr sz="1000" b="0">
                <a:solidFill>
                  <a:srgbClr val="0D1117"/>
                </a:solidFill>
                <a:latin typeface="Inter"/>
              </a:defRPr>
            </a:pPr>
            <a:r>
              <a:rPr>
                <a:latin typeface="Inter"/>
              </a:rPr>
              <a:t>03  Build the macro briefing deck for Thursday's committee.</a:t>
            </a:r>
            <a:br/>
            <a:r>
              <a:rPr>
                <a:latin typeface="Inter"/>
              </a:rPr>
              <a:t>      Uses The Read, rates, Gradient signal, calendar and CMAs.</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521208">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r>
              <a:tr h="521208">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Diligence 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conditions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S8</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calendar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9" name="TextBox 8"/>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 · S8</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Readiness reflects entitlement, OAuth scope, backend health and data readiness reported by GradientCIO at the time of the check. Tool availability does not guarantee that data is published for every subject.</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Investment Office</dc:title>
  <dc:subject>Readiness Review</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