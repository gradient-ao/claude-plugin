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ns0:presentation xmlns:a="http://schemas.openxmlformats.org/drawingml/2006/main" xmlns:ns0="http://schemas.openxmlformats.org/presentationml/2006/main" xmlns:ns1="http://schemas.openxmlformats.org/officeDocument/2006/relationships" saveSubsetFonts="1" autoCompressPictures="0">
  <ns0:sldMasterIdLst>
    <ns0:sldMasterId id="2147483648" ns1:id="rId1"/>
  </ns0:sldMasterIdLst>
  <ns0:sldIdLst>
    <ns0:sldId id="256" ns1:id="rId7"/>
    <ns0:sldId id="257" ns1:id="rId8"/>
    <ns0:sldId id="258" ns1:id="rId9"/>
    <ns0:sldId id="259" ns1:id="rId10"/>
    <ns0:sldId id="260" ns1:id="rId11"/>
    <ns0:sldId id="261" ns1:id="rId12"/>
    <ns0:sldId id="262" ns1:id="rId13"/>
    <ns0:sldId id="263" ns1:id="rId14"/>
    <ns0:sldId id="264" ns1:id="rId15"/>
    <ns0:sldId id="265" ns1:id="rId16"/>
  </ns0:sldIdLst>
  <ns0:sldSz cx="12191695" cy="6858000" type="screen16x9"/>
  <ns0:notesSz cx="6858000" cy="9144000"/>
  <ns0: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ns0:defaultTextStyle>
</ns0: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Cover">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Section divide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xhibit">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up">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Appendix">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Oval 2"/>
          <p:cNvSpPr/>
          <p:nvPr/>
        </p:nvSpPr>
        <p:spPr>
          <a:xfrm>
            <a:off x="9372600" y="164592"/>
            <a:ext cx="2514600" cy="2514600"/>
          </a:xfrm>
          <a:prstGeom prst="ellipse">
            <a:avLst/>
          </a:prstGeom>
          <a:solidFill>
            <a:srgbClr val="161C24"/>
          </a:solidFill>
          <a:ln>
            <a:solidFill>
              <a:srgbClr val="161C2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4" name="TextBox 3"/>
          <p:cNvSpPr txBox="1"/>
          <p:nvPr/>
        </p:nvSpPr>
        <p:spPr>
          <a:xfrm>
            <a:off x="685800" y="457200"/>
            <a:ext cx="4754880" cy="320040"/>
          </a:xfrm>
          <a:prstGeom prst="rect">
            <a:avLst/>
          </a:prstGeom>
          <a:noFill/>
        </p:spPr>
        <p:txBody>
          <a:bodyPr wrap="none" lIns="9144" rIns="9144" tIns="9144" bIns="9144" anchor="t">
            <a:spAutoFit/>
          </a:bodyPr>
          <a:lstStyle/>
          <a:p>
            <a:pPr algn="l">
              <a:spcAft>
                <a:spcPts val="0"/>
              </a:spcAft>
              <a:defRPr sz="1200" b="1">
                <a:solidFill>
                  <a:srgbClr val="FFFFFF"/>
                </a:solidFill>
                <a:latin typeface="Inter"/>
              </a:defRPr>
            </a:pPr>
            <a:r>
              <a:rPr>
                <a:latin typeface="Inter"/>
              </a:rPr>
              <a:t>GradientCIO</a:t>
            </a:r>
          </a:p>
        </p:txBody>
      </p:sp>
      <p:sp>
        <p:nvSpPr>
          <p:cNvPr id="5" name="TextBox 4"/>
          <p:cNvSpPr txBox="1"/>
          <p:nvPr/>
        </p:nvSpPr>
        <p:spPr>
          <a:xfrm>
            <a:off x="685800" y="1664208"/>
            <a:ext cx="9966960" cy="274320"/>
          </a:xfrm>
          <a:prstGeom prst="rect">
            <a:avLst/>
          </a:prstGeom>
          <a:noFill/>
        </p:spPr>
        <p:txBody>
          <a:bodyPr wrap="none" lIns="9144" rIns="9144" tIns="9144" bIns="9144" anchor="t">
            <a:spAutoFit/>
          </a:bodyPr>
          <a:lstStyle/>
          <a:p>
            <a:pPr algn="l">
              <a:spcAft>
                <a:spcPts val="0"/>
              </a:spcAft>
              <a:defRPr sz="850" b="1">
                <a:solidFill>
                  <a:srgbClr val="C6F432"/>
                </a:solidFill>
                <a:latin typeface="Inter"/>
              </a:defRPr>
            </a:pPr>
            <a:r>
              <a:rPr>
                <a:latin typeface="Inter"/>
              </a:rPr>
              <a:t>PLATFORM READINESS</a:t>
            </a:r>
          </a:p>
        </p:txBody>
      </p:sp>
      <p:sp>
        <p:nvSpPr>
          <p:cNvPr id="6" name="TextBox 5"/>
          <p:cNvSpPr txBox="1"/>
          <p:nvPr/>
        </p:nvSpPr>
        <p:spPr>
          <a:xfrm>
            <a:off x="685800" y="2011680"/>
            <a:ext cx="9966960" cy="1234440"/>
          </a:xfrm>
          <a:prstGeom prst="rect">
            <a:avLst/>
          </a:prstGeom>
          <a:noFill/>
        </p:spPr>
        <p:txBody>
          <a:bodyPr wrap="none" lIns="9144" rIns="9144" tIns="9144" bIns="9144" anchor="t">
            <a:spAutoFit/>
          </a:bodyPr>
          <a:lstStyle/>
          <a:p>
            <a:pPr algn="l">
              <a:spcAft>
                <a:spcPts val="0"/>
              </a:spcAft>
              <a:defRPr sz="3300" b="1">
                <a:solidFill>
                  <a:srgbClr val="FFFFFF"/>
                </a:solidFill>
                <a:latin typeface="Inter"/>
              </a:defRPr>
            </a:pPr>
            <a:r>
              <a:rPr>
                <a:latin typeface="Inter"/>
              </a:rPr>
              <a:t>Northstar Investment Office</a:t>
            </a:r>
          </a:p>
        </p:txBody>
      </p:sp>
      <p:sp>
        <p:nvSpPr>
          <p:cNvPr id="7" name="TextBox 6"/>
          <p:cNvSpPr txBox="1"/>
          <p:nvPr/>
        </p:nvSpPr>
        <p:spPr>
          <a:xfrm>
            <a:off x="685800" y="3273552"/>
            <a:ext cx="9692640" cy="594360"/>
          </a:xfrm>
          <a:prstGeom prst="rect">
            <a:avLst/>
          </a:prstGeom>
          <a:noFill/>
        </p:spPr>
        <p:txBody>
          <a:bodyPr wrap="none" lIns="9144" rIns="9144" tIns="9144" bIns="9144" anchor="t">
            <a:spAutoFit/>
          </a:bodyPr>
          <a:lstStyle/>
          <a:p>
            <a:pPr algn="l">
              <a:spcAft>
                <a:spcPts val="0"/>
              </a:spcAft>
              <a:defRPr sz="1400" b="0">
                <a:solidFill>
                  <a:srgbClr val="9AA5B1"/>
                </a:solidFill>
                <a:latin typeface="Inter"/>
              </a:defRPr>
            </a:pPr>
            <a:r>
              <a:rPr>
                <a:latin typeface="Inter"/>
              </a:rPr>
              <a:t>Access, licensed capabilities and data coverage</a:t>
            </a:r>
          </a:p>
        </p:txBody>
      </p:sp>
      <p:sp>
        <p:nvSpPr>
          <p:cNvPr id="8" name="Rectangle 7"/>
          <p:cNvSpPr/>
          <p:nvPr/>
        </p:nvSpPr>
        <p:spPr>
          <a:xfrm>
            <a:off x="685800" y="4005072"/>
            <a:ext cx="822960" cy="45720"/>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9" name="TextBox 8"/>
          <p:cNvSpPr txBox="1"/>
          <p:nvPr/>
        </p:nvSpPr>
        <p:spPr>
          <a:xfrm>
            <a:off x="685800" y="4315968"/>
            <a:ext cx="4709160" cy="182880"/>
          </a:xfrm>
          <a:prstGeom prst="rect">
            <a:avLst/>
          </a:prstGeom>
          <a:noFill/>
        </p:spPr>
        <p:txBody>
          <a:bodyPr wrap="none" lIns="9144" rIns="9144" tIns="9144" bIns="9144" anchor="t">
            <a:spAutoFit/>
          </a:bodyPr>
          <a:lstStyle/>
          <a:p>
            <a:pPr algn="l">
              <a:spcAft>
                <a:spcPts val="0"/>
              </a:spcAft>
              <a:defRPr sz="700" b="1">
                <a:solidFill>
                  <a:srgbClr val="8A94A1"/>
                </a:solidFill>
                <a:latin typeface="Inter"/>
              </a:defRPr>
            </a:pPr>
            <a:r>
              <a:rPr>
                <a:latin typeface="Inter"/>
              </a:rPr>
              <a:t>ORGANIZATION</a:t>
            </a:r>
          </a:p>
        </p:txBody>
      </p:sp>
      <p:sp>
        <p:nvSpPr>
          <p:cNvPr id="10" name="TextBox 9"/>
          <p:cNvSpPr txBox="1"/>
          <p:nvPr/>
        </p:nvSpPr>
        <p:spPr>
          <a:xfrm>
            <a:off x="685800" y="4507992"/>
            <a:ext cx="4709160" cy="310896"/>
          </a:xfrm>
          <a:prstGeom prst="rect">
            <a:avLst/>
          </a:prstGeom>
          <a:noFill/>
        </p:spPr>
        <p:txBody>
          <a:bodyPr wrap="none" lIns="9144" rIns="9144" tIns="9144" bIns="9144" anchor="t">
            <a:spAutoFit/>
          </a:bodyPr>
          <a:lstStyle/>
          <a:p>
            <a:pPr algn="l">
              <a:spcAft>
                <a:spcPts val="0"/>
              </a:spcAft>
              <a:defRPr sz="1000" b="1">
                <a:solidFill>
                  <a:srgbClr val="FFFFFF"/>
                </a:solidFill>
                <a:latin typeface="Inter"/>
              </a:defRPr>
            </a:pPr>
            <a:r>
              <a:rPr>
                <a:latin typeface="Inter"/>
              </a:rPr>
              <a:t>Northstar Investment Office</a:t>
            </a:r>
          </a:p>
        </p:txBody>
      </p:sp>
      <p:sp>
        <p:nvSpPr>
          <p:cNvPr id="11" name="TextBox 10"/>
          <p:cNvSpPr txBox="1"/>
          <p:nvPr/>
        </p:nvSpPr>
        <p:spPr>
          <a:xfrm>
            <a:off x="5852160" y="4315968"/>
            <a:ext cx="4709160" cy="182880"/>
          </a:xfrm>
          <a:prstGeom prst="rect">
            <a:avLst/>
          </a:prstGeom>
          <a:noFill/>
        </p:spPr>
        <p:txBody>
          <a:bodyPr wrap="none" lIns="9144" rIns="9144" tIns="9144" bIns="9144" anchor="t">
            <a:spAutoFit/>
          </a:bodyPr>
          <a:lstStyle/>
          <a:p>
            <a:pPr algn="l">
              <a:spcAft>
                <a:spcPts val="0"/>
              </a:spcAft>
              <a:defRPr sz="700" b="1">
                <a:solidFill>
                  <a:srgbClr val="8A94A1"/>
                </a:solidFill>
                <a:latin typeface="Inter"/>
              </a:defRPr>
            </a:pPr>
            <a:r>
              <a:rPr>
                <a:latin typeface="Inter"/>
              </a:rPr>
              <a:t>REVIEWED</a:t>
            </a:r>
          </a:p>
        </p:txBody>
      </p:sp>
      <p:sp>
        <p:nvSpPr>
          <p:cNvPr id="12" name="TextBox 11"/>
          <p:cNvSpPr txBox="1"/>
          <p:nvPr/>
        </p:nvSpPr>
        <p:spPr>
          <a:xfrm>
            <a:off x="5852160" y="4507992"/>
            <a:ext cx="4709160" cy="310896"/>
          </a:xfrm>
          <a:prstGeom prst="rect">
            <a:avLst/>
          </a:prstGeom>
          <a:noFill/>
        </p:spPr>
        <p:txBody>
          <a:bodyPr wrap="none" lIns="9144" rIns="9144" tIns="9144" bIns="9144" anchor="t">
            <a:spAutoFit/>
          </a:bodyPr>
          <a:lstStyle/>
          <a:p>
            <a:pPr algn="l">
              <a:spcAft>
                <a:spcPts val="0"/>
              </a:spcAft>
              <a:defRPr sz="1000" b="1">
                <a:solidFill>
                  <a:srgbClr val="FFFFFF"/>
                </a:solidFill>
                <a:latin typeface="Inter"/>
              </a:defRPr>
            </a:pPr>
            <a:r>
              <a:rPr>
                <a:latin typeface="Inter"/>
              </a:rPr>
              <a:t>2026-10-04</a:t>
            </a:r>
          </a:p>
        </p:txBody>
      </p:sp>
      <p:sp>
        <p:nvSpPr>
          <p:cNvPr id="13" name="TextBox 12"/>
          <p:cNvSpPr txBox="1"/>
          <p:nvPr/>
        </p:nvSpPr>
        <p:spPr>
          <a:xfrm>
            <a:off x="685800" y="6400800"/>
            <a:ext cx="8046720" cy="146304"/>
          </a:xfrm>
          <a:prstGeom prst="rect">
            <a:avLst/>
          </a:prstGeom>
          <a:noFill/>
        </p:spPr>
        <p:txBody>
          <a:bodyPr wrap="none" lIns="9144" rIns="9144" tIns="9144" bIns="9144" anchor="t">
            <a:spAutoFit/>
          </a:bodyPr>
          <a:lstStyle/>
          <a:p>
            <a:pPr algn="l">
              <a:spcAft>
                <a:spcPts val="0"/>
              </a:spcAft>
              <a:defRPr sz="700" b="0">
                <a:solidFill>
                  <a:srgbClr val="8A94A1"/>
                </a:solidFill>
                <a:latin typeface="Inter"/>
              </a:defRPr>
            </a:pPr>
            <a:r>
              <a:rPr>
                <a:latin typeface="Inter"/>
              </a:rPr>
              <a:t>Confidential — operational readiness review</a:t>
            </a:r>
          </a:p>
        </p:txBody>
      </p:sp>
      <p:sp>
        <p:nvSpPr>
          <p:cNvPr id="14" name="TextBox 13"/>
          <p:cNvSpPr txBox="1"/>
          <p:nvPr/>
        </p:nvSpPr>
        <p:spPr>
          <a:xfrm>
            <a:off x="685800" y="6556248"/>
            <a:ext cx="8046720" cy="128016"/>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Illustrative sample · not client data</a:t>
            </a:r>
          </a:p>
        </p:txBody>
      </p:sp>
      <p:sp>
        <p:nvSpPr>
          <p:cNvPr id="15" name="TextBox 14"/>
          <p:cNvSpPr txBox="1"/>
          <p:nvPr/>
        </p:nvSpPr>
        <p:spPr>
          <a:xfrm>
            <a:off x="8778240" y="6473952"/>
            <a:ext cx="2743200" cy="182880"/>
          </a:xfrm>
          <a:prstGeom prst="rect">
            <a:avLst/>
          </a:prstGeom>
          <a:noFill/>
        </p:spPr>
        <p:txBody>
          <a:bodyPr wrap="none" lIns="9144" rIns="9144" tIns="9144" bIns="9144" anchor="t">
            <a:spAutoFit/>
          </a:bodyPr>
          <a:lstStyle/>
          <a:p>
            <a:pPr algn="r">
              <a:spcAft>
                <a:spcPts val="0"/>
              </a:spcAft>
              <a:defRPr sz="700" b="0">
                <a:solidFill>
                  <a:srgbClr val="8A94A1"/>
                </a:solidFill>
                <a:latin typeface="Inter"/>
              </a:defRPr>
            </a:pPr>
            <a:r>
              <a:rPr>
                <a:latin typeface="Inter"/>
              </a:rPr>
              <a:t>GradientCIO.com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9875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CAN THIS ORGANIZATION USE THE GRADIENT SKILLS TODAY?</a:t>
            </a:r>
          </a:p>
        </p:txBody>
      </p:sp>
      <p:sp>
        <p:nvSpPr>
          <p:cNvPr id="4" name="TextBox 3"/>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Summary</a:t>
            </a:r>
          </a:p>
        </p:txBody>
      </p:sp>
      <p:sp>
        <p:nvSpPr>
          <p:cNvPr id="5" name="Rectangle 4"/>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6" name="Rectangle 5"/>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TextBox 6"/>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01</a:t>
            </a:r>
          </a:p>
        </p:txBody>
      </p:sp>
      <p:sp>
        <p:nvSpPr>
          <p:cNvPr id="8" name="Rectangle 7"/>
          <p:cNvSpPr/>
          <p:nvPr/>
        </p:nvSpPr>
        <p:spPr>
          <a:xfrm>
            <a:off x="640080" y="1399032"/>
            <a:ext cx="73152" cy="744099"/>
          </a:xfrm>
          <a:prstGeom prst="rect">
            <a:avLst/>
          </a:prstGeom>
          <a:solidFill>
            <a:srgbClr val="F2A93B"/>
          </a:solidFill>
          <a:ln>
            <a:solidFill>
              <a:srgbClr val="F2A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9" name="TextBox 8"/>
          <p:cNvSpPr txBox="1"/>
          <p:nvPr/>
        </p:nvSpPr>
        <p:spPr>
          <a:xfrm>
            <a:off x="896112" y="1371600"/>
            <a:ext cx="10588752" cy="516434"/>
          </a:xfrm>
          <a:prstGeom prst="rect">
            <a:avLst/>
          </a:prstGeom>
          <a:noFill/>
        </p:spPr>
        <p:txBody>
          <a:bodyPr wrap="none" lIns="9144" rIns="9144" tIns="9144" bIns="9144" anchor="t">
            <a:spAutoFit/>
          </a:bodyPr>
          <a:lstStyle/>
          <a:p>
            <a:pPr algn="l">
              <a:spcAft>
                <a:spcPts val="0"/>
              </a:spcAft>
              <a:defRPr sz="1800" b="1">
                <a:solidFill>
                  <a:srgbClr val="0D1117"/>
                </a:solidFill>
                <a:latin typeface="Inter"/>
              </a:defRPr>
            </a:pPr>
            <a:r>
              <a:rPr>
                <a:latin typeface="Inter"/>
              </a:rPr>
              <a:t>Ready to use, with some skills limited</a:t>
            </a:r>
          </a:p>
        </p:txBody>
      </p:sp>
      <p:sp>
        <p:nvSpPr>
          <p:cNvPr id="10" name="Rectangle 9"/>
          <p:cNvSpPr/>
          <p:nvPr/>
        </p:nvSpPr>
        <p:spPr>
          <a:xfrm>
            <a:off x="640080" y="2326011"/>
            <a:ext cx="10908792" cy="1250739"/>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1" name="Rectangle 10"/>
          <p:cNvSpPr/>
          <p:nvPr/>
        </p:nvSpPr>
        <p:spPr>
          <a:xfrm>
            <a:off x="640080" y="2326011"/>
            <a:ext cx="54864" cy="1250739"/>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2" name="TextBox 11"/>
          <p:cNvSpPr txBox="1"/>
          <p:nvPr/>
        </p:nvSpPr>
        <p:spPr>
          <a:xfrm>
            <a:off x="804671" y="2435739"/>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Bottom line</a:t>
            </a:r>
          </a:p>
        </p:txBody>
      </p:sp>
      <p:sp>
        <p:nvSpPr>
          <p:cNvPr id="13" name="TextBox 12"/>
          <p:cNvSpPr txBox="1"/>
          <p:nvPr/>
        </p:nvSpPr>
        <p:spPr>
          <a:xfrm>
            <a:off x="804671" y="2719203"/>
            <a:ext cx="10616184" cy="766107"/>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GradientCIO is connected and healthy for organization Gradient [S1][S2]. Nineteen of twenty-one skills are ready; the macro briefing has one unavailable view, and the IC memo needs the Portfolio and Strategy Lab modules for live portfolio data [S2]. 13 of 14 connection checks passed; macro regime state returned Not available (HTTP 500) [S3].</a:t>
            </a:r>
          </a:p>
        </p:txBody>
      </p:sp>
      <p:sp>
        <p:nvSpPr>
          <p:cNvPr id="14" name="Rectangle 13"/>
          <p:cNvSpPr/>
          <p:nvPr/>
        </p:nvSpPr>
        <p:spPr>
          <a:xfrm>
            <a:off x="640080" y="3686479"/>
            <a:ext cx="2644902" cy="1391256"/>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5" name="Rectangle 14"/>
          <p:cNvSpPr/>
          <p:nvPr/>
        </p:nvSpPr>
        <p:spPr>
          <a:xfrm>
            <a:off x="640080" y="3686479"/>
            <a:ext cx="2644902" cy="45720"/>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6" name="TextBox 15"/>
          <p:cNvSpPr txBox="1"/>
          <p:nvPr/>
        </p:nvSpPr>
        <p:spPr>
          <a:xfrm>
            <a:off x="749808" y="3814495"/>
            <a:ext cx="2425446" cy="201168"/>
          </a:xfrm>
          <a:prstGeom prst="rect">
            <a:avLst/>
          </a:prstGeom>
          <a:noFill/>
        </p:spPr>
        <p:txBody>
          <a:bodyPr wrap="none" lIns="9144" rIns="9144" tIns="9144" bIns="9144" anchor="t">
            <a:spAutoFit/>
          </a:bodyPr>
          <a:lstStyle/>
          <a:p>
            <a:pPr algn="l">
              <a:spcAft>
                <a:spcPts val="0"/>
              </a:spcAft>
              <a:defRPr sz="650" b="1">
                <a:solidFill>
                  <a:srgbClr val="4A5563"/>
                </a:solidFill>
                <a:latin typeface="Inter"/>
              </a:defRPr>
            </a:pPr>
            <a:r>
              <a:rPr>
                <a:latin typeface="Inter"/>
              </a:rPr>
              <a:t>SKILLS READY</a:t>
            </a:r>
          </a:p>
        </p:txBody>
      </p:sp>
      <p:sp>
        <p:nvSpPr>
          <p:cNvPr id="17" name="TextBox 16"/>
          <p:cNvSpPr txBox="1"/>
          <p:nvPr/>
        </p:nvSpPr>
        <p:spPr>
          <a:xfrm>
            <a:off x="749808" y="4070527"/>
            <a:ext cx="2425446" cy="475488"/>
          </a:xfrm>
          <a:prstGeom prst="rect">
            <a:avLst/>
          </a:prstGeom>
          <a:noFill/>
        </p:spPr>
        <p:txBody>
          <a:bodyPr wrap="none" lIns="9144" rIns="9144" tIns="9144" bIns="9144" anchor="t">
            <a:spAutoFit/>
          </a:bodyPr>
          <a:lstStyle/>
          <a:p>
            <a:pPr algn="l">
              <a:spcAft>
                <a:spcPts val="0"/>
              </a:spcAft>
              <a:defRPr sz="1800" b="1">
                <a:solidFill>
                  <a:srgbClr val="0D1117"/>
                </a:solidFill>
                <a:latin typeface="Inter"/>
              </a:defRPr>
            </a:pPr>
            <a:r>
              <a:rPr>
                <a:latin typeface="Inter"/>
              </a:rPr>
              <a:t>19</a:t>
            </a:r>
          </a:p>
        </p:txBody>
      </p:sp>
      <p:sp>
        <p:nvSpPr>
          <p:cNvPr id="18" name="TextBox 17"/>
          <p:cNvSpPr txBox="1"/>
          <p:nvPr/>
        </p:nvSpPr>
        <p:spPr>
          <a:xfrm>
            <a:off x="749808" y="4748551"/>
            <a:ext cx="2425446" cy="228600"/>
          </a:xfrm>
          <a:prstGeom prst="rect">
            <a:avLst/>
          </a:prstGeom>
          <a:noFill/>
        </p:spPr>
        <p:txBody>
          <a:bodyPr wrap="none" lIns="9144" rIns="9144" tIns="9144" bIns="9144" anchor="t">
            <a:spAutoFit/>
          </a:bodyPr>
          <a:lstStyle/>
          <a:p>
            <a:pPr algn="l">
              <a:spcAft>
                <a:spcPts val="0"/>
              </a:spcAft>
              <a:defRPr sz="700" b="0">
                <a:solidFill>
                  <a:srgbClr val="4A5563"/>
                </a:solidFill>
                <a:latin typeface="Inter"/>
              </a:defRPr>
            </a:pPr>
            <a:r>
              <a:rPr>
                <a:latin typeface="Inter"/>
              </a:rPr>
              <a:t>of 21</a:t>
            </a:r>
          </a:p>
        </p:txBody>
      </p:sp>
      <p:sp>
        <p:nvSpPr>
          <p:cNvPr id="19" name="Rectangle 18"/>
          <p:cNvSpPr/>
          <p:nvPr/>
        </p:nvSpPr>
        <p:spPr>
          <a:xfrm>
            <a:off x="3394710" y="3686479"/>
            <a:ext cx="2644902" cy="1391256"/>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20" name="Rectangle 19"/>
          <p:cNvSpPr/>
          <p:nvPr/>
        </p:nvSpPr>
        <p:spPr>
          <a:xfrm>
            <a:off x="3394710" y="3686479"/>
            <a:ext cx="2644902" cy="45720"/>
          </a:xfrm>
          <a:prstGeom prst="rect">
            <a:avLst/>
          </a:prstGeom>
          <a:solidFill>
            <a:srgbClr val="F2A93B"/>
          </a:solidFill>
          <a:ln>
            <a:solidFill>
              <a:srgbClr val="F2A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21" name="TextBox 20"/>
          <p:cNvSpPr txBox="1"/>
          <p:nvPr/>
        </p:nvSpPr>
        <p:spPr>
          <a:xfrm>
            <a:off x="3504438" y="3814495"/>
            <a:ext cx="2425446" cy="201168"/>
          </a:xfrm>
          <a:prstGeom prst="rect">
            <a:avLst/>
          </a:prstGeom>
          <a:noFill/>
        </p:spPr>
        <p:txBody>
          <a:bodyPr wrap="none" lIns="9144" rIns="9144" tIns="9144" bIns="9144" anchor="t">
            <a:spAutoFit/>
          </a:bodyPr>
          <a:lstStyle/>
          <a:p>
            <a:pPr algn="l">
              <a:spcAft>
                <a:spcPts val="0"/>
              </a:spcAft>
              <a:defRPr sz="650" b="1">
                <a:solidFill>
                  <a:srgbClr val="4A5563"/>
                </a:solidFill>
                <a:latin typeface="Inter"/>
              </a:defRPr>
            </a:pPr>
            <a:r>
              <a:rPr>
                <a:latin typeface="Inter"/>
              </a:rPr>
              <a:t>PARTLY AVAILABLE</a:t>
            </a:r>
          </a:p>
        </p:txBody>
      </p:sp>
      <p:sp>
        <p:nvSpPr>
          <p:cNvPr id="22" name="TextBox 21"/>
          <p:cNvSpPr txBox="1"/>
          <p:nvPr/>
        </p:nvSpPr>
        <p:spPr>
          <a:xfrm>
            <a:off x="3504438" y="4070527"/>
            <a:ext cx="2425446" cy="475488"/>
          </a:xfrm>
          <a:prstGeom prst="rect">
            <a:avLst/>
          </a:prstGeom>
          <a:noFill/>
        </p:spPr>
        <p:txBody>
          <a:bodyPr wrap="none" lIns="9144" rIns="9144" tIns="9144" bIns="9144" anchor="t">
            <a:spAutoFit/>
          </a:bodyPr>
          <a:lstStyle/>
          <a:p>
            <a:pPr algn="l">
              <a:spcAft>
                <a:spcPts val="0"/>
              </a:spcAft>
              <a:defRPr sz="1800" b="1">
                <a:solidFill>
                  <a:srgbClr val="0D1117"/>
                </a:solidFill>
                <a:latin typeface="Inter"/>
              </a:defRPr>
            </a:pPr>
            <a:r>
              <a:rPr>
                <a:latin typeface="Inter"/>
              </a:rPr>
              <a:t>2</a:t>
            </a:r>
          </a:p>
        </p:txBody>
      </p:sp>
      <p:sp>
        <p:nvSpPr>
          <p:cNvPr id="23" name="TextBox 22"/>
          <p:cNvSpPr txBox="1"/>
          <p:nvPr/>
        </p:nvSpPr>
        <p:spPr>
          <a:xfrm>
            <a:off x="3504438" y="4748551"/>
            <a:ext cx="2425446" cy="228600"/>
          </a:xfrm>
          <a:prstGeom prst="rect">
            <a:avLst/>
          </a:prstGeom>
          <a:noFill/>
        </p:spPr>
        <p:txBody>
          <a:bodyPr wrap="none" lIns="9144" rIns="9144" tIns="9144" bIns="9144" anchor="t">
            <a:spAutoFit/>
          </a:bodyPr>
          <a:lstStyle/>
          <a:p>
            <a:pPr algn="l">
              <a:spcAft>
                <a:spcPts val="0"/>
              </a:spcAft>
              <a:defRPr sz="700" b="0">
                <a:solidFill>
                  <a:srgbClr val="4A5563"/>
                </a:solidFill>
                <a:latin typeface="Inter"/>
              </a:defRPr>
            </a:pPr>
            <a:r>
              <a:rPr>
                <a:latin typeface="Inter"/>
              </a:rPr>
              <a:t>Macro brief · IC memo</a:t>
            </a:r>
          </a:p>
        </p:txBody>
      </p:sp>
      <p:sp>
        <p:nvSpPr>
          <p:cNvPr id="24" name="Rectangle 23"/>
          <p:cNvSpPr/>
          <p:nvPr/>
        </p:nvSpPr>
        <p:spPr>
          <a:xfrm>
            <a:off x="6149340" y="3686479"/>
            <a:ext cx="2644902" cy="1391256"/>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25" name="Rectangle 24"/>
          <p:cNvSpPr/>
          <p:nvPr/>
        </p:nvSpPr>
        <p:spPr>
          <a:xfrm>
            <a:off x="6149340" y="3686479"/>
            <a:ext cx="2644902" cy="45720"/>
          </a:xfrm>
          <a:prstGeom prst="rect">
            <a:avLst/>
          </a:prstGeom>
          <a:solidFill>
            <a:srgbClr val="F2A93B"/>
          </a:solidFill>
          <a:ln>
            <a:solidFill>
              <a:srgbClr val="F2A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26" name="TextBox 25"/>
          <p:cNvSpPr txBox="1"/>
          <p:nvPr/>
        </p:nvSpPr>
        <p:spPr>
          <a:xfrm>
            <a:off x="6259068" y="3814495"/>
            <a:ext cx="2425446" cy="201168"/>
          </a:xfrm>
          <a:prstGeom prst="rect">
            <a:avLst/>
          </a:prstGeom>
          <a:noFill/>
        </p:spPr>
        <p:txBody>
          <a:bodyPr wrap="none" lIns="9144" rIns="9144" tIns="9144" bIns="9144" anchor="t">
            <a:spAutoFit/>
          </a:bodyPr>
          <a:lstStyle/>
          <a:p>
            <a:pPr algn="l">
              <a:spcAft>
                <a:spcPts val="0"/>
              </a:spcAft>
              <a:defRPr sz="650" b="1">
                <a:solidFill>
                  <a:srgbClr val="4A5563"/>
                </a:solidFill>
                <a:latin typeface="Inter"/>
              </a:defRPr>
            </a:pPr>
            <a:r>
              <a:rPr>
                <a:latin typeface="Inter"/>
              </a:rPr>
              <a:t>NOT LICENSED</a:t>
            </a:r>
          </a:p>
        </p:txBody>
      </p:sp>
      <p:sp>
        <p:nvSpPr>
          <p:cNvPr id="27" name="TextBox 26"/>
          <p:cNvSpPr txBox="1"/>
          <p:nvPr/>
        </p:nvSpPr>
        <p:spPr>
          <a:xfrm>
            <a:off x="6259068" y="4070527"/>
            <a:ext cx="2425446" cy="475488"/>
          </a:xfrm>
          <a:prstGeom prst="rect">
            <a:avLst/>
          </a:prstGeom>
          <a:noFill/>
        </p:spPr>
        <p:txBody>
          <a:bodyPr wrap="none" lIns="9144" rIns="9144" tIns="9144" bIns="9144" anchor="t">
            <a:spAutoFit/>
          </a:bodyPr>
          <a:lstStyle/>
          <a:p>
            <a:pPr algn="l">
              <a:spcAft>
                <a:spcPts val="0"/>
              </a:spcAft>
              <a:defRPr sz="1800" b="1">
                <a:solidFill>
                  <a:srgbClr val="0D1117"/>
                </a:solidFill>
                <a:latin typeface="Inter"/>
              </a:defRPr>
            </a:pPr>
            <a:r>
              <a:rPr>
                <a:latin typeface="Inter"/>
              </a:rPr>
              <a:t>2 modules</a:t>
            </a:r>
          </a:p>
        </p:txBody>
      </p:sp>
      <p:sp>
        <p:nvSpPr>
          <p:cNvPr id="28" name="TextBox 27"/>
          <p:cNvSpPr txBox="1"/>
          <p:nvPr/>
        </p:nvSpPr>
        <p:spPr>
          <a:xfrm>
            <a:off x="6259068" y="4748551"/>
            <a:ext cx="2425446" cy="228600"/>
          </a:xfrm>
          <a:prstGeom prst="rect">
            <a:avLst/>
          </a:prstGeom>
          <a:noFill/>
        </p:spPr>
        <p:txBody>
          <a:bodyPr wrap="none" lIns="9144" rIns="9144" tIns="9144" bIns="9144" anchor="t">
            <a:spAutoFit/>
          </a:bodyPr>
          <a:lstStyle/>
          <a:p>
            <a:pPr algn="l">
              <a:spcAft>
                <a:spcPts val="0"/>
              </a:spcAft>
              <a:defRPr sz="700" b="0">
                <a:solidFill>
                  <a:srgbClr val="4A5563"/>
                </a:solidFill>
                <a:latin typeface="Inter"/>
              </a:defRPr>
            </a:pPr>
            <a:r>
              <a:rPr>
                <a:latin typeface="Inter"/>
              </a:rPr>
              <a:t>Portfolio · Strategy Lab</a:t>
            </a:r>
          </a:p>
        </p:txBody>
      </p:sp>
      <p:sp>
        <p:nvSpPr>
          <p:cNvPr id="29" name="Rectangle 28"/>
          <p:cNvSpPr/>
          <p:nvPr/>
        </p:nvSpPr>
        <p:spPr>
          <a:xfrm>
            <a:off x="8903970" y="3686479"/>
            <a:ext cx="2644902" cy="1391256"/>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0" name="Rectangle 29"/>
          <p:cNvSpPr/>
          <p:nvPr/>
        </p:nvSpPr>
        <p:spPr>
          <a:xfrm>
            <a:off x="8903970" y="3686479"/>
            <a:ext cx="2644902" cy="45720"/>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1" name="TextBox 30"/>
          <p:cNvSpPr txBox="1"/>
          <p:nvPr/>
        </p:nvSpPr>
        <p:spPr>
          <a:xfrm>
            <a:off x="9013698" y="3814495"/>
            <a:ext cx="2425446" cy="201168"/>
          </a:xfrm>
          <a:prstGeom prst="rect">
            <a:avLst/>
          </a:prstGeom>
          <a:noFill/>
        </p:spPr>
        <p:txBody>
          <a:bodyPr wrap="none" lIns="9144" rIns="9144" tIns="9144" bIns="9144" anchor="t">
            <a:spAutoFit/>
          </a:bodyPr>
          <a:lstStyle/>
          <a:p>
            <a:pPr algn="l">
              <a:spcAft>
                <a:spcPts val="0"/>
              </a:spcAft>
              <a:defRPr sz="650" b="1">
                <a:solidFill>
                  <a:srgbClr val="4A5563"/>
                </a:solidFill>
                <a:latin typeface="Inter"/>
              </a:defRPr>
            </a:pPr>
            <a:r>
              <a:rPr>
                <a:latin typeface="Inter"/>
              </a:rPr>
              <a:t>CHECKS PASSED</a:t>
            </a:r>
          </a:p>
        </p:txBody>
      </p:sp>
      <p:sp>
        <p:nvSpPr>
          <p:cNvPr id="32" name="TextBox 31"/>
          <p:cNvSpPr txBox="1"/>
          <p:nvPr/>
        </p:nvSpPr>
        <p:spPr>
          <a:xfrm>
            <a:off x="9013698" y="4070527"/>
            <a:ext cx="2425446" cy="475488"/>
          </a:xfrm>
          <a:prstGeom prst="rect">
            <a:avLst/>
          </a:prstGeom>
          <a:noFill/>
        </p:spPr>
        <p:txBody>
          <a:bodyPr wrap="none" lIns="9144" rIns="9144" tIns="9144" bIns="9144" anchor="t">
            <a:spAutoFit/>
          </a:bodyPr>
          <a:lstStyle/>
          <a:p>
            <a:pPr algn="l">
              <a:spcAft>
                <a:spcPts val="0"/>
              </a:spcAft>
              <a:defRPr sz="1800" b="1">
                <a:solidFill>
                  <a:srgbClr val="0D1117"/>
                </a:solidFill>
                <a:latin typeface="Inter"/>
              </a:defRPr>
            </a:pPr>
            <a:r>
              <a:rPr>
                <a:latin typeface="Inter"/>
              </a:rPr>
              <a:t>13 / 14</a:t>
            </a:r>
          </a:p>
        </p:txBody>
      </p:sp>
      <p:sp>
        <p:nvSpPr>
          <p:cNvPr id="33" name="TextBox 32"/>
          <p:cNvSpPr txBox="1"/>
          <p:nvPr/>
        </p:nvSpPr>
        <p:spPr>
          <a:xfrm>
            <a:off x="9013698" y="4748551"/>
            <a:ext cx="2425446" cy="228600"/>
          </a:xfrm>
          <a:prstGeom prst="rect">
            <a:avLst/>
          </a:prstGeom>
          <a:noFill/>
        </p:spPr>
        <p:txBody>
          <a:bodyPr wrap="none" lIns="9144" rIns="9144" tIns="9144" bIns="9144" anchor="t">
            <a:spAutoFit/>
          </a:bodyPr>
          <a:lstStyle/>
          <a:p>
            <a:pPr algn="l">
              <a:spcAft>
                <a:spcPts val="0"/>
              </a:spcAft>
              <a:defRPr sz="700" b="0">
                <a:solidFill>
                  <a:srgbClr val="4A5563"/>
                </a:solidFill>
                <a:latin typeface="Inter"/>
              </a:defRPr>
            </a:pPr>
            <a:r>
              <a:rPr>
                <a:latin typeface="Inter"/>
              </a:rPr>
              <a:t>1 unavailable check</a:t>
            </a:r>
          </a:p>
        </p:txBody>
      </p:sp>
      <p:sp>
        <p:nvSpPr>
          <p:cNvPr id="34" name="Rectangle 33"/>
          <p:cNvSpPr/>
          <p:nvPr/>
        </p:nvSpPr>
        <p:spPr>
          <a:xfrm>
            <a:off x="640080" y="5187463"/>
            <a:ext cx="10908792" cy="1030456"/>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5" name="Rectangle 34"/>
          <p:cNvSpPr/>
          <p:nvPr/>
        </p:nvSpPr>
        <p:spPr>
          <a:xfrm>
            <a:off x="640080" y="5187463"/>
            <a:ext cx="54864" cy="1030456"/>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6" name="TextBox 35"/>
          <p:cNvSpPr txBox="1"/>
          <p:nvPr/>
        </p:nvSpPr>
        <p:spPr>
          <a:xfrm>
            <a:off x="804671" y="5297191"/>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What to do next</a:t>
            </a:r>
          </a:p>
        </p:txBody>
      </p:sp>
      <p:sp>
        <p:nvSpPr>
          <p:cNvPr id="37" name="TextBox 36"/>
          <p:cNvSpPr txBox="1"/>
          <p:nvPr/>
        </p:nvSpPr>
        <p:spPr>
          <a:xfrm>
            <a:off x="804671" y="5580655"/>
            <a:ext cx="10616184" cy="545824"/>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Nothing is blocking day-to-day use. To write IC memos from live portfolio data, license the Portfolio and Strategy Lab modules; until then the memo can be written from holdings you supply.</a:t>
            </a:r>
          </a:p>
        </p:txBody>
      </p:sp>
      <p:sp>
        <p:nvSpPr>
          <p:cNvPr id="38" name="Rectangle 37"/>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9" name="TextBox 38"/>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S1 · S2 · S3</a:t>
            </a:r>
          </a:p>
        </p:txBody>
      </p:sp>
      <p:sp>
        <p:nvSpPr>
          <p:cNvPr id="40" name="TextBox 39"/>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operational readiness review · Data as of 2026-10-04</a:t>
            </a:r>
          </a:p>
        </p:txBody>
      </p:sp>
      <p:sp>
        <p:nvSpPr>
          <p:cNvPr id="41" name="TextBox 40"/>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9875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STATUS OF EACH SKILL FOR THIS ORGANIZATION</a:t>
            </a:r>
          </a:p>
        </p:txBody>
      </p:sp>
      <p:sp>
        <p:nvSpPr>
          <p:cNvPr id="4" name="TextBox 3"/>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Skills you can use</a:t>
            </a:r>
          </a:p>
        </p:txBody>
      </p:sp>
      <p:sp>
        <p:nvSpPr>
          <p:cNvPr id="5" name="Rectangle 4"/>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6" name="Rectangle 5"/>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TextBox 6"/>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02</a:t>
            </a:r>
          </a:p>
        </p:txBody>
      </p:sp>
      <p:sp>
        <p:nvSpPr>
          <p:cNvPr id="8" name="TextBox 7"/>
          <p:cNvSpPr txBox="1"/>
          <p:nvPr/>
        </p:nvSpPr>
        <p:spPr>
          <a:xfrm>
            <a:off x="640080" y="1325880"/>
            <a:ext cx="1090879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rPr>
                <a:latin typeface="Inter"/>
              </a:rPr>
              <a:t>READY</a:t>
            </a:r>
          </a:p>
        </p:txBody>
      </p:sp>
      <p:graphicFrame>
        <p:nvGraphicFramePr>
          <p:cNvPr id="9" name="Table 8"/>
          <p:cNvGraphicFramePr>
            <a:graphicFrameLocks noGrp="1"/>
          </p:cNvGraphicFramePr>
          <p:nvPr/>
        </p:nvGraphicFramePr>
        <p:xfrm>
          <a:off x="640080" y="1600200"/>
          <a:ext cx="10908792" cy="3152495"/>
        </p:xfrm>
        <a:graphic>
          <a:graphicData uri="http://schemas.openxmlformats.org/drawingml/2006/table">
            <a:tbl>
              <a:tblPr firstRow="1" bandRow="1">
                <a:tableStyleId>{5C22544A-7EE6-4342-B048-85BDC9FD1C3A}</a:tableStyleId>
              </a:tblPr>
              <a:tblGrid>
                <a:gridCol w="2011680"/>
                <a:gridCol w="4448556"/>
                <a:gridCol w="4448556"/>
              </a:tblGrid>
              <a:tr h="525415">
                <a:tc>
                  <a:txBody>
                    <a:bodyPr/>
                    <a:lstStyle/>
                    <a:p>
                      <a:pPr>
                        <a:defRPr sz="750" b="1">
                          <a:solidFill>
                            <a:srgbClr val="FFFFFF"/>
                          </a:solidFill>
                          <a:latin typeface="Inter"/>
                        </a:defRPr>
                      </a:pPr>
                      <a:r>
                        <a:rPr>
                          <a:latin typeface="Inter"/>
                        </a:rPr>
                        <a:t>Skill</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Produces</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Note</a:t>
                      </a:r>
                    </a:p>
                  </a:txBody>
                  <a:tcPr marL="54864" marR="54864" marT="27432" marB="27432" anchor="ctr">
                    <a:solidFill>
                      <a:srgbClr val="0D1117"/>
                    </a:solidFill>
                  </a:tcPr>
                </a:tc>
              </a:tr>
              <a:tr h="525415">
                <a:tc>
                  <a:txBody>
                    <a:bodyPr/>
                    <a:lstStyle/>
                    <a:p>
                      <a:pPr>
                        <a:defRPr sz="800" b="1">
                          <a:solidFill>
                            <a:srgbClr val="0D1117"/>
                          </a:solidFill>
                          <a:latin typeface="Inter"/>
                        </a:defRPr>
                      </a:pPr>
                      <a:r>
                        <a:rPr>
                          <a:latin typeface="Inter"/>
                        </a:rPr>
                        <a:t>gradient-odd-report</a:t>
                      </a:r>
                    </a:p>
                  </a:txBody>
                  <a:tcPr marL="54864" marR="54864" marT="27432" marB="27432" anchor="ctr">
                    <a:solidFill>
                      <a:srgbClr val="FFFFFF"/>
                    </a:solidFill>
                  </a:tcPr>
                </a:tc>
                <a:tc>
                  <a:txBody>
                    <a:bodyPr/>
                    <a:lstStyle/>
                    <a:p>
                      <a:pPr>
                        <a:defRPr sz="800" b="0">
                          <a:solidFill>
                            <a:srgbClr val="0D1117"/>
                          </a:solidFill>
                          <a:latin typeface="Inter"/>
                        </a:defRPr>
                      </a:pPr>
                      <a:r>
                        <a:rPr>
                          <a:latin typeface="Inter"/>
                        </a:rPr>
                        <a:t>ODD report</a:t>
                      </a:r>
                    </a:p>
                  </a:txBody>
                  <a:tcPr marL="54864" marR="54864" marT="27432" marB="27432" anchor="ctr">
                    <a:solidFill>
                      <a:srgbClr val="FFFFFF"/>
                    </a:solidFill>
                  </a:tcPr>
                </a:tc>
                <a:tc>
                  <a:txBody>
                    <a:bodyPr/>
                    <a:lstStyle/>
                    <a:p>
                      <a:pPr>
                        <a:defRPr sz="800" b="0">
                          <a:solidFill>
                            <a:srgbClr val="0D1117"/>
                          </a:solidFill>
                          <a:latin typeface="Inter"/>
                        </a:defRPr>
                      </a:pPr>
                      <a:r>
                        <a:rPr>
                          <a:latin typeface="Inter"/>
                        </a:rPr>
                        <a:t>Event feed not published; reports disclose the gap</a:t>
                      </a:r>
                    </a:p>
                  </a:txBody>
                  <a:tcPr marL="54864" marR="54864" marT="27432" marB="27432" anchor="ctr">
                    <a:solidFill>
                      <a:srgbClr val="FFFFFF"/>
                    </a:solidFill>
                  </a:tcPr>
                </a:tc>
              </a:tr>
              <a:tr h="525415">
                <a:tc>
                  <a:txBody>
                    <a:bodyPr/>
                    <a:lstStyle/>
                    <a:p>
                      <a:pPr>
                        <a:defRPr sz="800" b="1">
                          <a:solidFill>
                            <a:srgbClr val="0D1117"/>
                          </a:solidFill>
                          <a:latin typeface="Inter"/>
                        </a:defRPr>
                      </a:pPr>
                      <a:r>
                        <a:rPr>
                          <a:latin typeface="Inter"/>
                        </a:rPr>
                        <a:t>gradient-odd-ddq-reconcile</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DDQ reconciliation</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One subject per call</a:t>
                      </a:r>
                    </a:p>
                  </a:txBody>
                  <a:tcPr marL="54864" marR="54864" marT="27432" marB="27432" anchor="ctr">
                    <a:solidFill>
                      <a:srgbClr val="F5F7F9"/>
                    </a:solidFill>
                  </a:tcPr>
                </a:tc>
              </a:tr>
              <a:tr h="525415">
                <a:tc>
                  <a:txBody>
                    <a:bodyPr/>
                    <a:lstStyle/>
                    <a:p>
                      <a:pPr>
                        <a:defRPr sz="800" b="1">
                          <a:solidFill>
                            <a:srgbClr val="0D1117"/>
                          </a:solidFill>
                          <a:latin typeface="Inter"/>
                        </a:defRPr>
                      </a:pPr>
                      <a:r>
                        <a:rPr>
                          <a:latin typeface="Inter"/>
                        </a:rPr>
                        <a:t>gradient-odd-manager-monitor</a:t>
                      </a:r>
                    </a:p>
                  </a:txBody>
                  <a:tcPr marL="54864" marR="54864" marT="27432" marB="27432" anchor="ctr">
                    <a:solidFill>
                      <a:srgbClr val="FFFFFF"/>
                    </a:solidFill>
                  </a:tcPr>
                </a:tc>
                <a:tc>
                  <a:txBody>
                    <a:bodyPr/>
                    <a:lstStyle/>
                    <a:p>
                      <a:pPr>
                        <a:defRPr sz="800" b="0">
                          <a:solidFill>
                            <a:srgbClr val="0D1117"/>
                          </a:solidFill>
                          <a:latin typeface="Inter"/>
                        </a:defRPr>
                      </a:pPr>
                      <a:r>
                        <a:rPr>
                          <a:latin typeface="Inter"/>
                        </a:rPr>
                        <a:t>Weekly digest</a:t>
                      </a:r>
                    </a:p>
                  </a:txBody>
                  <a:tcPr marL="54864" marR="54864" marT="27432" marB="27432" anchor="ctr">
                    <a:solidFill>
                      <a:srgbClr val="FFFFFF"/>
                    </a:solidFill>
                  </a:tcPr>
                </a:tc>
                <a:tc>
                  <a:txBody>
                    <a:bodyPr/>
                    <a:lstStyle/>
                    <a:p>
                      <a:pPr>
                        <a:defRPr sz="800" b="0">
                          <a:solidFill>
                            <a:srgbClr val="0D1117"/>
                          </a:solidFill>
                          <a:latin typeface="Inter"/>
                        </a:defRPr>
                      </a:pPr>
                      <a:r>
                        <a:rPr>
                          <a:latin typeface="Inter"/>
                        </a:rPr>
                        <a:t>1 roster fund monitored</a:t>
                      </a:r>
                    </a:p>
                  </a:txBody>
                  <a:tcPr marL="54864" marR="54864" marT="27432" marB="27432" anchor="ctr">
                    <a:solidFill>
                      <a:srgbClr val="FFFFFF"/>
                    </a:solidFill>
                  </a:tcPr>
                </a:tc>
              </a:tr>
              <a:tr h="525415">
                <a:tc>
                  <a:txBody>
                    <a:bodyPr/>
                    <a:lstStyle/>
                    <a:p>
                      <a:pPr>
                        <a:defRPr sz="800" b="1">
                          <a:solidFill>
                            <a:srgbClr val="0D1117"/>
                          </a:solidFill>
                          <a:latin typeface="Inter"/>
                        </a:defRPr>
                      </a:pPr>
                      <a:r>
                        <a:rPr>
                          <a:latin typeface="Inter"/>
                        </a:rPr>
                        <a:t>gradient-gips-* (5)</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GIPS reviews</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Works from supplied documents</a:t>
                      </a:r>
                    </a:p>
                  </a:txBody>
                  <a:tcPr marL="54864" marR="54864" marT="27432" marB="27432" anchor="ctr">
                    <a:solidFill>
                      <a:srgbClr val="F5F7F9"/>
                    </a:solidFill>
                  </a:tcPr>
                </a:tc>
              </a:tr>
              <a:tr h="525420">
                <a:tc>
                  <a:txBody>
                    <a:bodyPr/>
                    <a:lstStyle/>
                    <a:p>
                      <a:pPr>
                        <a:defRPr sz="800" b="1">
                          <a:solidFill>
                            <a:srgbClr val="0D1117"/>
                          </a:solidFill>
                          <a:latin typeface="Inter"/>
                        </a:defRPr>
                      </a:pPr>
                      <a:r>
                        <a:rPr>
                          <a:latin typeface="Inter"/>
                        </a:rPr>
                        <a:t>gradient-setup</a:t>
                      </a:r>
                    </a:p>
                  </a:txBody>
                  <a:tcPr marL="54864" marR="54864" marT="27432" marB="27432" anchor="ctr">
                    <a:solidFill>
                      <a:srgbClr val="FFFFFF"/>
                    </a:solidFill>
                  </a:tcPr>
                </a:tc>
                <a:tc>
                  <a:txBody>
                    <a:bodyPr/>
                    <a:lstStyle/>
                    <a:p>
                      <a:pPr>
                        <a:defRPr sz="800" b="0">
                          <a:solidFill>
                            <a:srgbClr val="0D1117"/>
                          </a:solidFill>
                          <a:latin typeface="Inter"/>
                        </a:defRPr>
                      </a:pPr>
                      <a:r>
                        <a:rPr>
                          <a:latin typeface="Inter"/>
                        </a:rPr>
                        <a:t>Readiness report</a:t>
                      </a:r>
                    </a:p>
                  </a:txBody>
                  <a:tcPr marL="54864" marR="54864" marT="27432" marB="27432" anchor="ctr">
                    <a:solidFill>
                      <a:srgbClr val="FFFFFF"/>
                    </a:solidFill>
                  </a:tcPr>
                </a:tc>
                <a:tc>
                  <a:txBody>
                    <a:bodyPr/>
                    <a:lstStyle/>
                    <a:p>
                      <a:pPr>
                        <a:defRPr sz="800" b="0">
                          <a:solidFill>
                            <a:srgbClr val="0D1117"/>
                          </a:solidFill>
                          <a:latin typeface="Inter"/>
                        </a:defRPr>
                      </a:pPr>
                      <a:r>
                        <a:rPr>
                          <a:latin typeface="Inter"/>
                        </a:rPr>
                        <a:t>Current check</a:t>
                      </a:r>
                    </a:p>
                  </a:txBody>
                  <a:tcPr marL="54864" marR="54864" marT="27432" marB="27432" anchor="ctr">
                    <a:solidFill>
                      <a:srgbClr val="FFFFFF"/>
                    </a:solidFill>
                  </a:tcPr>
                </a:tc>
              </a:tr>
            </a:tbl>
          </a:graphicData>
        </a:graphic>
      </p:graphicFrame>
      <p:sp>
        <p:nvSpPr>
          <p:cNvPr id="10" name="TextBox 9"/>
          <p:cNvSpPr txBox="1"/>
          <p:nvPr/>
        </p:nvSpPr>
        <p:spPr>
          <a:xfrm>
            <a:off x="640080" y="4862423"/>
            <a:ext cx="1090879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rPr>
                <a:latin typeface="Inter"/>
              </a:rPr>
              <a:t>PARTLY AVAILABLE</a:t>
            </a:r>
          </a:p>
        </p:txBody>
      </p:sp>
      <p:graphicFrame>
        <p:nvGraphicFramePr>
          <p:cNvPr id="11" name="Table 10"/>
          <p:cNvGraphicFramePr>
            <a:graphicFrameLocks noGrp="1"/>
          </p:cNvGraphicFramePr>
          <p:nvPr/>
        </p:nvGraphicFramePr>
        <p:xfrm>
          <a:off x="640080" y="5136743"/>
          <a:ext cx="10908792" cy="1081176"/>
        </p:xfrm>
        <a:graphic>
          <a:graphicData uri="http://schemas.openxmlformats.org/drawingml/2006/table">
            <a:tbl>
              <a:tblPr firstRow="1" bandRow="1">
                <a:tableStyleId>{5C22544A-7EE6-4342-B048-85BDC9FD1C3A}</a:tableStyleId>
              </a:tblPr>
              <a:tblGrid>
                <a:gridCol w="2011680"/>
                <a:gridCol w="4448556"/>
                <a:gridCol w="4448556"/>
              </a:tblGrid>
              <a:tr h="540588">
                <a:tc>
                  <a:txBody>
                    <a:bodyPr/>
                    <a:lstStyle/>
                    <a:p>
                      <a:pPr>
                        <a:defRPr sz="750" b="1">
                          <a:solidFill>
                            <a:srgbClr val="FFFFFF"/>
                          </a:solidFill>
                          <a:latin typeface="Inter"/>
                        </a:defRPr>
                      </a:pPr>
                      <a:r>
                        <a:rPr>
                          <a:latin typeface="Inter"/>
                        </a:rPr>
                        <a:t>Skill</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Produces</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Note</a:t>
                      </a:r>
                    </a:p>
                  </a:txBody>
                  <a:tcPr marL="54864" marR="54864" marT="27432" marB="27432" anchor="ctr">
                    <a:solidFill>
                      <a:srgbClr val="0D1117"/>
                    </a:solidFill>
                  </a:tcPr>
                </a:tc>
              </a:tr>
              <a:tr h="540588">
                <a:tc>
                  <a:txBody>
                    <a:bodyPr/>
                    <a:lstStyle/>
                    <a:p>
                      <a:pPr>
                        <a:defRPr sz="800" b="1">
                          <a:solidFill>
                            <a:srgbClr val="0D1117"/>
                          </a:solidFill>
                          <a:latin typeface="Inter"/>
                        </a:defRPr>
                      </a:pPr>
                      <a:r>
                        <a:rPr>
                          <a:latin typeface="Inter"/>
                        </a:rPr>
                        <a:t>gradient-decision-ic-memo</a:t>
                      </a:r>
                    </a:p>
                  </a:txBody>
                  <a:tcPr marL="54864" marR="54864" marT="27432" marB="27432" anchor="ctr">
                    <a:solidFill>
                      <a:srgbClr val="FFFFFF"/>
                    </a:solidFill>
                  </a:tcPr>
                </a:tc>
                <a:tc>
                  <a:txBody>
                    <a:bodyPr/>
                    <a:lstStyle/>
                    <a:p>
                      <a:pPr>
                        <a:defRPr sz="800" b="0">
                          <a:solidFill>
                            <a:srgbClr val="0D1117"/>
                          </a:solidFill>
                          <a:latin typeface="Inter"/>
                        </a:defRPr>
                      </a:pPr>
                      <a:r>
                        <a:rPr>
                          <a:latin typeface="Inter"/>
                        </a:rPr>
                        <a:t>IC memo</a:t>
                      </a:r>
                    </a:p>
                  </a:txBody>
                  <a:tcPr marL="54864" marR="54864" marT="27432" marB="27432" anchor="ctr">
                    <a:solidFill>
                      <a:srgbClr val="FFFFFF"/>
                    </a:solidFill>
                  </a:tcPr>
                </a:tc>
                <a:tc>
                  <a:txBody>
                    <a:bodyPr/>
                    <a:lstStyle/>
                    <a:p>
                      <a:pPr>
                        <a:defRPr sz="800" b="0">
                          <a:solidFill>
                            <a:srgbClr val="0D1117"/>
                          </a:solidFill>
                          <a:latin typeface="Inter"/>
                        </a:defRPr>
                      </a:pPr>
                      <a:r>
                        <a:rPr>
                          <a:latin typeface="Inter"/>
                        </a:rPr>
                        <a:t>Portfolio core: Not licensed; Strategy Lab supplement: Not licensed (optional). Use supplied holdings</a:t>
                      </a:r>
                    </a:p>
                  </a:txBody>
                  <a:tcPr marL="54864" marR="54864" marT="27432" marB="27432" anchor="ctr">
                    <a:solidFill>
                      <a:srgbClr val="FFFFFF"/>
                    </a:solidFill>
                  </a:tcPr>
                </a:tc>
              </a:tr>
            </a:tbl>
          </a:graphicData>
        </a:graphic>
      </p:graphicFrame>
      <p:sp>
        <p:nvSpPr>
          <p:cNvPr id="12" name="Rectangle 11"/>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3" name="TextBox 12"/>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none cited</a:t>
            </a:r>
          </a:p>
        </p:txBody>
      </p:sp>
      <p:sp>
        <p:nvSpPr>
          <p:cNvPr id="14" name="TextBox 13"/>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operational readiness review · Data as of 2026-10-04</a:t>
            </a:r>
          </a:p>
        </p:txBody>
      </p:sp>
      <p:sp>
        <p:nvSpPr>
          <p:cNvPr id="15" name="TextBox 14"/>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9875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ORGANIZATION, MODULES AND DATA DOMAINS</a:t>
            </a:r>
          </a:p>
        </p:txBody>
      </p:sp>
      <p:sp>
        <p:nvSpPr>
          <p:cNvPr id="4" name="TextBox 3"/>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Access and data</a:t>
            </a:r>
          </a:p>
        </p:txBody>
      </p:sp>
      <p:sp>
        <p:nvSpPr>
          <p:cNvPr id="5" name="Rectangle 4"/>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6" name="Rectangle 5"/>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TextBox 6"/>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03</a:t>
            </a:r>
          </a:p>
        </p:txBody>
      </p:sp>
      <p:sp>
        <p:nvSpPr>
          <p:cNvPr id="8" name="TextBox 7"/>
          <p:cNvSpPr txBox="1"/>
          <p:nvPr/>
        </p:nvSpPr>
        <p:spPr>
          <a:xfrm>
            <a:off x="640080" y="1325880"/>
            <a:ext cx="1090879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rPr>
                <a:latin typeface="Inter"/>
              </a:rPr>
              <a:t>ORGANIZATION</a:t>
            </a:r>
          </a:p>
        </p:txBody>
      </p:sp>
      <p:graphicFrame>
        <p:nvGraphicFramePr>
          <p:cNvPr id="9" name="Table 8"/>
          <p:cNvGraphicFramePr>
            <a:graphicFrameLocks noGrp="1"/>
          </p:cNvGraphicFramePr>
          <p:nvPr/>
        </p:nvGraphicFramePr>
        <p:xfrm>
          <a:off x="640080" y="1600200"/>
          <a:ext cx="10908792" cy="4617720"/>
        </p:xfrm>
        <a:graphic>
          <a:graphicData uri="http://schemas.openxmlformats.org/drawingml/2006/table">
            <a:tbl>
              <a:tblPr firstRow="1" bandRow="1">
                <a:tableStyleId>{5C22544A-7EE6-4342-B048-85BDC9FD1C3A}</a:tableStyleId>
              </a:tblPr>
              <a:tblGrid>
                <a:gridCol w="2011680"/>
                <a:gridCol w="8897112"/>
              </a:tblGrid>
              <a:tr h="659674">
                <a:tc>
                  <a:txBody>
                    <a:bodyPr/>
                    <a:lstStyle/>
                    <a:p>
                      <a:pPr>
                        <a:defRPr sz="800" b="1">
                          <a:solidFill>
                            <a:srgbClr val="0D1117"/>
                          </a:solidFill>
                          <a:latin typeface="Inter"/>
                        </a:defRPr>
                      </a:pPr>
                      <a:r>
                        <a:rPr>
                          <a:latin typeface="Inter"/>
                        </a:rPr>
                        <a:t>Name</a:t>
                      </a:r>
                    </a:p>
                  </a:txBody>
                  <a:tcPr marL="54864" marR="54864" marT="27432" marB="27432" anchor="ctr">
                    <a:solidFill>
                      <a:srgbClr val="FFFFFF"/>
                    </a:solidFill>
                  </a:tcPr>
                </a:tc>
                <a:tc>
                  <a:txBody>
                    <a:bodyPr/>
                    <a:lstStyle/>
                    <a:p>
                      <a:pPr>
                        <a:defRPr sz="800" b="0">
                          <a:solidFill>
                            <a:srgbClr val="0D1117"/>
                          </a:solidFill>
                          <a:latin typeface="Inter"/>
                        </a:defRPr>
                      </a:pPr>
                      <a:r>
                        <a:rPr>
                          <a:latin typeface="Inter"/>
                        </a:rPr>
                        <a:t>Gradient [S1]</a:t>
                      </a:r>
                    </a:p>
                  </a:txBody>
                  <a:tcPr marL="54864" marR="54864" marT="27432" marB="27432" anchor="ctr">
                    <a:solidFill>
                      <a:srgbClr val="FFFFFF"/>
                    </a:solidFill>
                  </a:tcPr>
                </a:tc>
              </a:tr>
              <a:tr h="659674">
                <a:tc>
                  <a:txBody>
                    <a:bodyPr/>
                    <a:lstStyle/>
                    <a:p>
                      <a:pPr>
                        <a:defRPr sz="800" b="1">
                          <a:solidFill>
                            <a:srgbClr val="0D1117"/>
                          </a:solidFill>
                          <a:latin typeface="Inter"/>
                        </a:defRPr>
                      </a:pPr>
                      <a:r>
                        <a:rPr>
                          <a:latin typeface="Inter"/>
                        </a:rPr>
                        <a:t>Role</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Admin [S1]</a:t>
                      </a:r>
                    </a:p>
                  </a:txBody>
                  <a:tcPr marL="54864" marR="54864" marT="27432" marB="27432" anchor="ctr">
                    <a:solidFill>
                      <a:srgbClr val="F5F7F9"/>
                    </a:solidFill>
                  </a:tcPr>
                </a:tc>
              </a:tr>
              <a:tr h="659674">
                <a:tc>
                  <a:txBody>
                    <a:bodyPr/>
                    <a:lstStyle/>
                    <a:p>
                      <a:pPr>
                        <a:defRPr sz="800" b="1">
                          <a:solidFill>
                            <a:srgbClr val="0D1117"/>
                          </a:solidFill>
                          <a:latin typeface="Inter"/>
                        </a:defRPr>
                      </a:pPr>
                      <a:r>
                        <a:rPr>
                          <a:latin typeface="Inter"/>
                        </a:rPr>
                        <a:t>Licensed modules</a:t>
                      </a:r>
                    </a:p>
                  </a:txBody>
                  <a:tcPr marL="54864" marR="54864" marT="27432" marB="27432" anchor="ctr">
                    <a:solidFill>
                      <a:srgbClr val="FFFFFF"/>
                    </a:solidFill>
                  </a:tcPr>
                </a:tc>
                <a:tc>
                  <a:txBody>
                    <a:bodyPr/>
                    <a:lstStyle/>
                    <a:p>
                      <a:pPr>
                        <a:defRPr sz="800" b="0">
                          <a:solidFill>
                            <a:srgbClr val="0D1117"/>
                          </a:solidFill>
                          <a:latin typeface="Inter"/>
                        </a:defRPr>
                      </a:pPr>
                      <a:r>
                        <a:rPr>
                          <a:latin typeface="Inter"/>
                        </a:rPr>
                        <a:t>Firm &amp; fund diligence, Research, Macro desk, Gradient signals [S1]</a:t>
                      </a:r>
                    </a:p>
                  </a:txBody>
                  <a:tcPr marL="54864" marR="54864" marT="27432" marB="27432" anchor="ctr">
                    <a:solidFill>
                      <a:srgbClr val="FFFFFF"/>
                    </a:solidFill>
                  </a:tcPr>
                </a:tc>
              </a:tr>
              <a:tr h="659674">
                <a:tc>
                  <a:txBody>
                    <a:bodyPr/>
                    <a:lstStyle/>
                    <a:p>
                      <a:pPr>
                        <a:defRPr sz="800" b="1">
                          <a:solidFill>
                            <a:srgbClr val="0D1117"/>
                          </a:solidFill>
                          <a:latin typeface="Inter"/>
                        </a:defRPr>
                      </a:pPr>
                      <a:r>
                        <a:rPr>
                          <a:latin typeface="Inter"/>
                        </a:rPr>
                        <a:t>Not licensed</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Portfolio, Strategy Lab, Peer intelligence [S2]</a:t>
                      </a:r>
                    </a:p>
                  </a:txBody>
                  <a:tcPr marL="54864" marR="54864" marT="27432" marB="27432" anchor="ctr">
                    <a:solidFill>
                      <a:srgbClr val="F5F7F9"/>
                    </a:solidFill>
                  </a:tcPr>
                </a:tc>
              </a:tr>
              <a:tr h="659674">
                <a:tc>
                  <a:txBody>
                    <a:bodyPr/>
                    <a:lstStyle/>
                    <a:p>
                      <a:pPr>
                        <a:defRPr sz="800" b="1">
                          <a:solidFill>
                            <a:srgbClr val="0D1117"/>
                          </a:solidFill>
                          <a:latin typeface="Inter"/>
                        </a:defRPr>
                      </a:pPr>
                      <a:r>
                        <a:rPr>
                          <a:latin typeface="Inter"/>
                        </a:rPr>
                        <a:t>Tools entitled</a:t>
                      </a:r>
                    </a:p>
                  </a:txBody>
                  <a:tcPr marL="54864" marR="54864" marT="27432" marB="27432" anchor="ctr">
                    <a:solidFill>
                      <a:srgbClr val="FFFFFF"/>
                    </a:solidFill>
                  </a:tcPr>
                </a:tc>
                <a:tc>
                  <a:txBody>
                    <a:bodyPr/>
                    <a:lstStyle/>
                    <a:p>
                      <a:pPr>
                        <a:defRPr sz="800" b="0">
                          <a:solidFill>
                            <a:srgbClr val="0D1117"/>
                          </a:solidFill>
                          <a:latin typeface="Inter"/>
                        </a:defRPr>
                      </a:pPr>
                      <a:r>
                        <a:rPr>
                          <a:latin typeface="Inter"/>
                        </a:rPr>
                        <a:t>44 of 63 [S2]</a:t>
                      </a:r>
                    </a:p>
                  </a:txBody>
                  <a:tcPr marL="54864" marR="54864" marT="27432" marB="27432" anchor="ctr">
                    <a:solidFill>
                      <a:srgbClr val="FFFFFF"/>
                    </a:solidFill>
                  </a:tcPr>
                </a:tc>
              </a:tr>
              <a:tr h="659674">
                <a:tc>
                  <a:txBody>
                    <a:bodyPr/>
                    <a:lstStyle/>
                    <a:p>
                      <a:pPr>
                        <a:defRPr sz="800" b="1">
                          <a:solidFill>
                            <a:srgbClr val="0D1117"/>
                          </a:solidFill>
                          <a:latin typeface="Inter"/>
                        </a:defRPr>
                      </a:pPr>
                      <a:r>
                        <a:rPr>
                          <a:latin typeface="Inter"/>
                        </a:rPr>
                        <a:t>Backend</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Ready [S2]</a:t>
                      </a:r>
                    </a:p>
                  </a:txBody>
                  <a:tcPr marL="54864" marR="54864" marT="27432" marB="27432" anchor="ctr">
                    <a:solidFill>
                      <a:srgbClr val="F5F7F9"/>
                    </a:solidFill>
                  </a:tcPr>
                </a:tc>
              </a:tr>
              <a:tr h="659676">
                <a:tc>
                  <a:txBody>
                    <a:bodyPr/>
                    <a:lstStyle/>
                    <a:p>
                      <a:pPr>
                        <a:defRPr sz="800" b="1">
                          <a:solidFill>
                            <a:srgbClr val="0D1117"/>
                          </a:solidFill>
                          <a:latin typeface="Inter"/>
                        </a:defRPr>
                      </a:pPr>
                      <a:r>
                        <a:rPr>
                          <a:latin typeface="Inter"/>
                        </a:rPr>
                        <a:t>Roster capacity</a:t>
                      </a:r>
                    </a:p>
                  </a:txBody>
                  <a:tcPr marL="54864" marR="54864" marT="27432" marB="27432" anchor="ctr">
                    <a:solidFill>
                      <a:srgbClr val="FFFFFF"/>
                    </a:solidFill>
                  </a:tcPr>
                </a:tc>
                <a:tc>
                  <a:txBody>
                    <a:bodyPr/>
                    <a:lstStyle/>
                    <a:p>
                      <a:pPr>
                        <a:defRPr sz="800" b="0">
                          <a:solidFill>
                            <a:srgbClr val="0D1117"/>
                          </a:solidFill>
                          <a:latin typeface="Inter"/>
                        </a:defRPr>
                      </a:pPr>
                      <a:r>
                        <a:rPr>
                          <a:latin typeface="Inter"/>
                        </a:rPr>
                        <a:t>1 of 3 fund slots used [S4]</a:t>
                      </a:r>
                    </a:p>
                  </a:txBody>
                  <a:tcPr marL="54864" marR="54864" marT="27432" marB="27432" anchor="ctr">
                    <a:solidFill>
                      <a:srgbClr val="FFFFFF"/>
                    </a:solidFill>
                  </a:tcPr>
                </a:tc>
              </a:tr>
            </a:tbl>
          </a:graphicData>
        </a:graphic>
      </p:graphicFrame>
      <p:sp>
        <p:nvSpPr>
          <p:cNvPr id="10" name="Rectangle 9"/>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1" name="TextBox 10"/>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S1 · S2 · S4</a:t>
            </a:r>
          </a:p>
        </p:txBody>
      </p:sp>
      <p:sp>
        <p:nvSpPr>
          <p:cNvPr id="12" name="TextBox 11"/>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operational readiness review · Data as of 2026-10-04</a:t>
            </a:r>
          </a:p>
        </p:txBody>
      </p:sp>
      <p:sp>
        <p:nvSpPr>
          <p:cNvPr id="13" name="TextBox 12"/>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9875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ORGANIZATION, MODULES AND DATA DOMAINS</a:t>
            </a:r>
          </a:p>
        </p:txBody>
      </p:sp>
      <p:sp>
        <p:nvSpPr>
          <p:cNvPr id="4" name="TextBox 3"/>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Access and data — continued</a:t>
            </a:r>
          </a:p>
        </p:txBody>
      </p:sp>
      <p:sp>
        <p:nvSpPr>
          <p:cNvPr id="5" name="Rectangle 4"/>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6" name="Rectangle 5"/>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TextBox 6"/>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03</a:t>
            </a:r>
          </a:p>
        </p:txBody>
      </p:sp>
      <p:sp>
        <p:nvSpPr>
          <p:cNvPr id="8" name="TextBox 7"/>
          <p:cNvSpPr txBox="1"/>
          <p:nvPr/>
        </p:nvSpPr>
        <p:spPr>
          <a:xfrm>
            <a:off x="640080" y="1325880"/>
            <a:ext cx="1090879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rPr>
                <a:latin typeface="Inter"/>
              </a:rPr>
              <a:t>DATA DOMAINS</a:t>
            </a:r>
          </a:p>
        </p:txBody>
      </p:sp>
      <p:graphicFrame>
        <p:nvGraphicFramePr>
          <p:cNvPr id="9" name="Table 8"/>
          <p:cNvGraphicFramePr>
            <a:graphicFrameLocks noGrp="1"/>
          </p:cNvGraphicFramePr>
          <p:nvPr/>
        </p:nvGraphicFramePr>
        <p:xfrm>
          <a:off x="640080" y="1600200"/>
          <a:ext cx="10908792" cy="4617720"/>
        </p:xfrm>
        <a:graphic>
          <a:graphicData uri="http://schemas.openxmlformats.org/drawingml/2006/table">
            <a:tbl>
              <a:tblPr firstRow="1" bandRow="1">
                <a:tableStyleId>{5C22544A-7EE6-4342-B048-85BDC9FD1C3A}</a:tableStyleId>
              </a:tblPr>
              <a:tblGrid>
                <a:gridCol w="2011680"/>
                <a:gridCol w="4448556"/>
                <a:gridCol w="4448556"/>
              </a:tblGrid>
              <a:tr h="577215">
                <a:tc>
                  <a:txBody>
                    <a:bodyPr/>
                    <a:lstStyle/>
                    <a:p>
                      <a:pPr>
                        <a:defRPr sz="750" b="1">
                          <a:solidFill>
                            <a:srgbClr val="FFFFFF"/>
                          </a:solidFill>
                          <a:latin typeface="Inter"/>
                        </a:defRPr>
                      </a:pPr>
                      <a:r>
                        <a:rPr>
                          <a:latin typeface="Inter"/>
                        </a:rPr>
                        <a:t>Source</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Status</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Note</a:t>
                      </a:r>
                    </a:p>
                  </a:txBody>
                  <a:tcPr marL="54864" marR="54864" marT="27432" marB="27432" anchor="ctr">
                    <a:solidFill>
                      <a:srgbClr val="0D1117"/>
                    </a:solidFill>
                  </a:tcPr>
                </a:tc>
              </a:tr>
              <a:tr h="577215">
                <a:tc>
                  <a:txBody>
                    <a:bodyPr/>
                    <a:lstStyle/>
                    <a:p>
                      <a:pPr>
                        <a:defRPr sz="800" b="1">
                          <a:solidFill>
                            <a:srgbClr val="0D1117"/>
                          </a:solidFill>
                          <a:latin typeface="Inter"/>
                        </a:defRPr>
                      </a:pPr>
                      <a:r>
                        <a:rPr>
                          <a:latin typeface="Inter"/>
                        </a:rPr>
                        <a:t>Manager diligence</a:t>
                      </a:r>
                    </a:p>
                  </a:txBody>
                  <a:tcPr marL="54864" marR="54864" marT="27432" marB="27432" anchor="ctr">
                    <a:solidFill>
                      <a:srgbClr val="FFFFFF"/>
                    </a:solidFill>
                  </a:tcPr>
                </a:tc>
                <a:tc>
                  <a:txBody>
                    <a:bodyPr/>
                    <a:lstStyle/>
                    <a:p>
                      <a:pPr>
                        <a:defRPr sz="800" b="1">
                          <a:solidFill>
                            <a:srgbClr val="C6F432"/>
                          </a:solidFill>
                          <a:latin typeface="Inter"/>
                        </a:defRPr>
                      </a:pPr>
                      <a:r>
                        <a:rPr>
                          <a:latin typeface="Inter"/>
                        </a:rPr>
                        <a:t>● Available</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Form ADV current to 2026-10-01</a:t>
                      </a:r>
                    </a:p>
                  </a:txBody>
                  <a:tcPr marL="54864" marR="54864" marT="27432" marB="27432" anchor="ctr">
                    <a:solidFill>
                      <a:srgbClr val="FFFFFF"/>
                    </a:solidFill>
                  </a:tcPr>
                </a:tc>
              </a:tr>
              <a:tr h="577215">
                <a:tc>
                  <a:txBody>
                    <a:bodyPr/>
                    <a:lstStyle/>
                    <a:p>
                      <a:pPr>
                        <a:defRPr sz="800" b="1">
                          <a:solidFill>
                            <a:srgbClr val="0D1117"/>
                          </a:solidFill>
                          <a:latin typeface="Inter"/>
                        </a:defRPr>
                      </a:pPr>
                      <a:r>
                        <a:rPr>
                          <a:latin typeface="Inter"/>
                        </a:rPr>
                        <a:t>Macro research</a:t>
                      </a:r>
                    </a:p>
                  </a:txBody>
                  <a:tcPr marL="54864" marR="54864" marT="27432" marB="27432" anchor="ctr">
                    <a:solidFill>
                      <a:srgbClr val="F5F7F9"/>
                    </a:solidFill>
                  </a:tcPr>
                </a:tc>
                <a:tc>
                  <a:txBody>
                    <a:bodyPr/>
                    <a:lstStyle/>
                    <a:p>
                      <a:pPr>
                        <a:defRPr sz="800" b="1">
                          <a:solidFill>
                            <a:srgbClr val="F2A93B"/>
                          </a:solidFill>
                          <a:latin typeface="Inter"/>
                        </a:defRPr>
                      </a:pPr>
                      <a:r>
                        <a:rPr>
                          <a:latin typeface="Inter"/>
                        </a:rPr>
                        <a:t>● Partly available</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Conditional; The Read published to 2026-10-02</a:t>
                      </a:r>
                    </a:p>
                  </a:txBody>
                  <a:tcPr marL="54864" marR="54864" marT="27432" marB="27432" anchor="ctr">
                    <a:solidFill>
                      <a:srgbClr val="F5F7F9"/>
                    </a:solidFill>
                  </a:tcPr>
                </a:tc>
              </a:tr>
              <a:tr h="577215">
                <a:tc>
                  <a:txBody>
                    <a:bodyPr/>
                    <a:lstStyle/>
                    <a:p>
                      <a:pPr>
                        <a:defRPr sz="800" b="1">
                          <a:solidFill>
                            <a:srgbClr val="0D1117"/>
                          </a:solidFill>
                          <a:latin typeface="Inter"/>
                        </a:defRPr>
                      </a:pPr>
                      <a:r>
                        <a:rPr>
                          <a:latin typeface="Inter"/>
                        </a:rPr>
                        <a:t>Capital market assumptions</a:t>
                      </a:r>
                    </a:p>
                  </a:txBody>
                  <a:tcPr marL="54864" marR="54864" marT="27432" marB="27432" anchor="ctr">
                    <a:solidFill>
                      <a:srgbClr val="FFFFFF"/>
                    </a:solidFill>
                  </a:tcPr>
                </a:tc>
                <a:tc>
                  <a:txBody>
                    <a:bodyPr/>
                    <a:lstStyle/>
                    <a:p>
                      <a:pPr>
                        <a:defRPr sz="800" b="1">
                          <a:solidFill>
                            <a:srgbClr val="F2A93B"/>
                          </a:solidFill>
                          <a:latin typeface="Inter"/>
                        </a:defRPr>
                      </a:pPr>
                      <a:r>
                        <a:rPr>
                          <a:latin typeface="Inter"/>
                        </a:rPr>
                        <a:t>● Partly available</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Conditional; quality receipt unvalidated</a:t>
                      </a:r>
                    </a:p>
                  </a:txBody>
                  <a:tcPr marL="54864" marR="54864" marT="27432" marB="27432" anchor="ctr">
                    <a:solidFill>
                      <a:srgbClr val="FFFFFF"/>
                    </a:solidFill>
                  </a:tcPr>
                </a:tc>
              </a:tr>
              <a:tr h="577215">
                <a:tc>
                  <a:txBody>
                    <a:bodyPr/>
                    <a:lstStyle/>
                    <a:p>
                      <a:pPr>
                        <a:defRPr sz="800" b="1">
                          <a:solidFill>
                            <a:srgbClr val="0D1117"/>
                          </a:solidFill>
                          <a:latin typeface="Inter"/>
                        </a:defRPr>
                      </a:pPr>
                      <a:r>
                        <a:rPr>
                          <a:latin typeface="Inter"/>
                        </a:rPr>
                        <a:t>Market data</a:t>
                      </a:r>
                    </a:p>
                  </a:txBody>
                  <a:tcPr marL="54864" marR="54864" marT="27432" marB="27432" anchor="ctr">
                    <a:solidFill>
                      <a:srgbClr val="F5F7F9"/>
                    </a:solidFill>
                  </a:tcPr>
                </a:tc>
                <a:tc>
                  <a:txBody>
                    <a:bodyPr/>
                    <a:lstStyle/>
                    <a:p>
                      <a:pPr>
                        <a:defRPr sz="800" b="1">
                          <a:solidFill>
                            <a:srgbClr val="F2A93B"/>
                          </a:solidFill>
                          <a:latin typeface="Inter"/>
                        </a:defRPr>
                      </a:pPr>
                      <a:r>
                        <a:rPr>
                          <a:latin typeface="Inter"/>
                        </a:rPr>
                        <a:t>● Partly available</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Conditional</a:t>
                      </a:r>
                    </a:p>
                  </a:txBody>
                  <a:tcPr marL="54864" marR="54864" marT="27432" marB="27432" anchor="ctr">
                    <a:solidFill>
                      <a:srgbClr val="F5F7F9"/>
                    </a:solidFill>
                  </a:tcPr>
                </a:tc>
              </a:tr>
              <a:tr h="577215">
                <a:tc>
                  <a:txBody>
                    <a:bodyPr/>
                    <a:lstStyle/>
                    <a:p>
                      <a:pPr>
                        <a:defRPr sz="800" b="1">
                          <a:solidFill>
                            <a:srgbClr val="0D1117"/>
                          </a:solidFill>
                          <a:latin typeface="Inter"/>
                        </a:defRPr>
                      </a:pPr>
                      <a:r>
                        <a:rPr>
                          <a:latin typeface="Inter"/>
                        </a:rPr>
                        <a:t>Public equity</a:t>
                      </a:r>
                    </a:p>
                  </a:txBody>
                  <a:tcPr marL="54864" marR="54864" marT="27432" marB="27432" anchor="ctr">
                    <a:solidFill>
                      <a:srgbClr val="FFFFFF"/>
                    </a:solidFill>
                  </a:tcPr>
                </a:tc>
                <a:tc>
                  <a:txBody>
                    <a:bodyPr/>
                    <a:lstStyle/>
                    <a:p>
                      <a:pPr>
                        <a:defRPr sz="800" b="1">
                          <a:solidFill>
                            <a:srgbClr val="F2A93B"/>
                          </a:solidFill>
                          <a:latin typeface="Inter"/>
                        </a:defRPr>
                      </a:pPr>
                      <a:r>
                        <a:rPr>
                          <a:latin typeface="Inter"/>
                        </a:rPr>
                        <a:t>● Partly available</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Conditional</a:t>
                      </a:r>
                    </a:p>
                  </a:txBody>
                  <a:tcPr marL="54864" marR="54864" marT="27432" marB="27432" anchor="ctr">
                    <a:solidFill>
                      <a:srgbClr val="FFFFFF"/>
                    </a:solidFill>
                  </a:tcPr>
                </a:tc>
              </a:tr>
              <a:tr h="577215">
                <a:tc>
                  <a:txBody>
                    <a:bodyPr/>
                    <a:lstStyle/>
                    <a:p>
                      <a:pPr>
                        <a:defRPr sz="800" b="1">
                          <a:solidFill>
                            <a:srgbClr val="0D1117"/>
                          </a:solidFill>
                          <a:latin typeface="Inter"/>
                        </a:defRPr>
                      </a:pPr>
                      <a:r>
                        <a:rPr>
                          <a:latin typeface="Inter"/>
                        </a:rPr>
                        <a:t>Strategy Lab</a:t>
                      </a:r>
                    </a:p>
                  </a:txBody>
                  <a:tcPr marL="54864" marR="54864" marT="27432" marB="27432" anchor="ctr">
                    <a:solidFill>
                      <a:srgbClr val="F5F7F9"/>
                    </a:solidFill>
                  </a:tcPr>
                </a:tc>
                <a:tc>
                  <a:txBody>
                    <a:bodyPr/>
                    <a:lstStyle/>
                    <a:p>
                      <a:pPr>
                        <a:defRPr sz="800" b="1">
                          <a:solidFill>
                            <a:srgbClr val="F2A93B"/>
                          </a:solidFill>
                          <a:latin typeface="Inter"/>
                        </a:defRPr>
                      </a:pPr>
                      <a:r>
                        <a:rPr>
                          <a:latin typeface="Inter"/>
                        </a:rPr>
                        <a:t>● Partly available</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Conditional; not licensed</a:t>
                      </a:r>
                    </a:p>
                  </a:txBody>
                  <a:tcPr marL="54864" marR="54864" marT="27432" marB="27432" anchor="ctr">
                    <a:solidFill>
                      <a:srgbClr val="F5F7F9"/>
                    </a:solidFill>
                  </a:tcPr>
                </a:tc>
              </a:tr>
              <a:tr h="577215">
                <a:tc>
                  <a:txBody>
                    <a:bodyPr/>
                    <a:lstStyle/>
                    <a:p>
                      <a:pPr>
                        <a:defRPr sz="800" b="1">
                          <a:solidFill>
                            <a:srgbClr val="0D1117"/>
                          </a:solidFill>
                          <a:latin typeface="Inter"/>
                        </a:defRPr>
                      </a:pPr>
                      <a:r>
                        <a:rPr>
                          <a:latin typeface="Inter"/>
                        </a:rPr>
                        <a:t>Peer intelligence</a:t>
                      </a:r>
                    </a:p>
                  </a:txBody>
                  <a:tcPr marL="54864" marR="54864" marT="27432" marB="27432" anchor="ctr">
                    <a:solidFill>
                      <a:srgbClr val="FFFFFF"/>
                    </a:solidFill>
                  </a:tcPr>
                </a:tc>
                <a:tc>
                  <a:txBody>
                    <a:bodyPr/>
                    <a:lstStyle/>
                    <a:p>
                      <a:pPr>
                        <a:defRPr sz="800" b="1">
                          <a:solidFill>
                            <a:srgbClr val="FF6B5E"/>
                          </a:solidFill>
                          <a:latin typeface="Inter"/>
                        </a:defRPr>
                      </a:pPr>
                      <a:r>
                        <a:rPr>
                          <a:latin typeface="Inter"/>
                        </a:rPr>
                        <a:t>● Not available</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Not licensed</a:t>
                      </a:r>
                    </a:p>
                  </a:txBody>
                  <a:tcPr marL="54864" marR="54864" marT="27432" marB="27432" anchor="ctr">
                    <a:solidFill>
                      <a:srgbClr val="FFFFFF"/>
                    </a:solidFill>
                  </a:tcPr>
                </a:tc>
              </a:tr>
            </a:tbl>
          </a:graphicData>
        </a:graphic>
      </p:graphicFrame>
      <p:sp>
        <p:nvSpPr>
          <p:cNvPr id="10" name="Rectangle 9"/>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1" name="TextBox 10"/>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none cited</a:t>
            </a:r>
          </a:p>
        </p:txBody>
      </p:sp>
      <p:sp>
        <p:nvSpPr>
          <p:cNvPr id="12" name="TextBox 11"/>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operational readiness review · Data as of 2026-10-04</a:t>
            </a:r>
          </a:p>
        </p:txBody>
      </p:sp>
      <p:sp>
        <p:nvSpPr>
          <p:cNvPr id="13" name="TextBox 12"/>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9875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13 OF 14 CHECKS PASSED AGAINST THE GRADIENTCIO CONNECTION</a:t>
            </a:r>
          </a:p>
        </p:txBody>
      </p:sp>
      <p:sp>
        <p:nvSpPr>
          <p:cNvPr id="4" name="TextBox 3"/>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Connection checks</a:t>
            </a:r>
          </a:p>
        </p:txBody>
      </p:sp>
      <p:sp>
        <p:nvSpPr>
          <p:cNvPr id="5" name="Rectangle 4"/>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6" name="Rectangle 5"/>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TextBox 6"/>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04</a:t>
            </a:r>
          </a:p>
        </p:txBody>
      </p:sp>
      <p:graphicFrame>
        <p:nvGraphicFramePr>
          <p:cNvPr id="8" name="Table 7"/>
          <p:cNvGraphicFramePr>
            <a:graphicFrameLocks noGrp="1"/>
          </p:cNvGraphicFramePr>
          <p:nvPr/>
        </p:nvGraphicFramePr>
        <p:xfrm>
          <a:off x="640080" y="1325880"/>
          <a:ext cx="10908792" cy="4892040"/>
        </p:xfrm>
        <a:graphic>
          <a:graphicData uri="http://schemas.openxmlformats.org/drawingml/2006/table">
            <a:tbl>
              <a:tblPr firstRow="1" bandRow="1">
                <a:tableStyleId>{5C22544A-7EE6-4342-B048-85BDC9FD1C3A}</a:tableStyleId>
              </a:tblPr>
              <a:tblGrid>
                <a:gridCol w="2011680"/>
                <a:gridCol w="2224278"/>
                <a:gridCol w="2224278"/>
                <a:gridCol w="2224278"/>
                <a:gridCol w="2224278"/>
              </a:tblGrid>
              <a:tr h="376310">
                <a:tc>
                  <a:txBody>
                    <a:bodyPr/>
                    <a:lstStyle/>
                    <a:p>
                      <a:pPr>
                        <a:defRPr sz="750" b="1">
                          <a:solidFill>
                            <a:srgbClr val="FFFFFF"/>
                          </a:solidFill>
                          <a:latin typeface="Inter"/>
                        </a:defRPr>
                      </a:pPr>
                      <a:r>
                        <a:rPr>
                          <a:latin typeface="Inter"/>
                        </a:rPr>
                        <a:t>Check</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Tool</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Result</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As of</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Note</a:t>
                      </a:r>
                    </a:p>
                  </a:txBody>
                  <a:tcPr marL="54864" marR="54864" marT="27432" marB="27432" anchor="ctr">
                    <a:solidFill>
                      <a:srgbClr val="0D1117"/>
                    </a:solidFill>
                  </a:tcPr>
                </a:tc>
              </a:tr>
              <a:tr h="376310">
                <a:tc>
                  <a:txBody>
                    <a:bodyPr/>
                    <a:lstStyle/>
                    <a:p>
                      <a:pPr>
                        <a:defRPr sz="720" b="1">
                          <a:solidFill>
                            <a:srgbClr val="0D1117"/>
                          </a:solidFill>
                          <a:latin typeface="Inter"/>
                        </a:defRPr>
                      </a:pPr>
                      <a:r>
                        <a:rPr>
                          <a:latin typeface="Inter"/>
                        </a:rPr>
                        <a:t>orgs</a:t>
                      </a:r>
                    </a:p>
                  </a:txBody>
                  <a:tcPr marL="54864" marR="54864" marT="27432" marB="27432" anchor="ctr">
                    <a:solidFill>
                      <a:srgbClr val="FFFFFF"/>
                    </a:solidFill>
                  </a:tcPr>
                </a:tc>
                <a:tc>
                  <a:txBody>
                    <a:bodyPr/>
                    <a:lstStyle/>
                    <a:p>
                      <a:pPr>
                        <a:defRPr sz="720" b="0">
                          <a:solidFill>
                            <a:srgbClr val="0D1117"/>
                          </a:solidFill>
                          <a:latin typeface="Inter"/>
                        </a:defRPr>
                      </a:pPr>
                      <a:r>
                        <a:rPr>
                          <a:latin typeface="Inter"/>
                        </a:rPr>
                        <a:t>list_organizations</a:t>
                      </a:r>
                    </a:p>
                  </a:txBody>
                  <a:tcPr marL="54864" marR="54864" marT="27432" marB="27432" anchor="ctr">
                    <a:solidFill>
                      <a:srgbClr val="FFFFFF"/>
                    </a:solidFill>
                  </a:tcPr>
                </a:tc>
                <a:tc>
                  <a:txBody>
                    <a:bodyPr/>
                    <a:lstStyle/>
                    <a:p>
                      <a:pPr>
                        <a:defRPr sz="720" b="1">
                          <a:solidFill>
                            <a:srgbClr val="C6F432"/>
                          </a:solidFill>
                          <a:latin typeface="Inter"/>
                        </a:defRPr>
                      </a:pPr>
                      <a:r>
                        <a:rPr>
                          <a:latin typeface="Inter"/>
                        </a:rPr>
                        <a:t>● Pass</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2026-10-04</a:t>
                      </a:r>
                    </a:p>
                  </a:txBody>
                  <a:tcPr marL="54864" marR="54864" marT="27432" marB="27432" anchor="ctr">
                    <a:solidFill>
                      <a:srgbClr val="FFFFFF"/>
                    </a:solidFill>
                  </a:tcPr>
                </a:tc>
                <a:tc>
                  <a:txBody>
                    <a:bodyPr/>
                    <a:lstStyle/>
                    <a:p>
                      <a:pPr>
                        <a:defRPr sz="720" b="0">
                          <a:solidFill>
                            <a:srgbClr val="0D1117"/>
                          </a:solidFill>
                          <a:latin typeface="Inter"/>
                        </a:defRPr>
                      </a:pPr>
                    </a:p>
                  </a:txBody>
                  <a:tcPr marL="54864" marR="54864" marT="27432" marB="27432" anchor="ctr">
                    <a:solidFill>
                      <a:srgbClr val="FFFFFF"/>
                    </a:solidFill>
                  </a:tcPr>
                </a:tc>
              </a:tr>
              <a:tr h="376310">
                <a:tc>
                  <a:txBody>
                    <a:bodyPr/>
                    <a:lstStyle/>
                    <a:p>
                      <a:pPr>
                        <a:defRPr sz="720" b="1">
                          <a:solidFill>
                            <a:srgbClr val="0D1117"/>
                          </a:solidFill>
                          <a:latin typeface="Inter"/>
                        </a:defRPr>
                      </a:pPr>
                      <a:r>
                        <a:rPr>
                          <a:latin typeface="Inter"/>
                        </a:rPr>
                        <a:t>roster</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get_diligence_roster_funds</a:t>
                      </a:r>
                    </a:p>
                  </a:txBody>
                  <a:tcPr marL="54864" marR="54864" marT="27432" marB="27432" anchor="ctr">
                    <a:solidFill>
                      <a:srgbClr val="F5F7F9"/>
                    </a:solidFill>
                  </a:tcPr>
                </a:tc>
                <a:tc>
                  <a:txBody>
                    <a:bodyPr/>
                    <a:lstStyle/>
                    <a:p>
                      <a:pPr>
                        <a:defRPr sz="720" b="1">
                          <a:solidFill>
                            <a:srgbClr val="C6F432"/>
                          </a:solidFill>
                          <a:latin typeface="Inter"/>
                        </a:defRPr>
                      </a:pPr>
                      <a:r>
                        <a:rPr>
                          <a:latin typeface="Inter"/>
                        </a:rPr>
                        <a:t>● Pass</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2026-10-04</a:t>
                      </a:r>
                    </a:p>
                  </a:txBody>
                  <a:tcPr marL="54864" marR="54864" marT="27432" marB="27432" anchor="ctr">
                    <a:solidFill>
                      <a:srgbClr val="F5F7F9"/>
                    </a:solidFill>
                  </a:tcPr>
                </a:tc>
                <a:tc>
                  <a:txBody>
                    <a:bodyPr/>
                    <a:lstStyle/>
                    <a:p>
                      <a:pPr>
                        <a:defRPr sz="720" b="0">
                          <a:solidFill>
                            <a:srgbClr val="0D1117"/>
                          </a:solidFill>
                          <a:latin typeface="Inter"/>
                        </a:defRPr>
                      </a:pPr>
                    </a:p>
                  </a:txBody>
                  <a:tcPr marL="54864" marR="54864" marT="27432" marB="27432" anchor="ctr">
                    <a:solidFill>
                      <a:srgbClr val="F5F7F9"/>
                    </a:solidFill>
                  </a:tcPr>
                </a:tc>
              </a:tr>
              <a:tr h="376310">
                <a:tc>
                  <a:txBody>
                    <a:bodyPr/>
                    <a:lstStyle/>
                    <a:p>
                      <a:pPr>
                        <a:defRPr sz="720" b="1">
                          <a:solidFill>
                            <a:srgbClr val="0D1117"/>
                          </a:solidFill>
                          <a:latin typeface="Inter"/>
                        </a:defRPr>
                      </a:pPr>
                      <a:r>
                        <a:rPr>
                          <a:latin typeface="Inter"/>
                        </a:rPr>
                        <a:t>odd_profile</a:t>
                      </a:r>
                    </a:p>
                  </a:txBody>
                  <a:tcPr marL="54864" marR="54864" marT="27432" marB="27432" anchor="ctr">
                    <a:solidFill>
                      <a:srgbClr val="FFFFFF"/>
                    </a:solidFill>
                  </a:tcPr>
                </a:tc>
                <a:tc>
                  <a:txBody>
                    <a:bodyPr/>
                    <a:lstStyle/>
                    <a:p>
                      <a:pPr>
                        <a:defRPr sz="720" b="0">
                          <a:solidFill>
                            <a:srgbClr val="0D1117"/>
                          </a:solidFill>
                          <a:latin typeface="Inter"/>
                        </a:defRPr>
                      </a:pPr>
                      <a:r>
                        <a:rPr>
                          <a:latin typeface="Inter"/>
                        </a:rPr>
                        <a:t>get_manager_odd_profile</a:t>
                      </a:r>
                    </a:p>
                  </a:txBody>
                  <a:tcPr marL="54864" marR="54864" marT="27432" marB="27432" anchor="ctr">
                    <a:solidFill>
                      <a:srgbClr val="FFFFFF"/>
                    </a:solidFill>
                  </a:tcPr>
                </a:tc>
                <a:tc>
                  <a:txBody>
                    <a:bodyPr/>
                    <a:lstStyle/>
                    <a:p>
                      <a:pPr>
                        <a:defRPr sz="720" b="1">
                          <a:solidFill>
                            <a:srgbClr val="C6F432"/>
                          </a:solidFill>
                          <a:latin typeface="Inter"/>
                        </a:defRPr>
                      </a:pPr>
                      <a:r>
                        <a:rPr>
                          <a:latin typeface="Inter"/>
                        </a:rPr>
                        <a:t>● Pass</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2026-10-04</a:t>
                      </a:r>
                    </a:p>
                  </a:txBody>
                  <a:tcPr marL="54864" marR="54864" marT="27432" marB="27432" anchor="ctr">
                    <a:solidFill>
                      <a:srgbClr val="FFFFFF"/>
                    </a:solidFill>
                  </a:tcPr>
                </a:tc>
                <a:tc>
                  <a:txBody>
                    <a:bodyPr/>
                    <a:lstStyle/>
                    <a:p>
                      <a:pPr>
                        <a:defRPr sz="720" b="0">
                          <a:solidFill>
                            <a:srgbClr val="0D1117"/>
                          </a:solidFill>
                          <a:latin typeface="Inter"/>
                        </a:defRPr>
                      </a:pPr>
                      <a:r>
                        <a:rPr>
                          <a:latin typeface="Inter"/>
                        </a:rPr>
                        <a:t>CRD 999901</a:t>
                      </a:r>
                    </a:p>
                  </a:txBody>
                  <a:tcPr marL="54864" marR="54864" marT="27432" marB="27432" anchor="ctr">
                    <a:solidFill>
                      <a:srgbClr val="FFFFFF"/>
                    </a:solidFill>
                  </a:tcPr>
                </a:tc>
              </a:tr>
              <a:tr h="376310">
                <a:tc>
                  <a:txBody>
                    <a:bodyPr/>
                    <a:lstStyle/>
                    <a:p>
                      <a:pPr>
                        <a:defRPr sz="720" b="1">
                          <a:solidFill>
                            <a:srgbClr val="0D1117"/>
                          </a:solidFill>
                          <a:latin typeface="Inter"/>
                        </a:defRPr>
                      </a:pPr>
                      <a:r>
                        <a:rPr>
                          <a:latin typeface="Inter"/>
                        </a:rPr>
                        <a:t>monitor_coverage</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get_manager_monitor_evidence</a:t>
                      </a:r>
                    </a:p>
                  </a:txBody>
                  <a:tcPr marL="54864" marR="54864" marT="27432" marB="27432" anchor="ctr">
                    <a:solidFill>
                      <a:srgbClr val="F5F7F9"/>
                    </a:solidFill>
                  </a:tcPr>
                </a:tc>
                <a:tc>
                  <a:txBody>
                    <a:bodyPr/>
                    <a:lstStyle/>
                    <a:p>
                      <a:pPr>
                        <a:defRPr sz="720" b="1">
                          <a:solidFill>
                            <a:srgbClr val="C6F432"/>
                          </a:solidFill>
                          <a:latin typeface="Inter"/>
                        </a:defRPr>
                      </a:pPr>
                      <a:r>
                        <a:rPr>
                          <a:latin typeface="Inter"/>
                        </a:rPr>
                        <a:t>● Pass</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2026-10-01</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ADV freshness current</a:t>
                      </a:r>
                    </a:p>
                  </a:txBody>
                  <a:tcPr marL="54864" marR="54864" marT="27432" marB="27432" anchor="ctr">
                    <a:solidFill>
                      <a:srgbClr val="F5F7F9"/>
                    </a:solidFill>
                  </a:tcPr>
                </a:tc>
              </a:tr>
              <a:tr h="376310">
                <a:tc>
                  <a:txBody>
                    <a:bodyPr/>
                    <a:lstStyle/>
                    <a:p>
                      <a:pPr>
                        <a:defRPr sz="720" b="1">
                          <a:solidFill>
                            <a:srgbClr val="0D1117"/>
                          </a:solidFill>
                          <a:latin typeface="Inter"/>
                        </a:defRPr>
                      </a:pPr>
                      <a:r>
                        <a:rPr>
                          <a:latin typeface="Inter"/>
                        </a:rPr>
                        <a:t>the_read</a:t>
                      </a:r>
                    </a:p>
                  </a:txBody>
                  <a:tcPr marL="54864" marR="54864" marT="27432" marB="27432" anchor="ctr">
                    <a:solidFill>
                      <a:srgbClr val="FFFFFF"/>
                    </a:solidFill>
                  </a:tcPr>
                </a:tc>
                <a:tc>
                  <a:txBody>
                    <a:bodyPr/>
                    <a:lstStyle/>
                    <a:p>
                      <a:pPr>
                        <a:defRPr sz="720" b="0">
                          <a:solidFill>
                            <a:srgbClr val="0D1117"/>
                          </a:solidFill>
                          <a:latin typeface="Inter"/>
                        </a:defRPr>
                      </a:pPr>
                      <a:r>
                        <a:rPr>
                          <a:latin typeface="Inter"/>
                        </a:rPr>
                        <a:t>get_the_read</a:t>
                      </a:r>
                    </a:p>
                  </a:txBody>
                  <a:tcPr marL="54864" marR="54864" marT="27432" marB="27432" anchor="ctr">
                    <a:solidFill>
                      <a:srgbClr val="FFFFFF"/>
                    </a:solidFill>
                  </a:tcPr>
                </a:tc>
                <a:tc>
                  <a:txBody>
                    <a:bodyPr/>
                    <a:lstStyle/>
                    <a:p>
                      <a:pPr>
                        <a:defRPr sz="720" b="1">
                          <a:solidFill>
                            <a:srgbClr val="C6F432"/>
                          </a:solidFill>
                          <a:latin typeface="Inter"/>
                        </a:defRPr>
                      </a:pPr>
                      <a:r>
                        <a:rPr>
                          <a:latin typeface="Inter"/>
                        </a:rPr>
                        <a:t>● Pass</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2026-10-02</a:t>
                      </a:r>
                    </a:p>
                  </a:txBody>
                  <a:tcPr marL="54864" marR="54864" marT="27432" marB="27432" anchor="ctr">
                    <a:solidFill>
                      <a:srgbClr val="FFFFFF"/>
                    </a:solidFill>
                  </a:tcPr>
                </a:tc>
                <a:tc>
                  <a:txBody>
                    <a:bodyPr/>
                    <a:lstStyle/>
                    <a:p>
                      <a:pPr>
                        <a:defRPr sz="720" b="0">
                          <a:solidFill>
                            <a:srgbClr val="0D1117"/>
                          </a:solidFill>
                          <a:latin typeface="Inter"/>
                        </a:defRPr>
                      </a:pPr>
                      <a:r>
                        <a:rPr>
                          <a:latin typeface="Inter"/>
                        </a:rPr>
                        <a:t>Coverage partial: no chart history</a:t>
                      </a:r>
                    </a:p>
                  </a:txBody>
                  <a:tcPr marL="54864" marR="54864" marT="27432" marB="27432" anchor="ctr">
                    <a:solidFill>
                      <a:srgbClr val="FFFFFF"/>
                    </a:solidFill>
                  </a:tcPr>
                </a:tc>
              </a:tr>
              <a:tr h="376310">
                <a:tc>
                  <a:txBody>
                    <a:bodyPr/>
                    <a:lstStyle/>
                    <a:p>
                      <a:pPr>
                        <a:defRPr sz="720" b="1">
                          <a:solidFill>
                            <a:srgbClr val="0D1117"/>
                          </a:solidFill>
                          <a:latin typeface="Inter"/>
                        </a:defRPr>
                      </a:pPr>
                      <a:r>
                        <a:rPr>
                          <a:latin typeface="Inter"/>
                        </a:rPr>
                        <a:t>calendar</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get_macro_calendar</a:t>
                      </a:r>
                    </a:p>
                  </a:txBody>
                  <a:tcPr marL="54864" marR="54864" marT="27432" marB="27432" anchor="ctr">
                    <a:solidFill>
                      <a:srgbClr val="F5F7F9"/>
                    </a:solidFill>
                  </a:tcPr>
                </a:tc>
                <a:tc>
                  <a:txBody>
                    <a:bodyPr/>
                    <a:lstStyle/>
                    <a:p>
                      <a:pPr>
                        <a:defRPr sz="720" b="1">
                          <a:solidFill>
                            <a:srgbClr val="C6F432"/>
                          </a:solidFill>
                          <a:latin typeface="Inter"/>
                        </a:defRPr>
                      </a:pPr>
                      <a:r>
                        <a:rPr>
                          <a:latin typeface="Inter"/>
                        </a:rPr>
                        <a:t>● Pass</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2026-10-04</a:t>
                      </a:r>
                    </a:p>
                  </a:txBody>
                  <a:tcPr marL="54864" marR="54864" marT="27432" marB="27432" anchor="ctr">
                    <a:solidFill>
                      <a:srgbClr val="F5F7F9"/>
                    </a:solidFill>
                  </a:tcPr>
                </a:tc>
                <a:tc>
                  <a:txBody>
                    <a:bodyPr/>
                    <a:lstStyle/>
                    <a:p>
                      <a:pPr>
                        <a:defRPr sz="720" b="0">
                          <a:solidFill>
                            <a:srgbClr val="0D1117"/>
                          </a:solidFill>
                          <a:latin typeface="Inter"/>
                        </a:defRPr>
                      </a:pPr>
                    </a:p>
                  </a:txBody>
                  <a:tcPr marL="54864" marR="54864" marT="27432" marB="27432" anchor="ctr">
                    <a:solidFill>
                      <a:srgbClr val="F5F7F9"/>
                    </a:solidFill>
                  </a:tcPr>
                </a:tc>
              </a:tr>
              <a:tr h="376310">
                <a:tc>
                  <a:txBody>
                    <a:bodyPr/>
                    <a:lstStyle/>
                    <a:p>
                      <a:pPr>
                        <a:defRPr sz="720" b="1">
                          <a:solidFill>
                            <a:srgbClr val="0D1117"/>
                          </a:solidFill>
                          <a:latin typeface="Inter"/>
                        </a:defRPr>
                      </a:pPr>
                      <a:r>
                        <a:rPr>
                          <a:latin typeface="Inter"/>
                        </a:rPr>
                        <a:t>attention</a:t>
                      </a:r>
                    </a:p>
                  </a:txBody>
                  <a:tcPr marL="54864" marR="54864" marT="27432" marB="27432" anchor="ctr">
                    <a:solidFill>
                      <a:srgbClr val="FFFFFF"/>
                    </a:solidFill>
                  </a:tcPr>
                </a:tc>
                <a:tc>
                  <a:txBody>
                    <a:bodyPr/>
                    <a:lstStyle/>
                    <a:p>
                      <a:pPr>
                        <a:defRPr sz="720" b="0">
                          <a:solidFill>
                            <a:srgbClr val="0D1117"/>
                          </a:solidFill>
                          <a:latin typeface="Inter"/>
                        </a:defRPr>
                      </a:pPr>
                      <a:r>
                        <a:rPr>
                          <a:latin typeface="Inter"/>
                        </a:rPr>
                        <a:t>get_manager_diligence_attention_queue</a:t>
                      </a:r>
                    </a:p>
                  </a:txBody>
                  <a:tcPr marL="54864" marR="54864" marT="27432" marB="27432" anchor="ctr">
                    <a:solidFill>
                      <a:srgbClr val="FFFFFF"/>
                    </a:solidFill>
                  </a:tcPr>
                </a:tc>
                <a:tc>
                  <a:txBody>
                    <a:bodyPr/>
                    <a:lstStyle/>
                    <a:p>
                      <a:pPr>
                        <a:defRPr sz="720" b="1">
                          <a:solidFill>
                            <a:srgbClr val="C6F432"/>
                          </a:solidFill>
                          <a:latin typeface="Inter"/>
                        </a:defRPr>
                      </a:pPr>
                      <a:r>
                        <a:rPr>
                          <a:latin typeface="Inter"/>
                        </a:rPr>
                        <a:t>● Pass</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2026-10-04</a:t>
                      </a:r>
                    </a:p>
                  </a:txBody>
                  <a:tcPr marL="54864" marR="54864" marT="27432" marB="27432" anchor="ctr">
                    <a:solidFill>
                      <a:srgbClr val="FFFFFF"/>
                    </a:solidFill>
                  </a:tcPr>
                </a:tc>
                <a:tc>
                  <a:txBody>
                    <a:bodyPr/>
                    <a:lstStyle/>
                    <a:p>
                      <a:pPr>
                        <a:defRPr sz="720" b="0">
                          <a:solidFill>
                            <a:srgbClr val="0D1117"/>
                          </a:solidFill>
                          <a:latin typeface="Inter"/>
                        </a:defRPr>
                      </a:pPr>
                    </a:p>
                  </a:txBody>
                  <a:tcPr marL="54864" marR="54864" marT="27432" marB="27432" anchor="ctr">
                    <a:solidFill>
                      <a:srgbClr val="FFFFFF"/>
                    </a:solidFill>
                  </a:tcPr>
                </a:tc>
              </a:tr>
              <a:tr h="376310">
                <a:tc>
                  <a:txBody>
                    <a:bodyPr/>
                    <a:lstStyle/>
                    <a:p>
                      <a:pPr>
                        <a:defRPr sz="720" b="1">
                          <a:solidFill>
                            <a:srgbClr val="0D1117"/>
                          </a:solidFill>
                          <a:latin typeface="Inter"/>
                        </a:defRPr>
                      </a:pPr>
                      <a:r>
                        <a:rPr>
                          <a:latin typeface="Inter"/>
                        </a:rPr>
                        <a:t>findings</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get_manager_diligence_findings</a:t>
                      </a:r>
                    </a:p>
                  </a:txBody>
                  <a:tcPr marL="54864" marR="54864" marT="27432" marB="27432" anchor="ctr">
                    <a:solidFill>
                      <a:srgbClr val="F5F7F9"/>
                    </a:solidFill>
                  </a:tcPr>
                </a:tc>
                <a:tc>
                  <a:txBody>
                    <a:bodyPr/>
                    <a:lstStyle/>
                    <a:p>
                      <a:pPr>
                        <a:defRPr sz="720" b="1">
                          <a:solidFill>
                            <a:srgbClr val="C6F432"/>
                          </a:solidFill>
                          <a:latin typeface="Inter"/>
                        </a:defRPr>
                      </a:pPr>
                      <a:r>
                        <a:rPr>
                          <a:latin typeface="Inter"/>
                        </a:rPr>
                        <a:t>● Pass</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2026-10-04</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Validator advisory on empty list (known)</a:t>
                      </a:r>
                    </a:p>
                  </a:txBody>
                  <a:tcPr marL="54864" marR="54864" marT="27432" marB="27432" anchor="ctr">
                    <a:solidFill>
                      <a:srgbClr val="F5F7F9"/>
                    </a:solidFill>
                  </a:tcPr>
                </a:tc>
              </a:tr>
              <a:tr h="376310">
                <a:tc>
                  <a:txBody>
                    <a:bodyPr/>
                    <a:lstStyle/>
                    <a:p>
                      <a:pPr>
                        <a:defRPr sz="720" b="1">
                          <a:solidFill>
                            <a:srgbClr val="0D1117"/>
                          </a:solidFill>
                          <a:latin typeface="Inter"/>
                        </a:defRPr>
                      </a:pPr>
                      <a:r>
                        <a:rPr>
                          <a:latin typeface="Inter"/>
                        </a:rPr>
                        <a:t>events</a:t>
                      </a:r>
                    </a:p>
                  </a:txBody>
                  <a:tcPr marL="54864" marR="54864" marT="27432" marB="27432" anchor="ctr">
                    <a:solidFill>
                      <a:srgbClr val="FFFFFF"/>
                    </a:solidFill>
                  </a:tcPr>
                </a:tc>
                <a:tc>
                  <a:txBody>
                    <a:bodyPr/>
                    <a:lstStyle/>
                    <a:p>
                      <a:pPr>
                        <a:defRPr sz="720" b="0">
                          <a:solidFill>
                            <a:srgbClr val="0D1117"/>
                          </a:solidFill>
                          <a:latin typeface="Inter"/>
                        </a:defRPr>
                      </a:pPr>
                      <a:r>
                        <a:rPr>
                          <a:latin typeface="Inter"/>
                        </a:rPr>
                        <a:t>get_firm_fund_events</a:t>
                      </a:r>
                    </a:p>
                  </a:txBody>
                  <a:tcPr marL="54864" marR="54864" marT="27432" marB="27432" anchor="ctr">
                    <a:solidFill>
                      <a:srgbClr val="FFFFFF"/>
                    </a:solidFill>
                  </a:tcPr>
                </a:tc>
                <a:tc>
                  <a:txBody>
                    <a:bodyPr/>
                    <a:lstStyle/>
                    <a:p>
                      <a:pPr>
                        <a:defRPr sz="720" b="1">
                          <a:solidFill>
                            <a:srgbClr val="C6F432"/>
                          </a:solidFill>
                          <a:latin typeface="Inter"/>
                        </a:defRPr>
                      </a:pPr>
                      <a:r>
                        <a:rPr>
                          <a:latin typeface="Inter"/>
                        </a:rPr>
                        <a:t>● Pass</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2026-10-04</a:t>
                      </a:r>
                    </a:p>
                  </a:txBody>
                  <a:tcPr marL="54864" marR="54864" marT="27432" marB="27432" anchor="ctr">
                    <a:solidFill>
                      <a:srgbClr val="FFFFFF"/>
                    </a:solidFill>
                  </a:tcPr>
                </a:tc>
                <a:tc>
                  <a:txBody>
                    <a:bodyPr/>
                    <a:lstStyle/>
                    <a:p>
                      <a:pPr>
                        <a:defRPr sz="720" b="0">
                          <a:solidFill>
                            <a:srgbClr val="0D1117"/>
                          </a:solidFill>
                          <a:latin typeface="Inter"/>
                        </a:defRPr>
                      </a:pPr>
                      <a:r>
                        <a:rPr>
                          <a:latin typeface="Inter"/>
                        </a:rPr>
                        <a:t>Publication not ready (known)</a:t>
                      </a:r>
                    </a:p>
                  </a:txBody>
                  <a:tcPr marL="54864" marR="54864" marT="27432" marB="27432" anchor="ctr">
                    <a:solidFill>
                      <a:srgbClr val="FFFFFF"/>
                    </a:solidFill>
                  </a:tcPr>
                </a:tc>
              </a:tr>
              <a:tr h="376310">
                <a:tc>
                  <a:txBody>
                    <a:bodyPr/>
                    <a:lstStyle/>
                    <a:p>
                      <a:pPr>
                        <a:defRPr sz="720" b="1">
                          <a:solidFill>
                            <a:srgbClr val="0D1117"/>
                          </a:solidFill>
                          <a:latin typeface="Inter"/>
                        </a:defRPr>
                      </a:pPr>
                      <a:r>
                        <a:rPr>
                          <a:latin typeface="Inter"/>
                        </a:rPr>
                        <a:t>conditions</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get_macro_conditions</a:t>
                      </a:r>
                    </a:p>
                  </a:txBody>
                  <a:tcPr marL="54864" marR="54864" marT="27432" marB="27432" anchor="ctr">
                    <a:solidFill>
                      <a:srgbClr val="F5F7F9"/>
                    </a:solidFill>
                  </a:tcPr>
                </a:tc>
                <a:tc>
                  <a:txBody>
                    <a:bodyPr/>
                    <a:lstStyle/>
                    <a:p>
                      <a:pPr>
                        <a:defRPr sz="720" b="1">
                          <a:solidFill>
                            <a:srgbClr val="C6F432"/>
                          </a:solidFill>
                          <a:latin typeface="Inter"/>
                        </a:defRPr>
                      </a:pPr>
                      <a:r>
                        <a:rPr>
                          <a:latin typeface="Inter"/>
                        </a:rPr>
                        <a:t>● Pass</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2026-10-02</a:t>
                      </a:r>
                    </a:p>
                  </a:txBody>
                  <a:tcPr marL="54864" marR="54864" marT="27432" marB="27432" anchor="ctr">
                    <a:solidFill>
                      <a:srgbClr val="F5F7F9"/>
                    </a:solidFill>
                  </a:tcPr>
                </a:tc>
                <a:tc>
                  <a:txBody>
                    <a:bodyPr/>
                    <a:lstStyle/>
                    <a:p>
                      <a:pPr>
                        <a:defRPr sz="720" b="0">
                          <a:solidFill>
                            <a:srgbClr val="0D1117"/>
                          </a:solidFill>
                          <a:latin typeface="Inter"/>
                        </a:defRPr>
                      </a:pPr>
                    </a:p>
                  </a:txBody>
                  <a:tcPr marL="54864" marR="54864" marT="27432" marB="27432" anchor="ctr">
                    <a:solidFill>
                      <a:srgbClr val="F5F7F9"/>
                    </a:solidFill>
                  </a:tcPr>
                </a:tc>
              </a:tr>
              <a:tr h="376310">
                <a:tc>
                  <a:txBody>
                    <a:bodyPr/>
                    <a:lstStyle/>
                    <a:p>
                      <a:pPr>
                        <a:defRPr sz="720" b="1">
                          <a:solidFill>
                            <a:srgbClr val="0D1117"/>
                          </a:solidFill>
                          <a:latin typeface="Inter"/>
                        </a:defRPr>
                      </a:pPr>
                      <a:r>
                        <a:rPr>
                          <a:latin typeface="Inter"/>
                        </a:rPr>
                        <a:t>gradient_signal</a:t>
                      </a:r>
                    </a:p>
                  </a:txBody>
                  <a:tcPr marL="54864" marR="54864" marT="27432" marB="27432" anchor="ctr">
                    <a:solidFill>
                      <a:srgbClr val="FFFFFF"/>
                    </a:solidFill>
                  </a:tcPr>
                </a:tc>
                <a:tc>
                  <a:txBody>
                    <a:bodyPr/>
                    <a:lstStyle/>
                    <a:p>
                      <a:pPr>
                        <a:defRPr sz="720" b="0">
                          <a:solidFill>
                            <a:srgbClr val="0D1117"/>
                          </a:solidFill>
                          <a:latin typeface="Inter"/>
                        </a:defRPr>
                      </a:pPr>
                      <a:r>
                        <a:rPr>
                          <a:latin typeface="Inter"/>
                        </a:rPr>
                        <a:t>get_macro_signals</a:t>
                      </a:r>
                    </a:p>
                  </a:txBody>
                  <a:tcPr marL="54864" marR="54864" marT="27432" marB="27432" anchor="ctr">
                    <a:solidFill>
                      <a:srgbClr val="FFFFFF"/>
                    </a:solidFill>
                  </a:tcPr>
                </a:tc>
                <a:tc>
                  <a:txBody>
                    <a:bodyPr/>
                    <a:lstStyle/>
                    <a:p>
                      <a:pPr>
                        <a:defRPr sz="720" b="1">
                          <a:solidFill>
                            <a:srgbClr val="C6F432"/>
                          </a:solidFill>
                          <a:latin typeface="Inter"/>
                        </a:defRPr>
                      </a:pPr>
                      <a:r>
                        <a:rPr>
                          <a:latin typeface="Inter"/>
                        </a:rPr>
                        <a:t>● Pass</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2026-10-02</a:t>
                      </a:r>
                    </a:p>
                  </a:txBody>
                  <a:tcPr marL="54864" marR="54864" marT="27432" marB="27432" anchor="ctr">
                    <a:solidFill>
                      <a:srgbClr val="FFFFFF"/>
                    </a:solidFill>
                  </a:tcPr>
                </a:tc>
                <a:tc>
                  <a:txBody>
                    <a:bodyPr/>
                    <a:lstStyle/>
                    <a:p>
                      <a:pPr>
                        <a:defRPr sz="720" b="0">
                          <a:solidFill>
                            <a:srgbClr val="0D1117"/>
                          </a:solidFill>
                          <a:latin typeface="Inter"/>
                        </a:defRPr>
                      </a:pPr>
                      <a:r>
                        <a:rPr>
                          <a:latin typeface="Inter"/>
                        </a:rPr>
                        <a:t>GRIP degraded: 1 stale input</a:t>
                      </a:r>
                    </a:p>
                  </a:txBody>
                  <a:tcPr marL="54864" marR="54864" marT="27432" marB="27432" anchor="ctr">
                    <a:solidFill>
                      <a:srgbClr val="FFFFFF"/>
                    </a:solidFill>
                  </a:tcPr>
                </a:tc>
              </a:tr>
              <a:tr h="376320">
                <a:tc>
                  <a:txBody>
                    <a:bodyPr/>
                    <a:lstStyle/>
                    <a:p>
                      <a:pPr>
                        <a:defRPr sz="720" b="1">
                          <a:solidFill>
                            <a:srgbClr val="0D1117"/>
                          </a:solidFill>
                          <a:latin typeface="Inter"/>
                        </a:defRPr>
                      </a:pPr>
                      <a:r>
                        <a:rPr>
                          <a:latin typeface="Inter"/>
                        </a:rPr>
                        <a:t>regime_state</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get_macro_signals</a:t>
                      </a:r>
                    </a:p>
                  </a:txBody>
                  <a:tcPr marL="54864" marR="54864" marT="27432" marB="27432" anchor="ctr">
                    <a:solidFill>
                      <a:srgbClr val="F5F7F9"/>
                    </a:solidFill>
                  </a:tcPr>
                </a:tc>
                <a:tc>
                  <a:txBody>
                    <a:bodyPr/>
                    <a:lstStyle/>
                    <a:p>
                      <a:pPr>
                        <a:defRPr sz="720" b="1">
                          <a:solidFill>
                            <a:srgbClr val="F2A93B"/>
                          </a:solidFill>
                          <a:latin typeface="Inter"/>
                        </a:defRPr>
                      </a:pPr>
                      <a:r>
                        <a:rPr>
                          <a:latin typeface="Inter"/>
                        </a:rPr>
                        <a:t>● Not available</a:t>
                      </a:r>
                    </a:p>
                  </a:txBody>
                  <a:tcPr marL="54864" marR="54864" marT="27432" marB="27432" anchor="ctr">
                    <a:solidFill>
                      <a:srgbClr val="F5F7F9"/>
                    </a:solidFill>
                  </a:tcPr>
                </a:tc>
                <a:tc>
                  <a:txBody>
                    <a:bodyPr/>
                    <a:lstStyle/>
                    <a:p>
                      <a:pPr>
                        <a:defRPr sz="720" b="0">
                          <a:solidFill>
                            <a:srgbClr val="0D1117"/>
                          </a:solidFill>
                          <a:latin typeface="Inter"/>
                        </a:defRPr>
                      </a:pP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HTTP 500 MCP_TOOL_EXECUTION_FAILED; retried once</a:t>
                      </a:r>
                    </a:p>
                  </a:txBody>
                  <a:tcPr marL="54864" marR="54864" marT="27432" marB="27432" anchor="ctr">
                    <a:solidFill>
                      <a:srgbClr val="F5F7F9"/>
                    </a:solidFill>
                  </a:tcPr>
                </a:tc>
              </a:tr>
            </a:tbl>
          </a:graphicData>
        </a:graphic>
      </p:graphicFrame>
      <p:sp>
        <p:nvSpPr>
          <p:cNvPr id="9" name="Rectangle 8"/>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0" name="TextBox 9"/>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none cited</a:t>
            </a:r>
          </a:p>
        </p:txBody>
      </p:sp>
      <p:sp>
        <p:nvSpPr>
          <p:cNvPr id="11" name="TextBox 10"/>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operational readiness review · Data as of 2026-10-04</a:t>
            </a:r>
          </a:p>
        </p:txBody>
      </p:sp>
      <p:sp>
        <p:nvSpPr>
          <p:cNvPr id="12" name="TextBox 11"/>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9875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13 OF 14 CHECKS PASSED AGAINST THE GRADIENTCIO CONNECTION</a:t>
            </a:r>
          </a:p>
        </p:txBody>
      </p:sp>
      <p:sp>
        <p:nvSpPr>
          <p:cNvPr id="4" name="TextBox 3"/>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Connection checks — continued</a:t>
            </a:r>
          </a:p>
        </p:txBody>
      </p:sp>
      <p:sp>
        <p:nvSpPr>
          <p:cNvPr id="5" name="Rectangle 4"/>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6" name="Rectangle 5"/>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TextBox 6"/>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04</a:t>
            </a:r>
          </a:p>
        </p:txBody>
      </p:sp>
      <p:sp>
        <p:nvSpPr>
          <p:cNvPr id="8" name="TextBox 7"/>
          <p:cNvSpPr txBox="1"/>
          <p:nvPr/>
        </p:nvSpPr>
        <p:spPr>
          <a:xfrm>
            <a:off x="640080" y="1325880"/>
            <a:ext cx="1090879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rPr>
                <a:latin typeface="Inter"/>
              </a:rPr>
              <a:t>TABLE — CONTINUED</a:t>
            </a:r>
          </a:p>
        </p:txBody>
      </p:sp>
      <p:graphicFrame>
        <p:nvGraphicFramePr>
          <p:cNvPr id="9" name="Table 8"/>
          <p:cNvGraphicFramePr>
            <a:graphicFrameLocks noGrp="1"/>
          </p:cNvGraphicFramePr>
          <p:nvPr/>
        </p:nvGraphicFramePr>
        <p:xfrm>
          <a:off x="640080" y="1600200"/>
          <a:ext cx="10908792" cy="3030311"/>
        </p:xfrm>
        <a:graphic>
          <a:graphicData uri="http://schemas.openxmlformats.org/drawingml/2006/table">
            <a:tbl>
              <a:tblPr firstRow="1" bandRow="1">
                <a:tableStyleId>{5C22544A-7EE6-4342-B048-85BDC9FD1C3A}</a:tableStyleId>
              </a:tblPr>
              <a:tblGrid>
                <a:gridCol w="2011680"/>
                <a:gridCol w="2224278"/>
                <a:gridCol w="2224278"/>
                <a:gridCol w="2224278"/>
                <a:gridCol w="2224278"/>
              </a:tblGrid>
              <a:tr h="1010103">
                <a:tc>
                  <a:txBody>
                    <a:bodyPr/>
                    <a:lstStyle/>
                    <a:p>
                      <a:pPr>
                        <a:defRPr sz="750" b="1">
                          <a:solidFill>
                            <a:srgbClr val="FFFFFF"/>
                          </a:solidFill>
                          <a:latin typeface="Inter"/>
                        </a:defRPr>
                      </a:pPr>
                      <a:r>
                        <a:rPr>
                          <a:latin typeface="Inter"/>
                        </a:rPr>
                        <a:t>Check</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Tool</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Result</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As of</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Note</a:t>
                      </a:r>
                    </a:p>
                  </a:txBody>
                  <a:tcPr marL="54864" marR="54864" marT="27432" marB="27432" anchor="ctr">
                    <a:solidFill>
                      <a:srgbClr val="0D1117"/>
                    </a:solidFill>
                  </a:tcPr>
                </a:tc>
              </a:tr>
              <a:tr h="1010103">
                <a:tc>
                  <a:txBody>
                    <a:bodyPr/>
                    <a:lstStyle/>
                    <a:p>
                      <a:pPr>
                        <a:defRPr sz="720" b="1">
                          <a:solidFill>
                            <a:srgbClr val="0D1117"/>
                          </a:solidFill>
                          <a:latin typeface="Inter"/>
                        </a:defRPr>
                      </a:pPr>
                      <a:r>
                        <a:rPr>
                          <a:latin typeface="Inter"/>
                        </a:rPr>
                        <a:t>cma_baseline</a:t>
                      </a:r>
                    </a:p>
                  </a:txBody>
                  <a:tcPr marL="54864" marR="54864" marT="27432" marB="27432" anchor="ctr">
                    <a:solidFill>
                      <a:srgbClr val="FFFFFF"/>
                    </a:solidFill>
                  </a:tcPr>
                </a:tc>
                <a:tc>
                  <a:txBody>
                    <a:bodyPr/>
                    <a:lstStyle/>
                    <a:p>
                      <a:pPr>
                        <a:defRPr sz="720" b="0">
                          <a:solidFill>
                            <a:srgbClr val="0D1117"/>
                          </a:solidFill>
                          <a:latin typeface="Inter"/>
                        </a:defRPr>
                      </a:pPr>
                      <a:r>
                        <a:rPr>
                          <a:latin typeface="Inter"/>
                        </a:rPr>
                        <a:t>get_capital_market_assumptions</a:t>
                      </a:r>
                    </a:p>
                  </a:txBody>
                  <a:tcPr marL="54864" marR="54864" marT="27432" marB="27432" anchor="ctr">
                    <a:solidFill>
                      <a:srgbClr val="FFFFFF"/>
                    </a:solidFill>
                  </a:tcPr>
                </a:tc>
                <a:tc>
                  <a:txBody>
                    <a:bodyPr/>
                    <a:lstStyle/>
                    <a:p>
                      <a:pPr>
                        <a:defRPr sz="720" b="1">
                          <a:solidFill>
                            <a:srgbClr val="C6F432"/>
                          </a:solidFill>
                          <a:latin typeface="Inter"/>
                        </a:defRPr>
                      </a:pPr>
                      <a:r>
                        <a:rPr>
                          <a:latin typeface="Inter"/>
                        </a:rPr>
                        <a:t>● Pass</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2026-10-04</a:t>
                      </a:r>
                    </a:p>
                  </a:txBody>
                  <a:tcPr marL="54864" marR="54864" marT="27432" marB="27432" anchor="ctr">
                    <a:solidFill>
                      <a:srgbClr val="FFFFFF"/>
                    </a:solidFill>
                  </a:tcPr>
                </a:tc>
                <a:tc>
                  <a:txBody>
                    <a:bodyPr/>
                    <a:lstStyle/>
                    <a:p>
                      <a:pPr>
                        <a:defRPr sz="720" b="0">
                          <a:solidFill>
                            <a:srgbClr val="0D1117"/>
                          </a:solidFill>
                          <a:latin typeface="Inter"/>
                        </a:defRPr>
                      </a:pPr>
                      <a:r>
                        <a:rPr>
                          <a:latin typeface="Inter"/>
                        </a:rPr>
                        <a:t>Risk-free fresh; receipt validation unavailable</a:t>
                      </a:r>
                    </a:p>
                  </a:txBody>
                  <a:tcPr marL="54864" marR="54864" marT="27432" marB="27432" anchor="ctr">
                    <a:solidFill>
                      <a:srgbClr val="FFFFFF"/>
                    </a:solidFill>
                  </a:tcPr>
                </a:tc>
              </a:tr>
              <a:tr h="1010105">
                <a:tc>
                  <a:txBody>
                    <a:bodyPr/>
                    <a:lstStyle/>
                    <a:p>
                      <a:pPr>
                        <a:defRPr sz="720" b="1">
                          <a:solidFill>
                            <a:srgbClr val="0D1117"/>
                          </a:solidFill>
                          <a:latin typeface="Inter"/>
                        </a:defRPr>
                      </a:pPr>
                      <a:r>
                        <a:rPr>
                          <a:latin typeface="Inter"/>
                        </a:rPr>
                        <a:t>watchlist</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get_research_watchlist_changes</a:t>
                      </a:r>
                    </a:p>
                  </a:txBody>
                  <a:tcPr marL="54864" marR="54864" marT="27432" marB="27432" anchor="ctr">
                    <a:solidFill>
                      <a:srgbClr val="F5F7F9"/>
                    </a:solidFill>
                  </a:tcPr>
                </a:tc>
                <a:tc>
                  <a:txBody>
                    <a:bodyPr/>
                    <a:lstStyle/>
                    <a:p>
                      <a:pPr>
                        <a:defRPr sz="720" b="1">
                          <a:solidFill>
                            <a:srgbClr val="C6F432"/>
                          </a:solidFill>
                          <a:latin typeface="Inter"/>
                        </a:defRPr>
                      </a:pPr>
                      <a:r>
                        <a:rPr>
                          <a:latin typeface="Inter"/>
                        </a:rPr>
                        <a:t>● Pass</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2026-10-04</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No items selected</a:t>
                      </a:r>
                    </a:p>
                  </a:txBody>
                  <a:tcPr marL="54864" marR="54864" marT="27432" marB="27432" anchor="ctr">
                    <a:solidFill>
                      <a:srgbClr val="F5F7F9"/>
                    </a:solidFill>
                  </a:tcPr>
                </a:tc>
              </a:tr>
            </a:tbl>
          </a:graphicData>
        </a:graphic>
      </p:graphicFrame>
      <p:sp>
        <p:nvSpPr>
          <p:cNvPr id="10" name="Rectangle 9"/>
          <p:cNvSpPr/>
          <p:nvPr/>
        </p:nvSpPr>
        <p:spPr>
          <a:xfrm>
            <a:off x="640080" y="4740239"/>
            <a:ext cx="10908792" cy="1477680"/>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1" name="Rectangle 10"/>
          <p:cNvSpPr/>
          <p:nvPr/>
        </p:nvSpPr>
        <p:spPr>
          <a:xfrm>
            <a:off x="640080" y="4740239"/>
            <a:ext cx="54864" cy="1477680"/>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2" name="TextBox 11"/>
          <p:cNvSpPr txBox="1"/>
          <p:nvPr/>
        </p:nvSpPr>
        <p:spPr>
          <a:xfrm>
            <a:off x="804671" y="4849967"/>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No new failures</a:t>
            </a:r>
          </a:p>
        </p:txBody>
      </p:sp>
      <p:sp>
        <p:nvSpPr>
          <p:cNvPr id="13" name="TextBox 12"/>
          <p:cNvSpPr txBox="1"/>
          <p:nvPr/>
        </p:nvSpPr>
        <p:spPr>
          <a:xfrm>
            <a:off x="804671" y="5133431"/>
            <a:ext cx="10616184" cy="993048"/>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All probes completed without a new failure. The CMA baseline returns a fresh risk-free rate.</a:t>
            </a:r>
          </a:p>
        </p:txBody>
      </p:sp>
      <p:sp>
        <p:nvSpPr>
          <p:cNvPr id="14" name="Rectangle 13"/>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5" name="TextBox 14"/>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none cited</a:t>
            </a:r>
          </a:p>
        </p:txBody>
      </p:sp>
      <p:sp>
        <p:nvSpPr>
          <p:cNvPr id="16" name="TextBox 15"/>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operational readiness review · Data as of 2026-10-04</a:t>
            </a:r>
          </a:p>
        </p:txBody>
      </p:sp>
      <p:sp>
        <p:nvSpPr>
          <p:cNvPr id="17" name="TextBox 16"/>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9875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PROMPTS THAT WORK FOR THIS ORGANIZATION TODAY</a:t>
            </a:r>
          </a:p>
        </p:txBody>
      </p:sp>
      <p:sp>
        <p:nvSpPr>
          <p:cNvPr id="4" name="TextBox 3"/>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Try next</a:t>
            </a:r>
          </a:p>
        </p:txBody>
      </p:sp>
      <p:sp>
        <p:nvSpPr>
          <p:cNvPr id="5" name="Rectangle 4"/>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6" name="Rectangle 5"/>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TextBox 6"/>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05</a:t>
            </a:r>
          </a:p>
        </p:txBody>
      </p:sp>
      <p:sp>
        <p:nvSpPr>
          <p:cNvPr id="8" name="TextBox 7"/>
          <p:cNvSpPr txBox="1"/>
          <p:nvPr/>
        </p:nvSpPr>
        <p:spPr>
          <a:xfrm>
            <a:off x="640080" y="1325880"/>
            <a:ext cx="10908792" cy="4892040"/>
          </a:xfrm>
          <a:prstGeom prst="rect">
            <a:avLst/>
          </a:prstGeom>
          <a:noFill/>
        </p:spPr>
        <p:txBody>
          <a:bodyPr wrap="none" lIns="9144" rIns="9144" tIns="9144" bIns="9144" anchor="t">
            <a:spAutoFit/>
          </a:bodyPr>
          <a:lstStyle/>
          <a:p>
            <a:pPr algn="l">
              <a:spcAft>
                <a:spcPts val="500"/>
              </a:spcAft>
              <a:defRPr sz="1000" b="0">
                <a:solidFill>
                  <a:srgbClr val="0D1117"/>
                </a:solidFill>
                <a:latin typeface="Inter"/>
              </a:defRPr>
            </a:pPr>
            <a:r>
              <a:rPr>
                <a:latin typeface="Inter"/>
              </a:rPr>
              <a:t>01  Run an ODD report on Ridgeview Global Macro Fund II.</a:t>
            </a:r>
            <a:br/>
            <a:r>
              <a:rPr>
                <a:latin typeface="Inter"/>
              </a:rPr>
              <a:t>      Your one roster fund; a new Form ADV was filed after its last review.</a:t>
            </a:r>
          </a:p>
          <a:p>
            <a:pPr algn="l">
              <a:spcAft>
                <a:spcPts val="500"/>
              </a:spcAft>
              <a:defRPr sz="1000" b="0">
                <a:solidFill>
                  <a:srgbClr val="0D1117"/>
                </a:solidFill>
                <a:latin typeface="Inter"/>
              </a:defRPr>
            </a:pPr>
            <a:r>
              <a:rPr>
                <a:latin typeface="Inter"/>
              </a:rPr>
              <a:t>02  Give me this week's manager monitoring digest, and schedule it for Mondays.</a:t>
            </a:r>
            <a:br/>
            <a:r>
              <a:rPr>
                <a:latin typeface="Inter"/>
              </a:rPr>
              <a:t>      Keeps the roster under watch without manual checks.</a:t>
            </a:r>
          </a:p>
          <a:p>
            <a:pPr algn="l">
              <a:spcAft>
                <a:spcPts val="500"/>
              </a:spcAft>
              <a:defRPr sz="1000" b="0">
                <a:solidFill>
                  <a:srgbClr val="0D1117"/>
                </a:solidFill>
                <a:latin typeface="Inter"/>
              </a:defRPr>
            </a:pPr>
            <a:r>
              <a:rPr>
                <a:latin typeface="Inter"/>
              </a:rPr>
              <a:t>03  Build the macro briefing deck for Thursday's committee.</a:t>
            </a:r>
            <a:br/>
            <a:r>
              <a:rPr>
                <a:latin typeface="Inter"/>
              </a:rPr>
              <a:t>      Uses The Read, rates, Gradient signal, calendar and CMAs.</a:t>
            </a:r>
          </a:p>
        </p:txBody>
      </p:sp>
      <p:sp>
        <p:nvSpPr>
          <p:cNvPr id="9" name="Rectangle 8"/>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0" name="TextBox 9"/>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none cited</a:t>
            </a:r>
          </a:p>
        </p:txBody>
      </p:sp>
      <p:sp>
        <p:nvSpPr>
          <p:cNvPr id="11" name="TextBox 10"/>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operational readiness review · Data as of 2026-10-04</a:t>
            </a:r>
          </a:p>
        </p:txBody>
      </p:sp>
      <p:sp>
        <p:nvSpPr>
          <p:cNvPr id="12" name="TextBox 11"/>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Appendix — Sources and methods</a:t>
            </a:r>
          </a:p>
        </p:txBody>
      </p:sp>
      <p:sp>
        <p:nvSpPr>
          <p:cNvPr id="4" name="Rectangle 3"/>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5" name="Rectangle 4"/>
          <p:cNvSpPr/>
          <p:nvPr/>
        </p:nvSpPr>
        <p:spPr>
          <a:xfrm>
            <a:off x="11018520" y="502920"/>
            <a:ext cx="530352" cy="393192"/>
          </a:xfrm>
          <a:prstGeom prst="rect">
            <a:avLst/>
          </a:prstGeom>
          <a:solidFill>
            <a:srgbClr val="9AA5B1"/>
          </a:solidFill>
          <a:ln>
            <a:solidFill>
              <a:srgbClr val="9AA5B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6" name="TextBox 5"/>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A</a:t>
            </a:r>
          </a:p>
        </p:txBody>
      </p:sp>
      <p:graphicFrame>
        <p:nvGraphicFramePr>
          <p:cNvPr id="7" name="Table 6"/>
          <p:cNvGraphicFramePr>
            <a:graphicFrameLocks noGrp="1"/>
          </p:cNvGraphicFramePr>
          <p:nvPr/>
        </p:nvGraphicFramePr>
        <p:xfrm>
          <a:off x="640080" y="1325880"/>
          <a:ext cx="10908792" cy="4690872"/>
        </p:xfrm>
        <a:graphic>
          <a:graphicData uri="http://schemas.openxmlformats.org/drawingml/2006/table">
            <a:tbl>
              <a:tblPr firstRow="1" bandRow="1">
                <a:tableStyleId>{5C22544A-7EE6-4342-B048-85BDC9FD1C3A}</a:tableStyleId>
              </a:tblPr>
              <a:tblGrid>
                <a:gridCol w="2011680"/>
                <a:gridCol w="2224278"/>
                <a:gridCol w="2224278"/>
                <a:gridCol w="2224278"/>
                <a:gridCol w="2224278"/>
              </a:tblGrid>
              <a:tr h="521208">
                <a:tc>
                  <a:txBody>
                    <a:bodyPr/>
                    <a:lstStyle/>
                    <a:p>
                      <a:pPr>
                        <a:defRPr sz="750" b="1">
                          <a:solidFill>
                            <a:srgbClr val="FFFFFF"/>
                          </a:solidFill>
                          <a:latin typeface="Inter"/>
                        </a:defRPr>
                      </a:pPr>
                      <a:r>
                        <a:rPr>
                          <a:latin typeface="Inter"/>
                        </a:rPr>
                        <a:t>Tag</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Evidence</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Tool</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As of</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Validation</a:t>
                      </a:r>
                    </a:p>
                  </a:txBody>
                  <a:tcPr marL="54864" marR="54864" marT="27432" marB="27432" anchor="ctr">
                    <a:solidFill>
                      <a:srgbClr val="0D1117"/>
                    </a:solidFill>
                  </a:tcPr>
                </a:tc>
              </a:tr>
              <a:tr h="521208">
                <a:tc>
                  <a:txBody>
                    <a:bodyPr/>
                    <a:lstStyle/>
                    <a:p>
                      <a:pPr>
                        <a:defRPr sz="720" b="1">
                          <a:solidFill>
                            <a:srgbClr val="0D1117"/>
                          </a:solidFill>
                          <a:latin typeface="Inter"/>
                        </a:defRPr>
                      </a:pPr>
                      <a:r>
                        <a:rPr>
                          <a:latin typeface="Inter"/>
                        </a:rPr>
                        <a:t>S1</a:t>
                      </a:r>
                    </a:p>
                  </a:txBody>
                  <a:tcPr marL="54864" marR="54864" marT="27432" marB="27432" anchor="ctr">
                    <a:solidFill>
                      <a:srgbClr val="FFFFFF"/>
                    </a:solidFill>
                  </a:tcPr>
                </a:tc>
                <a:tc>
                  <a:txBody>
                    <a:bodyPr/>
                    <a:lstStyle/>
                    <a:p>
                      <a:pPr>
                        <a:defRPr sz="720" b="0">
                          <a:solidFill>
                            <a:srgbClr val="0D1117"/>
                          </a:solidFill>
                          <a:latin typeface="Inter"/>
                        </a:defRPr>
                      </a:pPr>
                      <a:r>
                        <a:rPr>
                          <a:latin typeface="Inter"/>
                        </a:rPr>
                        <a:t>Organizations and modules</a:t>
                      </a:r>
                    </a:p>
                  </a:txBody>
                  <a:tcPr marL="54864" marR="54864" marT="27432" marB="27432" anchor="ctr">
                    <a:solidFill>
                      <a:srgbClr val="FFFFFF"/>
                    </a:solidFill>
                  </a:tcPr>
                </a:tc>
                <a:tc>
                  <a:txBody>
                    <a:bodyPr/>
                    <a:lstStyle/>
                    <a:p>
                      <a:pPr>
                        <a:defRPr sz="720" b="0">
                          <a:solidFill>
                            <a:srgbClr val="0D1117"/>
                          </a:solidFill>
                          <a:latin typeface="Inter"/>
                        </a:defRPr>
                      </a:pPr>
                      <a:r>
                        <a:rPr>
                          <a:latin typeface="Inter"/>
                        </a:rPr>
                        <a:t>list_organizations</a:t>
                      </a:r>
                    </a:p>
                  </a:txBody>
                  <a:tcPr marL="54864" marR="54864" marT="27432" marB="27432" anchor="ctr">
                    <a:solidFill>
                      <a:srgbClr val="FFFFFF"/>
                    </a:solidFill>
                  </a:tcPr>
                </a:tc>
                <a:tc>
                  <a:txBody>
                    <a:bodyPr/>
                    <a:lstStyle/>
                    <a:p>
                      <a:pPr>
                        <a:defRPr sz="720" b="0">
                          <a:solidFill>
                            <a:srgbClr val="0D1117"/>
                          </a:solidFill>
                          <a:latin typeface="Inter"/>
                        </a:defRPr>
                      </a:pPr>
                      <a:r>
                        <a:rPr>
                          <a:latin typeface="Inter"/>
                        </a:rPr>
                        <a:t>2026-10-04</a:t>
                      </a:r>
                    </a:p>
                  </a:txBody>
                  <a:tcPr marL="54864" marR="54864" marT="27432" marB="27432" anchor="ctr">
                    <a:solidFill>
                      <a:srgbClr val="FFFFFF"/>
                    </a:solidFill>
                  </a:tcPr>
                </a:tc>
                <a:tc>
                  <a:txBody>
                    <a:bodyPr/>
                    <a:lstStyle/>
                    <a:p>
                      <a:pPr>
                        <a:defRPr sz="720" b="1">
                          <a:solidFill>
                            <a:srgbClr val="9AA5B1"/>
                          </a:solidFill>
                          <a:latin typeface="Inter"/>
                        </a:defRPr>
                      </a:pPr>
                      <a:r>
                        <a:rPr>
                          <a:latin typeface="Inter"/>
                        </a:rPr>
                        <a:t>● Not applicable</a:t>
                      </a:r>
                    </a:p>
                  </a:txBody>
                  <a:tcPr marL="54864" marR="54864" marT="27432" marB="27432" anchor="ctr">
                    <a:solidFill>
                      <a:srgbClr val="F5F7F9"/>
                    </a:solidFill>
                  </a:tcPr>
                </a:tc>
              </a:tr>
              <a:tr h="521208">
                <a:tc>
                  <a:txBody>
                    <a:bodyPr/>
                    <a:lstStyle/>
                    <a:p>
                      <a:pPr>
                        <a:defRPr sz="720" b="1">
                          <a:solidFill>
                            <a:srgbClr val="0D1117"/>
                          </a:solidFill>
                          <a:latin typeface="Inter"/>
                        </a:defRPr>
                      </a:pPr>
                      <a:r>
                        <a:rPr>
                          <a:latin typeface="Inter"/>
                        </a:rPr>
                        <a:t>S2</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Capabilities, entitlement, coverage</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get_gradient_capabilities</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2026-10-04</a:t>
                      </a:r>
                    </a:p>
                  </a:txBody>
                  <a:tcPr marL="54864" marR="54864" marT="27432" marB="27432" anchor="ctr">
                    <a:solidFill>
                      <a:srgbClr val="F5F7F9"/>
                    </a:solidFill>
                  </a:tcPr>
                </a:tc>
                <a:tc>
                  <a:txBody>
                    <a:bodyPr/>
                    <a:lstStyle/>
                    <a:p>
                      <a:pPr>
                        <a:defRPr sz="720" b="1">
                          <a:solidFill>
                            <a:srgbClr val="9AA5B1"/>
                          </a:solidFill>
                          <a:latin typeface="Inter"/>
                        </a:defRPr>
                      </a:pPr>
                      <a:r>
                        <a:rPr>
                          <a:latin typeface="Inter"/>
                        </a:rPr>
                        <a:t>● Not applicable</a:t>
                      </a:r>
                    </a:p>
                  </a:txBody>
                  <a:tcPr marL="54864" marR="54864" marT="27432" marB="27432" anchor="ctr">
                    <a:solidFill>
                      <a:srgbClr val="F5F7F9"/>
                    </a:solidFill>
                  </a:tcPr>
                </a:tc>
              </a:tr>
              <a:tr h="521208">
                <a:tc>
                  <a:txBody>
                    <a:bodyPr/>
                    <a:lstStyle/>
                    <a:p>
                      <a:pPr>
                        <a:defRPr sz="720" b="1">
                          <a:solidFill>
                            <a:srgbClr val="0D1117"/>
                          </a:solidFill>
                          <a:latin typeface="Inter"/>
                        </a:defRPr>
                      </a:pPr>
                      <a:r>
                        <a:rPr>
                          <a:latin typeface="Inter"/>
                        </a:rPr>
                        <a:t>S3</a:t>
                      </a:r>
                    </a:p>
                  </a:txBody>
                  <a:tcPr marL="54864" marR="54864" marT="27432" marB="27432" anchor="ctr">
                    <a:solidFill>
                      <a:srgbClr val="FFFFFF"/>
                    </a:solidFill>
                  </a:tcPr>
                </a:tc>
                <a:tc>
                  <a:txBody>
                    <a:bodyPr/>
                    <a:lstStyle/>
                    <a:p>
                      <a:pPr>
                        <a:defRPr sz="720" b="0">
                          <a:solidFill>
                            <a:srgbClr val="0D1117"/>
                          </a:solidFill>
                          <a:latin typeface="Inter"/>
                        </a:defRPr>
                      </a:pPr>
                      <a:r>
                        <a:rPr>
                          <a:latin typeface="Inter"/>
                        </a:rPr>
                        <a:t>Contract probes (14)</a:t>
                      </a:r>
                    </a:p>
                  </a:txBody>
                  <a:tcPr marL="54864" marR="54864" marT="27432" marB="27432" anchor="ctr">
                    <a:solidFill>
                      <a:srgbClr val="FFFFFF"/>
                    </a:solidFill>
                  </a:tcPr>
                </a:tc>
                <a:tc>
                  <a:txBody>
                    <a:bodyPr/>
                    <a:lstStyle/>
                    <a:p>
                      <a:pPr>
                        <a:defRPr sz="720" b="0">
                          <a:solidFill>
                            <a:srgbClr val="0D1117"/>
                          </a:solidFill>
                          <a:latin typeface="Inter"/>
                        </a:defRPr>
                      </a:pPr>
                      <a:r>
                        <a:rPr>
                          <a:latin typeface="Inter"/>
                        </a:rPr>
                        <a:t>see table in section 04</a:t>
                      </a:r>
                    </a:p>
                  </a:txBody>
                  <a:tcPr marL="54864" marR="54864" marT="27432" marB="27432" anchor="ctr">
                    <a:solidFill>
                      <a:srgbClr val="FFFFFF"/>
                    </a:solidFill>
                  </a:tcPr>
                </a:tc>
                <a:tc>
                  <a:txBody>
                    <a:bodyPr/>
                    <a:lstStyle/>
                    <a:p>
                      <a:pPr>
                        <a:defRPr sz="720" b="0">
                          <a:solidFill>
                            <a:srgbClr val="0D1117"/>
                          </a:solidFill>
                          <a:latin typeface="Inter"/>
                        </a:defRPr>
                      </a:pPr>
                      <a:r>
                        <a:rPr>
                          <a:latin typeface="Inter"/>
                        </a:rPr>
                        <a:t>2026-10-04</a:t>
                      </a:r>
                    </a:p>
                  </a:txBody>
                  <a:tcPr marL="54864" marR="54864" marT="27432" marB="27432" anchor="ctr">
                    <a:solidFill>
                      <a:srgbClr val="FFFFFF"/>
                    </a:solidFill>
                  </a:tcPr>
                </a:tc>
                <a:tc>
                  <a:txBody>
                    <a:bodyPr/>
                    <a:lstStyle/>
                    <a:p>
                      <a:pPr>
                        <a:defRPr sz="720" b="1">
                          <a:solidFill>
                            <a:srgbClr val="C6F432"/>
                          </a:solidFill>
                          <a:latin typeface="Inter"/>
                        </a:defRPr>
                      </a:pPr>
                      <a:r>
                        <a:rPr>
                          <a:latin typeface="Inter"/>
                        </a:rPr>
                        <a:t>● Passed</a:t>
                      </a:r>
                    </a:p>
                  </a:txBody>
                  <a:tcPr marL="54864" marR="54864" marT="27432" marB="27432" anchor="ctr">
                    <a:solidFill>
                      <a:srgbClr val="F5F7F9"/>
                    </a:solidFill>
                  </a:tcPr>
                </a:tc>
              </a:tr>
              <a:tr h="521208">
                <a:tc>
                  <a:txBody>
                    <a:bodyPr/>
                    <a:lstStyle/>
                    <a:p>
                      <a:pPr>
                        <a:defRPr sz="720" b="1">
                          <a:solidFill>
                            <a:srgbClr val="0D1117"/>
                          </a:solidFill>
                          <a:latin typeface="Inter"/>
                        </a:defRPr>
                      </a:pPr>
                      <a:r>
                        <a:rPr>
                          <a:latin typeface="Inter"/>
                        </a:rPr>
                        <a:t>S4</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Diligence Roster</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get_diligence_roster_funds</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2026-10-04</a:t>
                      </a:r>
                    </a:p>
                  </a:txBody>
                  <a:tcPr marL="54864" marR="54864" marT="27432" marB="27432" anchor="ctr">
                    <a:solidFill>
                      <a:srgbClr val="F5F7F9"/>
                    </a:solidFill>
                  </a:tcPr>
                </a:tc>
                <a:tc>
                  <a:txBody>
                    <a:bodyPr/>
                    <a:lstStyle/>
                    <a:p>
                      <a:pPr>
                        <a:defRPr sz="720" b="1">
                          <a:solidFill>
                            <a:srgbClr val="C6F432"/>
                          </a:solidFill>
                          <a:latin typeface="Inter"/>
                        </a:defRPr>
                      </a:pPr>
                      <a:r>
                        <a:rPr>
                          <a:latin typeface="Inter"/>
                        </a:rPr>
                        <a:t>● Passed</a:t>
                      </a:r>
                    </a:p>
                  </a:txBody>
                  <a:tcPr marL="54864" marR="54864" marT="27432" marB="27432" anchor="ctr">
                    <a:solidFill>
                      <a:srgbClr val="F5F7F9"/>
                    </a:solidFill>
                  </a:tcPr>
                </a:tc>
              </a:tr>
              <a:tr h="521208">
                <a:tc>
                  <a:txBody>
                    <a:bodyPr/>
                    <a:lstStyle/>
                    <a:p>
                      <a:pPr>
                        <a:defRPr sz="720" b="1">
                          <a:solidFill>
                            <a:srgbClr val="0D1117"/>
                          </a:solidFill>
                          <a:latin typeface="Inter"/>
                        </a:defRPr>
                      </a:pPr>
                      <a:r>
                        <a:rPr>
                          <a:latin typeface="Inter"/>
                        </a:rPr>
                        <a:t>S5</a:t>
                      </a:r>
                    </a:p>
                  </a:txBody>
                  <a:tcPr marL="54864" marR="54864" marT="27432" marB="27432" anchor="ctr">
                    <a:solidFill>
                      <a:srgbClr val="FFFFFF"/>
                    </a:solidFill>
                  </a:tcPr>
                </a:tc>
                <a:tc>
                  <a:txBody>
                    <a:bodyPr/>
                    <a:lstStyle/>
                    <a:p>
                      <a:pPr>
                        <a:defRPr sz="720" b="0">
                          <a:solidFill>
                            <a:srgbClr val="0D1117"/>
                          </a:solidFill>
                          <a:latin typeface="Inter"/>
                        </a:defRPr>
                      </a:pPr>
                      <a:r>
                        <a:rPr>
                          <a:latin typeface="Inter"/>
                        </a:rPr>
                        <a:t>The Read readiness probe</a:t>
                      </a:r>
                    </a:p>
                  </a:txBody>
                  <a:tcPr marL="54864" marR="54864" marT="27432" marB="27432" anchor="ctr">
                    <a:solidFill>
                      <a:srgbClr val="FFFFFF"/>
                    </a:solidFill>
                  </a:tcPr>
                </a:tc>
                <a:tc>
                  <a:txBody>
                    <a:bodyPr/>
                    <a:lstStyle/>
                    <a:p>
                      <a:pPr>
                        <a:defRPr sz="720" b="0">
                          <a:solidFill>
                            <a:srgbClr val="0D1117"/>
                          </a:solidFill>
                          <a:latin typeface="Inter"/>
                        </a:defRPr>
                      </a:pPr>
                      <a:r>
                        <a:rPr>
                          <a:latin typeface="Inter"/>
                        </a:rPr>
                        <a:t>get_the_read</a:t>
                      </a:r>
                    </a:p>
                  </a:txBody>
                  <a:tcPr marL="54864" marR="54864" marT="27432" marB="27432" anchor="ctr">
                    <a:solidFill>
                      <a:srgbClr val="FFFFFF"/>
                    </a:solidFill>
                  </a:tcPr>
                </a:tc>
                <a:tc>
                  <a:txBody>
                    <a:bodyPr/>
                    <a:lstStyle/>
                    <a:p>
                      <a:pPr>
                        <a:defRPr sz="720" b="0">
                          <a:solidFill>
                            <a:srgbClr val="0D1117"/>
                          </a:solidFill>
                          <a:latin typeface="Inter"/>
                        </a:defRPr>
                      </a:pPr>
                      <a:r>
                        <a:rPr>
                          <a:latin typeface="Inter"/>
                        </a:rPr>
                        <a:t>2026-10-02</a:t>
                      </a:r>
                    </a:p>
                  </a:txBody>
                  <a:tcPr marL="54864" marR="54864" marT="27432" marB="27432" anchor="ctr">
                    <a:solidFill>
                      <a:srgbClr val="FFFFFF"/>
                    </a:solidFill>
                  </a:tcPr>
                </a:tc>
                <a:tc>
                  <a:txBody>
                    <a:bodyPr/>
                    <a:lstStyle/>
                    <a:p>
                      <a:pPr>
                        <a:defRPr sz="720" b="1">
                          <a:solidFill>
                            <a:srgbClr val="C6F432"/>
                          </a:solidFill>
                          <a:latin typeface="Inter"/>
                        </a:defRPr>
                      </a:pPr>
                      <a:r>
                        <a:rPr>
                          <a:latin typeface="Inter"/>
                        </a:rPr>
                        <a:t>● Passed</a:t>
                      </a:r>
                    </a:p>
                  </a:txBody>
                  <a:tcPr marL="54864" marR="54864" marT="27432" marB="27432" anchor="ctr">
                    <a:solidFill>
                      <a:srgbClr val="F5F7F9"/>
                    </a:solidFill>
                  </a:tcPr>
                </a:tc>
              </a:tr>
              <a:tr h="521208">
                <a:tc>
                  <a:txBody>
                    <a:bodyPr/>
                    <a:lstStyle/>
                    <a:p>
                      <a:pPr>
                        <a:defRPr sz="720" b="1">
                          <a:solidFill>
                            <a:srgbClr val="0D1117"/>
                          </a:solidFill>
                          <a:latin typeface="Inter"/>
                        </a:defRPr>
                      </a:pPr>
                      <a:r>
                        <a:rPr>
                          <a:latin typeface="Inter"/>
                        </a:rPr>
                        <a:t>S6</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Macro conditions readiness probe</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get_macro_conditions</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2026-10-02</a:t>
                      </a:r>
                    </a:p>
                  </a:txBody>
                  <a:tcPr marL="54864" marR="54864" marT="27432" marB="27432" anchor="ctr">
                    <a:solidFill>
                      <a:srgbClr val="F5F7F9"/>
                    </a:solidFill>
                  </a:tcPr>
                </a:tc>
                <a:tc>
                  <a:txBody>
                    <a:bodyPr/>
                    <a:lstStyle/>
                    <a:p>
                      <a:pPr>
                        <a:defRPr sz="720" b="1">
                          <a:solidFill>
                            <a:srgbClr val="C6F432"/>
                          </a:solidFill>
                          <a:latin typeface="Inter"/>
                        </a:defRPr>
                      </a:pPr>
                      <a:r>
                        <a:rPr>
                          <a:latin typeface="Inter"/>
                        </a:rPr>
                        <a:t>● Passed</a:t>
                      </a:r>
                    </a:p>
                  </a:txBody>
                  <a:tcPr marL="54864" marR="54864" marT="27432" marB="27432" anchor="ctr">
                    <a:solidFill>
                      <a:srgbClr val="F5F7F9"/>
                    </a:solidFill>
                  </a:tcPr>
                </a:tc>
              </a:tr>
              <a:tr h="521208">
                <a:tc>
                  <a:txBody>
                    <a:bodyPr/>
                    <a:lstStyle/>
                    <a:p>
                      <a:pPr>
                        <a:defRPr sz="720" b="1">
                          <a:solidFill>
                            <a:srgbClr val="0D1117"/>
                          </a:solidFill>
                          <a:latin typeface="Inter"/>
                        </a:defRPr>
                      </a:pPr>
                      <a:r>
                        <a:rPr>
                          <a:latin typeface="Inter"/>
                        </a:rPr>
                        <a:t>S7</a:t>
                      </a:r>
                    </a:p>
                  </a:txBody>
                  <a:tcPr marL="54864" marR="54864" marT="27432" marB="27432" anchor="ctr">
                    <a:solidFill>
                      <a:srgbClr val="FFFFFF"/>
                    </a:solidFill>
                  </a:tcPr>
                </a:tc>
                <a:tc>
                  <a:txBody>
                    <a:bodyPr/>
                    <a:lstStyle/>
                    <a:p>
                      <a:pPr>
                        <a:defRPr sz="720" b="0">
                          <a:solidFill>
                            <a:srgbClr val="0D1117"/>
                          </a:solidFill>
                          <a:latin typeface="Inter"/>
                        </a:defRPr>
                      </a:pPr>
                      <a:r>
                        <a:rPr>
                          <a:latin typeface="Inter"/>
                        </a:rPr>
                        <a:t>Gradient signal readiness probe</a:t>
                      </a:r>
                    </a:p>
                  </a:txBody>
                  <a:tcPr marL="54864" marR="54864" marT="27432" marB="27432" anchor="ctr">
                    <a:solidFill>
                      <a:srgbClr val="FFFFFF"/>
                    </a:solidFill>
                  </a:tcPr>
                </a:tc>
                <a:tc>
                  <a:txBody>
                    <a:bodyPr/>
                    <a:lstStyle/>
                    <a:p>
                      <a:pPr>
                        <a:defRPr sz="720" b="0">
                          <a:solidFill>
                            <a:srgbClr val="0D1117"/>
                          </a:solidFill>
                          <a:latin typeface="Inter"/>
                        </a:defRPr>
                      </a:pPr>
                      <a:r>
                        <a:rPr>
                          <a:latin typeface="Inter"/>
                        </a:rPr>
                        <a:t>get_macro_signals</a:t>
                      </a:r>
                    </a:p>
                  </a:txBody>
                  <a:tcPr marL="54864" marR="54864" marT="27432" marB="27432" anchor="ctr">
                    <a:solidFill>
                      <a:srgbClr val="FFFFFF"/>
                    </a:solidFill>
                  </a:tcPr>
                </a:tc>
                <a:tc>
                  <a:txBody>
                    <a:bodyPr/>
                    <a:lstStyle/>
                    <a:p>
                      <a:pPr>
                        <a:defRPr sz="720" b="0">
                          <a:solidFill>
                            <a:srgbClr val="0D1117"/>
                          </a:solidFill>
                          <a:latin typeface="Inter"/>
                        </a:defRPr>
                      </a:pPr>
                      <a:r>
                        <a:rPr>
                          <a:latin typeface="Inter"/>
                        </a:rPr>
                        <a:t>2026-10-02</a:t>
                      </a:r>
                    </a:p>
                  </a:txBody>
                  <a:tcPr marL="54864" marR="54864" marT="27432" marB="27432" anchor="ctr">
                    <a:solidFill>
                      <a:srgbClr val="FFFFFF"/>
                    </a:solidFill>
                  </a:tcPr>
                </a:tc>
                <a:tc>
                  <a:txBody>
                    <a:bodyPr/>
                    <a:lstStyle/>
                    <a:p>
                      <a:pPr>
                        <a:defRPr sz="720" b="1">
                          <a:solidFill>
                            <a:srgbClr val="C6F432"/>
                          </a:solidFill>
                          <a:latin typeface="Inter"/>
                        </a:defRPr>
                      </a:pPr>
                      <a:r>
                        <a:rPr>
                          <a:latin typeface="Inter"/>
                        </a:rPr>
                        <a:t>● Passed</a:t>
                      </a:r>
                    </a:p>
                  </a:txBody>
                  <a:tcPr marL="54864" marR="54864" marT="27432" marB="27432" anchor="ctr">
                    <a:solidFill>
                      <a:srgbClr val="F5F7F9"/>
                    </a:solidFill>
                  </a:tcPr>
                </a:tc>
              </a:tr>
              <a:tr h="521208">
                <a:tc>
                  <a:txBody>
                    <a:bodyPr/>
                    <a:lstStyle/>
                    <a:p>
                      <a:pPr>
                        <a:defRPr sz="720" b="1">
                          <a:solidFill>
                            <a:srgbClr val="0D1117"/>
                          </a:solidFill>
                          <a:latin typeface="Inter"/>
                        </a:defRPr>
                      </a:pPr>
                      <a:r>
                        <a:rPr>
                          <a:latin typeface="Inter"/>
                        </a:rPr>
                        <a:t>S8</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Macro calendar readiness probe</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get_macro_calendar</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2026-10-04</a:t>
                      </a:r>
                    </a:p>
                  </a:txBody>
                  <a:tcPr marL="54864" marR="54864" marT="27432" marB="27432" anchor="ctr">
                    <a:solidFill>
                      <a:srgbClr val="F5F7F9"/>
                    </a:solidFill>
                  </a:tcPr>
                </a:tc>
                <a:tc>
                  <a:txBody>
                    <a:bodyPr/>
                    <a:lstStyle/>
                    <a:p>
                      <a:pPr>
                        <a:defRPr sz="720" b="1">
                          <a:solidFill>
                            <a:srgbClr val="C6F432"/>
                          </a:solidFill>
                          <a:latin typeface="Inter"/>
                        </a:defRPr>
                      </a:pPr>
                      <a:r>
                        <a:rPr>
                          <a:latin typeface="Inter"/>
                        </a:rPr>
                        <a:t>● Passed</a:t>
                      </a:r>
                    </a:p>
                  </a:txBody>
                  <a:tcPr marL="54864" marR="54864" marT="27432" marB="27432" anchor="ctr">
                    <a:solidFill>
                      <a:srgbClr val="F5F7F9"/>
                    </a:solidFill>
                  </a:tcPr>
                </a:tc>
              </a:tr>
            </a:tbl>
          </a:graphicData>
        </a:graphic>
      </p:graphicFrame>
      <p:sp>
        <p:nvSpPr>
          <p:cNvPr id="8" name="TextBox 7"/>
          <p:cNvSpPr txBox="1"/>
          <p:nvPr/>
        </p:nvSpPr>
        <p:spPr>
          <a:xfrm>
            <a:off x="640080" y="6035040"/>
            <a:ext cx="10908792" cy="164592"/>
          </a:xfrm>
          <a:prstGeom prst="rect">
            <a:avLst/>
          </a:prstGeom>
          <a:noFill/>
        </p:spPr>
        <p:txBody>
          <a:bodyPr wrap="none" lIns="9144" rIns="9144" tIns="9144" bIns="9144" anchor="t">
            <a:spAutoFit/>
          </a:bodyPr>
          <a:lstStyle/>
          <a:p>
            <a:pPr algn="l">
              <a:spcAft>
                <a:spcPts val="0"/>
              </a:spcAft>
              <a:defRPr sz="680" b="0">
                <a:solidFill>
                  <a:srgbClr val="8A94A1"/>
                </a:solidFill>
                <a:latin typeface="Inter"/>
              </a:defRPr>
            </a:pPr>
            <a:r>
              <a:rPr>
                <a:latin typeface="Inter"/>
              </a:rPr>
              <a:t>Illustrative, Gradient Maintained — demo data, not the client's holdings or managers. All organizations, portfolios, managers and results in this public example are illustrative.</a:t>
            </a:r>
          </a:p>
        </p:txBody>
      </p:sp>
      <p:sp>
        <p:nvSpPr>
          <p:cNvPr id="9" name="Rectangle 8"/>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0" name="TextBox 9"/>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S1 · S2 · S3 · S4 · S5 · S6 · S7 · S8</a:t>
            </a:r>
          </a:p>
        </p:txBody>
      </p:sp>
      <p:sp>
        <p:nvSpPr>
          <p:cNvPr id="11" name="TextBox 10"/>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operational readiness review · Data as of 2026-10-04</a:t>
            </a:r>
          </a:p>
        </p:txBody>
      </p:sp>
      <p:sp>
        <p:nvSpPr>
          <p:cNvPr id="12" name="TextBox 11"/>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Appendix — Sources and methods — continued</a:t>
            </a:r>
          </a:p>
        </p:txBody>
      </p:sp>
      <p:sp>
        <p:nvSpPr>
          <p:cNvPr id="4" name="Rectangle 3"/>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5" name="Rectangle 4"/>
          <p:cNvSpPr/>
          <p:nvPr/>
        </p:nvSpPr>
        <p:spPr>
          <a:xfrm>
            <a:off x="11018520" y="502920"/>
            <a:ext cx="530352" cy="393192"/>
          </a:xfrm>
          <a:prstGeom prst="rect">
            <a:avLst/>
          </a:prstGeom>
          <a:solidFill>
            <a:srgbClr val="9AA5B1"/>
          </a:solidFill>
          <a:ln>
            <a:solidFill>
              <a:srgbClr val="9AA5B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6" name="TextBox 5"/>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A</a:t>
            </a:r>
          </a:p>
        </p:txBody>
      </p:sp>
      <p:sp>
        <p:nvSpPr>
          <p:cNvPr id="7" name="TextBox 6"/>
          <p:cNvSpPr txBox="1"/>
          <p:nvPr/>
        </p:nvSpPr>
        <p:spPr>
          <a:xfrm>
            <a:off x="640080" y="1325880"/>
            <a:ext cx="10908792" cy="4892040"/>
          </a:xfrm>
          <a:prstGeom prst="rect">
            <a:avLst/>
          </a:prstGeom>
          <a:noFill/>
        </p:spPr>
        <p:txBody>
          <a:bodyPr wrap="none" lIns="9144" rIns="9144" tIns="9144" bIns="9144" anchor="t">
            <a:spAutoFit/>
          </a:bodyPr>
          <a:lstStyle/>
          <a:p>
            <a:pPr algn="l">
              <a:spcAft>
                <a:spcPts val="0"/>
              </a:spcAft>
              <a:defRPr sz="1100" b="0">
                <a:solidFill>
                  <a:srgbClr val="4A5563"/>
                </a:solidFill>
                <a:latin typeface="Inter"/>
              </a:defRPr>
            </a:pPr>
            <a:r>
              <a:rPr>
                <a:latin typeface="Inter"/>
              </a:rPr>
              <a:t>Readiness reflects entitlement, OAuth scope, backend health and data readiness reported by GradientCIO at the time of the check. Tool availability does not guarantee that data is published for every subject.</a:t>
            </a:r>
          </a:p>
        </p:txBody>
      </p:sp>
      <p:sp>
        <p:nvSpPr>
          <p:cNvPr id="8" name="Rectangle 7"/>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9" name="TextBox 8"/>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none cited</a:t>
            </a:r>
          </a:p>
        </p:txBody>
      </p:sp>
      <p:sp>
        <p:nvSpPr>
          <p:cNvPr id="10" name="TextBox 9"/>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operational readiness review · Data as of 2026-10-04</a:t>
            </a:r>
          </a:p>
        </p:txBody>
      </p:sp>
      <p:sp>
        <p:nvSpPr>
          <p:cNvPr id="11" name="TextBox 10"/>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10</a:t>
            </a:r>
          </a:p>
        </p:txBody>
      </p:sp>
    </p:spTree>
  </p:cSld>
  <p:clrMapOvr>
    <a:masterClrMapping/>
  </p:clrMapOvr>
</p:sld>
</file>

<file path=ppt/theme/theme1.xml><?xml version="1.0" encoding="utf-8"?>
<a:theme xmlns:a="http://schemas.openxmlformats.org/drawingml/2006/main" name="Office Theme">
  <a:themeElements>
    <a:clrScheme name="Office">
      <a:dk1>
        <a:srgbClr val="0D1117"/>
      </a:dk1>
      <a:lt1>
        <a:srgbClr val="FFFFFF"/>
      </a:lt1>
      <a:dk2>
        <a:srgbClr val="161C24"/>
      </a:dk2>
      <a:lt2>
        <a:srgbClr val="F5F7F9"/>
      </a:lt2>
      <a:accent1>
        <a:srgbClr val="C6F432"/>
      </a:accent1>
      <a:accent2>
        <a:srgbClr val="4F6B00"/>
      </a:accent2>
      <a:accent3>
        <a:srgbClr val="F2A93B"/>
      </a:accent3>
      <a:accent4>
        <a:srgbClr val="5B8DEF"/>
      </a:accent4>
      <a:accent5>
        <a:srgbClr val="FF6B5E"/>
      </a:accent5>
      <a:accent6>
        <a:srgbClr val="3FB8AF"/>
      </a:accent6>
      <a:hlink>
        <a:srgbClr val="0000FF"/>
      </a:hlink>
      <a:folHlink>
        <a:srgbClr val="800080"/>
      </a:folHlink>
    </a:clrScheme>
    <a:fontScheme name="Office">
      <a:majorFont>
        <a:latin typeface="Inter"/>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nter"/>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Northstar Investment Office</dc:title>
  <dc:subject>Readiness Review</dc:subject>
  <dc:creator>GradientCIO</dc:creator>
  <cp:keywords>Gradient report theme 2.3.0</cp:keywords>
  <dc:description>generated using python-pptx</dc:description>
  <cp:lastModifiedBy>GradientCIO</cp:lastModifiedBy>
  <cp:revision>1</cp:revision>
  <dcterms:created xsi:type="dcterms:W3CDTF">2020-01-01T00:00:00Z</dcterms:created>
  <dcterms:modified xsi:type="dcterms:W3CDTF">2020-01-01T00:00:00Z</dcterms:modified>
  <cp:category/>
</cp:coreProperties>
</file>