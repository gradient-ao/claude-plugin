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PLATFORM READINESS</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Investment Office</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Access, licensed capabilities and data coverage</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ORGANIZATION</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Northstar Investment Office</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ACCESS</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Connected</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LICENSED CAPABILITIES</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4 of 7</a:t>
            </a:r>
          </a:p>
        </p:txBody>
      </p:sp>
      <p:sp>
        <p:nvSpPr>
          <p:cNvPr id="15" name="TextBox 14"/>
          <p:cNvSpPr txBox="1"/>
          <p:nvPr/>
        </p:nvSpPr>
        <p:spPr>
          <a:xfrm>
            <a:off x="585216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REVIEWED</a:t>
            </a:r>
          </a:p>
        </p:txBody>
      </p:sp>
      <p:sp>
        <p:nvSpPr>
          <p:cNvPr id="16" name="TextBox 15"/>
          <p:cNvSpPr txBox="1"/>
          <p:nvPr/>
        </p:nvSpPr>
        <p:spPr>
          <a:xfrm>
            <a:off x="585216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2026-10-04</a:t>
            </a:r>
          </a:p>
        </p:txBody>
      </p:sp>
      <p:sp>
        <p:nvSpPr>
          <p:cNvPr id="17" name="Rectangle 16"/>
          <p:cNvSpPr/>
          <p:nvPr/>
        </p:nvSpPr>
        <p:spPr>
          <a:xfrm>
            <a:off x="685800" y="5687568"/>
            <a:ext cx="3337560" cy="53035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22960" y="5760720"/>
            <a:ext cx="3063240" cy="128016"/>
          </a:xfrm>
          <a:prstGeom prst="rect">
            <a:avLst/>
          </a:prstGeom>
          <a:noFill/>
        </p:spPr>
        <p:txBody>
          <a:bodyPr wrap="none" lIns="9144" rIns="9144" tIns="9144" bIns="9144" anchor="t">
            <a:spAutoFit/>
          </a:bodyPr>
          <a:lstStyle/>
          <a:p>
            <a:pPr algn="l">
              <a:spcAft>
                <a:spcPts val="0"/>
              </a:spcAft>
              <a:defRPr sz="620" b="1">
                <a:solidFill>
                  <a:srgbClr val="0D1117"/>
                </a:solidFill>
                <a:latin typeface="Inter"/>
              </a:defRPr>
            </a:pPr>
            <a:r>
              <a:rPr>
                <a:latin typeface="Inter"/>
              </a:rPr>
              <a:t>READINESS</a:t>
            </a:r>
          </a:p>
        </p:txBody>
      </p:sp>
      <p:sp>
        <p:nvSpPr>
          <p:cNvPr id="19" name="TextBox 18"/>
          <p:cNvSpPr txBox="1"/>
          <p:nvPr/>
        </p:nvSpPr>
        <p:spPr>
          <a:xfrm>
            <a:off x="822960" y="5916168"/>
            <a:ext cx="3063240" cy="182880"/>
          </a:xfrm>
          <a:prstGeom prst="rect">
            <a:avLst/>
          </a:prstGeom>
          <a:noFill/>
        </p:spPr>
        <p:txBody>
          <a:bodyPr wrap="none" lIns="9144" rIns="9144" tIns="9144" bIns="9144" anchor="t">
            <a:spAutoFit/>
          </a:bodyPr>
          <a:lstStyle/>
          <a:p>
            <a:pPr algn="l">
              <a:spcAft>
                <a:spcPts val="0"/>
              </a:spcAft>
              <a:defRPr sz="900" b="1">
                <a:solidFill>
                  <a:srgbClr val="0D1117"/>
                </a:solidFill>
                <a:latin typeface="Inter"/>
              </a:defRPr>
            </a:pPr>
            <a:r>
              <a:rPr>
                <a:latin typeface="Inter"/>
              </a:rPr>
              <a:t>Ready, with limits</a:t>
            </a:r>
          </a:p>
        </p:txBody>
      </p:sp>
      <p:sp>
        <p:nvSpPr>
          <p:cNvPr id="20" name="TextBox 19"/>
          <p:cNvSpPr txBox="1"/>
          <p:nvPr/>
        </p:nvSpPr>
        <p:spPr>
          <a:xfrm>
            <a:off x="4297680" y="573328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CAPABILITIES REVIEWED</a:t>
            </a:r>
          </a:p>
        </p:txBody>
      </p:sp>
      <p:sp>
        <p:nvSpPr>
          <p:cNvPr id="21" name="TextBox 20"/>
          <p:cNvSpPr txBox="1"/>
          <p:nvPr/>
        </p:nvSpPr>
        <p:spPr>
          <a:xfrm>
            <a:off x="4297680" y="5934456"/>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13 of 14 · Partial</a:t>
            </a:r>
          </a:p>
        </p:txBody>
      </p:sp>
      <p:sp>
        <p:nvSpPr>
          <p:cNvPr id="22" name="TextBox 21"/>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operational readiness review</a:t>
            </a:r>
          </a:p>
        </p:txBody>
      </p:sp>
      <p:sp>
        <p:nvSpPr>
          <p:cNvPr id="23" name="TextBox 22"/>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24" name="TextBox 23"/>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CAN THIS ORGANIZATION USE THE GRADIENT SKILLS TODAY?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Summary</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59135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591357"/>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2" name="TextBox 11"/>
          <p:cNvSpPr txBox="1"/>
          <p:nvPr/>
        </p:nvSpPr>
        <p:spPr>
          <a:xfrm>
            <a:off x="804671" y="1719072"/>
            <a:ext cx="10616184" cy="110672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GradientCIO is connected and healthy for organization Gradient [S1][S2]. Nineteen of twenty-one skills are ready; the macro briefing has one unavailable view, and the IC memo needs the Portfolio and Strategy Lab modules for live portfolio data [S2]. 13 of 14 contract checks passed; macro regime state returned Not available (HTTP 500) [S3].</a:t>
            </a:r>
          </a:p>
        </p:txBody>
      </p:sp>
      <p:sp>
        <p:nvSpPr>
          <p:cNvPr id="13" name="Rectangle 12"/>
          <p:cNvSpPr/>
          <p:nvPr/>
        </p:nvSpPr>
        <p:spPr>
          <a:xfrm>
            <a:off x="640080" y="3026965"/>
            <a:ext cx="2644902" cy="1770141"/>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026965"/>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749808" y="315498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SKILLS READY</a:t>
            </a:r>
          </a:p>
        </p:txBody>
      </p:sp>
      <p:sp>
        <p:nvSpPr>
          <p:cNvPr id="16" name="TextBox 15"/>
          <p:cNvSpPr txBox="1"/>
          <p:nvPr/>
        </p:nvSpPr>
        <p:spPr>
          <a:xfrm>
            <a:off x="749808" y="341101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19</a:t>
            </a:r>
          </a:p>
        </p:txBody>
      </p:sp>
      <p:sp>
        <p:nvSpPr>
          <p:cNvPr id="17" name="TextBox 16"/>
          <p:cNvSpPr txBox="1"/>
          <p:nvPr/>
        </p:nvSpPr>
        <p:spPr>
          <a:xfrm>
            <a:off x="749808" y="4467923"/>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of 21</a:t>
            </a:r>
          </a:p>
        </p:txBody>
      </p:sp>
      <p:sp>
        <p:nvSpPr>
          <p:cNvPr id="18" name="Rectangle 17"/>
          <p:cNvSpPr/>
          <p:nvPr/>
        </p:nvSpPr>
        <p:spPr>
          <a:xfrm>
            <a:off x="3394710" y="3026965"/>
            <a:ext cx="2644902" cy="1770141"/>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Rectangle 18"/>
          <p:cNvSpPr/>
          <p:nvPr/>
        </p:nvSpPr>
        <p:spPr>
          <a:xfrm>
            <a:off x="3394710" y="3026965"/>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3504438" y="315498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PARTIAL</a:t>
            </a:r>
          </a:p>
        </p:txBody>
      </p:sp>
      <p:sp>
        <p:nvSpPr>
          <p:cNvPr id="21" name="TextBox 20"/>
          <p:cNvSpPr txBox="1"/>
          <p:nvPr/>
        </p:nvSpPr>
        <p:spPr>
          <a:xfrm>
            <a:off x="3504438" y="341101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a:t>
            </a:r>
          </a:p>
        </p:txBody>
      </p:sp>
      <p:sp>
        <p:nvSpPr>
          <p:cNvPr id="22" name="TextBox 21"/>
          <p:cNvSpPr txBox="1"/>
          <p:nvPr/>
        </p:nvSpPr>
        <p:spPr>
          <a:xfrm>
            <a:off x="3504438" y="4467923"/>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Macro brief · IC memo</a:t>
            </a:r>
          </a:p>
        </p:txBody>
      </p:sp>
      <p:sp>
        <p:nvSpPr>
          <p:cNvPr id="23" name="Rectangle 22"/>
          <p:cNvSpPr/>
          <p:nvPr/>
        </p:nvSpPr>
        <p:spPr>
          <a:xfrm>
            <a:off x="6149340" y="3026965"/>
            <a:ext cx="2644902" cy="1770141"/>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Rectangle 23"/>
          <p:cNvSpPr/>
          <p:nvPr/>
        </p:nvSpPr>
        <p:spPr>
          <a:xfrm>
            <a:off x="6149340" y="3026965"/>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5" name="TextBox 24"/>
          <p:cNvSpPr txBox="1"/>
          <p:nvPr/>
        </p:nvSpPr>
        <p:spPr>
          <a:xfrm>
            <a:off x="6259068" y="315498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NOT LICENSED</a:t>
            </a:r>
          </a:p>
        </p:txBody>
      </p:sp>
      <p:sp>
        <p:nvSpPr>
          <p:cNvPr id="26" name="TextBox 25"/>
          <p:cNvSpPr txBox="1"/>
          <p:nvPr/>
        </p:nvSpPr>
        <p:spPr>
          <a:xfrm>
            <a:off x="6259068" y="341101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 modules</a:t>
            </a:r>
          </a:p>
        </p:txBody>
      </p:sp>
      <p:sp>
        <p:nvSpPr>
          <p:cNvPr id="27" name="TextBox 26"/>
          <p:cNvSpPr txBox="1"/>
          <p:nvPr/>
        </p:nvSpPr>
        <p:spPr>
          <a:xfrm>
            <a:off x="6259068" y="4467923"/>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Portfolio · Strategy Lab</a:t>
            </a:r>
          </a:p>
        </p:txBody>
      </p:sp>
      <p:sp>
        <p:nvSpPr>
          <p:cNvPr id="28" name="Rectangle 27"/>
          <p:cNvSpPr/>
          <p:nvPr/>
        </p:nvSpPr>
        <p:spPr>
          <a:xfrm>
            <a:off x="8903970" y="3026965"/>
            <a:ext cx="2644902" cy="1770141"/>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Rectangle 28"/>
          <p:cNvSpPr/>
          <p:nvPr/>
        </p:nvSpPr>
        <p:spPr>
          <a:xfrm>
            <a:off x="8903970" y="3026965"/>
            <a:ext cx="2644902"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0" name="TextBox 29"/>
          <p:cNvSpPr txBox="1"/>
          <p:nvPr/>
        </p:nvSpPr>
        <p:spPr>
          <a:xfrm>
            <a:off x="9013698" y="315498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CHECKS PASSED</a:t>
            </a:r>
          </a:p>
        </p:txBody>
      </p:sp>
      <p:sp>
        <p:nvSpPr>
          <p:cNvPr id="31" name="TextBox 30"/>
          <p:cNvSpPr txBox="1"/>
          <p:nvPr/>
        </p:nvSpPr>
        <p:spPr>
          <a:xfrm>
            <a:off x="9013698" y="341101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13 / 14</a:t>
            </a:r>
          </a:p>
        </p:txBody>
      </p:sp>
      <p:sp>
        <p:nvSpPr>
          <p:cNvPr id="32" name="TextBox 31"/>
          <p:cNvSpPr txBox="1"/>
          <p:nvPr/>
        </p:nvSpPr>
        <p:spPr>
          <a:xfrm>
            <a:off x="9013698" y="4467923"/>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 unavailable check</a:t>
            </a:r>
          </a:p>
        </p:txBody>
      </p:sp>
      <p:sp>
        <p:nvSpPr>
          <p:cNvPr id="33" name="Rectangle 32"/>
          <p:cNvSpPr/>
          <p:nvPr/>
        </p:nvSpPr>
        <p:spPr>
          <a:xfrm>
            <a:off x="640080" y="4906835"/>
            <a:ext cx="10908792" cy="131108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4" name="Rectangle 33"/>
          <p:cNvSpPr/>
          <p:nvPr/>
        </p:nvSpPr>
        <p:spPr>
          <a:xfrm>
            <a:off x="640080" y="4906835"/>
            <a:ext cx="54864" cy="131108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5" name="TextBox 34"/>
          <p:cNvSpPr txBox="1"/>
          <p:nvPr/>
        </p:nvSpPr>
        <p:spPr>
          <a:xfrm>
            <a:off x="804671" y="5016563"/>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What to do next</a:t>
            </a:r>
          </a:p>
        </p:txBody>
      </p:sp>
      <p:sp>
        <p:nvSpPr>
          <p:cNvPr id="36" name="TextBox 35"/>
          <p:cNvSpPr txBox="1"/>
          <p:nvPr/>
        </p:nvSpPr>
        <p:spPr>
          <a:xfrm>
            <a:off x="804671" y="5300027"/>
            <a:ext cx="10616184" cy="82645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Nothing is blocking day-to-day use. To write IC memos from live portfolio data, license the Portfolio and Strategy Lab modules; until then the memo can be written from holdings you supply.</a:t>
            </a:r>
          </a:p>
        </p:txBody>
      </p:sp>
      <p:sp>
        <p:nvSpPr>
          <p:cNvPr id="37" name="Rectangle 3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8" name="TextBox 3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39" name="TextBox 3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40" name="TextBox 3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STATUS OF EACH SKILL FOR THIS ORGANIZATION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Skills you can use</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READY</a:t>
            </a:r>
          </a:p>
        </p:txBody>
      </p:sp>
      <p:graphicFrame>
        <p:nvGraphicFramePr>
          <p:cNvPr id="10" name="Table 9"/>
          <p:cNvGraphicFramePr>
            <a:graphicFrameLocks noGrp="1"/>
          </p:cNvGraphicFramePr>
          <p:nvPr/>
        </p:nvGraphicFramePr>
        <p:xfrm>
          <a:off x="640080" y="1600200"/>
          <a:ext cx="10908792" cy="3152495"/>
        </p:xfrm>
        <a:graphic>
          <a:graphicData uri="http://schemas.openxmlformats.org/drawingml/2006/table">
            <a:tbl>
              <a:tblPr firstRow="1" bandRow="1">
                <a:tableStyleId>{5C22544A-7EE6-4342-B048-85BDC9FD1C3A}</a:tableStyleId>
              </a:tblPr>
              <a:tblGrid>
                <a:gridCol w="2011680"/>
                <a:gridCol w="4448556"/>
                <a:gridCol w="4448556"/>
              </a:tblGrid>
              <a:tr h="525415">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25415">
                <a:tc>
                  <a:txBody>
                    <a:bodyPr/>
                    <a:lstStyle/>
                    <a:p>
                      <a:pPr>
                        <a:defRPr sz="800" b="1">
                          <a:solidFill>
                            <a:srgbClr val="0D1117"/>
                          </a:solidFill>
                          <a:latin typeface="Inter"/>
                        </a:defRPr>
                      </a:pPr>
                      <a:r>
                        <a:rPr>
                          <a:latin typeface="Inter"/>
                        </a:rPr>
                        <a:t>gradient-odd-report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ODD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Event feed not published; reports disclose the gap</a:t>
                      </a:r>
                    </a:p>
                  </a:txBody>
                  <a:tcPr marL="54864" marR="54864" marT="27432" marB="27432" anchor="ctr">
                    <a:solidFill>
                      <a:srgbClr val="FFFFFF"/>
                    </a:solidFill>
                  </a:tcPr>
                </a:tc>
              </a:tr>
              <a:tr h="525415">
                <a:tc>
                  <a:txBody>
                    <a:bodyPr/>
                    <a:lstStyle/>
                    <a:p>
                      <a:pPr>
                        <a:defRPr sz="800" b="1">
                          <a:solidFill>
                            <a:srgbClr val="0D1117"/>
                          </a:solidFill>
                          <a:latin typeface="Inter"/>
                        </a:defRPr>
                      </a:pPr>
                      <a:r>
                        <a:rPr>
                          <a:latin typeface="Inter"/>
                        </a:rPr>
                        <a:t>gradient-odd-ddq-reconcile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DDQ reconciliation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One subject per call</a:t>
                      </a:r>
                    </a:p>
                  </a:txBody>
                  <a:tcPr marL="54864" marR="54864" marT="27432" marB="27432" anchor="ctr">
                    <a:solidFill>
                      <a:srgbClr val="F5F7F9"/>
                    </a:solidFill>
                  </a:tcPr>
                </a:tc>
              </a:tr>
              <a:tr h="525415">
                <a:tc>
                  <a:txBody>
                    <a:bodyPr/>
                    <a:lstStyle/>
                    <a:p>
                      <a:pPr>
                        <a:defRPr sz="800" b="1">
                          <a:solidFill>
                            <a:srgbClr val="0D1117"/>
                          </a:solidFill>
                          <a:latin typeface="Inter"/>
                        </a:defRPr>
                      </a:pPr>
                      <a:r>
                        <a:rPr>
                          <a:latin typeface="Inter"/>
                        </a:rPr>
                        <a:t>gradient-odd-manager-monitor</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Weekly digest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roster fund monitored</a:t>
                      </a:r>
                    </a:p>
                  </a:txBody>
                  <a:tcPr marL="54864" marR="54864" marT="27432" marB="27432" anchor="ctr">
                    <a:solidFill>
                      <a:srgbClr val="FFFFFF"/>
                    </a:solidFill>
                  </a:tcPr>
                </a:tc>
              </a:tr>
              <a:tr h="525415">
                <a:tc>
                  <a:txBody>
                    <a:bodyPr/>
                    <a:lstStyle/>
                    <a:p>
                      <a:pPr>
                        <a:defRPr sz="800" b="1">
                          <a:solidFill>
                            <a:srgbClr val="0D1117"/>
                          </a:solidFill>
                          <a:latin typeface="Inter"/>
                        </a:defRPr>
                      </a:pPr>
                      <a:r>
                        <a:rPr>
                          <a:latin typeface="Inter"/>
                        </a:rPr>
                        <a:t>gradient-gips-* (5)</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GIPS reviews</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Works from supplied documents</a:t>
                      </a:r>
                    </a:p>
                  </a:txBody>
                  <a:tcPr marL="54864" marR="54864" marT="27432" marB="27432" anchor="ctr">
                    <a:solidFill>
                      <a:srgbClr val="F5F7F9"/>
                    </a:solidFill>
                  </a:tcPr>
                </a:tc>
              </a:tr>
              <a:tr h="525420">
                <a:tc>
                  <a:txBody>
                    <a:bodyPr/>
                    <a:lstStyle/>
                    <a:p>
                      <a:pPr>
                        <a:defRPr sz="800" b="1">
                          <a:solidFill>
                            <a:srgbClr val="0D1117"/>
                          </a:solidFill>
                          <a:latin typeface="Inter"/>
                        </a:defRPr>
                      </a:pPr>
                      <a:r>
                        <a:rPr>
                          <a:latin typeface="Inter"/>
                        </a:rPr>
                        <a:t>gradient-setup</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Readiness report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Current check</a:t>
                      </a:r>
                    </a:p>
                  </a:txBody>
                  <a:tcPr marL="54864" marR="54864" marT="27432" marB="27432" anchor="ctr">
                    <a:solidFill>
                      <a:srgbClr val="FFFFFF"/>
                    </a:solidFill>
                  </a:tcPr>
                </a:tc>
              </a:tr>
            </a:tbl>
          </a:graphicData>
        </a:graphic>
      </p:graphicFrame>
      <p:sp>
        <p:nvSpPr>
          <p:cNvPr id="11" name="TextBox 10"/>
          <p:cNvSpPr txBox="1"/>
          <p:nvPr/>
        </p:nvSpPr>
        <p:spPr>
          <a:xfrm>
            <a:off x="640080" y="4862423"/>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PARTIAL OR UNAVAILABLE</a:t>
            </a:r>
          </a:p>
        </p:txBody>
      </p:sp>
      <p:graphicFrame>
        <p:nvGraphicFramePr>
          <p:cNvPr id="12" name="Table 11"/>
          <p:cNvGraphicFramePr>
            <a:graphicFrameLocks noGrp="1"/>
          </p:cNvGraphicFramePr>
          <p:nvPr/>
        </p:nvGraphicFramePr>
        <p:xfrm>
          <a:off x="640080" y="5136743"/>
          <a:ext cx="10908792" cy="1081176"/>
        </p:xfrm>
        <a:graphic>
          <a:graphicData uri="http://schemas.openxmlformats.org/drawingml/2006/table">
            <a:tbl>
              <a:tblPr firstRow="1" bandRow="1">
                <a:tableStyleId>{5C22544A-7EE6-4342-B048-85BDC9FD1C3A}</a:tableStyleId>
              </a:tblPr>
              <a:tblGrid>
                <a:gridCol w="2011680"/>
                <a:gridCol w="4448556"/>
                <a:gridCol w="4448556"/>
              </a:tblGrid>
              <a:tr h="540588">
                <a:tc>
                  <a:txBody>
                    <a:bodyPr/>
                    <a:lstStyle/>
                    <a:p>
                      <a:pPr>
                        <a:defRPr sz="750" b="1">
                          <a:solidFill>
                            <a:srgbClr val="FFFFFF"/>
                          </a:solidFill>
                          <a:latin typeface="Inter"/>
                        </a:defRPr>
                      </a:pPr>
                      <a:r>
                        <a:rPr>
                          <a:latin typeface="Inter"/>
                        </a:rPr>
                        <a:t>Skill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Produces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40588">
                <a:tc>
                  <a:txBody>
                    <a:bodyPr/>
                    <a:lstStyle/>
                    <a:p>
                      <a:pPr>
                        <a:defRPr sz="800" b="1">
                          <a:solidFill>
                            <a:srgbClr val="0D1117"/>
                          </a:solidFill>
                          <a:latin typeface="Inter"/>
                        </a:defRPr>
                      </a:pPr>
                      <a:r>
                        <a:rPr>
                          <a:latin typeface="Inter"/>
                        </a:rPr>
                        <a:t>gradient-decision-ic-memo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IC memo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Portfolio core: Not licensed; Strategy Lab supplement: Not licensed (optional). Use supplied holdings</a:t>
                      </a:r>
                    </a:p>
                  </a:txBody>
                  <a:tcPr marL="54864" marR="54864" marT="27432" marB="27432" anchor="ctr">
                    <a:solidFill>
                      <a:srgbClr val="FFFFFF"/>
                    </a:solidFill>
                  </a:tcPr>
                </a:tc>
              </a:tr>
            </a:tbl>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ORGANIZATION</a:t>
            </a:r>
          </a:p>
        </p:txBody>
      </p:sp>
      <p:graphicFrame>
        <p:nvGraphicFramePr>
          <p:cNvPr id="10" name="Table 9"/>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8897112"/>
              </a:tblGrid>
              <a:tr h="659674">
                <a:tc>
                  <a:txBody>
                    <a:bodyPr/>
                    <a:lstStyle/>
                    <a:p>
                      <a:pPr>
                        <a:defRPr sz="800" b="1">
                          <a:solidFill>
                            <a:srgbClr val="0D1117"/>
                          </a:solidFill>
                          <a:latin typeface="Inter"/>
                        </a:defRPr>
                      </a:pPr>
                      <a:r>
                        <a:rPr>
                          <a:latin typeface="Inter"/>
                        </a:rPr>
                        <a:t>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Gradient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Role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Admin [S1]</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Licensed modules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Firm &amp; fund diligence, Research, Macro desk, Gradient signals [S1]</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Not licensed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Portfolio, Strategy Lab, Peer intelligence [S2]</a:t>
                      </a:r>
                    </a:p>
                  </a:txBody>
                  <a:tcPr marL="54864" marR="54864" marT="27432" marB="27432" anchor="ctr">
                    <a:solidFill>
                      <a:srgbClr val="F5F7F9"/>
                    </a:solidFill>
                  </a:tcPr>
                </a:tc>
              </a:tr>
              <a:tr h="659674">
                <a:tc>
                  <a:txBody>
                    <a:bodyPr/>
                    <a:lstStyle/>
                    <a:p>
                      <a:pPr>
                        <a:defRPr sz="800" b="1">
                          <a:solidFill>
                            <a:srgbClr val="0D1117"/>
                          </a:solidFill>
                          <a:latin typeface="Inter"/>
                        </a:defRPr>
                      </a:pPr>
                      <a:r>
                        <a:rPr>
                          <a:latin typeface="Inter"/>
                        </a:rPr>
                        <a:t>Tools entitled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44 of 63 [S2]</a:t>
                      </a:r>
                    </a:p>
                  </a:txBody>
                  <a:tcPr marL="54864" marR="54864" marT="27432" marB="27432" anchor="ctr">
                    <a:solidFill>
                      <a:srgbClr val="FFFFFF"/>
                    </a:solidFill>
                  </a:tcPr>
                </a:tc>
              </a:tr>
              <a:tr h="659674">
                <a:tc>
                  <a:txBody>
                    <a:bodyPr/>
                    <a:lstStyle/>
                    <a:p>
                      <a:pPr>
                        <a:defRPr sz="800" b="1">
                          <a:solidFill>
                            <a:srgbClr val="0D1117"/>
                          </a:solidFill>
                          <a:latin typeface="Inter"/>
                        </a:defRPr>
                      </a:pPr>
                      <a:r>
                        <a:rPr>
                          <a:latin typeface="Inter"/>
                        </a:rPr>
                        <a:t>Backend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Ready [S2]</a:t>
                      </a:r>
                    </a:p>
                  </a:txBody>
                  <a:tcPr marL="54864" marR="54864" marT="27432" marB="27432" anchor="ctr">
                    <a:solidFill>
                      <a:srgbClr val="F5F7F9"/>
                    </a:solidFill>
                  </a:tcPr>
                </a:tc>
              </a:tr>
              <a:tr h="659676">
                <a:tc>
                  <a:txBody>
                    <a:bodyPr/>
                    <a:lstStyle/>
                    <a:p>
                      <a:pPr>
                        <a:defRPr sz="800" b="1">
                          <a:solidFill>
                            <a:srgbClr val="0D1117"/>
                          </a:solidFill>
                          <a:latin typeface="Inter"/>
                        </a:defRPr>
                      </a:pPr>
                      <a:r>
                        <a:rPr>
                          <a:latin typeface="Inter"/>
                        </a:rPr>
                        <a:t>Roster capacity</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of 3 fund slots used [S4]</a:t>
                      </a:r>
                    </a:p>
                  </a:txBody>
                  <a:tcPr marL="54864" marR="54864" marT="27432" marB="27432" anchor="ctr">
                    <a:solidFill>
                      <a:srgbClr val="FFFFFF"/>
                    </a:solidFill>
                  </a:tcPr>
                </a:tc>
              </a:tr>
            </a:tbl>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S4</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ORGANIZATION, MODULES AND DATA DOMAINS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Access and data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DATA DOMAINS</a:t>
            </a:r>
          </a:p>
        </p:txBody>
      </p:sp>
      <p:graphicFrame>
        <p:nvGraphicFramePr>
          <p:cNvPr id="10" name="Table 9"/>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4448556"/>
                <a:gridCol w="4448556"/>
              </a:tblGrid>
              <a:tr h="577215">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77215">
                <a:tc>
                  <a:txBody>
                    <a:bodyPr/>
                    <a:lstStyle/>
                    <a:p>
                      <a:pPr>
                        <a:defRPr sz="800" b="1">
                          <a:solidFill>
                            <a:srgbClr val="0D1117"/>
                          </a:solidFill>
                          <a:latin typeface="Inter"/>
                        </a:defRPr>
                      </a:pPr>
                      <a:r>
                        <a:rPr>
                          <a:latin typeface="Inter"/>
                        </a:rPr>
                        <a:t>Manager diligence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Form ADV current to 2026-10-01</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Macro research</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The Read published to 2026-10-02</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Capital market assumptions</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quality receipt unvalidated</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Market data</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a:t>
                      </a:r>
                    </a:p>
                  </a:txBody>
                  <a:tcPr marL="54864" marR="54864" marT="27432" marB="27432" anchor="ctr">
                    <a:solidFill>
                      <a:srgbClr val="FFFFFF"/>
                    </a:solidFill>
                  </a:tcPr>
                </a:tc>
              </a:tr>
              <a:tr h="577215">
                <a:tc>
                  <a:txBody>
                    <a:bodyPr/>
                    <a:lstStyle/>
                    <a:p>
                      <a:pPr>
                        <a:defRPr sz="800" b="1">
                          <a:solidFill>
                            <a:srgbClr val="0D1117"/>
                          </a:solidFill>
                          <a:latin typeface="Inter"/>
                        </a:defRPr>
                      </a:pPr>
                      <a:r>
                        <a:rPr>
                          <a:latin typeface="Inter"/>
                        </a:rPr>
                        <a:t>Strategy Lab</a:t>
                      </a:r>
                    </a:p>
                  </a:txBody>
                  <a:tcPr marL="54864" marR="54864" marT="27432" marB="27432" anchor="ctr">
                    <a:solidFill>
                      <a:srgbClr val="F5F7F9"/>
                    </a:solidFill>
                  </a:tcPr>
                </a:tc>
                <a:tc>
                  <a:txBody>
                    <a:bodyPr/>
                    <a:lstStyle/>
                    <a:p>
                      <a:pPr>
                        <a:defRPr sz="800" b="1">
                          <a:solidFill>
                            <a:srgbClr val="F2A93B"/>
                          </a:solidFill>
                          <a:latin typeface="Inter"/>
                        </a:defRPr>
                      </a:pPr>
                      <a:r>
                        <a:rPr>
                          <a:latin typeface="Inter"/>
                        </a:rPr>
                        <a:t>● partial</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Conditional; not licensed</a:t>
                      </a:r>
                    </a:p>
                  </a:txBody>
                  <a:tcPr marL="54864" marR="54864" marT="27432" marB="27432" anchor="ctr">
                    <a:solidFill>
                      <a:srgbClr val="F5F7F9"/>
                    </a:solidFill>
                  </a:tcPr>
                </a:tc>
              </a:tr>
              <a:tr h="577215">
                <a:tc>
                  <a:txBody>
                    <a:bodyPr/>
                    <a:lstStyle/>
                    <a:p>
                      <a:pPr>
                        <a:defRPr sz="800" b="1">
                          <a:solidFill>
                            <a:srgbClr val="0D1117"/>
                          </a:solidFill>
                          <a:latin typeface="Inter"/>
                        </a:defRPr>
                      </a:pPr>
                      <a:r>
                        <a:rPr>
                          <a:latin typeface="Inter"/>
                        </a:rPr>
                        <a:t>Peer intelligence</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Not licensed</a:t>
                      </a:r>
                    </a:p>
                  </a:txBody>
                  <a:tcPr marL="54864" marR="54864" marT="27432" marB="27432" anchor="ctr">
                    <a:solidFill>
                      <a:srgbClr val="FFFFFF"/>
                    </a:solidFill>
                  </a:tcPr>
                </a:tc>
              </a:tr>
            </a:tbl>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FULL SELF-TEST: 14 PROBES AGAINST THE LIVE CONNECTOR</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Contract checks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graphicFrame>
        <p:nvGraphicFramePr>
          <p:cNvPr id="9" name="Table 8"/>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76310">
                <a:tc>
                  <a:txBody>
                    <a:bodyPr/>
                    <a:lstStyle/>
                    <a:p>
                      <a:pPr>
                        <a:defRPr sz="750" b="1">
                          <a:solidFill>
                            <a:srgbClr val="FFFFFF"/>
                          </a:solidFill>
                          <a:latin typeface="Inter"/>
                        </a:defRPr>
                      </a:pPr>
                      <a:r>
                        <a:rPr>
                          <a:latin typeface="Inter"/>
                        </a:rPr>
                        <a:t>Probe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376310">
                <a:tc>
                  <a:txBody>
                    <a:bodyPr/>
                    <a:lstStyle/>
                    <a:p>
                      <a:pPr>
                        <a:defRPr sz="720" b="1">
                          <a:solidFill>
                            <a:srgbClr val="0D1117"/>
                          </a:solidFill>
                          <a:latin typeface="Inter"/>
                        </a:defRPr>
                      </a:pPr>
                      <a:r>
                        <a:rPr>
                          <a:latin typeface="Inter"/>
                        </a:rPr>
                        <a:t>orgs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odd_profile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get_manager_odd_profile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CRD 999901</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monitor_coverage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get_manager_monitor_evidence</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2026-10-01</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ADV freshness current</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Coverage partial: no chart history</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attention</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get_manager_diligence_attention_queue</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findings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get_manager_diligence_findings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Validator advisory on empty list (known)</a:t>
                      </a: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events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get_firm_fund_events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Publication not ready (known)</a:t>
                      </a:r>
                    </a:p>
                  </a:txBody>
                  <a:tcPr marL="54864" marR="54864" marT="27432" marB="27432" anchor="ctr">
                    <a:solidFill>
                      <a:srgbClr val="FFFFFF"/>
                    </a:solidFill>
                  </a:tcPr>
                </a:tc>
              </a:tr>
              <a:tr h="376310">
                <a:tc>
                  <a:txBody>
                    <a:bodyPr/>
                    <a:lstStyle/>
                    <a:p>
                      <a:pPr>
                        <a:defRPr sz="720" b="1">
                          <a:solidFill>
                            <a:srgbClr val="0D1117"/>
                          </a:solidFill>
                          <a:latin typeface="Inter"/>
                        </a:defRPr>
                      </a:pPr>
                      <a:r>
                        <a:rPr>
                          <a:latin typeface="Inter"/>
                        </a:rPr>
                        <a:t>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r>
              <a:tr h="376310">
                <a:tc>
                  <a:txBody>
                    <a:bodyPr/>
                    <a:lstStyle/>
                    <a:p>
                      <a:pPr>
                        <a:defRPr sz="720" b="1">
                          <a:solidFill>
                            <a:srgbClr val="0D1117"/>
                          </a:solidFill>
                          <a:latin typeface="Inter"/>
                        </a:defRPr>
                      </a:pPr>
                      <a:r>
                        <a:rPr>
                          <a:latin typeface="Inter"/>
                        </a:rPr>
                        <a:t>gradient_signal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GRIP degraded: 1 stale input</a:t>
                      </a:r>
                    </a:p>
                  </a:txBody>
                  <a:tcPr marL="54864" marR="54864" marT="27432" marB="27432" anchor="ctr">
                    <a:solidFill>
                      <a:srgbClr val="FFFFFF"/>
                    </a:solidFill>
                  </a:tcPr>
                </a:tc>
              </a:tr>
              <a:tr h="376320">
                <a:tc>
                  <a:txBody>
                    <a:bodyPr/>
                    <a:lstStyle/>
                    <a:p>
                      <a:pPr>
                        <a:defRPr sz="720" b="1">
                          <a:solidFill>
                            <a:srgbClr val="0D1117"/>
                          </a:solidFill>
                          <a:latin typeface="Inter"/>
                        </a:defRPr>
                      </a:pPr>
                      <a:r>
                        <a:rPr>
                          <a:latin typeface="Inter"/>
                        </a:rPr>
                        <a:t>regime_state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5F7F9"/>
                    </a:solidFill>
                  </a:tcPr>
                </a:tc>
                <a:tc>
                  <a:txBody>
                    <a:bodyPr/>
                    <a:lstStyle/>
                    <a:p>
                      <a:pPr>
                        <a:defRPr sz="720" b="1">
                          <a:solidFill>
                            <a:srgbClr val="F2A93B"/>
                          </a:solidFill>
                          <a:latin typeface="Inter"/>
                        </a:defRPr>
                      </a:pPr>
                      <a:r>
                        <a:rPr>
                          <a:latin typeface="Inter"/>
                        </a:rPr>
                        <a:t>● Not available</a:t>
                      </a:r>
                    </a:p>
                  </a:txBody>
                  <a:tcPr marL="54864" marR="54864" marT="27432" marB="27432" anchor="ctr">
                    <a:solidFill>
                      <a:srgbClr val="F5F7F9"/>
                    </a:solidFill>
                  </a:tcPr>
                </a:tc>
                <a:tc>
                  <a:txBody>
                    <a:bodyPr/>
                    <a:lstStyle/>
                    <a:p>
                      <a:pPr>
                        <a:defRPr sz="720" b="0">
                          <a:solidFill>
                            <a:srgbClr val="0D1117"/>
                          </a:solidFill>
                          <a:latin typeface="Inter"/>
                        </a:defRPr>
                      </a:pP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HTTP 500 MCP_TOOL_EXECUTION_FAILED; retried once</a:t>
                      </a:r>
                    </a:p>
                  </a:txBody>
                  <a:tcPr marL="54864" marR="54864" marT="27432" marB="27432" anchor="ctr">
                    <a:solidFill>
                      <a:srgbClr val="F5F7F9"/>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FULL SELF-TEST: 14 PROBES AGAINST THE LIVE CONNECTOR</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Contract checks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TABLE — CONTINUED</a:t>
            </a:r>
          </a:p>
        </p:txBody>
      </p:sp>
      <p:graphicFrame>
        <p:nvGraphicFramePr>
          <p:cNvPr id="10" name="Table 9"/>
          <p:cNvGraphicFramePr>
            <a:graphicFrameLocks noGrp="1"/>
          </p:cNvGraphicFramePr>
          <p:nvPr/>
        </p:nvGraphicFramePr>
        <p:xfrm>
          <a:off x="640080" y="1600200"/>
          <a:ext cx="10908792" cy="3030311"/>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1010103">
                <a:tc>
                  <a:txBody>
                    <a:bodyPr/>
                    <a:lstStyle/>
                    <a:p>
                      <a:pPr>
                        <a:defRPr sz="750" b="1">
                          <a:solidFill>
                            <a:srgbClr val="FFFFFF"/>
                          </a:solidFill>
                          <a:latin typeface="Inter"/>
                        </a:defRPr>
                      </a:pPr>
                      <a:r>
                        <a:rPr>
                          <a:latin typeface="Inter"/>
                        </a:rPr>
                        <a:t>Probe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Result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010103">
                <a:tc>
                  <a:txBody>
                    <a:bodyPr/>
                    <a:lstStyle/>
                    <a:p>
                      <a:pPr>
                        <a:defRPr sz="720" b="1">
                          <a:solidFill>
                            <a:srgbClr val="0D1117"/>
                          </a:solidFill>
                          <a:latin typeface="Inter"/>
                        </a:defRPr>
                      </a:pPr>
                      <a:r>
                        <a:rPr>
                          <a:latin typeface="Inter"/>
                        </a:rPr>
                        <a:t>cma_baseline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get_capital_market_assumptions</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Risk-free fresh; receipt validation unavailable</a:t>
                      </a:r>
                    </a:p>
                  </a:txBody>
                  <a:tcPr marL="54864" marR="54864" marT="27432" marB="27432" anchor="ctr">
                    <a:solidFill>
                      <a:srgbClr val="FFFFFF"/>
                    </a:solidFill>
                  </a:tcPr>
                </a:tc>
              </a:tr>
              <a:tr h="1010105">
                <a:tc>
                  <a:txBody>
                    <a:bodyPr/>
                    <a:lstStyle/>
                    <a:p>
                      <a:pPr>
                        <a:defRPr sz="720" b="1">
                          <a:solidFill>
                            <a:srgbClr val="0D1117"/>
                          </a:solidFill>
                          <a:latin typeface="Inter"/>
                        </a:defRPr>
                      </a:pPr>
                      <a:r>
                        <a:rPr>
                          <a:latin typeface="Inter"/>
                        </a:rPr>
                        <a:t>watchlist</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get_research_watchlist_changes</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No items selected</a:t>
                      </a:r>
                    </a:p>
                  </a:txBody>
                  <a:tcPr marL="54864" marR="54864" marT="27432" marB="27432" anchor="ctr">
                    <a:solidFill>
                      <a:srgbClr val="F5F7F9"/>
                    </a:solidFill>
                  </a:tcPr>
                </a:tc>
              </a:tr>
            </a:tbl>
          </a:graphicData>
        </a:graphic>
      </p:graphicFrame>
      <p:sp>
        <p:nvSpPr>
          <p:cNvPr id="11" name="Rectangle 10"/>
          <p:cNvSpPr/>
          <p:nvPr/>
        </p:nvSpPr>
        <p:spPr>
          <a:xfrm>
            <a:off x="640080" y="4740239"/>
            <a:ext cx="10908792" cy="147768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4740239"/>
            <a:ext cx="54864" cy="147768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484996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 new failures</a:t>
            </a:r>
          </a:p>
        </p:txBody>
      </p:sp>
      <p:sp>
        <p:nvSpPr>
          <p:cNvPr id="14" name="TextBox 13"/>
          <p:cNvSpPr txBox="1"/>
          <p:nvPr/>
        </p:nvSpPr>
        <p:spPr>
          <a:xfrm>
            <a:off x="804671" y="5133431"/>
            <a:ext cx="10616184" cy="99304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All probes completed without a new failure. The CMA baseline returns a fresh risk-free rate.</a:t>
            </a:r>
          </a:p>
        </p:txBody>
      </p:sp>
      <p:sp>
        <p:nvSpPr>
          <p:cNvPr id="15" name="Rectangle 14"/>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7" name="TextBox 16"/>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8" name="TextBox 17"/>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PROMPTS THAT WORK FOR THIS ORGANIZATION TODAY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Try next</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TextBox 8"/>
          <p:cNvSpPr txBox="1"/>
          <p:nvPr/>
        </p:nvSpPr>
        <p:spPr>
          <a:xfrm>
            <a:off x="640080" y="1325880"/>
            <a:ext cx="10908792" cy="4892040"/>
          </a:xfrm>
          <a:prstGeom prst="rect">
            <a:avLst/>
          </a:prstGeom>
          <a:noFill/>
        </p:spPr>
        <p:txBody>
          <a:bodyPr wrap="none" lIns="9144" rIns="9144" tIns="9144" bIns="9144" anchor="t">
            <a:spAutoFit/>
          </a:bodyPr>
          <a:lstStyle/>
          <a:p>
            <a:pPr algn="l">
              <a:spcAft>
                <a:spcPts val="500"/>
              </a:spcAft>
              <a:defRPr sz="1000" b="0">
                <a:solidFill>
                  <a:srgbClr val="0D1117"/>
                </a:solidFill>
                <a:latin typeface="Inter"/>
              </a:defRPr>
            </a:pPr>
            <a:r>
              <a:rPr>
                <a:latin typeface="Inter"/>
              </a:rPr>
              <a:t>01  Run an ODD report on Ridgeview Global Macro Fund II.</a:t>
            </a:r>
            <a:br/>
            <a:r>
              <a:rPr>
                <a:latin typeface="Inter"/>
              </a:rPr>
              <a:t>      Your one roster fund; a new Form ADV was filed after its last review.</a:t>
            </a:r>
          </a:p>
          <a:p>
            <a:pPr algn="l">
              <a:spcAft>
                <a:spcPts val="500"/>
              </a:spcAft>
              <a:defRPr sz="1000" b="0">
                <a:solidFill>
                  <a:srgbClr val="0D1117"/>
                </a:solidFill>
                <a:latin typeface="Inter"/>
              </a:defRPr>
            </a:pPr>
            <a:r>
              <a:rPr>
                <a:latin typeface="Inter"/>
              </a:rPr>
              <a:t>02  Give me this week's manager monitoring digest, and schedule it for Mondays.</a:t>
            </a:r>
            <a:br/>
            <a:r>
              <a:rPr>
                <a:latin typeface="Inter"/>
              </a:rPr>
              <a:t>      Keeps the roster under watch without manual checks.</a:t>
            </a:r>
          </a:p>
          <a:p>
            <a:pPr algn="l">
              <a:spcAft>
                <a:spcPts val="500"/>
              </a:spcAft>
              <a:defRPr sz="1000" b="0">
                <a:solidFill>
                  <a:srgbClr val="0D1117"/>
                </a:solidFill>
                <a:latin typeface="Inter"/>
              </a:defRPr>
            </a:pPr>
            <a:r>
              <a:rPr>
                <a:latin typeface="Inter"/>
              </a:rPr>
              <a:t>03  Build the macro briefing deck for Thursday's committee.</a:t>
            </a:r>
            <a:br/>
            <a:r>
              <a:rPr>
                <a:latin typeface="Inter"/>
              </a:rPr>
              <a:t>      Uses The Read, rates, Gradient signal, calendar and CMAs.</a:t>
            </a:r>
          </a:p>
        </p:txBody>
      </p:sp>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100" b="0">
                <a:solidFill>
                  <a:srgbClr val="4A5563"/>
                </a:solidFill>
                <a:latin typeface="Inter"/>
              </a:defRPr>
            </a:pPr>
            <a:r>
              <a:rPr>
                <a:latin typeface="Inter"/>
              </a:rPr>
              <a:t>Readiness reflects entitlement, OAuth scope, backend health and data readiness reported by GradientCIO at the time of the check. Tool availability does not guarantee that data is published for every subject.</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8" name="Table 7"/>
          <p:cNvGraphicFramePr>
            <a:graphicFrameLocks noGrp="1"/>
          </p:cNvGraphicFramePr>
          <p:nvPr/>
        </p:nvGraphicFramePr>
        <p:xfrm>
          <a:off x="640080" y="1325880"/>
          <a:ext cx="10908792" cy="4690872"/>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521208">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r>
              <a:tr h="521208">
                <a:tc>
                  <a:txBody>
                    <a:bodyPr/>
                    <a:lstStyle/>
                    <a:p>
                      <a:pPr>
                        <a:defRPr sz="72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Organizations and modules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list_organizations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9AA5B1"/>
                          </a:solidFill>
                          <a:latin typeface="Inter"/>
                        </a:defRPr>
                      </a:pPr>
                      <a:r>
                        <a:rPr>
                          <a:latin typeface="Inter"/>
                        </a:rPr>
                        <a:t>● n/a</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Capabilities, entitlement, coverage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get_gradient_capabilities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9AA5B1"/>
                          </a:solidFill>
                          <a:latin typeface="Inter"/>
                        </a:defRPr>
                      </a:pPr>
                      <a:r>
                        <a:rPr>
                          <a:latin typeface="Inter"/>
                        </a:rPr>
                        <a:t>● n/a</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Contract probes (14)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see table in section 04</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Diligence Roster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get_diligence_roster_funds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S5</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The Read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get_the_read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S6</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conditions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S7</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Gradient signal readiness probe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get_macro_signals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r h="521208">
                <a:tc>
                  <a:txBody>
                    <a:bodyPr/>
                    <a:lstStyle/>
                    <a:p>
                      <a:pPr>
                        <a:defRPr sz="720" b="1">
                          <a:solidFill>
                            <a:srgbClr val="0D1117"/>
                          </a:solidFill>
                          <a:latin typeface="Inter"/>
                        </a:defRPr>
                      </a:pPr>
                      <a:r>
                        <a:rPr>
                          <a:latin typeface="Inter"/>
                        </a:rPr>
                        <a:t>S8</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Macro calendar readiness probe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get_macro_calendar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r>
            </a:tbl>
          </a:graphicData>
        </a:graphic>
      </p:graphicFrame>
      <p:sp>
        <p:nvSpPr>
          <p:cNvPr id="9" name="TextBox 8"/>
          <p:cNvSpPr txBox="1"/>
          <p:nvPr/>
        </p:nvSpPr>
        <p:spPr>
          <a:xfrm>
            <a:off x="640080" y="6035040"/>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 · S5 · S6 · S7 · S8</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operational readiness review · Data as of 2026-10-04</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Investment Office</dc:title>
  <dc:subject>Readiness Review</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