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457200"/>
            <a:ext cx="274320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t>GradientCIO</a:t>
            </a:r>
          </a:p>
        </p:txBody>
      </p:sp>
      <p:sp>
        <p:nvSpPr>
          <p:cNvPr id="5" name="TextBox 4"/>
          <p:cNvSpPr txBox="1"/>
          <p:nvPr/>
        </p:nvSpPr>
        <p:spPr>
          <a:xfrm>
            <a:off x="685800" y="1828800"/>
            <a:ext cx="9966960" cy="274320"/>
          </a:xfrm>
          <a:prstGeom prst="rect">
            <a:avLst/>
          </a:prstGeom>
          <a:noFill/>
        </p:spPr>
        <p:txBody>
          <a:bodyPr wrap="none" lIns="9144" rIns="9144" tIns="9144" bIns="9144" anchor="t">
            <a:spAutoFit/>
          </a:bodyPr>
          <a:lstStyle/>
          <a:p>
            <a:pPr algn="l">
              <a:spcAft>
                <a:spcPts val="0"/>
              </a:spcAft>
              <a:defRPr sz="900" b="1">
                <a:solidFill>
                  <a:srgbClr val="C6F432"/>
                </a:solidFill>
                <a:latin typeface="Inter"/>
              </a:defRPr>
            </a:pPr>
            <a:r>
              <a:t>SETUP &amp; READINESS</a:t>
            </a:r>
          </a:p>
        </p:txBody>
      </p:sp>
      <p:sp>
        <p:nvSpPr>
          <p:cNvPr id="6" name="TextBox 5"/>
          <p:cNvSpPr txBox="1"/>
          <p:nvPr/>
        </p:nvSpPr>
        <p:spPr>
          <a:xfrm>
            <a:off x="685800" y="2176272"/>
            <a:ext cx="9966960" cy="1234440"/>
          </a:xfrm>
          <a:prstGeom prst="rect">
            <a:avLst/>
          </a:prstGeom>
          <a:noFill/>
        </p:spPr>
        <p:txBody>
          <a:bodyPr wrap="none" lIns="9144" rIns="9144" tIns="9144" bIns="9144" anchor="t">
            <a:spAutoFit/>
          </a:bodyPr>
          <a:lstStyle/>
          <a:p>
            <a:pPr algn="l">
              <a:spcAft>
                <a:spcPts val="0"/>
              </a:spcAft>
              <a:defRPr sz="3400" b="1">
                <a:solidFill>
                  <a:srgbClr val="FFFFFF"/>
                </a:solidFill>
                <a:latin typeface="Inter"/>
              </a:defRPr>
            </a:pPr>
            <a:r>
              <a:t>Gradient</a:t>
            </a:r>
          </a:p>
        </p:txBody>
      </p:sp>
      <p:sp>
        <p:nvSpPr>
          <p:cNvPr id="7" name="TextBox 6"/>
          <p:cNvSpPr txBox="1"/>
          <p:nvPr/>
        </p:nvSpPr>
        <p:spPr>
          <a:xfrm>
            <a:off x="685800" y="3456432"/>
            <a:ext cx="9692640" cy="640080"/>
          </a:xfrm>
          <a:prstGeom prst="rect">
            <a:avLst/>
          </a:prstGeom>
          <a:noFill/>
        </p:spPr>
        <p:txBody>
          <a:bodyPr wrap="none" lIns="9144" rIns="9144" tIns="9144" bIns="9144" anchor="t">
            <a:spAutoFit/>
          </a:bodyPr>
          <a:lstStyle/>
          <a:p>
            <a:pPr algn="l">
              <a:spcAft>
                <a:spcPts val="0"/>
              </a:spcAft>
              <a:defRPr sz="1500" b="0">
                <a:solidFill>
                  <a:srgbClr val="9AA5B1"/>
                </a:solidFill>
                <a:latin typeface="Inter"/>
              </a:defRPr>
            </a:pPr>
            <a:r>
              <a:t>GradientCIO connection, access and data readiness</a:t>
            </a:r>
          </a:p>
        </p:txBody>
      </p:sp>
      <p:sp>
        <p:nvSpPr>
          <p:cNvPr id="8" name="Rectangle 7"/>
          <p:cNvSpPr/>
          <p:nvPr/>
        </p:nvSpPr>
        <p:spPr>
          <a:xfrm>
            <a:off x="685800" y="4251960"/>
            <a:ext cx="1005840" cy="54864"/>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t>ORGANIZATION</a:t>
            </a:r>
          </a:p>
        </p:txBody>
      </p:sp>
      <p:sp>
        <p:nvSpPr>
          <p:cNvPr id="10" name="TextBox 9"/>
          <p:cNvSpPr txBox="1"/>
          <p:nvPr/>
        </p:nvSpPr>
        <p:spPr>
          <a:xfrm>
            <a:off x="68580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t>Gradient</a:t>
            </a:r>
          </a:p>
        </p:txBody>
      </p:sp>
      <p:sp>
        <p:nvSpPr>
          <p:cNvPr id="11" name="TextBox 10"/>
          <p:cNvSpPr txBox="1"/>
          <p:nvPr/>
        </p:nvSpPr>
        <p:spPr>
          <a:xfrm>
            <a:off x="416052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t>ROLE</a:t>
            </a:r>
          </a:p>
        </p:txBody>
      </p:sp>
      <p:sp>
        <p:nvSpPr>
          <p:cNvPr id="12" name="TextBox 11"/>
          <p:cNvSpPr txBox="1"/>
          <p:nvPr/>
        </p:nvSpPr>
        <p:spPr>
          <a:xfrm>
            <a:off x="416052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t>Admin</a:t>
            </a:r>
          </a:p>
        </p:txBody>
      </p:sp>
      <p:sp>
        <p:nvSpPr>
          <p:cNvPr id="13" name="TextBox 12"/>
          <p:cNvSpPr txBox="1"/>
          <p:nvPr/>
        </p:nvSpPr>
        <p:spPr>
          <a:xfrm>
            <a:off x="763524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t>LICENSED MODULES</a:t>
            </a:r>
          </a:p>
        </p:txBody>
      </p:sp>
      <p:sp>
        <p:nvSpPr>
          <p:cNvPr id="14" name="TextBox 13"/>
          <p:cNvSpPr txBox="1"/>
          <p:nvPr/>
        </p:nvSpPr>
        <p:spPr>
          <a:xfrm>
            <a:off x="763524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t>4 of 7</a:t>
            </a:r>
          </a:p>
        </p:txBody>
      </p:sp>
      <p:sp>
        <p:nvSpPr>
          <p:cNvPr id="15" name="TextBox 14"/>
          <p:cNvSpPr txBox="1"/>
          <p:nvPr/>
        </p:nvSpPr>
        <p:spPr>
          <a:xfrm>
            <a:off x="685800" y="5230368"/>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t>ROSTER FUNDS</a:t>
            </a:r>
          </a:p>
        </p:txBody>
      </p:sp>
      <p:sp>
        <p:nvSpPr>
          <p:cNvPr id="16" name="TextBox 15"/>
          <p:cNvSpPr txBox="1"/>
          <p:nvPr/>
        </p:nvSpPr>
        <p:spPr>
          <a:xfrm>
            <a:off x="685800" y="5431536"/>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t>1 of 3 slots</a:t>
            </a:r>
          </a:p>
        </p:txBody>
      </p:sp>
      <p:sp>
        <p:nvSpPr>
          <p:cNvPr id="17" name="TextBox 16"/>
          <p:cNvSpPr txBox="1"/>
          <p:nvPr/>
        </p:nvSpPr>
        <p:spPr>
          <a:xfrm>
            <a:off x="4160520" y="5230368"/>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t>MCP VERSION</a:t>
            </a:r>
          </a:p>
        </p:txBody>
      </p:sp>
      <p:sp>
        <p:nvSpPr>
          <p:cNvPr id="18" name="TextBox 17"/>
          <p:cNvSpPr txBox="1"/>
          <p:nvPr/>
        </p:nvSpPr>
        <p:spPr>
          <a:xfrm>
            <a:off x="4160520" y="5431536"/>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t>gradient-mcp 0.7.0</a:t>
            </a:r>
          </a:p>
        </p:txBody>
      </p:sp>
      <p:sp>
        <p:nvSpPr>
          <p:cNvPr id="19" name="TextBox 18"/>
          <p:cNvSpPr txBox="1"/>
          <p:nvPr/>
        </p:nvSpPr>
        <p:spPr>
          <a:xfrm>
            <a:off x="7635240" y="5230368"/>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t>CHECKED</a:t>
            </a:r>
          </a:p>
        </p:txBody>
      </p:sp>
      <p:sp>
        <p:nvSpPr>
          <p:cNvPr id="20" name="TextBox 19"/>
          <p:cNvSpPr txBox="1"/>
          <p:nvPr/>
        </p:nvSpPr>
        <p:spPr>
          <a:xfrm>
            <a:off x="7635240" y="5431536"/>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t>2026-10-04</a:t>
            </a:r>
          </a:p>
        </p:txBody>
      </p:sp>
      <p:sp>
        <p:nvSpPr>
          <p:cNvPr id="21" name="TextBox 20"/>
          <p:cNvSpPr txBox="1"/>
          <p:nvPr/>
        </p:nvSpPr>
        <p:spPr>
          <a:xfrm>
            <a:off x="685800" y="6473952"/>
            <a:ext cx="8046720" cy="182880"/>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t>Confidential — prepared for internal investment use</a:t>
            </a:r>
          </a:p>
        </p:txBody>
      </p:sp>
      <p:sp>
        <p:nvSpPr>
          <p:cNvPr id="22" name="TextBox 21"/>
          <p:cNvSpPr txBox="1"/>
          <p:nvPr/>
        </p:nvSpPr>
        <p:spPr>
          <a:xfrm>
            <a:off x="9875520" y="6473952"/>
            <a:ext cx="164592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CAN THIS ORGANIZATION USE THE GRADIENT SKILLS TODAY?</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Summary</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01</a:t>
            </a:r>
          </a:p>
        </p:txBody>
      </p:sp>
      <p:sp>
        <p:nvSpPr>
          <p:cNvPr id="8" name="Rectangle 7"/>
          <p:cNvSpPr/>
          <p:nvPr/>
        </p:nvSpPr>
        <p:spPr>
          <a:xfrm>
            <a:off x="640080" y="1325880"/>
            <a:ext cx="10908792" cy="18230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325880"/>
            <a:ext cx="54864" cy="18230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t>Bottom line</a:t>
            </a:r>
          </a:p>
        </p:txBody>
      </p:sp>
      <p:sp>
        <p:nvSpPr>
          <p:cNvPr id="11" name="TextBox 10"/>
          <p:cNvSpPr txBox="1"/>
          <p:nvPr/>
        </p:nvSpPr>
        <p:spPr>
          <a:xfrm>
            <a:off x="804671" y="1719072"/>
            <a:ext cx="10616184" cy="13384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GradientCIO is connected and healthy for organization Gradient [S1][S2]. Nineteen of twenty-one skills are ready; the macro briefing has one unavailable view, and the IC memo needs the Portfolio and Strategy Lab modules for live portfolio data [S2]. 13 of 14 contract checks passed; macro regime state returned Not available (HTTP 500) [S3].</a:t>
            </a:r>
          </a:p>
        </p:txBody>
      </p:sp>
      <p:sp>
        <p:nvSpPr>
          <p:cNvPr id="12" name="Rectangle 11"/>
          <p:cNvSpPr/>
          <p:nvPr/>
        </p:nvSpPr>
        <p:spPr>
          <a:xfrm>
            <a:off x="640080" y="3258664"/>
            <a:ext cx="2644902" cy="173751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3258664"/>
            <a:ext cx="2644902"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386680"/>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t>SKILLS READY</a:t>
            </a:r>
          </a:p>
        </p:txBody>
      </p:sp>
      <p:sp>
        <p:nvSpPr>
          <p:cNvPr id="15" name="TextBox 14"/>
          <p:cNvSpPr txBox="1"/>
          <p:nvPr/>
        </p:nvSpPr>
        <p:spPr>
          <a:xfrm>
            <a:off x="749808" y="3642712"/>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t>19</a:t>
            </a:r>
          </a:p>
        </p:txBody>
      </p:sp>
      <p:sp>
        <p:nvSpPr>
          <p:cNvPr id="16" name="TextBox 15"/>
          <p:cNvSpPr txBox="1"/>
          <p:nvPr/>
        </p:nvSpPr>
        <p:spPr>
          <a:xfrm>
            <a:off x="749808" y="4666997"/>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t>of 21</a:t>
            </a:r>
          </a:p>
        </p:txBody>
      </p:sp>
      <p:sp>
        <p:nvSpPr>
          <p:cNvPr id="17" name="Rectangle 16"/>
          <p:cNvSpPr/>
          <p:nvPr/>
        </p:nvSpPr>
        <p:spPr>
          <a:xfrm>
            <a:off x="3394710" y="3258664"/>
            <a:ext cx="2644902" cy="173751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94710" y="3258664"/>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04438" y="3386680"/>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t>PARTIAL</a:t>
            </a:r>
          </a:p>
        </p:txBody>
      </p:sp>
      <p:sp>
        <p:nvSpPr>
          <p:cNvPr id="20" name="TextBox 19"/>
          <p:cNvSpPr txBox="1"/>
          <p:nvPr/>
        </p:nvSpPr>
        <p:spPr>
          <a:xfrm>
            <a:off x="3504438" y="3642712"/>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t>2</a:t>
            </a:r>
          </a:p>
        </p:txBody>
      </p:sp>
      <p:sp>
        <p:nvSpPr>
          <p:cNvPr id="21" name="TextBox 20"/>
          <p:cNvSpPr txBox="1"/>
          <p:nvPr/>
        </p:nvSpPr>
        <p:spPr>
          <a:xfrm>
            <a:off x="3504438" y="4666997"/>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t>Macro brief · IC memo</a:t>
            </a:r>
          </a:p>
        </p:txBody>
      </p:sp>
      <p:sp>
        <p:nvSpPr>
          <p:cNvPr id="22" name="Rectangle 21"/>
          <p:cNvSpPr/>
          <p:nvPr/>
        </p:nvSpPr>
        <p:spPr>
          <a:xfrm>
            <a:off x="6149340" y="3258664"/>
            <a:ext cx="2644902" cy="173751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49340" y="3258664"/>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59068" y="3386680"/>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t>NOT LICENSED</a:t>
            </a:r>
          </a:p>
        </p:txBody>
      </p:sp>
      <p:sp>
        <p:nvSpPr>
          <p:cNvPr id="25" name="TextBox 24"/>
          <p:cNvSpPr txBox="1"/>
          <p:nvPr/>
        </p:nvSpPr>
        <p:spPr>
          <a:xfrm>
            <a:off x="6259068" y="3642712"/>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t>2 modules</a:t>
            </a:r>
          </a:p>
        </p:txBody>
      </p:sp>
      <p:sp>
        <p:nvSpPr>
          <p:cNvPr id="26" name="TextBox 25"/>
          <p:cNvSpPr txBox="1"/>
          <p:nvPr/>
        </p:nvSpPr>
        <p:spPr>
          <a:xfrm>
            <a:off x="6259068" y="4666997"/>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t>Portfolio · Strategy Lab</a:t>
            </a:r>
          </a:p>
        </p:txBody>
      </p:sp>
      <p:sp>
        <p:nvSpPr>
          <p:cNvPr id="27" name="Rectangle 26"/>
          <p:cNvSpPr/>
          <p:nvPr/>
        </p:nvSpPr>
        <p:spPr>
          <a:xfrm>
            <a:off x="8903970" y="3258664"/>
            <a:ext cx="2644902" cy="173751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03970" y="3258664"/>
            <a:ext cx="2644902"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13698" y="3386680"/>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t>CHECKS PASSED</a:t>
            </a:r>
          </a:p>
        </p:txBody>
      </p:sp>
      <p:sp>
        <p:nvSpPr>
          <p:cNvPr id="30" name="TextBox 29"/>
          <p:cNvSpPr txBox="1"/>
          <p:nvPr/>
        </p:nvSpPr>
        <p:spPr>
          <a:xfrm>
            <a:off x="9013698" y="3642712"/>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t>13 / 14</a:t>
            </a:r>
          </a:p>
        </p:txBody>
      </p:sp>
      <p:sp>
        <p:nvSpPr>
          <p:cNvPr id="31" name="TextBox 30"/>
          <p:cNvSpPr txBox="1"/>
          <p:nvPr/>
        </p:nvSpPr>
        <p:spPr>
          <a:xfrm>
            <a:off x="9013698" y="4666997"/>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t>1 unavailable check</a:t>
            </a:r>
          </a:p>
        </p:txBody>
      </p:sp>
      <p:sp>
        <p:nvSpPr>
          <p:cNvPr id="32" name="Rectangle 31"/>
          <p:cNvSpPr/>
          <p:nvPr/>
        </p:nvSpPr>
        <p:spPr>
          <a:xfrm>
            <a:off x="640080" y="5105909"/>
            <a:ext cx="10908792" cy="111201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0080" y="5105909"/>
            <a:ext cx="54864" cy="111201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1" y="521563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t>What to do next</a:t>
            </a:r>
          </a:p>
        </p:txBody>
      </p:sp>
      <p:sp>
        <p:nvSpPr>
          <p:cNvPr id="35" name="TextBox 34"/>
          <p:cNvSpPr txBox="1"/>
          <p:nvPr/>
        </p:nvSpPr>
        <p:spPr>
          <a:xfrm>
            <a:off x="804671" y="5499101"/>
            <a:ext cx="10616184" cy="62737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Nothing is blocking day-to-day use. To write IC memos from live portfolio data, license the Portfolio and Strategy Lab modules; until then the memo can be written from holdings you supply.</a:t>
            </a:r>
          </a:p>
        </p:txBody>
      </p:sp>
      <p:sp>
        <p:nvSpPr>
          <p:cNvPr id="36" name="Rectangle 3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S1 · S2 · S3</a:t>
            </a:r>
          </a:p>
        </p:txBody>
      </p:sp>
      <p:sp>
        <p:nvSpPr>
          <p:cNvPr id="38" name="TextBox 3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39" name="TextBox 3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STATUS OF EACH SKILL FOR THIS ORGANIZATION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Skills you can use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02</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2965704"/>
                <a:gridCol w="2965704"/>
                <a:gridCol w="2965704"/>
              </a:tblGrid>
              <a:tr h="611505">
                <a:tc>
                  <a:txBody>
                    <a:bodyPr/>
                    <a:lstStyle/>
                    <a:p>
                      <a:pPr>
                        <a:defRPr sz="750" b="1">
                          <a:solidFill>
                            <a:srgbClr val="FFFFFF"/>
                          </a:solidFill>
                          <a:latin typeface="Inter"/>
                        </a:defRPr>
                      </a:pPr>
                      <a:r>
                        <a:t>Skill</a:t>
                      </a:r>
                    </a:p>
                  </a:txBody>
                  <a:tcPr marL="54864" marR="54864" marT="27432" marB="27432" anchor="ctr">
                    <a:solidFill>
                      <a:srgbClr val="0D1117"/>
                    </a:solidFill>
                  </a:tcPr>
                </a:tc>
                <a:tc>
                  <a:txBody>
                    <a:bodyPr/>
                    <a:lstStyle/>
                    <a:p>
                      <a:pPr>
                        <a:defRPr sz="750" b="1">
                          <a:solidFill>
                            <a:srgbClr val="FFFFFF"/>
                          </a:solidFill>
                          <a:latin typeface="Inter"/>
                        </a:defRPr>
                      </a:pPr>
                      <a:r>
                        <a:t>Produces</a:t>
                      </a:r>
                    </a:p>
                  </a:txBody>
                  <a:tcPr marL="54864" marR="54864" marT="27432" marB="27432" anchor="ctr">
                    <a:solidFill>
                      <a:srgbClr val="0D1117"/>
                    </a:solidFill>
                  </a:tcPr>
                </a:tc>
                <a:tc>
                  <a:txBody>
                    <a:bodyPr/>
                    <a:lstStyle/>
                    <a:p>
                      <a:pPr>
                        <a:defRPr sz="750" b="1">
                          <a:solidFill>
                            <a:srgbClr val="FFFFFF"/>
                          </a:solidFill>
                          <a:latin typeface="Inter"/>
                        </a:defRPr>
                      </a:pPr>
                      <a:r>
                        <a:t>Status</a:t>
                      </a:r>
                    </a:p>
                  </a:txBody>
                  <a:tcPr marL="54864" marR="54864" marT="27432" marB="27432" anchor="ctr">
                    <a:solidFill>
                      <a:srgbClr val="0D1117"/>
                    </a:solidFill>
                  </a:tcPr>
                </a:tc>
                <a:tc>
                  <a:txBody>
                    <a:bodyPr/>
                    <a:lstStyle/>
                    <a:p>
                      <a:pPr>
                        <a:defRPr sz="750" b="1">
                          <a:solidFill>
                            <a:srgbClr val="FFFFFF"/>
                          </a:solidFill>
                          <a:latin typeface="Inter"/>
                        </a:defRPr>
                      </a:pPr>
                      <a:r>
                        <a:t>Note</a:t>
                      </a:r>
                    </a:p>
                  </a:txBody>
                  <a:tcPr marL="54864" marR="54864" marT="27432" marB="27432" anchor="ctr">
                    <a:solidFill>
                      <a:srgbClr val="0D1117"/>
                    </a:solidFill>
                  </a:tcPr>
                </a:tc>
              </a:tr>
              <a:tr h="611505">
                <a:tc>
                  <a:txBody>
                    <a:bodyPr/>
                    <a:lstStyle/>
                    <a:p>
                      <a:pPr>
                        <a:defRPr sz="800" b="1">
                          <a:solidFill>
                            <a:srgbClr val="0D1117"/>
                          </a:solidFill>
                          <a:latin typeface="Inter"/>
                        </a:defRPr>
                      </a:pPr>
                      <a:r>
                        <a:t>gradient-odd-report</a:t>
                      </a:r>
                    </a:p>
                  </a:txBody>
                  <a:tcPr marL="54864" marR="54864" marT="27432" marB="27432" anchor="ctr">
                    <a:solidFill>
                      <a:srgbClr val="FFFFFF"/>
                    </a:solidFill>
                  </a:tcPr>
                </a:tc>
                <a:tc>
                  <a:txBody>
                    <a:bodyPr/>
                    <a:lstStyle/>
                    <a:p>
                      <a:pPr>
                        <a:defRPr sz="800" b="0">
                          <a:solidFill>
                            <a:srgbClr val="0D1117"/>
                          </a:solidFill>
                          <a:latin typeface="Inter"/>
                        </a:defRPr>
                      </a:pPr>
                      <a:r>
                        <a:t>ODD report</a:t>
                      </a:r>
                    </a:p>
                  </a:txBody>
                  <a:tcPr marL="54864" marR="54864" marT="27432" marB="27432" anchor="ctr">
                    <a:solidFill>
                      <a:srgbClr val="FFFFFF"/>
                    </a:solidFill>
                  </a:tcPr>
                </a:tc>
                <a:tc>
                  <a:txBody>
                    <a:bodyPr/>
                    <a:lstStyle/>
                    <a:p>
                      <a:pPr>
                        <a:defRPr sz="800" b="1">
                          <a:solidFill>
                            <a:srgbClr val="C6F432"/>
                          </a:solidFill>
                          <a:latin typeface="Inter"/>
                        </a:defRPr>
                      </a:pPr>
                      <a:r>
                        <a:t>● Ready</a:t>
                      </a:r>
                    </a:p>
                  </a:txBody>
                  <a:tcPr marL="54864" marR="54864" marT="27432" marB="27432" anchor="ctr">
                    <a:solidFill>
                      <a:srgbClr val="F5F7F9"/>
                    </a:solidFill>
                  </a:tcPr>
                </a:tc>
                <a:tc>
                  <a:txBody>
                    <a:bodyPr/>
                    <a:lstStyle/>
                    <a:p>
                      <a:pPr>
                        <a:defRPr sz="800" b="0">
                          <a:solidFill>
                            <a:srgbClr val="0D1117"/>
                          </a:solidFill>
                          <a:latin typeface="Inter"/>
                        </a:defRPr>
                      </a:pPr>
                      <a:r>
                        <a:t>Event feed not yet published; reports say so</a:t>
                      </a:r>
                    </a:p>
                  </a:txBody>
                  <a:tcPr marL="54864" marR="54864" marT="27432" marB="27432" anchor="ctr">
                    <a:solidFill>
                      <a:srgbClr val="FFFFFF"/>
                    </a:solidFill>
                  </a:tcPr>
                </a:tc>
              </a:tr>
              <a:tr h="611505">
                <a:tc>
                  <a:txBody>
                    <a:bodyPr/>
                    <a:lstStyle/>
                    <a:p>
                      <a:pPr>
                        <a:defRPr sz="800" b="1">
                          <a:solidFill>
                            <a:srgbClr val="0D1117"/>
                          </a:solidFill>
                          <a:latin typeface="Inter"/>
                        </a:defRPr>
                      </a:pPr>
                      <a:r>
                        <a:t>gradient-ddq-reconcile</a:t>
                      </a:r>
                    </a:p>
                  </a:txBody>
                  <a:tcPr marL="54864" marR="54864" marT="27432" marB="27432" anchor="ctr">
                    <a:solidFill>
                      <a:srgbClr val="F5F7F9"/>
                    </a:solidFill>
                  </a:tcPr>
                </a:tc>
                <a:tc>
                  <a:txBody>
                    <a:bodyPr/>
                    <a:lstStyle/>
                    <a:p>
                      <a:pPr>
                        <a:defRPr sz="800" b="0">
                          <a:solidFill>
                            <a:srgbClr val="0D1117"/>
                          </a:solidFill>
                          <a:latin typeface="Inter"/>
                        </a:defRPr>
                      </a:pPr>
                      <a:r>
                        <a:t>DDQ reconciliation</a:t>
                      </a:r>
                    </a:p>
                  </a:txBody>
                  <a:tcPr marL="54864" marR="54864" marT="27432" marB="27432" anchor="ctr">
                    <a:solidFill>
                      <a:srgbClr val="F5F7F9"/>
                    </a:solidFill>
                  </a:tcPr>
                </a:tc>
                <a:tc>
                  <a:txBody>
                    <a:bodyPr/>
                    <a:lstStyle/>
                    <a:p>
                      <a:pPr>
                        <a:defRPr sz="800" b="1">
                          <a:solidFill>
                            <a:srgbClr val="C6F432"/>
                          </a:solidFill>
                          <a:latin typeface="Inter"/>
                        </a:defRPr>
                      </a:pPr>
                      <a:r>
                        <a:t>● Ready</a:t>
                      </a:r>
                    </a:p>
                  </a:txBody>
                  <a:tcPr marL="54864" marR="54864" marT="27432" marB="27432" anchor="ctr">
                    <a:solidFill>
                      <a:srgbClr val="F5F7F9"/>
                    </a:solidFill>
                  </a:tcPr>
                </a:tc>
                <a:tc>
                  <a:txBody>
                    <a:bodyPr/>
                    <a:lstStyle/>
                    <a:p>
                      <a:pPr>
                        <a:defRPr sz="800" b="0">
                          <a:solidFill>
                            <a:srgbClr val="0D1117"/>
                          </a:solidFill>
                          <a:latin typeface="Inter"/>
                        </a:defRPr>
                      </a:pPr>
                      <a:r>
                        <a:t>One subject per call; saving runs not yet available</a:t>
                      </a:r>
                    </a:p>
                  </a:txBody>
                  <a:tcPr marL="54864" marR="54864" marT="27432" marB="27432" anchor="ctr">
                    <a:solidFill>
                      <a:srgbClr val="F5F7F9"/>
                    </a:solidFill>
                  </a:tcPr>
                </a:tc>
              </a:tr>
              <a:tr h="611505">
                <a:tc>
                  <a:txBody>
                    <a:bodyPr/>
                    <a:lstStyle/>
                    <a:p>
                      <a:pPr>
                        <a:defRPr sz="800" b="1">
                          <a:solidFill>
                            <a:srgbClr val="0D1117"/>
                          </a:solidFill>
                          <a:latin typeface="Inter"/>
                        </a:defRPr>
                      </a:pPr>
                      <a:r>
                        <a:t>gradient-manager-monitor</a:t>
                      </a:r>
                    </a:p>
                  </a:txBody>
                  <a:tcPr marL="54864" marR="54864" marT="27432" marB="27432" anchor="ctr">
                    <a:solidFill>
                      <a:srgbClr val="FFFFFF"/>
                    </a:solidFill>
                  </a:tcPr>
                </a:tc>
                <a:tc>
                  <a:txBody>
                    <a:bodyPr/>
                    <a:lstStyle/>
                    <a:p>
                      <a:pPr>
                        <a:defRPr sz="800" b="0">
                          <a:solidFill>
                            <a:srgbClr val="0D1117"/>
                          </a:solidFill>
                          <a:latin typeface="Inter"/>
                        </a:defRPr>
                      </a:pPr>
                      <a:r>
                        <a:t>Weekly monitoring digest</a:t>
                      </a:r>
                    </a:p>
                  </a:txBody>
                  <a:tcPr marL="54864" marR="54864" marT="27432" marB="27432" anchor="ctr">
                    <a:solidFill>
                      <a:srgbClr val="FFFFFF"/>
                    </a:solidFill>
                  </a:tcPr>
                </a:tc>
                <a:tc>
                  <a:txBody>
                    <a:bodyPr/>
                    <a:lstStyle/>
                    <a:p>
                      <a:pPr>
                        <a:defRPr sz="800" b="1">
                          <a:solidFill>
                            <a:srgbClr val="C6F432"/>
                          </a:solidFill>
                          <a:latin typeface="Inter"/>
                        </a:defRPr>
                      </a:pPr>
                      <a:r>
                        <a:t>● Ready</a:t>
                      </a:r>
                    </a:p>
                  </a:txBody>
                  <a:tcPr marL="54864" marR="54864" marT="27432" marB="27432" anchor="ctr">
                    <a:solidFill>
                      <a:srgbClr val="F5F7F9"/>
                    </a:solidFill>
                  </a:tcPr>
                </a:tc>
                <a:tc>
                  <a:txBody>
                    <a:bodyPr/>
                    <a:lstStyle/>
                    <a:p>
                      <a:pPr>
                        <a:defRPr sz="800" b="0">
                          <a:solidFill>
                            <a:srgbClr val="0D1117"/>
                          </a:solidFill>
                          <a:latin typeface="Inter"/>
                        </a:defRPr>
                      </a:pPr>
                      <a:r>
                        <a:t>1 roster fund monitored</a:t>
                      </a:r>
                    </a:p>
                  </a:txBody>
                  <a:tcPr marL="54864" marR="54864" marT="27432" marB="27432" anchor="ctr">
                    <a:solidFill>
                      <a:srgbClr val="FFFFFF"/>
                    </a:solidFill>
                  </a:tcPr>
                </a:tc>
              </a:tr>
              <a:tr h="611505">
                <a:tc>
                  <a:txBody>
                    <a:bodyPr/>
                    <a:lstStyle/>
                    <a:p>
                      <a:pPr>
                        <a:defRPr sz="800" b="1">
                          <a:solidFill>
                            <a:srgbClr val="0D1117"/>
                          </a:solidFill>
                          <a:latin typeface="Inter"/>
                        </a:defRPr>
                      </a:pPr>
                      <a:r>
                        <a:t>gradient-macro-brief</a:t>
                      </a:r>
                    </a:p>
                  </a:txBody>
                  <a:tcPr marL="54864" marR="54864" marT="27432" marB="27432" anchor="ctr">
                    <a:solidFill>
                      <a:srgbClr val="F5F7F9"/>
                    </a:solidFill>
                  </a:tcPr>
                </a:tc>
                <a:tc>
                  <a:txBody>
                    <a:bodyPr/>
                    <a:lstStyle/>
                    <a:p>
                      <a:pPr>
                        <a:defRPr sz="800" b="0">
                          <a:solidFill>
                            <a:srgbClr val="0D1117"/>
                          </a:solidFill>
                          <a:latin typeface="Inter"/>
                        </a:defRPr>
                      </a:pPr>
                      <a:r>
                        <a:t>Macro briefing deck</a:t>
                      </a:r>
                    </a:p>
                  </a:txBody>
                  <a:tcPr marL="54864" marR="54864" marT="27432" marB="27432" anchor="ctr">
                    <a:solidFill>
                      <a:srgbClr val="F5F7F9"/>
                    </a:solidFill>
                  </a:tcPr>
                </a:tc>
                <a:tc>
                  <a:txBody>
                    <a:bodyPr/>
                    <a:lstStyle/>
                    <a:p>
                      <a:pPr>
                        <a:defRPr sz="800" b="1">
                          <a:solidFill>
                            <a:srgbClr val="F2A93B"/>
                          </a:solidFill>
                          <a:latin typeface="Inter"/>
                        </a:defRPr>
                      </a:pPr>
                      <a:r>
                        <a:t>● Partial</a:t>
                      </a:r>
                    </a:p>
                  </a:txBody>
                  <a:tcPr marL="54864" marR="54864" marT="27432" marB="27432" anchor="ctr">
                    <a:solidFill>
                      <a:srgbClr val="F5F7F9"/>
                    </a:solidFill>
                  </a:tcPr>
                </a:tc>
                <a:tc>
                  <a:txBody>
                    <a:bodyPr/>
                    <a:lstStyle/>
                    <a:p>
                      <a:pPr>
                        <a:defRPr sz="800" b="0">
                          <a:solidFill>
                            <a:srgbClr val="0D1117"/>
                          </a:solidFill>
                          <a:latin typeface="Inter"/>
                        </a:defRPr>
                      </a:pPr>
                      <a:r>
                        <a:t>Regime-state view unavailable; deck uses Gradient signal instead</a:t>
                      </a:r>
                    </a:p>
                  </a:txBody>
                  <a:tcPr marL="54864" marR="54864" marT="27432" marB="27432" anchor="ctr">
                    <a:solidFill>
                      <a:srgbClr val="F5F7F9"/>
                    </a:solidFill>
                  </a:tcPr>
                </a:tc>
              </a:tr>
              <a:tr h="611505">
                <a:tc>
                  <a:txBody>
                    <a:bodyPr/>
                    <a:lstStyle/>
                    <a:p>
                      <a:pPr>
                        <a:defRPr sz="800" b="1">
                          <a:solidFill>
                            <a:srgbClr val="0D1117"/>
                          </a:solidFill>
                          <a:latin typeface="Inter"/>
                        </a:defRPr>
                      </a:pPr>
                      <a:r>
                        <a:t>gradient-ic-memo</a:t>
                      </a:r>
                    </a:p>
                  </a:txBody>
                  <a:tcPr marL="54864" marR="54864" marT="27432" marB="27432" anchor="ctr">
                    <a:solidFill>
                      <a:srgbClr val="FFFFFF"/>
                    </a:solidFill>
                  </a:tcPr>
                </a:tc>
                <a:tc>
                  <a:txBody>
                    <a:bodyPr/>
                    <a:lstStyle/>
                    <a:p>
                      <a:pPr>
                        <a:defRPr sz="800" b="0">
                          <a:solidFill>
                            <a:srgbClr val="0D1117"/>
                          </a:solidFill>
                          <a:latin typeface="Inter"/>
                        </a:defRPr>
                      </a:pPr>
                      <a:r>
                        <a:t>IC memo</a:t>
                      </a:r>
                    </a:p>
                  </a:txBody>
                  <a:tcPr marL="54864" marR="54864" marT="27432" marB="27432" anchor="ctr">
                    <a:solidFill>
                      <a:srgbClr val="FFFFFF"/>
                    </a:solidFill>
                  </a:tcPr>
                </a:tc>
                <a:tc>
                  <a:txBody>
                    <a:bodyPr/>
                    <a:lstStyle/>
                    <a:p>
                      <a:pPr>
                        <a:defRPr sz="800" b="1">
                          <a:solidFill>
                            <a:srgbClr val="F2A93B"/>
                          </a:solidFill>
                          <a:latin typeface="Inter"/>
                        </a:defRPr>
                      </a:pPr>
                      <a:r>
                        <a:t>● Partial</a:t>
                      </a:r>
                    </a:p>
                  </a:txBody>
                  <a:tcPr marL="54864" marR="54864" marT="27432" marB="27432" anchor="ctr">
                    <a:solidFill>
                      <a:srgbClr val="F5F7F9"/>
                    </a:solidFill>
                  </a:tcPr>
                </a:tc>
                <a:tc>
                  <a:txBody>
                    <a:bodyPr/>
                    <a:lstStyle/>
                    <a:p>
                      <a:pPr>
                        <a:defRPr sz="800" b="0">
                          <a:solidFill>
                            <a:srgbClr val="0D1117"/>
                          </a:solidFill>
                          <a:latin typeface="Inter"/>
                        </a:defRPr>
                      </a:pPr>
                      <a:r>
                        <a:t>Portfolio and Strategy Lab not licensed: memo from supplied holdings only</a:t>
                      </a:r>
                    </a:p>
                  </a:txBody>
                  <a:tcPr marL="54864" marR="54864" marT="27432" marB="27432" anchor="ctr">
                    <a:solidFill>
                      <a:srgbClr val="FFFFFF"/>
                    </a:solidFill>
                  </a:tcPr>
                </a:tc>
              </a:tr>
              <a:tr h="611505">
                <a:tc>
                  <a:txBody>
                    <a:bodyPr/>
                    <a:lstStyle/>
                    <a:p>
                      <a:pPr>
                        <a:defRPr sz="800" b="1">
                          <a:solidFill>
                            <a:srgbClr val="0D1117"/>
                          </a:solidFill>
                          <a:latin typeface="Inter"/>
                        </a:defRPr>
                      </a:pPr>
                      <a:r>
                        <a:t>gradient-gips-* (5 skills)</a:t>
                      </a:r>
                    </a:p>
                  </a:txBody>
                  <a:tcPr marL="54864" marR="54864" marT="27432" marB="27432" anchor="ctr">
                    <a:solidFill>
                      <a:srgbClr val="F5F7F9"/>
                    </a:solidFill>
                  </a:tcPr>
                </a:tc>
                <a:tc>
                  <a:txBody>
                    <a:bodyPr/>
                    <a:lstStyle/>
                    <a:p>
                      <a:pPr>
                        <a:defRPr sz="800" b="0">
                          <a:solidFill>
                            <a:srgbClr val="0D1117"/>
                          </a:solidFill>
                          <a:latin typeface="Inter"/>
                        </a:defRPr>
                      </a:pPr>
                      <a:r>
                        <a:t>GIPS reviews and briefing notes</a:t>
                      </a:r>
                    </a:p>
                  </a:txBody>
                  <a:tcPr marL="54864" marR="54864" marT="27432" marB="27432" anchor="ctr">
                    <a:solidFill>
                      <a:srgbClr val="F5F7F9"/>
                    </a:solidFill>
                  </a:tcPr>
                </a:tc>
                <a:tc>
                  <a:txBody>
                    <a:bodyPr/>
                    <a:lstStyle/>
                    <a:p>
                      <a:pPr>
                        <a:defRPr sz="800" b="1">
                          <a:solidFill>
                            <a:srgbClr val="C6F432"/>
                          </a:solidFill>
                          <a:latin typeface="Inter"/>
                        </a:defRPr>
                      </a:pPr>
                      <a:r>
                        <a:t>● Ready</a:t>
                      </a:r>
                    </a:p>
                  </a:txBody>
                  <a:tcPr marL="54864" marR="54864" marT="27432" marB="27432" anchor="ctr">
                    <a:solidFill>
                      <a:srgbClr val="F5F7F9"/>
                    </a:solidFill>
                  </a:tcPr>
                </a:tc>
                <a:tc>
                  <a:txBody>
                    <a:bodyPr/>
                    <a:lstStyle/>
                    <a:p>
                      <a:pPr>
                        <a:defRPr sz="800" b="0">
                          <a:solidFill>
                            <a:srgbClr val="0D1117"/>
                          </a:solidFill>
                          <a:latin typeface="Inter"/>
                        </a:defRPr>
                      </a:pPr>
                      <a:r>
                        <a:t>Work from documents; Gradient evidence used when available</a:t>
                      </a:r>
                    </a:p>
                  </a:txBody>
                  <a:tcPr marL="54864" marR="54864" marT="27432" marB="27432" anchor="ctr">
                    <a:solidFill>
                      <a:srgbClr val="F5F7F9"/>
                    </a:solidFill>
                  </a:tcPr>
                </a:tc>
              </a:tr>
              <a:tr h="611505">
                <a:tc>
                  <a:txBody>
                    <a:bodyPr/>
                    <a:lstStyle/>
                    <a:p>
                      <a:pPr>
                        <a:defRPr sz="800" b="1">
                          <a:solidFill>
                            <a:srgbClr val="0D1117"/>
                          </a:solidFill>
                          <a:latin typeface="Inter"/>
                        </a:defRPr>
                      </a:pPr>
                      <a:r>
                        <a:t>gradient-setup</a:t>
                      </a:r>
                    </a:p>
                  </a:txBody>
                  <a:tcPr marL="54864" marR="54864" marT="27432" marB="27432" anchor="ctr">
                    <a:solidFill>
                      <a:srgbClr val="FFFFFF"/>
                    </a:solidFill>
                  </a:tcPr>
                </a:tc>
                <a:tc>
                  <a:txBody>
                    <a:bodyPr/>
                    <a:lstStyle/>
                    <a:p>
                      <a:pPr>
                        <a:defRPr sz="800" b="0">
                          <a:solidFill>
                            <a:srgbClr val="0D1117"/>
                          </a:solidFill>
                          <a:latin typeface="Inter"/>
                        </a:defRPr>
                      </a:pPr>
                      <a:r>
                        <a:t>This report</a:t>
                      </a:r>
                    </a:p>
                  </a:txBody>
                  <a:tcPr marL="54864" marR="54864" marT="27432" marB="27432" anchor="ctr">
                    <a:solidFill>
                      <a:srgbClr val="FFFFFF"/>
                    </a:solidFill>
                  </a:tcPr>
                </a:tc>
                <a:tc>
                  <a:txBody>
                    <a:bodyPr/>
                    <a:lstStyle/>
                    <a:p>
                      <a:pPr>
                        <a:defRPr sz="800" b="1">
                          <a:solidFill>
                            <a:srgbClr val="C6F432"/>
                          </a:solidFill>
                          <a:latin typeface="Inter"/>
                        </a:defRPr>
                      </a:pPr>
                      <a:r>
                        <a:t>● Ready</a:t>
                      </a:r>
                    </a:p>
                  </a:txBody>
                  <a:tcPr marL="54864" marR="54864" marT="27432" marB="27432" anchor="ctr">
                    <a:solidFill>
                      <a:srgbClr val="F5F7F9"/>
                    </a:solidFill>
                  </a:tcPr>
                </a:tc>
                <a:tc>
                  <a:txBody>
                    <a:bodyPr/>
                    <a:lstStyle/>
                    <a:p>
                      <a:pPr>
                        <a:defRPr sz="800" b="0">
                          <a:solidFill>
                            <a:srgbClr val="0D1117"/>
                          </a:solidFill>
                          <a:latin typeface="Inter"/>
                        </a:defRPr>
                      </a:pPr>
                    </a:p>
                  </a:txBody>
                  <a:tcPr marL="54864" marR="54864" marT="27432" marB="27432" anchor="ctr">
                    <a:solidFill>
                      <a:srgbClr val="FFFFFF"/>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none cited</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ORGANIZATION, MODULES AND DATA DOMAINS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Access and data</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03</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t>ORGANIZATION</a:t>
            </a:r>
          </a:p>
        </p:txBody>
      </p:sp>
      <p:graphicFrame>
        <p:nvGraphicFramePr>
          <p:cNvPr id="9" name="Table 8"/>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011680"/>
                <a:gridCol w="8897112"/>
              </a:tblGrid>
              <a:tr h="659674">
                <a:tc>
                  <a:txBody>
                    <a:bodyPr/>
                    <a:lstStyle/>
                    <a:p>
                      <a:pPr>
                        <a:defRPr sz="800" b="1">
                          <a:solidFill>
                            <a:srgbClr val="0D1117"/>
                          </a:solidFill>
                          <a:latin typeface="Inter"/>
                        </a:defRPr>
                      </a:pPr>
                      <a:r>
                        <a:t>Name</a:t>
                      </a:r>
                    </a:p>
                  </a:txBody>
                  <a:tcPr marL="54864" marR="54864" marT="27432" marB="27432" anchor="ctr">
                    <a:solidFill>
                      <a:srgbClr val="FFFFFF"/>
                    </a:solidFill>
                  </a:tcPr>
                </a:tc>
                <a:tc>
                  <a:txBody>
                    <a:bodyPr/>
                    <a:lstStyle/>
                    <a:p>
                      <a:pPr>
                        <a:defRPr sz="800" b="0">
                          <a:solidFill>
                            <a:srgbClr val="0D1117"/>
                          </a:solidFill>
                          <a:latin typeface="Inter"/>
                        </a:defRPr>
                      </a:pPr>
                      <a:r>
                        <a:t>Gradient [S1]</a:t>
                      </a:r>
                    </a:p>
                  </a:txBody>
                  <a:tcPr marL="54864" marR="54864" marT="27432" marB="27432" anchor="ctr">
                    <a:solidFill>
                      <a:srgbClr val="FFFFFF"/>
                    </a:solidFill>
                  </a:tcPr>
                </a:tc>
              </a:tr>
              <a:tr h="659674">
                <a:tc>
                  <a:txBody>
                    <a:bodyPr/>
                    <a:lstStyle/>
                    <a:p>
                      <a:pPr>
                        <a:defRPr sz="800" b="1">
                          <a:solidFill>
                            <a:srgbClr val="0D1117"/>
                          </a:solidFill>
                          <a:latin typeface="Inter"/>
                        </a:defRPr>
                      </a:pPr>
                      <a:r>
                        <a:t>Role</a:t>
                      </a:r>
                    </a:p>
                  </a:txBody>
                  <a:tcPr marL="54864" marR="54864" marT="27432" marB="27432" anchor="ctr">
                    <a:solidFill>
                      <a:srgbClr val="F5F7F9"/>
                    </a:solidFill>
                  </a:tcPr>
                </a:tc>
                <a:tc>
                  <a:txBody>
                    <a:bodyPr/>
                    <a:lstStyle/>
                    <a:p>
                      <a:pPr>
                        <a:defRPr sz="800" b="0">
                          <a:solidFill>
                            <a:srgbClr val="0D1117"/>
                          </a:solidFill>
                          <a:latin typeface="Inter"/>
                        </a:defRPr>
                      </a:pPr>
                      <a:r>
                        <a:t>Admin [S1]</a:t>
                      </a:r>
                    </a:p>
                  </a:txBody>
                  <a:tcPr marL="54864" marR="54864" marT="27432" marB="27432" anchor="ctr">
                    <a:solidFill>
                      <a:srgbClr val="F5F7F9"/>
                    </a:solidFill>
                  </a:tcPr>
                </a:tc>
              </a:tr>
              <a:tr h="659674">
                <a:tc>
                  <a:txBody>
                    <a:bodyPr/>
                    <a:lstStyle/>
                    <a:p>
                      <a:pPr>
                        <a:defRPr sz="800" b="1">
                          <a:solidFill>
                            <a:srgbClr val="0D1117"/>
                          </a:solidFill>
                          <a:latin typeface="Inter"/>
                        </a:defRPr>
                      </a:pPr>
                      <a:r>
                        <a:t>Licensed modules</a:t>
                      </a:r>
                    </a:p>
                  </a:txBody>
                  <a:tcPr marL="54864" marR="54864" marT="27432" marB="27432" anchor="ctr">
                    <a:solidFill>
                      <a:srgbClr val="FFFFFF"/>
                    </a:solidFill>
                  </a:tcPr>
                </a:tc>
                <a:tc>
                  <a:txBody>
                    <a:bodyPr/>
                    <a:lstStyle/>
                    <a:p>
                      <a:pPr>
                        <a:defRPr sz="800" b="0">
                          <a:solidFill>
                            <a:srgbClr val="0D1117"/>
                          </a:solidFill>
                          <a:latin typeface="Inter"/>
                        </a:defRPr>
                      </a:pPr>
                      <a:r>
                        <a:t>Firm &amp; fund diligence, Research, Macro desk, Gradient signals [S1]</a:t>
                      </a:r>
                    </a:p>
                  </a:txBody>
                  <a:tcPr marL="54864" marR="54864" marT="27432" marB="27432" anchor="ctr">
                    <a:solidFill>
                      <a:srgbClr val="FFFFFF"/>
                    </a:solidFill>
                  </a:tcPr>
                </a:tc>
              </a:tr>
              <a:tr h="659674">
                <a:tc>
                  <a:txBody>
                    <a:bodyPr/>
                    <a:lstStyle/>
                    <a:p>
                      <a:pPr>
                        <a:defRPr sz="800" b="1">
                          <a:solidFill>
                            <a:srgbClr val="0D1117"/>
                          </a:solidFill>
                          <a:latin typeface="Inter"/>
                        </a:defRPr>
                      </a:pPr>
                      <a:r>
                        <a:t>Not licensed</a:t>
                      </a:r>
                    </a:p>
                  </a:txBody>
                  <a:tcPr marL="54864" marR="54864" marT="27432" marB="27432" anchor="ctr">
                    <a:solidFill>
                      <a:srgbClr val="F5F7F9"/>
                    </a:solidFill>
                  </a:tcPr>
                </a:tc>
                <a:tc>
                  <a:txBody>
                    <a:bodyPr/>
                    <a:lstStyle/>
                    <a:p>
                      <a:pPr>
                        <a:defRPr sz="800" b="0">
                          <a:solidFill>
                            <a:srgbClr val="0D1117"/>
                          </a:solidFill>
                          <a:latin typeface="Inter"/>
                        </a:defRPr>
                      </a:pPr>
                      <a:r>
                        <a:t>Portfolio, Strategy Lab, Peer intelligence [S2]</a:t>
                      </a:r>
                    </a:p>
                  </a:txBody>
                  <a:tcPr marL="54864" marR="54864" marT="27432" marB="27432" anchor="ctr">
                    <a:solidFill>
                      <a:srgbClr val="F5F7F9"/>
                    </a:solidFill>
                  </a:tcPr>
                </a:tc>
              </a:tr>
              <a:tr h="659674">
                <a:tc>
                  <a:txBody>
                    <a:bodyPr/>
                    <a:lstStyle/>
                    <a:p>
                      <a:pPr>
                        <a:defRPr sz="800" b="1">
                          <a:solidFill>
                            <a:srgbClr val="0D1117"/>
                          </a:solidFill>
                          <a:latin typeface="Inter"/>
                        </a:defRPr>
                      </a:pPr>
                      <a:r>
                        <a:t>Tools entitled</a:t>
                      </a:r>
                    </a:p>
                  </a:txBody>
                  <a:tcPr marL="54864" marR="54864" marT="27432" marB="27432" anchor="ctr">
                    <a:solidFill>
                      <a:srgbClr val="FFFFFF"/>
                    </a:solidFill>
                  </a:tcPr>
                </a:tc>
                <a:tc>
                  <a:txBody>
                    <a:bodyPr/>
                    <a:lstStyle/>
                    <a:p>
                      <a:pPr>
                        <a:defRPr sz="800" b="0">
                          <a:solidFill>
                            <a:srgbClr val="0D1117"/>
                          </a:solidFill>
                          <a:latin typeface="Inter"/>
                        </a:defRPr>
                      </a:pPr>
                      <a:r>
                        <a:t>44 of 63 [S2]</a:t>
                      </a:r>
                    </a:p>
                  </a:txBody>
                  <a:tcPr marL="54864" marR="54864" marT="27432" marB="27432" anchor="ctr">
                    <a:solidFill>
                      <a:srgbClr val="FFFFFF"/>
                    </a:solidFill>
                  </a:tcPr>
                </a:tc>
              </a:tr>
              <a:tr h="659674">
                <a:tc>
                  <a:txBody>
                    <a:bodyPr/>
                    <a:lstStyle/>
                    <a:p>
                      <a:pPr>
                        <a:defRPr sz="800" b="1">
                          <a:solidFill>
                            <a:srgbClr val="0D1117"/>
                          </a:solidFill>
                          <a:latin typeface="Inter"/>
                        </a:defRPr>
                      </a:pPr>
                      <a:r>
                        <a:t>Backend</a:t>
                      </a:r>
                    </a:p>
                  </a:txBody>
                  <a:tcPr marL="54864" marR="54864" marT="27432" marB="27432" anchor="ctr">
                    <a:solidFill>
                      <a:srgbClr val="F5F7F9"/>
                    </a:solidFill>
                  </a:tcPr>
                </a:tc>
                <a:tc>
                  <a:txBody>
                    <a:bodyPr/>
                    <a:lstStyle/>
                    <a:p>
                      <a:pPr>
                        <a:defRPr sz="800" b="0">
                          <a:solidFill>
                            <a:srgbClr val="0D1117"/>
                          </a:solidFill>
                          <a:latin typeface="Inter"/>
                        </a:defRPr>
                      </a:pPr>
                      <a:r>
                        <a:t>Ready [S2]</a:t>
                      </a:r>
                    </a:p>
                  </a:txBody>
                  <a:tcPr marL="54864" marR="54864" marT="27432" marB="27432" anchor="ctr">
                    <a:solidFill>
                      <a:srgbClr val="F5F7F9"/>
                    </a:solidFill>
                  </a:tcPr>
                </a:tc>
              </a:tr>
              <a:tr h="659676">
                <a:tc>
                  <a:txBody>
                    <a:bodyPr/>
                    <a:lstStyle/>
                    <a:p>
                      <a:pPr>
                        <a:defRPr sz="800" b="1">
                          <a:solidFill>
                            <a:srgbClr val="0D1117"/>
                          </a:solidFill>
                          <a:latin typeface="Inter"/>
                        </a:defRPr>
                      </a:pPr>
                      <a:r>
                        <a:t>Roster capacity</a:t>
                      </a:r>
                    </a:p>
                  </a:txBody>
                  <a:tcPr marL="54864" marR="54864" marT="27432" marB="27432" anchor="ctr">
                    <a:solidFill>
                      <a:srgbClr val="FFFFFF"/>
                    </a:solidFill>
                  </a:tcPr>
                </a:tc>
                <a:tc>
                  <a:txBody>
                    <a:bodyPr/>
                    <a:lstStyle/>
                    <a:p>
                      <a:pPr>
                        <a:defRPr sz="800" b="0">
                          <a:solidFill>
                            <a:srgbClr val="0D1117"/>
                          </a:solidFill>
                          <a:latin typeface="Inter"/>
                        </a:defRPr>
                      </a:pPr>
                      <a:r>
                        <a:t>1 of 3 fund slots used [S4]</a:t>
                      </a:r>
                    </a:p>
                  </a:txBody>
                  <a:tcPr marL="54864" marR="54864" marT="27432" marB="27432" anchor="ctr">
                    <a:solidFill>
                      <a:srgbClr val="FFFFFF"/>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S1 · S2 · S4</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ORGANIZATION, MODULES AND DATA DOMAINS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Access and data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03</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t>DATA DOMAINS</a:t>
            </a:r>
          </a:p>
        </p:txBody>
      </p:sp>
      <p:graphicFrame>
        <p:nvGraphicFramePr>
          <p:cNvPr id="9" name="Table 8"/>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011680"/>
                <a:gridCol w="4448556"/>
                <a:gridCol w="4448556"/>
              </a:tblGrid>
              <a:tr h="577215">
                <a:tc>
                  <a:txBody>
                    <a:bodyPr/>
                    <a:lstStyle/>
                    <a:p>
                      <a:pPr>
                        <a:defRPr sz="750" b="1">
                          <a:solidFill>
                            <a:srgbClr val="FFFFFF"/>
                          </a:solidFill>
                          <a:latin typeface="Inter"/>
                        </a:defRPr>
                      </a:pPr>
                      <a:r>
                        <a:t>Source</a:t>
                      </a:r>
                    </a:p>
                  </a:txBody>
                  <a:tcPr marL="54864" marR="54864" marT="27432" marB="27432" anchor="ctr">
                    <a:solidFill>
                      <a:srgbClr val="0D1117"/>
                    </a:solidFill>
                  </a:tcPr>
                </a:tc>
                <a:tc>
                  <a:txBody>
                    <a:bodyPr/>
                    <a:lstStyle/>
                    <a:p>
                      <a:pPr>
                        <a:defRPr sz="750" b="1">
                          <a:solidFill>
                            <a:srgbClr val="FFFFFF"/>
                          </a:solidFill>
                          <a:latin typeface="Inter"/>
                        </a:defRPr>
                      </a:pPr>
                      <a:r>
                        <a:t>Status</a:t>
                      </a:r>
                    </a:p>
                  </a:txBody>
                  <a:tcPr marL="54864" marR="54864" marT="27432" marB="27432" anchor="ctr">
                    <a:solidFill>
                      <a:srgbClr val="0D1117"/>
                    </a:solidFill>
                  </a:tcPr>
                </a:tc>
                <a:tc>
                  <a:txBody>
                    <a:bodyPr/>
                    <a:lstStyle/>
                    <a:p>
                      <a:pPr>
                        <a:defRPr sz="750" b="1">
                          <a:solidFill>
                            <a:srgbClr val="FFFFFF"/>
                          </a:solidFill>
                          <a:latin typeface="Inter"/>
                        </a:defRPr>
                      </a:pPr>
                      <a:r>
                        <a:t>Note</a:t>
                      </a:r>
                    </a:p>
                  </a:txBody>
                  <a:tcPr marL="54864" marR="54864" marT="27432" marB="27432" anchor="ctr">
                    <a:solidFill>
                      <a:srgbClr val="0D1117"/>
                    </a:solidFill>
                  </a:tcPr>
                </a:tc>
              </a:tr>
              <a:tr h="577215">
                <a:tc>
                  <a:txBody>
                    <a:bodyPr/>
                    <a:lstStyle/>
                    <a:p>
                      <a:pPr>
                        <a:defRPr sz="800" b="1">
                          <a:solidFill>
                            <a:srgbClr val="0D1117"/>
                          </a:solidFill>
                          <a:latin typeface="Inter"/>
                        </a:defRPr>
                      </a:pPr>
                      <a:r>
                        <a:t>Manager diligence</a:t>
                      </a:r>
                    </a:p>
                  </a:txBody>
                  <a:tcPr marL="54864" marR="54864" marT="27432" marB="27432" anchor="ctr">
                    <a:solidFill>
                      <a:srgbClr val="FFFFFF"/>
                    </a:solidFill>
                  </a:tcPr>
                </a:tc>
                <a:tc>
                  <a:txBody>
                    <a:bodyPr/>
                    <a:lstStyle/>
                    <a:p>
                      <a:pPr>
                        <a:defRPr sz="800" b="1">
                          <a:solidFill>
                            <a:srgbClr val="C6F432"/>
                          </a:solidFill>
                          <a:latin typeface="Inter"/>
                        </a:defRPr>
                      </a:pPr>
                      <a:r>
                        <a:t>● available</a:t>
                      </a:r>
                    </a:p>
                  </a:txBody>
                  <a:tcPr marL="54864" marR="54864" marT="27432" marB="27432" anchor="ctr">
                    <a:solidFill>
                      <a:srgbClr val="F5F7F9"/>
                    </a:solidFill>
                  </a:tcPr>
                </a:tc>
                <a:tc>
                  <a:txBody>
                    <a:bodyPr/>
                    <a:lstStyle/>
                    <a:p>
                      <a:pPr>
                        <a:defRPr sz="800" b="0">
                          <a:solidFill>
                            <a:srgbClr val="0D1117"/>
                          </a:solidFill>
                          <a:latin typeface="Inter"/>
                        </a:defRPr>
                      </a:pPr>
                      <a:r>
                        <a:t>Form ADV current to 2026-10-01</a:t>
                      </a:r>
                    </a:p>
                  </a:txBody>
                  <a:tcPr marL="54864" marR="54864" marT="27432" marB="27432" anchor="ctr">
                    <a:solidFill>
                      <a:srgbClr val="FFFFFF"/>
                    </a:solidFill>
                  </a:tcPr>
                </a:tc>
              </a:tr>
              <a:tr h="577215">
                <a:tc>
                  <a:txBody>
                    <a:bodyPr/>
                    <a:lstStyle/>
                    <a:p>
                      <a:pPr>
                        <a:defRPr sz="800" b="1">
                          <a:solidFill>
                            <a:srgbClr val="0D1117"/>
                          </a:solidFill>
                          <a:latin typeface="Inter"/>
                        </a:defRPr>
                      </a:pPr>
                      <a:r>
                        <a:t>Macro research</a:t>
                      </a:r>
                    </a:p>
                  </a:txBody>
                  <a:tcPr marL="54864" marR="54864" marT="27432" marB="27432" anchor="ctr">
                    <a:solidFill>
                      <a:srgbClr val="F5F7F9"/>
                    </a:solidFill>
                  </a:tcPr>
                </a:tc>
                <a:tc>
                  <a:txBody>
                    <a:bodyPr/>
                    <a:lstStyle/>
                    <a:p>
                      <a:pPr>
                        <a:defRPr sz="800" b="1">
                          <a:solidFill>
                            <a:srgbClr val="F2A93B"/>
                          </a:solidFill>
                          <a:latin typeface="Inter"/>
                        </a:defRPr>
                      </a:pPr>
                      <a:r>
                        <a:t>● partial</a:t>
                      </a:r>
                    </a:p>
                  </a:txBody>
                  <a:tcPr marL="54864" marR="54864" marT="27432" marB="27432" anchor="ctr">
                    <a:solidFill>
                      <a:srgbClr val="F5F7F9"/>
                    </a:solidFill>
                  </a:tcPr>
                </a:tc>
                <a:tc>
                  <a:txBody>
                    <a:bodyPr/>
                    <a:lstStyle/>
                    <a:p>
                      <a:pPr>
                        <a:defRPr sz="800" b="0">
                          <a:solidFill>
                            <a:srgbClr val="0D1117"/>
                          </a:solidFill>
                          <a:latin typeface="Inter"/>
                        </a:defRPr>
                      </a:pPr>
                      <a:r>
                        <a:t>Conditional; The Read published to 2026-10-02</a:t>
                      </a:r>
                    </a:p>
                  </a:txBody>
                  <a:tcPr marL="54864" marR="54864" marT="27432" marB="27432" anchor="ctr">
                    <a:solidFill>
                      <a:srgbClr val="F5F7F9"/>
                    </a:solidFill>
                  </a:tcPr>
                </a:tc>
              </a:tr>
              <a:tr h="577215">
                <a:tc>
                  <a:txBody>
                    <a:bodyPr/>
                    <a:lstStyle/>
                    <a:p>
                      <a:pPr>
                        <a:defRPr sz="800" b="1">
                          <a:solidFill>
                            <a:srgbClr val="0D1117"/>
                          </a:solidFill>
                          <a:latin typeface="Inter"/>
                        </a:defRPr>
                      </a:pPr>
                      <a:r>
                        <a:t>Capital market assumptions</a:t>
                      </a:r>
                    </a:p>
                  </a:txBody>
                  <a:tcPr marL="54864" marR="54864" marT="27432" marB="27432" anchor="ctr">
                    <a:solidFill>
                      <a:srgbClr val="FFFFFF"/>
                    </a:solidFill>
                  </a:tcPr>
                </a:tc>
                <a:tc>
                  <a:txBody>
                    <a:bodyPr/>
                    <a:lstStyle/>
                    <a:p>
                      <a:pPr>
                        <a:defRPr sz="800" b="1">
                          <a:solidFill>
                            <a:srgbClr val="F2A93B"/>
                          </a:solidFill>
                          <a:latin typeface="Inter"/>
                        </a:defRPr>
                      </a:pPr>
                      <a:r>
                        <a:t>● partial</a:t>
                      </a:r>
                    </a:p>
                  </a:txBody>
                  <a:tcPr marL="54864" marR="54864" marT="27432" marB="27432" anchor="ctr">
                    <a:solidFill>
                      <a:srgbClr val="F5F7F9"/>
                    </a:solidFill>
                  </a:tcPr>
                </a:tc>
                <a:tc>
                  <a:txBody>
                    <a:bodyPr/>
                    <a:lstStyle/>
                    <a:p>
                      <a:pPr>
                        <a:defRPr sz="800" b="0">
                          <a:solidFill>
                            <a:srgbClr val="0D1117"/>
                          </a:solidFill>
                          <a:latin typeface="Inter"/>
                        </a:defRPr>
                      </a:pPr>
                      <a:r>
                        <a:t>Conditional; quality receipt unvalidated</a:t>
                      </a:r>
                    </a:p>
                  </a:txBody>
                  <a:tcPr marL="54864" marR="54864" marT="27432" marB="27432" anchor="ctr">
                    <a:solidFill>
                      <a:srgbClr val="FFFFFF"/>
                    </a:solidFill>
                  </a:tcPr>
                </a:tc>
              </a:tr>
              <a:tr h="577215">
                <a:tc>
                  <a:txBody>
                    <a:bodyPr/>
                    <a:lstStyle/>
                    <a:p>
                      <a:pPr>
                        <a:defRPr sz="800" b="1">
                          <a:solidFill>
                            <a:srgbClr val="0D1117"/>
                          </a:solidFill>
                          <a:latin typeface="Inter"/>
                        </a:defRPr>
                      </a:pPr>
                      <a:r>
                        <a:t>Market data</a:t>
                      </a:r>
                    </a:p>
                  </a:txBody>
                  <a:tcPr marL="54864" marR="54864" marT="27432" marB="27432" anchor="ctr">
                    <a:solidFill>
                      <a:srgbClr val="F5F7F9"/>
                    </a:solidFill>
                  </a:tcPr>
                </a:tc>
                <a:tc>
                  <a:txBody>
                    <a:bodyPr/>
                    <a:lstStyle/>
                    <a:p>
                      <a:pPr>
                        <a:defRPr sz="800" b="1">
                          <a:solidFill>
                            <a:srgbClr val="F2A93B"/>
                          </a:solidFill>
                          <a:latin typeface="Inter"/>
                        </a:defRPr>
                      </a:pPr>
                      <a:r>
                        <a:t>● partial</a:t>
                      </a:r>
                    </a:p>
                  </a:txBody>
                  <a:tcPr marL="54864" marR="54864" marT="27432" marB="27432" anchor="ctr">
                    <a:solidFill>
                      <a:srgbClr val="F5F7F9"/>
                    </a:solidFill>
                  </a:tcPr>
                </a:tc>
                <a:tc>
                  <a:txBody>
                    <a:bodyPr/>
                    <a:lstStyle/>
                    <a:p>
                      <a:pPr>
                        <a:defRPr sz="800" b="0">
                          <a:solidFill>
                            <a:srgbClr val="0D1117"/>
                          </a:solidFill>
                          <a:latin typeface="Inter"/>
                        </a:defRPr>
                      </a:pPr>
                      <a:r>
                        <a:t>Conditional</a:t>
                      </a:r>
                    </a:p>
                  </a:txBody>
                  <a:tcPr marL="54864" marR="54864" marT="27432" marB="27432" anchor="ctr">
                    <a:solidFill>
                      <a:srgbClr val="F5F7F9"/>
                    </a:solidFill>
                  </a:tcPr>
                </a:tc>
              </a:tr>
              <a:tr h="577215">
                <a:tc>
                  <a:txBody>
                    <a:bodyPr/>
                    <a:lstStyle/>
                    <a:p>
                      <a:pPr>
                        <a:defRPr sz="800" b="1">
                          <a:solidFill>
                            <a:srgbClr val="0D1117"/>
                          </a:solidFill>
                          <a:latin typeface="Inter"/>
                        </a:defRPr>
                      </a:pPr>
                      <a:r>
                        <a:t>Public equity</a:t>
                      </a:r>
                    </a:p>
                  </a:txBody>
                  <a:tcPr marL="54864" marR="54864" marT="27432" marB="27432" anchor="ctr">
                    <a:solidFill>
                      <a:srgbClr val="FFFFFF"/>
                    </a:solidFill>
                  </a:tcPr>
                </a:tc>
                <a:tc>
                  <a:txBody>
                    <a:bodyPr/>
                    <a:lstStyle/>
                    <a:p>
                      <a:pPr>
                        <a:defRPr sz="800" b="1">
                          <a:solidFill>
                            <a:srgbClr val="F2A93B"/>
                          </a:solidFill>
                          <a:latin typeface="Inter"/>
                        </a:defRPr>
                      </a:pPr>
                      <a:r>
                        <a:t>● partial</a:t>
                      </a:r>
                    </a:p>
                  </a:txBody>
                  <a:tcPr marL="54864" marR="54864" marT="27432" marB="27432" anchor="ctr">
                    <a:solidFill>
                      <a:srgbClr val="F5F7F9"/>
                    </a:solidFill>
                  </a:tcPr>
                </a:tc>
                <a:tc>
                  <a:txBody>
                    <a:bodyPr/>
                    <a:lstStyle/>
                    <a:p>
                      <a:pPr>
                        <a:defRPr sz="800" b="0">
                          <a:solidFill>
                            <a:srgbClr val="0D1117"/>
                          </a:solidFill>
                          <a:latin typeface="Inter"/>
                        </a:defRPr>
                      </a:pPr>
                      <a:r>
                        <a:t>Conditional</a:t>
                      </a:r>
                    </a:p>
                  </a:txBody>
                  <a:tcPr marL="54864" marR="54864" marT="27432" marB="27432" anchor="ctr">
                    <a:solidFill>
                      <a:srgbClr val="FFFFFF"/>
                    </a:solidFill>
                  </a:tcPr>
                </a:tc>
              </a:tr>
              <a:tr h="577215">
                <a:tc>
                  <a:txBody>
                    <a:bodyPr/>
                    <a:lstStyle/>
                    <a:p>
                      <a:pPr>
                        <a:defRPr sz="800" b="1">
                          <a:solidFill>
                            <a:srgbClr val="0D1117"/>
                          </a:solidFill>
                          <a:latin typeface="Inter"/>
                        </a:defRPr>
                      </a:pPr>
                      <a:r>
                        <a:t>Strategy Lab</a:t>
                      </a:r>
                    </a:p>
                  </a:txBody>
                  <a:tcPr marL="54864" marR="54864" marT="27432" marB="27432" anchor="ctr">
                    <a:solidFill>
                      <a:srgbClr val="F5F7F9"/>
                    </a:solidFill>
                  </a:tcPr>
                </a:tc>
                <a:tc>
                  <a:txBody>
                    <a:bodyPr/>
                    <a:lstStyle/>
                    <a:p>
                      <a:pPr>
                        <a:defRPr sz="800" b="1">
                          <a:solidFill>
                            <a:srgbClr val="F2A93B"/>
                          </a:solidFill>
                          <a:latin typeface="Inter"/>
                        </a:defRPr>
                      </a:pPr>
                      <a:r>
                        <a:t>● partial</a:t>
                      </a:r>
                    </a:p>
                  </a:txBody>
                  <a:tcPr marL="54864" marR="54864" marT="27432" marB="27432" anchor="ctr">
                    <a:solidFill>
                      <a:srgbClr val="F5F7F9"/>
                    </a:solidFill>
                  </a:tcPr>
                </a:tc>
                <a:tc>
                  <a:txBody>
                    <a:bodyPr/>
                    <a:lstStyle/>
                    <a:p>
                      <a:pPr>
                        <a:defRPr sz="800" b="0">
                          <a:solidFill>
                            <a:srgbClr val="0D1117"/>
                          </a:solidFill>
                          <a:latin typeface="Inter"/>
                        </a:defRPr>
                      </a:pPr>
                      <a:r>
                        <a:t>Conditional; not licensed</a:t>
                      </a:r>
                    </a:p>
                  </a:txBody>
                  <a:tcPr marL="54864" marR="54864" marT="27432" marB="27432" anchor="ctr">
                    <a:solidFill>
                      <a:srgbClr val="F5F7F9"/>
                    </a:solidFill>
                  </a:tcPr>
                </a:tc>
              </a:tr>
              <a:tr h="577215">
                <a:tc>
                  <a:txBody>
                    <a:bodyPr/>
                    <a:lstStyle/>
                    <a:p>
                      <a:pPr>
                        <a:defRPr sz="800" b="1">
                          <a:solidFill>
                            <a:srgbClr val="0D1117"/>
                          </a:solidFill>
                          <a:latin typeface="Inter"/>
                        </a:defRPr>
                      </a:pPr>
                      <a:r>
                        <a:t>Peer intelligence</a:t>
                      </a:r>
                    </a:p>
                  </a:txBody>
                  <a:tcPr marL="54864" marR="54864" marT="27432" marB="27432" anchor="ctr">
                    <a:solidFill>
                      <a:srgbClr val="FFFFFF"/>
                    </a:solidFill>
                  </a:tcPr>
                </a:tc>
                <a:tc>
                  <a:txBody>
                    <a:bodyPr/>
                    <a:lstStyle/>
                    <a:p>
                      <a:pPr>
                        <a:defRPr sz="800" b="1">
                          <a:solidFill>
                            <a:srgbClr val="9AA5B1"/>
                          </a:solidFill>
                          <a:latin typeface="Inter"/>
                        </a:defRPr>
                      </a:pPr>
                      <a:r>
                        <a:t>● unavailable</a:t>
                      </a:r>
                    </a:p>
                  </a:txBody>
                  <a:tcPr marL="54864" marR="54864" marT="27432" marB="27432" anchor="ctr">
                    <a:solidFill>
                      <a:srgbClr val="F5F7F9"/>
                    </a:solidFill>
                  </a:tcPr>
                </a:tc>
                <a:tc>
                  <a:txBody>
                    <a:bodyPr/>
                    <a:lstStyle/>
                    <a:p>
                      <a:pPr>
                        <a:defRPr sz="800" b="0">
                          <a:solidFill>
                            <a:srgbClr val="0D1117"/>
                          </a:solidFill>
                          <a:latin typeface="Inter"/>
                        </a:defRPr>
                      </a:pPr>
                      <a:r>
                        <a:t>Not licensed</a:t>
                      </a:r>
                    </a:p>
                  </a:txBody>
                  <a:tcPr marL="54864" marR="54864" marT="27432" marB="27432" anchor="ctr">
                    <a:solidFill>
                      <a:srgbClr val="FFFFFF"/>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none cited</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FULL SELF-TEST: 14 PROBES AGAINST THE LIVE CONNECTOR</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Contract checks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04</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376310">
                <a:tc>
                  <a:txBody>
                    <a:bodyPr/>
                    <a:lstStyle/>
                    <a:p>
                      <a:pPr>
                        <a:defRPr sz="750" b="1">
                          <a:solidFill>
                            <a:srgbClr val="FFFFFF"/>
                          </a:solidFill>
                          <a:latin typeface="Inter"/>
                        </a:defRPr>
                      </a:pPr>
                      <a:r>
                        <a:t>Probe</a:t>
                      </a:r>
                    </a:p>
                  </a:txBody>
                  <a:tcPr marL="54864" marR="54864" marT="27432" marB="27432" anchor="ctr">
                    <a:solidFill>
                      <a:srgbClr val="0D1117"/>
                    </a:solidFill>
                  </a:tcPr>
                </a:tc>
                <a:tc>
                  <a:txBody>
                    <a:bodyPr/>
                    <a:lstStyle/>
                    <a:p>
                      <a:pPr>
                        <a:defRPr sz="750" b="1">
                          <a:solidFill>
                            <a:srgbClr val="FFFFFF"/>
                          </a:solidFill>
                          <a:latin typeface="Inter"/>
                        </a:defRPr>
                      </a:pPr>
                      <a:r>
                        <a:t>Tool</a:t>
                      </a:r>
                    </a:p>
                  </a:txBody>
                  <a:tcPr marL="54864" marR="54864" marT="27432" marB="27432" anchor="ctr">
                    <a:solidFill>
                      <a:srgbClr val="0D1117"/>
                    </a:solidFill>
                  </a:tcPr>
                </a:tc>
                <a:tc>
                  <a:txBody>
                    <a:bodyPr/>
                    <a:lstStyle/>
                    <a:p>
                      <a:pPr>
                        <a:defRPr sz="750" b="1">
                          <a:solidFill>
                            <a:srgbClr val="FFFFFF"/>
                          </a:solidFill>
                          <a:latin typeface="Inter"/>
                        </a:defRPr>
                      </a:pPr>
                      <a:r>
                        <a:t>Result</a:t>
                      </a:r>
                    </a:p>
                  </a:txBody>
                  <a:tcPr marL="54864" marR="54864" marT="27432" marB="27432" anchor="ctr">
                    <a:solidFill>
                      <a:srgbClr val="0D1117"/>
                    </a:solidFill>
                  </a:tcPr>
                </a:tc>
                <a:tc>
                  <a:txBody>
                    <a:bodyPr/>
                    <a:lstStyle/>
                    <a:p>
                      <a:pPr>
                        <a:defRPr sz="750" b="1">
                          <a:solidFill>
                            <a:srgbClr val="FFFFFF"/>
                          </a:solidFill>
                          <a:latin typeface="Inter"/>
                        </a:defRPr>
                      </a:pPr>
                      <a:r>
                        <a:t>As of</a:t>
                      </a:r>
                    </a:p>
                  </a:txBody>
                  <a:tcPr marL="54864" marR="54864" marT="27432" marB="27432" anchor="ctr">
                    <a:solidFill>
                      <a:srgbClr val="0D1117"/>
                    </a:solidFill>
                  </a:tcPr>
                </a:tc>
                <a:tc>
                  <a:txBody>
                    <a:bodyPr/>
                    <a:lstStyle/>
                    <a:p>
                      <a:pPr>
                        <a:defRPr sz="750" b="1">
                          <a:solidFill>
                            <a:srgbClr val="FFFFFF"/>
                          </a:solidFill>
                          <a:latin typeface="Inter"/>
                        </a:defRPr>
                      </a:pPr>
                      <a:r>
                        <a:t>Note</a:t>
                      </a:r>
                    </a:p>
                  </a:txBody>
                  <a:tcPr marL="54864" marR="54864" marT="27432" marB="27432" anchor="ctr">
                    <a:solidFill>
                      <a:srgbClr val="0D1117"/>
                    </a:solidFill>
                  </a:tcPr>
                </a:tc>
              </a:tr>
              <a:tr h="376310">
                <a:tc>
                  <a:txBody>
                    <a:bodyPr/>
                    <a:lstStyle/>
                    <a:p>
                      <a:pPr>
                        <a:defRPr sz="720" b="1">
                          <a:solidFill>
                            <a:srgbClr val="0D1117"/>
                          </a:solidFill>
                          <a:latin typeface="Inter"/>
                        </a:defRPr>
                      </a:pPr>
                      <a:r>
                        <a:t>orgs</a:t>
                      </a:r>
                    </a:p>
                  </a:txBody>
                  <a:tcPr marL="54864" marR="54864" marT="27432" marB="27432" anchor="ctr">
                    <a:solidFill>
                      <a:srgbClr val="FFFFFF"/>
                    </a:solidFill>
                  </a:tcPr>
                </a:tc>
                <a:tc>
                  <a:txBody>
                    <a:bodyPr/>
                    <a:lstStyle/>
                    <a:p>
                      <a:pPr>
                        <a:defRPr sz="720" b="0">
                          <a:solidFill>
                            <a:srgbClr val="0D1117"/>
                          </a:solidFill>
                          <a:latin typeface="Inter"/>
                        </a:defRPr>
                      </a:pPr>
                      <a:r>
                        <a:t>list_organizations</a:t>
                      </a:r>
                    </a:p>
                  </a:txBody>
                  <a:tcPr marL="54864" marR="54864" marT="27432" marB="27432" anchor="ctr">
                    <a:solidFill>
                      <a:srgbClr val="FFFFFF"/>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FFFFF"/>
                    </a:solidFill>
                  </a:tcPr>
                </a:tc>
                <a:tc>
                  <a:txBody>
                    <a:bodyPr/>
                    <a:lstStyle/>
                    <a:p>
                      <a:pPr>
                        <a:defRPr sz="720" b="0">
                          <a:solidFill>
                            <a:srgbClr val="0D1117"/>
                          </a:solidFill>
                          <a:latin typeface="Inter"/>
                        </a:defRPr>
                      </a:pPr>
                    </a:p>
                  </a:txBody>
                  <a:tcPr marL="54864" marR="54864" marT="27432" marB="27432" anchor="ctr">
                    <a:solidFill>
                      <a:srgbClr val="FFFFFF"/>
                    </a:solidFill>
                  </a:tcPr>
                </a:tc>
              </a:tr>
              <a:tr h="376310">
                <a:tc>
                  <a:txBody>
                    <a:bodyPr/>
                    <a:lstStyle/>
                    <a:p>
                      <a:pPr>
                        <a:defRPr sz="720" b="1">
                          <a:solidFill>
                            <a:srgbClr val="0D1117"/>
                          </a:solidFill>
                          <a:latin typeface="Inter"/>
                        </a:defRPr>
                      </a:pPr>
                      <a:r>
                        <a:t>roster</a:t>
                      </a:r>
                    </a:p>
                  </a:txBody>
                  <a:tcPr marL="54864" marR="54864" marT="27432" marB="27432" anchor="ctr">
                    <a:solidFill>
                      <a:srgbClr val="F5F7F9"/>
                    </a:solidFill>
                  </a:tcPr>
                </a:tc>
                <a:tc>
                  <a:txBody>
                    <a:bodyPr/>
                    <a:lstStyle/>
                    <a:p>
                      <a:pPr>
                        <a:defRPr sz="720" b="0">
                          <a:solidFill>
                            <a:srgbClr val="0D1117"/>
                          </a:solidFill>
                          <a:latin typeface="Inter"/>
                        </a:defRPr>
                      </a:pPr>
                      <a:r>
                        <a:t>get_diligence_roster_funds</a:t>
                      </a:r>
                    </a:p>
                  </a:txBody>
                  <a:tcPr marL="54864" marR="54864" marT="27432" marB="27432" anchor="ctr">
                    <a:solidFill>
                      <a:srgbClr val="F5F7F9"/>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t>odd_profile</a:t>
                      </a:r>
                    </a:p>
                  </a:txBody>
                  <a:tcPr marL="54864" marR="54864" marT="27432" marB="27432" anchor="ctr">
                    <a:solidFill>
                      <a:srgbClr val="FFFFFF"/>
                    </a:solidFill>
                  </a:tcPr>
                </a:tc>
                <a:tc>
                  <a:txBody>
                    <a:bodyPr/>
                    <a:lstStyle/>
                    <a:p>
                      <a:pPr>
                        <a:defRPr sz="720" b="0">
                          <a:solidFill>
                            <a:srgbClr val="0D1117"/>
                          </a:solidFill>
                          <a:latin typeface="Inter"/>
                        </a:defRPr>
                      </a:pPr>
                      <a:r>
                        <a:t>get_manager_odd_profile</a:t>
                      </a:r>
                    </a:p>
                  </a:txBody>
                  <a:tcPr marL="54864" marR="54864" marT="27432" marB="27432" anchor="ctr">
                    <a:solidFill>
                      <a:srgbClr val="FFFFFF"/>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FFFFF"/>
                    </a:solidFill>
                  </a:tcPr>
                </a:tc>
                <a:tc>
                  <a:txBody>
                    <a:bodyPr/>
                    <a:lstStyle/>
                    <a:p>
                      <a:pPr>
                        <a:defRPr sz="720" b="0">
                          <a:solidFill>
                            <a:srgbClr val="0D1117"/>
                          </a:solidFill>
                          <a:latin typeface="Inter"/>
                        </a:defRPr>
                      </a:pPr>
                      <a:r>
                        <a:t>CRD 999901</a:t>
                      </a:r>
                    </a:p>
                  </a:txBody>
                  <a:tcPr marL="54864" marR="54864" marT="27432" marB="27432" anchor="ctr">
                    <a:solidFill>
                      <a:srgbClr val="FFFFFF"/>
                    </a:solidFill>
                  </a:tcPr>
                </a:tc>
              </a:tr>
              <a:tr h="376310">
                <a:tc>
                  <a:txBody>
                    <a:bodyPr/>
                    <a:lstStyle/>
                    <a:p>
                      <a:pPr>
                        <a:defRPr sz="720" b="1">
                          <a:solidFill>
                            <a:srgbClr val="0D1117"/>
                          </a:solidFill>
                          <a:latin typeface="Inter"/>
                        </a:defRPr>
                      </a:pPr>
                      <a:r>
                        <a:t>monitor_coverage</a:t>
                      </a:r>
                    </a:p>
                  </a:txBody>
                  <a:tcPr marL="54864" marR="54864" marT="27432" marB="27432" anchor="ctr">
                    <a:solidFill>
                      <a:srgbClr val="F5F7F9"/>
                    </a:solidFill>
                  </a:tcPr>
                </a:tc>
                <a:tc>
                  <a:txBody>
                    <a:bodyPr/>
                    <a:lstStyle/>
                    <a:p>
                      <a:pPr>
                        <a:defRPr sz="720" b="0">
                          <a:solidFill>
                            <a:srgbClr val="0D1117"/>
                          </a:solidFill>
                          <a:latin typeface="Inter"/>
                        </a:defRPr>
                      </a:pPr>
                      <a:r>
                        <a:t>get_manager_monitor_evidence</a:t>
                      </a:r>
                    </a:p>
                  </a:txBody>
                  <a:tcPr marL="54864" marR="54864" marT="27432" marB="27432" anchor="ctr">
                    <a:solidFill>
                      <a:srgbClr val="F5F7F9"/>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2026-10-01</a:t>
                      </a:r>
                    </a:p>
                  </a:txBody>
                  <a:tcPr marL="54864" marR="54864" marT="27432" marB="27432" anchor="ctr">
                    <a:solidFill>
                      <a:srgbClr val="F5F7F9"/>
                    </a:solidFill>
                  </a:tcPr>
                </a:tc>
                <a:tc>
                  <a:txBody>
                    <a:bodyPr/>
                    <a:lstStyle/>
                    <a:p>
                      <a:pPr>
                        <a:defRPr sz="720" b="0">
                          <a:solidFill>
                            <a:srgbClr val="0D1117"/>
                          </a:solidFill>
                          <a:latin typeface="Inter"/>
                        </a:defRPr>
                      </a:pPr>
                      <a:r>
                        <a:t>ADV freshness current</a:t>
                      </a:r>
                    </a:p>
                  </a:txBody>
                  <a:tcPr marL="54864" marR="54864" marT="27432" marB="27432" anchor="ctr">
                    <a:solidFill>
                      <a:srgbClr val="F5F7F9"/>
                    </a:solidFill>
                  </a:tcPr>
                </a:tc>
              </a:tr>
              <a:tr h="376310">
                <a:tc>
                  <a:txBody>
                    <a:bodyPr/>
                    <a:lstStyle/>
                    <a:p>
                      <a:pPr>
                        <a:defRPr sz="720" b="1">
                          <a:solidFill>
                            <a:srgbClr val="0D1117"/>
                          </a:solidFill>
                          <a:latin typeface="Inter"/>
                        </a:defRPr>
                      </a:pPr>
                      <a:r>
                        <a:t>the_read</a:t>
                      </a:r>
                    </a:p>
                  </a:txBody>
                  <a:tcPr marL="54864" marR="54864" marT="27432" marB="27432" anchor="ctr">
                    <a:solidFill>
                      <a:srgbClr val="FFFFFF"/>
                    </a:solidFill>
                  </a:tcPr>
                </a:tc>
                <a:tc>
                  <a:txBody>
                    <a:bodyPr/>
                    <a:lstStyle/>
                    <a:p>
                      <a:pPr>
                        <a:defRPr sz="720" b="0">
                          <a:solidFill>
                            <a:srgbClr val="0D1117"/>
                          </a:solidFill>
                          <a:latin typeface="Inter"/>
                        </a:defRPr>
                      </a:pPr>
                      <a:r>
                        <a:t>get_the_read</a:t>
                      </a:r>
                    </a:p>
                  </a:txBody>
                  <a:tcPr marL="54864" marR="54864" marT="27432" marB="27432" anchor="ctr">
                    <a:solidFill>
                      <a:srgbClr val="FFFFFF"/>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2026-10-02</a:t>
                      </a:r>
                    </a:p>
                  </a:txBody>
                  <a:tcPr marL="54864" marR="54864" marT="27432" marB="27432" anchor="ctr">
                    <a:solidFill>
                      <a:srgbClr val="FFFFFF"/>
                    </a:solidFill>
                  </a:tcPr>
                </a:tc>
                <a:tc>
                  <a:txBody>
                    <a:bodyPr/>
                    <a:lstStyle/>
                    <a:p>
                      <a:pPr>
                        <a:defRPr sz="720" b="0">
                          <a:solidFill>
                            <a:srgbClr val="0D1117"/>
                          </a:solidFill>
                          <a:latin typeface="Inter"/>
                        </a:defRPr>
                      </a:pPr>
                      <a:r>
                        <a:t>Coverage partial: no chart history</a:t>
                      </a:r>
                    </a:p>
                  </a:txBody>
                  <a:tcPr marL="54864" marR="54864" marT="27432" marB="27432" anchor="ctr">
                    <a:solidFill>
                      <a:srgbClr val="FFFFFF"/>
                    </a:solidFill>
                  </a:tcPr>
                </a:tc>
              </a:tr>
              <a:tr h="376310">
                <a:tc>
                  <a:txBody>
                    <a:bodyPr/>
                    <a:lstStyle/>
                    <a:p>
                      <a:pPr>
                        <a:defRPr sz="720" b="1">
                          <a:solidFill>
                            <a:srgbClr val="0D1117"/>
                          </a:solidFill>
                          <a:latin typeface="Inter"/>
                        </a:defRPr>
                      </a:pPr>
                      <a:r>
                        <a:t>calendar</a:t>
                      </a:r>
                    </a:p>
                  </a:txBody>
                  <a:tcPr marL="54864" marR="54864" marT="27432" marB="27432" anchor="ctr">
                    <a:solidFill>
                      <a:srgbClr val="F5F7F9"/>
                    </a:solidFill>
                  </a:tcPr>
                </a:tc>
                <a:tc>
                  <a:txBody>
                    <a:bodyPr/>
                    <a:lstStyle/>
                    <a:p>
                      <a:pPr>
                        <a:defRPr sz="720" b="0">
                          <a:solidFill>
                            <a:srgbClr val="0D1117"/>
                          </a:solidFill>
                          <a:latin typeface="Inter"/>
                        </a:defRPr>
                      </a:pPr>
                      <a:r>
                        <a:t>get_macro_calendar</a:t>
                      </a:r>
                    </a:p>
                  </a:txBody>
                  <a:tcPr marL="54864" marR="54864" marT="27432" marB="27432" anchor="ctr">
                    <a:solidFill>
                      <a:srgbClr val="F5F7F9"/>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t>attention</a:t>
                      </a:r>
                    </a:p>
                  </a:txBody>
                  <a:tcPr marL="54864" marR="54864" marT="27432" marB="27432" anchor="ctr">
                    <a:solidFill>
                      <a:srgbClr val="FFFFFF"/>
                    </a:solidFill>
                  </a:tcPr>
                </a:tc>
                <a:tc>
                  <a:txBody>
                    <a:bodyPr/>
                    <a:lstStyle/>
                    <a:p>
                      <a:pPr>
                        <a:defRPr sz="720" b="0">
                          <a:solidFill>
                            <a:srgbClr val="0D1117"/>
                          </a:solidFill>
                          <a:latin typeface="Inter"/>
                        </a:defRPr>
                      </a:pPr>
                      <a:r>
                        <a:t>get_manager_diligence_attention_queue</a:t>
                      </a:r>
                    </a:p>
                  </a:txBody>
                  <a:tcPr marL="54864" marR="54864" marT="27432" marB="27432" anchor="ctr">
                    <a:solidFill>
                      <a:srgbClr val="FFFFFF"/>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FFFFF"/>
                    </a:solidFill>
                  </a:tcPr>
                </a:tc>
                <a:tc>
                  <a:txBody>
                    <a:bodyPr/>
                    <a:lstStyle/>
                    <a:p>
                      <a:pPr>
                        <a:defRPr sz="720" b="0">
                          <a:solidFill>
                            <a:srgbClr val="0D1117"/>
                          </a:solidFill>
                          <a:latin typeface="Inter"/>
                        </a:defRPr>
                      </a:pPr>
                    </a:p>
                  </a:txBody>
                  <a:tcPr marL="54864" marR="54864" marT="27432" marB="27432" anchor="ctr">
                    <a:solidFill>
                      <a:srgbClr val="FFFFFF"/>
                    </a:solidFill>
                  </a:tcPr>
                </a:tc>
              </a:tr>
              <a:tr h="376310">
                <a:tc>
                  <a:txBody>
                    <a:bodyPr/>
                    <a:lstStyle/>
                    <a:p>
                      <a:pPr>
                        <a:defRPr sz="720" b="1">
                          <a:solidFill>
                            <a:srgbClr val="0D1117"/>
                          </a:solidFill>
                          <a:latin typeface="Inter"/>
                        </a:defRPr>
                      </a:pPr>
                      <a:r>
                        <a:t>findings</a:t>
                      </a:r>
                    </a:p>
                  </a:txBody>
                  <a:tcPr marL="54864" marR="54864" marT="27432" marB="27432" anchor="ctr">
                    <a:solidFill>
                      <a:srgbClr val="F5F7F9"/>
                    </a:solidFill>
                  </a:tcPr>
                </a:tc>
                <a:tc>
                  <a:txBody>
                    <a:bodyPr/>
                    <a:lstStyle/>
                    <a:p>
                      <a:pPr>
                        <a:defRPr sz="720" b="0">
                          <a:solidFill>
                            <a:srgbClr val="0D1117"/>
                          </a:solidFill>
                          <a:latin typeface="Inter"/>
                        </a:defRPr>
                      </a:pPr>
                      <a:r>
                        <a:t>get_manager_diligence_findings</a:t>
                      </a:r>
                    </a:p>
                  </a:txBody>
                  <a:tcPr marL="54864" marR="54864" marT="27432" marB="27432" anchor="ctr">
                    <a:solidFill>
                      <a:srgbClr val="F5F7F9"/>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5F7F9"/>
                    </a:solidFill>
                  </a:tcPr>
                </a:tc>
                <a:tc>
                  <a:txBody>
                    <a:bodyPr/>
                    <a:lstStyle/>
                    <a:p>
                      <a:pPr>
                        <a:defRPr sz="720" b="0">
                          <a:solidFill>
                            <a:srgbClr val="0D1117"/>
                          </a:solidFill>
                          <a:latin typeface="Inter"/>
                        </a:defRPr>
                      </a:pPr>
                      <a:r>
                        <a:t>Validator advisory on empty list (known)</a:t>
                      </a:r>
                    </a:p>
                  </a:txBody>
                  <a:tcPr marL="54864" marR="54864" marT="27432" marB="27432" anchor="ctr">
                    <a:solidFill>
                      <a:srgbClr val="F5F7F9"/>
                    </a:solidFill>
                  </a:tcPr>
                </a:tc>
              </a:tr>
              <a:tr h="376310">
                <a:tc>
                  <a:txBody>
                    <a:bodyPr/>
                    <a:lstStyle/>
                    <a:p>
                      <a:pPr>
                        <a:defRPr sz="720" b="1">
                          <a:solidFill>
                            <a:srgbClr val="0D1117"/>
                          </a:solidFill>
                          <a:latin typeface="Inter"/>
                        </a:defRPr>
                      </a:pPr>
                      <a:r>
                        <a:t>events</a:t>
                      </a:r>
                    </a:p>
                  </a:txBody>
                  <a:tcPr marL="54864" marR="54864" marT="27432" marB="27432" anchor="ctr">
                    <a:solidFill>
                      <a:srgbClr val="FFFFFF"/>
                    </a:solidFill>
                  </a:tcPr>
                </a:tc>
                <a:tc>
                  <a:txBody>
                    <a:bodyPr/>
                    <a:lstStyle/>
                    <a:p>
                      <a:pPr>
                        <a:defRPr sz="720" b="0">
                          <a:solidFill>
                            <a:srgbClr val="0D1117"/>
                          </a:solidFill>
                          <a:latin typeface="Inter"/>
                        </a:defRPr>
                      </a:pPr>
                      <a:r>
                        <a:t>get_firm_fund_events</a:t>
                      </a:r>
                    </a:p>
                  </a:txBody>
                  <a:tcPr marL="54864" marR="54864" marT="27432" marB="27432" anchor="ctr">
                    <a:solidFill>
                      <a:srgbClr val="FFFFFF"/>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FFFFF"/>
                    </a:solidFill>
                  </a:tcPr>
                </a:tc>
                <a:tc>
                  <a:txBody>
                    <a:bodyPr/>
                    <a:lstStyle/>
                    <a:p>
                      <a:pPr>
                        <a:defRPr sz="720" b="0">
                          <a:solidFill>
                            <a:srgbClr val="0D1117"/>
                          </a:solidFill>
                          <a:latin typeface="Inter"/>
                        </a:defRPr>
                      </a:pPr>
                      <a:r>
                        <a:t>Publication not ready (known)</a:t>
                      </a:r>
                    </a:p>
                  </a:txBody>
                  <a:tcPr marL="54864" marR="54864" marT="27432" marB="27432" anchor="ctr">
                    <a:solidFill>
                      <a:srgbClr val="FFFFFF"/>
                    </a:solidFill>
                  </a:tcPr>
                </a:tc>
              </a:tr>
              <a:tr h="376310">
                <a:tc>
                  <a:txBody>
                    <a:bodyPr/>
                    <a:lstStyle/>
                    <a:p>
                      <a:pPr>
                        <a:defRPr sz="720" b="1">
                          <a:solidFill>
                            <a:srgbClr val="0D1117"/>
                          </a:solidFill>
                          <a:latin typeface="Inter"/>
                        </a:defRPr>
                      </a:pPr>
                      <a:r>
                        <a:t>conditions</a:t>
                      </a:r>
                    </a:p>
                  </a:txBody>
                  <a:tcPr marL="54864" marR="54864" marT="27432" marB="27432" anchor="ctr">
                    <a:solidFill>
                      <a:srgbClr val="F5F7F9"/>
                    </a:solidFill>
                  </a:tcPr>
                </a:tc>
                <a:tc>
                  <a:txBody>
                    <a:bodyPr/>
                    <a:lstStyle/>
                    <a:p>
                      <a:pPr>
                        <a:defRPr sz="720" b="0">
                          <a:solidFill>
                            <a:srgbClr val="0D1117"/>
                          </a:solidFill>
                          <a:latin typeface="Inter"/>
                        </a:defRPr>
                      </a:pPr>
                      <a:r>
                        <a:t>get_macro_conditions</a:t>
                      </a:r>
                    </a:p>
                  </a:txBody>
                  <a:tcPr marL="54864" marR="54864" marT="27432" marB="27432" anchor="ctr">
                    <a:solidFill>
                      <a:srgbClr val="F5F7F9"/>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2026-10-02</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t>gradient_signal</a:t>
                      </a:r>
                    </a:p>
                  </a:txBody>
                  <a:tcPr marL="54864" marR="54864" marT="27432" marB="27432" anchor="ctr">
                    <a:solidFill>
                      <a:srgbClr val="FFFFFF"/>
                    </a:solidFill>
                  </a:tcPr>
                </a:tc>
                <a:tc>
                  <a:txBody>
                    <a:bodyPr/>
                    <a:lstStyle/>
                    <a:p>
                      <a:pPr>
                        <a:defRPr sz="720" b="0">
                          <a:solidFill>
                            <a:srgbClr val="0D1117"/>
                          </a:solidFill>
                          <a:latin typeface="Inter"/>
                        </a:defRPr>
                      </a:pPr>
                      <a:r>
                        <a:t>get_macro_signals</a:t>
                      </a:r>
                    </a:p>
                  </a:txBody>
                  <a:tcPr marL="54864" marR="54864" marT="27432" marB="27432" anchor="ctr">
                    <a:solidFill>
                      <a:srgbClr val="FFFFFF"/>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2026-10-02</a:t>
                      </a:r>
                    </a:p>
                  </a:txBody>
                  <a:tcPr marL="54864" marR="54864" marT="27432" marB="27432" anchor="ctr">
                    <a:solidFill>
                      <a:srgbClr val="FFFFFF"/>
                    </a:solidFill>
                  </a:tcPr>
                </a:tc>
                <a:tc>
                  <a:txBody>
                    <a:bodyPr/>
                    <a:lstStyle/>
                    <a:p>
                      <a:pPr>
                        <a:defRPr sz="720" b="0">
                          <a:solidFill>
                            <a:srgbClr val="0D1117"/>
                          </a:solidFill>
                          <a:latin typeface="Inter"/>
                        </a:defRPr>
                      </a:pPr>
                      <a:r>
                        <a:t>GRIP degraded: 1 stale input</a:t>
                      </a:r>
                    </a:p>
                  </a:txBody>
                  <a:tcPr marL="54864" marR="54864" marT="27432" marB="27432" anchor="ctr">
                    <a:solidFill>
                      <a:srgbClr val="FFFFFF"/>
                    </a:solidFill>
                  </a:tcPr>
                </a:tc>
              </a:tr>
              <a:tr h="376320">
                <a:tc>
                  <a:txBody>
                    <a:bodyPr/>
                    <a:lstStyle/>
                    <a:p>
                      <a:pPr>
                        <a:defRPr sz="720" b="1">
                          <a:solidFill>
                            <a:srgbClr val="0D1117"/>
                          </a:solidFill>
                          <a:latin typeface="Inter"/>
                        </a:defRPr>
                      </a:pPr>
                      <a:r>
                        <a:t>regime_state</a:t>
                      </a:r>
                    </a:p>
                  </a:txBody>
                  <a:tcPr marL="54864" marR="54864" marT="27432" marB="27432" anchor="ctr">
                    <a:solidFill>
                      <a:srgbClr val="F5F7F9"/>
                    </a:solidFill>
                  </a:tcPr>
                </a:tc>
                <a:tc>
                  <a:txBody>
                    <a:bodyPr/>
                    <a:lstStyle/>
                    <a:p>
                      <a:pPr>
                        <a:defRPr sz="720" b="0">
                          <a:solidFill>
                            <a:srgbClr val="0D1117"/>
                          </a:solidFill>
                          <a:latin typeface="Inter"/>
                        </a:defRPr>
                      </a:pPr>
                      <a:r>
                        <a:t>get_macro_signals</a:t>
                      </a:r>
                    </a:p>
                  </a:txBody>
                  <a:tcPr marL="54864" marR="54864" marT="27432" marB="27432" anchor="ctr">
                    <a:solidFill>
                      <a:srgbClr val="F5F7F9"/>
                    </a:solidFill>
                  </a:tcPr>
                </a:tc>
                <a:tc>
                  <a:txBody>
                    <a:bodyPr/>
                    <a:lstStyle/>
                    <a:p>
                      <a:pPr>
                        <a:defRPr sz="720" b="1">
                          <a:solidFill>
                            <a:srgbClr val="F2A93B"/>
                          </a:solidFill>
                          <a:latin typeface="Inter"/>
                        </a:defRPr>
                      </a:pPr>
                      <a:r>
                        <a:t>● Not available</a:t>
                      </a:r>
                    </a:p>
                  </a:txBody>
                  <a:tcPr marL="54864" marR="54864" marT="27432" marB="27432" anchor="ctr">
                    <a:solidFill>
                      <a:srgbClr val="F5F7F9"/>
                    </a:solidFill>
                  </a:tcPr>
                </a:tc>
                <a:tc>
                  <a:txBody>
                    <a:bodyPr/>
                    <a:lstStyle/>
                    <a:p>
                      <a:pPr>
                        <a:defRPr sz="720" b="0">
                          <a:solidFill>
                            <a:srgbClr val="0D1117"/>
                          </a:solidFill>
                          <a:latin typeface="Inter"/>
                        </a:defRPr>
                      </a:pPr>
                      <a:r>
                        <a:t>—</a:t>
                      </a:r>
                    </a:p>
                  </a:txBody>
                  <a:tcPr marL="54864" marR="54864" marT="27432" marB="27432" anchor="ctr">
                    <a:solidFill>
                      <a:srgbClr val="F5F7F9"/>
                    </a:solidFill>
                  </a:tcPr>
                </a:tc>
                <a:tc>
                  <a:txBody>
                    <a:bodyPr/>
                    <a:lstStyle/>
                    <a:p>
                      <a:pPr>
                        <a:defRPr sz="720" b="0">
                          <a:solidFill>
                            <a:srgbClr val="0D1117"/>
                          </a:solidFill>
                          <a:latin typeface="Inter"/>
                        </a:defRPr>
                      </a:pPr>
                      <a:r>
                        <a:t>HTTP 500 MCP_TOOL_EXECUTION_FAILED; retried once</a:t>
                      </a:r>
                    </a:p>
                  </a:txBody>
                  <a:tcPr marL="54864" marR="54864" marT="27432" marB="27432" anchor="ctr">
                    <a:solidFill>
                      <a:srgbClr val="F5F7F9"/>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none cited</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FULL SELF-TEST: 14 PROBES AGAINST THE LIVE CONNECTOR</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Contract checks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04</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t>TABLE — CONTINUED</a:t>
            </a:r>
          </a:p>
        </p:txBody>
      </p:sp>
      <p:graphicFrame>
        <p:nvGraphicFramePr>
          <p:cNvPr id="9" name="Table 8"/>
          <p:cNvGraphicFramePr>
            <a:graphicFrameLocks noGrp="1"/>
          </p:cNvGraphicFramePr>
          <p:nvPr/>
        </p:nvGraphicFramePr>
        <p:xfrm>
          <a:off x="640080" y="1600200"/>
          <a:ext cx="10908792" cy="3030311"/>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1010103">
                <a:tc>
                  <a:txBody>
                    <a:bodyPr/>
                    <a:lstStyle/>
                    <a:p>
                      <a:pPr>
                        <a:defRPr sz="750" b="1">
                          <a:solidFill>
                            <a:srgbClr val="FFFFFF"/>
                          </a:solidFill>
                          <a:latin typeface="Inter"/>
                        </a:defRPr>
                      </a:pPr>
                      <a:r>
                        <a:t>Probe</a:t>
                      </a:r>
                    </a:p>
                  </a:txBody>
                  <a:tcPr marL="54864" marR="54864" marT="27432" marB="27432" anchor="ctr">
                    <a:solidFill>
                      <a:srgbClr val="0D1117"/>
                    </a:solidFill>
                  </a:tcPr>
                </a:tc>
                <a:tc>
                  <a:txBody>
                    <a:bodyPr/>
                    <a:lstStyle/>
                    <a:p>
                      <a:pPr>
                        <a:defRPr sz="750" b="1">
                          <a:solidFill>
                            <a:srgbClr val="FFFFFF"/>
                          </a:solidFill>
                          <a:latin typeface="Inter"/>
                        </a:defRPr>
                      </a:pPr>
                      <a:r>
                        <a:t>Tool</a:t>
                      </a:r>
                    </a:p>
                  </a:txBody>
                  <a:tcPr marL="54864" marR="54864" marT="27432" marB="27432" anchor="ctr">
                    <a:solidFill>
                      <a:srgbClr val="0D1117"/>
                    </a:solidFill>
                  </a:tcPr>
                </a:tc>
                <a:tc>
                  <a:txBody>
                    <a:bodyPr/>
                    <a:lstStyle/>
                    <a:p>
                      <a:pPr>
                        <a:defRPr sz="750" b="1">
                          <a:solidFill>
                            <a:srgbClr val="FFFFFF"/>
                          </a:solidFill>
                          <a:latin typeface="Inter"/>
                        </a:defRPr>
                      </a:pPr>
                      <a:r>
                        <a:t>Result</a:t>
                      </a:r>
                    </a:p>
                  </a:txBody>
                  <a:tcPr marL="54864" marR="54864" marT="27432" marB="27432" anchor="ctr">
                    <a:solidFill>
                      <a:srgbClr val="0D1117"/>
                    </a:solidFill>
                  </a:tcPr>
                </a:tc>
                <a:tc>
                  <a:txBody>
                    <a:bodyPr/>
                    <a:lstStyle/>
                    <a:p>
                      <a:pPr>
                        <a:defRPr sz="750" b="1">
                          <a:solidFill>
                            <a:srgbClr val="FFFFFF"/>
                          </a:solidFill>
                          <a:latin typeface="Inter"/>
                        </a:defRPr>
                      </a:pPr>
                      <a:r>
                        <a:t>As of</a:t>
                      </a:r>
                    </a:p>
                  </a:txBody>
                  <a:tcPr marL="54864" marR="54864" marT="27432" marB="27432" anchor="ctr">
                    <a:solidFill>
                      <a:srgbClr val="0D1117"/>
                    </a:solidFill>
                  </a:tcPr>
                </a:tc>
                <a:tc>
                  <a:txBody>
                    <a:bodyPr/>
                    <a:lstStyle/>
                    <a:p>
                      <a:pPr>
                        <a:defRPr sz="750" b="1">
                          <a:solidFill>
                            <a:srgbClr val="FFFFFF"/>
                          </a:solidFill>
                          <a:latin typeface="Inter"/>
                        </a:defRPr>
                      </a:pPr>
                      <a:r>
                        <a:t>Note</a:t>
                      </a:r>
                    </a:p>
                  </a:txBody>
                  <a:tcPr marL="54864" marR="54864" marT="27432" marB="27432" anchor="ctr">
                    <a:solidFill>
                      <a:srgbClr val="0D1117"/>
                    </a:solidFill>
                  </a:tcPr>
                </a:tc>
              </a:tr>
              <a:tr h="1010103">
                <a:tc>
                  <a:txBody>
                    <a:bodyPr/>
                    <a:lstStyle/>
                    <a:p>
                      <a:pPr>
                        <a:defRPr sz="720" b="1">
                          <a:solidFill>
                            <a:srgbClr val="0D1117"/>
                          </a:solidFill>
                          <a:latin typeface="Inter"/>
                        </a:defRPr>
                      </a:pPr>
                      <a:r>
                        <a:t>cma_baseline</a:t>
                      </a:r>
                    </a:p>
                  </a:txBody>
                  <a:tcPr marL="54864" marR="54864" marT="27432" marB="27432" anchor="ctr">
                    <a:solidFill>
                      <a:srgbClr val="FFFFFF"/>
                    </a:solidFill>
                  </a:tcPr>
                </a:tc>
                <a:tc>
                  <a:txBody>
                    <a:bodyPr/>
                    <a:lstStyle/>
                    <a:p>
                      <a:pPr>
                        <a:defRPr sz="720" b="0">
                          <a:solidFill>
                            <a:srgbClr val="0D1117"/>
                          </a:solidFill>
                          <a:latin typeface="Inter"/>
                        </a:defRPr>
                      </a:pPr>
                      <a:r>
                        <a:t>get_capital_market_assumptions</a:t>
                      </a:r>
                    </a:p>
                  </a:txBody>
                  <a:tcPr marL="54864" marR="54864" marT="27432" marB="27432" anchor="ctr">
                    <a:solidFill>
                      <a:srgbClr val="FFFFFF"/>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FFFFF"/>
                    </a:solidFill>
                  </a:tcPr>
                </a:tc>
                <a:tc>
                  <a:txBody>
                    <a:bodyPr/>
                    <a:lstStyle/>
                    <a:p>
                      <a:pPr>
                        <a:defRPr sz="720" b="0">
                          <a:solidFill>
                            <a:srgbClr val="0D1117"/>
                          </a:solidFill>
                          <a:latin typeface="Inter"/>
                        </a:defRPr>
                      </a:pPr>
                      <a:r>
                        <a:t>Risk-free fresh; receipt validation unavailable</a:t>
                      </a:r>
                    </a:p>
                  </a:txBody>
                  <a:tcPr marL="54864" marR="54864" marT="27432" marB="27432" anchor="ctr">
                    <a:solidFill>
                      <a:srgbClr val="FFFFFF"/>
                    </a:solidFill>
                  </a:tcPr>
                </a:tc>
              </a:tr>
              <a:tr h="1010105">
                <a:tc>
                  <a:txBody>
                    <a:bodyPr/>
                    <a:lstStyle/>
                    <a:p>
                      <a:pPr>
                        <a:defRPr sz="720" b="1">
                          <a:solidFill>
                            <a:srgbClr val="0D1117"/>
                          </a:solidFill>
                          <a:latin typeface="Inter"/>
                        </a:defRPr>
                      </a:pPr>
                      <a:r>
                        <a:t>watchlist</a:t>
                      </a:r>
                    </a:p>
                  </a:txBody>
                  <a:tcPr marL="54864" marR="54864" marT="27432" marB="27432" anchor="ctr">
                    <a:solidFill>
                      <a:srgbClr val="F5F7F9"/>
                    </a:solidFill>
                  </a:tcPr>
                </a:tc>
                <a:tc>
                  <a:txBody>
                    <a:bodyPr/>
                    <a:lstStyle/>
                    <a:p>
                      <a:pPr>
                        <a:defRPr sz="720" b="0">
                          <a:solidFill>
                            <a:srgbClr val="0D1117"/>
                          </a:solidFill>
                          <a:latin typeface="Inter"/>
                        </a:defRPr>
                      </a:pPr>
                      <a:r>
                        <a:t>get_research_watchlist_changes</a:t>
                      </a:r>
                    </a:p>
                  </a:txBody>
                  <a:tcPr marL="54864" marR="54864" marT="27432" marB="27432" anchor="ctr">
                    <a:solidFill>
                      <a:srgbClr val="F5F7F9"/>
                    </a:solidFill>
                  </a:tcPr>
                </a:tc>
                <a:tc>
                  <a:txBody>
                    <a:bodyPr/>
                    <a:lstStyle/>
                    <a:p>
                      <a:pPr>
                        <a:defRPr sz="720" b="1">
                          <a:solidFill>
                            <a:srgbClr val="C6F432"/>
                          </a:solidFill>
                          <a:latin typeface="Inter"/>
                        </a:defRPr>
                      </a:pPr>
                      <a:r>
                        <a:t>● Pass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5F7F9"/>
                    </a:solidFill>
                  </a:tcPr>
                </a:tc>
                <a:tc>
                  <a:txBody>
                    <a:bodyPr/>
                    <a:lstStyle/>
                    <a:p>
                      <a:pPr>
                        <a:defRPr sz="720" b="0">
                          <a:solidFill>
                            <a:srgbClr val="0D1117"/>
                          </a:solidFill>
                          <a:latin typeface="Inter"/>
                        </a:defRPr>
                      </a:pPr>
                      <a:r>
                        <a:t>No items selected</a:t>
                      </a:r>
                    </a:p>
                  </a:txBody>
                  <a:tcPr marL="54864" marR="54864" marT="27432" marB="27432" anchor="ctr">
                    <a:solidFill>
                      <a:srgbClr val="F5F7F9"/>
                    </a:solidFill>
                  </a:tcPr>
                </a:tc>
              </a:tr>
            </a:tbl>
          </a:graphicData>
        </a:graphic>
      </p:graphicFrame>
      <p:sp>
        <p:nvSpPr>
          <p:cNvPr id="10" name="Rectangle 9"/>
          <p:cNvSpPr/>
          <p:nvPr/>
        </p:nvSpPr>
        <p:spPr>
          <a:xfrm>
            <a:off x="640080" y="4740239"/>
            <a:ext cx="10908792" cy="147768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4740239"/>
            <a:ext cx="54864" cy="147768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1" y="484996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t>No new failures</a:t>
            </a:r>
          </a:p>
        </p:txBody>
      </p:sp>
      <p:sp>
        <p:nvSpPr>
          <p:cNvPr id="13" name="TextBox 12"/>
          <p:cNvSpPr txBox="1"/>
          <p:nvPr/>
        </p:nvSpPr>
        <p:spPr>
          <a:xfrm>
            <a:off x="804671" y="5133431"/>
            <a:ext cx="10616184" cy="99304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t>All probes completed without a new failure. The CMA baseline returns a fresh risk-free rate.</a:t>
            </a:r>
          </a:p>
        </p:txBody>
      </p:sp>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none cited</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t>PROMPTS THAT WORK FOR THIS ORGANIZATION TODAY</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Try next</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05</a:t>
            </a:r>
          </a:p>
        </p:txBody>
      </p:sp>
      <p:sp>
        <p:nvSpPr>
          <p:cNvPr id="8" name="TextBox 7"/>
          <p:cNvSpPr txBox="1"/>
          <p:nvPr/>
        </p:nvSpPr>
        <p:spPr>
          <a:xfrm>
            <a:off x="640080" y="1325880"/>
            <a:ext cx="10908792" cy="4892040"/>
          </a:xfrm>
          <a:prstGeom prst="rect">
            <a:avLst/>
          </a:prstGeom>
          <a:noFill/>
        </p:spPr>
        <p:txBody>
          <a:bodyPr wrap="none" lIns="9144" rIns="9144" tIns="9144" bIns="9144" anchor="t">
            <a:spAutoFit/>
          </a:bodyPr>
          <a:lstStyle/>
          <a:p>
            <a:pPr algn="l">
              <a:spcAft>
                <a:spcPts val="500"/>
              </a:spcAft>
              <a:defRPr sz="1000" b="0">
                <a:solidFill>
                  <a:srgbClr val="0D1117"/>
                </a:solidFill>
                <a:latin typeface="Inter"/>
              </a:defRPr>
            </a:pPr>
            <a:r>
              <a:t>01  Run an ODD report on Ridgeview Global Macro Fund II.</a:t>
            </a:r>
            <a:br/>
            <a:r>
              <a:t>      Your one roster fund; a new Form ADV was filed after its last review.</a:t>
            </a:r>
          </a:p>
          <a:p>
            <a:pPr algn="l">
              <a:spcAft>
                <a:spcPts val="500"/>
              </a:spcAft>
              <a:defRPr sz="1000" b="0">
                <a:solidFill>
                  <a:srgbClr val="0D1117"/>
                </a:solidFill>
                <a:latin typeface="Inter"/>
              </a:defRPr>
            </a:pPr>
            <a:r>
              <a:t>02  Give me this week's manager monitoring digest, and schedule it for Mondays.</a:t>
            </a:r>
            <a:br/>
            <a:r>
              <a:t>      Keeps the roster under watch without manual checks.</a:t>
            </a:r>
          </a:p>
          <a:p>
            <a:pPr algn="l">
              <a:spcAft>
                <a:spcPts val="500"/>
              </a:spcAft>
              <a:defRPr sz="1000" b="0">
                <a:solidFill>
                  <a:srgbClr val="0D1117"/>
                </a:solidFill>
                <a:latin typeface="Inter"/>
              </a:defRPr>
            </a:pPr>
            <a:r>
              <a:t>03  Build the macro briefing deck for Thursday's committee.</a:t>
            </a:r>
            <a:br/>
            <a:r>
              <a:t>      Uses The Read, rates, Gradient signal, calendar and CMAs.</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none cited</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t>Appendix — Sources</a:t>
            </a:r>
          </a:p>
        </p:txBody>
      </p:sp>
      <p:sp>
        <p:nvSpPr>
          <p:cNvPr id="4" name="Rectangle 3"/>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t>A</a:t>
            </a:r>
          </a:p>
        </p:txBody>
      </p:sp>
      <p:graphicFrame>
        <p:nvGraphicFramePr>
          <p:cNvPr id="7" name="Table 6"/>
          <p:cNvGraphicFramePr>
            <a:graphicFrameLocks noGrp="1"/>
          </p:cNvGraphicFramePr>
          <p:nvPr/>
        </p:nvGraphicFramePr>
        <p:xfrm>
          <a:off x="640080" y="1325880"/>
          <a:ext cx="10908792" cy="3499699"/>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699939">
                <a:tc>
                  <a:txBody>
                    <a:bodyPr/>
                    <a:lstStyle/>
                    <a:p>
                      <a:pPr>
                        <a:defRPr sz="750" b="1">
                          <a:solidFill>
                            <a:srgbClr val="FFFFFF"/>
                          </a:solidFill>
                          <a:latin typeface="Inter"/>
                        </a:defRPr>
                      </a:pPr>
                      <a:r>
                        <a:t>Tag</a:t>
                      </a:r>
                    </a:p>
                  </a:txBody>
                  <a:tcPr marL="54864" marR="54864" marT="27432" marB="27432" anchor="ctr">
                    <a:solidFill>
                      <a:srgbClr val="0D1117"/>
                    </a:solidFill>
                  </a:tcPr>
                </a:tc>
                <a:tc>
                  <a:txBody>
                    <a:bodyPr/>
                    <a:lstStyle/>
                    <a:p>
                      <a:pPr>
                        <a:defRPr sz="750" b="1">
                          <a:solidFill>
                            <a:srgbClr val="FFFFFF"/>
                          </a:solidFill>
                          <a:latin typeface="Inter"/>
                        </a:defRPr>
                      </a:pPr>
                      <a:r>
                        <a:t>Evidence</a:t>
                      </a:r>
                    </a:p>
                  </a:txBody>
                  <a:tcPr marL="54864" marR="54864" marT="27432" marB="27432" anchor="ctr">
                    <a:solidFill>
                      <a:srgbClr val="0D1117"/>
                    </a:solidFill>
                  </a:tcPr>
                </a:tc>
                <a:tc>
                  <a:txBody>
                    <a:bodyPr/>
                    <a:lstStyle/>
                    <a:p>
                      <a:pPr>
                        <a:defRPr sz="750" b="1">
                          <a:solidFill>
                            <a:srgbClr val="FFFFFF"/>
                          </a:solidFill>
                          <a:latin typeface="Inter"/>
                        </a:defRPr>
                      </a:pPr>
                      <a:r>
                        <a:t>Tool</a:t>
                      </a:r>
                    </a:p>
                  </a:txBody>
                  <a:tcPr marL="54864" marR="54864" marT="27432" marB="27432" anchor="ctr">
                    <a:solidFill>
                      <a:srgbClr val="0D1117"/>
                    </a:solidFill>
                  </a:tcPr>
                </a:tc>
                <a:tc>
                  <a:txBody>
                    <a:bodyPr/>
                    <a:lstStyle/>
                    <a:p>
                      <a:pPr>
                        <a:defRPr sz="750" b="1">
                          <a:solidFill>
                            <a:srgbClr val="FFFFFF"/>
                          </a:solidFill>
                          <a:latin typeface="Inter"/>
                        </a:defRPr>
                      </a:pPr>
                      <a:r>
                        <a:t>As of</a:t>
                      </a:r>
                    </a:p>
                  </a:txBody>
                  <a:tcPr marL="54864" marR="54864" marT="27432" marB="27432" anchor="ctr">
                    <a:solidFill>
                      <a:srgbClr val="0D1117"/>
                    </a:solidFill>
                  </a:tcPr>
                </a:tc>
                <a:tc>
                  <a:txBody>
                    <a:bodyPr/>
                    <a:lstStyle/>
                    <a:p>
                      <a:pPr>
                        <a:defRPr sz="750" b="1">
                          <a:solidFill>
                            <a:srgbClr val="FFFFFF"/>
                          </a:solidFill>
                          <a:latin typeface="Inter"/>
                        </a:defRPr>
                      </a:pPr>
                      <a:r>
                        <a:t>Validation</a:t>
                      </a:r>
                    </a:p>
                  </a:txBody>
                  <a:tcPr marL="54864" marR="54864" marT="27432" marB="27432" anchor="ctr">
                    <a:solidFill>
                      <a:srgbClr val="0D1117"/>
                    </a:solidFill>
                  </a:tcPr>
                </a:tc>
              </a:tr>
              <a:tr h="699939">
                <a:tc>
                  <a:txBody>
                    <a:bodyPr/>
                    <a:lstStyle/>
                    <a:p>
                      <a:pPr>
                        <a:defRPr sz="720" b="1">
                          <a:solidFill>
                            <a:srgbClr val="0D1117"/>
                          </a:solidFill>
                          <a:latin typeface="Inter"/>
                        </a:defRPr>
                      </a:pPr>
                      <a:r>
                        <a:t>S1</a:t>
                      </a:r>
                    </a:p>
                  </a:txBody>
                  <a:tcPr marL="54864" marR="54864" marT="27432" marB="27432" anchor="ctr">
                    <a:solidFill>
                      <a:srgbClr val="FFFFFF"/>
                    </a:solidFill>
                  </a:tcPr>
                </a:tc>
                <a:tc>
                  <a:txBody>
                    <a:bodyPr/>
                    <a:lstStyle/>
                    <a:p>
                      <a:pPr>
                        <a:defRPr sz="720" b="0">
                          <a:solidFill>
                            <a:srgbClr val="0D1117"/>
                          </a:solidFill>
                          <a:latin typeface="Inter"/>
                        </a:defRPr>
                      </a:pPr>
                      <a:r>
                        <a:t>Organizations and modules</a:t>
                      </a:r>
                    </a:p>
                  </a:txBody>
                  <a:tcPr marL="54864" marR="54864" marT="27432" marB="27432" anchor="ctr">
                    <a:solidFill>
                      <a:srgbClr val="FFFFFF"/>
                    </a:solidFill>
                  </a:tcPr>
                </a:tc>
                <a:tc>
                  <a:txBody>
                    <a:bodyPr/>
                    <a:lstStyle/>
                    <a:p>
                      <a:pPr>
                        <a:defRPr sz="720" b="0">
                          <a:solidFill>
                            <a:srgbClr val="0D1117"/>
                          </a:solidFill>
                          <a:latin typeface="Inter"/>
                        </a:defRPr>
                      </a:pPr>
                      <a:r>
                        <a:t>list_organizations</a:t>
                      </a:r>
                    </a:p>
                  </a:txBody>
                  <a:tcPr marL="54864" marR="54864" marT="27432" marB="27432" anchor="ctr">
                    <a:solidFill>
                      <a:srgbClr val="FFFFFF"/>
                    </a:solidFill>
                  </a:tcPr>
                </a:tc>
                <a:tc>
                  <a:txBody>
                    <a:bodyPr/>
                    <a:lstStyle/>
                    <a:p>
                      <a:pPr>
                        <a:defRPr sz="720" b="0">
                          <a:solidFill>
                            <a:srgbClr val="0D1117"/>
                          </a:solidFill>
                          <a:latin typeface="Inter"/>
                        </a:defRPr>
                      </a:pPr>
                      <a:r>
                        <a:t>2026-10-04</a:t>
                      </a:r>
                    </a:p>
                  </a:txBody>
                  <a:tcPr marL="54864" marR="54864" marT="27432" marB="27432" anchor="ctr">
                    <a:solidFill>
                      <a:srgbClr val="FFFFFF"/>
                    </a:solidFill>
                  </a:tcPr>
                </a:tc>
                <a:tc>
                  <a:txBody>
                    <a:bodyPr/>
                    <a:lstStyle/>
                    <a:p>
                      <a:pPr>
                        <a:defRPr sz="720" b="1">
                          <a:solidFill>
                            <a:srgbClr val="9AA5B1"/>
                          </a:solidFill>
                          <a:latin typeface="Inter"/>
                        </a:defRPr>
                      </a:pPr>
                      <a:r>
                        <a:t>● n/a</a:t>
                      </a:r>
                    </a:p>
                  </a:txBody>
                  <a:tcPr marL="54864" marR="54864" marT="27432" marB="27432" anchor="ctr">
                    <a:solidFill>
                      <a:srgbClr val="F5F7F9"/>
                    </a:solidFill>
                  </a:tcPr>
                </a:tc>
              </a:tr>
              <a:tr h="699939">
                <a:tc>
                  <a:txBody>
                    <a:bodyPr/>
                    <a:lstStyle/>
                    <a:p>
                      <a:pPr>
                        <a:defRPr sz="720" b="1">
                          <a:solidFill>
                            <a:srgbClr val="0D1117"/>
                          </a:solidFill>
                          <a:latin typeface="Inter"/>
                        </a:defRPr>
                      </a:pPr>
                      <a:r>
                        <a:t>S2</a:t>
                      </a:r>
                    </a:p>
                  </a:txBody>
                  <a:tcPr marL="54864" marR="54864" marT="27432" marB="27432" anchor="ctr">
                    <a:solidFill>
                      <a:srgbClr val="F5F7F9"/>
                    </a:solidFill>
                  </a:tcPr>
                </a:tc>
                <a:tc>
                  <a:txBody>
                    <a:bodyPr/>
                    <a:lstStyle/>
                    <a:p>
                      <a:pPr>
                        <a:defRPr sz="720" b="0">
                          <a:solidFill>
                            <a:srgbClr val="0D1117"/>
                          </a:solidFill>
                          <a:latin typeface="Inter"/>
                        </a:defRPr>
                      </a:pPr>
                      <a:r>
                        <a:t>Capabilities, entitlement, coverage</a:t>
                      </a:r>
                    </a:p>
                  </a:txBody>
                  <a:tcPr marL="54864" marR="54864" marT="27432" marB="27432" anchor="ctr">
                    <a:solidFill>
                      <a:srgbClr val="F5F7F9"/>
                    </a:solidFill>
                  </a:tcPr>
                </a:tc>
                <a:tc>
                  <a:txBody>
                    <a:bodyPr/>
                    <a:lstStyle/>
                    <a:p>
                      <a:pPr>
                        <a:defRPr sz="720" b="0">
                          <a:solidFill>
                            <a:srgbClr val="0D1117"/>
                          </a:solidFill>
                          <a:latin typeface="Inter"/>
                        </a:defRPr>
                      </a:pPr>
                      <a:r>
                        <a:t>get_gradient_capabilities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5F7F9"/>
                    </a:solidFill>
                  </a:tcPr>
                </a:tc>
                <a:tc>
                  <a:txBody>
                    <a:bodyPr/>
                    <a:lstStyle/>
                    <a:p>
                      <a:pPr>
                        <a:defRPr sz="720" b="1">
                          <a:solidFill>
                            <a:srgbClr val="9AA5B1"/>
                          </a:solidFill>
                          <a:latin typeface="Inter"/>
                        </a:defRPr>
                      </a:pPr>
                      <a:r>
                        <a:t>● n/a</a:t>
                      </a:r>
                    </a:p>
                  </a:txBody>
                  <a:tcPr marL="54864" marR="54864" marT="27432" marB="27432" anchor="ctr">
                    <a:solidFill>
                      <a:srgbClr val="F5F7F9"/>
                    </a:solidFill>
                  </a:tcPr>
                </a:tc>
              </a:tr>
              <a:tr h="699939">
                <a:tc>
                  <a:txBody>
                    <a:bodyPr/>
                    <a:lstStyle/>
                    <a:p>
                      <a:pPr>
                        <a:defRPr sz="720" b="1">
                          <a:solidFill>
                            <a:srgbClr val="0D1117"/>
                          </a:solidFill>
                          <a:latin typeface="Inter"/>
                        </a:defRPr>
                      </a:pPr>
                      <a:r>
                        <a:t>S3</a:t>
                      </a:r>
                    </a:p>
                  </a:txBody>
                  <a:tcPr marL="54864" marR="54864" marT="27432" marB="27432" anchor="ctr">
                    <a:solidFill>
                      <a:srgbClr val="FFFFFF"/>
                    </a:solidFill>
                  </a:tcPr>
                </a:tc>
                <a:tc>
                  <a:txBody>
                    <a:bodyPr/>
                    <a:lstStyle/>
                    <a:p>
                      <a:pPr>
                        <a:defRPr sz="720" b="0">
                          <a:solidFill>
                            <a:srgbClr val="0D1117"/>
                          </a:solidFill>
                          <a:latin typeface="Inter"/>
                        </a:defRPr>
                      </a:pPr>
                      <a:r>
                        <a:t>Contract probes (14)</a:t>
                      </a:r>
                    </a:p>
                  </a:txBody>
                  <a:tcPr marL="54864" marR="54864" marT="27432" marB="27432" anchor="ctr">
                    <a:solidFill>
                      <a:srgbClr val="FFFFFF"/>
                    </a:solidFill>
                  </a:tcPr>
                </a:tc>
                <a:tc>
                  <a:txBody>
                    <a:bodyPr/>
                    <a:lstStyle/>
                    <a:p>
                      <a:pPr>
                        <a:defRPr sz="720" b="0">
                          <a:solidFill>
                            <a:srgbClr val="0D1117"/>
                          </a:solidFill>
                          <a:latin typeface="Inter"/>
                        </a:defRPr>
                      </a:pPr>
                      <a:r>
                        <a:t>see table in section 04</a:t>
                      </a:r>
                    </a:p>
                  </a:txBody>
                  <a:tcPr marL="54864" marR="54864" marT="27432" marB="27432" anchor="ctr">
                    <a:solidFill>
                      <a:srgbClr val="FFFFFF"/>
                    </a:solidFill>
                  </a:tcPr>
                </a:tc>
                <a:tc>
                  <a:txBody>
                    <a:bodyPr/>
                    <a:lstStyle/>
                    <a:p>
                      <a:pPr>
                        <a:defRPr sz="720" b="0">
                          <a:solidFill>
                            <a:srgbClr val="0D1117"/>
                          </a:solidFill>
                          <a:latin typeface="Inter"/>
                        </a:defRPr>
                      </a:pPr>
                      <a:r>
                        <a:t>2026-10-04</a:t>
                      </a:r>
                    </a:p>
                  </a:txBody>
                  <a:tcPr marL="54864" marR="54864" marT="27432" marB="27432" anchor="ctr">
                    <a:solidFill>
                      <a:srgbClr val="FFFFFF"/>
                    </a:solidFill>
                  </a:tcPr>
                </a:tc>
                <a:tc>
                  <a:txBody>
                    <a:bodyPr/>
                    <a:lstStyle/>
                    <a:p>
                      <a:pPr>
                        <a:defRPr sz="720" b="1">
                          <a:solidFill>
                            <a:srgbClr val="C6F432"/>
                          </a:solidFill>
                          <a:latin typeface="Inter"/>
                        </a:defRPr>
                      </a:pPr>
                      <a:r>
                        <a:t>● passed</a:t>
                      </a:r>
                    </a:p>
                  </a:txBody>
                  <a:tcPr marL="54864" marR="54864" marT="27432" marB="27432" anchor="ctr">
                    <a:solidFill>
                      <a:srgbClr val="F5F7F9"/>
                    </a:solidFill>
                  </a:tcPr>
                </a:tc>
              </a:tr>
              <a:tr h="699943">
                <a:tc>
                  <a:txBody>
                    <a:bodyPr/>
                    <a:lstStyle/>
                    <a:p>
                      <a:pPr>
                        <a:defRPr sz="720" b="1">
                          <a:solidFill>
                            <a:srgbClr val="0D1117"/>
                          </a:solidFill>
                          <a:latin typeface="Inter"/>
                        </a:defRPr>
                      </a:pPr>
                      <a:r>
                        <a:t>S4</a:t>
                      </a:r>
                    </a:p>
                  </a:txBody>
                  <a:tcPr marL="54864" marR="54864" marT="27432" marB="27432" anchor="ctr">
                    <a:solidFill>
                      <a:srgbClr val="F5F7F9"/>
                    </a:solidFill>
                  </a:tcPr>
                </a:tc>
                <a:tc>
                  <a:txBody>
                    <a:bodyPr/>
                    <a:lstStyle/>
                    <a:p>
                      <a:pPr>
                        <a:defRPr sz="720" b="0">
                          <a:solidFill>
                            <a:srgbClr val="0D1117"/>
                          </a:solidFill>
                          <a:latin typeface="Inter"/>
                        </a:defRPr>
                      </a:pPr>
                      <a:r>
                        <a:t>Diligence Roster</a:t>
                      </a:r>
                    </a:p>
                  </a:txBody>
                  <a:tcPr marL="54864" marR="54864" marT="27432" marB="27432" anchor="ctr">
                    <a:solidFill>
                      <a:srgbClr val="F5F7F9"/>
                    </a:solidFill>
                  </a:tcPr>
                </a:tc>
                <a:tc>
                  <a:txBody>
                    <a:bodyPr/>
                    <a:lstStyle/>
                    <a:p>
                      <a:pPr>
                        <a:defRPr sz="720" b="0">
                          <a:solidFill>
                            <a:srgbClr val="0D1117"/>
                          </a:solidFill>
                          <a:latin typeface="Inter"/>
                        </a:defRPr>
                      </a:pPr>
                      <a:r>
                        <a:t>get_diligence_roster_funds</a:t>
                      </a:r>
                    </a:p>
                  </a:txBody>
                  <a:tcPr marL="54864" marR="54864" marT="27432" marB="27432" anchor="ctr">
                    <a:solidFill>
                      <a:srgbClr val="F5F7F9"/>
                    </a:solidFill>
                  </a:tcPr>
                </a:tc>
                <a:tc>
                  <a:txBody>
                    <a:bodyPr/>
                    <a:lstStyle/>
                    <a:p>
                      <a:pPr>
                        <a:defRPr sz="720" b="0">
                          <a:solidFill>
                            <a:srgbClr val="0D1117"/>
                          </a:solidFill>
                          <a:latin typeface="Inter"/>
                        </a:defRPr>
                      </a:pPr>
                      <a:r>
                        <a:t>2026-10-04</a:t>
                      </a:r>
                    </a:p>
                  </a:txBody>
                  <a:tcPr marL="54864" marR="54864" marT="27432" marB="27432" anchor="ctr">
                    <a:solidFill>
                      <a:srgbClr val="F5F7F9"/>
                    </a:solidFill>
                  </a:tcPr>
                </a:tc>
                <a:tc>
                  <a:txBody>
                    <a:bodyPr/>
                    <a:lstStyle/>
                    <a:p>
                      <a:pPr>
                        <a:defRPr sz="720" b="1">
                          <a:solidFill>
                            <a:srgbClr val="C6F432"/>
                          </a:solidFill>
                          <a:latin typeface="Inter"/>
                        </a:defRPr>
                      </a:pPr>
                      <a:r>
                        <a:t>● passed</a:t>
                      </a:r>
                    </a:p>
                  </a:txBody>
                  <a:tcPr marL="54864" marR="54864" marT="27432" marB="27432" anchor="ctr">
                    <a:solidFill>
                      <a:srgbClr val="F5F7F9"/>
                    </a:solidFill>
                  </a:tcPr>
                </a:tc>
              </a:tr>
            </a:tbl>
          </a:graphicData>
        </a:graphic>
      </p:graphicFrame>
      <p:sp>
        <p:nvSpPr>
          <p:cNvPr id="8" name="TextBox 7"/>
          <p:cNvSpPr txBox="1"/>
          <p:nvPr/>
        </p:nvSpPr>
        <p:spPr>
          <a:xfrm>
            <a:off x="640080" y="4935307"/>
            <a:ext cx="10908792" cy="1282612"/>
          </a:xfrm>
          <a:prstGeom prst="rect">
            <a:avLst/>
          </a:prstGeom>
          <a:noFill/>
        </p:spPr>
        <p:txBody>
          <a:bodyPr wrap="none" lIns="9144" rIns="9144" tIns="9144" bIns="9144" anchor="t">
            <a:spAutoFit/>
          </a:bodyPr>
          <a:lstStyle/>
          <a:p>
            <a:pPr algn="l">
              <a:spcAft>
                <a:spcPts val="0"/>
              </a:spcAft>
              <a:defRPr sz="1100" b="0">
                <a:solidFill>
                  <a:srgbClr val="4A5563"/>
                </a:solidFill>
                <a:latin typeface="Inter"/>
              </a:defRPr>
            </a:pPr>
            <a:r>
              <a:t>Readiness reflects entitlement, OAuth scope, backend health and data readiness reported by GradientCIO at the time of the check. Tool availability does not guarantee that data is published for every subject.</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t>Sources: S1 · S2 · S3 · S4</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t>Confidential — internal investment use</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Gradient</dc:title>
  <dc:subject>Readiness Check</dc:subject>
  <dc:creator>GradientCIO</dc:creator>
  <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