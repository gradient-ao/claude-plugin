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rPr>
                <a:latin typeface="Inter"/>
              </a:rPr>
              <a:t>SETUP &amp; READINESS</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rPr>
                <a:latin typeface="Inter"/>
              </a:rPr>
              <a:t>Gradient</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rPr>
                <a:latin typeface="Inter"/>
              </a:rPr>
              <a:t>GradientCIO connection, access and data readiness</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ORGANIZATION</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Gradient</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ROLE</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Admin</a:t>
            </a:r>
          </a:p>
        </p:txBody>
      </p:sp>
      <p:sp>
        <p:nvSpPr>
          <p:cNvPr id="13" name="TextBox 12"/>
          <p:cNvSpPr txBox="1"/>
          <p:nvPr/>
        </p:nvSpPr>
        <p:spPr>
          <a:xfrm>
            <a:off x="763524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LICENSED MODULES</a:t>
            </a:r>
          </a:p>
        </p:txBody>
      </p:sp>
      <p:sp>
        <p:nvSpPr>
          <p:cNvPr id="14" name="TextBox 13"/>
          <p:cNvSpPr txBox="1"/>
          <p:nvPr/>
        </p:nvSpPr>
        <p:spPr>
          <a:xfrm>
            <a:off x="763524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4 of 7</a:t>
            </a:r>
          </a:p>
        </p:txBody>
      </p:sp>
      <p:sp>
        <p:nvSpPr>
          <p:cNvPr id="15" name="TextBox 14"/>
          <p:cNvSpPr txBox="1"/>
          <p:nvPr/>
        </p:nvSpPr>
        <p:spPr>
          <a:xfrm>
            <a:off x="68580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ROSTER FUNDS</a:t>
            </a:r>
          </a:p>
        </p:txBody>
      </p:sp>
      <p:sp>
        <p:nvSpPr>
          <p:cNvPr id="16" name="TextBox 15"/>
          <p:cNvSpPr txBox="1"/>
          <p:nvPr/>
        </p:nvSpPr>
        <p:spPr>
          <a:xfrm>
            <a:off x="68580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1 of 3 slots</a:t>
            </a:r>
          </a:p>
        </p:txBody>
      </p:sp>
      <p:sp>
        <p:nvSpPr>
          <p:cNvPr id="17" name="TextBox 16"/>
          <p:cNvSpPr txBox="1"/>
          <p:nvPr/>
        </p:nvSpPr>
        <p:spPr>
          <a:xfrm>
            <a:off x="416052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MCP VERSION</a:t>
            </a:r>
          </a:p>
        </p:txBody>
      </p:sp>
      <p:sp>
        <p:nvSpPr>
          <p:cNvPr id="18" name="TextBox 17"/>
          <p:cNvSpPr txBox="1"/>
          <p:nvPr/>
        </p:nvSpPr>
        <p:spPr>
          <a:xfrm>
            <a:off x="416052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gradient-mcp 0.7.0</a:t>
            </a:r>
          </a:p>
        </p:txBody>
      </p:sp>
      <p:sp>
        <p:nvSpPr>
          <p:cNvPr id="19" name="TextBox 18"/>
          <p:cNvSpPr txBox="1"/>
          <p:nvPr/>
        </p:nvSpPr>
        <p:spPr>
          <a:xfrm>
            <a:off x="763524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CHECKED</a:t>
            </a:r>
          </a:p>
        </p:txBody>
      </p:sp>
      <p:sp>
        <p:nvSpPr>
          <p:cNvPr id="20" name="TextBox 19"/>
          <p:cNvSpPr txBox="1"/>
          <p:nvPr/>
        </p:nvSpPr>
        <p:spPr>
          <a:xfrm>
            <a:off x="763524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2026-10-04</a:t>
            </a:r>
          </a:p>
        </p:txBody>
      </p:sp>
      <p:sp>
        <p:nvSpPr>
          <p:cNvPr id="21" name="Rectangle 20"/>
          <p:cNvSpPr/>
          <p:nvPr/>
        </p:nvSpPr>
        <p:spPr>
          <a:xfrm>
            <a:off x="685800" y="5833872"/>
            <a:ext cx="3063240" cy="38404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822960" y="5934456"/>
            <a:ext cx="2788920" cy="164592"/>
          </a:xfrm>
          <a:prstGeom prst="rect">
            <a:avLst/>
          </a:prstGeom>
          <a:noFill/>
        </p:spPr>
        <p:txBody>
          <a:bodyPr wrap="none" lIns="9144" rIns="9144" tIns="9144" bIns="9144" anchor="t">
            <a:spAutoFit/>
          </a:bodyPr>
          <a:lstStyle/>
          <a:p>
            <a:pPr algn="l">
              <a:spcAft>
                <a:spcPts val="0"/>
              </a:spcAft>
              <a:defRPr sz="800" b="1">
                <a:solidFill>
                  <a:srgbClr val="0D1117"/>
                </a:solidFill>
                <a:latin typeface="Inter"/>
              </a:defRPr>
            </a:pPr>
            <a:r>
              <a:rPr>
                <a:latin typeface="Inter"/>
              </a:rPr>
              <a:t>Ready, with limits</a:t>
            </a:r>
          </a:p>
        </p:txBody>
      </p:sp>
      <p:sp>
        <p:nvSpPr>
          <p:cNvPr id="23" name="TextBox 22"/>
          <p:cNvSpPr txBox="1"/>
          <p:nvPr/>
        </p:nvSpPr>
        <p:spPr>
          <a:xfrm>
            <a:off x="3977639" y="582472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CHECKS PASSED</a:t>
            </a:r>
          </a:p>
        </p:txBody>
      </p:sp>
      <p:sp>
        <p:nvSpPr>
          <p:cNvPr id="24" name="TextBox 23"/>
          <p:cNvSpPr txBox="1"/>
          <p:nvPr/>
        </p:nvSpPr>
        <p:spPr>
          <a:xfrm>
            <a:off x="3977639" y="5998464"/>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13 of 14 · Partial</a:t>
            </a:r>
          </a:p>
        </p:txBody>
      </p:sp>
      <p:sp>
        <p:nvSpPr>
          <p:cNvPr id="25" name="TextBox 24"/>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prepared for internal investment use</a:t>
            </a:r>
          </a:p>
        </p:txBody>
      </p:sp>
      <p:sp>
        <p:nvSpPr>
          <p:cNvPr id="26" name="TextBox 25"/>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CAN THIS ORGANIZATION USE THE GRADIENT SKILLS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Summary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18230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18230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1" name="TextBox 10"/>
          <p:cNvSpPr txBox="1"/>
          <p:nvPr/>
        </p:nvSpPr>
        <p:spPr>
          <a:xfrm>
            <a:off x="804671" y="1719072"/>
            <a:ext cx="10616184" cy="13384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GradientCIO is connected and healthy for organization Gradient [S1][S2]. Nineteen of twenty-one skills are ready; the macro briefing has one unavailable view, and the IC memo needs the Portfolio and Strategy Lab modules for live portfolio data [S2]. 13 of 14 contract checks passed; macro regime state returned Not available (HTTP 500) [S3].</a:t>
            </a:r>
          </a:p>
        </p:txBody>
      </p:sp>
      <p:sp>
        <p:nvSpPr>
          <p:cNvPr id="12" name="Rectangle 11"/>
          <p:cNvSpPr/>
          <p:nvPr/>
        </p:nvSpPr>
        <p:spPr>
          <a:xfrm>
            <a:off x="64008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258664"/>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74980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SKILLS READY</a:t>
            </a:r>
          </a:p>
        </p:txBody>
      </p:sp>
      <p:sp>
        <p:nvSpPr>
          <p:cNvPr id="15" name="TextBox 14"/>
          <p:cNvSpPr txBox="1"/>
          <p:nvPr/>
        </p:nvSpPr>
        <p:spPr>
          <a:xfrm>
            <a:off x="74980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19</a:t>
            </a:r>
          </a:p>
        </p:txBody>
      </p:sp>
      <p:sp>
        <p:nvSpPr>
          <p:cNvPr id="16" name="TextBox 15"/>
          <p:cNvSpPr txBox="1"/>
          <p:nvPr/>
        </p:nvSpPr>
        <p:spPr>
          <a:xfrm>
            <a:off x="74980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of 21</a:t>
            </a:r>
          </a:p>
        </p:txBody>
      </p:sp>
      <p:sp>
        <p:nvSpPr>
          <p:cNvPr id="17" name="Rectangle 16"/>
          <p:cNvSpPr/>
          <p:nvPr/>
        </p:nvSpPr>
        <p:spPr>
          <a:xfrm>
            <a:off x="339471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3394710" y="3258664"/>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350443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PARTIAL</a:t>
            </a:r>
          </a:p>
        </p:txBody>
      </p:sp>
      <p:sp>
        <p:nvSpPr>
          <p:cNvPr id="20" name="TextBox 19"/>
          <p:cNvSpPr txBox="1"/>
          <p:nvPr/>
        </p:nvSpPr>
        <p:spPr>
          <a:xfrm>
            <a:off x="350443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a:t>
            </a:r>
          </a:p>
        </p:txBody>
      </p:sp>
      <p:sp>
        <p:nvSpPr>
          <p:cNvPr id="21" name="TextBox 20"/>
          <p:cNvSpPr txBox="1"/>
          <p:nvPr/>
        </p:nvSpPr>
        <p:spPr>
          <a:xfrm>
            <a:off x="350443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Macro brief · IC memo</a:t>
            </a:r>
          </a:p>
        </p:txBody>
      </p:sp>
      <p:sp>
        <p:nvSpPr>
          <p:cNvPr id="22" name="Rectangle 21"/>
          <p:cNvSpPr/>
          <p:nvPr/>
        </p:nvSpPr>
        <p:spPr>
          <a:xfrm>
            <a:off x="614934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Rectangle 22"/>
          <p:cNvSpPr/>
          <p:nvPr/>
        </p:nvSpPr>
        <p:spPr>
          <a:xfrm>
            <a:off x="6149340" y="3258664"/>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TextBox 23"/>
          <p:cNvSpPr txBox="1"/>
          <p:nvPr/>
        </p:nvSpPr>
        <p:spPr>
          <a:xfrm>
            <a:off x="625906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NOT LICENSED</a:t>
            </a:r>
          </a:p>
        </p:txBody>
      </p:sp>
      <p:sp>
        <p:nvSpPr>
          <p:cNvPr id="25" name="TextBox 24"/>
          <p:cNvSpPr txBox="1"/>
          <p:nvPr/>
        </p:nvSpPr>
        <p:spPr>
          <a:xfrm>
            <a:off x="625906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 modules</a:t>
            </a:r>
          </a:p>
        </p:txBody>
      </p:sp>
      <p:sp>
        <p:nvSpPr>
          <p:cNvPr id="26" name="TextBox 25"/>
          <p:cNvSpPr txBox="1"/>
          <p:nvPr/>
        </p:nvSpPr>
        <p:spPr>
          <a:xfrm>
            <a:off x="625906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Portfolio · Strategy Lab</a:t>
            </a:r>
          </a:p>
        </p:txBody>
      </p:sp>
      <p:sp>
        <p:nvSpPr>
          <p:cNvPr id="27" name="Rectangle 26"/>
          <p:cNvSpPr/>
          <p:nvPr/>
        </p:nvSpPr>
        <p:spPr>
          <a:xfrm>
            <a:off x="890397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8" name="Rectangle 27"/>
          <p:cNvSpPr/>
          <p:nvPr/>
        </p:nvSpPr>
        <p:spPr>
          <a:xfrm>
            <a:off x="8903970" y="3258664"/>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TextBox 28"/>
          <p:cNvSpPr txBox="1"/>
          <p:nvPr/>
        </p:nvSpPr>
        <p:spPr>
          <a:xfrm>
            <a:off x="901369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CHECKS PASSED</a:t>
            </a:r>
          </a:p>
        </p:txBody>
      </p:sp>
      <p:sp>
        <p:nvSpPr>
          <p:cNvPr id="30" name="TextBox 29"/>
          <p:cNvSpPr txBox="1"/>
          <p:nvPr/>
        </p:nvSpPr>
        <p:spPr>
          <a:xfrm>
            <a:off x="901369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13 / 14</a:t>
            </a:r>
          </a:p>
        </p:txBody>
      </p:sp>
      <p:sp>
        <p:nvSpPr>
          <p:cNvPr id="31" name="TextBox 30"/>
          <p:cNvSpPr txBox="1"/>
          <p:nvPr/>
        </p:nvSpPr>
        <p:spPr>
          <a:xfrm>
            <a:off x="901369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 unavailable check</a:t>
            </a:r>
          </a:p>
        </p:txBody>
      </p:sp>
      <p:sp>
        <p:nvSpPr>
          <p:cNvPr id="32" name="Rectangle 31"/>
          <p:cNvSpPr/>
          <p:nvPr/>
        </p:nvSpPr>
        <p:spPr>
          <a:xfrm>
            <a:off x="640080" y="5105909"/>
            <a:ext cx="10908792" cy="111201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3" name="Rectangle 32"/>
          <p:cNvSpPr/>
          <p:nvPr/>
        </p:nvSpPr>
        <p:spPr>
          <a:xfrm>
            <a:off x="640080" y="5105909"/>
            <a:ext cx="54864" cy="111201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4" name="TextBox 33"/>
          <p:cNvSpPr txBox="1"/>
          <p:nvPr/>
        </p:nvSpPr>
        <p:spPr>
          <a:xfrm>
            <a:off x="804671" y="521563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What to do next</a:t>
            </a:r>
          </a:p>
        </p:txBody>
      </p:sp>
      <p:sp>
        <p:nvSpPr>
          <p:cNvPr id="35" name="TextBox 34"/>
          <p:cNvSpPr txBox="1"/>
          <p:nvPr/>
        </p:nvSpPr>
        <p:spPr>
          <a:xfrm>
            <a:off x="804671" y="5499101"/>
            <a:ext cx="10616184" cy="62737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Nothing is blocking day-to-day use. To write IC memos from live portfolio data, license the Portfolio and Strategy Lab modules; until then the memo can be written from holdings you supply.</a:t>
            </a:r>
          </a:p>
        </p:txBody>
      </p:sp>
      <p:sp>
        <p:nvSpPr>
          <p:cNvPr id="36" name="Rectangle 3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7" name="TextBox 3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38" name="TextBox 3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39" name="TextBox 3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STATUS OF EACH SKILL FOR THIS ORGANIZATION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Skills you can use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READY</a:t>
            </a:r>
          </a:p>
        </p:txBody>
      </p:sp>
      <p:graphicFrame>
        <p:nvGraphicFramePr>
          <p:cNvPr id="9" name="Table 8"/>
          <p:cNvGraphicFramePr>
            <a:graphicFrameLocks noGrp="1"/>
          </p:cNvGraphicFramePr>
          <p:nvPr/>
        </p:nvGraphicFramePr>
        <p:xfrm>
          <a:off x="64008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769620">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769620">
                <a:tc>
                  <a:txBody>
                    <a:bodyPr/>
                    <a:lstStyle/>
                    <a:p>
                      <a:pPr>
                        <a:defRPr sz="800" b="1">
                          <a:solidFill>
                            <a:srgbClr val="0D1117"/>
                          </a:solidFill>
                          <a:latin typeface="Inter"/>
                        </a:defRPr>
                      </a:pPr>
                      <a:r>
                        <a:rPr>
                          <a:latin typeface="Inter"/>
                        </a:rPr>
                        <a:t>gradient-odd-report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ODD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Event feed not published; reports disclose the gap</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gradient-odd-ddq-reconcile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DDQ reconciliation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One subject per call</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gradient-odd-manager-monitor</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Weekly digest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roster fund monitored</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gradient-gips-* (5)</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GIPS reviews</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Works from supplied documents</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gradient-setup</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Readiness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Current check</a:t>
                      </a:r>
                    </a:p>
                  </a:txBody>
                  <a:tcPr marL="54864" marR="54864" marT="27432" marB="27432" anchor="ctr">
                    <a:solidFill>
                      <a:srgbClr val="FFFFFF"/>
                    </a:solidFill>
                  </a:tcPr>
                </a:tc>
              </a:tr>
            </a:tbl>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PARTIAL</a:t>
            </a:r>
          </a:p>
        </p:txBody>
      </p:sp>
      <p:graphicFrame>
        <p:nvGraphicFramePr>
          <p:cNvPr id="12" name="Table 11"/>
          <p:cNvGraphicFramePr>
            <a:graphicFrameLocks noGrp="1"/>
          </p:cNvGraphicFramePr>
          <p:nvPr/>
        </p:nvGraphicFramePr>
        <p:xfrm>
          <a:off x="630936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1539240">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539240">
                <a:tc>
                  <a:txBody>
                    <a:bodyPr/>
                    <a:lstStyle/>
                    <a:p>
                      <a:pPr>
                        <a:defRPr sz="800" b="1">
                          <a:solidFill>
                            <a:srgbClr val="0D1117"/>
                          </a:solidFill>
                          <a:latin typeface="Inter"/>
                        </a:defRPr>
                      </a:pPr>
                      <a:r>
                        <a:rPr>
                          <a:latin typeface="Inter"/>
                        </a:rPr>
                        <a:t>gradient-research-macro-brief</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Macro deck</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Regime state unavailable; uses Gradient signal</a:t>
                      </a:r>
                    </a:p>
                  </a:txBody>
                  <a:tcPr marL="54864" marR="54864" marT="27432" marB="27432" anchor="ctr">
                    <a:solidFill>
                      <a:srgbClr val="FFFFFF"/>
                    </a:solidFill>
                  </a:tcPr>
                </a:tc>
              </a:tr>
              <a:tr h="1539240">
                <a:tc>
                  <a:txBody>
                    <a:bodyPr/>
                    <a:lstStyle/>
                    <a:p>
                      <a:pPr>
                        <a:defRPr sz="800" b="1">
                          <a:solidFill>
                            <a:srgbClr val="0D1117"/>
                          </a:solidFill>
                          <a:latin typeface="Inter"/>
                        </a:defRPr>
                      </a:pPr>
                      <a:r>
                        <a:rPr>
                          <a:latin typeface="Inter"/>
                        </a:rPr>
                        <a:t>gradient-decision-ic-memo</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IC memo</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Portfolio core: Not licensed; Strategy Lab supplement: Not licensed (optional). Use supplied holdings</a:t>
                      </a:r>
                    </a:p>
                  </a:txBody>
                  <a:tcPr marL="54864" marR="54864" marT="27432" marB="27432" anchor="ctr">
                    <a:solidFill>
                      <a:srgbClr val="F5F7F9"/>
                    </a:solidFill>
                  </a:tcPr>
                </a:tc>
              </a:tr>
            </a:tbl>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ORGANIZATION</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8897112"/>
              </a:tblGrid>
              <a:tr h="659674">
                <a:tc>
                  <a:txBody>
                    <a:bodyPr/>
                    <a:lstStyle/>
                    <a:p>
                      <a:pPr>
                        <a:defRPr sz="800" b="1">
                          <a:solidFill>
                            <a:srgbClr val="0D1117"/>
                          </a:solidFill>
                          <a:latin typeface="Inter"/>
                        </a:defRPr>
                      </a:pPr>
                      <a:r>
                        <a:rPr>
                          <a:latin typeface="Inter"/>
                        </a:rPr>
                        <a:t>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Gradient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Role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Admin [S1]</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Licensed modules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Firm &amp; fund diligence, Research, Macro desk, Gradient signals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Not licensed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Portfolio, Strategy Lab, Peer intelligence [S2]</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Tools entitled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44 of 63 [S2]</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Backend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Ready [S2]</a:t>
                      </a:r>
                    </a:p>
                  </a:txBody>
                  <a:tcPr marL="54864" marR="54864" marT="27432" marB="27432" anchor="ctr">
                    <a:solidFill>
                      <a:srgbClr val="F5F7F9"/>
                    </a:solidFill>
                  </a:tcPr>
                </a:tc>
              </a:tr>
              <a:tr h="659676">
                <a:tc>
                  <a:txBody>
                    <a:bodyPr/>
                    <a:lstStyle/>
                    <a:p>
                      <a:pPr>
                        <a:defRPr sz="800" b="1">
                          <a:solidFill>
                            <a:srgbClr val="0D1117"/>
                          </a:solidFill>
                          <a:latin typeface="Inter"/>
                        </a:defRPr>
                      </a:pPr>
                      <a:r>
                        <a:rPr>
                          <a:latin typeface="Inter"/>
                        </a:rPr>
                        <a:t>Roster capacity</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of 3 fund slots used [S4]</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S4</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DATA DOMAINS</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4448556"/>
                <a:gridCol w="4448556"/>
              </a:tblGrid>
              <a:tr h="577215">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77215">
                <a:tc>
                  <a:txBody>
                    <a:bodyPr/>
                    <a:lstStyle/>
                    <a:p>
                      <a:pPr>
                        <a:defRPr sz="800" b="1">
                          <a:solidFill>
                            <a:srgbClr val="0D1117"/>
                          </a:solidFill>
                          <a:latin typeface="Inter"/>
                        </a:defRPr>
                      </a:pPr>
                      <a:r>
                        <a:rPr>
                          <a:latin typeface="Inter"/>
                        </a:rPr>
                        <a:t>Manager diligence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Form ADV current to 2026-10-01</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Macro research</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The Read published to 2026-10-02</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Capital market assumptions</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quality receipt unvalidated</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Market data</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Strategy Lab</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not licensed</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Peer intelligence</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Not licensed</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FULL SELF-TEST: 14 PROBES AGAINST THE LIVE CONNECTOR</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Contract checks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76310">
                <a:tc>
                  <a:txBody>
                    <a:bodyPr/>
                    <a:lstStyle/>
                    <a:p>
                      <a:pPr>
                        <a:defRPr sz="750" b="1">
                          <a:solidFill>
                            <a:srgbClr val="FFFFFF"/>
                          </a:solidFill>
                          <a:latin typeface="Inter"/>
                        </a:defRPr>
                      </a:pPr>
                      <a:r>
                        <a:rPr>
                          <a:latin typeface="Inter"/>
                        </a:rPr>
                        <a:t>Probe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376310">
                <a:tc>
                  <a:txBody>
                    <a:bodyPr/>
                    <a:lstStyle/>
                    <a:p>
                      <a:pPr>
                        <a:defRPr sz="720" b="1">
                          <a:solidFill>
                            <a:srgbClr val="0D1117"/>
                          </a:solidFill>
                          <a:latin typeface="Inter"/>
                        </a:defRPr>
                      </a:pPr>
                      <a:r>
                        <a:rPr>
                          <a:latin typeface="Inter"/>
                        </a:rPr>
                        <a:t>orgs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odd_profile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get_manager_odd_profile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CRD 999901</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monitor_coverage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get_manager_monitor_evidence</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2026-10-01</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ADV freshness current</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Coverage partial: no chart history</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attention</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get_manager_diligence_attention_queue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findings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get_manager_diligence_findings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Validator advisory on empty list (known)</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events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get_firm_fund_events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Publication not ready (known)</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gradient_signal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GRIP degraded: 1 stale input</a:t>
                      </a:r>
                    </a:p>
                  </a:txBody>
                  <a:tcPr marL="54864" marR="54864" marT="27432" marB="27432" anchor="ctr">
                    <a:solidFill>
                      <a:srgbClr val="FFFFFF"/>
                    </a:solidFill>
                  </a:tcPr>
                </a:tc>
              </a:tr>
              <a:tr h="376320">
                <a:tc>
                  <a:txBody>
                    <a:bodyPr/>
                    <a:lstStyle/>
                    <a:p>
                      <a:pPr>
                        <a:defRPr sz="720" b="1">
                          <a:solidFill>
                            <a:srgbClr val="0D1117"/>
                          </a:solidFill>
                          <a:latin typeface="Inter"/>
                        </a:defRPr>
                      </a:pPr>
                      <a:r>
                        <a:rPr>
                          <a:latin typeface="Inter"/>
                        </a:rPr>
                        <a:t>regime_state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5F7F9"/>
                    </a:solidFill>
                  </a:tcPr>
                </a:tc>
                <a:tc>
                  <a:txBody>
                    <a:bodyPr/>
                    <a:lstStyle/>
                    <a:p>
                      <a:pPr>
                        <a:defRPr sz="720" b="1">
                          <a:solidFill>
                            <a:srgbClr val="F2A93B"/>
                          </a:solidFill>
                          <a:latin typeface="Inter"/>
                        </a:defRPr>
                      </a:pPr>
                      <a:r>
                        <a:rPr>
                          <a:latin typeface="Inter"/>
                        </a:rPr>
                        <a:t>● Not available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HTTP 500 MCP_TOOL_EXECUTION_FAILED; retried once</a:t>
                      </a:r>
                    </a:p>
                  </a:txBody>
                  <a:tcPr marL="54864" marR="54864" marT="27432" marB="27432" anchor="ctr">
                    <a:solidFill>
                      <a:srgbClr val="F5F7F9"/>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FULL SELF-TEST: 14 PROBES AGAINST THE LIVE CONNECTOR</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Contract checks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TABLE — CONTINUED</a:t>
            </a:r>
          </a:p>
        </p:txBody>
      </p:sp>
      <p:graphicFrame>
        <p:nvGraphicFramePr>
          <p:cNvPr id="9" name="Table 8"/>
          <p:cNvGraphicFramePr>
            <a:graphicFrameLocks noGrp="1"/>
          </p:cNvGraphicFramePr>
          <p:nvPr/>
        </p:nvGraphicFramePr>
        <p:xfrm>
          <a:off x="640080" y="1600200"/>
          <a:ext cx="10908792" cy="3030311"/>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1010103">
                <a:tc>
                  <a:txBody>
                    <a:bodyPr/>
                    <a:lstStyle/>
                    <a:p>
                      <a:pPr>
                        <a:defRPr sz="750" b="1">
                          <a:solidFill>
                            <a:srgbClr val="FFFFFF"/>
                          </a:solidFill>
                          <a:latin typeface="Inter"/>
                        </a:defRPr>
                      </a:pPr>
                      <a:r>
                        <a:rPr>
                          <a:latin typeface="Inter"/>
                        </a:rPr>
                        <a:t>Probe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010103">
                <a:tc>
                  <a:txBody>
                    <a:bodyPr/>
                    <a:lstStyle/>
                    <a:p>
                      <a:pPr>
                        <a:defRPr sz="720" b="1">
                          <a:solidFill>
                            <a:srgbClr val="0D1117"/>
                          </a:solidFill>
                          <a:latin typeface="Inter"/>
                        </a:defRPr>
                      </a:pPr>
                      <a:r>
                        <a:rPr>
                          <a:latin typeface="Inter"/>
                        </a:rPr>
                        <a:t>cma_baseline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get_capital_market_assumptions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Risk-free fresh; receipt validation unavailable</a:t>
                      </a:r>
                    </a:p>
                  </a:txBody>
                  <a:tcPr marL="54864" marR="54864" marT="27432" marB="27432" anchor="ctr">
                    <a:solidFill>
                      <a:srgbClr val="FFFFFF"/>
                    </a:solidFill>
                  </a:tcPr>
                </a:tc>
              </a:tr>
              <a:tr h="1010105">
                <a:tc>
                  <a:txBody>
                    <a:bodyPr/>
                    <a:lstStyle/>
                    <a:p>
                      <a:pPr>
                        <a:defRPr sz="720" b="1">
                          <a:solidFill>
                            <a:srgbClr val="0D1117"/>
                          </a:solidFill>
                          <a:latin typeface="Inter"/>
                        </a:defRPr>
                      </a:pPr>
                      <a:r>
                        <a:rPr>
                          <a:latin typeface="Inter"/>
                        </a:rPr>
                        <a:t>watchlist</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get_research_watchlist_changes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No items selected</a:t>
                      </a:r>
                    </a:p>
                  </a:txBody>
                  <a:tcPr marL="54864" marR="54864" marT="27432" marB="27432" anchor="ctr">
                    <a:solidFill>
                      <a:srgbClr val="F5F7F9"/>
                    </a:solidFill>
                  </a:tcPr>
                </a:tc>
              </a:tr>
            </a:tbl>
          </a:graphicData>
        </a:graphic>
      </p:graphicFrame>
      <p:sp>
        <p:nvSpPr>
          <p:cNvPr id="10" name="Rectangle 9"/>
          <p:cNvSpPr/>
          <p:nvPr/>
        </p:nvSpPr>
        <p:spPr>
          <a:xfrm>
            <a:off x="640080" y="4740239"/>
            <a:ext cx="10908792" cy="147768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Rectangle 10"/>
          <p:cNvSpPr/>
          <p:nvPr/>
        </p:nvSpPr>
        <p:spPr>
          <a:xfrm>
            <a:off x="640080" y="4740239"/>
            <a:ext cx="54864" cy="147768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804671" y="484996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 new failures</a:t>
            </a:r>
          </a:p>
        </p:txBody>
      </p:sp>
      <p:sp>
        <p:nvSpPr>
          <p:cNvPr id="13" name="TextBox 12"/>
          <p:cNvSpPr txBox="1"/>
          <p:nvPr/>
        </p:nvSpPr>
        <p:spPr>
          <a:xfrm>
            <a:off x="804671" y="5133431"/>
            <a:ext cx="10616184" cy="99304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All probes completed without a new failure. The CMA baseline returns a fresh risk-free rate.</a:t>
            </a:r>
          </a:p>
        </p:txBody>
      </p:sp>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PROMPTS THAT WORK FOR THIS ORGANIZATION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Try next</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500"/>
              </a:spcAft>
              <a:defRPr sz="1000" b="0">
                <a:solidFill>
                  <a:srgbClr val="0D1117"/>
                </a:solidFill>
                <a:latin typeface="Inter"/>
              </a:defRPr>
            </a:pPr>
            <a:r>
              <a:rPr>
                <a:latin typeface="Inter"/>
              </a:rPr>
              <a:t>01  Run an ODD report on Ridgeview Global Macro Fund II.</a:t>
            </a:r>
            <a:br/>
            <a:r>
              <a:rPr>
                <a:latin typeface="Inter"/>
              </a:rPr>
              <a:t>      Your one roster fund; a new Form ADV was filed after its last review.</a:t>
            </a:r>
          </a:p>
          <a:p>
            <a:pPr algn="l">
              <a:spcAft>
                <a:spcPts val="500"/>
              </a:spcAft>
              <a:defRPr sz="1000" b="0">
                <a:solidFill>
                  <a:srgbClr val="0D1117"/>
                </a:solidFill>
                <a:latin typeface="Inter"/>
              </a:defRPr>
            </a:pPr>
            <a:r>
              <a:rPr>
                <a:latin typeface="Inter"/>
              </a:rPr>
              <a:t>02  Give me this week's manager monitoring digest, and schedule it for Mondays.</a:t>
            </a:r>
            <a:br/>
            <a:r>
              <a:rPr>
                <a:latin typeface="Inter"/>
              </a:rPr>
              <a:t>      Keeps the roster under watch without manual checks.</a:t>
            </a:r>
          </a:p>
          <a:p>
            <a:pPr algn="l">
              <a:spcAft>
                <a:spcPts val="500"/>
              </a:spcAft>
              <a:defRPr sz="1000" b="0">
                <a:solidFill>
                  <a:srgbClr val="0D1117"/>
                </a:solidFill>
                <a:latin typeface="Inter"/>
              </a:defRPr>
            </a:pPr>
            <a:r>
              <a:rPr>
                <a:latin typeface="Inter"/>
              </a:rPr>
              <a:t>03  Build the macro briefing deck for Thursday's committee.</a:t>
            </a:r>
            <a:br/>
            <a:r>
              <a:rPr>
                <a:latin typeface="Inter"/>
              </a:rPr>
              <a:t>      Uses The Read, rates, Gradient signal, calendar and CMAs.</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A — Sources</a:t>
            </a:r>
          </a:p>
        </p:txBody>
      </p:sp>
      <p:sp>
        <p:nvSpPr>
          <p:cNvPr id="4" name="Rectangle 3"/>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5" name="Rectangle 4"/>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TextBox 5"/>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7" name="Table 6"/>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543560">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r>
              <a:tr h="543560">
                <a:tc>
                  <a:txBody>
                    <a:bodyPr/>
                    <a:lstStyle/>
                    <a:p>
                      <a:pPr>
                        <a:defRPr sz="72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Organizations and modules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9AA5B1"/>
                          </a:solidFill>
                          <a:latin typeface="Inter"/>
                        </a:defRPr>
                      </a:pPr>
                      <a:r>
                        <a:rPr>
                          <a:latin typeface="Inter"/>
                        </a:rPr>
                        <a:t>● n/a</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Capabilities, entitlement, 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get_gradient_capabilities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9AA5B1"/>
                          </a:solidFill>
                          <a:latin typeface="Inter"/>
                        </a:defRPr>
                      </a:pPr>
                      <a:r>
                        <a:rPr>
                          <a:latin typeface="Inter"/>
                        </a:rPr>
                        <a:t>● n/a</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Contract probes (14)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see table in section 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Diligence 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S5</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The Read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S6</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conditions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S7</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Gradient signal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S8</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calendar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bl>
          </a:graphicData>
        </a:graphic>
      </p:graphicFrame>
      <p:sp>
        <p:nvSpPr>
          <p:cNvPr id="8" name="Rectangle 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 · S5 · S6 · S7 · S8</a:t>
            </a:r>
          </a:p>
        </p:txBody>
      </p:sp>
      <p:sp>
        <p:nvSpPr>
          <p:cNvPr id="10" name="TextBox 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1" name="TextBox 1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A — Sources — continued</a:t>
            </a:r>
          </a:p>
        </p:txBody>
      </p:sp>
      <p:sp>
        <p:nvSpPr>
          <p:cNvPr id="4" name="Rectangle 3"/>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5" name="Rectangle 4"/>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TextBox 5"/>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7" name="TextBox 6"/>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100" b="0">
                <a:solidFill>
                  <a:srgbClr val="4A5563"/>
                </a:solidFill>
                <a:latin typeface="Inter"/>
              </a:defRPr>
            </a:pPr>
            <a:r>
              <a:rPr>
                <a:latin typeface="Inter"/>
              </a:rPr>
              <a:t>Readiness reflects entitlement, OAuth scope, backend health and data readiness reported by GradientCIO at the time of the check. Tool availability does not guarantee that data is published for every subject.</a:t>
            </a:r>
          </a:p>
        </p:txBody>
      </p:sp>
      <p:sp>
        <p:nvSpPr>
          <p:cNvPr id="8" name="Rectangle 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0" name="TextBox 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1" name="TextBox 1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dc:title>
  <dc:subject>Readiness Check</dc:subject>
  <dc:creator>GradientCIO</dc:creator>
  <cp:keywords>Gradient report theme 2.1.0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