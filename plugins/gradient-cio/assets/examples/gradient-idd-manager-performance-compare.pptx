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a="http://schemas.openxmlformats.org/drawingml/2006/main" xmlns:ns0="http://schemas.openxmlformats.org/presentationml/2006/main" xmlns:ns1="http://schemas.openxmlformats.org/officeDocument/2006/relationships" saveSubsetFonts="1" autoCompressPictures="0">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Lst>
  <ns0:sldSz cx="12191695" cy="6858000" type="screen16x9"/>
  <ns0:notesSz cx="6858000" cy="9144000"/>
  <ns0: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Comparison unavailable</a:t>
            </a:r>
          </a:p>
          <a:p>
            <a:r>
              <a:t>Observation: Comparative metrics are unavailable [S1]. Why it matters: No ranking is supportable. Uncertainty: Missing evidence may differ by manager. What would change the view: A governed comparison result.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Relative evidence missing</a:t>
            </a:r>
          </a:p>
          <a:p>
            <a:r>
              <a:t>Observation: Relative evidence is unavailable [S1]. Why it matters: Benchmark-relative behavior is unknown. Uncertainty: Capture may vary by window. What would change the view: A governed relative-return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Robustness unavailable</a:t>
            </a:r>
          </a:p>
          <a:p>
            <a:r>
              <a:t>Observation: Robustness evidence is unavailable [S1]. Why it matters: Persistence cannot be assessed. Uncertainty: Results may depend on dates. What would change the view: Governed window tests.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xhibit">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Appendix">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Oval 2"/>
          <p:cNvSpPr/>
          <p:nvPr/>
        </p:nvSpPr>
        <p:spPr>
          <a:xfrm>
            <a:off x="9372600" y="164592"/>
            <a:ext cx="2514600" cy="2514600"/>
          </a:xfrm>
          <a:prstGeom prst="ellipse">
            <a:avLst/>
          </a:prstGeom>
          <a:solidFill>
            <a:srgbClr val="161C24"/>
          </a:solidFill>
          <a:ln>
            <a:solidFill>
              <a:srgbClr val="16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4" name="TextBox 3"/>
          <p:cNvSpPr txBox="1"/>
          <p:nvPr/>
        </p:nvSpPr>
        <p:spPr>
          <a:xfrm>
            <a:off x="685800" y="457200"/>
            <a:ext cx="4754880" cy="320040"/>
          </a:xfrm>
          <a:prstGeom prst="rect">
            <a:avLst/>
          </a:prstGeom>
          <a:noFill/>
        </p:spPr>
        <p:txBody>
          <a:bodyPr wrap="none" lIns="9144" rIns="9144" tIns="9144" bIns="9144" anchor="t">
            <a:spAutoFit/>
          </a:bodyPr>
          <a:lstStyle/>
          <a:p>
            <a:pPr algn="l">
              <a:spcAft>
                <a:spcPts val="0"/>
              </a:spcAft>
              <a:defRPr sz="1200" b="1">
                <a:solidFill>
                  <a:srgbClr val="FFFFFF"/>
                </a:solidFill>
                <a:latin typeface="Inter"/>
              </a:defRPr>
            </a:pPr>
            <a:r>
              <a:rPr>
                <a:latin typeface="Inter"/>
              </a:rPr>
              <a:t>GradientCIO</a:t>
            </a:r>
          </a:p>
        </p:txBody>
      </p:sp>
      <p:sp>
        <p:nvSpPr>
          <p:cNvPr id="5" name="TextBox 4"/>
          <p:cNvSpPr txBox="1"/>
          <p:nvPr/>
        </p:nvSpPr>
        <p:spPr>
          <a:xfrm>
            <a:off x="685800" y="1664208"/>
            <a:ext cx="9966960" cy="274320"/>
          </a:xfrm>
          <a:prstGeom prst="rect">
            <a:avLst/>
          </a:prstGeom>
          <a:noFill/>
        </p:spPr>
        <p:txBody>
          <a:bodyPr wrap="none" lIns="9144" rIns="9144" tIns="9144" bIns="9144" anchor="t">
            <a:spAutoFit/>
          </a:bodyPr>
          <a:lstStyle/>
          <a:p>
            <a:pPr algn="l">
              <a:spcAft>
                <a:spcPts val="0"/>
              </a:spcAft>
              <a:defRPr sz="850" b="1">
                <a:solidFill>
                  <a:srgbClr val="C6F432"/>
                </a:solidFill>
                <a:latin typeface="Inter"/>
              </a:defRPr>
            </a:pPr>
            <a:r>
              <a:rPr>
                <a:latin typeface="Inter"/>
              </a:rPr>
              <a:t>INVESTMENT DUE DILIGENCE</a:t>
            </a:r>
          </a:p>
        </p:txBody>
      </p:sp>
      <p:sp>
        <p:nvSpPr>
          <p:cNvPr id="6" name="TextBox 5"/>
          <p:cNvSpPr txBox="1"/>
          <p:nvPr/>
        </p:nvSpPr>
        <p:spPr>
          <a:xfrm>
            <a:off x="685800" y="2011680"/>
            <a:ext cx="9966960" cy="1234440"/>
          </a:xfrm>
          <a:prstGeom prst="rect">
            <a:avLst/>
          </a:prstGeom>
          <a:noFill/>
        </p:spPr>
        <p:txBody>
          <a:bodyPr wrap="none" lIns="9144" rIns="9144" tIns="9144" bIns="9144" anchor="t">
            <a:spAutoFit/>
          </a:bodyPr>
          <a:lstStyle/>
          <a:p>
            <a:pPr algn="l">
              <a:spcAft>
                <a:spcPts val="0"/>
              </a:spcAft>
              <a:defRPr sz="3300" b="1">
                <a:solidFill>
                  <a:srgbClr val="FFFFFF"/>
                </a:solidFill>
                <a:latin typeface="Inter"/>
              </a:defRPr>
            </a:pPr>
            <a:r>
              <a:rPr>
                <a:latin typeface="Inter"/>
              </a:rPr>
              <a:t>Northstar Manager Comparison</a:t>
            </a:r>
          </a:p>
        </p:txBody>
      </p:sp>
      <p:sp>
        <p:nvSpPr>
          <p:cNvPr id="7" name="TextBox 6"/>
          <p:cNvSpPr txBox="1"/>
          <p:nvPr/>
        </p:nvSpPr>
        <p:spPr>
          <a:xfrm>
            <a:off x="685800" y="3273552"/>
            <a:ext cx="9692640" cy="594360"/>
          </a:xfrm>
          <a:prstGeom prst="rect">
            <a:avLst/>
          </a:prstGeom>
          <a:noFill/>
        </p:spPr>
        <p:txBody>
          <a:bodyPr wrap="none" lIns="9144" rIns="9144" tIns="9144" bIns="9144" anchor="t">
            <a:spAutoFit/>
          </a:bodyPr>
          <a:lstStyle/>
          <a:p>
            <a:pPr algn="l">
              <a:spcAft>
                <a:spcPts val="0"/>
              </a:spcAft>
              <a:defRPr sz="1400" b="0">
                <a:solidFill>
                  <a:srgbClr val="9AA5B1"/>
                </a:solidFill>
                <a:latin typeface="Inter"/>
              </a:defRPr>
            </a:pPr>
            <a:r>
              <a:rPr>
                <a:latin typeface="Inter"/>
              </a:rPr>
              <a:t>Comparative performance and benchmark assessment</a:t>
            </a:r>
          </a:p>
        </p:txBody>
      </p:sp>
      <p:sp>
        <p:nvSpPr>
          <p:cNvPr id="8" name="Rectangle 7"/>
          <p:cNvSpPr/>
          <p:nvPr/>
        </p:nvSpPr>
        <p:spPr>
          <a:xfrm>
            <a:off x="685800" y="4005072"/>
            <a:ext cx="822960" cy="45720"/>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TextBox 8"/>
          <p:cNvSpPr txBox="1"/>
          <p:nvPr/>
        </p:nvSpPr>
        <p:spPr>
          <a:xfrm>
            <a:off x="685800" y="4315968"/>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REVIEW</a:t>
            </a:r>
          </a:p>
        </p:txBody>
      </p:sp>
      <p:sp>
        <p:nvSpPr>
          <p:cNvPr id="10" name="TextBox 9"/>
          <p:cNvSpPr txBox="1"/>
          <p:nvPr/>
        </p:nvSpPr>
        <p:spPr>
          <a:xfrm>
            <a:off x="685800" y="4507992"/>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Manager comparison</a:t>
            </a:r>
          </a:p>
        </p:txBody>
      </p:sp>
      <p:sp>
        <p:nvSpPr>
          <p:cNvPr id="11" name="TextBox 10"/>
          <p:cNvSpPr txBox="1"/>
          <p:nvPr/>
        </p:nvSpPr>
        <p:spPr>
          <a:xfrm>
            <a:off x="5852160" y="4315968"/>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EVIDENCE</a:t>
            </a:r>
          </a:p>
        </p:txBody>
      </p:sp>
      <p:sp>
        <p:nvSpPr>
          <p:cNvPr id="12" name="TextBox 11"/>
          <p:cNvSpPr txBox="1"/>
          <p:nvPr/>
        </p:nvSpPr>
        <p:spPr>
          <a:xfrm>
            <a:off x="5852160" y="4507992"/>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Governed return series</a:t>
            </a:r>
          </a:p>
        </p:txBody>
      </p:sp>
      <p:sp>
        <p:nvSpPr>
          <p:cNvPr id="13" name="TextBox 12"/>
          <p:cNvSpPr txBox="1"/>
          <p:nvPr/>
        </p:nvSpPr>
        <p:spPr>
          <a:xfrm>
            <a:off x="685800" y="4937759"/>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AUDIENCE</a:t>
            </a:r>
          </a:p>
        </p:txBody>
      </p:sp>
      <p:sp>
        <p:nvSpPr>
          <p:cNvPr id="14" name="TextBox 13"/>
          <p:cNvSpPr txBox="1"/>
          <p:nvPr/>
        </p:nvSpPr>
        <p:spPr>
          <a:xfrm>
            <a:off x="685800" y="5129783"/>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Investment Committee</a:t>
            </a:r>
          </a:p>
        </p:txBody>
      </p:sp>
      <p:sp>
        <p:nvSpPr>
          <p:cNvPr id="15" name="TextBox 14"/>
          <p:cNvSpPr txBox="1"/>
          <p:nvPr/>
        </p:nvSpPr>
        <p:spPr>
          <a:xfrm>
            <a:off x="5852160" y="4937759"/>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DATA AS OF</a:t>
            </a:r>
          </a:p>
        </p:txBody>
      </p:sp>
      <p:sp>
        <p:nvSpPr>
          <p:cNvPr id="16" name="TextBox 15"/>
          <p:cNvSpPr txBox="1"/>
          <p:nvPr/>
        </p:nvSpPr>
        <p:spPr>
          <a:xfrm>
            <a:off x="5852160" y="5129783"/>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2025-12-31</a:t>
            </a:r>
          </a:p>
        </p:txBody>
      </p:sp>
      <p:sp>
        <p:nvSpPr>
          <p:cNvPr id="17" name="Rectangle 16"/>
          <p:cNvSpPr/>
          <p:nvPr/>
        </p:nvSpPr>
        <p:spPr>
          <a:xfrm>
            <a:off x="685800" y="5687568"/>
            <a:ext cx="3337560" cy="530352"/>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822960" y="5760720"/>
            <a:ext cx="3063240" cy="128016"/>
          </a:xfrm>
          <a:prstGeom prst="rect">
            <a:avLst/>
          </a:prstGeom>
          <a:noFill/>
        </p:spPr>
        <p:txBody>
          <a:bodyPr wrap="none" lIns="9144" rIns="9144" tIns="9144" bIns="9144" anchor="t">
            <a:spAutoFit/>
          </a:bodyPr>
          <a:lstStyle/>
          <a:p>
            <a:pPr algn="l">
              <a:spcAft>
                <a:spcPts val="0"/>
              </a:spcAft>
              <a:defRPr sz="620" b="1">
                <a:solidFill>
                  <a:srgbClr val="0D1117"/>
                </a:solidFill>
                <a:latin typeface="Inter"/>
              </a:defRPr>
            </a:pPr>
            <a:r>
              <a:rPr>
                <a:latin typeface="Inter"/>
              </a:rPr>
              <a:t>OVERALL VIEW</a:t>
            </a:r>
          </a:p>
        </p:txBody>
      </p:sp>
      <p:sp>
        <p:nvSpPr>
          <p:cNvPr id="19" name="TextBox 18"/>
          <p:cNvSpPr txBox="1"/>
          <p:nvPr/>
        </p:nvSpPr>
        <p:spPr>
          <a:xfrm>
            <a:off x="822960" y="5916168"/>
            <a:ext cx="3063240" cy="182880"/>
          </a:xfrm>
          <a:prstGeom prst="rect">
            <a:avLst/>
          </a:prstGeom>
          <a:noFill/>
        </p:spPr>
        <p:txBody>
          <a:bodyPr wrap="none" lIns="9144" rIns="9144" tIns="9144" bIns="9144" anchor="t">
            <a:spAutoFit/>
          </a:bodyPr>
          <a:lstStyle/>
          <a:p>
            <a:pPr algn="l">
              <a:spcAft>
                <a:spcPts val="0"/>
              </a:spcAft>
              <a:defRPr sz="900" b="1">
                <a:solidFill>
                  <a:srgbClr val="0D1117"/>
                </a:solidFill>
                <a:latin typeface="Inter"/>
              </a:defRPr>
            </a:pPr>
            <a:r>
              <a:rPr>
                <a:latin typeface="Inter"/>
              </a:rPr>
              <a:t>Insufficient governed evidence</a:t>
            </a:r>
          </a:p>
        </p:txBody>
      </p:sp>
      <p:sp>
        <p:nvSpPr>
          <p:cNvPr id="20" name="TextBox 19"/>
          <p:cNvSpPr txBox="1"/>
          <p:nvPr/>
        </p:nvSpPr>
        <p:spPr>
          <a:xfrm>
            <a:off x="4297680" y="5733288"/>
            <a:ext cx="3108960" cy="164592"/>
          </a:xfrm>
          <a:prstGeom prst="rect">
            <a:avLst/>
          </a:prstGeom>
          <a:noFill/>
        </p:spPr>
        <p:txBody>
          <a:bodyPr wrap="none" lIns="9144" rIns="9144" tIns="9144" bIns="9144" anchor="t">
            <a:spAutoFit/>
          </a:bodyPr>
          <a:lstStyle/>
          <a:p>
            <a:pPr algn="l">
              <a:spcAft>
                <a:spcPts val="0"/>
              </a:spcAft>
              <a:defRPr sz="650" b="1">
                <a:solidFill>
                  <a:srgbClr val="8A94A1"/>
                </a:solidFill>
                <a:latin typeface="Inter"/>
              </a:defRPr>
            </a:pPr>
            <a:r>
              <a:rPr>
                <a:latin typeface="Inter"/>
              </a:rPr>
              <a:t>SCOPE REVIEWED</a:t>
            </a:r>
          </a:p>
        </p:txBody>
      </p:sp>
      <p:sp>
        <p:nvSpPr>
          <p:cNvPr id="21" name="TextBox 20"/>
          <p:cNvSpPr txBox="1"/>
          <p:nvPr/>
        </p:nvSpPr>
        <p:spPr>
          <a:xfrm>
            <a:off x="4297680" y="5934456"/>
            <a:ext cx="3108960" cy="201168"/>
          </a:xfrm>
          <a:prstGeom prst="rect">
            <a:avLst/>
          </a:prstGeom>
          <a:noFill/>
        </p:spPr>
        <p:txBody>
          <a:bodyPr wrap="none" lIns="9144" rIns="9144" tIns="9144" bIns="9144" anchor="t">
            <a:spAutoFit/>
          </a:bodyPr>
          <a:lstStyle/>
          <a:p>
            <a:pPr algn="l">
              <a:spcAft>
                <a:spcPts val="0"/>
              </a:spcAft>
              <a:defRPr sz="800" b="1">
                <a:solidFill>
                  <a:srgbClr val="FFFFFF"/>
                </a:solidFill>
                <a:latin typeface="Inter"/>
              </a:defRPr>
            </a:pPr>
            <a:r>
              <a:rPr>
                <a:latin typeface="Inter"/>
              </a:rPr>
              <a:t>1 of 4 · Partial</a:t>
            </a:r>
          </a:p>
        </p:txBody>
      </p:sp>
      <p:sp>
        <p:nvSpPr>
          <p:cNvPr id="22" name="TextBox 21"/>
          <p:cNvSpPr txBox="1"/>
          <p:nvPr/>
        </p:nvSpPr>
        <p:spPr>
          <a:xfrm>
            <a:off x="685800" y="6400800"/>
            <a:ext cx="8046720" cy="146304"/>
          </a:xfrm>
          <a:prstGeom prst="rect">
            <a:avLst/>
          </a:prstGeom>
          <a:noFill/>
        </p:spPr>
        <p:txBody>
          <a:bodyPr wrap="none" lIns="9144" rIns="9144" tIns="9144" bIns="9144" anchor="t">
            <a:spAutoFit/>
          </a:bodyPr>
          <a:lstStyle/>
          <a:p>
            <a:pPr algn="l">
              <a:spcAft>
                <a:spcPts val="0"/>
              </a:spcAft>
              <a:defRPr sz="700" b="0">
                <a:solidFill>
                  <a:srgbClr val="8A94A1"/>
                </a:solidFill>
                <a:latin typeface="Inter"/>
              </a:defRPr>
            </a:pPr>
            <a:r>
              <a:rPr>
                <a:latin typeface="Inter"/>
              </a:rPr>
              <a:t>Confidential — manager selection review</a:t>
            </a:r>
          </a:p>
        </p:txBody>
      </p:sp>
      <p:sp>
        <p:nvSpPr>
          <p:cNvPr id="23" name="TextBox 22"/>
          <p:cNvSpPr txBox="1"/>
          <p:nvPr/>
        </p:nvSpPr>
        <p:spPr>
          <a:xfrm>
            <a:off x="685800" y="6556248"/>
            <a:ext cx="8046720" cy="128016"/>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Illustrative sample · not client data</a:t>
            </a:r>
          </a:p>
        </p:txBody>
      </p:sp>
      <p:sp>
        <p:nvSpPr>
          <p:cNvPr id="24" name="TextBox 23"/>
          <p:cNvSpPr txBox="1"/>
          <p:nvPr/>
        </p:nvSpPr>
        <p:spPr>
          <a:xfrm>
            <a:off x="8778240" y="6473952"/>
            <a:ext cx="2743200" cy="182880"/>
          </a:xfrm>
          <a:prstGeom prst="rect">
            <a:avLst/>
          </a:prstGeom>
          <a:noFill/>
        </p:spPr>
        <p:txBody>
          <a:bodyPr wrap="none" lIns="9144" rIns="9144" tIns="9144" bIns="9144" anchor="t">
            <a:spAutoFit/>
          </a:bodyPr>
          <a:lstStyle/>
          <a:p>
            <a:pPr algn="r">
              <a:spcAft>
                <a:spcPts val="0"/>
              </a:spcAft>
              <a:defRPr sz="700" b="0">
                <a:solidFill>
                  <a:srgbClr val="8A94A1"/>
                </a:solidFill>
                <a:latin typeface="Inter"/>
              </a:defRPr>
            </a:pPr>
            <a:r>
              <a:rPr>
                <a:latin typeface="Inter"/>
              </a:rPr>
              <a:t>GradientCIO.com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EVIDENCE DOES NOT SUPPORT A COMPARATIVE CONCLUSION</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conclusion</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9" name="Rectangle 8"/>
          <p:cNvSpPr/>
          <p:nvPr/>
        </p:nvSpPr>
        <p:spPr>
          <a:xfrm>
            <a:off x="640080" y="1325880"/>
            <a:ext cx="10908792" cy="1557527"/>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1557527"/>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Coverage</a:t>
            </a:r>
          </a:p>
        </p:txBody>
      </p:sp>
      <p:sp>
        <p:nvSpPr>
          <p:cNvPr id="12" name="TextBox 11"/>
          <p:cNvSpPr txBox="1"/>
          <p:nvPr/>
        </p:nvSpPr>
        <p:spPr>
          <a:xfrm>
            <a:off x="804671" y="1719072"/>
            <a:ext cx="10616184" cy="1072895"/>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Coverage is incomplete [S1]. Why it matters: Comparison is constrained. Uncertainty: Missing reads may change results. What would change the view: Governed comparison evidence.</a:t>
            </a:r>
          </a:p>
        </p:txBody>
      </p:sp>
      <p:sp>
        <p:nvSpPr>
          <p:cNvPr id="13" name="Rectangle 12"/>
          <p:cNvSpPr/>
          <p:nvPr/>
        </p:nvSpPr>
        <p:spPr>
          <a:xfrm>
            <a:off x="640080" y="2993136"/>
            <a:ext cx="10908792" cy="1557527"/>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2993136"/>
            <a:ext cx="54864" cy="1557527"/>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804671" y="3102864"/>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Benchmarks</a:t>
            </a:r>
          </a:p>
        </p:txBody>
      </p:sp>
      <p:sp>
        <p:nvSpPr>
          <p:cNvPr id="16" name="TextBox 15"/>
          <p:cNvSpPr txBox="1"/>
          <p:nvPr/>
        </p:nvSpPr>
        <p:spPr>
          <a:xfrm>
            <a:off x="804671" y="3386328"/>
            <a:ext cx="10616184" cy="1072895"/>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Benchmark matching is advisory [S1]. Why it matters: Relative evidence is bounded. Uncertainty: Mandate fit is unconfirmed. What would change the view: Canonical matches.</a:t>
            </a:r>
          </a:p>
        </p:txBody>
      </p:sp>
      <p:sp>
        <p:nvSpPr>
          <p:cNvPr id="17" name="Rectangle 16"/>
          <p:cNvSpPr/>
          <p:nvPr/>
        </p:nvSpPr>
        <p:spPr>
          <a:xfrm>
            <a:off x="640080" y="4660392"/>
            <a:ext cx="10908792" cy="1557527"/>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Rectangle 17"/>
          <p:cNvSpPr/>
          <p:nvPr/>
        </p:nvSpPr>
        <p:spPr>
          <a:xfrm>
            <a:off x="640080" y="4660392"/>
            <a:ext cx="54864" cy="1557527"/>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TextBox 18"/>
          <p:cNvSpPr txBox="1"/>
          <p:nvPr/>
        </p:nvSpPr>
        <p:spPr>
          <a:xfrm>
            <a:off x="804671" y="4770120"/>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Reliability</a:t>
            </a:r>
          </a:p>
        </p:txBody>
      </p:sp>
      <p:sp>
        <p:nvSpPr>
          <p:cNvPr id="20" name="TextBox 19"/>
          <p:cNvSpPr txBox="1"/>
          <p:nvPr/>
        </p:nvSpPr>
        <p:spPr>
          <a:xfrm>
            <a:off x="804671" y="5053584"/>
            <a:ext cx="10616184" cy="1072896"/>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Robustness is unavailable [S1]. Why it matters: Persistence is unknown. Uncertainty: Window sensitivity is untested. What would change the view: Governed robustness results.</a:t>
            </a:r>
          </a:p>
        </p:txBody>
      </p:sp>
      <p:sp>
        <p:nvSpPr>
          <p:cNvPr id="21" name="Rectangle 2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2" name="TextBox 2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23" name="TextBox 2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manager selection review · Data as of 2025-12-31</a:t>
            </a:r>
          </a:p>
        </p:txBody>
      </p:sp>
      <p:sp>
        <p:nvSpPr>
          <p:cNvPr id="24" name="TextBox 2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BENCHMARK IDENTITY REMAINS ADVISORY FOR THE REVIEWED CANDIDATES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Data and benchmark coverage</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02</a:t>
            </a:r>
          </a:p>
        </p:txBody>
      </p:sp>
      <p:graphicFrame>
        <p:nvGraphicFramePr>
          <p:cNvPr id="9" name="Table 8"/>
          <p:cNvGraphicFramePr>
            <a:graphicFrameLocks noGrp="1"/>
          </p:cNvGraphicFramePr>
          <p:nvPr/>
        </p:nvGraphicFramePr>
        <p:xfrm>
          <a:off x="640080" y="1325880"/>
          <a:ext cx="10908792" cy="4892040"/>
        </p:xfrm>
        <a:graphic>
          <a:graphicData uri="http://schemas.openxmlformats.org/drawingml/2006/table">
            <a:tbl>
              <a:tblPr firstRow="1" bandRow="1">
                <a:tableStyleId>{5C22544A-7EE6-4342-B048-85BDC9FD1C3A}</a:tableStyleId>
              </a:tblPr>
              <a:tblGrid>
                <a:gridCol w="2011680"/>
                <a:gridCol w="4448556"/>
                <a:gridCol w="4448556"/>
              </a:tblGrid>
              <a:tr h="2446020">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2446020">
                <a:tc>
                  <a:txBody>
                    <a:bodyPr/>
                    <a:lstStyle/>
                    <a:p>
                      <a:pPr>
                        <a:defRPr sz="800" b="1">
                          <a:solidFill>
                            <a:srgbClr val="0D1117"/>
                          </a:solidFill>
                          <a:latin typeface="Inter"/>
                        </a:defRPr>
                      </a:pPr>
                      <a:r>
                        <a:rPr>
                          <a:latin typeface="Inter"/>
                        </a:rPr>
                        <a:t>Benchmark mapping</a:t>
                      </a:r>
                    </a:p>
                  </a:txBody>
                  <a:tcPr marL="54864" marR="54864" marT="27432" marB="27432" anchor="ctr">
                    <a:solidFill>
                      <a:srgbClr val="FFFFFF"/>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Canonical match unavailable [S1]</a:t>
                      </a:r>
                    </a:p>
                  </a:txBody>
                  <a:tcPr marL="54864" marR="54864" marT="27432" marB="27432" anchor="ctr">
                    <a:solidFill>
                      <a:srgbClr val="FFFFFF"/>
                    </a:solidFill>
                  </a:tcPr>
                </a:tc>
              </a:tr>
            </a:tbl>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manager selection review · Data as of 2025-12-31</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RISK AND RETURN COMPARISON IS UNAVAILABLE</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Risk and return</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9" name="Rectangle 8"/>
          <p:cNvSpPr/>
          <p:nvPr/>
        </p:nvSpPr>
        <p:spPr>
          <a:xfrm>
            <a:off x="640080" y="1325880"/>
            <a:ext cx="10908792" cy="2391156"/>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2391156"/>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Not available</a:t>
            </a:r>
          </a:p>
        </p:txBody>
      </p:sp>
      <p:sp>
        <p:nvSpPr>
          <p:cNvPr id="12" name="TextBox 11"/>
          <p:cNvSpPr txBox="1"/>
          <p:nvPr/>
        </p:nvSpPr>
        <p:spPr>
          <a:xfrm>
            <a:off x="804671" y="1719072"/>
            <a:ext cx="10616184" cy="1906523"/>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Not available — governed comparison result missing [S1].</a:t>
            </a:r>
          </a:p>
        </p:txBody>
      </p:sp>
      <p:sp>
        <p:nvSpPr>
          <p:cNvPr id="13" name="Rectangle 12"/>
          <p:cNvSpPr/>
          <p:nvPr/>
        </p:nvSpPr>
        <p:spPr>
          <a:xfrm>
            <a:off x="640080" y="3826763"/>
            <a:ext cx="10908792" cy="2391156"/>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3826763"/>
            <a:ext cx="54864" cy="2391156"/>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804671" y="3936491"/>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Comparison unavailable</a:t>
            </a:r>
          </a:p>
        </p:txBody>
      </p:sp>
      <p:sp>
        <p:nvSpPr>
          <p:cNvPr id="16" name="TextBox 15"/>
          <p:cNvSpPr txBox="1"/>
          <p:nvPr/>
        </p:nvSpPr>
        <p:spPr>
          <a:xfrm>
            <a:off x="804671" y="4219955"/>
            <a:ext cx="10616184" cy="1906524"/>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Comparative metrics are unavailable [S1]. Why it matters: No ranking is supportable. Uncertainty: Missing evidence may differ by manager. What would change the view: A governed comparison…</a:t>
            </a:r>
          </a:p>
        </p:txBody>
      </p:sp>
      <p:sp>
        <p:nvSpPr>
          <p:cNvPr id="17" name="Rectangle 16"/>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19" name="TextBox 18"/>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manager selection review · Data as of 2025-12-31</a:t>
            </a:r>
          </a:p>
        </p:txBody>
      </p:sp>
      <p:sp>
        <p:nvSpPr>
          <p:cNvPr id="20" name="TextBox 19"/>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RELATIVE AND CAPTURE EVIDENCE IS UNAVAILABLE</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Relative performance and capture</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9" name="Rectangle 8"/>
          <p:cNvSpPr/>
          <p:nvPr/>
        </p:nvSpPr>
        <p:spPr>
          <a:xfrm>
            <a:off x="640080" y="1325880"/>
            <a:ext cx="10908792" cy="2374035"/>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2374035"/>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Not available</a:t>
            </a:r>
          </a:p>
        </p:txBody>
      </p:sp>
      <p:sp>
        <p:nvSpPr>
          <p:cNvPr id="12" name="TextBox 11"/>
          <p:cNvSpPr txBox="1"/>
          <p:nvPr/>
        </p:nvSpPr>
        <p:spPr>
          <a:xfrm>
            <a:off x="804671" y="1719072"/>
            <a:ext cx="10616184" cy="1889403"/>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Not available — relative-return result missing [S1].</a:t>
            </a:r>
          </a:p>
        </p:txBody>
      </p:sp>
      <p:sp>
        <p:nvSpPr>
          <p:cNvPr id="13" name="Rectangle 12"/>
          <p:cNvSpPr/>
          <p:nvPr/>
        </p:nvSpPr>
        <p:spPr>
          <a:xfrm>
            <a:off x="640080" y="3809643"/>
            <a:ext cx="10908792" cy="2408276"/>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3809643"/>
            <a:ext cx="54864" cy="2408276"/>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804671" y="3919371"/>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Relative evidence missing</a:t>
            </a:r>
          </a:p>
        </p:txBody>
      </p:sp>
      <p:sp>
        <p:nvSpPr>
          <p:cNvPr id="16" name="TextBox 15"/>
          <p:cNvSpPr txBox="1"/>
          <p:nvPr/>
        </p:nvSpPr>
        <p:spPr>
          <a:xfrm>
            <a:off x="804671" y="4202835"/>
            <a:ext cx="10616184" cy="1923644"/>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Relative evidence is unavailable [S1]. Why it matters: Benchmark-relative behavior is unknown. Uncertainty: Capture may vary by window. What would change the view: A governed relative-return result.</a:t>
            </a:r>
          </a:p>
        </p:txBody>
      </p:sp>
      <p:sp>
        <p:nvSpPr>
          <p:cNvPr id="17" name="Rectangle 16"/>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19" name="TextBox 18"/>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manager selection review · Data as of 2025-12-31</a:t>
            </a:r>
          </a:p>
        </p:txBody>
      </p:sp>
      <p:sp>
        <p:nvSpPr>
          <p:cNvPr id="20" name="TextBox 19"/>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PERSISTENCE AND CORRELATION EVIDENCE IS UNAVAILABLE</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Correlation and robustness</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05</a:t>
            </a:r>
          </a:p>
        </p:txBody>
      </p:sp>
      <p:sp>
        <p:nvSpPr>
          <p:cNvPr id="9" name="Rectangle 8"/>
          <p:cNvSpPr/>
          <p:nvPr/>
        </p:nvSpPr>
        <p:spPr>
          <a:xfrm>
            <a:off x="640080" y="1325880"/>
            <a:ext cx="10908792" cy="2391156"/>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2391156"/>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Not available</a:t>
            </a:r>
          </a:p>
        </p:txBody>
      </p:sp>
      <p:sp>
        <p:nvSpPr>
          <p:cNvPr id="12" name="TextBox 11"/>
          <p:cNvSpPr txBox="1"/>
          <p:nvPr/>
        </p:nvSpPr>
        <p:spPr>
          <a:xfrm>
            <a:off x="804671" y="1719072"/>
            <a:ext cx="10616184" cy="1906523"/>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Not available — governed robustness and correlation results missing [S1].</a:t>
            </a:r>
          </a:p>
        </p:txBody>
      </p:sp>
      <p:sp>
        <p:nvSpPr>
          <p:cNvPr id="13" name="Rectangle 12"/>
          <p:cNvSpPr/>
          <p:nvPr/>
        </p:nvSpPr>
        <p:spPr>
          <a:xfrm>
            <a:off x="640080" y="3826763"/>
            <a:ext cx="10908792" cy="2391156"/>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3826763"/>
            <a:ext cx="54864" cy="2391156"/>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804671" y="3936491"/>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Robustness unavailable</a:t>
            </a:r>
          </a:p>
        </p:txBody>
      </p:sp>
      <p:sp>
        <p:nvSpPr>
          <p:cNvPr id="16" name="TextBox 15"/>
          <p:cNvSpPr txBox="1"/>
          <p:nvPr/>
        </p:nvSpPr>
        <p:spPr>
          <a:xfrm>
            <a:off x="804671" y="4219955"/>
            <a:ext cx="10616184" cy="1906524"/>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Robustness evidence is unavailable [S1]. Why it matters: Persistence cannot be assessed. Uncertainty: Results may depend on dates. What would change the view: Governed window tests.</a:t>
            </a:r>
          </a:p>
        </p:txBody>
      </p:sp>
      <p:sp>
        <p:nvSpPr>
          <p:cNvPr id="17" name="Rectangle 16"/>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19" name="TextBox 18"/>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manager selection review · Data as of 2025-12-31</a:t>
            </a:r>
          </a:p>
        </p:txBody>
      </p:sp>
      <p:sp>
        <p:nvSpPr>
          <p:cNvPr id="20" name="TextBox 19"/>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ONE GOVERNED EVIDENCE REQUEST REMAINS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Follow-ups</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9" name="TextBox 8"/>
          <p:cNvSpPr txBox="1"/>
          <p:nvPr/>
        </p:nvSpPr>
        <p:spPr>
          <a:xfrm>
            <a:off x="640080" y="1325880"/>
            <a:ext cx="10908792" cy="4892040"/>
          </a:xfrm>
          <a:prstGeom prst="rect">
            <a:avLst/>
          </a:prstGeom>
          <a:noFill/>
        </p:spPr>
        <p:txBody>
          <a:bodyPr wrap="none" lIns="9144" rIns="9144" tIns="9144" bIns="9144" anchor="t">
            <a:spAutoFit/>
          </a:bodyPr>
          <a:lstStyle/>
          <a:p>
            <a:pPr algn="l">
              <a:spcAft>
                <a:spcPts val="0"/>
              </a:spcAft>
              <a:defRPr sz="1000" b="0">
                <a:solidFill>
                  <a:srgbClr val="0D1117"/>
                </a:solidFill>
                <a:latin typeface="Inter"/>
              </a:defRPr>
            </a:pPr>
            <a:r>
              <a:rPr>
                <a:latin typeface="Inter"/>
              </a:rPr>
              <a:t>01  Return canonical benchmark and comparison evidence.</a:t>
            </a:r>
            <a:br/>
            <a:r>
              <a:rPr>
                <a:latin typeface="Inter"/>
              </a:rPr>
              <a:t>      Required to assess manager-relative performance [S1].</a:t>
            </a:r>
          </a:p>
        </p:txBody>
      </p:sp>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manager selection review · Data as of 2025-12-31</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SAVED ILLUSTRATIVE SAMPLE EVIDENCE</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Appendix — Sources and methods</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A</a:t>
            </a:r>
          </a:p>
        </p:txBody>
      </p:sp>
      <p:graphicFrame>
        <p:nvGraphicFramePr>
          <p:cNvPr id="9" name="Table 8"/>
          <p:cNvGraphicFramePr>
            <a:graphicFrameLocks noGrp="1"/>
          </p:cNvGraphicFramePr>
          <p:nvPr/>
        </p:nvGraphicFramePr>
        <p:xfrm>
          <a:off x="640080" y="1325880"/>
          <a:ext cx="10908792" cy="968494"/>
        </p:xfrm>
        <a:graphic>
          <a:graphicData uri="http://schemas.openxmlformats.org/drawingml/2006/table">
            <a:tbl>
              <a:tblPr firstRow="1" bandRow="1">
                <a:tableStyleId>{5C22544A-7EE6-4342-B048-85BDC9FD1C3A}</a:tableStyleId>
              </a:tblPr>
              <a:tblGrid>
                <a:gridCol w="2011680"/>
                <a:gridCol w="1112139"/>
                <a:gridCol w="1112139"/>
                <a:gridCol w="1112139"/>
                <a:gridCol w="1112139"/>
                <a:gridCol w="1112139"/>
                <a:gridCol w="1112139"/>
                <a:gridCol w="1112139"/>
                <a:gridCol w="1112139"/>
              </a:tblGrid>
              <a:tr h="484247">
                <a:tc>
                  <a:txBody>
                    <a:bodyPr/>
                    <a:lstStyle/>
                    <a:p>
                      <a:pPr>
                        <a:defRPr sz="750" b="1">
                          <a:solidFill>
                            <a:srgbClr val="FFFFFF"/>
                          </a:solidFill>
                          <a:latin typeface="Inter"/>
                        </a:defRPr>
                      </a:pPr>
                      <a:r>
                        <a:rPr>
                          <a:latin typeface="Inter"/>
                        </a:rPr>
                        <a:t>Tag</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Evidence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Basis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Tool / view</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Key parameters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As of</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Data scope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Validation</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Digest</a:t>
                      </a:r>
                    </a:p>
                  </a:txBody>
                  <a:tcPr marL="54864" marR="54864" marT="27432" marB="27432" anchor="ctr">
                    <a:solidFill>
                      <a:srgbClr val="0D1117"/>
                    </a:solidFill>
                  </a:tcPr>
                </a:tc>
              </a:tr>
              <a:tr h="484247">
                <a:tc>
                  <a:txBody>
                    <a:bodyPr/>
                    <a:lstStyle/>
                    <a:p>
                      <a:pPr>
                        <a:defRPr sz="650" b="1">
                          <a:solidFill>
                            <a:srgbClr val="0D1117"/>
                          </a:solidFill>
                          <a:latin typeface="Inter"/>
                        </a:defRPr>
                      </a:pPr>
                      <a:r>
                        <a:rPr>
                          <a:latin typeface="Inter"/>
                        </a:rPr>
                        <a:t>S1</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Typed unavailable test response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gradient_tool</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get_gradient_capabilities</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illustrative sample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2025-12-31</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Gradient-governed review evidence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passed</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sha256:aaaaaaaaaaaaaaaaaaaaaaaaaaaaaaaaaaaaaaaaaaaaaaaaaaaaaaaaaaaaaaaa</a:t>
                      </a:r>
                    </a:p>
                  </a:txBody>
                  <a:tcPr marL="54864" marR="54864" marT="27432" marB="27432" anchor="ctr">
                    <a:solidFill>
                      <a:srgbClr val="FFFFFF"/>
                    </a:solidFill>
                  </a:tcPr>
                </a:tc>
              </a:tr>
            </a:tbl>
          </a:graphicData>
        </a:graphic>
      </p:graphicFrame>
      <p:sp>
        <p:nvSpPr>
          <p:cNvPr id="10" name="TextBox 9"/>
          <p:cNvSpPr txBox="1"/>
          <p:nvPr/>
        </p:nvSpPr>
        <p:spPr>
          <a:xfrm>
            <a:off x="640080" y="2312662"/>
            <a:ext cx="1090879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rPr>
                <a:latin typeface="Inter"/>
              </a:rPr>
              <a:t>Illustrative, Gradient Maintained — demo data, not the client's holdings or managers. All organizations, portfolios, managers and results in this public example are illustrative.</a:t>
            </a:r>
          </a:p>
        </p:txBody>
      </p:sp>
      <p:sp>
        <p:nvSpPr>
          <p:cNvPr id="11" name="Rectangle 10"/>
          <p:cNvSpPr/>
          <p:nvPr/>
        </p:nvSpPr>
        <p:spPr>
          <a:xfrm>
            <a:off x="640080" y="2605270"/>
            <a:ext cx="10908792" cy="1632674"/>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Rectangle 11"/>
          <p:cNvSpPr/>
          <p:nvPr/>
        </p:nvSpPr>
        <p:spPr>
          <a:xfrm>
            <a:off x="640080" y="2605270"/>
            <a:ext cx="54864" cy="1632674"/>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TextBox 12"/>
          <p:cNvSpPr txBox="1"/>
          <p:nvPr/>
        </p:nvSpPr>
        <p:spPr>
          <a:xfrm>
            <a:off x="804671" y="271499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Governed evidence boundary</a:t>
            </a:r>
          </a:p>
        </p:txBody>
      </p:sp>
      <p:sp>
        <p:nvSpPr>
          <p:cNvPr id="14" name="TextBox 13"/>
          <p:cNvSpPr txBox="1"/>
          <p:nvPr/>
        </p:nvSpPr>
        <p:spPr>
          <a:xfrm>
            <a:off x="804671" y="2998462"/>
            <a:ext cx="10616184" cy="1148042"/>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The report preserves the returned subject identity, benchmark mapping, observation window, units, methods, coverage status and request provenance [S1]. Missing performance, correlation, capture, simulation or regime fields remain unavailable. No local statistics, substitutions, rankings or neutral defaults are introduced.</a:t>
            </a:r>
          </a:p>
        </p:txBody>
      </p:sp>
      <p:sp>
        <p:nvSpPr>
          <p:cNvPr id="15" name="Rectangle 14"/>
          <p:cNvSpPr/>
          <p:nvPr/>
        </p:nvSpPr>
        <p:spPr>
          <a:xfrm>
            <a:off x="640080" y="4347673"/>
            <a:ext cx="10908792" cy="1870246"/>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6" name="Rectangle 15"/>
          <p:cNvSpPr/>
          <p:nvPr/>
        </p:nvSpPr>
        <p:spPr>
          <a:xfrm>
            <a:off x="640080" y="4347673"/>
            <a:ext cx="54864" cy="1870246"/>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7" name="TextBox 16"/>
          <p:cNvSpPr txBox="1"/>
          <p:nvPr/>
        </p:nvSpPr>
        <p:spPr>
          <a:xfrm>
            <a:off x="804671" y="4457401"/>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Decision-use boundary</a:t>
            </a:r>
          </a:p>
        </p:txBody>
      </p:sp>
      <p:sp>
        <p:nvSpPr>
          <p:cNvPr id="18" name="TextBox 17"/>
          <p:cNvSpPr txBox="1"/>
          <p:nvPr/>
        </p:nvSpPr>
        <p:spPr>
          <a:xfrm>
            <a:off x="804671" y="4740865"/>
            <a:ext cx="10616184" cy="1385614"/>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Typed unavailability limits the conclusion and drives the insufficient signal where most required slots are absent [S1]. The evidence supports follow-up collection only; operational diligence and committee decisions remain separate handoffs with their own governed evidence and validation contracts. Every unresolved field remains reader-visible in the delivered report.</a:t>
            </a:r>
          </a:p>
        </p:txBody>
      </p:sp>
      <p:sp>
        <p:nvSpPr>
          <p:cNvPr id="19" name="Rectangle 18"/>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0" name="TextBox 19"/>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21" name="TextBox 20"/>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manager selection review · Data as of 2025-12-31</a:t>
            </a:r>
          </a:p>
        </p:txBody>
      </p:sp>
      <p:sp>
        <p:nvSpPr>
          <p:cNvPr id="22" name="TextBox 21"/>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SAVED ILLUSTRATIVE SAMPLE EVIDENCE</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Appendix — Sources and methods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A</a:t>
            </a:r>
          </a:p>
        </p:txBody>
      </p:sp>
      <p:sp>
        <p:nvSpPr>
          <p:cNvPr id="9" name="Rectangle 8"/>
          <p:cNvSpPr/>
          <p:nvPr/>
        </p:nvSpPr>
        <p:spPr>
          <a:xfrm>
            <a:off x="640080" y="1325880"/>
            <a:ext cx="10908792" cy="489204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489204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Metric and digest interpretation</a:t>
            </a:r>
          </a:p>
        </p:txBody>
      </p:sp>
      <p:sp>
        <p:nvSpPr>
          <p:cNvPr id="12" name="TextBox 11"/>
          <p:cNvSpPr txBox="1"/>
          <p:nvPr/>
        </p:nvSpPr>
        <p:spPr>
          <a:xfrm>
            <a:off x="804671" y="1719072"/>
            <a:ext cx="10616184" cy="440740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Historical claims must use returned realized metrics with their exact periods, while path-distribution statistics must remain explicitly simulated [S1]. Successful tool evidence records the SHA-256 digest of the saved response; a failed call instead uses the typed no-payload sentinel and preserves its error code and request ID in the validation field. These controls prevent simulated statistics or request identifiers from being presented as observed evidence. The source row also retains the tool name, key parameters, as-of date and data scope so a reviewer can reproduce the evidence boundary without treating an unavailable payload as a successful observation. Advisory benchmark selections remain visibly advisory throughout the report and handoff. This distinction tells reviewers which comparisons are server-matched and which still require independent benchmark confirmation.</a:t>
            </a:r>
          </a:p>
        </p:txBody>
      </p:sp>
      <p:sp>
        <p:nvSpPr>
          <p:cNvPr id="13" name="Rectangle 12"/>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15" name="TextBox 14"/>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manager selection review · Data as of 2025-12-31</a:t>
            </a:r>
          </a:p>
        </p:txBody>
      </p:sp>
      <p:sp>
        <p:nvSpPr>
          <p:cNvPr id="16" name="TextBox 15"/>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9</a:t>
            </a:r>
          </a:p>
        </p:txBody>
      </p:sp>
    </p:spTree>
  </p:cSld>
  <p:clrMapOvr>
    <a:masterClrMapping/>
  </p:clrMapOvr>
</p:sld>
</file>

<file path=ppt/theme/theme1.xml><?xml version="1.0" encoding="utf-8"?>
<a:theme xmlns:a="http://schemas.openxmlformats.org/drawingml/2006/main" name="Office Theme">
  <a:themeElements>
    <a:clrScheme name="Office">
      <a:dk1>
        <a:srgbClr val="0D1117"/>
      </a:dk1>
      <a:lt1>
        <a:srgbClr val="FFFFFF"/>
      </a:lt1>
      <a:dk2>
        <a:srgbClr val="161C24"/>
      </a:dk2>
      <a:lt2>
        <a:srgbClr val="F5F7F9"/>
      </a:lt2>
      <a:accent1>
        <a:srgbClr val="C6F432"/>
      </a:accent1>
      <a:accent2>
        <a:srgbClr val="4F6B00"/>
      </a:accent2>
      <a:accent3>
        <a:srgbClr val="F2A93B"/>
      </a:accent3>
      <a:accent4>
        <a:srgbClr val="5B8DEF"/>
      </a:accent4>
      <a:accent5>
        <a:srgbClr val="FF6B5E"/>
      </a:accent5>
      <a:accent6>
        <a:srgbClr val="3FB8AF"/>
      </a:accent6>
      <a:hlink>
        <a:srgbClr val="0000FF"/>
      </a:hlink>
      <a:folHlink>
        <a:srgbClr val="800080"/>
      </a:folHlink>
    </a:clrScheme>
    <a:fontScheme name="Office">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Manager Comparison</dc:title>
  <dc:subject>Manager Performance</dc:subject>
  <dc:creator>GradientCIO</dc:creator>
  <cp:keywords>Gradient report theme 2.3.0</cp:keywords>
  <dc:description>generated using python-pptx</dc:description>
  <cp:lastModifiedBy>GradientCIO</cp:lastModifiedBy>
  <cp:revision>1</cp:revision>
  <dcterms:created xsi:type="dcterms:W3CDTF">2020-01-01T00:00:00Z</dcterms:created>
  <dcterms:modified xsi:type="dcterms:W3CDTF">2020-01-01T00:00:00Z</dcterms:modified>
  <cp:category/>
</cp:coreProperties>
</file>