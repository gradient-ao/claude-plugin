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INVESTMENT DUE DILIGENCE</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Manager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Comparative performance and benchmark assessment</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Manager comparison</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PREPARED FOR</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2025-12-31</a:t>
            </a:r>
          </a:p>
        </p:txBody>
      </p:sp>
      <p:sp>
        <p:nvSpPr>
          <p:cNvPr id="15" name="TextBox 14"/>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manager selection review</a:t>
            </a:r>
          </a:p>
        </p:txBody>
      </p:sp>
      <p:sp>
        <p:nvSpPr>
          <p:cNvPr id="16" name="TextBox 15"/>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17" name="TextBox 16"/>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61537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615379"/>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1" name="TextBox 10"/>
          <p:cNvSpPr txBox="1"/>
          <p:nvPr/>
        </p:nvSpPr>
        <p:spPr>
          <a:xfrm>
            <a:off x="804671" y="1719072"/>
            <a:ext cx="10616184" cy="113074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Only one of four comparison inputs is available [S1]. Why it matters: Managers cannot be ranked on one input. Uncertainty: Missing return series may change the order. What would change the view: Return series for every candidate.</a:t>
            </a:r>
          </a:p>
        </p:txBody>
      </p:sp>
      <p:sp>
        <p:nvSpPr>
          <p:cNvPr id="12" name="Rectangle 11"/>
          <p:cNvSpPr/>
          <p:nvPr/>
        </p:nvSpPr>
        <p:spPr>
          <a:xfrm>
            <a:off x="640080" y="3050987"/>
            <a:ext cx="10908792" cy="15219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050987"/>
            <a:ext cx="54864" cy="15219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16071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5" name="TextBox 14"/>
          <p:cNvSpPr txBox="1"/>
          <p:nvPr/>
        </p:nvSpPr>
        <p:spPr>
          <a:xfrm>
            <a:off x="804671" y="3444179"/>
            <a:ext cx="10616184" cy="10372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matches are suggested, not confirmed [S1]. Why it matters: Relative results depend on the right benchmark. Uncertainty: Mandate fit is unconfirmed. What would change the view: Confirmed benchmark mappings.</a:t>
            </a:r>
          </a:p>
        </p:txBody>
      </p:sp>
      <p:sp>
        <p:nvSpPr>
          <p:cNvPr id="16" name="Rectangle 15"/>
          <p:cNvSpPr/>
          <p:nvPr/>
        </p:nvSpPr>
        <p:spPr>
          <a:xfrm>
            <a:off x="640080" y="4682642"/>
            <a:ext cx="10908792" cy="153527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682642"/>
            <a:ext cx="54864" cy="153527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79237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19" name="TextBox 18"/>
          <p:cNvSpPr txBox="1"/>
          <p:nvPr/>
        </p:nvSpPr>
        <p:spPr>
          <a:xfrm>
            <a:off x="804671" y="5075834"/>
            <a:ext cx="10616184" cy="105064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across date windows was not tested [S1]. Why it matters: A single window can flatter one manager. Uncertainty: Results may depend on the start date. What would change the view: A date-window robustness run.</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REVIEWED CANDIDATES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Data and benchmark coverage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Not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Risk and return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Governed comparison result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Relative performance and capture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Relative-return result missing [S1].</a:t>
            </a:r>
          </a:p>
        </p:txBody>
      </p:sp>
      <p:sp>
        <p:nvSpPr>
          <p:cNvPr id="12" name="Rectangle 11"/>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5" name="TextBox 14"/>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Correlation and robustness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Governed robustness and correlation results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Follow-ups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71235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56175">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Check</a:t>
                      </a:r>
                    </a:p>
                  </a:txBody>
                  <a:tcPr marL="54864" marR="54864" marT="27432" marB="27432" anchor="ctr">
                    <a:solidFill>
                      <a:srgbClr val="0D1117"/>
                    </a:solidFill>
                  </a:tcPr>
                </a:tc>
              </a:tr>
              <a:tr h="356175">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9" name="TextBox 8"/>
          <p:cNvSpPr txBox="1"/>
          <p:nvPr/>
        </p:nvSpPr>
        <p:spPr>
          <a:xfrm>
            <a:off x="640080" y="2056518"/>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0" name="TextBox 9"/>
          <p:cNvSpPr txBox="1"/>
          <p:nvPr/>
        </p:nvSpPr>
        <p:spPr>
          <a:xfrm>
            <a:off x="640080" y="2349126"/>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SOURCE AUDIT TRAIL</a:t>
            </a:r>
          </a:p>
        </p:txBody>
      </p:sp>
      <p:graphicFrame>
        <p:nvGraphicFramePr>
          <p:cNvPr id="11" name="Table 10"/>
          <p:cNvGraphicFramePr>
            <a:graphicFrameLocks noGrp="1"/>
          </p:cNvGraphicFramePr>
          <p:nvPr/>
        </p:nvGraphicFramePr>
        <p:xfrm>
          <a:off x="640080" y="2623446"/>
          <a:ext cx="10908792" cy="438030"/>
        </p:xfrm>
        <a:graphic>
          <a:graphicData uri="http://schemas.openxmlformats.org/drawingml/2006/table">
            <a:tbl>
              <a:tblPr firstRow="1" bandRow="1">
                <a:tableStyleId>{5C22544A-7EE6-4342-B048-85BDC9FD1C3A}</a:tableStyleId>
              </a:tblPr>
              <a:tblGrid>
                <a:gridCol w="2011680"/>
                <a:gridCol w="2965704"/>
                <a:gridCol w="2965704"/>
                <a:gridCol w="2965704"/>
              </a:tblGrid>
              <a:tr h="219015">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219015">
                <a:tc>
                  <a:txBody>
                    <a:bodyPr/>
                    <a:lstStyle/>
                    <a:p>
                      <a:pPr>
                        <a:defRPr sz="80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Illustrative sample data</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12" name="TextBox 11"/>
          <p:cNvSpPr txBox="1"/>
          <p:nvPr/>
        </p:nvSpPr>
        <p:spPr>
          <a:xfrm>
            <a:off x="640080" y="3079765"/>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Each digest is the SHA-256 fingerprint of the exact data the report used.</a:t>
            </a:r>
          </a:p>
        </p:txBody>
      </p:sp>
      <p:sp>
        <p:nvSpPr>
          <p:cNvPr id="13" name="Rectangle 12"/>
          <p:cNvSpPr/>
          <p:nvPr/>
        </p:nvSpPr>
        <p:spPr>
          <a:xfrm>
            <a:off x="640080" y="3372373"/>
            <a:ext cx="10908792" cy="127513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372373"/>
            <a:ext cx="54864" cy="127513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4821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6" name="TextBox 15"/>
          <p:cNvSpPr txBox="1"/>
          <p:nvPr/>
        </p:nvSpPr>
        <p:spPr>
          <a:xfrm>
            <a:off x="804671" y="3765565"/>
            <a:ext cx="10616184" cy="79050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7" name="Rectangle 16"/>
          <p:cNvSpPr/>
          <p:nvPr/>
        </p:nvSpPr>
        <p:spPr>
          <a:xfrm>
            <a:off x="640080" y="4757237"/>
            <a:ext cx="10908792" cy="14606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757237"/>
            <a:ext cx="54864" cy="146068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486696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20" name="TextBox 19"/>
          <p:cNvSpPr txBox="1"/>
          <p:nvPr/>
        </p:nvSpPr>
        <p:spPr>
          <a:xfrm>
            <a:off x="804671" y="5150429"/>
            <a:ext cx="10616184" cy="9760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Comparison</dc:title>
  <dc:subject>Manager Performance</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