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2.3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2.75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0.45</c:v>
                </c:pt>
                <c:pt idx="2">
                  <c:v>5.4</c:v>
                </c:pt>
                <c:pt idx="3">
                  <c:v>0.25</c:v>
                </c:pt>
                <c:pt idx="4">
                  <c:v>3.35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6.2</c:v>
                </c:pt>
                <c:pt idx="2">
                  <c:v>6.48</c:v>
                </c:pt>
                <c:pt idx="3">
                  <c:v>7.73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6.2</c:v>
                </c:pt>
                <c:pt idx="1">
                  <c:v>0.28</c:v>
                </c:pt>
                <c:pt idx="2">
                  <c:v>1.25</c:v>
                </c:pt>
                <c:pt idx="3">
                  <c:v>0.15</c:v>
                </c:pt>
                <c:pt idx="4">
                  <c:v>7.88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-0.1</c:v>
                </c:pt>
                <c:pt idx="1">
                  <c:v>-0.35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-0.55</c:v>
                </c:pt>
                <c:pt idx="1">
                  <c:v>-4.85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-0.05</c:v>
                </c:pt>
                <c:pt idx="1">
                  <c:v>-0.2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55.0%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45.0%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Alternatives · portfolio</c:v>
                </c:pt>
                <c:pt idx="3">
                  <c:v>Alternatives · benchmark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60.0</c:v>
                </c:pt>
                <c:pt idx="1">
                  <c:v>55.0</c:v>
                </c:pt>
                <c:pt idx="2">
                  <c:v>40.0</c:v>
                </c:pt>
                <c:pt idx="3">
                  <c:v>45.0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-0.05</c:v>
                </c:pt>
                <c:pt idx="1">
                  <c:v>-0.22</c:v>
                </c:pt>
                <c:pt idx="2">
                  <c:v>-0.45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-0.4</c:v>
                </c:pt>
                <c:pt idx="1">
                  <c:v>-2.75</c:v>
                </c:pt>
                <c:pt idx="2">
                  <c:v>-5.4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-0.02</c:v>
                </c:pt>
                <c:pt idx="1">
                  <c:v>-0.11</c:v>
                </c:pt>
                <c:pt idx="2">
                  <c:v>-0.25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-0.47</c:v>
                </c:pt>
                <c:pt idx="1">
                  <c:v>-3.08</c:v>
                </c:pt>
                <c:pt idx="2">
                  <c:v>-6.1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Alternatives selection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-0.35</c:v>
                </c:pt>
                <c:pt idx="1">
                  <c:v>-2.4</c:v>
                </c:pt>
                <c:pt idx="2">
                  <c:v>-4.85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0.15</c:v>
                </c:pt>
                <c:pt idx="1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0.2</c:v>
                </c:pt>
                <c:pt idx="1">
                  <c:v>1.05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0.05</c:v>
                </c:pt>
                <c:pt idx="1">
                  <c:v>0.1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6.50%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6.30%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9.95%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6.05%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Alternatives · portfolio</c:v>
                </c:pt>
                <c:pt idx="3">
                  <c:v>Alternatives · benchmark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6.5</c:v>
                </c:pt>
                <c:pt idx="1">
                  <c:v>6.3</c:v>
                </c:pt>
                <c:pt idx="2">
                  <c:v>9.95</c:v>
                </c:pt>
                <c:pt idx="3">
                  <c:v>6.05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0.0pp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-0.8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-0.1pp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+0.05pp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-0.1</c:v>
                </c:pt>
                <c:pt idx="2">
                  <c:v>0.05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leads detractors</a:t>
            </a:r>
          </a:p>
          <a:p>
            <a:r>
              <a:t>Observation: Returned selection is the -5.40pp dominant realized shortfall and Alternatives contributes -4.85pp [S2]. Why it matters: Selection drives the returned bridge from +2.75% benchmark return to -3.35% portfolio return. Uncertainty: The evidence covers one linked window. What would change the view: A later historical result with a different returned selection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leads expectations</a:t>
            </a:r>
          </a:p>
          <a:p>
            <a:r>
              <a:t>Observation: Returned selection is the +1.25pp dominant expected gain and Alternatives contributes +1.05pp [S3]. Why it matters: Selection drives the returned bridge from 6.20% expected benchmark return to 7.88% expected portfolio return. Uncertainty: Inputs are governed assumptions. What would change the view: A refreshed ex ante result with a different returned selection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Simulation unavailable</a:t>
            </a:r>
          </a:p>
          <a:p>
            <a:r>
              <a:t>Observation: Simulation is planned per the capability source [S1]. Why it matters: Scenario effects cannot be assessed. Uncertainty: Capability readiness may change. What would change the view: A capability response marking the exact simulation tool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Comparison is planned per get_gradient_capabilities [S1]. Why it matters: No persistence claim is supported. Uncertainty: Planned capability timing is not returned.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 Attribution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 and forward attribution · available evidence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COHORT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Total fund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AVAILABLE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Historical and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TWO GOVERNED LANES ARE AVAILABLE WITHOUT SERVER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85377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5800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attribution views available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35686"/>
            <a:ext cx="10908792" cy="10000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435686"/>
            <a:ext cx="54864" cy="100007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5454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828878"/>
            <a:ext cx="10616184" cy="5154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shortfall comes from selection; expected gain comes from selection; Alternatives drives both [S2][S3].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545492"/>
            <a:ext cx="2644902" cy="1562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54549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367350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2954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77892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12 months · 2025-10-31 to 2026-09-30 [S2]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3545492"/>
            <a:ext cx="2644902" cy="1562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354549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367350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392954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477892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1-year expected [S3]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3545492"/>
            <a:ext cx="2644902" cy="1562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354549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367350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SIMULATED LANE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392954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477892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planned per get_gradient_capabilities [S1]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3545492"/>
            <a:ext cx="2644902" cy="1562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354549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367350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COMPARISON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392954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Fallback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477892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planned per get_gradient_capabilities [S1]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290993"/>
            <a:ext cx="73152" cy="85377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896112" y="5263561"/>
            <a:ext cx="10588752" cy="5800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shortfall from selection; expected gain from selection; Alternatives drives both [S2][S3].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817888"/>
            <a:ext cx="10588752" cy="3000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evidence only; no local subtraction or accumulation.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TWO GOVERNED LANES ARE AVAILABLE WITHOUT SERVER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SUMMARY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TWO GOVERNED LANES ARE AVAILABLE WITHOUT SERVER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SUMMARY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TWO GOVERNED LANES ARE AVAILABLE WITHOUT SERVER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751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7515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Historical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2905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Selection is the dominant returned realized shortfall, driven by Alternatives [S2]. Why it matters: It bridges the +2.75% benchmark return to the -3.35% portfolio return. Uncertainty: One realized window may not persist. What would change the view: A later governed period with a different returned selection effect.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10758"/>
            <a:ext cx="10908792" cy="17751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10758"/>
            <a:ext cx="54864" cy="177515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2048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Ex 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03950"/>
            <a:ext cx="10616184" cy="12905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Selection is the dominant returned expected gain, driven by Alternatives [S3]. Why it matters: It bridges the 6.20% expected benchmark return to the 7.88% expected portfolio return. Uncertainty: Inputs are governed assumptions. What would change the view: Refreshed inputs with a different returned selection effect.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95636"/>
            <a:ext cx="10908792" cy="11222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5095636"/>
            <a:ext cx="54864" cy="11222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52053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488828"/>
            <a:ext cx="10616184" cy="6376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Comparison capability is unavailable [S1]. Why it matters: Persistence cannot be assessed. Uncertainty: A future tool may return metrics. What would change the view: Published capability.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PORTFOLIO, BENCHMARK, COHORT AND CURRENCY IDENTIFIERS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and Compatibility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86730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1005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Compatible for display-only fallback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10588752" cy="6040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Portfolio, benchmark role, parent cohort and calculation currency match [S2][S3].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49213"/>
          <a:ext cx="10908792" cy="2768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384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3843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Compatibility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identifiers match 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PORTFOLIO AND BENCHMARK AVERAGE WEIGHTS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ALTERNATIVES SELECTION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2225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22251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Returned cumulative growth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737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cumulative_growth was not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58120"/>
            <a:ext cx="10908792" cy="221580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658120"/>
            <a:ext cx="54864" cy="221580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7678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leads detractors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051312"/>
            <a:ext cx="10616184" cy="173117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Returned selection is the -5.40pp dominant realized shortfall and Alternatives contributes -4.85pp [S2]. Why it matters: Selection drives the returned bridge from +2.75% benchmark return to -3.35%…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3652"/>
            <a:ext cx="10908792" cy="12342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983652"/>
            <a:ext cx="54864" cy="123426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50933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excess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376844"/>
            <a:ext cx="10616184" cy="7496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diagnostics.entity_return_reconciliation keeps attribution-summary excess against the linked segment benchmark composite separate from historical-return excess against the policy benchmark entity [S2].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EFFECTS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assumption_set_name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regime_name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user-defined regime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year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portfolio_return_source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allocation_expected_return_base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benchmark_return_source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benchmark_expected_return_base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PORTFOLIO AND BENCHMARK RETURNS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leads expectations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Returned selection is the +1.25pp dominant expected gain and Alternatives contributes +1.05pp [S3]. Why it matters: Selection drives the returned bridge from 6.20% expected benchmark return to…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SIMULATION CAPABILITY IS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Simulated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0834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08349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5988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Planned per get_gradient_capabilities [S1].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19105"/>
          <a:ext cx="10908792" cy="2234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449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49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Planned per capability source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49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called because capability is unavailable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863547"/>
            <a:ext cx="10908792" cy="13543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863547"/>
            <a:ext cx="54864" cy="13543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9732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Simulation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256739"/>
            <a:ext cx="10616184" cy="8697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Simulation is planned per the capability source [S1]. Why it matters: Scenario effects cannot be assessed. Uncertainty: Capability readiness may change. What would change the view: A…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LANES ARE DISPLAYED WHILE COMPARISON REMAINS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Planned per get_gradient_capabilities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LANES ARE DISPLAYED WHILE COMPARISON REMAINS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CROSS-LANE EFFECT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</a:t>
                      </a:r>
                    </a:p>
                  </a:txBody>
                  <a:tcPr marL="54864" marR="54864" marT="27432" marB="27432" anchor="ctr">
                    <a:solidFill>
                      <a:srgbClr val="CEF4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AF585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0.05</a:t>
                      </a:r>
                    </a:p>
                  </a:txBody>
                  <a:tcPr marL="54864" marR="54864" marT="27432" marB="27432" anchor="ctr">
                    <a:solidFill>
                      <a:srgbClr val="D4F56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LANES ARE DISPLAYED WHILE COMPARISON REMAINS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RETURNED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RETURNED EFFECTS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LANES ARE DISPLAYED WHILE COMPARISON REMAINS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392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392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Unavailable comparison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546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Differences, concentration, persistence, and Sources that persist are unavailable without a governed comparison result [S1].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274897"/>
          <a:ext cx="10908792" cy="28850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770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70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 differences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Requires governed comparison output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0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local aggregation permitted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0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server persistence metric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Sources that persist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comparison result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5269684"/>
            <a:ext cx="10908792" cy="9482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5269684"/>
            <a:ext cx="54864" cy="94823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537941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662876"/>
            <a:ext cx="10616184" cy="4636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Comparison is planned per get_gradient_capabilities [S1]. Why it matters: No persistence claim is supported. Uncertainty: Planned capability timing is not returned. What would change the view: A…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HISTORICAL AND EX ANTE LANES RETURNED; SIMULATION AND COMPARISON ARE NOT YET 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2230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attribution returned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attribution returned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Simulation and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yet available on this connector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25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28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28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28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28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59566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827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62592"/>
          <a:ext cx="10908792" cy="977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4429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2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42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442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15805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506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SIGN BY SEGMENT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724985"/>
          <a:ext cx="10908792" cy="1291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8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sign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8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8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Negative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8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835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Signs classify returned effects only; no cross-lane arithmetic [S2][S3].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lane keeps its own method, period, benchmark role and currency, and values are shown as returned; a missing simulation or comparison capability is a limitation, not a zero value [S1][S2][S3].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 Attribution Comparison</dc:title>
  <dc:subject>Attribution Comparison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