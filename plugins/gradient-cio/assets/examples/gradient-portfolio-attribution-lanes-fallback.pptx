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ns0:presentation xmlns:a="http://schemas.openxmlformats.org/drawingml/2006/main" xmlns:ns0="http://schemas.openxmlformats.org/presentationml/2006/main" xmlns:ns1="http://schemas.openxmlformats.org/officeDocument/2006/relationships" saveSubsetFonts="1" autoCompressPictures="0">
  <ns0:sldMasterIdLst>
    <ns0:sldMasterId id="2147483648" ns1:id="rId1"/>
  </ns0:sldMasterIdLst>
  <ns0:sldIdLst>
    <ns0:sldId id="256" ns1:id="rId7"/>
    <ns0:sldId id="257" ns1:id="rId8"/>
    <ns0:sldId id="258" ns1:id="rId9"/>
    <ns0:sldId id="259" ns1:id="rId10"/>
    <ns0:sldId id="260" ns1:id="rId11"/>
    <ns0:sldId id="261" ns1:id="rId12"/>
    <ns0:sldId id="262" ns1:id="rId13"/>
    <ns0:sldId id="263" ns1:id="rId14"/>
    <ns0:sldId id="264" ns1:id="rId15"/>
    <ns0:sldId id="265" ns1:id="rId16"/>
    <ns0:sldId id="266" ns1:id="rId17"/>
    <ns0:sldId id="267" ns1:id="rId18"/>
    <ns0:sldId id="268" ns1:id="rId19"/>
    <ns0:sldId id="269" ns1:id="rId20"/>
    <ns0:sldId id="270" ns1:id="rId21"/>
    <ns0:sldId id="271" ns1:id="rId22"/>
    <ns0:sldId id="272" ns1:id="rId23"/>
    <ns0:sldId id="273" ns1:id="rId24"/>
    <ns0:sldId id="274" ns1:id="rId25"/>
  </ns0:sldIdLst>
  <ns0:sldSz cx="12191695" cy="6858000" type="screen16x9"/>
  <ns0:notesSz cx="6858000" cy="9144000"/>
  <ns0: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ns0:defaultTextStyle>
</ns0: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Base</c:v>
                </c:pt>
              </c:strCache>
            </c:strRef>
          </c:tx>
          <c:spPr>
            <a:noFill/>
            <a:ln>
              <a:noFill/>
            </a:ln>
          </c:spPr>
          <c:cat>
            <c:strRef>
              <c:f>Sheet1!$A$2:$A$6</c:f>
              <c:strCache>
                <c:ptCount val="5"/>
                <c:pt idx="0">
                  <c:v>Benchmark return</c:v>
                </c:pt>
                <c:pt idx="1">
                  <c:v>Allocation</c:v>
                </c:pt>
                <c:pt idx="2">
                  <c:v>Selection</c:v>
                </c:pt>
                <c:pt idx="3">
                  <c:v>Interaction</c:v>
                </c:pt>
                <c:pt idx="4">
                  <c:v>Portfolio return</c:v>
                </c:pt>
              </c:strCache>
            </c:strRef>
          </c:cat>
          <c:val>
            <c:numRef>
              <c:f>Sheet1!$B$2:$B$6</c:f>
              <c:numCache>
                <c:formatCode>General</c:formatCode>
                <c:ptCount val="5"/>
                <c:pt idx="0">
                  <c:v>0.0</c:v>
                </c:pt>
                <c:pt idx="1">
                  <c:v>2.3</c:v>
                </c:pt>
                <c:pt idx="2">
                  <c:v>0.0</c:v>
                </c:pt>
                <c:pt idx="3">
                  <c:v>0.0</c:v>
                </c:pt>
                <c:pt idx="4">
                  <c:v>0.0</c:v>
                </c:pt>
              </c:numCache>
            </c:numRef>
          </c:val>
        </c:ser>
        <c:ser>
          <c:idx val="1"/>
          <c:order val="1"/>
          <c:tx>
            <c:strRef>
              <c:f>Sheet1!$C$1</c:f>
              <c:strCache>
                <c:ptCount val="1"/>
                <c:pt idx="0">
                  <c:v>Increase</c:v>
                </c:pt>
              </c:strCache>
            </c:strRef>
          </c:tx>
          <c:spPr>
            <a:solidFill>
              <a:srgbClr val="C6F432"/>
            </a:solidFill>
          </c:spPr>
          <c:cat>
            <c:strRef>
              <c:f>Sheet1!$A$2:$A$6</c:f>
              <c:strCache>
                <c:ptCount val="5"/>
                <c:pt idx="0">
                  <c:v>Benchmark return</c:v>
                </c:pt>
                <c:pt idx="1">
                  <c:v>Allocation</c:v>
                </c:pt>
                <c:pt idx="2">
                  <c:v>Selection</c:v>
                </c:pt>
                <c:pt idx="3">
                  <c:v>Interaction</c:v>
                </c:pt>
                <c:pt idx="4">
                  <c:v>Portfolio return</c:v>
                </c:pt>
              </c:strCache>
            </c:strRef>
          </c:cat>
          <c:val>
            <c:numRef>
              <c:f>Sheet1!$C$2:$C$6</c:f>
              <c:numCache>
                <c:formatCode>General</c:formatCode>
                <c:ptCount val="5"/>
                <c:pt idx="0">
                  <c:v>2.75</c:v>
                </c:pt>
                <c:pt idx="1">
                  <c:v>0.0</c:v>
                </c:pt>
                <c:pt idx="2">
                  <c:v>0.0</c:v>
                </c:pt>
                <c:pt idx="3">
                  <c:v>0.0</c:v>
                </c:pt>
                <c:pt idx="4">
                  <c:v>0.0</c:v>
                </c:pt>
              </c:numCache>
            </c:numRef>
          </c:val>
        </c:ser>
        <c:ser>
          <c:idx val="2"/>
          <c:order val="2"/>
          <c:tx>
            <c:strRef>
              <c:f>Sheet1!$D$1</c:f>
              <c:strCache>
                <c:ptCount val="1"/>
                <c:pt idx="0">
                  <c:v>Decrease</c:v>
                </c:pt>
              </c:strCache>
            </c:strRef>
          </c:tx>
          <c:spPr>
            <a:solidFill>
              <a:srgbClr val="FF6B5E"/>
            </a:solidFill>
          </c:spPr>
          <c:cat>
            <c:strRef>
              <c:f>Sheet1!$A$2:$A$6</c:f>
              <c:strCache>
                <c:ptCount val="5"/>
                <c:pt idx="0">
                  <c:v>Benchmark return</c:v>
                </c:pt>
                <c:pt idx="1">
                  <c:v>Allocation</c:v>
                </c:pt>
                <c:pt idx="2">
                  <c:v>Selection</c:v>
                </c:pt>
                <c:pt idx="3">
                  <c:v>Interaction</c:v>
                </c:pt>
                <c:pt idx="4">
                  <c:v>Portfolio return</c:v>
                </c:pt>
              </c:strCache>
            </c:strRef>
          </c:cat>
          <c:val>
            <c:numRef>
              <c:f>Sheet1!$D$2:$D$6</c:f>
              <c:numCache>
                <c:formatCode>General</c:formatCode>
                <c:ptCount val="5"/>
                <c:pt idx="0">
                  <c:v>0.0</c:v>
                </c:pt>
                <c:pt idx="1">
                  <c:v>0.45</c:v>
                </c:pt>
                <c:pt idx="2">
                  <c:v>5.4</c:v>
                </c:pt>
                <c:pt idx="3">
                  <c:v>0.25</c:v>
                </c:pt>
                <c:pt idx="4">
                  <c:v>3.35</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Base</c:v>
                </c:pt>
              </c:strCache>
            </c:strRef>
          </c:tx>
          <c:spPr>
            <a:noFill/>
            <a:ln>
              <a:noFill/>
            </a:ln>
          </c:spPr>
          <c:cat>
            <c:strRef>
              <c:f>Sheet1!$A$2:$A$6</c:f>
              <c:strCache>
                <c:ptCount val="5"/>
                <c:pt idx="0">
                  <c:v>Benchmark return</c:v>
                </c:pt>
                <c:pt idx="1">
                  <c:v>Allocation</c:v>
                </c:pt>
                <c:pt idx="2">
                  <c:v>Selection</c:v>
                </c:pt>
                <c:pt idx="3">
                  <c:v>Interaction</c:v>
                </c:pt>
                <c:pt idx="4">
                  <c:v>Portfolio return</c:v>
                </c:pt>
              </c:strCache>
            </c:strRef>
          </c:cat>
          <c:val>
            <c:numRef>
              <c:f>Sheet1!$B$2:$B$6</c:f>
              <c:numCache>
                <c:formatCode>General</c:formatCode>
                <c:ptCount val="5"/>
                <c:pt idx="0">
                  <c:v>0.0</c:v>
                </c:pt>
                <c:pt idx="1">
                  <c:v>6.2</c:v>
                </c:pt>
                <c:pt idx="2">
                  <c:v>6.48</c:v>
                </c:pt>
                <c:pt idx="3">
                  <c:v>7.73</c:v>
                </c:pt>
                <c:pt idx="4">
                  <c:v>0.0</c:v>
                </c:pt>
              </c:numCache>
            </c:numRef>
          </c:val>
        </c:ser>
        <c:ser>
          <c:idx val="1"/>
          <c:order val="1"/>
          <c:tx>
            <c:strRef>
              <c:f>Sheet1!$C$1</c:f>
              <c:strCache>
                <c:ptCount val="1"/>
                <c:pt idx="0">
                  <c:v>Increase</c:v>
                </c:pt>
              </c:strCache>
            </c:strRef>
          </c:tx>
          <c:spPr>
            <a:solidFill>
              <a:srgbClr val="C6F432"/>
            </a:solidFill>
          </c:spPr>
          <c:cat>
            <c:strRef>
              <c:f>Sheet1!$A$2:$A$6</c:f>
              <c:strCache>
                <c:ptCount val="5"/>
                <c:pt idx="0">
                  <c:v>Benchmark return</c:v>
                </c:pt>
                <c:pt idx="1">
                  <c:v>Allocation</c:v>
                </c:pt>
                <c:pt idx="2">
                  <c:v>Selection</c:v>
                </c:pt>
                <c:pt idx="3">
                  <c:v>Interaction</c:v>
                </c:pt>
                <c:pt idx="4">
                  <c:v>Portfolio return</c:v>
                </c:pt>
              </c:strCache>
            </c:strRef>
          </c:cat>
          <c:val>
            <c:numRef>
              <c:f>Sheet1!$C$2:$C$6</c:f>
              <c:numCache>
                <c:formatCode>General</c:formatCode>
                <c:ptCount val="5"/>
                <c:pt idx="0">
                  <c:v>6.2</c:v>
                </c:pt>
                <c:pt idx="1">
                  <c:v>0.28</c:v>
                </c:pt>
                <c:pt idx="2">
                  <c:v>1.25</c:v>
                </c:pt>
                <c:pt idx="3">
                  <c:v>0.15</c:v>
                </c:pt>
                <c:pt idx="4">
                  <c:v>7.88</c:v>
                </c:pt>
              </c:numCache>
            </c:numRef>
          </c:val>
        </c:ser>
        <c:ser>
          <c:idx val="2"/>
          <c:order val="2"/>
          <c:tx>
            <c:strRef>
              <c:f>Sheet1!$D$1</c:f>
              <c:strCache>
                <c:ptCount val="1"/>
                <c:pt idx="0">
                  <c:v>Decrease</c:v>
                </c:pt>
              </c:strCache>
            </c:strRef>
          </c:tx>
          <c:spPr>
            <a:solidFill>
              <a:srgbClr val="FF6B5E"/>
            </a:solidFill>
          </c:spPr>
          <c:cat>
            <c:strRef>
              <c:f>Sheet1!$A$2:$A$6</c:f>
              <c:strCache>
                <c:ptCount val="5"/>
                <c:pt idx="0">
                  <c:v>Benchmark return</c:v>
                </c:pt>
                <c:pt idx="1">
                  <c:v>Allocation</c:v>
                </c:pt>
                <c:pt idx="2">
                  <c:v>Selection</c:v>
                </c:pt>
                <c:pt idx="3">
                  <c:v>Interaction</c:v>
                </c:pt>
                <c:pt idx="4">
                  <c:v>Portfolio return</c:v>
                </c:pt>
              </c:strCache>
            </c:strRef>
          </c:cat>
          <c:val>
            <c:numRef>
              <c:f>Sheet1!$D$2:$D$6</c:f>
              <c:numCache>
                <c:formatCode>General</c:formatCode>
                <c:ptCount val="5"/>
                <c:pt idx="0">
                  <c:v>0.0</c:v>
                </c:pt>
                <c:pt idx="1">
                  <c:v>0.0</c:v>
                </c:pt>
                <c:pt idx="2">
                  <c:v>0.0</c:v>
                </c:pt>
                <c:pt idx="3">
                  <c:v>0.0</c:v>
                </c:pt>
                <c:pt idx="4">
                  <c:v>0.0</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Allocation</c:v>
                </c:pt>
              </c:strCache>
            </c:strRef>
          </c:tx>
          <c:spPr>
            <a:solidFill>
              <a:srgbClr val="0D1117"/>
            </a:solidFill>
          </c:spPr>
          <c:cat>
            <c:strRef>
              <c:f>Sheet1!$A$2:$A$3</c:f>
              <c:strCache>
                <c:ptCount val="2"/>
                <c:pt idx="0">
                  <c:v>Public Equity</c:v>
                </c:pt>
                <c:pt idx="1">
                  <c:v>Alternatives</c:v>
                </c:pt>
              </c:strCache>
            </c:strRef>
          </c:cat>
          <c:val>
            <c:numRef>
              <c:f>Sheet1!$B$2:$B$3</c:f>
              <c:numCache>
                <c:formatCode>General</c:formatCode>
                <c:ptCount val="2"/>
                <c:pt idx="0">
                  <c:v>-0.1</c:v>
                </c:pt>
                <c:pt idx="1">
                  <c:v>-0.35</c:v>
                </c:pt>
              </c:numCache>
            </c:numRef>
          </c:val>
        </c:ser>
        <c:ser>
          <c:idx val="1"/>
          <c:order val="1"/>
          <c:tx>
            <c:strRef>
              <c:f>Sheet1!$C$1</c:f>
              <c:strCache>
                <c:ptCount val="1"/>
                <c:pt idx="0">
                  <c:v>Selection</c:v>
                </c:pt>
              </c:strCache>
            </c:strRef>
          </c:tx>
          <c:spPr>
            <a:solidFill>
              <a:srgbClr val="7FA600"/>
            </a:solidFill>
          </c:spPr>
          <c:cat>
            <c:strRef>
              <c:f>Sheet1!$A$2:$A$3</c:f>
              <c:strCache>
                <c:ptCount val="2"/>
                <c:pt idx="0">
                  <c:v>Public Equity</c:v>
                </c:pt>
                <c:pt idx="1">
                  <c:v>Alternatives</c:v>
                </c:pt>
              </c:strCache>
            </c:strRef>
          </c:cat>
          <c:val>
            <c:numRef>
              <c:f>Sheet1!$C$2:$C$3</c:f>
              <c:numCache>
                <c:formatCode>General</c:formatCode>
                <c:ptCount val="2"/>
                <c:pt idx="0">
                  <c:v>-0.55</c:v>
                </c:pt>
                <c:pt idx="1">
                  <c:v>-4.85</c:v>
                </c:pt>
              </c:numCache>
            </c:numRef>
          </c:val>
        </c:ser>
        <c:ser>
          <c:idx val="2"/>
          <c:order val="2"/>
          <c:tx>
            <c:strRef>
              <c:f>Sheet1!$D$1</c:f>
              <c:strCache>
                <c:ptCount val="1"/>
                <c:pt idx="0">
                  <c:v>Interaction</c:v>
                </c:pt>
              </c:strCache>
            </c:strRef>
          </c:tx>
          <c:spPr>
            <a:solidFill>
              <a:srgbClr val="F2A93B"/>
            </a:solidFill>
          </c:spPr>
          <c:cat>
            <c:strRef>
              <c:f>Sheet1!$A$2:$A$3</c:f>
              <c:strCache>
                <c:ptCount val="2"/>
                <c:pt idx="0">
                  <c:v>Public Equity</c:v>
                </c:pt>
                <c:pt idx="1">
                  <c:v>Alternatives</c:v>
                </c:pt>
              </c:strCache>
            </c:strRef>
          </c:cat>
          <c:val>
            <c:numRef>
              <c:f>Sheet1!$D$2:$D$3</c:f>
              <c:numCache>
                <c:formatCode>General</c:formatCode>
                <c:ptCount val="2"/>
                <c:pt idx="0">
                  <c:v>-0.05</c:v>
                </c:pt>
                <c:pt idx="1">
                  <c:v>-0.2</c:v>
                </c:pt>
              </c:numCache>
            </c:numRef>
          </c:val>
        </c:ser>
        <c:overlap val="100"/>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legend>
      <c:legendPos val="b"/>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C6F432"/>
              </a:solidFill>
            </c:spPr>
          </c:dPt>
          <c:dPt>
            <c:idx val="1"/>
            <c:spPr>
              <a:solidFill>
                <a:srgbClr val="C6F432"/>
              </a:solidFill>
            </c:spPr>
          </c:dPt>
          <c:dPt>
            <c:idx val="2"/>
            <c:spPr>
              <a:solidFill>
                <a:srgbClr val="C6F432"/>
              </a:solidFill>
            </c:spPr>
          </c:dPt>
          <c:dPt>
            <c:idx val="3"/>
            <c:spPr>
              <a:solidFill>
                <a:srgbClr val="C6F432"/>
              </a:solidFill>
            </c:spPr>
          </c:dPt>
          <c:dLbls>
            <c:dLbl>
              <c:idx val="0"/>
              <c:tx>
                <c:rich>
                  <a:bodyPr/>
                  <a:lstStyle/>
                  <a:p>
                    <a:r>
                      <a:rPr lang="en-US" sz="800"/>
                      <a:t>60.0%</a:t>
                    </a:r>
                  </a:p>
                </c:rich>
              </c:tx>
              <c:dLblPos val="outEnd"/>
              <c:showLegendKey val="0"/>
              <c:showVal val="0"/>
              <c:showCatName val="0"/>
              <c:showSerName val="0"/>
              <c:showPercent val="0"/>
              <c:showBubbleSize val="0"/>
            </c:dLbl>
            <c:dLbl>
              <c:idx val="1"/>
              <c:tx>
                <c:rich>
                  <a:bodyPr/>
                  <a:lstStyle/>
                  <a:p>
                    <a:r>
                      <a:rPr lang="en-US" sz="800"/>
                      <a:t>55.0%</a:t>
                    </a:r>
                  </a:p>
                </c:rich>
              </c:tx>
              <c:dLblPos val="outEnd"/>
              <c:showLegendKey val="0"/>
              <c:showVal val="0"/>
              <c:showCatName val="0"/>
              <c:showSerName val="0"/>
              <c:showPercent val="0"/>
              <c:showBubbleSize val="0"/>
            </c:dLbl>
            <c:dLbl>
              <c:idx val="2"/>
              <c:tx>
                <c:rich>
                  <a:bodyPr/>
                  <a:lstStyle/>
                  <a:p>
                    <a:r>
                      <a:rPr lang="en-US" sz="800"/>
                      <a:t>40.0%</a:t>
                    </a:r>
                  </a:p>
                </c:rich>
              </c:tx>
              <c:dLblPos val="outEnd"/>
              <c:showLegendKey val="0"/>
              <c:showVal val="0"/>
              <c:showCatName val="0"/>
              <c:showSerName val="0"/>
              <c:showPercent val="0"/>
              <c:showBubbleSize val="0"/>
            </c:dLbl>
            <c:dLbl>
              <c:idx val="3"/>
              <c:tx>
                <c:rich>
                  <a:bodyPr/>
                  <a:lstStyle/>
                  <a:p>
                    <a:r>
                      <a:rPr lang="en-US" sz="800"/>
                      <a:t>45.0%</a:t>
                    </a:r>
                  </a:p>
                </c:rich>
              </c:tx>
              <c:dLblPos val="outEnd"/>
              <c:showLegendKey val="0"/>
              <c:showVal val="0"/>
              <c:showCatName val="0"/>
              <c:showSerName val="0"/>
              <c:showPercent val="0"/>
              <c:showBubbleSize val="0"/>
            </c:dLbl>
            <c:dLblPos val="outEnd"/>
            <c:showLegendKey val="0"/>
            <c:showVal val="0"/>
            <c:showCatName val="0"/>
            <c:showSerName val="0"/>
            <c:showPercent val="0"/>
            <c:showBubbleSize val="0"/>
          </c:dLbls>
          <c:cat>
            <c:strRef>
              <c:f>Sheet1!$A$2:$A$5</c:f>
              <c:strCache>
                <c:ptCount val="4"/>
                <c:pt idx="0">
                  <c:v>Public Equity · portfolio</c:v>
                </c:pt>
                <c:pt idx="1">
                  <c:v>Public Equity · benchmark</c:v>
                </c:pt>
                <c:pt idx="2">
                  <c:v>Alternatives · portfolio</c:v>
                </c:pt>
                <c:pt idx="3">
                  <c:v>Alternatives · benchmark</c:v>
                </c:pt>
              </c:strCache>
            </c:strRef>
          </c:cat>
          <c:val>
            <c:numRef>
              <c:f>Sheet1!$B$2:$B$5</c:f>
              <c:numCache>
                <c:formatCode>General</c:formatCode>
                <c:ptCount val="4"/>
                <c:pt idx="0">
                  <c:v>60.0</c:v>
                </c:pt>
                <c:pt idx="1">
                  <c:v>55.0</c:v>
                </c:pt>
                <c:pt idx="2">
                  <c:v>40.0</c:v>
                </c:pt>
                <c:pt idx="3">
                  <c:v>45.0</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Allocation</c:v>
                </c:pt>
              </c:strCache>
            </c:strRef>
          </c:tx>
          <c:spPr>
            <a:ln w="22860">
              <a:solidFill>
                <a:srgbClr val="0D1117"/>
              </a:solidFill>
            </a:ln>
          </c:spPr>
          <c:cat>
            <c:strRef>
              <c:f>Sheet1!$A$2:$A$4</c:f>
              <c:strCache>
                <c:ptCount val="3"/>
                <c:pt idx="0">
                  <c:v>2025-10-31</c:v>
                </c:pt>
                <c:pt idx="1">
                  <c:v>2026-03-31</c:v>
                </c:pt>
                <c:pt idx="2">
                  <c:v>2026-09-30</c:v>
                </c:pt>
              </c:strCache>
            </c:strRef>
          </c:cat>
          <c:val>
            <c:numRef>
              <c:f>Sheet1!$B$2:$B$4</c:f>
              <c:numCache>
                <c:formatCode>General</c:formatCode>
                <c:ptCount val="3"/>
                <c:pt idx="0">
                  <c:v>-0.05</c:v>
                </c:pt>
                <c:pt idx="1">
                  <c:v>-0.22</c:v>
                </c:pt>
                <c:pt idx="2">
                  <c:v>-0.45</c:v>
                </c:pt>
              </c:numCache>
            </c:numRef>
          </c:val>
          <c:smooth val="0"/>
        </c:ser>
        <c:ser>
          <c:idx val="1"/>
          <c:order val="1"/>
          <c:tx>
            <c:strRef>
              <c:f>Sheet1!$C$1</c:f>
              <c:strCache>
                <c:ptCount val="1"/>
                <c:pt idx="0">
                  <c:v>Selection</c:v>
                </c:pt>
              </c:strCache>
            </c:strRef>
          </c:tx>
          <c:spPr>
            <a:ln w="22860">
              <a:solidFill>
                <a:srgbClr val="7FA600"/>
              </a:solidFill>
            </a:ln>
          </c:spPr>
          <c:cat>
            <c:strRef>
              <c:f>Sheet1!$A$2:$A$4</c:f>
              <c:strCache>
                <c:ptCount val="3"/>
                <c:pt idx="0">
                  <c:v>2025-10-31</c:v>
                </c:pt>
                <c:pt idx="1">
                  <c:v>2026-03-31</c:v>
                </c:pt>
                <c:pt idx="2">
                  <c:v>2026-09-30</c:v>
                </c:pt>
              </c:strCache>
            </c:strRef>
          </c:cat>
          <c:val>
            <c:numRef>
              <c:f>Sheet1!$C$2:$C$4</c:f>
              <c:numCache>
                <c:formatCode>General</c:formatCode>
                <c:ptCount val="3"/>
                <c:pt idx="0">
                  <c:v>-0.4</c:v>
                </c:pt>
                <c:pt idx="1">
                  <c:v>-2.75</c:v>
                </c:pt>
                <c:pt idx="2">
                  <c:v>-5.4</c:v>
                </c:pt>
              </c:numCache>
            </c:numRef>
          </c:val>
          <c:smooth val="0"/>
        </c:ser>
        <c:ser>
          <c:idx val="2"/>
          <c:order val="2"/>
          <c:tx>
            <c:strRef>
              <c:f>Sheet1!$D$1</c:f>
              <c:strCache>
                <c:ptCount val="1"/>
                <c:pt idx="0">
                  <c:v>Interaction</c:v>
                </c:pt>
              </c:strCache>
            </c:strRef>
          </c:tx>
          <c:spPr>
            <a:ln w="22860">
              <a:solidFill>
                <a:srgbClr val="F2A93B"/>
              </a:solidFill>
            </a:ln>
          </c:spPr>
          <c:cat>
            <c:strRef>
              <c:f>Sheet1!$A$2:$A$4</c:f>
              <c:strCache>
                <c:ptCount val="3"/>
                <c:pt idx="0">
                  <c:v>2025-10-31</c:v>
                </c:pt>
                <c:pt idx="1">
                  <c:v>2026-03-31</c:v>
                </c:pt>
                <c:pt idx="2">
                  <c:v>2026-09-30</c:v>
                </c:pt>
              </c:strCache>
            </c:strRef>
          </c:cat>
          <c:val>
            <c:numRef>
              <c:f>Sheet1!$D$2:$D$4</c:f>
              <c:numCache>
                <c:formatCode>General</c:formatCode>
                <c:ptCount val="3"/>
                <c:pt idx="0">
                  <c:v>-0.02</c:v>
                </c:pt>
                <c:pt idx="1">
                  <c:v>-0.11</c:v>
                </c:pt>
                <c:pt idx="2">
                  <c:v>-0.25</c:v>
                </c:pt>
              </c:numCache>
            </c:numRef>
          </c:val>
          <c:smooth val="0"/>
        </c:ser>
        <c:ser>
          <c:idx val="3"/>
          <c:order val="3"/>
          <c:tx>
            <c:strRef>
              <c:f>Sheet1!$E$1</c:f>
              <c:strCache>
                <c:ptCount val="1"/>
                <c:pt idx="0">
                  <c:v>Total</c:v>
                </c:pt>
              </c:strCache>
            </c:strRef>
          </c:tx>
          <c:spPr>
            <a:ln w="22860">
              <a:solidFill>
                <a:srgbClr val="5B8DEF"/>
              </a:solidFill>
            </a:ln>
          </c:spPr>
          <c:cat>
            <c:strRef>
              <c:f>Sheet1!$A$2:$A$4</c:f>
              <c:strCache>
                <c:ptCount val="3"/>
                <c:pt idx="0">
                  <c:v>2025-10-31</c:v>
                </c:pt>
                <c:pt idx="1">
                  <c:v>2026-03-31</c:v>
                </c:pt>
                <c:pt idx="2">
                  <c:v>2026-09-30</c:v>
                </c:pt>
              </c:strCache>
            </c:strRef>
          </c:cat>
          <c:val>
            <c:numRef>
              <c:f>Sheet1!$E$2:$E$4</c:f>
              <c:numCache>
                <c:formatCode>General</c:formatCode>
                <c:ptCount val="3"/>
                <c:pt idx="0">
                  <c:v>-0.47</c:v>
                </c:pt>
                <c:pt idx="1">
                  <c:v>-3.08</c:v>
                </c:pt>
                <c:pt idx="2">
                  <c:v>-6.1</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700"/>
            </a:pPr>
          </a:p>
        </c:txPr>
        <c:crossAx val="2140495176"/>
        <c:crosses val="autoZero"/>
        <c:auto val="1"/>
        <c:lblAlgn val="ctr"/>
        <c:lblOffset val="100"/>
        <c:noMultiLvlLbl val="0"/>
      </c:catAx>
      <c:valAx>
        <c:axId val="2140495176"/>
        <c:scaling>
          <c:max val="0.0"/>
          <c:min val="-8.0"/>
        </c:scaling>
        <c:delete val="0"/>
        <c:axPos val="l"/>
        <c:majorGridlines/>
        <c:numFmt formatCode="0.00&quot;pp&quot;" sourceLinked="0"/>
        <c:majorTickMark val="out"/>
        <c:minorTickMark val="none"/>
        <c:tickLblPos val="nextTo"/>
        <c:txPr>
          <a:bodyPr/>
          <a:lstStyle/>
          <a:p>
            <a:pPr>
              <a:defRPr sz="800"/>
            </a:pPr>
          </a:p>
        </c:txPr>
        <c:crossAx val="2118791784"/>
        <c:crosses val="autoZero"/>
        <c:majorUnit val="2.0"/>
      </c:valAx>
    </c:plotArea>
    <c:legend>
      <c:legendPos val="b"/>
      <c:layout/>
      <c:overlay val="0"/>
      <c:txPr>
        <a:bodyPr/>
        <a:lstStyle/>
        <a:p>
          <a:pPr>
            <a:defRPr sz="700"/>
          </a:pPr>
        </a:p>
      </c:txPr>
    </c:legend>
    <c:plotVisOnly val="1"/>
    <c:dispBlanksAs val="gap"/>
    <c:showDLblsOverMax val="0"/>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Alternatives selection</c:v>
                </c:pt>
              </c:strCache>
            </c:strRef>
          </c:tx>
          <c:spPr>
            <a:ln w="22860">
              <a:solidFill>
                <a:srgbClr val="0D1117"/>
              </a:solidFill>
            </a:ln>
          </c:spPr>
          <c:cat>
            <c:strRef>
              <c:f>Sheet1!$A$2:$A$4</c:f>
              <c:strCache>
                <c:ptCount val="3"/>
                <c:pt idx="0">
                  <c:v>2025-10-31</c:v>
                </c:pt>
                <c:pt idx="1">
                  <c:v>2026-03-31</c:v>
                </c:pt>
                <c:pt idx="2">
                  <c:v>2026-09-30</c:v>
                </c:pt>
              </c:strCache>
            </c:strRef>
          </c:cat>
          <c:val>
            <c:numRef>
              <c:f>Sheet1!$B$2:$B$4</c:f>
              <c:numCache>
                <c:formatCode>General</c:formatCode>
                <c:ptCount val="3"/>
                <c:pt idx="0">
                  <c:v>-0.35</c:v>
                </c:pt>
                <c:pt idx="1">
                  <c:v>-2.4</c:v>
                </c:pt>
                <c:pt idx="2">
                  <c:v>-4.85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700"/>
            </a:pPr>
          </a:p>
        </c:txPr>
        <c:crossAx val="2140495176"/>
        <c:crosses val="autoZero"/>
        <c:auto val="1"/>
        <c:lblAlgn val="ctr"/>
        <c:lblOffset val="100"/>
        <c:noMultiLvlLbl val="0"/>
      </c:catAx>
      <c:valAx>
        <c:axId val="2140495176"/>
        <c:scaling>
          <c:max val="0.0"/>
          <c:min val="-6.0"/>
        </c:scaling>
        <c:delete val="0"/>
        <c:axPos val="l"/>
        <c:majorGridlines/>
        <c:numFmt formatCode="0.00&quot;pp&quot;" sourceLinked="0"/>
        <c:majorTickMark val="out"/>
        <c:minorTickMark val="none"/>
        <c:tickLblPos val="nextTo"/>
        <c:txPr>
          <a:bodyPr/>
          <a:lstStyle/>
          <a:p>
            <a:pPr>
              <a:defRPr sz="800"/>
            </a:pPr>
          </a:p>
        </c:txPr>
        <c:crossAx val="2118791784"/>
        <c:crosses val="autoZero"/>
        <c:majorUnit val="2.0"/>
      </c:valAx>
    </c:plotArea>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Allocation</c:v>
                </c:pt>
              </c:strCache>
            </c:strRef>
          </c:tx>
          <c:spPr>
            <a:solidFill>
              <a:srgbClr val="0D1117"/>
            </a:solidFill>
          </c:spPr>
          <c:cat>
            <c:strRef>
              <c:f>Sheet1!$A$2:$A$3</c:f>
              <c:strCache>
                <c:ptCount val="2"/>
                <c:pt idx="0">
                  <c:v>Public Equity</c:v>
                </c:pt>
                <c:pt idx="1">
                  <c:v>Alternatives</c:v>
                </c:pt>
              </c:strCache>
            </c:strRef>
          </c:cat>
          <c:val>
            <c:numRef>
              <c:f>Sheet1!$B$2:$B$3</c:f>
              <c:numCache>
                <c:formatCode>General</c:formatCode>
                <c:ptCount val="2"/>
                <c:pt idx="0">
                  <c:v>0.15</c:v>
                </c:pt>
                <c:pt idx="1">
                  <c:v>0.13</c:v>
                </c:pt>
              </c:numCache>
            </c:numRef>
          </c:val>
        </c:ser>
        <c:ser>
          <c:idx val="1"/>
          <c:order val="1"/>
          <c:tx>
            <c:strRef>
              <c:f>Sheet1!$C$1</c:f>
              <c:strCache>
                <c:ptCount val="1"/>
                <c:pt idx="0">
                  <c:v>Selection</c:v>
                </c:pt>
              </c:strCache>
            </c:strRef>
          </c:tx>
          <c:spPr>
            <a:solidFill>
              <a:srgbClr val="7FA600"/>
            </a:solidFill>
          </c:spPr>
          <c:cat>
            <c:strRef>
              <c:f>Sheet1!$A$2:$A$3</c:f>
              <c:strCache>
                <c:ptCount val="2"/>
                <c:pt idx="0">
                  <c:v>Public Equity</c:v>
                </c:pt>
                <c:pt idx="1">
                  <c:v>Alternatives</c:v>
                </c:pt>
              </c:strCache>
            </c:strRef>
          </c:cat>
          <c:val>
            <c:numRef>
              <c:f>Sheet1!$C$2:$C$3</c:f>
              <c:numCache>
                <c:formatCode>General</c:formatCode>
                <c:ptCount val="2"/>
                <c:pt idx="0">
                  <c:v>0.2</c:v>
                </c:pt>
                <c:pt idx="1">
                  <c:v>1.05</c:v>
                </c:pt>
              </c:numCache>
            </c:numRef>
          </c:val>
        </c:ser>
        <c:ser>
          <c:idx val="2"/>
          <c:order val="2"/>
          <c:tx>
            <c:strRef>
              <c:f>Sheet1!$D$1</c:f>
              <c:strCache>
                <c:ptCount val="1"/>
                <c:pt idx="0">
                  <c:v>Interaction</c:v>
                </c:pt>
              </c:strCache>
            </c:strRef>
          </c:tx>
          <c:spPr>
            <a:solidFill>
              <a:srgbClr val="F2A93B"/>
            </a:solidFill>
          </c:spPr>
          <c:cat>
            <c:strRef>
              <c:f>Sheet1!$A$2:$A$3</c:f>
              <c:strCache>
                <c:ptCount val="2"/>
                <c:pt idx="0">
                  <c:v>Public Equity</c:v>
                </c:pt>
                <c:pt idx="1">
                  <c:v>Alternatives</c:v>
                </c:pt>
              </c:strCache>
            </c:strRef>
          </c:cat>
          <c:val>
            <c:numRef>
              <c:f>Sheet1!$D$2:$D$3</c:f>
              <c:numCache>
                <c:formatCode>General</c:formatCode>
                <c:ptCount val="2"/>
                <c:pt idx="0">
                  <c:v>0.05</c:v>
                </c:pt>
                <c:pt idx="1">
                  <c:v>0.1</c:v>
                </c:pt>
              </c:numCache>
            </c:numRef>
          </c:val>
        </c:ser>
        <c:overlap val="100"/>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legend>
      <c:legendPos val="b"/>
    </c:legend>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C6F432"/>
              </a:solidFill>
            </c:spPr>
          </c:dPt>
          <c:dPt>
            <c:idx val="1"/>
            <c:spPr>
              <a:solidFill>
                <a:srgbClr val="C6F432"/>
              </a:solidFill>
            </c:spPr>
          </c:dPt>
          <c:dPt>
            <c:idx val="2"/>
            <c:spPr>
              <a:solidFill>
                <a:srgbClr val="C6F432"/>
              </a:solidFill>
            </c:spPr>
          </c:dPt>
          <c:dPt>
            <c:idx val="3"/>
            <c:spPr>
              <a:solidFill>
                <a:srgbClr val="C6F432"/>
              </a:solidFill>
            </c:spPr>
          </c:dPt>
          <c:dLbls>
            <c:dLbl>
              <c:idx val="0"/>
              <c:tx>
                <c:rich>
                  <a:bodyPr/>
                  <a:lstStyle/>
                  <a:p>
                    <a:r>
                      <a:rPr lang="en-US" sz="800"/>
                      <a:t>6.50%</a:t>
                    </a:r>
                  </a:p>
                </c:rich>
              </c:tx>
              <c:dLblPos val="outEnd"/>
              <c:showLegendKey val="0"/>
              <c:showVal val="0"/>
              <c:showCatName val="0"/>
              <c:showSerName val="0"/>
              <c:showPercent val="0"/>
              <c:showBubbleSize val="0"/>
            </c:dLbl>
            <c:dLbl>
              <c:idx val="1"/>
              <c:tx>
                <c:rich>
                  <a:bodyPr/>
                  <a:lstStyle/>
                  <a:p>
                    <a:r>
                      <a:rPr lang="en-US" sz="800"/>
                      <a:t>6.30%</a:t>
                    </a:r>
                  </a:p>
                </c:rich>
              </c:tx>
              <c:dLblPos val="outEnd"/>
              <c:showLegendKey val="0"/>
              <c:showVal val="0"/>
              <c:showCatName val="0"/>
              <c:showSerName val="0"/>
              <c:showPercent val="0"/>
              <c:showBubbleSize val="0"/>
            </c:dLbl>
            <c:dLbl>
              <c:idx val="2"/>
              <c:tx>
                <c:rich>
                  <a:bodyPr/>
                  <a:lstStyle/>
                  <a:p>
                    <a:r>
                      <a:rPr lang="en-US" sz="800"/>
                      <a:t>9.95%</a:t>
                    </a:r>
                  </a:p>
                </c:rich>
              </c:tx>
              <c:dLblPos val="outEnd"/>
              <c:showLegendKey val="0"/>
              <c:showVal val="0"/>
              <c:showCatName val="0"/>
              <c:showSerName val="0"/>
              <c:showPercent val="0"/>
              <c:showBubbleSize val="0"/>
            </c:dLbl>
            <c:dLbl>
              <c:idx val="3"/>
              <c:tx>
                <c:rich>
                  <a:bodyPr/>
                  <a:lstStyle/>
                  <a:p>
                    <a:r>
                      <a:rPr lang="en-US" sz="800"/>
                      <a:t>6.05%</a:t>
                    </a:r>
                  </a:p>
                </c:rich>
              </c:tx>
              <c:dLblPos val="outEnd"/>
              <c:showLegendKey val="0"/>
              <c:showVal val="0"/>
              <c:showCatName val="0"/>
              <c:showSerName val="0"/>
              <c:showPercent val="0"/>
              <c:showBubbleSize val="0"/>
            </c:dLbl>
            <c:dLblPos val="outEnd"/>
            <c:showLegendKey val="0"/>
            <c:showVal val="0"/>
            <c:showCatName val="0"/>
            <c:showSerName val="0"/>
            <c:showPercent val="0"/>
            <c:showBubbleSize val="0"/>
          </c:dLbls>
          <c:cat>
            <c:strRef>
              <c:f>Sheet1!$A$2:$A$5</c:f>
              <c:strCache>
                <c:ptCount val="4"/>
                <c:pt idx="0">
                  <c:v>Public Equity · portfolio</c:v>
                </c:pt>
                <c:pt idx="1">
                  <c:v>Public Equity · benchmark</c:v>
                </c:pt>
                <c:pt idx="2">
                  <c:v>Alternatives · portfolio</c:v>
                </c:pt>
                <c:pt idx="3">
                  <c:v>Alternatives · benchmark</c:v>
                </c:pt>
              </c:strCache>
            </c:strRef>
          </c:cat>
          <c:val>
            <c:numRef>
              <c:f>Sheet1!$B$2:$B$5</c:f>
              <c:numCache>
                <c:formatCode>General</c:formatCode>
                <c:ptCount val="4"/>
                <c:pt idx="0">
                  <c:v>6.5</c:v>
                </c:pt>
                <c:pt idx="1">
                  <c:v>6.3</c:v>
                </c:pt>
                <c:pt idx="2">
                  <c:v>9.95</c:v>
                </c:pt>
                <c:pt idx="3">
                  <c:v>6.05</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C6F432"/>
              </a:solidFill>
            </c:spPr>
          </c:dPt>
          <c:dPt>
            <c:idx val="1"/>
            <c:spPr>
              <a:solidFill>
                <a:srgbClr val="FF6B5E"/>
              </a:solidFill>
            </c:spPr>
          </c:dPt>
          <c:dPt>
            <c:idx val="2"/>
            <c:spPr>
              <a:solidFill>
                <a:srgbClr val="C6F432"/>
              </a:solidFill>
            </c:spPr>
          </c:dPt>
          <c:dLbls>
            <c:dLbl>
              <c:idx val="0"/>
              <c:tx>
                <c:rich>
                  <a:bodyPr/>
                  <a:lstStyle/>
                  <a:p>
                    <a:r>
                      <a:rPr lang="en-US" sz="800"/>
                      <a:t>+0.2pp</a:t>
                    </a:r>
                  </a:p>
                </c:rich>
              </c:tx>
              <c:dLblPos val="outEnd"/>
              <c:showLegendKey val="0"/>
              <c:showVal val="0"/>
              <c:showCatName val="0"/>
              <c:showSerName val="0"/>
              <c:showPercent val="0"/>
              <c:showBubbleSize val="0"/>
            </c:dLbl>
            <c:dLbl>
              <c:idx val="1"/>
              <c:tx>
                <c:rich>
                  <a:bodyPr/>
                  <a:lstStyle/>
                  <a:p>
                    <a:r>
                      <a:rPr lang="en-US" sz="800"/>
                      <a:t>-0.8pp</a:t>
                    </a:r>
                  </a:p>
                </c:rich>
              </c:tx>
              <c:dLblPos val="outEnd"/>
              <c:showLegendKey val="0"/>
              <c:showVal val="0"/>
              <c:showCatName val="0"/>
              <c:showSerName val="0"/>
              <c:showPercent val="0"/>
              <c:showBubbleSize val="0"/>
            </c:dLbl>
            <c:dLbl>
              <c:idx val="2"/>
              <c:tx>
                <c:rich>
                  <a:bodyPr/>
                  <a:lstStyle/>
                  <a:p>
                    <a:r>
                      <a:rPr lang="en-US" sz="800"/>
                      <a:t>0.0pp</a:t>
                    </a:r>
                  </a:p>
                </c:rich>
              </c:tx>
              <c:dLblPos val="outEnd"/>
              <c:showLegendKey val="0"/>
              <c:showVal val="0"/>
              <c:showCatName val="0"/>
              <c:showSerName val="0"/>
              <c:showPercent val="0"/>
              <c:showBubbleSize val="0"/>
            </c:dLbl>
            <c:dLblPos val="outEnd"/>
            <c:showLegendKey val="0"/>
            <c:showVal val="0"/>
            <c:showCatName val="0"/>
            <c:showSerName val="0"/>
            <c:showPercent val="0"/>
            <c:showBubbleSize val="0"/>
          </c:dLbls>
          <c:cat>
            <c:strRef>
              <c:f>Sheet1!$A$2:$A$4</c:f>
              <c:strCache>
                <c:ptCount val="3"/>
                <c:pt idx="0">
                  <c:v>Allocation</c:v>
                </c:pt>
                <c:pt idx="1">
                  <c:v>Selection</c:v>
                </c:pt>
                <c:pt idx="2">
                  <c:v>Interaction</c:v>
                </c:pt>
              </c:strCache>
            </c:strRef>
          </c:cat>
          <c:val>
            <c:numRef>
              <c:f>Sheet1!$B$2:$B$4</c:f>
              <c:numCache>
                <c:formatCode>General</c:formatCode>
                <c:ptCount val="3"/>
                <c:pt idx="0">
                  <c:v>0.2</c:v>
                </c:pt>
                <c:pt idx="1">
                  <c:v>-0.8</c:v>
                </c:pt>
                <c:pt idx="2">
                  <c:v>0.0</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C6F432"/>
              </a:solidFill>
            </c:spPr>
          </c:dPt>
          <c:dPt>
            <c:idx val="1"/>
            <c:spPr>
              <a:solidFill>
                <a:srgbClr val="FF6B5E"/>
              </a:solidFill>
            </c:spPr>
          </c:dPt>
          <c:dPt>
            <c:idx val="2"/>
            <c:spPr>
              <a:solidFill>
                <a:srgbClr val="C6F432"/>
              </a:solidFill>
            </c:spPr>
          </c:dPt>
          <c:dLbls>
            <c:dLbl>
              <c:idx val="0"/>
              <c:tx>
                <c:rich>
                  <a:bodyPr/>
                  <a:lstStyle/>
                  <a:p>
                    <a:r>
                      <a:rPr lang="en-US" sz="800"/>
                      <a:t>+0.4pp</a:t>
                    </a:r>
                  </a:p>
                </c:rich>
              </c:tx>
              <c:dLblPos val="outEnd"/>
              <c:showLegendKey val="0"/>
              <c:showVal val="0"/>
              <c:showCatName val="0"/>
              <c:showSerName val="0"/>
              <c:showPercent val="0"/>
              <c:showBubbleSize val="0"/>
            </c:dLbl>
            <c:dLbl>
              <c:idx val="1"/>
              <c:tx>
                <c:rich>
                  <a:bodyPr/>
                  <a:lstStyle/>
                  <a:p>
                    <a:r>
                      <a:rPr lang="en-US" sz="800"/>
                      <a:t>-0.1pp</a:t>
                    </a:r>
                  </a:p>
                </c:rich>
              </c:tx>
              <c:dLblPos val="outEnd"/>
              <c:showLegendKey val="0"/>
              <c:showVal val="0"/>
              <c:showCatName val="0"/>
              <c:showSerName val="0"/>
              <c:showPercent val="0"/>
              <c:showBubbleSize val="0"/>
            </c:dLbl>
            <c:dLbl>
              <c:idx val="2"/>
              <c:tx>
                <c:rich>
                  <a:bodyPr/>
                  <a:lstStyle/>
                  <a:p>
                    <a:r>
                      <a:rPr lang="en-US" sz="800"/>
                      <a:t>+0.05pp</a:t>
                    </a:r>
                  </a:p>
                </c:rich>
              </c:tx>
              <c:dLblPos val="outEnd"/>
              <c:showLegendKey val="0"/>
              <c:showVal val="0"/>
              <c:showCatName val="0"/>
              <c:showSerName val="0"/>
              <c:showPercent val="0"/>
              <c:showBubbleSize val="0"/>
            </c:dLbl>
            <c:dLblPos val="outEnd"/>
            <c:showLegendKey val="0"/>
            <c:showVal val="0"/>
            <c:showCatName val="0"/>
            <c:showSerName val="0"/>
            <c:showPercent val="0"/>
            <c:showBubbleSize val="0"/>
          </c:dLbls>
          <c:cat>
            <c:strRef>
              <c:f>Sheet1!$A$2:$A$4</c:f>
              <c:strCache>
                <c:ptCount val="3"/>
                <c:pt idx="0">
                  <c:v>Allocation</c:v>
                </c:pt>
                <c:pt idx="1">
                  <c:v>Selection</c:v>
                </c:pt>
                <c:pt idx="2">
                  <c:v>Interaction</c:v>
                </c:pt>
              </c:strCache>
            </c:strRef>
          </c:cat>
          <c:val>
            <c:numRef>
              <c:f>Sheet1!$B$2:$B$4</c:f>
              <c:numCache>
                <c:formatCode>General</c:formatCode>
                <c:ptCount val="3"/>
                <c:pt idx="0">
                  <c:v>0.4</c:v>
                </c:pt>
                <c:pt idx="1">
                  <c:v>-0.1</c:v>
                </c:pt>
                <c:pt idx="2">
                  <c:v>0.05</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Selection leads detractors</a:t>
            </a:r>
          </a:p>
          <a:p>
            <a:r>
              <a:t>Observation: Returned selection is the -5.40pp dominant realized shortfall and Alternatives contributes -4.85pp [S2]. Why it matters: Selection drives the returned bridge from +2.75% benchmark return to -3.35% portfolio return. Uncertainty: The evidence covers one linked window. What would change the view: A later historical result with a different returned selection effect.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Selection leads expectations</a:t>
            </a:r>
          </a:p>
          <a:p>
            <a:r>
              <a:t>Observation: Returned selection is the +1.25pp dominant expected gain and Alternatives contributes +1.05pp [S3]. Why it matters: Selection drives the returned bridge from 6.20% expected benchmark return to 7.88% expected portfolio return. Uncertainty: Inputs are governed assumptions. What would change the view: A refreshed ex ante result with a different returned selection effect.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Simulation unavailable</a:t>
            </a:r>
          </a:p>
          <a:p>
            <a:r>
              <a:t>Observation: Simulation is planned per the capability source [S1]. Why it matters: Scenario effects cannot be assessed. Uncertainty: Capability readiness may change. What would change the view: A capability response marking the exact simulation tool available.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Comparison unavailable</a:t>
            </a:r>
          </a:p>
          <a:p>
            <a:r>
              <a:t>Observation: Comparison is planned per get_gradient_capabilities [S1]. Why it matters: No persistence claim is supported. Uncertainty: Planned capability timing is not returned. What would change the view: A governed comparison result.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xhibit">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up">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Tab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Appendix">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chart" Target="../charts/char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chart" Target="../charts/chart6.xml"/><Relationship Id="rId4"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chart" Target="../charts/chart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Oval 2"/>
          <p:cNvSpPr/>
          <p:nvPr/>
        </p:nvSpPr>
        <p:spPr>
          <a:xfrm>
            <a:off x="9372600" y="164592"/>
            <a:ext cx="2514600" cy="2514600"/>
          </a:xfrm>
          <a:prstGeom prst="ellipse">
            <a:avLst/>
          </a:prstGeom>
          <a:solidFill>
            <a:srgbClr val="161C24"/>
          </a:solidFill>
          <a:ln>
            <a:solidFill>
              <a:srgbClr val="161C2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4" name="TextBox 3"/>
          <p:cNvSpPr txBox="1"/>
          <p:nvPr/>
        </p:nvSpPr>
        <p:spPr>
          <a:xfrm>
            <a:off x="685800" y="457200"/>
            <a:ext cx="4754880" cy="320040"/>
          </a:xfrm>
          <a:prstGeom prst="rect">
            <a:avLst/>
          </a:prstGeom>
          <a:noFill/>
        </p:spPr>
        <p:txBody>
          <a:bodyPr wrap="none" lIns="9144" rIns="9144" tIns="9144" bIns="9144" anchor="t">
            <a:spAutoFit/>
          </a:bodyPr>
          <a:lstStyle/>
          <a:p>
            <a:pPr algn="l">
              <a:spcAft>
                <a:spcPts val="0"/>
              </a:spcAft>
              <a:defRPr sz="1200" b="1">
                <a:solidFill>
                  <a:srgbClr val="FFFFFF"/>
                </a:solidFill>
                <a:latin typeface="Inter"/>
              </a:defRPr>
            </a:pPr>
            <a:r>
              <a:rPr>
                <a:latin typeface="Inter"/>
              </a:rPr>
              <a:t>GradientCIO</a:t>
            </a:r>
          </a:p>
        </p:txBody>
      </p:sp>
      <p:sp>
        <p:nvSpPr>
          <p:cNvPr id="5" name="TextBox 4"/>
          <p:cNvSpPr txBox="1"/>
          <p:nvPr/>
        </p:nvSpPr>
        <p:spPr>
          <a:xfrm>
            <a:off x="685800" y="1664208"/>
            <a:ext cx="9966960" cy="274320"/>
          </a:xfrm>
          <a:prstGeom prst="rect">
            <a:avLst/>
          </a:prstGeom>
          <a:noFill/>
        </p:spPr>
        <p:txBody>
          <a:bodyPr wrap="none" lIns="9144" rIns="9144" tIns="9144" bIns="9144" anchor="t">
            <a:spAutoFit/>
          </a:bodyPr>
          <a:lstStyle/>
          <a:p>
            <a:pPr algn="l">
              <a:spcAft>
                <a:spcPts val="0"/>
              </a:spcAft>
              <a:defRPr sz="850" b="1">
                <a:solidFill>
                  <a:srgbClr val="C6F432"/>
                </a:solidFill>
                <a:latin typeface="Inter"/>
              </a:defRPr>
            </a:pPr>
            <a:r>
              <a:rPr>
                <a:latin typeface="Inter"/>
              </a:rPr>
              <a:t>PORTFOLIO ATTRIBUTION COMPARISON</a:t>
            </a:r>
          </a:p>
        </p:txBody>
      </p:sp>
      <p:sp>
        <p:nvSpPr>
          <p:cNvPr id="6" name="TextBox 5"/>
          <p:cNvSpPr txBox="1"/>
          <p:nvPr/>
        </p:nvSpPr>
        <p:spPr>
          <a:xfrm>
            <a:off x="685800" y="2011680"/>
            <a:ext cx="9966960" cy="1234440"/>
          </a:xfrm>
          <a:prstGeom prst="rect">
            <a:avLst/>
          </a:prstGeom>
          <a:noFill/>
        </p:spPr>
        <p:txBody>
          <a:bodyPr wrap="none" lIns="9144" rIns="9144" tIns="9144" bIns="9144" anchor="t">
            <a:spAutoFit/>
          </a:bodyPr>
          <a:lstStyle/>
          <a:p>
            <a:pPr algn="l">
              <a:spcAft>
                <a:spcPts val="0"/>
              </a:spcAft>
              <a:defRPr sz="3300" b="1">
                <a:solidFill>
                  <a:srgbClr val="FFFFFF"/>
                </a:solidFill>
                <a:latin typeface="Inter"/>
              </a:defRPr>
            </a:pPr>
            <a:r>
              <a:rPr>
                <a:latin typeface="Inter"/>
              </a:rPr>
              <a:t>Northstar Total Fund Attribution Comparison</a:t>
            </a:r>
          </a:p>
        </p:txBody>
      </p:sp>
      <p:sp>
        <p:nvSpPr>
          <p:cNvPr id="7" name="TextBox 6"/>
          <p:cNvSpPr txBox="1"/>
          <p:nvPr/>
        </p:nvSpPr>
        <p:spPr>
          <a:xfrm>
            <a:off x="685800" y="3273552"/>
            <a:ext cx="9692640" cy="594360"/>
          </a:xfrm>
          <a:prstGeom prst="rect">
            <a:avLst/>
          </a:prstGeom>
          <a:noFill/>
        </p:spPr>
        <p:txBody>
          <a:bodyPr wrap="none" lIns="9144" rIns="9144" tIns="9144" bIns="9144" anchor="t">
            <a:spAutoFit/>
          </a:bodyPr>
          <a:lstStyle/>
          <a:p>
            <a:pPr algn="l">
              <a:spcAft>
                <a:spcPts val="0"/>
              </a:spcAft>
              <a:defRPr sz="1400" b="0">
                <a:solidFill>
                  <a:srgbClr val="9AA5B1"/>
                </a:solidFill>
                <a:latin typeface="Inter"/>
              </a:defRPr>
            </a:pPr>
            <a:r>
              <a:rPr>
                <a:latin typeface="Inter"/>
              </a:rPr>
              <a:t>Historical and forward attribution · available evidence review</a:t>
            </a:r>
          </a:p>
        </p:txBody>
      </p:sp>
      <p:sp>
        <p:nvSpPr>
          <p:cNvPr id="8" name="Rectangle 7"/>
          <p:cNvSpPr/>
          <p:nvPr/>
        </p:nvSpPr>
        <p:spPr>
          <a:xfrm>
            <a:off x="685800" y="4005072"/>
            <a:ext cx="822960" cy="45720"/>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TextBox 8"/>
          <p:cNvSpPr txBox="1"/>
          <p:nvPr/>
        </p:nvSpPr>
        <p:spPr>
          <a:xfrm>
            <a:off x="685800" y="4315968"/>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PORTFOLIO</a:t>
            </a:r>
          </a:p>
        </p:txBody>
      </p:sp>
      <p:sp>
        <p:nvSpPr>
          <p:cNvPr id="10" name="TextBox 9"/>
          <p:cNvSpPr txBox="1"/>
          <p:nvPr/>
        </p:nvSpPr>
        <p:spPr>
          <a:xfrm>
            <a:off x="685800" y="4507992"/>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Northstar Total Fund</a:t>
            </a:r>
          </a:p>
        </p:txBody>
      </p:sp>
      <p:sp>
        <p:nvSpPr>
          <p:cNvPr id="11" name="TextBox 10"/>
          <p:cNvSpPr txBox="1"/>
          <p:nvPr/>
        </p:nvSpPr>
        <p:spPr>
          <a:xfrm>
            <a:off x="5852160" y="4315968"/>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BENCHMARK</a:t>
            </a:r>
          </a:p>
        </p:txBody>
      </p:sp>
      <p:sp>
        <p:nvSpPr>
          <p:cNvPr id="12" name="TextBox 11"/>
          <p:cNvSpPr txBox="1"/>
          <p:nvPr/>
        </p:nvSpPr>
        <p:spPr>
          <a:xfrm>
            <a:off x="5852160" y="4507992"/>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Policy benchmark</a:t>
            </a:r>
          </a:p>
        </p:txBody>
      </p:sp>
      <p:sp>
        <p:nvSpPr>
          <p:cNvPr id="13" name="TextBox 12"/>
          <p:cNvSpPr txBox="1"/>
          <p:nvPr/>
        </p:nvSpPr>
        <p:spPr>
          <a:xfrm>
            <a:off x="685800" y="4937759"/>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COHORT</a:t>
            </a:r>
          </a:p>
        </p:txBody>
      </p:sp>
      <p:sp>
        <p:nvSpPr>
          <p:cNvPr id="14" name="TextBox 13"/>
          <p:cNvSpPr txBox="1"/>
          <p:nvPr/>
        </p:nvSpPr>
        <p:spPr>
          <a:xfrm>
            <a:off x="685800" y="5129783"/>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Total fund</a:t>
            </a:r>
          </a:p>
        </p:txBody>
      </p:sp>
      <p:sp>
        <p:nvSpPr>
          <p:cNvPr id="15" name="TextBox 14"/>
          <p:cNvSpPr txBox="1"/>
          <p:nvPr/>
        </p:nvSpPr>
        <p:spPr>
          <a:xfrm>
            <a:off x="5852160" y="4937759"/>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AVAILABLE VIEWS</a:t>
            </a:r>
          </a:p>
        </p:txBody>
      </p:sp>
      <p:sp>
        <p:nvSpPr>
          <p:cNvPr id="16" name="TextBox 15"/>
          <p:cNvSpPr txBox="1"/>
          <p:nvPr/>
        </p:nvSpPr>
        <p:spPr>
          <a:xfrm>
            <a:off x="5852160" y="5129783"/>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Historical and forward</a:t>
            </a:r>
          </a:p>
        </p:txBody>
      </p:sp>
      <p:sp>
        <p:nvSpPr>
          <p:cNvPr id="17" name="Rectangle 16"/>
          <p:cNvSpPr/>
          <p:nvPr/>
        </p:nvSpPr>
        <p:spPr>
          <a:xfrm>
            <a:off x="685800" y="5687568"/>
            <a:ext cx="3337560" cy="530352"/>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822960" y="5760720"/>
            <a:ext cx="3063240" cy="128016"/>
          </a:xfrm>
          <a:prstGeom prst="rect">
            <a:avLst/>
          </a:prstGeom>
          <a:noFill/>
        </p:spPr>
        <p:txBody>
          <a:bodyPr wrap="none" lIns="9144" rIns="9144" tIns="9144" bIns="9144" anchor="t">
            <a:spAutoFit/>
          </a:bodyPr>
          <a:lstStyle/>
          <a:p>
            <a:pPr algn="l">
              <a:spcAft>
                <a:spcPts val="0"/>
              </a:spcAft>
              <a:defRPr sz="620" b="1">
                <a:solidFill>
                  <a:srgbClr val="0D1117"/>
                </a:solidFill>
                <a:latin typeface="Inter"/>
              </a:defRPr>
            </a:pPr>
            <a:r>
              <a:rPr>
                <a:latin typeface="Inter"/>
              </a:rPr>
              <a:t>OVERALL VIEW</a:t>
            </a:r>
          </a:p>
        </p:txBody>
      </p:sp>
      <p:sp>
        <p:nvSpPr>
          <p:cNvPr id="19" name="TextBox 18"/>
          <p:cNvSpPr txBox="1"/>
          <p:nvPr/>
        </p:nvSpPr>
        <p:spPr>
          <a:xfrm>
            <a:off x="822960" y="5916168"/>
            <a:ext cx="3063240" cy="182880"/>
          </a:xfrm>
          <a:prstGeom prst="rect">
            <a:avLst/>
          </a:prstGeom>
          <a:noFill/>
        </p:spPr>
        <p:txBody>
          <a:bodyPr wrap="none" lIns="9144" rIns="9144" tIns="9144" bIns="9144" anchor="t">
            <a:spAutoFit/>
          </a:bodyPr>
          <a:lstStyle/>
          <a:p>
            <a:pPr algn="l">
              <a:spcAft>
                <a:spcPts val="0"/>
              </a:spcAft>
              <a:defRPr sz="900" b="1">
                <a:solidFill>
                  <a:srgbClr val="0D1117"/>
                </a:solidFill>
                <a:latin typeface="Inter"/>
              </a:defRPr>
            </a:pPr>
            <a:r>
              <a:rPr>
                <a:latin typeface="Inter"/>
              </a:rPr>
              <a:t>Two governed lanes available</a:t>
            </a:r>
          </a:p>
        </p:txBody>
      </p:sp>
      <p:sp>
        <p:nvSpPr>
          <p:cNvPr id="20" name="TextBox 19"/>
          <p:cNvSpPr txBox="1"/>
          <p:nvPr/>
        </p:nvSpPr>
        <p:spPr>
          <a:xfrm>
            <a:off x="4297680" y="5733288"/>
            <a:ext cx="3108960" cy="164592"/>
          </a:xfrm>
          <a:prstGeom prst="rect">
            <a:avLst/>
          </a:prstGeom>
          <a:noFill/>
        </p:spPr>
        <p:txBody>
          <a:bodyPr wrap="none" lIns="9144" rIns="9144" tIns="9144" bIns="9144" anchor="t">
            <a:spAutoFit/>
          </a:bodyPr>
          <a:lstStyle/>
          <a:p>
            <a:pPr algn="l">
              <a:spcAft>
                <a:spcPts val="0"/>
              </a:spcAft>
              <a:defRPr sz="650" b="1">
                <a:solidFill>
                  <a:srgbClr val="8A94A1"/>
                </a:solidFill>
                <a:latin typeface="Inter"/>
              </a:defRPr>
            </a:pPr>
            <a:r>
              <a:rPr>
                <a:latin typeface="Inter"/>
              </a:rPr>
              <a:t>SCOPE REVIEWED</a:t>
            </a:r>
          </a:p>
        </p:txBody>
      </p:sp>
      <p:sp>
        <p:nvSpPr>
          <p:cNvPr id="21" name="TextBox 20"/>
          <p:cNvSpPr txBox="1"/>
          <p:nvPr/>
        </p:nvSpPr>
        <p:spPr>
          <a:xfrm>
            <a:off x="4297680" y="5934456"/>
            <a:ext cx="3108960" cy="201168"/>
          </a:xfrm>
          <a:prstGeom prst="rect">
            <a:avLst/>
          </a:prstGeom>
          <a:noFill/>
        </p:spPr>
        <p:txBody>
          <a:bodyPr wrap="none" lIns="9144" rIns="9144" tIns="9144" bIns="9144" anchor="t">
            <a:spAutoFit/>
          </a:bodyPr>
          <a:lstStyle/>
          <a:p>
            <a:pPr algn="l">
              <a:spcAft>
                <a:spcPts val="0"/>
              </a:spcAft>
              <a:defRPr sz="800" b="1">
                <a:solidFill>
                  <a:srgbClr val="FFFFFF"/>
                </a:solidFill>
                <a:latin typeface="Inter"/>
              </a:defRPr>
            </a:pPr>
            <a:r>
              <a:rPr>
                <a:latin typeface="Inter"/>
              </a:rPr>
              <a:t>2 of 4 · Partial</a:t>
            </a:r>
          </a:p>
        </p:txBody>
      </p:sp>
      <p:sp>
        <p:nvSpPr>
          <p:cNvPr id="22" name="TextBox 21"/>
          <p:cNvSpPr txBox="1"/>
          <p:nvPr/>
        </p:nvSpPr>
        <p:spPr>
          <a:xfrm>
            <a:off x="685800" y="6400800"/>
            <a:ext cx="8046720" cy="146304"/>
          </a:xfrm>
          <a:prstGeom prst="rect">
            <a:avLst/>
          </a:prstGeom>
          <a:noFill/>
        </p:spPr>
        <p:txBody>
          <a:bodyPr wrap="none" lIns="9144" rIns="9144" tIns="9144" bIns="9144" anchor="t">
            <a:spAutoFit/>
          </a:bodyPr>
          <a:lstStyle/>
          <a:p>
            <a:pPr algn="l">
              <a:spcAft>
                <a:spcPts val="0"/>
              </a:spcAft>
              <a:defRPr sz="700" b="0">
                <a:solidFill>
                  <a:srgbClr val="8A94A1"/>
                </a:solidFill>
                <a:latin typeface="Inter"/>
              </a:defRPr>
            </a:pPr>
            <a:r>
              <a:rPr>
                <a:latin typeface="Inter"/>
              </a:rPr>
              <a:t>Confidential — Investment Committee</a:t>
            </a:r>
          </a:p>
        </p:txBody>
      </p:sp>
      <p:sp>
        <p:nvSpPr>
          <p:cNvPr id="23" name="TextBox 22"/>
          <p:cNvSpPr txBox="1"/>
          <p:nvPr/>
        </p:nvSpPr>
        <p:spPr>
          <a:xfrm>
            <a:off x="685800" y="6556248"/>
            <a:ext cx="8046720" cy="128016"/>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Illustrative sample · not client data</a:t>
            </a:r>
          </a:p>
        </p:txBody>
      </p:sp>
      <p:sp>
        <p:nvSpPr>
          <p:cNvPr id="24" name="TextBox 23"/>
          <p:cNvSpPr txBox="1"/>
          <p:nvPr/>
        </p:nvSpPr>
        <p:spPr>
          <a:xfrm>
            <a:off x="8778240" y="6473952"/>
            <a:ext cx="2743200" cy="182880"/>
          </a:xfrm>
          <a:prstGeom prst="rect">
            <a:avLst/>
          </a:prstGeom>
          <a:noFill/>
        </p:spPr>
        <p:txBody>
          <a:bodyPr wrap="none" lIns="9144" rIns="9144" tIns="9144" bIns="9144" anchor="t">
            <a:spAutoFit/>
          </a:bodyPr>
          <a:lstStyle/>
          <a:p>
            <a:pPr algn="r">
              <a:spcAft>
                <a:spcPts val="0"/>
              </a:spcAft>
              <a:defRPr sz="700" b="0">
                <a:solidFill>
                  <a:srgbClr val="8A94A1"/>
                </a:solidFill>
                <a:latin typeface="Inter"/>
              </a:defRPr>
            </a:pPr>
            <a:r>
              <a:rPr>
                <a:latin typeface="Inter"/>
              </a:rPr>
              <a:t>GradientCIO.com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TWO GOVERNED LANES ARE AVAILABLE WITHOUT SERVER COMPARISON METRICS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Executive Comparison</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9" name="Rectangle 8"/>
          <p:cNvSpPr/>
          <p:nvPr/>
        </p:nvSpPr>
        <p:spPr>
          <a:xfrm>
            <a:off x="640080" y="1325880"/>
            <a:ext cx="10908792" cy="179336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179336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Bottom line</a:t>
            </a:r>
          </a:p>
        </p:txBody>
      </p:sp>
      <p:sp>
        <p:nvSpPr>
          <p:cNvPr id="12" name="TextBox 11"/>
          <p:cNvSpPr txBox="1"/>
          <p:nvPr/>
        </p:nvSpPr>
        <p:spPr>
          <a:xfrm>
            <a:off x="804671" y="1719072"/>
            <a:ext cx="10616184" cy="130873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Realized shortfall comes from selection; expected gain comes from selection; Alternatives drives both [S2][S3].</a:t>
            </a:r>
          </a:p>
        </p:txBody>
      </p:sp>
      <p:sp>
        <p:nvSpPr>
          <p:cNvPr id="13" name="Rectangle 12"/>
          <p:cNvSpPr/>
          <p:nvPr/>
        </p:nvSpPr>
        <p:spPr>
          <a:xfrm>
            <a:off x="640080" y="3228975"/>
            <a:ext cx="2644902" cy="2988945"/>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Rectangle 13"/>
          <p:cNvSpPr/>
          <p:nvPr/>
        </p:nvSpPr>
        <p:spPr>
          <a:xfrm>
            <a:off x="640080" y="3228975"/>
            <a:ext cx="2644902" cy="45720"/>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749808" y="3356991"/>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HISTORICAL LANE</a:t>
            </a:r>
          </a:p>
        </p:txBody>
      </p:sp>
      <p:sp>
        <p:nvSpPr>
          <p:cNvPr id="16" name="TextBox 15"/>
          <p:cNvSpPr txBox="1"/>
          <p:nvPr/>
        </p:nvSpPr>
        <p:spPr>
          <a:xfrm>
            <a:off x="749808" y="3613023"/>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Available</a:t>
            </a:r>
          </a:p>
        </p:txBody>
      </p:sp>
      <p:sp>
        <p:nvSpPr>
          <p:cNvPr id="17" name="TextBox 16"/>
          <p:cNvSpPr txBox="1"/>
          <p:nvPr/>
        </p:nvSpPr>
        <p:spPr>
          <a:xfrm>
            <a:off x="749808" y="5888736"/>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Realized 12 months · 2025-10-31 to 2026-09-30 [S2]</a:t>
            </a:r>
          </a:p>
        </p:txBody>
      </p:sp>
      <p:sp>
        <p:nvSpPr>
          <p:cNvPr id="18" name="Rectangle 17"/>
          <p:cNvSpPr/>
          <p:nvPr/>
        </p:nvSpPr>
        <p:spPr>
          <a:xfrm>
            <a:off x="3394710" y="3228975"/>
            <a:ext cx="2644902" cy="2988945"/>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9" name="Rectangle 18"/>
          <p:cNvSpPr/>
          <p:nvPr/>
        </p:nvSpPr>
        <p:spPr>
          <a:xfrm>
            <a:off x="3394710" y="3228975"/>
            <a:ext cx="2644902" cy="45720"/>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0" name="TextBox 19"/>
          <p:cNvSpPr txBox="1"/>
          <p:nvPr/>
        </p:nvSpPr>
        <p:spPr>
          <a:xfrm>
            <a:off x="3504438" y="3356991"/>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EX ANTE LANE</a:t>
            </a:r>
          </a:p>
        </p:txBody>
      </p:sp>
      <p:sp>
        <p:nvSpPr>
          <p:cNvPr id="21" name="TextBox 20"/>
          <p:cNvSpPr txBox="1"/>
          <p:nvPr/>
        </p:nvSpPr>
        <p:spPr>
          <a:xfrm>
            <a:off x="3504438" y="3613023"/>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Available</a:t>
            </a:r>
          </a:p>
        </p:txBody>
      </p:sp>
      <p:sp>
        <p:nvSpPr>
          <p:cNvPr id="22" name="TextBox 21"/>
          <p:cNvSpPr txBox="1"/>
          <p:nvPr/>
        </p:nvSpPr>
        <p:spPr>
          <a:xfrm>
            <a:off x="3504438" y="5888736"/>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1-year expected [S3]</a:t>
            </a:r>
          </a:p>
        </p:txBody>
      </p:sp>
      <p:sp>
        <p:nvSpPr>
          <p:cNvPr id="23" name="Rectangle 22"/>
          <p:cNvSpPr/>
          <p:nvPr/>
        </p:nvSpPr>
        <p:spPr>
          <a:xfrm>
            <a:off x="6149340" y="3228975"/>
            <a:ext cx="2644902" cy="2988945"/>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4" name="Rectangle 23"/>
          <p:cNvSpPr/>
          <p:nvPr/>
        </p:nvSpPr>
        <p:spPr>
          <a:xfrm>
            <a:off x="6149340" y="3228975"/>
            <a:ext cx="2644902" cy="45720"/>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5" name="TextBox 24"/>
          <p:cNvSpPr txBox="1"/>
          <p:nvPr/>
        </p:nvSpPr>
        <p:spPr>
          <a:xfrm>
            <a:off x="6259068" y="3356991"/>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SIMULATED LANE</a:t>
            </a:r>
          </a:p>
        </p:txBody>
      </p:sp>
      <p:sp>
        <p:nvSpPr>
          <p:cNvPr id="26" name="TextBox 25"/>
          <p:cNvSpPr txBox="1"/>
          <p:nvPr/>
        </p:nvSpPr>
        <p:spPr>
          <a:xfrm>
            <a:off x="6259068" y="3613023"/>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Unavailable</a:t>
            </a:r>
          </a:p>
        </p:txBody>
      </p:sp>
      <p:sp>
        <p:nvSpPr>
          <p:cNvPr id="27" name="TextBox 26"/>
          <p:cNvSpPr txBox="1"/>
          <p:nvPr/>
        </p:nvSpPr>
        <p:spPr>
          <a:xfrm>
            <a:off x="6259068" y="5888736"/>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Not available — planned per get_gradient_capabilities [S1]</a:t>
            </a:r>
          </a:p>
        </p:txBody>
      </p:sp>
      <p:sp>
        <p:nvSpPr>
          <p:cNvPr id="28" name="Rectangle 27"/>
          <p:cNvSpPr/>
          <p:nvPr/>
        </p:nvSpPr>
        <p:spPr>
          <a:xfrm>
            <a:off x="8903970" y="3228975"/>
            <a:ext cx="2644902" cy="2988945"/>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9" name="Rectangle 28"/>
          <p:cNvSpPr/>
          <p:nvPr/>
        </p:nvSpPr>
        <p:spPr>
          <a:xfrm>
            <a:off x="8903970" y="3228975"/>
            <a:ext cx="2644902" cy="45720"/>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0" name="TextBox 29"/>
          <p:cNvSpPr txBox="1"/>
          <p:nvPr/>
        </p:nvSpPr>
        <p:spPr>
          <a:xfrm>
            <a:off x="9013698" y="3356991"/>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COMPARISON COVERAGE</a:t>
            </a:r>
          </a:p>
        </p:txBody>
      </p:sp>
      <p:sp>
        <p:nvSpPr>
          <p:cNvPr id="31" name="TextBox 30"/>
          <p:cNvSpPr txBox="1"/>
          <p:nvPr/>
        </p:nvSpPr>
        <p:spPr>
          <a:xfrm>
            <a:off x="9013698" y="3613023"/>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Fallback</a:t>
            </a:r>
          </a:p>
        </p:txBody>
      </p:sp>
      <p:sp>
        <p:nvSpPr>
          <p:cNvPr id="32" name="TextBox 31"/>
          <p:cNvSpPr txBox="1"/>
          <p:nvPr/>
        </p:nvSpPr>
        <p:spPr>
          <a:xfrm>
            <a:off x="9013698" y="5888736"/>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Not available — planned per get_gradient_capabilities [S1]</a:t>
            </a:r>
          </a:p>
        </p:txBody>
      </p:sp>
      <p:sp>
        <p:nvSpPr>
          <p:cNvPr id="33" name="Rectangle 32"/>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4" name="TextBox 33"/>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S3</a:t>
            </a:r>
          </a:p>
        </p:txBody>
      </p:sp>
      <p:sp>
        <p:nvSpPr>
          <p:cNvPr id="35" name="TextBox 34"/>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36" name="TextBox 35"/>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TWO GOVERNED LANES ARE AVAILABLE WITHOUT SERVER COMPARISON METRICS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Executive Comparison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9" name="Rectangle 8"/>
          <p:cNvSpPr/>
          <p:nvPr/>
        </p:nvSpPr>
        <p:spPr>
          <a:xfrm>
            <a:off x="640080" y="1399032"/>
            <a:ext cx="73152" cy="585216"/>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96112" y="1371600"/>
            <a:ext cx="10588752" cy="424281"/>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Realized shortfall from selection; expected gain from selection; Alternatives drives both [S2][S3].</a:t>
            </a:r>
          </a:p>
        </p:txBody>
      </p:sp>
      <p:sp>
        <p:nvSpPr>
          <p:cNvPr id="11" name="TextBox 10"/>
          <p:cNvSpPr txBox="1"/>
          <p:nvPr/>
        </p:nvSpPr>
        <p:spPr>
          <a:xfrm>
            <a:off x="896112" y="1764792"/>
            <a:ext cx="10588752" cy="256032"/>
          </a:xfrm>
          <a:prstGeom prst="rect">
            <a:avLst/>
          </a:prstGeom>
          <a:noFill/>
        </p:spPr>
        <p:txBody>
          <a:bodyPr wrap="none" lIns="9144" rIns="9144" tIns="9144" bIns="9144" anchor="t">
            <a:spAutoFit/>
          </a:bodyPr>
          <a:lstStyle/>
          <a:p>
            <a:pPr algn="l">
              <a:spcAft>
                <a:spcPts val="0"/>
              </a:spcAft>
              <a:defRPr sz="900" b="0">
                <a:solidFill>
                  <a:srgbClr val="4A5563"/>
                </a:solidFill>
                <a:latin typeface="Inter"/>
              </a:defRPr>
            </a:pPr>
            <a:r>
              <a:rPr>
                <a:latin typeface="Inter"/>
              </a:rPr>
              <a:t>Returned evidence only; no local subtraction or accumulation.</a:t>
            </a:r>
          </a:p>
        </p:txBody>
      </p:sp>
      <p:sp>
        <p:nvSpPr>
          <p:cNvPr id="12" name="TextBox 11"/>
          <p:cNvSpPr txBox="1"/>
          <p:nvPr/>
        </p:nvSpPr>
        <p:spPr>
          <a:xfrm>
            <a:off x="640080" y="2167128"/>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REALIZED SUMMARY EFFECTS</a:t>
            </a:r>
          </a:p>
        </p:txBody>
      </p:sp>
      <p:graphicFrame>
        <p:nvGraphicFramePr>
          <p:cNvPr id="13" name="Chart 12"/>
          <p:cNvGraphicFramePr>
            <a:graphicFrameLocks noGrp="1"/>
          </p:cNvGraphicFramePr>
          <p:nvPr/>
        </p:nvGraphicFramePr>
        <p:xfrm>
          <a:off x="640080" y="2441448"/>
          <a:ext cx="10908792" cy="3776472"/>
        </p:xfrm>
        <a:graphic>
          <a:graphicData uri="http://schemas.openxmlformats.org/drawingml/2006/chart">
            <c:chart xmlns:c="http://schemas.openxmlformats.org/drawingml/2006/chart" r:id="rId2"/>
          </a:graphicData>
        </a:graphic>
      </p:graphicFrame>
      <p:sp>
        <p:nvSpPr>
          <p:cNvPr id="14" name="Rectangle 13"/>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 · S3</a:t>
            </a:r>
          </a:p>
        </p:txBody>
      </p:sp>
      <p:sp>
        <p:nvSpPr>
          <p:cNvPr id="16" name="TextBox 15"/>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17" name="TextBox 16"/>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TWO GOVERNED LANES ARE AVAILABLE WITHOUT SERVER COMPARISON METRICS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Executive Comparison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EXPECTED SUMMARY EFFECTS</a:t>
            </a:r>
          </a:p>
        </p:txBody>
      </p:sp>
      <p:graphicFrame>
        <p:nvGraphicFramePr>
          <p:cNvPr id="10" name="Chart 9"/>
          <p:cNvGraphicFramePr>
            <a:graphicFrameLocks noGrp="1"/>
          </p:cNvGraphicFramePr>
          <p:nvPr/>
        </p:nvGraphicFramePr>
        <p:xfrm>
          <a:off x="640080" y="1600200"/>
          <a:ext cx="10908792" cy="2705099"/>
        </p:xfrm>
        <a:graphic>
          <a:graphicData uri="http://schemas.openxmlformats.org/drawingml/2006/chart">
            <c:chart xmlns:c="http://schemas.openxmlformats.org/drawingml/2006/chart" r:id="rId2"/>
          </a:graphicData>
        </a:graphic>
      </p:graphicFrame>
      <p:sp>
        <p:nvSpPr>
          <p:cNvPr id="11" name="Rectangle 10"/>
          <p:cNvSpPr/>
          <p:nvPr/>
        </p:nvSpPr>
        <p:spPr>
          <a:xfrm>
            <a:off x="640080" y="4415028"/>
            <a:ext cx="10908792" cy="846582"/>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Rectangle 11"/>
          <p:cNvSpPr/>
          <p:nvPr/>
        </p:nvSpPr>
        <p:spPr>
          <a:xfrm>
            <a:off x="640080" y="4415028"/>
            <a:ext cx="54864" cy="846582"/>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TextBox 12"/>
          <p:cNvSpPr txBox="1"/>
          <p:nvPr/>
        </p:nvSpPr>
        <p:spPr>
          <a:xfrm>
            <a:off x="804671" y="4524756"/>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Historical</a:t>
            </a:r>
          </a:p>
        </p:txBody>
      </p:sp>
      <p:sp>
        <p:nvSpPr>
          <p:cNvPr id="14" name="TextBox 13"/>
          <p:cNvSpPr txBox="1"/>
          <p:nvPr/>
        </p:nvSpPr>
        <p:spPr>
          <a:xfrm>
            <a:off x="804671" y="4808220"/>
            <a:ext cx="10616184" cy="36195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Selection is the dominant returned realized shortfall, driven by Alternatives [S2]. Why it matters: It bridges the +2.75% benchmark return to the -3.35% portfolio return. Uncertainty: One realized window may not persist. What would change the view: A later governed period with a different returned selection effect.</a:t>
            </a:r>
          </a:p>
        </p:txBody>
      </p:sp>
      <p:sp>
        <p:nvSpPr>
          <p:cNvPr id="15" name="Rectangle 14"/>
          <p:cNvSpPr/>
          <p:nvPr/>
        </p:nvSpPr>
        <p:spPr>
          <a:xfrm>
            <a:off x="640080" y="5371338"/>
            <a:ext cx="10908792" cy="846582"/>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6" name="Rectangle 15"/>
          <p:cNvSpPr/>
          <p:nvPr/>
        </p:nvSpPr>
        <p:spPr>
          <a:xfrm>
            <a:off x="640080" y="5371338"/>
            <a:ext cx="54864" cy="846582"/>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TextBox 16"/>
          <p:cNvSpPr txBox="1"/>
          <p:nvPr/>
        </p:nvSpPr>
        <p:spPr>
          <a:xfrm>
            <a:off x="804671" y="5481066"/>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Ex ante</a:t>
            </a:r>
          </a:p>
        </p:txBody>
      </p:sp>
      <p:sp>
        <p:nvSpPr>
          <p:cNvPr id="18" name="TextBox 17"/>
          <p:cNvSpPr txBox="1"/>
          <p:nvPr/>
        </p:nvSpPr>
        <p:spPr>
          <a:xfrm>
            <a:off x="804671" y="5764530"/>
            <a:ext cx="10616184" cy="36195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Selection is the dominant returned expected gain, driven by Alternatives [S3]. Why it matters: It bridges the 6.20% expected benchmark return to the 7.88% expected portfolio return. Uncertainty: Inputs are governed assumptions. What would change the view: Refreshed inputs with a different returned selection effect.</a:t>
            </a:r>
          </a:p>
        </p:txBody>
      </p:sp>
      <p:sp>
        <p:nvSpPr>
          <p:cNvPr id="19" name="Rectangle 1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0" name="TextBox 1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 · S3</a:t>
            </a:r>
          </a:p>
        </p:txBody>
      </p:sp>
      <p:sp>
        <p:nvSpPr>
          <p:cNvPr id="21" name="TextBox 2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22" name="TextBox 2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TWO GOVERNED LANES ARE AVAILABLE WITHOUT SERVER COMPARISON METRICS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Executive Comparison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9" name="Rectangle 8"/>
          <p:cNvSpPr/>
          <p:nvPr/>
        </p:nvSpPr>
        <p:spPr>
          <a:xfrm>
            <a:off x="640080" y="1325880"/>
            <a:ext cx="10908792" cy="489204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4892040"/>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Comparison</a:t>
            </a:r>
          </a:p>
        </p:txBody>
      </p:sp>
      <p:sp>
        <p:nvSpPr>
          <p:cNvPr id="12" name="TextBox 11"/>
          <p:cNvSpPr txBox="1"/>
          <p:nvPr/>
        </p:nvSpPr>
        <p:spPr>
          <a:xfrm>
            <a:off x="804671" y="1719072"/>
            <a:ext cx="10616184" cy="440740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Comparison capability is unavailable [S1]. Why it matters: Persistence cannot be assessed. Uncertainty: A future tool may return metrics. What would change the view: Published capability.</a:t>
            </a:r>
          </a:p>
        </p:txBody>
      </p:sp>
      <p:sp>
        <p:nvSpPr>
          <p:cNvPr id="13" name="Rectangle 12"/>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5" name="TextBox 14"/>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16" name="TextBox 15"/>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PORTFOLIO, BENCHMARK, COHORT AND CURRENCY IDENTIFIERS MATCH</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Scope and Compatibility</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02</a:t>
            </a:r>
          </a:p>
        </p:txBody>
      </p:sp>
      <p:sp>
        <p:nvSpPr>
          <p:cNvPr id="9" name="Rectangle 8"/>
          <p:cNvSpPr/>
          <p:nvPr/>
        </p:nvSpPr>
        <p:spPr>
          <a:xfrm>
            <a:off x="640080" y="1399032"/>
            <a:ext cx="73152" cy="1867301"/>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96112" y="1371600"/>
            <a:ext cx="10588752" cy="1005840"/>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Compatible for display-only fallback</a:t>
            </a:r>
          </a:p>
        </p:txBody>
      </p:sp>
      <p:sp>
        <p:nvSpPr>
          <p:cNvPr id="11" name="TextBox 10"/>
          <p:cNvSpPr txBox="1"/>
          <p:nvPr/>
        </p:nvSpPr>
        <p:spPr>
          <a:xfrm>
            <a:off x="896112" y="2423160"/>
            <a:ext cx="10588752" cy="604081"/>
          </a:xfrm>
          <a:prstGeom prst="rect">
            <a:avLst/>
          </a:prstGeom>
          <a:noFill/>
        </p:spPr>
        <p:txBody>
          <a:bodyPr wrap="none" lIns="9144" rIns="9144" tIns="9144" bIns="9144" anchor="t">
            <a:spAutoFit/>
          </a:bodyPr>
          <a:lstStyle/>
          <a:p>
            <a:pPr algn="l">
              <a:spcAft>
                <a:spcPts val="0"/>
              </a:spcAft>
              <a:defRPr sz="900" b="0">
                <a:solidFill>
                  <a:srgbClr val="4A5563"/>
                </a:solidFill>
                <a:latin typeface="Inter"/>
              </a:defRPr>
            </a:pPr>
            <a:r>
              <a:rPr>
                <a:latin typeface="Inter"/>
              </a:rPr>
              <a:t>Portfolio, benchmark role, parent cohort and calculation currency match [S2][S3].</a:t>
            </a:r>
          </a:p>
        </p:txBody>
      </p:sp>
      <p:graphicFrame>
        <p:nvGraphicFramePr>
          <p:cNvPr id="12" name="Table 11"/>
          <p:cNvGraphicFramePr>
            <a:graphicFrameLocks noGrp="1"/>
          </p:cNvGraphicFramePr>
          <p:nvPr/>
        </p:nvGraphicFramePr>
        <p:xfrm>
          <a:off x="640080" y="3449213"/>
          <a:ext cx="10908792" cy="2768706"/>
        </p:xfrm>
        <a:graphic>
          <a:graphicData uri="http://schemas.openxmlformats.org/drawingml/2006/table">
            <a:tbl>
              <a:tblPr firstRow="1" bandRow="1">
                <a:tableStyleId>{5C22544A-7EE6-4342-B048-85BDC9FD1C3A}</a:tableStyleId>
              </a:tblPr>
              <a:tblGrid>
                <a:gridCol w="2011680"/>
                <a:gridCol w="4448556"/>
                <a:gridCol w="4448556"/>
              </a:tblGrid>
              <a:tr h="1384353">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1384353">
                <a:tc>
                  <a:txBody>
                    <a:bodyPr/>
                    <a:lstStyle/>
                    <a:p>
                      <a:pPr>
                        <a:defRPr sz="800" b="1">
                          <a:solidFill>
                            <a:srgbClr val="0D1117"/>
                          </a:solidFill>
                          <a:latin typeface="Inter"/>
                        </a:defRPr>
                      </a:pPr>
                      <a:r>
                        <a:rPr>
                          <a:latin typeface="Inter"/>
                        </a:rPr>
                        <a:t>Compatibility gate</a:t>
                      </a:r>
                    </a:p>
                  </a:txBody>
                  <a:tcPr marL="54864" marR="54864" marT="27432" marB="27432" anchor="ctr">
                    <a:solidFill>
                      <a:srgbClr val="FFFFFF"/>
                    </a:solidFill>
                  </a:tcPr>
                </a:tc>
                <a:tc>
                  <a:txBody>
                    <a:bodyPr/>
                    <a:lstStyle/>
                    <a:p>
                      <a:pPr>
                        <a:defRPr sz="800" b="1">
                          <a:solidFill>
                            <a:srgbClr val="C6F432"/>
                          </a:solidFill>
                          <a:latin typeface="Inter"/>
                        </a:defRPr>
                      </a:pPr>
                      <a:r>
                        <a:rPr>
                          <a:latin typeface="Inter"/>
                        </a:rPr>
                        <a:t>●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Four identifiers match [S2][S3]</a:t>
                      </a:r>
                    </a:p>
                  </a:txBody>
                  <a:tcPr marL="54864" marR="54864" marT="27432" marB="27432" anchor="ctr">
                    <a:solidFill>
                      <a:srgbClr val="FFFFFF"/>
                    </a:solidFill>
                  </a:tcPr>
                </a:tc>
              </a:tr>
            </a:tbl>
          </a:graphicData>
        </a:graphic>
      </p:graphicFrame>
      <p:sp>
        <p:nvSpPr>
          <p:cNvPr id="13" name="Rectangle 12"/>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 · S3</a:t>
            </a:r>
          </a:p>
        </p:txBody>
      </p:sp>
      <p:sp>
        <p:nvSpPr>
          <p:cNvPr id="15" name="TextBox 14"/>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16" name="TextBox 15"/>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REALIZED EFFECTS ARE SHOWN WITHOUT RECALCULATION</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Historical Attribution</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9" name="TextBox 8"/>
          <p:cNvSpPr txBox="1"/>
          <p:nvPr/>
        </p:nvSpPr>
        <p:spPr>
          <a:xfrm>
            <a:off x="64008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HISTORICAL EFFECTS BY SEGMENT</a:t>
            </a:r>
          </a:p>
        </p:txBody>
      </p:sp>
      <p:graphicFrame>
        <p:nvGraphicFramePr>
          <p:cNvPr id="10" name="Chart 9"/>
          <p:cNvGraphicFramePr>
            <a:graphicFrameLocks noGrp="1"/>
          </p:cNvGraphicFramePr>
          <p:nvPr/>
        </p:nvGraphicFramePr>
        <p:xfrm>
          <a:off x="640080" y="1600200"/>
          <a:ext cx="5239512" cy="4617720"/>
        </p:xfrm>
        <a:graphic>
          <a:graphicData uri="http://schemas.openxmlformats.org/drawingml/2006/chart">
            <c:chart xmlns:c="http://schemas.openxmlformats.org/drawingml/2006/chart" r:id="rId2"/>
          </a:graphicData>
        </a:graphic>
      </p:graphicFrame>
      <p:sp>
        <p:nvSpPr>
          <p:cNvPr id="11" name="Rectangle 10"/>
          <p:cNvSpPr/>
          <p:nvPr/>
        </p:nvSpPr>
        <p:spPr>
          <a:xfrm>
            <a:off x="6080760" y="1325880"/>
            <a:ext cx="9144" cy="4892040"/>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30936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HISTORICAL PORTFOLIO AND BENCHMARK AVERAGE WEIGHTS</a:t>
            </a:r>
          </a:p>
        </p:txBody>
      </p:sp>
      <p:graphicFrame>
        <p:nvGraphicFramePr>
          <p:cNvPr id="13" name="Chart 12"/>
          <p:cNvGraphicFramePr>
            <a:graphicFrameLocks noGrp="1"/>
          </p:cNvGraphicFramePr>
          <p:nvPr/>
        </p:nvGraphicFramePr>
        <p:xfrm>
          <a:off x="6309360" y="1600200"/>
          <a:ext cx="5239512" cy="4617720"/>
        </p:xfrm>
        <a:graphic>
          <a:graphicData uri="http://schemas.openxmlformats.org/drawingml/2006/chart">
            <c:chart xmlns:c="http://schemas.openxmlformats.org/drawingml/2006/chart" r:id="rId3"/>
          </a:graphicData>
        </a:graphic>
      </p:graphicFrame>
      <p:sp>
        <p:nvSpPr>
          <p:cNvPr id="14" name="Rectangle 13"/>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a:t>
            </a:r>
          </a:p>
        </p:txBody>
      </p:sp>
      <p:sp>
        <p:nvSpPr>
          <p:cNvPr id="16" name="TextBox 15"/>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17" name="TextBox 16"/>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REALIZED EFFECTS ARE SHOWN WITHOUT RECALCULATION</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Historical Attribution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9" name="TextBox 8"/>
          <p:cNvSpPr txBox="1"/>
          <p:nvPr/>
        </p:nvSpPr>
        <p:spPr>
          <a:xfrm>
            <a:off x="64008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CUMULATIVE LINKED EFFECTS</a:t>
            </a:r>
          </a:p>
        </p:txBody>
      </p:sp>
      <p:graphicFrame>
        <p:nvGraphicFramePr>
          <p:cNvPr id="10" name="Chart 9"/>
          <p:cNvGraphicFramePr>
            <a:graphicFrameLocks noGrp="1"/>
          </p:cNvGraphicFramePr>
          <p:nvPr/>
        </p:nvGraphicFramePr>
        <p:xfrm>
          <a:off x="640080" y="1600200"/>
          <a:ext cx="5239512" cy="4617720"/>
        </p:xfrm>
        <a:graphic>
          <a:graphicData uri="http://schemas.openxmlformats.org/drawingml/2006/chart">
            <c:chart xmlns:c="http://schemas.openxmlformats.org/drawingml/2006/chart" r:id="rId2"/>
          </a:graphicData>
        </a:graphic>
      </p:graphicFrame>
      <p:sp>
        <p:nvSpPr>
          <p:cNvPr id="11" name="Rectangle 10"/>
          <p:cNvSpPr/>
          <p:nvPr/>
        </p:nvSpPr>
        <p:spPr>
          <a:xfrm>
            <a:off x="6080760" y="1325880"/>
            <a:ext cx="9144" cy="4892040"/>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30936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CUMULATIVE ALTERNATIVES SELECTION</a:t>
            </a:r>
          </a:p>
        </p:txBody>
      </p:sp>
      <p:graphicFrame>
        <p:nvGraphicFramePr>
          <p:cNvPr id="13" name="Chart 12"/>
          <p:cNvGraphicFramePr>
            <a:graphicFrameLocks noGrp="1"/>
          </p:cNvGraphicFramePr>
          <p:nvPr/>
        </p:nvGraphicFramePr>
        <p:xfrm>
          <a:off x="6309360" y="1600200"/>
          <a:ext cx="5239512" cy="2684907"/>
        </p:xfrm>
        <a:graphic>
          <a:graphicData uri="http://schemas.openxmlformats.org/drawingml/2006/chart">
            <c:chart xmlns:c="http://schemas.openxmlformats.org/drawingml/2006/chart" r:id="rId3"/>
          </a:graphicData>
        </a:graphic>
      </p:graphicFrame>
      <p:sp>
        <p:nvSpPr>
          <p:cNvPr id="14" name="Rectangle 13"/>
          <p:cNvSpPr/>
          <p:nvPr/>
        </p:nvSpPr>
        <p:spPr>
          <a:xfrm>
            <a:off x="6309360" y="4394834"/>
            <a:ext cx="5239512" cy="68580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Rectangle 14"/>
          <p:cNvSpPr/>
          <p:nvPr/>
        </p:nvSpPr>
        <p:spPr>
          <a:xfrm>
            <a:off x="6309360" y="4394834"/>
            <a:ext cx="54864" cy="685800"/>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6" name="TextBox 15"/>
          <p:cNvSpPr txBox="1"/>
          <p:nvPr/>
        </p:nvSpPr>
        <p:spPr>
          <a:xfrm>
            <a:off x="6473952" y="4504563"/>
            <a:ext cx="494690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Returned cumulative growth context</a:t>
            </a:r>
          </a:p>
        </p:txBody>
      </p:sp>
      <p:sp>
        <p:nvSpPr>
          <p:cNvPr id="17" name="TextBox 16"/>
          <p:cNvSpPr txBox="1"/>
          <p:nvPr/>
        </p:nvSpPr>
        <p:spPr>
          <a:xfrm>
            <a:off x="6473952" y="4788026"/>
            <a:ext cx="4946904" cy="22860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Not available — cumulative_growth was not returned.</a:t>
            </a:r>
          </a:p>
        </p:txBody>
      </p:sp>
      <p:sp>
        <p:nvSpPr>
          <p:cNvPr id="18" name="Rectangle 17"/>
          <p:cNvSpPr/>
          <p:nvPr/>
        </p:nvSpPr>
        <p:spPr>
          <a:xfrm>
            <a:off x="6309360" y="5190363"/>
            <a:ext cx="5239512" cy="10275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9" name="Rectangle 18"/>
          <p:cNvSpPr/>
          <p:nvPr/>
        </p:nvSpPr>
        <p:spPr>
          <a:xfrm>
            <a:off x="6309360" y="5190363"/>
            <a:ext cx="54864" cy="102755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0" name="TextBox 19"/>
          <p:cNvSpPr txBox="1"/>
          <p:nvPr/>
        </p:nvSpPr>
        <p:spPr>
          <a:xfrm>
            <a:off x="6473952" y="5300091"/>
            <a:ext cx="494690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Selection leads detractors</a:t>
            </a:r>
          </a:p>
        </p:txBody>
      </p:sp>
      <p:sp>
        <p:nvSpPr>
          <p:cNvPr id="21" name="TextBox 20"/>
          <p:cNvSpPr txBox="1"/>
          <p:nvPr/>
        </p:nvSpPr>
        <p:spPr>
          <a:xfrm>
            <a:off x="6473952" y="5583554"/>
            <a:ext cx="4946904" cy="542925"/>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Returned selection is the -5.40pp dominant realized shortfall and Alternatives contributes -4.85pp [S2]. Why it matters: Selection drives the returned bridge from +2.75% benchmark return to -3.35%…</a:t>
            </a:r>
          </a:p>
        </p:txBody>
      </p:sp>
      <p:sp>
        <p:nvSpPr>
          <p:cNvPr id="22" name="Rectangle 21"/>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3" name="TextBox 22"/>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a:t>
            </a:r>
          </a:p>
        </p:txBody>
      </p:sp>
      <p:sp>
        <p:nvSpPr>
          <p:cNvPr id="24" name="TextBox 23"/>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25" name="TextBox 24"/>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REALIZED EFFECTS ARE SHOWN WITHOUT RECALCULATION</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Historical Attribution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9" name="Rectangle 8"/>
          <p:cNvSpPr/>
          <p:nvPr/>
        </p:nvSpPr>
        <p:spPr>
          <a:xfrm>
            <a:off x="640080" y="1325880"/>
            <a:ext cx="10908792" cy="489204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489204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Benchmark and excess boundary</a:t>
            </a:r>
          </a:p>
        </p:txBody>
      </p:sp>
      <p:sp>
        <p:nvSpPr>
          <p:cNvPr id="12" name="TextBox 11"/>
          <p:cNvSpPr txBox="1"/>
          <p:nvPr/>
        </p:nvSpPr>
        <p:spPr>
          <a:xfrm>
            <a:off x="804671" y="1719072"/>
            <a:ext cx="10616184" cy="440740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Returned diagnostics.entity_return_reconciliation keeps attribution-summary excess against the linked segment benchmark composite separate from historical-return excess against the policy benchmark entity [S2].</a:t>
            </a:r>
          </a:p>
        </p:txBody>
      </p:sp>
      <p:sp>
        <p:nvSpPr>
          <p:cNvPr id="13" name="Rectangle 12"/>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a:t>
            </a:r>
          </a:p>
        </p:txBody>
      </p:sp>
      <p:sp>
        <p:nvSpPr>
          <p:cNvPr id="15" name="TextBox 14"/>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16" name="TextBox 15"/>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EXPECTED EFFECTS ARE SHOWN AS ASSUMPTIONS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Governed Ex Ante Attribution</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EXPECTED EFFECTS BY SEGMENT</a:t>
            </a:r>
          </a:p>
        </p:txBody>
      </p:sp>
      <p:graphicFrame>
        <p:nvGraphicFramePr>
          <p:cNvPr id="10" name="Chart 9"/>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1" name="Rectangle 1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S3</a:t>
            </a:r>
          </a:p>
        </p:txBody>
      </p:sp>
      <p:sp>
        <p:nvSpPr>
          <p:cNvPr id="13" name="TextBox 1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14" name="TextBox 1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EXPECTED EFFECTS ARE SHOWN AS ASSUMPTIONS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Governed Ex Ante Attribution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EX ANTE ASSUMPTIONS</a:t>
            </a:r>
          </a:p>
        </p:txBody>
      </p:sp>
      <p:graphicFrame>
        <p:nvGraphicFramePr>
          <p:cNvPr id="10" name="Table 9"/>
          <p:cNvGraphicFramePr>
            <a:graphicFrameLocks noGrp="1"/>
          </p:cNvGraphicFramePr>
          <p:nvPr/>
        </p:nvGraphicFramePr>
        <p:xfrm>
          <a:off x="640080" y="1600200"/>
          <a:ext cx="10908792" cy="4617720"/>
        </p:xfrm>
        <a:graphic>
          <a:graphicData uri="http://schemas.openxmlformats.org/drawingml/2006/table">
            <a:tbl>
              <a:tblPr firstRow="1" bandRow="1">
                <a:tableStyleId>{5C22544A-7EE6-4342-B048-85BDC9FD1C3A}</a:tableStyleId>
              </a:tblPr>
              <a:tblGrid>
                <a:gridCol w="2011680"/>
                <a:gridCol w="8897112"/>
              </a:tblGrid>
              <a:tr h="923544">
                <a:tc>
                  <a:txBody>
                    <a:bodyPr/>
                    <a:lstStyle/>
                    <a:p>
                      <a:pPr>
                        <a:defRPr sz="800" b="1">
                          <a:solidFill>
                            <a:srgbClr val="0D1117"/>
                          </a:solidFill>
                          <a:latin typeface="Inter"/>
                        </a:defRPr>
                      </a:pPr>
                      <a:r>
                        <a:rPr>
                          <a:latin typeface="Inter"/>
                        </a:rPr>
                        <a:t>assumption_set_name</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2026 Strategic CMA [S3]</a:t>
                      </a:r>
                    </a:p>
                  </a:txBody>
                  <a:tcPr marL="54864" marR="54864" marT="27432" marB="27432" anchor="ctr">
                    <a:solidFill>
                      <a:srgbClr val="FFFFFF"/>
                    </a:solidFill>
                  </a:tcPr>
                </a:tc>
              </a:tr>
              <a:tr h="923544">
                <a:tc>
                  <a:txBody>
                    <a:bodyPr/>
                    <a:lstStyle/>
                    <a:p>
                      <a:pPr>
                        <a:defRPr sz="800" b="1">
                          <a:solidFill>
                            <a:srgbClr val="0D1117"/>
                          </a:solidFill>
                          <a:latin typeface="Inter"/>
                        </a:defRPr>
                      </a:pPr>
                      <a:r>
                        <a:rPr>
                          <a:latin typeface="Inter"/>
                        </a:rPr>
                        <a:t>regime_name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user-defined regime [S3]</a:t>
                      </a:r>
                    </a:p>
                  </a:txBody>
                  <a:tcPr marL="54864" marR="54864" marT="27432" marB="27432" anchor="ctr">
                    <a:solidFill>
                      <a:srgbClr val="F5F7F9"/>
                    </a:solidFill>
                  </a:tcPr>
                </a:tc>
              </a:tr>
              <a:tr h="923544">
                <a:tc>
                  <a:txBody>
                    <a:bodyPr/>
                    <a:lstStyle/>
                    <a:p>
                      <a:pPr>
                        <a:defRPr sz="800" b="1">
                          <a:solidFill>
                            <a:srgbClr val="0D1117"/>
                          </a:solidFill>
                          <a:latin typeface="Inter"/>
                        </a:defRPr>
                      </a:pPr>
                      <a:r>
                        <a:rPr>
                          <a:latin typeface="Inter"/>
                        </a:rPr>
                        <a:t>horizon</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1 year [S3]</a:t>
                      </a:r>
                    </a:p>
                  </a:txBody>
                  <a:tcPr marL="54864" marR="54864" marT="27432" marB="27432" anchor="ctr">
                    <a:solidFill>
                      <a:srgbClr val="FFFFFF"/>
                    </a:solidFill>
                  </a:tcPr>
                </a:tc>
              </a:tr>
              <a:tr h="923544">
                <a:tc>
                  <a:txBody>
                    <a:bodyPr/>
                    <a:lstStyle/>
                    <a:p>
                      <a:pPr>
                        <a:defRPr sz="800" b="1">
                          <a:solidFill>
                            <a:srgbClr val="0D1117"/>
                          </a:solidFill>
                          <a:latin typeface="Inter"/>
                        </a:defRPr>
                      </a:pPr>
                      <a:r>
                        <a:rPr>
                          <a:latin typeface="Inter"/>
                        </a:rPr>
                        <a:t>portfolio_return_source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allocation_expected_return_base [S3]</a:t>
                      </a:r>
                    </a:p>
                  </a:txBody>
                  <a:tcPr marL="54864" marR="54864" marT="27432" marB="27432" anchor="ctr">
                    <a:solidFill>
                      <a:srgbClr val="F5F7F9"/>
                    </a:solidFill>
                  </a:tcPr>
                </a:tc>
              </a:tr>
              <a:tr h="923544">
                <a:tc>
                  <a:txBody>
                    <a:bodyPr/>
                    <a:lstStyle/>
                    <a:p>
                      <a:pPr>
                        <a:defRPr sz="800" b="1">
                          <a:solidFill>
                            <a:srgbClr val="0D1117"/>
                          </a:solidFill>
                          <a:latin typeface="Inter"/>
                        </a:defRPr>
                      </a:pPr>
                      <a:r>
                        <a:rPr>
                          <a:latin typeface="Inter"/>
                        </a:rPr>
                        <a:t>benchmark_return_source</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benchmark_expected_return_base [S3]</a:t>
                      </a:r>
                    </a:p>
                  </a:txBody>
                  <a:tcPr marL="54864" marR="54864" marT="27432" marB="27432" anchor="ctr">
                    <a:solidFill>
                      <a:srgbClr val="FFFFFF"/>
                    </a:solidFill>
                  </a:tcPr>
                </a:tc>
              </a:tr>
            </a:tbl>
          </a:graphicData>
        </a:graphic>
      </p:graphicFrame>
      <p:sp>
        <p:nvSpPr>
          <p:cNvPr id="11" name="Rectangle 1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S3</a:t>
            </a:r>
          </a:p>
        </p:txBody>
      </p:sp>
      <p:sp>
        <p:nvSpPr>
          <p:cNvPr id="13" name="TextBox 1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14" name="TextBox 1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EXPECTED EFFECTS ARE SHOWN AS ASSUMPTIONS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Governed Ex Ante Attribution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EXPECTED PORTFOLIO AND BENCHMARK RETURNS</a:t>
            </a:r>
          </a:p>
        </p:txBody>
      </p:sp>
      <p:graphicFrame>
        <p:nvGraphicFramePr>
          <p:cNvPr id="10" name="Chart 9"/>
          <p:cNvGraphicFramePr>
            <a:graphicFrameLocks noGrp="1"/>
          </p:cNvGraphicFramePr>
          <p:nvPr/>
        </p:nvGraphicFramePr>
        <p:xfrm>
          <a:off x="640080" y="1600200"/>
          <a:ext cx="10908792" cy="3661410"/>
        </p:xfrm>
        <a:graphic>
          <a:graphicData uri="http://schemas.openxmlformats.org/drawingml/2006/chart">
            <c:chart xmlns:c="http://schemas.openxmlformats.org/drawingml/2006/chart" r:id="rId2"/>
          </a:graphicData>
        </a:graphic>
      </p:graphicFrame>
      <p:sp>
        <p:nvSpPr>
          <p:cNvPr id="11" name="Rectangle 10"/>
          <p:cNvSpPr/>
          <p:nvPr/>
        </p:nvSpPr>
        <p:spPr>
          <a:xfrm>
            <a:off x="640080" y="5371338"/>
            <a:ext cx="10908792" cy="846582"/>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Rectangle 11"/>
          <p:cNvSpPr/>
          <p:nvPr/>
        </p:nvSpPr>
        <p:spPr>
          <a:xfrm>
            <a:off x="640080" y="5371338"/>
            <a:ext cx="54864" cy="846582"/>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TextBox 12"/>
          <p:cNvSpPr txBox="1"/>
          <p:nvPr/>
        </p:nvSpPr>
        <p:spPr>
          <a:xfrm>
            <a:off x="804671" y="5481066"/>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Selection leads expectations</a:t>
            </a:r>
          </a:p>
        </p:txBody>
      </p:sp>
      <p:sp>
        <p:nvSpPr>
          <p:cNvPr id="14" name="TextBox 13"/>
          <p:cNvSpPr txBox="1"/>
          <p:nvPr/>
        </p:nvSpPr>
        <p:spPr>
          <a:xfrm>
            <a:off x="804671" y="5764530"/>
            <a:ext cx="10616184" cy="36195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Returned selection is the +1.25pp dominant expected gain and Alternatives contributes +1.05pp [S3]. Why it matters: Selection drives the returned bridge from 6.20% expected benchmark return to…</a:t>
            </a:r>
          </a:p>
        </p:txBody>
      </p:sp>
      <p:sp>
        <p:nvSpPr>
          <p:cNvPr id="15" name="Rectangle 14"/>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6" name="TextBox 15"/>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S3</a:t>
            </a:r>
          </a:p>
        </p:txBody>
      </p:sp>
      <p:sp>
        <p:nvSpPr>
          <p:cNvPr id="17" name="TextBox 16"/>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18" name="TextBox 17"/>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SIMULATION CAPABILITY IS PLANNED</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Simulated Attribution</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05</a:t>
            </a:r>
          </a:p>
        </p:txBody>
      </p:sp>
      <p:sp>
        <p:nvSpPr>
          <p:cNvPr id="9" name="Rectangle 8"/>
          <p:cNvSpPr/>
          <p:nvPr/>
        </p:nvSpPr>
        <p:spPr>
          <a:xfrm>
            <a:off x="640080" y="1325880"/>
            <a:ext cx="10908792" cy="1053702"/>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1053702"/>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Not available</a:t>
            </a:r>
          </a:p>
        </p:txBody>
      </p:sp>
      <p:sp>
        <p:nvSpPr>
          <p:cNvPr id="12" name="TextBox 11"/>
          <p:cNvSpPr txBox="1"/>
          <p:nvPr/>
        </p:nvSpPr>
        <p:spPr>
          <a:xfrm>
            <a:off x="804671" y="1719072"/>
            <a:ext cx="10616184" cy="56907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Not available — planned per get_gradient_capabilities [S1].</a:t>
            </a:r>
          </a:p>
        </p:txBody>
      </p:sp>
      <p:graphicFrame>
        <p:nvGraphicFramePr>
          <p:cNvPr id="13" name="Table 12"/>
          <p:cNvGraphicFramePr>
            <a:graphicFrameLocks noGrp="1"/>
          </p:cNvGraphicFramePr>
          <p:nvPr/>
        </p:nvGraphicFramePr>
        <p:xfrm>
          <a:off x="640080" y="2489310"/>
          <a:ext cx="10908792" cy="2318144"/>
        </p:xfrm>
        <a:graphic>
          <a:graphicData uri="http://schemas.openxmlformats.org/drawingml/2006/table">
            <a:tbl>
              <a:tblPr firstRow="1" bandRow="1">
                <a:tableStyleId>{5C22544A-7EE6-4342-B048-85BDC9FD1C3A}</a:tableStyleId>
              </a:tblPr>
              <a:tblGrid>
                <a:gridCol w="2011680"/>
                <a:gridCol w="4448556"/>
                <a:gridCol w="4448556"/>
              </a:tblGrid>
              <a:tr h="772714">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772714">
                <a:tc>
                  <a:txBody>
                    <a:bodyPr/>
                    <a:lstStyle/>
                    <a:p>
                      <a:pPr>
                        <a:defRPr sz="800" b="1">
                          <a:solidFill>
                            <a:srgbClr val="0D1117"/>
                          </a:solidFill>
                          <a:latin typeface="Inter"/>
                        </a:defRPr>
                      </a:pPr>
                      <a:r>
                        <a:rPr>
                          <a:latin typeface="Inter"/>
                        </a:rPr>
                        <a:t>Capability</a:t>
                      </a:r>
                    </a:p>
                  </a:txBody>
                  <a:tcPr marL="54864" marR="54864" marT="27432" marB="27432" anchor="ctr">
                    <a:solidFill>
                      <a:srgbClr val="FFFFFF"/>
                    </a:solidFill>
                  </a:tcPr>
                </a:tc>
                <a:tc>
                  <a:txBody>
                    <a:bodyPr/>
                    <a:lstStyle/>
                    <a:p>
                      <a:pPr>
                        <a:defRPr sz="800" b="1">
                          <a:solidFill>
                            <a:srgbClr val="FF6B5E"/>
                          </a:solidFill>
                          <a:latin typeface="Inter"/>
                        </a:defRPr>
                      </a:pPr>
                      <a:r>
                        <a:rPr>
                          <a:latin typeface="Inter"/>
                        </a:rPr>
                        <a:t>● unavailable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Planned per capability source [S1]</a:t>
                      </a:r>
                    </a:p>
                  </a:txBody>
                  <a:tcPr marL="54864" marR="54864" marT="27432" marB="27432" anchor="ctr">
                    <a:solidFill>
                      <a:srgbClr val="FFFFFF"/>
                    </a:solidFill>
                  </a:tcPr>
                </a:tc>
              </a:tr>
              <a:tr h="772716">
                <a:tc>
                  <a:txBody>
                    <a:bodyPr/>
                    <a:lstStyle/>
                    <a:p>
                      <a:pPr>
                        <a:defRPr sz="800" b="1">
                          <a:solidFill>
                            <a:srgbClr val="0D1117"/>
                          </a:solidFill>
                          <a:latin typeface="Inter"/>
                        </a:defRPr>
                      </a:pPr>
                      <a:r>
                        <a:rPr>
                          <a:latin typeface="Inter"/>
                        </a:rPr>
                        <a:t>Invocation</a:t>
                      </a:r>
                    </a:p>
                  </a:txBody>
                  <a:tcPr marL="54864" marR="54864" marT="27432" marB="27432" anchor="ctr">
                    <a:solidFill>
                      <a:srgbClr val="F5F7F9"/>
                    </a:solidFill>
                  </a:tcPr>
                </a:tc>
                <a:tc>
                  <a:txBody>
                    <a:bodyPr/>
                    <a:lstStyle/>
                    <a:p>
                      <a:pPr>
                        <a:defRPr sz="800" b="1">
                          <a:solidFill>
                            <a:srgbClr val="FF6B5E"/>
                          </a:solidFill>
                          <a:latin typeface="Inter"/>
                        </a:defRPr>
                      </a:pPr>
                      <a:r>
                        <a:rPr>
                          <a:latin typeface="Inter"/>
                        </a:rPr>
                        <a:t>● unavailable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Not called because capability is unavailable [S1]</a:t>
                      </a:r>
                    </a:p>
                  </a:txBody>
                  <a:tcPr marL="54864" marR="54864" marT="27432" marB="27432" anchor="ctr">
                    <a:solidFill>
                      <a:srgbClr val="F5F7F9"/>
                    </a:solidFill>
                  </a:tcPr>
                </a:tc>
              </a:tr>
            </a:tbl>
          </a:graphicData>
        </a:graphic>
      </p:graphicFrame>
      <p:sp>
        <p:nvSpPr>
          <p:cNvPr id="14" name="Rectangle 13"/>
          <p:cNvSpPr/>
          <p:nvPr/>
        </p:nvSpPr>
        <p:spPr>
          <a:xfrm>
            <a:off x="640080" y="4917183"/>
            <a:ext cx="10908792" cy="130073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Rectangle 14"/>
          <p:cNvSpPr/>
          <p:nvPr/>
        </p:nvSpPr>
        <p:spPr>
          <a:xfrm>
            <a:off x="640080" y="4917183"/>
            <a:ext cx="54864" cy="130073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6" name="TextBox 15"/>
          <p:cNvSpPr txBox="1"/>
          <p:nvPr/>
        </p:nvSpPr>
        <p:spPr>
          <a:xfrm>
            <a:off x="804671" y="502691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Simulation unavailable</a:t>
            </a:r>
          </a:p>
        </p:txBody>
      </p:sp>
      <p:sp>
        <p:nvSpPr>
          <p:cNvPr id="17" name="TextBox 16"/>
          <p:cNvSpPr txBox="1"/>
          <p:nvPr/>
        </p:nvSpPr>
        <p:spPr>
          <a:xfrm>
            <a:off x="804671" y="5310375"/>
            <a:ext cx="10616184" cy="81610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Simulation is planned per the capability source [S1]. Why it matters: Scenario effects cannot be assessed. Uncertainty: Capability readiness may change. What would change the view: A…</a:t>
            </a:r>
          </a:p>
        </p:txBody>
      </p:sp>
      <p:sp>
        <p:nvSpPr>
          <p:cNvPr id="18" name="Rectangle 17"/>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9" name="TextBox 18"/>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20" name="TextBox 19"/>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21" name="TextBox 20"/>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LANES ARE DISPLAYED WHILE COMPARISON REMAINS PLANNED</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Cross-Lane Comparison</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06</a:t>
            </a:r>
          </a:p>
        </p:txBody>
      </p:sp>
      <p:sp>
        <p:nvSpPr>
          <p:cNvPr id="9" name="Rectangle 8"/>
          <p:cNvSpPr/>
          <p:nvPr/>
        </p:nvSpPr>
        <p:spPr>
          <a:xfrm>
            <a:off x="640080" y="1325880"/>
            <a:ext cx="10908792" cy="68580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685800"/>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Not available</a:t>
            </a:r>
          </a:p>
        </p:txBody>
      </p:sp>
      <p:sp>
        <p:nvSpPr>
          <p:cNvPr id="12" name="TextBox 11"/>
          <p:cNvSpPr txBox="1"/>
          <p:nvPr/>
        </p:nvSpPr>
        <p:spPr>
          <a:xfrm>
            <a:off x="804671" y="1719072"/>
            <a:ext cx="10616184" cy="22860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Not available — planned per get_gradient_capabilities [S1].</a:t>
            </a:r>
          </a:p>
        </p:txBody>
      </p:sp>
      <p:sp>
        <p:nvSpPr>
          <p:cNvPr id="13" name="TextBox 12"/>
          <p:cNvSpPr txBox="1"/>
          <p:nvPr/>
        </p:nvSpPr>
        <p:spPr>
          <a:xfrm>
            <a:off x="640080" y="2121408"/>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RETURNED CROSS-LANE EFFECT MATRIX</a:t>
            </a:r>
          </a:p>
        </p:txBody>
      </p:sp>
      <p:graphicFrame>
        <p:nvGraphicFramePr>
          <p:cNvPr id="14" name="Table 13"/>
          <p:cNvGraphicFramePr>
            <a:graphicFrameLocks noGrp="1"/>
          </p:cNvGraphicFramePr>
          <p:nvPr/>
        </p:nvGraphicFramePr>
        <p:xfrm>
          <a:off x="640080" y="2395727"/>
          <a:ext cx="10908792" cy="3822191"/>
        </p:xfrm>
        <a:graphic>
          <a:graphicData uri="http://schemas.openxmlformats.org/drawingml/2006/table">
            <a:tbl>
              <a:tblPr firstRow="1" bandRow="1">
                <a:tableStyleId>{5C22544A-7EE6-4342-B048-85BDC9FD1C3A}</a:tableStyleId>
              </a:tblPr>
              <a:tblGrid>
                <a:gridCol w="3636264"/>
                <a:gridCol w="3636264"/>
                <a:gridCol w="3636264"/>
              </a:tblGrid>
              <a:tr h="955547">
                <a:tc>
                  <a:txBody>
                    <a:bodyPr/>
                    <a:lstStyle/>
                    <a:p>
                      <a:pPr>
                        <a:defRPr sz="700" b="1">
                          <a:solidFill>
                            <a:srgbClr val="FFFFFF"/>
                          </a:solidFill>
                          <a:latin typeface="Inter"/>
                        </a:defRPr>
                      </a:pPr>
                    </a:p>
                  </a:txBody>
                  <a:tcPr marL="54864" marR="54864" marT="27432" marB="27432" anchor="ctr">
                    <a:solidFill>
                      <a:srgbClr val="0D1117"/>
                    </a:solidFill>
                  </a:tcPr>
                </a:tc>
                <a:tc>
                  <a:txBody>
                    <a:bodyPr/>
                    <a:lstStyle/>
                    <a:p>
                      <a:pPr>
                        <a:defRPr sz="700" b="1">
                          <a:solidFill>
                            <a:srgbClr val="FFFFFF"/>
                          </a:solidFill>
                          <a:latin typeface="Inter"/>
                        </a:defRPr>
                      </a:pPr>
                      <a:r>
                        <a:rPr>
                          <a:latin typeface="Inter"/>
                        </a:rPr>
                        <a:t>Realized</a:t>
                      </a:r>
                    </a:p>
                  </a:txBody>
                  <a:tcPr marL="54864" marR="54864" marT="27432" marB="27432" anchor="ctr">
                    <a:solidFill>
                      <a:srgbClr val="0D1117"/>
                    </a:solidFill>
                  </a:tcPr>
                </a:tc>
                <a:tc>
                  <a:txBody>
                    <a:bodyPr/>
                    <a:lstStyle/>
                    <a:p>
                      <a:pPr>
                        <a:defRPr sz="700" b="1">
                          <a:solidFill>
                            <a:srgbClr val="FFFFFF"/>
                          </a:solidFill>
                          <a:latin typeface="Inter"/>
                        </a:defRPr>
                      </a:pPr>
                      <a:r>
                        <a:rPr>
                          <a:latin typeface="Inter"/>
                        </a:rPr>
                        <a:t>Expected</a:t>
                      </a:r>
                    </a:p>
                  </a:txBody>
                  <a:tcPr marL="54864" marR="54864" marT="27432" marB="27432" anchor="ctr">
                    <a:solidFill>
                      <a:srgbClr val="0D1117"/>
                    </a:solidFill>
                  </a:tcPr>
                </a:tc>
              </a:tr>
              <a:tr h="955547">
                <a:tc>
                  <a:txBody>
                    <a:bodyPr/>
                    <a:lstStyle/>
                    <a:p>
                      <a:pPr>
                        <a:defRPr sz="750" b="1">
                          <a:solidFill>
                            <a:srgbClr val="FFFFFF"/>
                          </a:solidFill>
                          <a:latin typeface="Inter"/>
                        </a:defRPr>
                      </a:pPr>
                      <a:r>
                        <a:rPr>
                          <a:latin typeface="Inter"/>
                        </a:rPr>
                        <a:t>Allocation</a:t>
                      </a:r>
                    </a:p>
                  </a:txBody>
                  <a:tcPr marL="54864" marR="54864" marT="27432" marB="27432" anchor="ctr">
                    <a:solidFill>
                      <a:srgbClr val="0D1117"/>
                    </a:solidFill>
                  </a:tcPr>
                </a:tc>
                <a:tc>
                  <a:txBody>
                    <a:bodyPr/>
                    <a:lstStyle/>
                    <a:p>
                      <a:pPr>
                        <a:defRPr sz="750" b="0">
                          <a:solidFill>
                            <a:srgbClr val="0D1117"/>
                          </a:solidFill>
                          <a:latin typeface="Inter"/>
                        </a:defRPr>
                      </a:pPr>
                      <a:r>
                        <a:rPr>
                          <a:latin typeface="Inter"/>
                        </a:rPr>
                        <a:t>0.2</a:t>
                      </a:r>
                    </a:p>
                  </a:txBody>
                  <a:tcPr marL="54864" marR="54864" marT="27432" marB="27432" anchor="ctr">
                    <a:solidFill>
                      <a:srgbClr val="CEF453"/>
                    </a:solidFill>
                  </a:tcPr>
                </a:tc>
                <a:tc>
                  <a:txBody>
                    <a:bodyPr/>
                    <a:lstStyle/>
                    <a:p>
                      <a:pPr>
                        <a:defRPr sz="750" b="0">
                          <a:solidFill>
                            <a:srgbClr val="0D1117"/>
                          </a:solidFill>
                          <a:latin typeface="Inter"/>
                        </a:defRPr>
                      </a:pPr>
                      <a:r>
                        <a:rPr>
                          <a:latin typeface="Inter"/>
                        </a:rPr>
                        <a:t>0.4</a:t>
                      </a:r>
                    </a:p>
                  </a:txBody>
                  <a:tcPr marL="54864" marR="54864" marT="27432" marB="27432" anchor="ctr">
                    <a:solidFill>
                      <a:srgbClr val="C6F432"/>
                    </a:solidFill>
                  </a:tcPr>
                </a:tc>
              </a:tr>
              <a:tr h="955547">
                <a:tc>
                  <a:txBody>
                    <a:bodyPr/>
                    <a:lstStyle/>
                    <a:p>
                      <a:pPr>
                        <a:defRPr sz="750" b="1">
                          <a:solidFill>
                            <a:srgbClr val="FFFFFF"/>
                          </a:solidFill>
                          <a:latin typeface="Inter"/>
                        </a:defRPr>
                      </a:pPr>
                      <a:r>
                        <a:rPr>
                          <a:latin typeface="Inter"/>
                        </a:rPr>
                        <a:t>Selection</a:t>
                      </a:r>
                    </a:p>
                  </a:txBody>
                  <a:tcPr marL="54864" marR="54864" marT="27432" marB="27432" anchor="ctr">
                    <a:solidFill>
                      <a:srgbClr val="0D1117"/>
                    </a:solidFill>
                  </a:tcPr>
                </a:tc>
                <a:tc>
                  <a:txBody>
                    <a:bodyPr/>
                    <a:lstStyle/>
                    <a:p>
                      <a:pPr>
                        <a:defRPr sz="750" b="0">
                          <a:solidFill>
                            <a:srgbClr val="0D1117"/>
                          </a:solidFill>
                          <a:latin typeface="Inter"/>
                        </a:defRPr>
                      </a:pPr>
                      <a:r>
                        <a:rPr>
                          <a:latin typeface="Inter"/>
                        </a:rPr>
                        <a:t>-0.8</a:t>
                      </a:r>
                    </a:p>
                  </a:txBody>
                  <a:tcPr marL="54864" marR="54864" marT="27432" marB="27432" anchor="ctr">
                    <a:solidFill>
                      <a:srgbClr val="F5F7F9"/>
                    </a:solidFill>
                  </a:tcPr>
                </a:tc>
                <a:tc>
                  <a:txBody>
                    <a:bodyPr/>
                    <a:lstStyle/>
                    <a:p>
                      <a:pPr>
                        <a:defRPr sz="750" b="0">
                          <a:solidFill>
                            <a:srgbClr val="0D1117"/>
                          </a:solidFill>
                          <a:latin typeface="Inter"/>
                        </a:defRPr>
                      </a:pPr>
                      <a:r>
                        <a:rPr>
                          <a:latin typeface="Inter"/>
                        </a:rPr>
                        <a:t>-0.1</a:t>
                      </a:r>
                    </a:p>
                  </a:txBody>
                  <a:tcPr marL="54864" marR="54864" marT="27432" marB="27432" anchor="ctr">
                    <a:solidFill>
                      <a:srgbClr val="DAF585"/>
                    </a:solidFill>
                  </a:tcPr>
                </a:tc>
              </a:tr>
              <a:tr h="955550">
                <a:tc>
                  <a:txBody>
                    <a:bodyPr/>
                    <a:lstStyle/>
                    <a:p>
                      <a:pPr>
                        <a:defRPr sz="750" b="1">
                          <a:solidFill>
                            <a:srgbClr val="FFFFFF"/>
                          </a:solidFill>
                          <a:latin typeface="Inter"/>
                        </a:defRPr>
                      </a:pPr>
                      <a:r>
                        <a:rPr>
                          <a:latin typeface="Inter"/>
                        </a:rPr>
                        <a:t>Interaction</a:t>
                      </a:r>
                    </a:p>
                  </a:txBody>
                  <a:tcPr marL="54864" marR="54864" marT="27432" marB="27432" anchor="ctr">
                    <a:solidFill>
                      <a:srgbClr val="0D1117"/>
                    </a:solidFill>
                  </a:tcPr>
                </a:tc>
                <a:tc>
                  <a:txBody>
                    <a:bodyPr/>
                    <a:lstStyle/>
                    <a:p>
                      <a:pPr>
                        <a:defRPr sz="750" b="0">
                          <a:solidFill>
                            <a:srgbClr val="0D1117"/>
                          </a:solidFill>
                          <a:latin typeface="Inter"/>
                        </a:defRPr>
                      </a:pPr>
                      <a:r>
                        <a:rPr>
                          <a:latin typeface="Inter"/>
                        </a:rPr>
                        <a:t>0.0</a:t>
                      </a:r>
                    </a:p>
                  </a:txBody>
                  <a:tcPr marL="54864" marR="54864" marT="27432" marB="27432" anchor="ctr">
                    <a:solidFill>
                      <a:srgbClr val="D6F574"/>
                    </a:solidFill>
                  </a:tcPr>
                </a:tc>
                <a:tc>
                  <a:txBody>
                    <a:bodyPr/>
                    <a:lstStyle/>
                    <a:p>
                      <a:pPr>
                        <a:defRPr sz="750" b="0">
                          <a:solidFill>
                            <a:srgbClr val="0D1117"/>
                          </a:solidFill>
                          <a:latin typeface="Inter"/>
                        </a:defRPr>
                      </a:pPr>
                      <a:r>
                        <a:rPr>
                          <a:latin typeface="Inter"/>
                        </a:rPr>
                        <a:t>0.05</a:t>
                      </a:r>
                    </a:p>
                  </a:txBody>
                  <a:tcPr marL="54864" marR="54864" marT="27432" marB="27432" anchor="ctr">
                    <a:solidFill>
                      <a:srgbClr val="D4F56C"/>
                    </a:solidFill>
                  </a:tcPr>
                </a:tc>
              </a:tr>
            </a:tbl>
          </a:graphicData>
        </a:graphic>
      </p:graphicFrame>
      <p:sp>
        <p:nvSpPr>
          <p:cNvPr id="15" name="Rectangle 14"/>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6" name="TextBox 15"/>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S3</a:t>
            </a:r>
          </a:p>
        </p:txBody>
      </p:sp>
      <p:sp>
        <p:nvSpPr>
          <p:cNvPr id="17" name="TextBox 16"/>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18" name="TextBox 17"/>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LANES ARE DISPLAYED WHILE COMPARISON REMAINS PLANNED</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Cross-Lane Comparison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06</a:t>
            </a:r>
          </a:p>
        </p:txBody>
      </p:sp>
      <p:sp>
        <p:nvSpPr>
          <p:cNvPr id="9" name="TextBox 8"/>
          <p:cNvSpPr txBox="1"/>
          <p:nvPr/>
        </p:nvSpPr>
        <p:spPr>
          <a:xfrm>
            <a:off x="64008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REALIZED RETURNED EFFECTS</a:t>
            </a:r>
          </a:p>
        </p:txBody>
      </p:sp>
      <p:graphicFrame>
        <p:nvGraphicFramePr>
          <p:cNvPr id="10" name="Chart 9"/>
          <p:cNvGraphicFramePr>
            <a:graphicFrameLocks noGrp="1"/>
          </p:cNvGraphicFramePr>
          <p:nvPr/>
        </p:nvGraphicFramePr>
        <p:xfrm>
          <a:off x="640080" y="1600200"/>
          <a:ext cx="5239512" cy="4617720"/>
        </p:xfrm>
        <a:graphic>
          <a:graphicData uri="http://schemas.openxmlformats.org/drawingml/2006/chart">
            <c:chart xmlns:c="http://schemas.openxmlformats.org/drawingml/2006/chart" r:id="rId2"/>
          </a:graphicData>
        </a:graphic>
      </p:graphicFrame>
      <p:sp>
        <p:nvSpPr>
          <p:cNvPr id="11" name="Rectangle 10"/>
          <p:cNvSpPr/>
          <p:nvPr/>
        </p:nvSpPr>
        <p:spPr>
          <a:xfrm>
            <a:off x="6080760" y="1325880"/>
            <a:ext cx="9144" cy="4892040"/>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30936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EXPECTED RETURNED EFFECTS</a:t>
            </a:r>
          </a:p>
        </p:txBody>
      </p:sp>
      <p:graphicFrame>
        <p:nvGraphicFramePr>
          <p:cNvPr id="13" name="Chart 12"/>
          <p:cNvGraphicFramePr>
            <a:graphicFrameLocks noGrp="1"/>
          </p:cNvGraphicFramePr>
          <p:nvPr/>
        </p:nvGraphicFramePr>
        <p:xfrm>
          <a:off x="6309360" y="1600200"/>
          <a:ext cx="5239512" cy="4617720"/>
        </p:xfrm>
        <a:graphic>
          <a:graphicData uri="http://schemas.openxmlformats.org/drawingml/2006/chart">
            <c:chart xmlns:c="http://schemas.openxmlformats.org/drawingml/2006/chart" r:id="rId3"/>
          </a:graphicData>
        </a:graphic>
      </p:graphicFrame>
      <p:sp>
        <p:nvSpPr>
          <p:cNvPr id="14" name="Rectangle 13"/>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 · S3</a:t>
            </a:r>
          </a:p>
        </p:txBody>
      </p:sp>
      <p:sp>
        <p:nvSpPr>
          <p:cNvPr id="16" name="TextBox 15"/>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17" name="TextBox 16"/>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LANES ARE DISPLAYED WHILE COMPARISON REMAINS PLANNED</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Cross-Lane Comparison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06</a:t>
            </a:r>
          </a:p>
        </p:txBody>
      </p:sp>
      <p:sp>
        <p:nvSpPr>
          <p:cNvPr id="9" name="Rectangle 8"/>
          <p:cNvSpPr/>
          <p:nvPr/>
        </p:nvSpPr>
        <p:spPr>
          <a:xfrm>
            <a:off x="640080" y="1325880"/>
            <a:ext cx="10908792" cy="791814"/>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791814"/>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Unavailable comparison metrics</a:t>
            </a:r>
          </a:p>
        </p:txBody>
      </p:sp>
      <p:sp>
        <p:nvSpPr>
          <p:cNvPr id="12" name="TextBox 11"/>
          <p:cNvSpPr txBox="1"/>
          <p:nvPr/>
        </p:nvSpPr>
        <p:spPr>
          <a:xfrm>
            <a:off x="804671" y="1719072"/>
            <a:ext cx="10616184" cy="307182"/>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Differences, concentration, persistence, and Sources that persist are unavailable without a governed comparison result [S1].</a:t>
            </a:r>
          </a:p>
        </p:txBody>
      </p:sp>
      <p:graphicFrame>
        <p:nvGraphicFramePr>
          <p:cNvPr id="13" name="Table 12"/>
          <p:cNvGraphicFramePr>
            <a:graphicFrameLocks noGrp="1"/>
          </p:cNvGraphicFramePr>
          <p:nvPr/>
        </p:nvGraphicFramePr>
        <p:xfrm>
          <a:off x="640080" y="2227422"/>
          <a:ext cx="10908792" cy="2903318"/>
        </p:xfrm>
        <a:graphic>
          <a:graphicData uri="http://schemas.openxmlformats.org/drawingml/2006/table">
            <a:tbl>
              <a:tblPr firstRow="1" bandRow="1">
                <a:tableStyleId>{5C22544A-7EE6-4342-B048-85BDC9FD1C3A}</a:tableStyleId>
              </a:tblPr>
              <a:tblGrid>
                <a:gridCol w="2011680"/>
                <a:gridCol w="4448556"/>
                <a:gridCol w="4448556"/>
              </a:tblGrid>
              <a:tr h="580663">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580663">
                <a:tc>
                  <a:txBody>
                    <a:bodyPr/>
                    <a:lstStyle/>
                    <a:p>
                      <a:pPr>
                        <a:defRPr sz="800" b="1">
                          <a:solidFill>
                            <a:srgbClr val="0D1117"/>
                          </a:solidFill>
                          <a:latin typeface="Inter"/>
                        </a:defRPr>
                      </a:pPr>
                      <a:r>
                        <a:rPr>
                          <a:latin typeface="Inter"/>
                        </a:rPr>
                        <a:t>Lane differences</a:t>
                      </a:r>
                    </a:p>
                  </a:txBody>
                  <a:tcPr marL="54864" marR="54864" marT="27432" marB="27432" anchor="ctr">
                    <a:solidFill>
                      <a:srgbClr val="FFFFFF"/>
                    </a:solidFill>
                  </a:tcPr>
                </a:tc>
                <a:tc>
                  <a:txBody>
                    <a:bodyPr/>
                    <a:lstStyle/>
                    <a:p>
                      <a:pPr>
                        <a:defRPr sz="800" b="1">
                          <a:solidFill>
                            <a:srgbClr val="FF6B5E"/>
                          </a:solidFill>
                          <a:latin typeface="Inter"/>
                        </a:defRPr>
                      </a:pPr>
                      <a:r>
                        <a:rPr>
                          <a:latin typeface="Inter"/>
                        </a:rPr>
                        <a:t>● unavailable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Requires governed comparison output [S1]</a:t>
                      </a:r>
                    </a:p>
                  </a:txBody>
                  <a:tcPr marL="54864" marR="54864" marT="27432" marB="27432" anchor="ctr">
                    <a:solidFill>
                      <a:srgbClr val="FFFFFF"/>
                    </a:solidFill>
                  </a:tcPr>
                </a:tc>
              </a:tr>
              <a:tr h="580663">
                <a:tc>
                  <a:txBody>
                    <a:bodyPr/>
                    <a:lstStyle/>
                    <a:p>
                      <a:pPr>
                        <a:defRPr sz="800" b="1">
                          <a:solidFill>
                            <a:srgbClr val="0D1117"/>
                          </a:solidFill>
                          <a:latin typeface="Inter"/>
                        </a:defRPr>
                      </a:pPr>
                      <a:r>
                        <a:rPr>
                          <a:latin typeface="Inter"/>
                        </a:rPr>
                        <a:t>Concentration</a:t>
                      </a:r>
                    </a:p>
                  </a:txBody>
                  <a:tcPr marL="54864" marR="54864" marT="27432" marB="27432" anchor="ctr">
                    <a:solidFill>
                      <a:srgbClr val="F5F7F9"/>
                    </a:solidFill>
                  </a:tcPr>
                </a:tc>
                <a:tc>
                  <a:txBody>
                    <a:bodyPr/>
                    <a:lstStyle/>
                    <a:p>
                      <a:pPr>
                        <a:defRPr sz="800" b="1">
                          <a:solidFill>
                            <a:srgbClr val="FF6B5E"/>
                          </a:solidFill>
                          <a:latin typeface="Inter"/>
                        </a:defRPr>
                      </a:pPr>
                      <a:r>
                        <a:rPr>
                          <a:latin typeface="Inter"/>
                        </a:rPr>
                        <a:t>● unavailable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No local aggregation permitted [S1]</a:t>
                      </a:r>
                    </a:p>
                  </a:txBody>
                  <a:tcPr marL="54864" marR="54864" marT="27432" marB="27432" anchor="ctr">
                    <a:solidFill>
                      <a:srgbClr val="F5F7F9"/>
                    </a:solidFill>
                  </a:tcPr>
                </a:tc>
              </a:tr>
              <a:tr h="580663">
                <a:tc>
                  <a:txBody>
                    <a:bodyPr/>
                    <a:lstStyle/>
                    <a:p>
                      <a:pPr>
                        <a:defRPr sz="800" b="1">
                          <a:solidFill>
                            <a:srgbClr val="0D1117"/>
                          </a:solidFill>
                          <a:latin typeface="Inter"/>
                        </a:defRPr>
                      </a:pPr>
                      <a:r>
                        <a:rPr>
                          <a:latin typeface="Inter"/>
                        </a:rPr>
                        <a:t>Persistence</a:t>
                      </a:r>
                    </a:p>
                  </a:txBody>
                  <a:tcPr marL="54864" marR="54864" marT="27432" marB="27432" anchor="ctr">
                    <a:solidFill>
                      <a:srgbClr val="FFFFFF"/>
                    </a:solidFill>
                  </a:tcPr>
                </a:tc>
                <a:tc>
                  <a:txBody>
                    <a:bodyPr/>
                    <a:lstStyle/>
                    <a:p>
                      <a:pPr>
                        <a:defRPr sz="800" b="1">
                          <a:solidFill>
                            <a:srgbClr val="FF6B5E"/>
                          </a:solidFill>
                          <a:latin typeface="Inter"/>
                        </a:defRPr>
                      </a:pPr>
                      <a:r>
                        <a:rPr>
                          <a:latin typeface="Inter"/>
                        </a:rPr>
                        <a:t>● unavailable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No server persistence metric [S1]</a:t>
                      </a:r>
                    </a:p>
                  </a:txBody>
                  <a:tcPr marL="54864" marR="54864" marT="27432" marB="27432" anchor="ctr">
                    <a:solidFill>
                      <a:srgbClr val="FFFFFF"/>
                    </a:solidFill>
                  </a:tcPr>
                </a:tc>
              </a:tr>
              <a:tr h="580666">
                <a:tc>
                  <a:txBody>
                    <a:bodyPr/>
                    <a:lstStyle/>
                    <a:p>
                      <a:pPr>
                        <a:defRPr sz="800" b="1">
                          <a:solidFill>
                            <a:srgbClr val="0D1117"/>
                          </a:solidFill>
                          <a:latin typeface="Inter"/>
                        </a:defRPr>
                      </a:pPr>
                      <a:r>
                        <a:rPr>
                          <a:latin typeface="Inter"/>
                        </a:rPr>
                        <a:t>Sources that persist</a:t>
                      </a:r>
                    </a:p>
                  </a:txBody>
                  <a:tcPr marL="54864" marR="54864" marT="27432" marB="27432" anchor="ctr">
                    <a:solidFill>
                      <a:srgbClr val="F5F7F9"/>
                    </a:solidFill>
                  </a:tcPr>
                </a:tc>
                <a:tc>
                  <a:txBody>
                    <a:bodyPr/>
                    <a:lstStyle/>
                    <a:p>
                      <a:pPr>
                        <a:defRPr sz="800" b="1">
                          <a:solidFill>
                            <a:srgbClr val="FF6B5E"/>
                          </a:solidFill>
                          <a:latin typeface="Inter"/>
                        </a:defRPr>
                      </a:pPr>
                      <a:r>
                        <a:rPr>
                          <a:latin typeface="Inter"/>
                        </a:rPr>
                        <a:t>● unavailable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No governed comparison result [S1]</a:t>
                      </a:r>
                    </a:p>
                  </a:txBody>
                  <a:tcPr marL="54864" marR="54864" marT="27432" marB="27432" anchor="ctr">
                    <a:solidFill>
                      <a:srgbClr val="F5F7F9"/>
                    </a:solidFill>
                  </a:tcPr>
                </a:tc>
              </a:tr>
            </a:tbl>
          </a:graphicData>
        </a:graphic>
      </p:graphicFrame>
      <p:sp>
        <p:nvSpPr>
          <p:cNvPr id="14" name="Rectangle 13"/>
          <p:cNvSpPr/>
          <p:nvPr/>
        </p:nvSpPr>
        <p:spPr>
          <a:xfrm>
            <a:off x="640080" y="5240469"/>
            <a:ext cx="10908792" cy="97745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Rectangle 14"/>
          <p:cNvSpPr/>
          <p:nvPr/>
        </p:nvSpPr>
        <p:spPr>
          <a:xfrm>
            <a:off x="640080" y="5240469"/>
            <a:ext cx="54864" cy="97745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6" name="TextBox 15"/>
          <p:cNvSpPr txBox="1"/>
          <p:nvPr/>
        </p:nvSpPr>
        <p:spPr>
          <a:xfrm>
            <a:off x="804671" y="535019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Comparison unavailable</a:t>
            </a:r>
          </a:p>
        </p:txBody>
      </p:sp>
      <p:sp>
        <p:nvSpPr>
          <p:cNvPr id="17" name="TextBox 16"/>
          <p:cNvSpPr txBox="1"/>
          <p:nvPr/>
        </p:nvSpPr>
        <p:spPr>
          <a:xfrm>
            <a:off x="804671" y="5633661"/>
            <a:ext cx="10616184" cy="49281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Comparison is planned per get_gradient_capabilities [S1]. Why it matters: No persistence claim is supported. Uncertainty: Planned capability timing is not returned. What would change the view: A…</a:t>
            </a:r>
          </a:p>
        </p:txBody>
      </p:sp>
      <p:sp>
        <p:nvSpPr>
          <p:cNvPr id="18" name="Rectangle 17"/>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9" name="TextBox 18"/>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20" name="TextBox 19"/>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21" name="TextBox 20"/>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TWO LIVE LANES AND TWO PLANNED CAPABILITIES DEFINE COVERAGE</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Coverage and Limitations</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07</a:t>
            </a:r>
          </a:p>
        </p:txBody>
      </p:sp>
      <p:graphicFrame>
        <p:nvGraphicFramePr>
          <p:cNvPr id="9" name="Table 8"/>
          <p:cNvGraphicFramePr>
            <a:graphicFrameLocks noGrp="1"/>
          </p:cNvGraphicFramePr>
          <p:nvPr/>
        </p:nvGraphicFramePr>
        <p:xfrm>
          <a:off x="640080" y="1325880"/>
          <a:ext cx="10908792" cy="4892040"/>
        </p:xfrm>
        <a:graphic>
          <a:graphicData uri="http://schemas.openxmlformats.org/drawingml/2006/table">
            <a:tbl>
              <a:tblPr firstRow="1" bandRow="1">
                <a:tableStyleId>{5C22544A-7EE6-4342-B048-85BDC9FD1C3A}</a:tableStyleId>
              </a:tblPr>
              <a:tblGrid>
                <a:gridCol w="2011680"/>
                <a:gridCol w="4448556"/>
                <a:gridCol w="4448556"/>
              </a:tblGrid>
              <a:tr h="1223010">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1223010">
                <a:tc>
                  <a:txBody>
                    <a:bodyPr/>
                    <a:lstStyle/>
                    <a:p>
                      <a:pPr>
                        <a:defRPr sz="800" b="1">
                          <a:solidFill>
                            <a:srgbClr val="0D1117"/>
                          </a:solidFill>
                          <a:latin typeface="Inter"/>
                        </a:defRPr>
                      </a:pPr>
                      <a:r>
                        <a:rPr>
                          <a:latin typeface="Inter"/>
                        </a:rPr>
                        <a:t>Historical</a:t>
                      </a:r>
                    </a:p>
                  </a:txBody>
                  <a:tcPr marL="54864" marR="54864" marT="27432" marB="27432" anchor="ctr">
                    <a:solidFill>
                      <a:srgbClr val="FFFFFF"/>
                    </a:solidFill>
                  </a:tcPr>
                </a:tc>
                <a:tc>
                  <a:txBody>
                    <a:bodyPr/>
                    <a:lstStyle/>
                    <a:p>
                      <a:pPr>
                        <a:defRPr sz="800" b="1">
                          <a:solidFill>
                            <a:srgbClr val="C6F432"/>
                          </a:solidFill>
                          <a:latin typeface="Inter"/>
                        </a:defRPr>
                      </a:pPr>
                      <a:r>
                        <a:rPr>
                          <a:latin typeface="Inter"/>
                        </a:rPr>
                        <a:t>●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Governed result [S2]</a:t>
                      </a:r>
                    </a:p>
                  </a:txBody>
                  <a:tcPr marL="54864" marR="54864" marT="27432" marB="27432" anchor="ctr">
                    <a:solidFill>
                      <a:srgbClr val="FFFFFF"/>
                    </a:solidFill>
                  </a:tcPr>
                </a:tc>
              </a:tr>
              <a:tr h="1223010">
                <a:tc>
                  <a:txBody>
                    <a:bodyPr/>
                    <a:lstStyle/>
                    <a:p>
                      <a:pPr>
                        <a:defRPr sz="800" b="1">
                          <a:solidFill>
                            <a:srgbClr val="0D1117"/>
                          </a:solidFill>
                          <a:latin typeface="Inter"/>
                        </a:defRPr>
                      </a:pPr>
                      <a:r>
                        <a:rPr>
                          <a:latin typeface="Inter"/>
                        </a:rPr>
                        <a:t>Ex ante</a:t>
                      </a:r>
                    </a:p>
                  </a:txBody>
                  <a:tcPr marL="54864" marR="54864" marT="27432" marB="27432" anchor="ctr">
                    <a:solidFill>
                      <a:srgbClr val="F5F7F9"/>
                    </a:solidFill>
                  </a:tcPr>
                </a:tc>
                <a:tc>
                  <a:txBody>
                    <a:bodyPr/>
                    <a:lstStyle/>
                    <a:p>
                      <a:pPr>
                        <a:defRPr sz="800" b="1">
                          <a:solidFill>
                            <a:srgbClr val="C6F432"/>
                          </a:solidFill>
                          <a:latin typeface="Inter"/>
                        </a:defRPr>
                      </a:pPr>
                      <a:r>
                        <a:rPr>
                          <a:latin typeface="Inter"/>
                        </a:rPr>
                        <a:t>●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Governed result [S3]</a:t>
                      </a:r>
                    </a:p>
                  </a:txBody>
                  <a:tcPr marL="54864" marR="54864" marT="27432" marB="27432" anchor="ctr">
                    <a:solidFill>
                      <a:srgbClr val="F5F7F9"/>
                    </a:solidFill>
                  </a:tcPr>
                </a:tc>
              </a:tr>
              <a:tr h="1223010">
                <a:tc>
                  <a:txBody>
                    <a:bodyPr/>
                    <a:lstStyle/>
                    <a:p>
                      <a:pPr>
                        <a:defRPr sz="800" b="1">
                          <a:solidFill>
                            <a:srgbClr val="0D1117"/>
                          </a:solidFill>
                          <a:latin typeface="Inter"/>
                        </a:defRPr>
                      </a:pPr>
                      <a:r>
                        <a:rPr>
                          <a:latin typeface="Inter"/>
                        </a:rPr>
                        <a:t>Planned tools</a:t>
                      </a:r>
                    </a:p>
                  </a:txBody>
                  <a:tcPr marL="54864" marR="54864" marT="27432" marB="27432" anchor="ctr">
                    <a:solidFill>
                      <a:srgbClr val="FFFFFF"/>
                    </a:solidFill>
                  </a:tcPr>
                </a:tc>
                <a:tc>
                  <a:txBody>
                    <a:bodyPr/>
                    <a:lstStyle/>
                    <a:p>
                      <a:pPr>
                        <a:defRPr sz="800" b="1">
                          <a:solidFill>
                            <a:srgbClr val="FF6B5E"/>
                          </a:solidFill>
                          <a:latin typeface="Inter"/>
                        </a:defRPr>
                      </a:pPr>
                      <a:r>
                        <a:rPr>
                          <a:latin typeface="Inter"/>
                        </a:rPr>
                        <a:t>● unavailable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Simulation and comparison are planned [S1]</a:t>
                      </a:r>
                    </a:p>
                  </a:txBody>
                  <a:tcPr marL="54864" marR="54864" marT="27432" marB="27432" anchor="ctr">
                    <a:solidFill>
                      <a:srgbClr val="FFFFFF"/>
                    </a:solidFill>
                  </a:tcPr>
                </a:tc>
              </a:tr>
            </a:tbl>
          </a:graphicData>
        </a:graphic>
      </p:graphicFrame>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S3</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GOVERNED SOURCE INVENTORY</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 Sources and methods</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graphicFrame>
        <p:nvGraphicFramePr>
          <p:cNvPr id="9" name="Table 8"/>
          <p:cNvGraphicFramePr>
            <a:graphicFrameLocks noGrp="1"/>
          </p:cNvGraphicFramePr>
          <p:nvPr/>
        </p:nvGraphicFramePr>
        <p:xfrm>
          <a:off x="640080" y="1325880"/>
          <a:ext cx="10908792" cy="1463887"/>
        </p:xfrm>
        <a:graphic>
          <a:graphicData uri="http://schemas.openxmlformats.org/drawingml/2006/table">
            <a:tbl>
              <a:tblPr firstRow="1" bandRow="1">
                <a:tableStyleId>{5C22544A-7EE6-4342-B048-85BDC9FD1C3A}</a:tableStyleId>
              </a:tblPr>
              <a:tblGrid>
                <a:gridCol w="2011680"/>
                <a:gridCol w="1112139"/>
                <a:gridCol w="1112139"/>
                <a:gridCol w="1112139"/>
                <a:gridCol w="1112139"/>
                <a:gridCol w="1112139"/>
                <a:gridCol w="1112139"/>
                <a:gridCol w="1112139"/>
                <a:gridCol w="1112139"/>
              </a:tblGrid>
              <a:tr h="365971">
                <a:tc>
                  <a:txBody>
                    <a:bodyPr/>
                    <a:lstStyle/>
                    <a:p>
                      <a:pPr>
                        <a:defRPr sz="750" b="1">
                          <a:solidFill>
                            <a:srgbClr val="FFFFFF"/>
                          </a:solidFill>
                          <a:latin typeface="Inter"/>
                        </a:defRPr>
                      </a:pPr>
                      <a:r>
                        <a:rPr>
                          <a:latin typeface="Inter"/>
                        </a:rPr>
                        <a:t>Tag</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Evidence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Basis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Tool / view</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Key parameters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As of</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Data scope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Validation</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Digest</a:t>
                      </a:r>
                    </a:p>
                  </a:txBody>
                  <a:tcPr marL="54864" marR="54864" marT="27432" marB="27432" anchor="ctr">
                    <a:solidFill>
                      <a:srgbClr val="0D1117"/>
                    </a:solidFill>
                  </a:tcPr>
                </a:tc>
              </a:tr>
              <a:tr h="365971">
                <a:tc>
                  <a:txBody>
                    <a:bodyPr/>
                    <a:lstStyle/>
                    <a:p>
                      <a:pPr>
                        <a:defRPr sz="650" b="1">
                          <a:solidFill>
                            <a:srgbClr val="0D1117"/>
                          </a:solidFill>
                          <a:latin typeface="Inter"/>
                        </a:defRPr>
                      </a:pPr>
                      <a:r>
                        <a:rPr>
                          <a:latin typeface="Inter"/>
                        </a:rPr>
                        <a:t>S1</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Capability gate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gradient_tool</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get_gradient_capabilities</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illustrative sample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2026-09-30</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Gradient-governed review evidence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passed</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sha256:aaaaaaaaaaaaaaaaaaaaaaaaaaaaaaaaaaaaaaaaaaaaaaaaaaaaaaaaaaaaaaaa</a:t>
                      </a:r>
                    </a:p>
                  </a:txBody>
                  <a:tcPr marL="54864" marR="54864" marT="27432" marB="27432" anchor="ctr">
                    <a:solidFill>
                      <a:srgbClr val="FFFFFF"/>
                    </a:solidFill>
                  </a:tcPr>
                </a:tc>
              </a:tr>
              <a:tr h="365971">
                <a:tc>
                  <a:txBody>
                    <a:bodyPr/>
                    <a:lstStyle/>
                    <a:p>
                      <a:pPr>
                        <a:defRPr sz="650" b="1">
                          <a:solidFill>
                            <a:srgbClr val="0D1117"/>
                          </a:solidFill>
                          <a:latin typeface="Inter"/>
                        </a:defRPr>
                      </a:pPr>
                      <a:r>
                        <a:rPr>
                          <a:latin typeface="Inter"/>
                        </a:rPr>
                        <a:t>S2</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Historical attribution</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gradient_tool</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get_portfolio_attribution</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illustrative sample</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2026-09-30</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Gradient-governed review evidence</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passed</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sha256:bbbbbbbbbbbbbbbbbbbbbbbbbbbbbbbbbbbbbbbbbbbbbbbbbbbbbbbbbbbbbbbb</a:t>
                      </a:r>
                    </a:p>
                  </a:txBody>
                  <a:tcPr marL="54864" marR="54864" marT="27432" marB="27432" anchor="ctr">
                    <a:solidFill>
                      <a:srgbClr val="F5F7F9"/>
                    </a:solidFill>
                  </a:tcPr>
                </a:tc>
              </a:tr>
              <a:tr h="365974">
                <a:tc>
                  <a:txBody>
                    <a:bodyPr/>
                    <a:lstStyle/>
                    <a:p>
                      <a:pPr>
                        <a:defRPr sz="650" b="1">
                          <a:solidFill>
                            <a:srgbClr val="0D1117"/>
                          </a:solidFill>
                          <a:latin typeface="Inter"/>
                        </a:defRPr>
                      </a:pPr>
                      <a:r>
                        <a:rPr>
                          <a:latin typeface="Inter"/>
                        </a:rPr>
                        <a:t>S3</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Ex ante attribution</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gradient_tool</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get_portfolio_ex_ante_attribution</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illustrative sample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2026-09-30</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Gradient-governed review evidence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passed</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sha256:cccccccccccccccccccccccccccccccccccccccccccccccccccccccccccccccc</a:t>
                      </a:r>
                    </a:p>
                  </a:txBody>
                  <a:tcPr marL="54864" marR="54864" marT="27432" marB="27432" anchor="ctr">
                    <a:solidFill>
                      <a:srgbClr val="FFFFFF"/>
                    </a:solidFill>
                  </a:tcPr>
                </a:tc>
              </a:tr>
            </a:tbl>
          </a:graphicData>
        </a:graphic>
      </p:graphicFrame>
      <p:sp>
        <p:nvSpPr>
          <p:cNvPr id="10" name="TextBox 9"/>
          <p:cNvSpPr txBox="1"/>
          <p:nvPr/>
        </p:nvSpPr>
        <p:spPr>
          <a:xfrm>
            <a:off x="640080" y="2808055"/>
            <a:ext cx="10908792" cy="164592"/>
          </a:xfrm>
          <a:prstGeom prst="rect">
            <a:avLst/>
          </a:prstGeom>
          <a:noFill/>
        </p:spPr>
        <p:txBody>
          <a:bodyPr wrap="none" lIns="9144" rIns="9144" tIns="9144" bIns="9144" anchor="t">
            <a:spAutoFit/>
          </a:bodyPr>
          <a:lstStyle/>
          <a:p>
            <a:pPr algn="l">
              <a:spcAft>
                <a:spcPts val="0"/>
              </a:spcAft>
              <a:defRPr sz="680" b="0">
                <a:solidFill>
                  <a:srgbClr val="8A94A1"/>
                </a:solidFill>
                <a:latin typeface="Inter"/>
              </a:defRPr>
            </a:pPr>
            <a:r>
              <a:rPr>
                <a:latin typeface="Inter"/>
              </a:rPr>
              <a:t>Illustrative, Gradient Maintained — demo data, not the client's holdings or managers. All organizations, portfolios, managers and results in this public example are illustrative.</a:t>
            </a:r>
          </a:p>
        </p:txBody>
      </p:sp>
      <p:sp>
        <p:nvSpPr>
          <p:cNvPr id="11" name="TextBox 10"/>
          <p:cNvSpPr txBox="1"/>
          <p:nvPr/>
        </p:nvSpPr>
        <p:spPr>
          <a:xfrm>
            <a:off x="640080" y="3100663"/>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RETURNED SIGN BY SEGMENT</a:t>
            </a:r>
          </a:p>
        </p:txBody>
      </p:sp>
      <p:graphicFrame>
        <p:nvGraphicFramePr>
          <p:cNvPr id="12" name="Table 11"/>
          <p:cNvGraphicFramePr>
            <a:graphicFrameLocks noGrp="1"/>
          </p:cNvGraphicFramePr>
          <p:nvPr/>
        </p:nvGraphicFramePr>
        <p:xfrm>
          <a:off x="640080" y="3374983"/>
          <a:ext cx="10908792" cy="1550152"/>
        </p:xfrm>
        <a:graphic>
          <a:graphicData uri="http://schemas.openxmlformats.org/drawingml/2006/table">
            <a:tbl>
              <a:tblPr firstRow="1" bandRow="1">
                <a:tableStyleId>{5C22544A-7EE6-4342-B048-85BDC9FD1C3A}</a:tableStyleId>
              </a:tblPr>
              <a:tblGrid>
                <a:gridCol w="2011680"/>
                <a:gridCol w="2224278"/>
                <a:gridCol w="2224278"/>
                <a:gridCol w="2224278"/>
                <a:gridCol w="2224278"/>
              </a:tblGrid>
              <a:tr h="310030">
                <a:tc>
                  <a:txBody>
                    <a:bodyPr/>
                    <a:lstStyle/>
                    <a:p>
                      <a:pPr>
                        <a:defRPr sz="750" b="1">
                          <a:solidFill>
                            <a:srgbClr val="FFFFFF"/>
                          </a:solidFill>
                          <a:latin typeface="Inter"/>
                        </a:defRPr>
                      </a:pPr>
                      <a:r>
                        <a:rPr>
                          <a:latin typeface="Inter"/>
                        </a:rPr>
                        <a:t>Lane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Segment</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Returned effect</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Returned sign</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r>
              <a:tr h="310030">
                <a:tc>
                  <a:txBody>
                    <a:bodyPr/>
                    <a:lstStyle/>
                    <a:p>
                      <a:pPr>
                        <a:defRPr sz="720" b="1">
                          <a:solidFill>
                            <a:srgbClr val="0D1117"/>
                          </a:solidFill>
                          <a:latin typeface="Inter"/>
                        </a:defRPr>
                      </a:pPr>
                      <a:r>
                        <a:rPr>
                          <a:latin typeface="Inter"/>
                        </a:rPr>
                        <a:t>Historical</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Public Equity</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+0.2pp</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Positive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[S2]</a:t>
                      </a:r>
                    </a:p>
                  </a:txBody>
                  <a:tcPr marL="54864" marR="54864" marT="27432" marB="27432" anchor="ctr">
                    <a:solidFill>
                      <a:srgbClr val="FFFFFF"/>
                    </a:solidFill>
                  </a:tcPr>
                </a:tc>
              </a:tr>
              <a:tr h="310030">
                <a:tc>
                  <a:txBody>
                    <a:bodyPr/>
                    <a:lstStyle/>
                    <a:p>
                      <a:pPr>
                        <a:defRPr sz="720" b="1">
                          <a:solidFill>
                            <a:srgbClr val="0D1117"/>
                          </a:solidFill>
                          <a:latin typeface="Inter"/>
                        </a:defRPr>
                      </a:pPr>
                      <a:r>
                        <a:rPr>
                          <a:latin typeface="Inter"/>
                        </a:rPr>
                        <a:t>Historical</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Alternatives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-0.8pp</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Negative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[S2]</a:t>
                      </a:r>
                    </a:p>
                  </a:txBody>
                  <a:tcPr marL="54864" marR="54864" marT="27432" marB="27432" anchor="ctr">
                    <a:solidFill>
                      <a:srgbClr val="F5F7F9"/>
                    </a:solidFill>
                  </a:tcPr>
                </a:tc>
              </a:tr>
              <a:tr h="310030">
                <a:tc>
                  <a:txBody>
                    <a:bodyPr/>
                    <a:lstStyle/>
                    <a:p>
                      <a:pPr>
                        <a:defRPr sz="720" b="1">
                          <a:solidFill>
                            <a:srgbClr val="0D1117"/>
                          </a:solidFill>
                          <a:latin typeface="Inter"/>
                        </a:defRPr>
                      </a:pPr>
                      <a:r>
                        <a:rPr>
                          <a:latin typeface="Inter"/>
                        </a:rPr>
                        <a:t>Governed ex ante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Public Equity</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+0.27pp</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Positive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[S3]</a:t>
                      </a:r>
                    </a:p>
                  </a:txBody>
                  <a:tcPr marL="54864" marR="54864" marT="27432" marB="27432" anchor="ctr">
                    <a:solidFill>
                      <a:srgbClr val="FFFFFF"/>
                    </a:solidFill>
                  </a:tcPr>
                </a:tc>
              </a:tr>
              <a:tr h="310032">
                <a:tc>
                  <a:txBody>
                    <a:bodyPr/>
                    <a:lstStyle/>
                    <a:p>
                      <a:pPr>
                        <a:defRPr sz="720" b="1">
                          <a:solidFill>
                            <a:srgbClr val="0D1117"/>
                          </a:solidFill>
                          <a:latin typeface="Inter"/>
                        </a:defRPr>
                      </a:pPr>
                      <a:r>
                        <a:rPr>
                          <a:latin typeface="Inter"/>
                        </a:rPr>
                        <a:t>Governed ex ante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Alternatives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+0.08pp</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Positive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[S3]</a:t>
                      </a:r>
                    </a:p>
                  </a:txBody>
                  <a:tcPr marL="54864" marR="54864" marT="27432" marB="27432" anchor="ctr">
                    <a:solidFill>
                      <a:srgbClr val="F5F7F9"/>
                    </a:solidFill>
                  </a:tcPr>
                </a:tc>
              </a:tr>
            </a:tbl>
          </a:graphicData>
        </a:graphic>
      </p:graphicFrame>
      <p:sp>
        <p:nvSpPr>
          <p:cNvPr id="13" name="TextBox 12"/>
          <p:cNvSpPr txBox="1"/>
          <p:nvPr/>
        </p:nvSpPr>
        <p:spPr>
          <a:xfrm>
            <a:off x="640080" y="4943424"/>
            <a:ext cx="10908792" cy="164592"/>
          </a:xfrm>
          <a:prstGeom prst="rect">
            <a:avLst/>
          </a:prstGeom>
          <a:noFill/>
        </p:spPr>
        <p:txBody>
          <a:bodyPr wrap="none" lIns="9144" rIns="9144" tIns="9144" bIns="9144" anchor="t">
            <a:spAutoFit/>
          </a:bodyPr>
          <a:lstStyle/>
          <a:p>
            <a:pPr algn="l">
              <a:spcAft>
                <a:spcPts val="0"/>
              </a:spcAft>
              <a:defRPr sz="680" b="0">
                <a:solidFill>
                  <a:srgbClr val="8A94A1"/>
                </a:solidFill>
                <a:latin typeface="Inter"/>
              </a:defRPr>
            </a:pPr>
            <a:r>
              <a:rPr>
                <a:latin typeface="Inter"/>
              </a:rPr>
              <a:t>Signs classify returned effects only; no cross-lane arithmetic [S2][S3].</a:t>
            </a:r>
          </a:p>
        </p:txBody>
      </p:sp>
      <p:sp>
        <p:nvSpPr>
          <p:cNvPr id="14" name="Rectangle 13"/>
          <p:cNvSpPr/>
          <p:nvPr/>
        </p:nvSpPr>
        <p:spPr>
          <a:xfrm>
            <a:off x="640080" y="5236032"/>
            <a:ext cx="10908792" cy="981887"/>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Rectangle 14"/>
          <p:cNvSpPr/>
          <p:nvPr/>
        </p:nvSpPr>
        <p:spPr>
          <a:xfrm>
            <a:off x="640080" y="5236032"/>
            <a:ext cx="54864" cy="981887"/>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6" name="TextBox 15"/>
          <p:cNvSpPr txBox="1"/>
          <p:nvPr/>
        </p:nvSpPr>
        <p:spPr>
          <a:xfrm>
            <a:off x="804671" y="5345760"/>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Method boundary</a:t>
            </a:r>
          </a:p>
        </p:txBody>
      </p:sp>
      <p:sp>
        <p:nvSpPr>
          <p:cNvPr id="17" name="TextBox 16"/>
          <p:cNvSpPr txBox="1"/>
          <p:nvPr/>
        </p:nvSpPr>
        <p:spPr>
          <a:xfrm>
            <a:off x="804671" y="5629224"/>
            <a:ext cx="10616184" cy="497255"/>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Each lane remains on its returned method, period or horizon, benchmark role, parent cohort and calculation currency. Historical evidence is realized, ex ante evidence is expected, and simulated evidence is scenario-based. Values are displayed without local reconciliation, attribution arithmetic or substitutions [S1][S2][S3].</a:t>
            </a:r>
          </a:p>
        </p:txBody>
      </p:sp>
      <p:sp>
        <p:nvSpPr>
          <p:cNvPr id="18" name="Rectangle 17"/>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9" name="TextBox 18"/>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S3</a:t>
            </a:r>
          </a:p>
        </p:txBody>
      </p:sp>
      <p:sp>
        <p:nvSpPr>
          <p:cNvPr id="20" name="TextBox 19"/>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21" name="TextBox 20"/>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GOVERNED SOURCE INVENTORY</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 Sources and methods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sp>
        <p:nvSpPr>
          <p:cNvPr id="9" name="Rectangle 8"/>
          <p:cNvSpPr/>
          <p:nvPr/>
        </p:nvSpPr>
        <p:spPr>
          <a:xfrm>
            <a:off x="640080" y="1325880"/>
            <a:ext cx="10908792" cy="489204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489204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Comparison boundary</a:t>
            </a:r>
          </a:p>
        </p:txBody>
      </p:sp>
      <p:sp>
        <p:nvSpPr>
          <p:cNvPr id="12" name="TextBox 11"/>
          <p:cNvSpPr txBox="1"/>
          <p:nvPr/>
        </p:nvSpPr>
        <p:spPr>
          <a:xfrm>
            <a:off x="804671" y="1719072"/>
            <a:ext cx="10616184" cy="440740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Cross-lane differences, concentration, overlap, reconciliation and persistence are reported only when the governed comparison capability returns them. Capability absence is an evidence limitation, not a zero value or a failed lane. Request IDs, diagnostics, residuals and coverage remain attached to their source payloads [S1].</a:t>
            </a:r>
          </a:p>
        </p:txBody>
      </p:sp>
      <p:sp>
        <p:nvSpPr>
          <p:cNvPr id="13" name="Rectangle 12"/>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5" name="TextBox 14"/>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16" name="TextBox 15"/>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19</a:t>
            </a:r>
          </a:p>
        </p:txBody>
      </p:sp>
    </p:spTree>
  </p:cSld>
  <p:clrMapOvr>
    <a:masterClrMapping/>
  </p:clrMapOvr>
</p:sld>
</file>

<file path=ppt/theme/theme1.xml><?xml version="1.0" encoding="utf-8"?>
<a:theme xmlns:a="http://schemas.openxmlformats.org/drawingml/2006/main" name="Office Theme">
  <a:themeElements>
    <a:clrScheme name="Office">
      <a:dk1>
        <a:srgbClr val="0D1117"/>
      </a:dk1>
      <a:lt1>
        <a:srgbClr val="FFFFFF"/>
      </a:lt1>
      <a:dk2>
        <a:srgbClr val="161C24"/>
      </a:dk2>
      <a:lt2>
        <a:srgbClr val="F5F7F9"/>
      </a:lt2>
      <a:accent1>
        <a:srgbClr val="C6F432"/>
      </a:accent1>
      <a:accent2>
        <a:srgbClr val="4F6B00"/>
      </a:accent2>
      <a:accent3>
        <a:srgbClr val="F2A93B"/>
      </a:accent3>
      <a:accent4>
        <a:srgbClr val="5B8DEF"/>
      </a:accent4>
      <a:accent5>
        <a:srgbClr val="FF6B5E"/>
      </a:accent5>
      <a:accent6>
        <a:srgbClr val="3FB8AF"/>
      </a:accent6>
      <a:hlink>
        <a:srgbClr val="0000FF"/>
      </a:hlink>
      <a:folHlink>
        <a:srgbClr val="800080"/>
      </a:folHlink>
    </a:clrScheme>
    <a:fontScheme name="Office">
      <a:majorFont>
        <a:latin typeface="Int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Northstar Total Fund Attribution Comparison</dc:title>
  <dc:subject>Attribution Comparison</dc:subject>
  <dc:creator>GradientCIO</dc:creator>
  <cp:keywords>Gradient report theme 2.3.0</cp:keywords>
  <dc:description>generated using python-pptx</dc:description>
  <cp:lastModifiedBy>GradientCIO</cp:lastModifiedBy>
  <cp:revision>1</cp:revision>
  <dcterms:created xsi:type="dcterms:W3CDTF">2020-01-01T00:00:00Z</dcterms:created>
  <dcterms:modified xsi:type="dcterms:W3CDTF">2020-01-01T00:00:00Z</dcterms:modified>
  <cp:category/>
</cp:coreProperties>
</file>