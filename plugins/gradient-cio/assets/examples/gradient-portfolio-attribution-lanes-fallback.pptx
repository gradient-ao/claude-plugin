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2.3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2.75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0.45</c:v>
                </c:pt>
                <c:pt idx="2">
                  <c:v>5.4</c:v>
                </c:pt>
                <c:pt idx="3">
                  <c:v>0.25</c:v>
                </c:pt>
                <c:pt idx="4">
                  <c:v>3.35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6.2</c:v>
                </c:pt>
                <c:pt idx="2">
                  <c:v>6.48</c:v>
                </c:pt>
                <c:pt idx="3">
                  <c:v>7.73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6.2</c:v>
                </c:pt>
                <c:pt idx="1">
                  <c:v>0.28</c:v>
                </c:pt>
                <c:pt idx="2">
                  <c:v>1.25</c:v>
                </c:pt>
                <c:pt idx="3">
                  <c:v>0.15</c:v>
                </c:pt>
                <c:pt idx="4">
                  <c:v>7.88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Sheet1!$A$2:$A$6</c:f>
              <c:strCache>
                <c:ptCount val="5"/>
                <c:pt idx="0">
                  <c:v>Benchmark return</c:v>
                </c:pt>
                <c:pt idx="1">
                  <c:v>Allocation</c:v>
                </c:pt>
                <c:pt idx="2">
                  <c:v>Selection</c:v>
                </c:pt>
                <c:pt idx="3">
                  <c:v>Interaction</c:v>
                </c:pt>
                <c:pt idx="4">
                  <c:v>Portfolio return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-0.1</c:v>
                </c:pt>
                <c:pt idx="1">
                  <c:v>-0.35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-0.55</c:v>
                </c:pt>
                <c:pt idx="1">
                  <c:v>-4.85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-0.05</c:v>
                </c:pt>
                <c:pt idx="1">
                  <c:v>-0.2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55.0%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40.0%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45.0%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Public Equity · portfolio</c:v>
                </c:pt>
                <c:pt idx="1">
                  <c:v>Public Equity · benchmark</c:v>
                </c:pt>
                <c:pt idx="2">
                  <c:v>Alternatives · portfolio</c:v>
                </c:pt>
                <c:pt idx="3">
                  <c:v>Alternatives · benchmark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60.0</c:v>
                </c:pt>
                <c:pt idx="1">
                  <c:v>55.0</c:v>
                </c:pt>
                <c:pt idx="2">
                  <c:v>40.0</c:v>
                </c:pt>
                <c:pt idx="3">
                  <c:v>45.0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2025-10-31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-0.05</c:v>
                </c:pt>
                <c:pt idx="1">
                  <c:v>-0.22</c:v>
                </c:pt>
                <c:pt idx="2">
                  <c:v>-0.45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2025-10-31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-0.4</c:v>
                </c:pt>
                <c:pt idx="1">
                  <c:v>-2.75</c:v>
                </c:pt>
                <c:pt idx="2">
                  <c:v>-5.4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ln w="22860">
              <a:solidFill>
                <a:srgbClr val="F2A93B"/>
              </a:solidFill>
            </a:ln>
          </c:spPr>
          <c:cat>
            <c:strRef>
              <c:f>Sheet1!$A$2:$A$4</c:f>
              <c:strCache>
                <c:ptCount val="3"/>
                <c:pt idx="0">
                  <c:v>2025-10-31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-0.02</c:v>
                </c:pt>
                <c:pt idx="1">
                  <c:v>-0.11</c:v>
                </c:pt>
                <c:pt idx="2">
                  <c:v>-0.25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Total</c:v>
                </c:pt>
              </c:strCache>
            </c:strRef>
          </c:tx>
          <c:spPr>
            <a:ln w="22860">
              <a:solidFill>
                <a:srgbClr val="5B8DEF"/>
              </a:solidFill>
            </a:ln>
          </c:spPr>
          <c:cat>
            <c:strRef>
              <c:f>Sheet1!$A$2:$A$4</c:f>
              <c:strCache>
                <c:ptCount val="3"/>
                <c:pt idx="0">
                  <c:v>2025-10-31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-0.47</c:v>
                </c:pt>
                <c:pt idx="1">
                  <c:v>-3.08</c:v>
                </c:pt>
                <c:pt idx="2">
                  <c:v>-6.1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8.0"/>
        </c:scaling>
        <c:delete val="0"/>
        <c:axPos val="l"/>
        <c:majorGridlines/>
        <c:numFmt formatCode="0.0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2.0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Alternatives selection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2025-10-31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-0.35</c:v>
                </c:pt>
                <c:pt idx="1">
                  <c:v>-2.4</c:v>
                </c:pt>
                <c:pt idx="2">
                  <c:v>-4.85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"/>
          <c:min val="-6.0"/>
        </c:scaling>
        <c:delete val="0"/>
        <c:axPos val="l"/>
        <c:majorGridlines/>
        <c:numFmt formatCode="0.00&quot;pp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  <c:majorUnit val="2.0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0.15</c:v>
                </c:pt>
                <c:pt idx="1">
                  <c:v>0.13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Selection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0.2</c:v>
                </c:pt>
                <c:pt idx="1">
                  <c:v>1.05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Interaction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Alternatives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0.05</c:v>
                </c:pt>
                <c:pt idx="1">
                  <c:v>0.1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6.50%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6.30%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9.95%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6.05%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Public Equity · portfolio</c:v>
                </c:pt>
                <c:pt idx="1">
                  <c:v>Public Equity · benchmark</c:v>
                </c:pt>
                <c:pt idx="2">
                  <c:v>Alternatives · portfolio</c:v>
                </c:pt>
                <c:pt idx="3">
                  <c:v>Alternatives · benchmark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6.5</c:v>
                </c:pt>
                <c:pt idx="1">
                  <c:v>6.3</c:v>
                </c:pt>
                <c:pt idx="2">
                  <c:v>9.95</c:v>
                </c:pt>
                <c:pt idx="3">
                  <c:v>6.05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+0.2pp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-0.8pp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0.0pp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-0.8</c:v>
                </c:pt>
                <c:pt idx="2">
                  <c:v>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FF6B5E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+0.4pp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-0.1pp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+0.05pp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Sheet1!$A$2:$A$4</c:f>
              <c:strCache>
                <c:ptCount val="3"/>
                <c:pt idx="0">
                  <c:v>Allocation</c:v>
                </c:pt>
                <c:pt idx="1">
                  <c:v>Selection</c:v>
                </c:pt>
                <c:pt idx="2">
                  <c:v>Interaction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</c:v>
                </c:pt>
                <c:pt idx="1">
                  <c:v>-0.1</c:v>
                </c:pt>
                <c:pt idx="2">
                  <c:v>0.05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leads detractors</a:t>
            </a:r>
          </a:p>
          <a:p>
            <a:r>
              <a:t>Observation: Returned selection is the -5.40pp dominant realized shortfall and Alternatives contributes -4.85pp [S2]. Why it matters: Selection drives the returned bridge from +2.75% benchmark return to -3.35% portfolio return. Uncertainty: The evidence covers one linked window. What would change the view: A later historical result with a different returned selection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Selection leads expectations</a:t>
            </a:r>
          </a:p>
          <a:p>
            <a:r>
              <a:t>Observation: Returned selection is the +1.25pp dominant expected gain and Alternatives contributes +1.05pp [S3]. Why it matters: Selection drives the returned bridge from 6.20% expected benchmark return to 7.88% expected portfolio return. Uncertainty: Inputs are governed assumptions. What would change the view: A refreshed ex ante result with a different returned selection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Simulation unavailable</a:t>
            </a:r>
          </a:p>
          <a:p>
            <a:r>
              <a:t>Observation: Simulation is planned per the capability source [S1]. Why it matters: Scenario effects cannot be assessed. Uncertainty: Capability readiness may change. What would change the view: A capability response marking the exact simulation tool available.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Comparison unavailable</a:t>
            </a:r>
          </a:p>
          <a:p>
            <a:r>
              <a:t>Observation: Comparison is planned per get_gradient_capabilities [S1]. Why it matters: No persistence claim is supported. Uncertainty: Planned capability timing is not returned. What would change the view: A governed comparison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Relationship Id="rId4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PORTFOLIO ATTRIBUTION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 Attribution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Historical and forward attribution · available evidence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Total Fund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BENCHMARK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Policy benchmark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COHORT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Total fund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AVAILABLE 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Historical and forward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TWO GOVERNED LANES ARE AVAILABLE WITHOUT SERVER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188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77431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Two attribution views available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770632"/>
            <a:ext cx="10908792" cy="12515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2770632"/>
            <a:ext cx="54864" cy="125158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288036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163824"/>
            <a:ext cx="10616184" cy="7669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shortfall comes from selection; expected gain comes from selection; Alternatives drives both [S2][S3].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4131945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74980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Available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12 months · 2025-10-31 to 2026-09-30 [S2]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9471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Rectangle 19"/>
          <p:cNvSpPr/>
          <p:nvPr/>
        </p:nvSpPr>
        <p:spPr>
          <a:xfrm>
            <a:off x="3394710" y="4131945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350443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0443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Available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1-year expected [S3]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4934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Rectangle 24"/>
          <p:cNvSpPr/>
          <p:nvPr/>
        </p:nvSpPr>
        <p:spPr>
          <a:xfrm>
            <a:off x="6149340" y="4131945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625906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SIMULATED LANE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06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Unavailable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planned per get_gradient_capabilities [S1]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3970" y="4131945"/>
            <a:ext cx="2644902" cy="208597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0" name="Rectangle 29"/>
          <p:cNvSpPr/>
          <p:nvPr/>
        </p:nvSpPr>
        <p:spPr>
          <a:xfrm>
            <a:off x="8903970" y="4131945"/>
            <a:ext cx="2644902" cy="45720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1" name="TextBox 30"/>
          <p:cNvSpPr txBox="1"/>
          <p:nvPr/>
        </p:nvSpPr>
        <p:spPr>
          <a:xfrm>
            <a:off x="9013698" y="4259961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COMPARISON COVERAGE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13698" y="4515993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Fallback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planned per get_gradient_capabilities [S1]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TWO GOVERNED LANES ARE AVAILABLE WITHOUT SERVER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58521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4242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Realized shortfall from selection; expected gain from selection; Alternatives drives both [S2][S3].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1764792"/>
            <a:ext cx="1058875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evidence only; no local subtraction or accumulation.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6712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SUMMARY EFFECTS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2441448"/>
          <a:ext cx="10908792" cy="377647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TWO GOVERNED LANES ARE AVAILABLE WITHOUT SERVER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SUMMARY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270509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41502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415028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52475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Historical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80822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Selection is the dominant returned realized shortfall, driven by Alternatives [S2]. Why it matters: It bridges the +2.75% benchmark return to the -3.35% portfolio return. Uncertainty: One realized window may not persist. What would change the view: A later governed period with a different returned selection effect.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Ex 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Selection is the dominant returned expected gain, driven by Alternatives [S3]. Why it matters: It bridges the 6.20% expected benchmark return to the 7.88% expected portfolio return. Uncertainty: Inputs are governed assumptions. What would change the view: Refreshed inputs with a different returned selection effect.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TWO GOVERNED LANES ARE AVAILABLE WITHOUT SERVER COMPARISON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Comparison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Comparison capability is unavailable [S1]. Why it matters: Persistence cannot be assessed. Uncertainty: A future tool may return metrics. What would change the view: Published capability.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PORTFOLIO, BENCHMARK, COHORT AND CURRENCY IDENTIFIERS MATCH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Scope and Compatibility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99032"/>
            <a:ext cx="73152" cy="1867301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96112" y="1371600"/>
            <a:ext cx="10588752" cy="10058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Compatible for display-only fallback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23160"/>
            <a:ext cx="10588752" cy="6040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Portfolio, benchmark role, parent cohort and calculation currency match [S2][S3].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449213"/>
          <a:ext cx="10908792" cy="27687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384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38435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Compatibility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identifiers match [S2][S3]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EFFECTS BY 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HISTORICAL PORTFOLIO AND BENCHMARK AVERAGE WEIGHTS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LINKED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ALTERNATIVES SELECTION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2684907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309360" y="4394834"/>
            <a:ext cx="5239512" cy="6858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309360" y="4394834"/>
            <a:ext cx="54864" cy="68580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73952" y="4504563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Returned cumulative growth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4788026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available — cumulative_growth was not returned.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5190363"/>
            <a:ext cx="5239512" cy="10275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Rectangle 17"/>
          <p:cNvSpPr/>
          <p:nvPr/>
        </p:nvSpPr>
        <p:spPr>
          <a:xfrm>
            <a:off x="6309360" y="5190363"/>
            <a:ext cx="54864" cy="10275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73952" y="5300091"/>
            <a:ext cx="494690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leads detractors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5583554"/>
            <a:ext cx="4946904" cy="54292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Returned selection is the -5.40pp dominant realized shortfall and Alternatives contributes -4.85pp [S2]. Why it matters: Selection drives the returned bridge from +2.75% benchmark return to -3.35%…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REALIZED EFFECTS ARE SHOWN WITHOUT RECALCULATION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Historical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and excess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diagnostics.entity_return_reconciliation keeps attribution-summary excess against the linked segment benchmark composite separate from historical-return excess against the policy benchmark entity [S2].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EFFECTS BY SEGMENT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 ANTE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assumption_set_name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 Strategic CMA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regime_name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user-defined regime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 year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portfolio_return_source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allocation_expected_return_base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benchmark_return_source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benchmark_expected_return_base 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EXPECTED EFFECTS ARE SHOWN AS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Governed Ex Ante Attribution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PORTFOLIO AND BENCHMARK RETURNS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366141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371338"/>
            <a:ext cx="10908792" cy="84658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371338"/>
            <a:ext cx="54864" cy="84658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48106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Selection leads expectations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764530"/>
            <a:ext cx="10616184" cy="36195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Returned selection is the +1.25pp dominant expected gain and Alternatives contributes +1.05pp [S3]. Why it matters: Selection drives the returned bridge from 6.20% expected benchmark return to…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SIMULATION CAPABILITY IS PLANNED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Simulated Attribution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05370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05370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56907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Planned per get_gradient_capabilities [S1].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489310"/>
          <a:ext cx="10908792" cy="2318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727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727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Planned per capability source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727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Invocation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called because capability is unavailable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4917183"/>
            <a:ext cx="10908792" cy="130073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4917183"/>
            <a:ext cx="54864" cy="130073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502691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Simulation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310375"/>
            <a:ext cx="10616184" cy="8161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Simulation is planned per the capability source [S1]. Why it matters: Scenario effects cannot be assessed. Uncertainty: Capability readiness may change. What would change the view: A…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LANES ARE DISPLAYED WHILE COMPARISON REMAINS PLANNED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6858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68580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Planned per get_gradient_capabilities [S1].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CROSS-LANE EFFECT MATRIX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40080" y="2395727"/>
          <a:ext cx="10908792" cy="38221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955547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555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</a:t>
                      </a:r>
                    </a:p>
                  </a:txBody>
                  <a:tcPr marL="54864" marR="54864" marT="27432" marB="27432" anchor="ctr">
                    <a:solidFill>
                      <a:srgbClr val="CEF45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555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Selection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-0.1</a:t>
                      </a:r>
                    </a:p>
                  </a:txBody>
                  <a:tcPr marL="54864" marR="54864" marT="27432" marB="27432" anchor="ctr">
                    <a:solidFill>
                      <a:srgbClr val="DAF585"/>
                    </a:solidFill>
                  </a:tcPr>
                </a:tc>
              </a:tr>
              <a:tr h="95555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Interaction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6F57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0.05</a:t>
                      </a:r>
                    </a:p>
                  </a:txBody>
                  <a:tcPr marL="54864" marR="54864" marT="27432" marB="27432" anchor="ctr">
                    <a:solidFill>
                      <a:srgbClr val="D4F56C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LANES ARE DISPLAYED WHILE COMPARISON REMAINS PLANNED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RETURNED EFFECTS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EXPECTED RETURNED EFFECTS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RETURNED LANES ARE DISPLAYED WHILE COMPARISON REMAINS PLANNED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Cross-Lane Comparison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79181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79181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Unavailable comparison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30718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Differences, concentration, persistence, and Sources that persist are unavailable without a governed comparison result [S1].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2227422"/>
          <a:ext cx="10908792" cy="29033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8066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8066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 differences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Requires governed comparison output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066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local aggregation permitted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8066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Persistence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server persistence metric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8066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Sources that persist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 governed comparison result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5240469"/>
            <a:ext cx="10908792" cy="97745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640080" y="5240469"/>
            <a:ext cx="54864" cy="97745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04671" y="535019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Comparison unavailable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5633661"/>
            <a:ext cx="10616184" cy="4928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Comparison is planned per get_gradient_capabilities [S1]. Why it matters: No persistence claim is supported. Uncertainty: Planned capability timing is not returned. What would change the view: A…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HISTORICAL AND EX ANTE LANES RETURNED; SIMULATION AND COMPARISON ARE NOT YET AVAILABLE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and Limitations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122301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attribution returned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attribution returned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22301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Simulation and comparison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Not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 yet available on this connector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SOURCE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325880"/>
          <a:ext cx="10908792" cy="1251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128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28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Capability gate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get_gradient_capabilities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28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 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get_portfolio_attribution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28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 ante 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get_portfolio_ex_ante_attribution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2026-09-30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595664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88272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3162592"/>
          <a:ext cx="10908792" cy="977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4429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442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442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4429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4158057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scope for every source: Illustrative sample data. Each digest is the SHA-256 fingerprint of the exact data the report used.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50665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RETURNED SIGN BY SEGMENT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4724985"/>
          <a:ext cx="10908792" cy="12917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25835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Lane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Segment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effect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sign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58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8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Historical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-0.8pp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Negative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258353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Public Equity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+0.27pp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5835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ex ante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+0.08pp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Positive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Signs classify returned effects only; no cross-lane arithmetic [S2][S3].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GOVERNED SOURCE INVENTORY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Method boundary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Each lane keeps its own method, period, benchmark role and currency, and values are shown as returned; a missing simulation or comparison capability is a limitation, not a zero value [S1][S2][S3].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Investment Committee · Data as of 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Total Fund Attribution Comparison</dc:title>
  <dc:subject>Attribution Comparison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