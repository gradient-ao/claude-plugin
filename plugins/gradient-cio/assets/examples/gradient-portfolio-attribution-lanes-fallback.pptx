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a="http://schemas.openxmlformats.org/drawingml/2006/main" xmlns:ns0="http://schemas.openxmlformats.org/presentationml/2006/main" xmlns:ns1="http://schemas.openxmlformats.org/officeDocument/2006/relationships" saveSubsetFonts="1" autoCompressPictures="0">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 id="274" ns1:id="rId25"/>
    <ns0:sldId id="275" ns1:id="rId26"/>
    <ns0:sldId id="276" ns1:id="rId27"/>
    <ns0:sldId id="277" ns1:id="rId28"/>
    <ns0:sldId id="278" ns1:id="rId29"/>
  </ns0:sldIdLst>
  <ns0:sldSz cx="12191695" cy="6858000" type="screen16x9"/>
  <ns0:notesSz cx="6858000" cy="9144000"/>
  <ns0: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Sheet1!$A$2:$A$6</c:f>
              <c:strCache>
                <c:ptCount val="5"/>
                <c:pt idx="0">
                  <c:v>Benchmark return</c:v>
                </c:pt>
                <c:pt idx="1">
                  <c:v>Allocation</c:v>
                </c:pt>
                <c:pt idx="2">
                  <c:v>Selection</c:v>
                </c:pt>
                <c:pt idx="3">
                  <c:v>Interaction</c:v>
                </c:pt>
                <c:pt idx="4">
                  <c:v>Portfolio return</c:v>
                </c:pt>
              </c:strCache>
            </c:strRef>
          </c:cat>
          <c:val>
            <c:numRef>
              <c:f>Sheet1!$B$2:$B$6</c:f>
              <c:numCache>
                <c:formatCode>General</c:formatCode>
                <c:ptCount val="5"/>
                <c:pt idx="0">
                  <c:v>0.0</c:v>
                </c:pt>
                <c:pt idx="1">
                  <c:v>2.3</c:v>
                </c:pt>
                <c:pt idx="2">
                  <c:v>0.0</c:v>
                </c:pt>
                <c:pt idx="3">
                  <c:v>0.0</c:v>
                </c:pt>
                <c:pt idx="4">
                  <c:v>0.0</c:v>
                </c:pt>
              </c:numCache>
            </c:numRef>
          </c:val>
        </c:ser>
        <c:ser>
          <c:idx val="1"/>
          <c:order val="1"/>
          <c:tx>
            <c:strRef>
              <c:f>Sheet1!$C$1</c:f>
              <c:strCache>
                <c:ptCount val="1"/>
                <c:pt idx="0">
                  <c:v>Increase</c:v>
                </c:pt>
              </c:strCache>
            </c:strRef>
          </c:tx>
          <c:spPr>
            <a:solidFill>
              <a:srgbClr val="C6F432"/>
            </a:solidFill>
          </c:spPr>
          <c:cat>
            <c:strRef>
              <c:f>Sheet1!$A$2:$A$6</c:f>
              <c:strCache>
                <c:ptCount val="5"/>
                <c:pt idx="0">
                  <c:v>Benchmark return</c:v>
                </c:pt>
                <c:pt idx="1">
                  <c:v>Allocation</c:v>
                </c:pt>
                <c:pt idx="2">
                  <c:v>Selection</c:v>
                </c:pt>
                <c:pt idx="3">
                  <c:v>Interaction</c:v>
                </c:pt>
                <c:pt idx="4">
                  <c:v>Portfolio return</c:v>
                </c:pt>
              </c:strCache>
            </c:strRef>
          </c:cat>
          <c:val>
            <c:numRef>
              <c:f>Sheet1!$C$2:$C$6</c:f>
              <c:numCache>
                <c:formatCode>General</c:formatCode>
                <c:ptCount val="5"/>
                <c:pt idx="0">
                  <c:v>2.75</c:v>
                </c:pt>
                <c:pt idx="1">
                  <c:v>0.0</c:v>
                </c:pt>
                <c:pt idx="2">
                  <c:v>0.0</c:v>
                </c:pt>
                <c:pt idx="3">
                  <c:v>0.0</c:v>
                </c:pt>
                <c:pt idx="4">
                  <c:v>0.0</c:v>
                </c:pt>
              </c:numCache>
            </c:numRef>
          </c:val>
        </c:ser>
        <c:ser>
          <c:idx val="2"/>
          <c:order val="2"/>
          <c:tx>
            <c:strRef>
              <c:f>Sheet1!$D$1</c:f>
              <c:strCache>
                <c:ptCount val="1"/>
                <c:pt idx="0">
                  <c:v>Decrease</c:v>
                </c:pt>
              </c:strCache>
            </c:strRef>
          </c:tx>
          <c:spPr>
            <a:solidFill>
              <a:srgbClr val="FF6B5E"/>
            </a:solidFill>
          </c:spPr>
          <c:cat>
            <c:strRef>
              <c:f>Sheet1!$A$2:$A$6</c:f>
              <c:strCache>
                <c:ptCount val="5"/>
                <c:pt idx="0">
                  <c:v>Benchmark return</c:v>
                </c:pt>
                <c:pt idx="1">
                  <c:v>Allocation</c:v>
                </c:pt>
                <c:pt idx="2">
                  <c:v>Selection</c:v>
                </c:pt>
                <c:pt idx="3">
                  <c:v>Interaction</c:v>
                </c:pt>
                <c:pt idx="4">
                  <c:v>Portfolio return</c:v>
                </c:pt>
              </c:strCache>
            </c:strRef>
          </c:cat>
          <c:val>
            <c:numRef>
              <c:f>Sheet1!$D$2:$D$6</c:f>
              <c:numCache>
                <c:formatCode>General</c:formatCode>
                <c:ptCount val="5"/>
                <c:pt idx="0">
                  <c:v>0.0</c:v>
                </c:pt>
                <c:pt idx="1">
                  <c:v>0.45</c:v>
                </c:pt>
                <c:pt idx="2">
                  <c:v>5.4</c:v>
                </c:pt>
                <c:pt idx="3">
                  <c:v>0.25</c:v>
                </c:pt>
                <c:pt idx="4">
                  <c:v>3.35</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Sheet1!$A$2:$A$6</c:f>
              <c:strCache>
                <c:ptCount val="5"/>
                <c:pt idx="0">
                  <c:v>Benchmark return</c:v>
                </c:pt>
                <c:pt idx="1">
                  <c:v>Allocation</c:v>
                </c:pt>
                <c:pt idx="2">
                  <c:v>Selection</c:v>
                </c:pt>
                <c:pt idx="3">
                  <c:v>Interaction</c:v>
                </c:pt>
                <c:pt idx="4">
                  <c:v>Portfolio return</c:v>
                </c:pt>
              </c:strCache>
            </c:strRef>
          </c:cat>
          <c:val>
            <c:numRef>
              <c:f>Sheet1!$B$2:$B$6</c:f>
              <c:numCache>
                <c:formatCode>General</c:formatCode>
                <c:ptCount val="5"/>
                <c:pt idx="0">
                  <c:v>0.0</c:v>
                </c:pt>
                <c:pt idx="1">
                  <c:v>6.2</c:v>
                </c:pt>
                <c:pt idx="2">
                  <c:v>6.48</c:v>
                </c:pt>
                <c:pt idx="3">
                  <c:v>7.73</c:v>
                </c:pt>
                <c:pt idx="4">
                  <c:v>0.0</c:v>
                </c:pt>
              </c:numCache>
            </c:numRef>
          </c:val>
        </c:ser>
        <c:ser>
          <c:idx val="1"/>
          <c:order val="1"/>
          <c:tx>
            <c:strRef>
              <c:f>Sheet1!$C$1</c:f>
              <c:strCache>
                <c:ptCount val="1"/>
                <c:pt idx="0">
                  <c:v>Increase</c:v>
                </c:pt>
              </c:strCache>
            </c:strRef>
          </c:tx>
          <c:spPr>
            <a:solidFill>
              <a:srgbClr val="C6F432"/>
            </a:solidFill>
          </c:spPr>
          <c:cat>
            <c:strRef>
              <c:f>Sheet1!$A$2:$A$6</c:f>
              <c:strCache>
                <c:ptCount val="5"/>
                <c:pt idx="0">
                  <c:v>Benchmark return</c:v>
                </c:pt>
                <c:pt idx="1">
                  <c:v>Allocation</c:v>
                </c:pt>
                <c:pt idx="2">
                  <c:v>Selection</c:v>
                </c:pt>
                <c:pt idx="3">
                  <c:v>Interaction</c:v>
                </c:pt>
                <c:pt idx="4">
                  <c:v>Portfolio return</c:v>
                </c:pt>
              </c:strCache>
            </c:strRef>
          </c:cat>
          <c:val>
            <c:numRef>
              <c:f>Sheet1!$C$2:$C$6</c:f>
              <c:numCache>
                <c:formatCode>General</c:formatCode>
                <c:ptCount val="5"/>
                <c:pt idx="0">
                  <c:v>6.2</c:v>
                </c:pt>
                <c:pt idx="1">
                  <c:v>0.28</c:v>
                </c:pt>
                <c:pt idx="2">
                  <c:v>1.25</c:v>
                </c:pt>
                <c:pt idx="3">
                  <c:v>0.15</c:v>
                </c:pt>
                <c:pt idx="4">
                  <c:v>7.88</c:v>
                </c:pt>
              </c:numCache>
            </c:numRef>
          </c:val>
        </c:ser>
        <c:ser>
          <c:idx val="2"/>
          <c:order val="2"/>
          <c:tx>
            <c:strRef>
              <c:f>Sheet1!$D$1</c:f>
              <c:strCache>
                <c:ptCount val="1"/>
                <c:pt idx="0">
                  <c:v>Decrease</c:v>
                </c:pt>
              </c:strCache>
            </c:strRef>
          </c:tx>
          <c:spPr>
            <a:solidFill>
              <a:srgbClr val="FF6B5E"/>
            </a:solidFill>
          </c:spPr>
          <c:cat>
            <c:strRef>
              <c:f>Sheet1!$A$2:$A$6</c:f>
              <c:strCache>
                <c:ptCount val="5"/>
                <c:pt idx="0">
                  <c:v>Benchmark return</c:v>
                </c:pt>
                <c:pt idx="1">
                  <c:v>Allocation</c:v>
                </c:pt>
                <c:pt idx="2">
                  <c:v>Selection</c:v>
                </c:pt>
                <c:pt idx="3">
                  <c:v>Interaction</c:v>
                </c:pt>
                <c:pt idx="4">
                  <c:v>Portfolio return</c:v>
                </c:pt>
              </c:strCache>
            </c:strRef>
          </c:cat>
          <c:val>
            <c:numRef>
              <c:f>Sheet1!$D$2:$D$6</c:f>
              <c:numCache>
                <c:formatCode>General</c:formatCode>
                <c:ptCount val="5"/>
                <c:pt idx="0">
                  <c:v>0.0</c:v>
                </c:pt>
                <c:pt idx="1">
                  <c:v>0.0</c:v>
                </c:pt>
                <c:pt idx="2">
                  <c:v>0.0</c:v>
                </c:pt>
                <c:pt idx="3">
                  <c:v>0.0</c:v>
                </c:pt>
                <c:pt idx="4">
                  <c:v>0.0</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Allocation</c:v>
                </c:pt>
              </c:strCache>
            </c:strRef>
          </c:tx>
          <c:spPr>
            <a:solidFill>
              <a:srgbClr val="0D1117"/>
            </a:solidFill>
          </c:spPr>
          <c:cat>
            <c:strRef>
              <c:f>Sheet1!$A$2:$A$3</c:f>
              <c:strCache>
                <c:ptCount val="2"/>
                <c:pt idx="0">
                  <c:v>Public Equity</c:v>
                </c:pt>
                <c:pt idx="1">
                  <c:v>Alternatives</c:v>
                </c:pt>
              </c:strCache>
            </c:strRef>
          </c:cat>
          <c:val>
            <c:numRef>
              <c:f>Sheet1!$B$2:$B$3</c:f>
              <c:numCache>
                <c:formatCode>General</c:formatCode>
                <c:ptCount val="2"/>
                <c:pt idx="0">
                  <c:v>-0.1</c:v>
                </c:pt>
                <c:pt idx="1">
                  <c:v>-0.35</c:v>
                </c:pt>
              </c:numCache>
            </c:numRef>
          </c:val>
        </c:ser>
        <c:ser>
          <c:idx val="1"/>
          <c:order val="1"/>
          <c:tx>
            <c:strRef>
              <c:f>Sheet1!$C$1</c:f>
              <c:strCache>
                <c:ptCount val="1"/>
                <c:pt idx="0">
                  <c:v>Selection</c:v>
                </c:pt>
              </c:strCache>
            </c:strRef>
          </c:tx>
          <c:spPr>
            <a:solidFill>
              <a:srgbClr val="7FA600"/>
            </a:solidFill>
          </c:spPr>
          <c:cat>
            <c:strRef>
              <c:f>Sheet1!$A$2:$A$3</c:f>
              <c:strCache>
                <c:ptCount val="2"/>
                <c:pt idx="0">
                  <c:v>Public Equity</c:v>
                </c:pt>
                <c:pt idx="1">
                  <c:v>Alternatives</c:v>
                </c:pt>
              </c:strCache>
            </c:strRef>
          </c:cat>
          <c:val>
            <c:numRef>
              <c:f>Sheet1!$C$2:$C$3</c:f>
              <c:numCache>
                <c:formatCode>General</c:formatCode>
                <c:ptCount val="2"/>
                <c:pt idx="0">
                  <c:v>-0.55</c:v>
                </c:pt>
                <c:pt idx="1">
                  <c:v>-4.85</c:v>
                </c:pt>
              </c:numCache>
            </c:numRef>
          </c:val>
        </c:ser>
        <c:ser>
          <c:idx val="2"/>
          <c:order val="2"/>
          <c:tx>
            <c:strRef>
              <c:f>Sheet1!$D$1</c:f>
              <c:strCache>
                <c:ptCount val="1"/>
                <c:pt idx="0">
                  <c:v>Interaction</c:v>
                </c:pt>
              </c:strCache>
            </c:strRef>
          </c:tx>
          <c:spPr>
            <a:solidFill>
              <a:srgbClr val="F2A93B"/>
            </a:solidFill>
          </c:spPr>
          <c:cat>
            <c:strRef>
              <c:f>Sheet1!$A$2:$A$3</c:f>
              <c:strCache>
                <c:ptCount val="2"/>
                <c:pt idx="0">
                  <c:v>Public Equity</c:v>
                </c:pt>
                <c:pt idx="1">
                  <c:v>Alternatives</c:v>
                </c:pt>
              </c:strCache>
            </c:strRef>
          </c:cat>
          <c:val>
            <c:numRef>
              <c:f>Sheet1!$D$2:$D$3</c:f>
              <c:numCache>
                <c:formatCode>General</c:formatCode>
                <c:ptCount val="2"/>
                <c:pt idx="0">
                  <c:v>-0.05</c:v>
                </c:pt>
                <c:pt idx="1">
                  <c:v>-0.2</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Lbls>
            <c:dLbl>
              <c:idx val="0"/>
              <c:tx>
                <c:rich>
                  <a:bodyPr/>
                  <a:lstStyle/>
                  <a:p>
                    <a:r>
                      <a:rPr lang="en-US" sz="800"/>
                      <a:t>60.0%</a:t>
                    </a:r>
                  </a:p>
                </c:rich>
              </c:tx>
              <c:dLblPos val="outEnd"/>
              <c:showLegendKey val="0"/>
              <c:showVal val="0"/>
              <c:showCatName val="0"/>
              <c:showSerName val="0"/>
              <c:showPercent val="0"/>
              <c:showBubbleSize val="0"/>
            </c:dLbl>
            <c:dLbl>
              <c:idx val="1"/>
              <c:tx>
                <c:rich>
                  <a:bodyPr/>
                  <a:lstStyle/>
                  <a:p>
                    <a:r>
                      <a:rPr lang="en-US" sz="800"/>
                      <a:t>55.0%</a:t>
                    </a:r>
                  </a:p>
                </c:rich>
              </c:tx>
              <c:dLblPos val="outEnd"/>
              <c:showLegendKey val="0"/>
              <c:showVal val="0"/>
              <c:showCatName val="0"/>
              <c:showSerName val="0"/>
              <c:showPercent val="0"/>
              <c:showBubbleSize val="0"/>
            </c:dLbl>
            <c:dLbl>
              <c:idx val="2"/>
              <c:tx>
                <c:rich>
                  <a:bodyPr/>
                  <a:lstStyle/>
                  <a:p>
                    <a:r>
                      <a:rPr lang="en-US" sz="800"/>
                      <a:t>40.0%</a:t>
                    </a:r>
                  </a:p>
                </c:rich>
              </c:tx>
              <c:dLblPos val="outEnd"/>
              <c:showLegendKey val="0"/>
              <c:showVal val="0"/>
              <c:showCatName val="0"/>
              <c:showSerName val="0"/>
              <c:showPercent val="0"/>
              <c:showBubbleSize val="0"/>
            </c:dLbl>
            <c:dLbl>
              <c:idx val="3"/>
              <c:tx>
                <c:rich>
                  <a:bodyPr/>
                  <a:lstStyle/>
                  <a:p>
                    <a:r>
                      <a:rPr lang="en-US" sz="800"/>
                      <a:t>45.0%</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Sheet1!$A$2:$A$5</c:f>
              <c:strCache>
                <c:ptCount val="4"/>
                <c:pt idx="0">
                  <c:v>Public Equity · portfolio</c:v>
                </c:pt>
                <c:pt idx="1">
                  <c:v>Public Equity · benchmark</c:v>
                </c:pt>
                <c:pt idx="2">
                  <c:v>Alternatives · portfolio</c:v>
                </c:pt>
                <c:pt idx="3">
                  <c:v>Alternatives · benchmark</c:v>
                </c:pt>
              </c:strCache>
            </c:strRef>
          </c:cat>
          <c:val>
            <c:numRef>
              <c:f>Sheet1!$B$2:$B$5</c:f>
              <c:numCache>
                <c:formatCode>General</c:formatCode>
                <c:ptCount val="4"/>
                <c:pt idx="0">
                  <c:v>60.0</c:v>
                </c:pt>
                <c:pt idx="1">
                  <c:v>55.0</c:v>
                </c:pt>
                <c:pt idx="2">
                  <c:v>40.0</c:v>
                </c:pt>
                <c:pt idx="3">
                  <c:v>45.0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Allocation</c:v>
                </c:pt>
              </c:strCache>
            </c:strRef>
          </c:tx>
          <c:spPr>
            <a:ln w="22860">
              <a:solidFill>
                <a:srgbClr val="0D1117"/>
              </a:solidFill>
            </a:ln>
          </c:spPr>
          <c:cat>
            <c:strRef>
              <c:f>Sheet1!$A$2:$A$4</c:f>
              <c:strCache>
                <c:ptCount val="3"/>
                <c:pt idx="0">
                  <c:v>2025-10-31</c:v>
                </c:pt>
                <c:pt idx="1">
                  <c:v>2026-03-31</c:v>
                </c:pt>
                <c:pt idx="2">
                  <c:v>2026-09-30</c:v>
                </c:pt>
              </c:strCache>
            </c:strRef>
          </c:cat>
          <c:val>
            <c:numRef>
              <c:f>Sheet1!$B$2:$B$4</c:f>
              <c:numCache>
                <c:formatCode>General</c:formatCode>
                <c:ptCount val="3"/>
                <c:pt idx="0">
                  <c:v>-0.05</c:v>
                </c:pt>
                <c:pt idx="1">
                  <c:v>-0.22</c:v>
                </c:pt>
                <c:pt idx="2">
                  <c:v>-0.45</c:v>
                </c:pt>
              </c:numCache>
            </c:numRef>
          </c:val>
          <c:smooth val="0"/>
        </c:ser>
        <c:ser>
          <c:idx val="1"/>
          <c:order val="1"/>
          <c:tx>
            <c:strRef>
              <c:f>Sheet1!$C$1</c:f>
              <c:strCache>
                <c:ptCount val="1"/>
                <c:pt idx="0">
                  <c:v>Selection</c:v>
                </c:pt>
              </c:strCache>
            </c:strRef>
          </c:tx>
          <c:spPr>
            <a:ln w="22860">
              <a:solidFill>
                <a:srgbClr val="7FA600"/>
              </a:solidFill>
            </a:ln>
          </c:spPr>
          <c:cat>
            <c:strRef>
              <c:f>Sheet1!$A$2:$A$4</c:f>
              <c:strCache>
                <c:ptCount val="3"/>
                <c:pt idx="0">
                  <c:v>2025-10-31</c:v>
                </c:pt>
                <c:pt idx="1">
                  <c:v>2026-03-31</c:v>
                </c:pt>
                <c:pt idx="2">
                  <c:v>2026-09-30</c:v>
                </c:pt>
              </c:strCache>
            </c:strRef>
          </c:cat>
          <c:val>
            <c:numRef>
              <c:f>Sheet1!$C$2:$C$4</c:f>
              <c:numCache>
                <c:formatCode>General</c:formatCode>
                <c:ptCount val="3"/>
                <c:pt idx="0">
                  <c:v>-0.4</c:v>
                </c:pt>
                <c:pt idx="1">
                  <c:v>-2.75</c:v>
                </c:pt>
                <c:pt idx="2">
                  <c:v>-5.4</c:v>
                </c:pt>
              </c:numCache>
            </c:numRef>
          </c:val>
          <c:smooth val="0"/>
        </c:ser>
        <c:ser>
          <c:idx val="2"/>
          <c:order val="2"/>
          <c:tx>
            <c:strRef>
              <c:f>Sheet1!$D$1</c:f>
              <c:strCache>
                <c:ptCount val="1"/>
                <c:pt idx="0">
                  <c:v>Interaction</c:v>
                </c:pt>
              </c:strCache>
            </c:strRef>
          </c:tx>
          <c:spPr>
            <a:ln w="22860">
              <a:solidFill>
                <a:srgbClr val="F2A93B"/>
              </a:solidFill>
            </a:ln>
          </c:spPr>
          <c:cat>
            <c:strRef>
              <c:f>Sheet1!$A$2:$A$4</c:f>
              <c:strCache>
                <c:ptCount val="3"/>
                <c:pt idx="0">
                  <c:v>2025-10-31</c:v>
                </c:pt>
                <c:pt idx="1">
                  <c:v>2026-03-31</c:v>
                </c:pt>
                <c:pt idx="2">
                  <c:v>2026-09-30</c:v>
                </c:pt>
              </c:strCache>
            </c:strRef>
          </c:cat>
          <c:val>
            <c:numRef>
              <c:f>Sheet1!$D$2:$D$4</c:f>
              <c:numCache>
                <c:formatCode>General</c:formatCode>
                <c:ptCount val="3"/>
                <c:pt idx="0">
                  <c:v>-0.02</c:v>
                </c:pt>
                <c:pt idx="1">
                  <c:v>-0.11</c:v>
                </c:pt>
                <c:pt idx="2">
                  <c:v>-0.25</c:v>
                </c:pt>
              </c:numCache>
            </c:numRef>
          </c:val>
          <c:smooth val="0"/>
        </c:ser>
        <c:ser>
          <c:idx val="3"/>
          <c:order val="3"/>
          <c:tx>
            <c:strRef>
              <c:f>Sheet1!$E$1</c:f>
              <c:strCache>
                <c:ptCount val="1"/>
                <c:pt idx="0">
                  <c:v>Total</c:v>
                </c:pt>
              </c:strCache>
            </c:strRef>
          </c:tx>
          <c:spPr>
            <a:ln w="22860">
              <a:solidFill>
                <a:srgbClr val="5B8DEF"/>
              </a:solidFill>
            </a:ln>
          </c:spPr>
          <c:cat>
            <c:strRef>
              <c:f>Sheet1!$A$2:$A$4</c:f>
              <c:strCache>
                <c:ptCount val="3"/>
                <c:pt idx="0">
                  <c:v>2025-10-31</c:v>
                </c:pt>
                <c:pt idx="1">
                  <c:v>2026-03-31</c:v>
                </c:pt>
                <c:pt idx="2">
                  <c:v>2026-09-30</c:v>
                </c:pt>
              </c:strCache>
            </c:strRef>
          </c:cat>
          <c:val>
            <c:numRef>
              <c:f>Sheet1!$E$2:$E$4</c:f>
              <c:numCache>
                <c:formatCode>General</c:formatCode>
                <c:ptCount val="3"/>
                <c:pt idx="0">
                  <c:v>-0.47</c:v>
                </c:pt>
                <c:pt idx="1">
                  <c:v>-3.08</c:v>
                </c:pt>
                <c:pt idx="2">
                  <c:v>-6.1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700"/>
            </a:pPr>
          </a:p>
        </c:txPr>
        <c:crossAx val="2140495176"/>
        <c:crosses val="autoZero"/>
        <c:auto val="1"/>
        <c:lblAlgn val="ctr"/>
        <c:lblOffset val="100"/>
        <c:noMultiLvlLbl val="0"/>
      </c:catAx>
      <c:valAx>
        <c:axId val="2140495176"/>
        <c:scaling/>
        <c:delete val="0"/>
        <c:axPos val="l"/>
        <c:majorGridlines/>
        <c:numFmt formatCode="0.00&quot;pp&quot;" sourceLinked="0"/>
        <c:majorTickMark val="out"/>
        <c:minorTickMark val="none"/>
        <c:tickLblPos val="nextTo"/>
        <c:txPr>
          <a:bodyPr/>
          <a:lstStyle/>
          <a:p>
            <a:pPr>
              <a:defRPr sz="800"/>
            </a:pPr>
          </a:p>
        </c:txPr>
        <c:crossAx val="2118791784"/>
        <c:crosses val="autoZero"/>
      </c:valAx>
    </c:plotArea>
    <c:legend>
      <c:legendPos val="b"/>
      <c:layout/>
      <c:overlay val="0"/>
      <c:txPr>
        <a:bodyPr/>
        <a:lstStyle/>
        <a:p>
          <a:pPr>
            <a:defRPr sz="700"/>
          </a:pPr>
        </a:p>
      </c:txPr>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Alternatives selection</c:v>
                </c:pt>
              </c:strCache>
            </c:strRef>
          </c:tx>
          <c:spPr>
            <a:ln w="22860">
              <a:solidFill>
                <a:srgbClr val="0D1117"/>
              </a:solidFill>
            </a:ln>
          </c:spPr>
          <c:cat>
            <c:strRef>
              <c:f>Sheet1!$A$2:$A$4</c:f>
              <c:strCache>
                <c:ptCount val="3"/>
                <c:pt idx="0">
                  <c:v>2025-10-31</c:v>
                </c:pt>
                <c:pt idx="1">
                  <c:v>2026-03-31</c:v>
                </c:pt>
                <c:pt idx="2">
                  <c:v>2026-09-30</c:v>
                </c:pt>
              </c:strCache>
            </c:strRef>
          </c:cat>
          <c:val>
            <c:numRef>
              <c:f>Sheet1!$B$2:$B$4</c:f>
              <c:numCache>
                <c:formatCode>General</c:formatCode>
                <c:ptCount val="3"/>
                <c:pt idx="0">
                  <c:v>-0.35</c:v>
                </c:pt>
                <c:pt idx="1">
                  <c:v>-2.4</c:v>
                </c:pt>
                <c:pt idx="2">
                  <c:v>-4.85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700"/>
            </a:pPr>
          </a:p>
        </c:txPr>
        <c:crossAx val="2140495176"/>
        <c:crosses val="autoZero"/>
        <c:auto val="1"/>
        <c:lblAlgn val="ctr"/>
        <c:lblOffset val="100"/>
        <c:noMultiLvlLbl val="0"/>
      </c:catAx>
      <c:valAx>
        <c:axId val="2140495176"/>
        <c:scaling/>
        <c:delete val="0"/>
        <c:axPos val="l"/>
        <c:majorGridlines/>
        <c:numFmt formatCode="0.00&quot;pp&quot;" sourceLinked="0"/>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Allocation</c:v>
                </c:pt>
              </c:strCache>
            </c:strRef>
          </c:tx>
          <c:spPr>
            <a:solidFill>
              <a:srgbClr val="0D1117"/>
            </a:solidFill>
          </c:spPr>
          <c:cat>
            <c:strRef>
              <c:f>Sheet1!$A$2:$A$3</c:f>
              <c:strCache>
                <c:ptCount val="2"/>
                <c:pt idx="0">
                  <c:v>Public Equity</c:v>
                </c:pt>
                <c:pt idx="1">
                  <c:v>Alternatives</c:v>
                </c:pt>
              </c:strCache>
            </c:strRef>
          </c:cat>
          <c:val>
            <c:numRef>
              <c:f>Sheet1!$B$2:$B$3</c:f>
              <c:numCache>
                <c:formatCode>General</c:formatCode>
                <c:ptCount val="2"/>
                <c:pt idx="0">
                  <c:v>0.15</c:v>
                </c:pt>
                <c:pt idx="1">
                  <c:v>0.13</c:v>
                </c:pt>
              </c:numCache>
            </c:numRef>
          </c:val>
        </c:ser>
        <c:ser>
          <c:idx val="1"/>
          <c:order val="1"/>
          <c:tx>
            <c:strRef>
              <c:f>Sheet1!$C$1</c:f>
              <c:strCache>
                <c:ptCount val="1"/>
                <c:pt idx="0">
                  <c:v>Selection</c:v>
                </c:pt>
              </c:strCache>
            </c:strRef>
          </c:tx>
          <c:spPr>
            <a:solidFill>
              <a:srgbClr val="7FA600"/>
            </a:solidFill>
          </c:spPr>
          <c:cat>
            <c:strRef>
              <c:f>Sheet1!$A$2:$A$3</c:f>
              <c:strCache>
                <c:ptCount val="2"/>
                <c:pt idx="0">
                  <c:v>Public Equity</c:v>
                </c:pt>
                <c:pt idx="1">
                  <c:v>Alternatives</c:v>
                </c:pt>
              </c:strCache>
            </c:strRef>
          </c:cat>
          <c:val>
            <c:numRef>
              <c:f>Sheet1!$C$2:$C$3</c:f>
              <c:numCache>
                <c:formatCode>General</c:formatCode>
                <c:ptCount val="2"/>
                <c:pt idx="0">
                  <c:v>0.2</c:v>
                </c:pt>
                <c:pt idx="1">
                  <c:v>1.05</c:v>
                </c:pt>
              </c:numCache>
            </c:numRef>
          </c:val>
        </c:ser>
        <c:ser>
          <c:idx val="2"/>
          <c:order val="2"/>
          <c:tx>
            <c:strRef>
              <c:f>Sheet1!$D$1</c:f>
              <c:strCache>
                <c:ptCount val="1"/>
                <c:pt idx="0">
                  <c:v>Interaction</c:v>
                </c:pt>
              </c:strCache>
            </c:strRef>
          </c:tx>
          <c:spPr>
            <a:solidFill>
              <a:srgbClr val="F2A93B"/>
            </a:solidFill>
          </c:spPr>
          <c:cat>
            <c:strRef>
              <c:f>Sheet1!$A$2:$A$3</c:f>
              <c:strCache>
                <c:ptCount val="2"/>
                <c:pt idx="0">
                  <c:v>Public Equity</c:v>
                </c:pt>
                <c:pt idx="1">
                  <c:v>Alternatives</c:v>
                </c:pt>
              </c:strCache>
            </c:strRef>
          </c:cat>
          <c:val>
            <c:numRef>
              <c:f>Sheet1!$D$2:$D$3</c:f>
              <c:numCache>
                <c:formatCode>General</c:formatCode>
                <c:ptCount val="2"/>
                <c:pt idx="0">
                  <c:v>0.05</c:v>
                </c:pt>
                <c:pt idx="1">
                  <c:v>0.1</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Lbls>
            <c:dLbl>
              <c:idx val="0"/>
              <c:tx>
                <c:rich>
                  <a:bodyPr/>
                  <a:lstStyle/>
                  <a:p>
                    <a:r>
                      <a:rPr lang="en-US" sz="800"/>
                      <a:t>6.50%</a:t>
                    </a:r>
                  </a:p>
                </c:rich>
              </c:tx>
              <c:dLblPos val="outEnd"/>
              <c:showLegendKey val="0"/>
              <c:showVal val="0"/>
              <c:showCatName val="0"/>
              <c:showSerName val="0"/>
              <c:showPercent val="0"/>
              <c:showBubbleSize val="0"/>
            </c:dLbl>
            <c:dLbl>
              <c:idx val="1"/>
              <c:tx>
                <c:rich>
                  <a:bodyPr/>
                  <a:lstStyle/>
                  <a:p>
                    <a:r>
                      <a:rPr lang="en-US" sz="800"/>
                      <a:t>6.30%</a:t>
                    </a:r>
                  </a:p>
                </c:rich>
              </c:tx>
              <c:dLblPos val="outEnd"/>
              <c:showLegendKey val="0"/>
              <c:showVal val="0"/>
              <c:showCatName val="0"/>
              <c:showSerName val="0"/>
              <c:showPercent val="0"/>
              <c:showBubbleSize val="0"/>
            </c:dLbl>
            <c:dLbl>
              <c:idx val="2"/>
              <c:tx>
                <c:rich>
                  <a:bodyPr/>
                  <a:lstStyle/>
                  <a:p>
                    <a:r>
                      <a:rPr lang="en-US" sz="800"/>
                      <a:t>9.95%</a:t>
                    </a:r>
                  </a:p>
                </c:rich>
              </c:tx>
              <c:dLblPos val="outEnd"/>
              <c:showLegendKey val="0"/>
              <c:showVal val="0"/>
              <c:showCatName val="0"/>
              <c:showSerName val="0"/>
              <c:showPercent val="0"/>
              <c:showBubbleSize val="0"/>
            </c:dLbl>
            <c:dLbl>
              <c:idx val="3"/>
              <c:tx>
                <c:rich>
                  <a:bodyPr/>
                  <a:lstStyle/>
                  <a:p>
                    <a:r>
                      <a:rPr lang="en-US" sz="800"/>
                      <a:t>6.05%</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Sheet1!$A$2:$A$5</c:f>
              <c:strCache>
                <c:ptCount val="4"/>
                <c:pt idx="0">
                  <c:v>Public Equity · portfolio</c:v>
                </c:pt>
                <c:pt idx="1">
                  <c:v>Public Equity · benchmark</c:v>
                </c:pt>
                <c:pt idx="2">
                  <c:v>Alternatives · portfolio</c:v>
                </c:pt>
                <c:pt idx="3">
                  <c:v>Alternatives · benchmark</c:v>
                </c:pt>
              </c:strCache>
            </c:strRef>
          </c:cat>
          <c:val>
            <c:numRef>
              <c:f>Sheet1!$B$2:$B$5</c:f>
              <c:numCache>
                <c:formatCode>General</c:formatCode>
                <c:ptCount val="4"/>
                <c:pt idx="0">
                  <c:v>6.5</c:v>
                </c:pt>
                <c:pt idx="1">
                  <c:v>6.3</c:v>
                </c:pt>
                <c:pt idx="2">
                  <c:v>9.95</c:v>
                </c:pt>
                <c:pt idx="3">
                  <c:v>6.05</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dPt>
            <c:idx val="2"/>
            <c:spPr>
              <a:solidFill>
                <a:srgbClr val="C6F432"/>
              </a:solidFill>
            </c:spPr>
          </c:dPt>
          <c:dLbls>
            <c:dLbl>
              <c:idx val="0"/>
              <c:tx>
                <c:rich>
                  <a:bodyPr/>
                  <a:lstStyle/>
                  <a:p>
                    <a:r>
                      <a:rPr lang="en-US" sz="800"/>
                      <a:t>+0.2pp</a:t>
                    </a:r>
                  </a:p>
                </c:rich>
              </c:tx>
              <c:dLblPos val="outEnd"/>
              <c:showLegendKey val="0"/>
              <c:showVal val="0"/>
              <c:showCatName val="0"/>
              <c:showSerName val="0"/>
              <c:showPercent val="0"/>
              <c:showBubbleSize val="0"/>
            </c:dLbl>
            <c:dLbl>
              <c:idx val="1"/>
              <c:tx>
                <c:rich>
                  <a:bodyPr/>
                  <a:lstStyle/>
                  <a:p>
                    <a:r>
                      <a:rPr lang="en-US" sz="800"/>
                      <a:t>-0.8pp</a:t>
                    </a:r>
                  </a:p>
                </c:rich>
              </c:tx>
              <c:dLblPos val="outEnd"/>
              <c:showLegendKey val="0"/>
              <c:showVal val="0"/>
              <c:showCatName val="0"/>
              <c:showSerName val="0"/>
              <c:showPercent val="0"/>
              <c:showBubbleSize val="0"/>
            </c:dLbl>
            <c:dLbl>
              <c:idx val="2"/>
              <c:tx>
                <c:rich>
                  <a:bodyPr/>
                  <a:lstStyle/>
                  <a:p>
                    <a:r>
                      <a:rPr lang="en-US" sz="800"/>
                      <a:t>0.0pp</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Sheet1!$A$2:$A$4</c:f>
              <c:strCache>
                <c:ptCount val="3"/>
                <c:pt idx="0">
                  <c:v>Allocation</c:v>
                </c:pt>
                <c:pt idx="1">
                  <c:v>Selection</c:v>
                </c:pt>
                <c:pt idx="2">
                  <c:v>Interaction</c:v>
                </c:pt>
              </c:strCache>
            </c:strRef>
          </c:cat>
          <c:val>
            <c:numRef>
              <c:f>Sheet1!$B$2:$B$4</c:f>
              <c:numCache>
                <c:formatCode>General</c:formatCode>
                <c:ptCount val="3"/>
                <c:pt idx="0">
                  <c:v>0.2</c:v>
                </c:pt>
                <c:pt idx="1">
                  <c:v>-0.8</c:v>
                </c:pt>
                <c:pt idx="2">
                  <c:v>0.0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dPt>
            <c:idx val="2"/>
            <c:spPr>
              <a:solidFill>
                <a:srgbClr val="C6F432"/>
              </a:solidFill>
            </c:spPr>
          </c:dPt>
          <c:dLbls>
            <c:dLbl>
              <c:idx val="0"/>
              <c:tx>
                <c:rich>
                  <a:bodyPr/>
                  <a:lstStyle/>
                  <a:p>
                    <a:r>
                      <a:rPr lang="en-US" sz="800"/>
                      <a:t>+0.4pp</a:t>
                    </a:r>
                  </a:p>
                </c:rich>
              </c:tx>
              <c:dLblPos val="outEnd"/>
              <c:showLegendKey val="0"/>
              <c:showVal val="0"/>
              <c:showCatName val="0"/>
              <c:showSerName val="0"/>
              <c:showPercent val="0"/>
              <c:showBubbleSize val="0"/>
            </c:dLbl>
            <c:dLbl>
              <c:idx val="1"/>
              <c:tx>
                <c:rich>
                  <a:bodyPr/>
                  <a:lstStyle/>
                  <a:p>
                    <a:r>
                      <a:rPr lang="en-US" sz="800"/>
                      <a:t>-0.1pp</a:t>
                    </a:r>
                  </a:p>
                </c:rich>
              </c:tx>
              <c:dLblPos val="outEnd"/>
              <c:showLegendKey val="0"/>
              <c:showVal val="0"/>
              <c:showCatName val="0"/>
              <c:showSerName val="0"/>
              <c:showPercent val="0"/>
              <c:showBubbleSize val="0"/>
            </c:dLbl>
            <c:dLbl>
              <c:idx val="2"/>
              <c:tx>
                <c:rich>
                  <a:bodyPr/>
                  <a:lstStyle/>
                  <a:p>
                    <a:r>
                      <a:rPr lang="en-US" sz="800"/>
                      <a:t>+0.05pp</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Sheet1!$A$2:$A$4</c:f>
              <c:strCache>
                <c:ptCount val="3"/>
                <c:pt idx="0">
                  <c:v>Allocation</c:v>
                </c:pt>
                <c:pt idx="1">
                  <c:v>Selection</c:v>
                </c:pt>
                <c:pt idx="2">
                  <c:v>Interaction</c:v>
                </c:pt>
              </c:strCache>
            </c:strRef>
          </c:cat>
          <c:val>
            <c:numRef>
              <c:f>Sheet1!$B$2:$B$4</c:f>
              <c:numCache>
                <c:formatCode>General</c:formatCode>
                <c:ptCount val="3"/>
                <c:pt idx="0">
                  <c:v>0.4</c:v>
                </c:pt>
                <c:pt idx="1">
                  <c:v>-0.1</c:v>
                </c:pt>
                <c:pt idx="2">
                  <c:v>0.05</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Selection leads detractors</a:t>
            </a:r>
          </a:p>
          <a:p>
            <a:r>
              <a:t>Observation: Returned selection is the -5.40pp dominant realized shortfall and Alternatives contributes -4.85pp [S2]. Why it matters: Selection drives the returned bridge from +2.75% benchmark return to -3.35% portfolio return. Uncertainty: The evidence covers one linked window. What would change the view: A later historical result with a different returned selection effect.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Selection leads expectations</a:t>
            </a:r>
          </a:p>
          <a:p>
            <a:r>
              <a:t>Observation: Returned selection is the +1.25pp dominant expected gain and Alternatives contributes +1.05pp [S3]. Why it matters: Selection drives the returned bridge from 6.20% expected benchmark return to 7.88% expected portfolio return. Uncertainty: Inputs are governed assumptions. What would change the view: A refreshed ex ante result with a different returned selection effect.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Simulation unavailable</a:t>
            </a:r>
          </a:p>
          <a:p>
            <a:r>
              <a:t>Observation: Simulation is planned per the capability source [S1]. Why it matters: Scenario effects cannot be assessed. Uncertainty: Capability readiness may change. What would change the view: A capability response marking the exact simulation tool available.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Comparison unavailable</a:t>
            </a:r>
          </a:p>
          <a:p>
            <a:r>
              <a:t>Observation: Comparison is planned per get_gradient_capabilities [S1]. Why it matters: No persistence claim is supported. Uncertainty: Planned capability timing is not returned. What would change the view: A governed comparison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 name="TextBox 3"/>
          <p:cNvSpPr txBox="1"/>
          <p:nvPr/>
        </p:nvSpPr>
        <p:spPr>
          <a:xfrm>
            <a:off x="685800" y="457200"/>
            <a:ext cx="475488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rPr>
                <a:latin typeface="Inter"/>
              </a:rPr>
              <a:t>GradientCIO</a:t>
            </a:r>
          </a:p>
        </p:txBody>
      </p:sp>
      <p:sp>
        <p:nvSpPr>
          <p:cNvPr id="5" name="TextBox 4"/>
          <p:cNvSpPr txBox="1"/>
          <p:nvPr/>
        </p:nvSpPr>
        <p:spPr>
          <a:xfrm>
            <a:off x="685800" y="1664208"/>
            <a:ext cx="9966960" cy="274320"/>
          </a:xfrm>
          <a:prstGeom prst="rect">
            <a:avLst/>
          </a:prstGeom>
          <a:noFill/>
        </p:spPr>
        <p:txBody>
          <a:bodyPr wrap="none" lIns="9144" rIns="9144" tIns="9144" bIns="9144" anchor="t">
            <a:spAutoFit/>
          </a:bodyPr>
          <a:lstStyle/>
          <a:p>
            <a:pPr algn="l">
              <a:spcAft>
                <a:spcPts val="0"/>
              </a:spcAft>
              <a:defRPr sz="850" b="1">
                <a:solidFill>
                  <a:srgbClr val="C6F432"/>
                </a:solidFill>
                <a:latin typeface="Inter"/>
              </a:defRPr>
            </a:pPr>
            <a:r>
              <a:rPr>
                <a:latin typeface="Inter"/>
              </a:rPr>
              <a:t>PORTFOLIO ATTRIBUTION COMPARISON</a:t>
            </a:r>
          </a:p>
        </p:txBody>
      </p:sp>
      <p:sp>
        <p:nvSpPr>
          <p:cNvPr id="6" name="TextBox 5"/>
          <p:cNvSpPr txBox="1"/>
          <p:nvPr/>
        </p:nvSpPr>
        <p:spPr>
          <a:xfrm>
            <a:off x="685800" y="2011680"/>
            <a:ext cx="9966960" cy="1234440"/>
          </a:xfrm>
          <a:prstGeom prst="rect">
            <a:avLst/>
          </a:prstGeom>
          <a:noFill/>
        </p:spPr>
        <p:txBody>
          <a:bodyPr wrap="none" lIns="9144" rIns="9144" tIns="9144" bIns="9144" anchor="t">
            <a:spAutoFit/>
          </a:bodyPr>
          <a:lstStyle/>
          <a:p>
            <a:pPr algn="l">
              <a:spcAft>
                <a:spcPts val="0"/>
              </a:spcAft>
              <a:defRPr sz="3300" b="1">
                <a:solidFill>
                  <a:srgbClr val="FFFFFF"/>
                </a:solidFill>
                <a:latin typeface="Inter"/>
              </a:defRPr>
            </a:pPr>
            <a:r>
              <a:rPr>
                <a:latin typeface="Inter"/>
              </a:rPr>
              <a:t>Northstar Total Fund Attribution Comparison</a:t>
            </a:r>
          </a:p>
        </p:txBody>
      </p:sp>
      <p:sp>
        <p:nvSpPr>
          <p:cNvPr id="7" name="TextBox 6"/>
          <p:cNvSpPr txBox="1"/>
          <p:nvPr/>
        </p:nvSpPr>
        <p:spPr>
          <a:xfrm>
            <a:off x="685800" y="3273552"/>
            <a:ext cx="9692640" cy="594360"/>
          </a:xfrm>
          <a:prstGeom prst="rect">
            <a:avLst/>
          </a:prstGeom>
          <a:noFill/>
        </p:spPr>
        <p:txBody>
          <a:bodyPr wrap="none" lIns="9144" rIns="9144" tIns="9144" bIns="9144" anchor="t">
            <a:spAutoFit/>
          </a:bodyPr>
          <a:lstStyle/>
          <a:p>
            <a:pPr algn="l">
              <a:spcAft>
                <a:spcPts val="0"/>
              </a:spcAft>
              <a:defRPr sz="1400" b="0">
                <a:solidFill>
                  <a:srgbClr val="9AA5B1"/>
                </a:solidFill>
                <a:latin typeface="Inter"/>
              </a:defRPr>
            </a:pPr>
            <a:r>
              <a:rPr>
                <a:latin typeface="Inter"/>
              </a:rPr>
              <a:t>Historical and forward attribution · available evidence review</a:t>
            </a:r>
          </a:p>
        </p:txBody>
      </p:sp>
      <p:sp>
        <p:nvSpPr>
          <p:cNvPr id="8" name="Rectangle 7"/>
          <p:cNvSpPr/>
          <p:nvPr/>
        </p:nvSpPr>
        <p:spPr>
          <a:xfrm>
            <a:off x="685800" y="4005072"/>
            <a:ext cx="822960" cy="45720"/>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8580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PORTFOLIO</a:t>
            </a:r>
          </a:p>
        </p:txBody>
      </p:sp>
      <p:sp>
        <p:nvSpPr>
          <p:cNvPr id="10" name="TextBox 9"/>
          <p:cNvSpPr txBox="1"/>
          <p:nvPr/>
        </p:nvSpPr>
        <p:spPr>
          <a:xfrm>
            <a:off x="68580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Northstar Total Fund</a:t>
            </a:r>
          </a:p>
        </p:txBody>
      </p:sp>
      <p:sp>
        <p:nvSpPr>
          <p:cNvPr id="11" name="TextBox 10"/>
          <p:cNvSpPr txBox="1"/>
          <p:nvPr/>
        </p:nvSpPr>
        <p:spPr>
          <a:xfrm>
            <a:off x="585216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BENCHMARK</a:t>
            </a:r>
          </a:p>
        </p:txBody>
      </p:sp>
      <p:sp>
        <p:nvSpPr>
          <p:cNvPr id="12" name="TextBox 11"/>
          <p:cNvSpPr txBox="1"/>
          <p:nvPr/>
        </p:nvSpPr>
        <p:spPr>
          <a:xfrm>
            <a:off x="585216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Policy benchmark</a:t>
            </a:r>
          </a:p>
        </p:txBody>
      </p:sp>
      <p:sp>
        <p:nvSpPr>
          <p:cNvPr id="13" name="TextBox 12"/>
          <p:cNvSpPr txBox="1"/>
          <p:nvPr/>
        </p:nvSpPr>
        <p:spPr>
          <a:xfrm>
            <a:off x="685800" y="4937759"/>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COHORT</a:t>
            </a:r>
          </a:p>
        </p:txBody>
      </p:sp>
      <p:sp>
        <p:nvSpPr>
          <p:cNvPr id="14" name="TextBox 13"/>
          <p:cNvSpPr txBox="1"/>
          <p:nvPr/>
        </p:nvSpPr>
        <p:spPr>
          <a:xfrm>
            <a:off x="685800" y="5129783"/>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Total fund</a:t>
            </a:r>
          </a:p>
        </p:txBody>
      </p:sp>
      <p:sp>
        <p:nvSpPr>
          <p:cNvPr id="15" name="TextBox 14"/>
          <p:cNvSpPr txBox="1"/>
          <p:nvPr/>
        </p:nvSpPr>
        <p:spPr>
          <a:xfrm>
            <a:off x="5852160" y="4937759"/>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AVAILABLE VIEWS</a:t>
            </a:r>
          </a:p>
        </p:txBody>
      </p:sp>
      <p:sp>
        <p:nvSpPr>
          <p:cNvPr id="16" name="TextBox 15"/>
          <p:cNvSpPr txBox="1"/>
          <p:nvPr/>
        </p:nvSpPr>
        <p:spPr>
          <a:xfrm>
            <a:off x="5852160" y="5129783"/>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Historical and forward</a:t>
            </a:r>
          </a:p>
        </p:txBody>
      </p:sp>
      <p:sp>
        <p:nvSpPr>
          <p:cNvPr id="17" name="Rectangle 16"/>
          <p:cNvSpPr/>
          <p:nvPr/>
        </p:nvSpPr>
        <p:spPr>
          <a:xfrm>
            <a:off x="685800" y="5687568"/>
            <a:ext cx="3337560" cy="53035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822960" y="5760720"/>
            <a:ext cx="3063240" cy="128016"/>
          </a:xfrm>
          <a:prstGeom prst="rect">
            <a:avLst/>
          </a:prstGeom>
          <a:noFill/>
        </p:spPr>
        <p:txBody>
          <a:bodyPr wrap="none" lIns="9144" rIns="9144" tIns="9144" bIns="9144" anchor="t">
            <a:spAutoFit/>
          </a:bodyPr>
          <a:lstStyle/>
          <a:p>
            <a:pPr algn="l">
              <a:spcAft>
                <a:spcPts val="0"/>
              </a:spcAft>
              <a:defRPr sz="620" b="1">
                <a:solidFill>
                  <a:srgbClr val="0D1117"/>
                </a:solidFill>
                <a:latin typeface="Inter"/>
              </a:defRPr>
            </a:pPr>
            <a:r>
              <a:rPr>
                <a:latin typeface="Inter"/>
              </a:rPr>
              <a:t>OVERALL VIEW</a:t>
            </a:r>
          </a:p>
        </p:txBody>
      </p:sp>
      <p:sp>
        <p:nvSpPr>
          <p:cNvPr id="19" name="TextBox 18"/>
          <p:cNvSpPr txBox="1"/>
          <p:nvPr/>
        </p:nvSpPr>
        <p:spPr>
          <a:xfrm>
            <a:off x="822960" y="5916168"/>
            <a:ext cx="3063240" cy="182880"/>
          </a:xfrm>
          <a:prstGeom prst="rect">
            <a:avLst/>
          </a:prstGeom>
          <a:noFill/>
        </p:spPr>
        <p:txBody>
          <a:bodyPr wrap="none" lIns="9144" rIns="9144" tIns="9144" bIns="9144" anchor="t">
            <a:spAutoFit/>
          </a:bodyPr>
          <a:lstStyle/>
          <a:p>
            <a:pPr algn="l">
              <a:spcAft>
                <a:spcPts val="0"/>
              </a:spcAft>
              <a:defRPr sz="900" b="1">
                <a:solidFill>
                  <a:srgbClr val="0D1117"/>
                </a:solidFill>
                <a:latin typeface="Inter"/>
              </a:defRPr>
            </a:pPr>
            <a:r>
              <a:rPr>
                <a:latin typeface="Inter"/>
              </a:rPr>
              <a:t>Two governed lanes available</a:t>
            </a:r>
          </a:p>
        </p:txBody>
      </p:sp>
      <p:sp>
        <p:nvSpPr>
          <p:cNvPr id="20" name="TextBox 19"/>
          <p:cNvSpPr txBox="1"/>
          <p:nvPr/>
        </p:nvSpPr>
        <p:spPr>
          <a:xfrm>
            <a:off x="4297680" y="5733288"/>
            <a:ext cx="3108960" cy="164592"/>
          </a:xfrm>
          <a:prstGeom prst="rect">
            <a:avLst/>
          </a:prstGeom>
          <a:noFill/>
        </p:spPr>
        <p:txBody>
          <a:bodyPr wrap="none" lIns="9144" rIns="9144" tIns="9144" bIns="9144" anchor="t">
            <a:spAutoFit/>
          </a:bodyPr>
          <a:lstStyle/>
          <a:p>
            <a:pPr algn="l">
              <a:spcAft>
                <a:spcPts val="0"/>
              </a:spcAft>
              <a:defRPr sz="650" b="1">
                <a:solidFill>
                  <a:srgbClr val="8A94A1"/>
                </a:solidFill>
                <a:latin typeface="Inter"/>
              </a:defRPr>
            </a:pPr>
            <a:r>
              <a:rPr>
                <a:latin typeface="Inter"/>
              </a:rPr>
              <a:t>SCOPE REVIEWED</a:t>
            </a:r>
          </a:p>
        </p:txBody>
      </p:sp>
      <p:sp>
        <p:nvSpPr>
          <p:cNvPr id="21" name="TextBox 20"/>
          <p:cNvSpPr txBox="1"/>
          <p:nvPr/>
        </p:nvSpPr>
        <p:spPr>
          <a:xfrm>
            <a:off x="4297680" y="5934456"/>
            <a:ext cx="3108960" cy="201168"/>
          </a:xfrm>
          <a:prstGeom prst="rect">
            <a:avLst/>
          </a:prstGeom>
          <a:noFill/>
        </p:spPr>
        <p:txBody>
          <a:bodyPr wrap="none" lIns="9144" rIns="9144" tIns="9144" bIns="9144" anchor="t">
            <a:spAutoFit/>
          </a:bodyPr>
          <a:lstStyle/>
          <a:p>
            <a:pPr algn="l">
              <a:spcAft>
                <a:spcPts val="0"/>
              </a:spcAft>
              <a:defRPr sz="800" b="1">
                <a:solidFill>
                  <a:srgbClr val="FFFFFF"/>
                </a:solidFill>
                <a:latin typeface="Inter"/>
              </a:defRPr>
            </a:pPr>
            <a:r>
              <a:rPr>
                <a:latin typeface="Inter"/>
              </a:rPr>
              <a:t>2 of 4 · Partial</a:t>
            </a:r>
          </a:p>
        </p:txBody>
      </p:sp>
      <p:sp>
        <p:nvSpPr>
          <p:cNvPr id="22" name="TextBox 21"/>
          <p:cNvSpPr txBox="1"/>
          <p:nvPr/>
        </p:nvSpPr>
        <p:spPr>
          <a:xfrm>
            <a:off x="685800" y="6400800"/>
            <a:ext cx="8046720" cy="146304"/>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rPr>
                <a:latin typeface="Inter"/>
              </a:rPr>
              <a:t>Confidential — Investment Committee</a:t>
            </a:r>
          </a:p>
        </p:txBody>
      </p:sp>
      <p:sp>
        <p:nvSpPr>
          <p:cNvPr id="23" name="TextBox 22"/>
          <p:cNvSpPr txBox="1"/>
          <p:nvPr/>
        </p:nvSpPr>
        <p:spPr>
          <a:xfrm>
            <a:off x="685800" y="6556248"/>
            <a:ext cx="8046720" cy="128016"/>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Illustrative sample · not client data</a:t>
            </a:r>
          </a:p>
        </p:txBody>
      </p:sp>
      <p:sp>
        <p:nvSpPr>
          <p:cNvPr id="24" name="TextBox 23"/>
          <p:cNvSpPr txBox="1"/>
          <p:nvPr/>
        </p:nvSpPr>
        <p:spPr>
          <a:xfrm>
            <a:off x="8778240" y="6473952"/>
            <a:ext cx="274320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rPr>
                <a:latin typeface="Inter"/>
              </a:rP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Rectangle 8"/>
          <p:cNvSpPr/>
          <p:nvPr/>
        </p:nvSpPr>
        <p:spPr>
          <a:xfrm>
            <a:off x="640080" y="1325880"/>
            <a:ext cx="10908792" cy="131160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131160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Bottom line</a:t>
            </a:r>
          </a:p>
        </p:txBody>
      </p:sp>
      <p:sp>
        <p:nvSpPr>
          <p:cNvPr id="12" name="TextBox 11"/>
          <p:cNvSpPr txBox="1"/>
          <p:nvPr/>
        </p:nvSpPr>
        <p:spPr>
          <a:xfrm>
            <a:off x="804671" y="1719072"/>
            <a:ext cx="10616184" cy="82697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Realized shortfall comes from selection; expected gain comes from selection; Alternatives drives both [S2][S3].</a:t>
            </a:r>
          </a:p>
        </p:txBody>
      </p:sp>
      <p:sp>
        <p:nvSpPr>
          <p:cNvPr id="13" name="Rectangle 12"/>
          <p:cNvSpPr/>
          <p:nvPr/>
        </p:nvSpPr>
        <p:spPr>
          <a:xfrm>
            <a:off x="64008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74980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HISTORICAL LANE</a:t>
            </a:r>
          </a:p>
        </p:txBody>
      </p:sp>
      <p:sp>
        <p:nvSpPr>
          <p:cNvPr id="16" name="TextBox 15"/>
          <p:cNvSpPr txBox="1"/>
          <p:nvPr/>
        </p:nvSpPr>
        <p:spPr>
          <a:xfrm>
            <a:off x="74980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17" name="TextBox 16"/>
          <p:cNvSpPr txBox="1"/>
          <p:nvPr/>
        </p:nvSpPr>
        <p:spPr>
          <a:xfrm>
            <a:off x="74980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Realized 12 months · 2025-10-31 to 2026-09-30 [S2]</a:t>
            </a:r>
          </a:p>
        </p:txBody>
      </p:sp>
      <p:sp>
        <p:nvSpPr>
          <p:cNvPr id="18" name="Rectangle 17"/>
          <p:cNvSpPr/>
          <p:nvPr/>
        </p:nvSpPr>
        <p:spPr>
          <a:xfrm>
            <a:off x="339471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Rectangle 18"/>
          <p:cNvSpPr/>
          <p:nvPr/>
        </p:nvSpPr>
        <p:spPr>
          <a:xfrm>
            <a:off x="339471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0" name="TextBox 19"/>
          <p:cNvSpPr txBox="1"/>
          <p:nvPr/>
        </p:nvSpPr>
        <p:spPr>
          <a:xfrm>
            <a:off x="350443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EX ANTE LANE</a:t>
            </a:r>
          </a:p>
        </p:txBody>
      </p:sp>
      <p:sp>
        <p:nvSpPr>
          <p:cNvPr id="21" name="TextBox 20"/>
          <p:cNvSpPr txBox="1"/>
          <p:nvPr/>
        </p:nvSpPr>
        <p:spPr>
          <a:xfrm>
            <a:off x="350443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22" name="TextBox 21"/>
          <p:cNvSpPr txBox="1"/>
          <p:nvPr/>
        </p:nvSpPr>
        <p:spPr>
          <a:xfrm>
            <a:off x="350443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1-year expected [S3]</a:t>
            </a:r>
          </a:p>
        </p:txBody>
      </p:sp>
      <p:sp>
        <p:nvSpPr>
          <p:cNvPr id="23" name="Rectangle 22"/>
          <p:cNvSpPr/>
          <p:nvPr/>
        </p:nvSpPr>
        <p:spPr>
          <a:xfrm>
            <a:off x="614934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4" name="Rectangle 23"/>
          <p:cNvSpPr/>
          <p:nvPr/>
        </p:nvSpPr>
        <p:spPr>
          <a:xfrm>
            <a:off x="614934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5" name="TextBox 24"/>
          <p:cNvSpPr txBox="1"/>
          <p:nvPr/>
        </p:nvSpPr>
        <p:spPr>
          <a:xfrm>
            <a:off x="625906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SIMULATED LANE</a:t>
            </a:r>
          </a:p>
        </p:txBody>
      </p:sp>
      <p:sp>
        <p:nvSpPr>
          <p:cNvPr id="26" name="TextBox 25"/>
          <p:cNvSpPr txBox="1"/>
          <p:nvPr/>
        </p:nvSpPr>
        <p:spPr>
          <a:xfrm>
            <a:off x="625906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Unavailable</a:t>
            </a:r>
          </a:p>
        </p:txBody>
      </p:sp>
      <p:sp>
        <p:nvSpPr>
          <p:cNvPr id="27" name="TextBox 26"/>
          <p:cNvSpPr txBox="1"/>
          <p:nvPr/>
        </p:nvSpPr>
        <p:spPr>
          <a:xfrm>
            <a:off x="625906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Not available — planned per get_gradient_capabilities [S1]</a:t>
            </a:r>
          </a:p>
        </p:txBody>
      </p:sp>
      <p:sp>
        <p:nvSpPr>
          <p:cNvPr id="28" name="Rectangle 27"/>
          <p:cNvSpPr/>
          <p:nvPr/>
        </p:nvSpPr>
        <p:spPr>
          <a:xfrm>
            <a:off x="890397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9" name="Rectangle 28"/>
          <p:cNvSpPr/>
          <p:nvPr/>
        </p:nvSpPr>
        <p:spPr>
          <a:xfrm>
            <a:off x="890397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0" name="TextBox 29"/>
          <p:cNvSpPr txBox="1"/>
          <p:nvPr/>
        </p:nvSpPr>
        <p:spPr>
          <a:xfrm>
            <a:off x="901369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COMPARISON COVERAGE</a:t>
            </a:r>
          </a:p>
        </p:txBody>
      </p:sp>
      <p:sp>
        <p:nvSpPr>
          <p:cNvPr id="31" name="TextBox 30"/>
          <p:cNvSpPr txBox="1"/>
          <p:nvPr/>
        </p:nvSpPr>
        <p:spPr>
          <a:xfrm>
            <a:off x="901369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Fallback</a:t>
            </a:r>
          </a:p>
        </p:txBody>
      </p:sp>
      <p:sp>
        <p:nvSpPr>
          <p:cNvPr id="32" name="TextBox 31"/>
          <p:cNvSpPr txBox="1"/>
          <p:nvPr/>
        </p:nvSpPr>
        <p:spPr>
          <a:xfrm>
            <a:off x="901369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Not available — planned per get_gradient_capabilities [S1]</a:t>
            </a:r>
          </a:p>
        </p:txBody>
      </p:sp>
      <p:sp>
        <p:nvSpPr>
          <p:cNvPr id="33" name="Rectangle 32"/>
          <p:cNvSpPr/>
          <p:nvPr/>
        </p:nvSpPr>
        <p:spPr>
          <a:xfrm>
            <a:off x="640080" y="4979469"/>
            <a:ext cx="73152" cy="1165298"/>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4" name="TextBox 33"/>
          <p:cNvSpPr txBox="1"/>
          <p:nvPr/>
        </p:nvSpPr>
        <p:spPr>
          <a:xfrm>
            <a:off x="896112" y="4952037"/>
            <a:ext cx="10588752" cy="760729"/>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Realized shortfall from selection; expected gain from selection; Alternatives drives both [S2][S3].</a:t>
            </a:r>
          </a:p>
        </p:txBody>
      </p:sp>
      <p:sp>
        <p:nvSpPr>
          <p:cNvPr id="35" name="TextBox 34"/>
          <p:cNvSpPr txBox="1"/>
          <p:nvPr/>
        </p:nvSpPr>
        <p:spPr>
          <a:xfrm>
            <a:off x="896112" y="5693278"/>
            <a:ext cx="10588752" cy="393480"/>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rPr>
                <a:latin typeface="Inter"/>
              </a:rPr>
              <a:t>Returned evidence only; no local subtraction or accumulation.</a:t>
            </a:r>
          </a:p>
        </p:txBody>
      </p:sp>
      <p:sp>
        <p:nvSpPr>
          <p:cNvPr id="36" name="Rectangle 35"/>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7" name="TextBox 36"/>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38" name="TextBox 37"/>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39" name="TextBox 38"/>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REALIZED SUMMARY EFFECTS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SUMMARY EFFECTS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Rectangle 8"/>
          <p:cNvSpPr/>
          <p:nvPr/>
        </p:nvSpPr>
        <p:spPr>
          <a:xfrm>
            <a:off x="640080" y="1325880"/>
            <a:ext cx="10908792" cy="177515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177515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Historical</a:t>
            </a:r>
          </a:p>
        </p:txBody>
      </p:sp>
      <p:sp>
        <p:nvSpPr>
          <p:cNvPr id="12" name="TextBox 11"/>
          <p:cNvSpPr txBox="1"/>
          <p:nvPr/>
        </p:nvSpPr>
        <p:spPr>
          <a:xfrm>
            <a:off x="804671" y="1719072"/>
            <a:ext cx="10616184" cy="129051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Selection is the dominant returned realized shortfall, driven by Alternatives [S2]. Why it matters: It bridges the +2.75% benchmark return to the -3.35% portfolio return. Uncertainty: One realized window may not persist. What would change the view: A later governed period with a different returned selection effect.</a:t>
            </a:r>
          </a:p>
        </p:txBody>
      </p:sp>
      <p:sp>
        <p:nvSpPr>
          <p:cNvPr id="13" name="Rectangle 12"/>
          <p:cNvSpPr/>
          <p:nvPr/>
        </p:nvSpPr>
        <p:spPr>
          <a:xfrm>
            <a:off x="640080" y="3210758"/>
            <a:ext cx="10908792" cy="177515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3210758"/>
            <a:ext cx="54864" cy="177515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3320486"/>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Ex ante</a:t>
            </a:r>
          </a:p>
        </p:txBody>
      </p:sp>
      <p:sp>
        <p:nvSpPr>
          <p:cNvPr id="16" name="TextBox 15"/>
          <p:cNvSpPr txBox="1"/>
          <p:nvPr/>
        </p:nvSpPr>
        <p:spPr>
          <a:xfrm>
            <a:off x="804671" y="3603950"/>
            <a:ext cx="10616184" cy="129051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Selection is the dominant returned expected gain, driven by Alternatives [S3]. Why it matters: It bridges the 6.20% expected benchmark return to the 7.88% expected portfolio return. Uncertainty: Inputs are governed assumptions. What would change the view: Refreshed inputs with a different returned selection effect.</a:t>
            </a:r>
          </a:p>
        </p:txBody>
      </p:sp>
      <p:sp>
        <p:nvSpPr>
          <p:cNvPr id="17" name="Rectangle 16"/>
          <p:cNvSpPr/>
          <p:nvPr/>
        </p:nvSpPr>
        <p:spPr>
          <a:xfrm>
            <a:off x="640080" y="5095636"/>
            <a:ext cx="10908792" cy="112228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Rectangle 17"/>
          <p:cNvSpPr/>
          <p:nvPr/>
        </p:nvSpPr>
        <p:spPr>
          <a:xfrm>
            <a:off x="640080" y="5095636"/>
            <a:ext cx="54864" cy="1122283"/>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804671" y="5205364"/>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Comparison</a:t>
            </a:r>
          </a:p>
        </p:txBody>
      </p:sp>
      <p:sp>
        <p:nvSpPr>
          <p:cNvPr id="20" name="TextBox 19"/>
          <p:cNvSpPr txBox="1"/>
          <p:nvPr/>
        </p:nvSpPr>
        <p:spPr>
          <a:xfrm>
            <a:off x="804671" y="5488828"/>
            <a:ext cx="10616184" cy="637651"/>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Comparison capability is unavailable [S1]. Why it matters: Persistence cannot be assessed. Uncertainty: A future tool may return metrics. What would change the view: Published capability.</a:t>
            </a:r>
          </a:p>
        </p:txBody>
      </p:sp>
      <p:sp>
        <p:nvSpPr>
          <p:cNvPr id="21" name="Rectangle 2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TextBox 2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23" name="TextBox 2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24" name="TextBox 2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PORTFOLIO, BENCHMARK, COHORT AND CURRENCY IDENTIFIERS MATCH</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Scope and Compatibility</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02</a:t>
            </a:r>
          </a:p>
        </p:txBody>
      </p:sp>
      <p:sp>
        <p:nvSpPr>
          <p:cNvPr id="9" name="Rectangle 8"/>
          <p:cNvSpPr/>
          <p:nvPr/>
        </p:nvSpPr>
        <p:spPr>
          <a:xfrm>
            <a:off x="640080" y="1399032"/>
            <a:ext cx="73152" cy="1867301"/>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96112" y="1371600"/>
            <a:ext cx="10588752" cy="1005840"/>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Compatible for display-only fallback</a:t>
            </a:r>
          </a:p>
        </p:txBody>
      </p:sp>
      <p:sp>
        <p:nvSpPr>
          <p:cNvPr id="11" name="TextBox 10"/>
          <p:cNvSpPr txBox="1"/>
          <p:nvPr/>
        </p:nvSpPr>
        <p:spPr>
          <a:xfrm>
            <a:off x="896112" y="2423160"/>
            <a:ext cx="10588752" cy="604081"/>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rPr>
                <a:latin typeface="Inter"/>
              </a:rPr>
              <a:t>Portfolio, benchmark role, parent cohort and calculation currency match [S2][S3].</a:t>
            </a:r>
          </a:p>
        </p:txBody>
      </p:sp>
      <p:graphicFrame>
        <p:nvGraphicFramePr>
          <p:cNvPr id="12" name="Table 11"/>
          <p:cNvGraphicFramePr>
            <a:graphicFrameLocks noGrp="1"/>
          </p:cNvGraphicFramePr>
          <p:nvPr/>
        </p:nvGraphicFramePr>
        <p:xfrm>
          <a:off x="640080" y="3449213"/>
          <a:ext cx="10908792" cy="2768706"/>
        </p:xfrm>
        <a:graphic>
          <a:graphicData uri="http://schemas.openxmlformats.org/drawingml/2006/table">
            <a:tbl>
              <a:tblPr firstRow="1" bandRow="1">
                <a:tableStyleId>{5C22544A-7EE6-4342-B048-85BDC9FD1C3A}</a:tableStyleId>
              </a:tblPr>
              <a:tblGrid>
                <a:gridCol w="2011680"/>
                <a:gridCol w="4448556"/>
                <a:gridCol w="4448556"/>
              </a:tblGrid>
              <a:tr h="1384353">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384353">
                <a:tc>
                  <a:txBody>
                    <a:bodyPr/>
                    <a:lstStyle/>
                    <a:p>
                      <a:pPr>
                        <a:defRPr sz="800" b="1">
                          <a:solidFill>
                            <a:srgbClr val="0D1117"/>
                          </a:solidFill>
                          <a:latin typeface="Inter"/>
                        </a:defRPr>
                      </a:pPr>
                      <a:r>
                        <a:rPr>
                          <a:latin typeface="Inter"/>
                        </a:rPr>
                        <a:t>Compatibility gate</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Four identifiers match [S2][S3]</a:t>
                      </a:r>
                    </a:p>
                  </a:txBody>
                  <a:tcPr marL="54864" marR="54864" marT="27432" marB="27432" anchor="ctr">
                    <a:solidFill>
                      <a:srgbClr val="FFFFFF"/>
                    </a:solidFill>
                  </a:tcPr>
                </a:tc>
              </a:tr>
            </a:tbl>
          </a:graphicData>
        </a:graphic>
      </p:graphicFrame>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HISTORICAL EFFECTS BY SEGMENT</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HISTORICAL PORTFOLIO AND BENCHMARK AVERAGE WEIGHTS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CUMULATIVE LINKED EFFECTS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CUMULATIVE ALTERNATIVES SELECTION</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Rectangle 8"/>
          <p:cNvSpPr/>
          <p:nvPr/>
        </p:nvSpPr>
        <p:spPr>
          <a:xfrm>
            <a:off x="640080" y="1325880"/>
            <a:ext cx="10908792" cy="122251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122251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Returned cumulative growth context</a:t>
            </a:r>
          </a:p>
        </p:txBody>
      </p:sp>
      <p:sp>
        <p:nvSpPr>
          <p:cNvPr id="12" name="TextBox 11"/>
          <p:cNvSpPr txBox="1"/>
          <p:nvPr/>
        </p:nvSpPr>
        <p:spPr>
          <a:xfrm>
            <a:off x="804671" y="1719072"/>
            <a:ext cx="10616184" cy="73788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cumulative_growth was not returned.</a:t>
            </a:r>
          </a:p>
        </p:txBody>
      </p:sp>
      <p:sp>
        <p:nvSpPr>
          <p:cNvPr id="13" name="Rectangle 12"/>
          <p:cNvSpPr/>
          <p:nvPr/>
        </p:nvSpPr>
        <p:spPr>
          <a:xfrm>
            <a:off x="640080" y="2658120"/>
            <a:ext cx="10908792" cy="221580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2658120"/>
            <a:ext cx="54864" cy="2215803"/>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276784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Selection leads detractors</a:t>
            </a:r>
          </a:p>
        </p:txBody>
      </p:sp>
      <p:sp>
        <p:nvSpPr>
          <p:cNvPr id="16" name="TextBox 15"/>
          <p:cNvSpPr txBox="1"/>
          <p:nvPr/>
        </p:nvSpPr>
        <p:spPr>
          <a:xfrm>
            <a:off x="804671" y="3051312"/>
            <a:ext cx="10616184" cy="1731171"/>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selection is the -5.40pp dominant realized shortfall and Alternatives contributes -4.85pp [S2]. Why it matters: Selection drives the returned bridge from +2.75% benchmark return to -3.35%…</a:t>
            </a:r>
          </a:p>
        </p:txBody>
      </p:sp>
      <p:sp>
        <p:nvSpPr>
          <p:cNvPr id="17" name="Rectangle 16"/>
          <p:cNvSpPr/>
          <p:nvPr/>
        </p:nvSpPr>
        <p:spPr>
          <a:xfrm>
            <a:off x="640080" y="4983652"/>
            <a:ext cx="10908792" cy="123426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Rectangle 17"/>
          <p:cNvSpPr/>
          <p:nvPr/>
        </p:nvSpPr>
        <p:spPr>
          <a:xfrm>
            <a:off x="640080" y="4983652"/>
            <a:ext cx="54864" cy="1234267"/>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804671" y="5093380"/>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Benchmark and excess boundary</a:t>
            </a:r>
          </a:p>
        </p:txBody>
      </p:sp>
      <p:sp>
        <p:nvSpPr>
          <p:cNvPr id="20" name="TextBox 19"/>
          <p:cNvSpPr txBox="1"/>
          <p:nvPr/>
        </p:nvSpPr>
        <p:spPr>
          <a:xfrm>
            <a:off x="804671" y="5376844"/>
            <a:ext cx="10616184" cy="749635"/>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Returned diagnostics.entity_return_reconciliation keeps attribution-summary excess against the linked segment benchmark composite separate from historical-return excess against the policy benchmark entity [S2].</a:t>
            </a:r>
          </a:p>
        </p:txBody>
      </p:sp>
      <p:sp>
        <p:nvSpPr>
          <p:cNvPr id="21" name="Rectangle 2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TextBox 2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23" name="TextBox 2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24" name="TextBox 2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EFFECTS BY SEGMENT</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 ANTE ASSUMPTIONS</a:t>
            </a:r>
          </a:p>
        </p:txBody>
      </p:sp>
      <p:graphicFrame>
        <p:nvGraphicFramePr>
          <p:cNvPr id="10" name="Table 9"/>
          <p:cNvGraphicFramePr>
            <a:graphicFrameLocks noGrp="1"/>
          </p:cNvGraphicFramePr>
          <p:nvPr/>
        </p:nvGraphicFramePr>
        <p:xfrm>
          <a:off x="640080" y="1600200"/>
          <a:ext cx="10908792" cy="4617720"/>
        </p:xfrm>
        <a:graphic>
          <a:graphicData uri="http://schemas.openxmlformats.org/drawingml/2006/table">
            <a:tbl>
              <a:tblPr firstRow="1" bandRow="1">
                <a:tableStyleId>{5C22544A-7EE6-4342-B048-85BDC9FD1C3A}</a:tableStyleId>
              </a:tblPr>
              <a:tblGrid>
                <a:gridCol w="2011680"/>
                <a:gridCol w="8897112"/>
              </a:tblGrid>
              <a:tr h="923544">
                <a:tc>
                  <a:txBody>
                    <a:bodyPr/>
                    <a:lstStyle/>
                    <a:p>
                      <a:pPr>
                        <a:defRPr sz="800" b="1">
                          <a:solidFill>
                            <a:srgbClr val="0D1117"/>
                          </a:solidFill>
                          <a:latin typeface="Inter"/>
                        </a:defRPr>
                      </a:pPr>
                      <a:r>
                        <a:rPr>
                          <a:latin typeface="Inter"/>
                        </a:rPr>
                        <a:t>assumption_set_name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2026 Strategic CMA [S3]</a:t>
                      </a:r>
                    </a:p>
                  </a:txBody>
                  <a:tcPr marL="54864" marR="54864" marT="27432" marB="27432" anchor="ctr">
                    <a:solidFill>
                      <a:srgbClr val="FFFFFF"/>
                    </a:solidFill>
                  </a:tcPr>
                </a:tc>
              </a:tr>
              <a:tr h="923544">
                <a:tc>
                  <a:txBody>
                    <a:bodyPr/>
                    <a:lstStyle/>
                    <a:p>
                      <a:pPr>
                        <a:defRPr sz="800" b="1">
                          <a:solidFill>
                            <a:srgbClr val="0D1117"/>
                          </a:solidFill>
                          <a:latin typeface="Inter"/>
                        </a:defRPr>
                      </a:pPr>
                      <a:r>
                        <a:rPr>
                          <a:latin typeface="Inter"/>
                        </a:rPr>
                        <a:t>regime_name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user-defined regime [S3]</a:t>
                      </a:r>
                    </a:p>
                  </a:txBody>
                  <a:tcPr marL="54864" marR="54864" marT="27432" marB="27432" anchor="ctr">
                    <a:solidFill>
                      <a:srgbClr val="F5F7F9"/>
                    </a:solidFill>
                  </a:tcPr>
                </a:tc>
              </a:tr>
              <a:tr h="923544">
                <a:tc>
                  <a:txBody>
                    <a:bodyPr/>
                    <a:lstStyle/>
                    <a:p>
                      <a:pPr>
                        <a:defRPr sz="800" b="1">
                          <a:solidFill>
                            <a:srgbClr val="0D1117"/>
                          </a:solidFill>
                          <a:latin typeface="Inter"/>
                        </a:defRPr>
                      </a:pPr>
                      <a:r>
                        <a:rPr>
                          <a:latin typeface="Inter"/>
                        </a:rPr>
                        <a:t>horizon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 year [S3]</a:t>
                      </a:r>
                    </a:p>
                  </a:txBody>
                  <a:tcPr marL="54864" marR="54864" marT="27432" marB="27432" anchor="ctr">
                    <a:solidFill>
                      <a:srgbClr val="FFFFFF"/>
                    </a:solidFill>
                  </a:tcPr>
                </a:tc>
              </a:tr>
              <a:tr h="923544">
                <a:tc>
                  <a:txBody>
                    <a:bodyPr/>
                    <a:lstStyle/>
                    <a:p>
                      <a:pPr>
                        <a:defRPr sz="800" b="1">
                          <a:solidFill>
                            <a:srgbClr val="0D1117"/>
                          </a:solidFill>
                          <a:latin typeface="Inter"/>
                        </a:defRPr>
                      </a:pPr>
                      <a:r>
                        <a:rPr>
                          <a:latin typeface="Inter"/>
                        </a:rPr>
                        <a:t>portfolio_return_source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allocation_expected_return_base [S3]</a:t>
                      </a:r>
                    </a:p>
                  </a:txBody>
                  <a:tcPr marL="54864" marR="54864" marT="27432" marB="27432" anchor="ctr">
                    <a:solidFill>
                      <a:srgbClr val="F5F7F9"/>
                    </a:solidFill>
                  </a:tcPr>
                </a:tc>
              </a:tr>
              <a:tr h="923544">
                <a:tc>
                  <a:txBody>
                    <a:bodyPr/>
                    <a:lstStyle/>
                    <a:p>
                      <a:pPr>
                        <a:defRPr sz="800" b="1">
                          <a:solidFill>
                            <a:srgbClr val="0D1117"/>
                          </a:solidFill>
                          <a:latin typeface="Inter"/>
                        </a:defRPr>
                      </a:pPr>
                      <a:r>
                        <a:rPr>
                          <a:latin typeface="Inter"/>
                        </a:rPr>
                        <a:t>benchmark_return_source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benchmark_expected_return_base [S3]</a:t>
                      </a:r>
                    </a:p>
                  </a:txBody>
                  <a:tcPr marL="54864" marR="54864" marT="27432" marB="27432" anchor="ctr">
                    <a:solidFill>
                      <a:srgbClr val="FFFFFF"/>
                    </a:solidFill>
                  </a:tcPr>
                </a:tc>
              </a:tr>
            </a:tbl>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PORTFOLIO AND BENCHMARK RETURNS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Rectangle 8"/>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Selection leads expectations</a:t>
            </a:r>
          </a:p>
        </p:txBody>
      </p:sp>
      <p:sp>
        <p:nvSpPr>
          <p:cNvPr id="12" name="TextBox 11"/>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selection is the +1.25pp dominant expected gain and Alternatives contributes +1.05pp [S3]. Why it matters: Selection drives the returned bridge from 6.20% expected benchmark return to…</a:t>
            </a:r>
          </a:p>
        </p:txBody>
      </p:sp>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SIMULATION CAPABILITY IS PLANNED</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Simulated Attribution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9" name="Rectangle 8"/>
          <p:cNvSpPr/>
          <p:nvPr/>
        </p:nvSpPr>
        <p:spPr>
          <a:xfrm>
            <a:off x="640080" y="1325880"/>
            <a:ext cx="10908792" cy="108349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1083497"/>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Not available</a:t>
            </a:r>
          </a:p>
        </p:txBody>
      </p:sp>
      <p:sp>
        <p:nvSpPr>
          <p:cNvPr id="12" name="TextBox 11"/>
          <p:cNvSpPr txBox="1"/>
          <p:nvPr/>
        </p:nvSpPr>
        <p:spPr>
          <a:xfrm>
            <a:off x="804671" y="1719072"/>
            <a:ext cx="10616184" cy="598865"/>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planned per get_gradient_capabilities [S1].</a:t>
            </a:r>
          </a:p>
        </p:txBody>
      </p:sp>
      <p:graphicFrame>
        <p:nvGraphicFramePr>
          <p:cNvPr id="13" name="Table 12"/>
          <p:cNvGraphicFramePr>
            <a:graphicFrameLocks noGrp="1"/>
          </p:cNvGraphicFramePr>
          <p:nvPr/>
        </p:nvGraphicFramePr>
        <p:xfrm>
          <a:off x="640080" y="2519105"/>
          <a:ext cx="10908792" cy="2234714"/>
        </p:xfrm>
        <a:graphic>
          <a:graphicData uri="http://schemas.openxmlformats.org/drawingml/2006/table">
            <a:tbl>
              <a:tblPr firstRow="1" bandRow="1">
                <a:tableStyleId>{5C22544A-7EE6-4342-B048-85BDC9FD1C3A}</a:tableStyleId>
              </a:tblPr>
              <a:tblGrid>
                <a:gridCol w="2011680"/>
                <a:gridCol w="4448556"/>
                <a:gridCol w="4448556"/>
              </a:tblGrid>
              <a:tr h="744904">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744904">
                <a:tc>
                  <a:txBody>
                    <a:bodyPr/>
                    <a:lstStyle/>
                    <a:p>
                      <a:pPr>
                        <a:defRPr sz="800" b="1">
                          <a:solidFill>
                            <a:srgbClr val="0D1117"/>
                          </a:solidFill>
                          <a:latin typeface="Inter"/>
                        </a:defRPr>
                      </a:pPr>
                      <a:r>
                        <a:rPr>
                          <a:latin typeface="Inter"/>
                        </a:rPr>
                        <a:t>Capability</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Planned per capability source [S1]</a:t>
                      </a:r>
                    </a:p>
                  </a:txBody>
                  <a:tcPr marL="54864" marR="54864" marT="27432" marB="27432" anchor="ctr">
                    <a:solidFill>
                      <a:srgbClr val="FFFFFF"/>
                    </a:solidFill>
                  </a:tcPr>
                </a:tc>
              </a:tr>
              <a:tr h="744906">
                <a:tc>
                  <a:txBody>
                    <a:bodyPr/>
                    <a:lstStyle/>
                    <a:p>
                      <a:pPr>
                        <a:defRPr sz="800" b="1">
                          <a:solidFill>
                            <a:srgbClr val="0D1117"/>
                          </a:solidFill>
                          <a:latin typeface="Inter"/>
                        </a:defRPr>
                      </a:pPr>
                      <a:r>
                        <a:rPr>
                          <a:latin typeface="Inter"/>
                        </a:rPr>
                        <a:t>Invocation</a:t>
                      </a:r>
                    </a:p>
                  </a:txBody>
                  <a:tcPr marL="54864" marR="54864" marT="27432" marB="27432" anchor="ctr">
                    <a:solidFill>
                      <a:srgbClr val="F5F7F9"/>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Not called because capability is unavailable [S1]</a:t>
                      </a:r>
                    </a:p>
                  </a:txBody>
                  <a:tcPr marL="54864" marR="54864" marT="27432" marB="27432" anchor="ctr">
                    <a:solidFill>
                      <a:srgbClr val="F5F7F9"/>
                    </a:solidFill>
                  </a:tcPr>
                </a:tc>
              </a:tr>
            </a:tbl>
          </a:graphicData>
        </a:graphic>
      </p:graphicFrame>
      <p:sp>
        <p:nvSpPr>
          <p:cNvPr id="14" name="Rectangle 13"/>
          <p:cNvSpPr/>
          <p:nvPr/>
        </p:nvSpPr>
        <p:spPr>
          <a:xfrm>
            <a:off x="640080" y="4863547"/>
            <a:ext cx="10908792" cy="135437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Rectangle 14"/>
          <p:cNvSpPr/>
          <p:nvPr/>
        </p:nvSpPr>
        <p:spPr>
          <a:xfrm>
            <a:off x="640080" y="4863547"/>
            <a:ext cx="54864" cy="135437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TextBox 15"/>
          <p:cNvSpPr txBox="1"/>
          <p:nvPr/>
        </p:nvSpPr>
        <p:spPr>
          <a:xfrm>
            <a:off x="804671" y="4973275"/>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Simulation unavailable</a:t>
            </a:r>
          </a:p>
        </p:txBody>
      </p:sp>
      <p:sp>
        <p:nvSpPr>
          <p:cNvPr id="17" name="TextBox 16"/>
          <p:cNvSpPr txBox="1"/>
          <p:nvPr/>
        </p:nvSpPr>
        <p:spPr>
          <a:xfrm>
            <a:off x="804671" y="5256739"/>
            <a:ext cx="10616184" cy="86974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Simulation is planned per the capability source [S1]. Why it matters: Scenario effects cannot be assessed. Uncertainty: Capability readiness may change. What would change the view: A…</a:t>
            </a:r>
          </a:p>
        </p:txBody>
      </p:sp>
      <p:sp>
        <p:nvSpPr>
          <p:cNvPr id="18" name="Rectangle 1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20" name="TextBox 1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21" name="TextBox 2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Rectangle 8"/>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489204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Not available</a:t>
            </a:r>
          </a:p>
        </p:txBody>
      </p:sp>
      <p:sp>
        <p:nvSpPr>
          <p:cNvPr id="12" name="TextBox 11"/>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planned per get_gradient_capabilities [S1].</a:t>
            </a:r>
          </a:p>
        </p:txBody>
      </p:sp>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CROSS-LANE EFFECT MATRIX</a:t>
            </a:r>
          </a:p>
        </p:txBody>
      </p:sp>
      <p:graphicFrame>
        <p:nvGraphicFramePr>
          <p:cNvPr id="10" name="Table 9"/>
          <p:cNvGraphicFramePr>
            <a:graphicFrameLocks noGrp="1"/>
          </p:cNvGraphicFramePr>
          <p:nvPr/>
        </p:nvGraphicFramePr>
        <p:xfrm>
          <a:off x="640080" y="1600200"/>
          <a:ext cx="10908792" cy="4617720"/>
        </p:xfrm>
        <a:graphic>
          <a:graphicData uri="http://schemas.openxmlformats.org/drawingml/2006/table">
            <a:tbl>
              <a:tblPr firstRow="1" bandRow="1">
                <a:tableStyleId>{5C22544A-7EE6-4342-B048-85BDC9FD1C3A}</a:tableStyleId>
              </a:tblPr>
              <a:tblGrid>
                <a:gridCol w="3636264"/>
                <a:gridCol w="3636264"/>
                <a:gridCol w="3636264"/>
              </a:tblGrid>
              <a:tr h="1154430">
                <a:tc>
                  <a:txBody>
                    <a:bodyPr/>
                    <a:lstStyle/>
                    <a:p>
                      <a:pPr>
                        <a:defRPr sz="700" b="1">
                          <a:solidFill>
                            <a:srgbClr val="FFFFFF"/>
                          </a:solidFill>
                          <a:latin typeface="Inter"/>
                        </a:defRPr>
                      </a:pPr>
                    </a:p>
                  </a:txBody>
                  <a:tcPr marL="54864" marR="54864" marT="27432" marB="27432" anchor="ctr">
                    <a:solidFill>
                      <a:srgbClr val="0D1117"/>
                    </a:solidFill>
                  </a:tcPr>
                </a:tc>
                <a:tc>
                  <a:txBody>
                    <a:bodyPr/>
                    <a:lstStyle/>
                    <a:p>
                      <a:pPr>
                        <a:defRPr sz="700" b="1">
                          <a:solidFill>
                            <a:srgbClr val="FFFFFF"/>
                          </a:solidFill>
                          <a:latin typeface="Inter"/>
                        </a:defRPr>
                      </a:pPr>
                      <a:r>
                        <a:rPr>
                          <a:latin typeface="Inter"/>
                        </a:rPr>
                        <a:t>Realized</a:t>
                      </a:r>
                    </a:p>
                  </a:txBody>
                  <a:tcPr marL="54864" marR="54864" marT="27432" marB="27432" anchor="ctr">
                    <a:solidFill>
                      <a:srgbClr val="0D1117"/>
                    </a:solidFill>
                  </a:tcPr>
                </a:tc>
                <a:tc>
                  <a:txBody>
                    <a:bodyPr/>
                    <a:lstStyle/>
                    <a:p>
                      <a:pPr>
                        <a:defRPr sz="700" b="1">
                          <a:solidFill>
                            <a:srgbClr val="FFFFFF"/>
                          </a:solidFill>
                          <a:latin typeface="Inter"/>
                        </a:defRPr>
                      </a:pPr>
                      <a:r>
                        <a:rPr>
                          <a:latin typeface="Inter"/>
                        </a:rPr>
                        <a:t>Expected</a:t>
                      </a:r>
                    </a:p>
                  </a:txBody>
                  <a:tcPr marL="54864" marR="54864" marT="27432" marB="27432" anchor="ctr">
                    <a:solidFill>
                      <a:srgbClr val="0D1117"/>
                    </a:solidFill>
                  </a:tcPr>
                </a:tc>
              </a:tr>
              <a:tr h="1154430">
                <a:tc>
                  <a:txBody>
                    <a:bodyPr/>
                    <a:lstStyle/>
                    <a:p>
                      <a:pPr>
                        <a:defRPr sz="750" b="1">
                          <a:solidFill>
                            <a:srgbClr val="FFFFFF"/>
                          </a:solidFill>
                          <a:latin typeface="Inter"/>
                        </a:defRPr>
                      </a:pPr>
                      <a:r>
                        <a:rPr>
                          <a:latin typeface="Inter"/>
                        </a:rPr>
                        <a:t>Allocation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0.2</a:t>
                      </a:r>
                    </a:p>
                  </a:txBody>
                  <a:tcPr marL="54864" marR="54864" marT="27432" marB="27432" anchor="ctr">
                    <a:solidFill>
                      <a:srgbClr val="CEF453"/>
                    </a:solidFill>
                  </a:tcPr>
                </a:tc>
                <a:tc>
                  <a:txBody>
                    <a:bodyPr/>
                    <a:lstStyle/>
                    <a:p>
                      <a:pPr>
                        <a:defRPr sz="750" b="0">
                          <a:solidFill>
                            <a:srgbClr val="0D1117"/>
                          </a:solidFill>
                          <a:latin typeface="Inter"/>
                        </a:defRPr>
                      </a:pPr>
                      <a:r>
                        <a:rPr>
                          <a:latin typeface="Inter"/>
                        </a:rPr>
                        <a:t>0.4</a:t>
                      </a:r>
                    </a:p>
                  </a:txBody>
                  <a:tcPr marL="54864" marR="54864" marT="27432" marB="27432" anchor="ctr">
                    <a:solidFill>
                      <a:srgbClr val="C6F432"/>
                    </a:solidFill>
                  </a:tcPr>
                </a:tc>
              </a:tr>
              <a:tr h="1154430">
                <a:tc>
                  <a:txBody>
                    <a:bodyPr/>
                    <a:lstStyle/>
                    <a:p>
                      <a:pPr>
                        <a:defRPr sz="750" b="1">
                          <a:solidFill>
                            <a:srgbClr val="FFFFFF"/>
                          </a:solidFill>
                          <a:latin typeface="Inter"/>
                        </a:defRPr>
                      </a:pPr>
                      <a:r>
                        <a:rPr>
                          <a:latin typeface="Inter"/>
                        </a:rPr>
                        <a:t>Selection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-0.8</a:t>
                      </a:r>
                    </a:p>
                  </a:txBody>
                  <a:tcPr marL="54864" marR="54864" marT="27432" marB="27432" anchor="ctr">
                    <a:solidFill>
                      <a:srgbClr val="F5F7F9"/>
                    </a:solidFill>
                  </a:tcPr>
                </a:tc>
                <a:tc>
                  <a:txBody>
                    <a:bodyPr/>
                    <a:lstStyle/>
                    <a:p>
                      <a:pPr>
                        <a:defRPr sz="750" b="0">
                          <a:solidFill>
                            <a:srgbClr val="0D1117"/>
                          </a:solidFill>
                          <a:latin typeface="Inter"/>
                        </a:defRPr>
                      </a:pPr>
                      <a:r>
                        <a:rPr>
                          <a:latin typeface="Inter"/>
                        </a:rPr>
                        <a:t>-0.1</a:t>
                      </a:r>
                    </a:p>
                  </a:txBody>
                  <a:tcPr marL="54864" marR="54864" marT="27432" marB="27432" anchor="ctr">
                    <a:solidFill>
                      <a:srgbClr val="DAF585"/>
                    </a:solidFill>
                  </a:tcPr>
                </a:tc>
              </a:tr>
              <a:tr h="1154430">
                <a:tc>
                  <a:txBody>
                    <a:bodyPr/>
                    <a:lstStyle/>
                    <a:p>
                      <a:pPr>
                        <a:defRPr sz="750" b="1">
                          <a:solidFill>
                            <a:srgbClr val="FFFFFF"/>
                          </a:solidFill>
                          <a:latin typeface="Inter"/>
                        </a:defRPr>
                      </a:pPr>
                      <a:r>
                        <a:rPr>
                          <a:latin typeface="Inter"/>
                        </a:rPr>
                        <a:t>Interaction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0.0</a:t>
                      </a:r>
                    </a:p>
                  </a:txBody>
                  <a:tcPr marL="54864" marR="54864" marT="27432" marB="27432" anchor="ctr">
                    <a:solidFill>
                      <a:srgbClr val="D6F574"/>
                    </a:solidFill>
                  </a:tcPr>
                </a:tc>
                <a:tc>
                  <a:txBody>
                    <a:bodyPr/>
                    <a:lstStyle/>
                    <a:p>
                      <a:pPr>
                        <a:defRPr sz="750" b="0">
                          <a:solidFill>
                            <a:srgbClr val="0D1117"/>
                          </a:solidFill>
                          <a:latin typeface="Inter"/>
                        </a:defRPr>
                      </a:pPr>
                      <a:r>
                        <a:rPr>
                          <a:latin typeface="Inter"/>
                        </a:rPr>
                        <a:t>0.05</a:t>
                      </a:r>
                    </a:p>
                  </a:txBody>
                  <a:tcPr marL="54864" marR="54864" marT="27432" marB="27432" anchor="ctr">
                    <a:solidFill>
                      <a:srgbClr val="D4F56C"/>
                    </a:solidFill>
                  </a:tcPr>
                </a:tc>
              </a:tr>
            </a:tbl>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REALIZED RETURNED EFFECTS</a:t>
            </a:r>
          </a:p>
        </p:txBody>
      </p:sp>
      <p:graphicFrame>
        <p:nvGraphicFramePr>
          <p:cNvPr id="10" name="Chart 9"/>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1" name="Rectangle 10"/>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RETURNED EFFECTS</a:t>
            </a:r>
          </a:p>
        </p:txBody>
      </p:sp>
      <p:graphicFrame>
        <p:nvGraphicFramePr>
          <p:cNvPr id="13" name="Chart 12"/>
          <p:cNvGraphicFramePr>
            <a:graphicFrameLocks noGrp="1"/>
          </p:cNvGraphicFramePr>
          <p:nvPr/>
        </p:nvGraphicFramePr>
        <p:xfrm>
          <a:off x="6309360" y="1600200"/>
          <a:ext cx="5239512" cy="4617720"/>
        </p:xfrm>
        <a:graphic>
          <a:graphicData uri="http://schemas.openxmlformats.org/drawingml/2006/chart">
            <c:chart xmlns:c="http://schemas.openxmlformats.org/drawingml/2006/chart" r:id="rId3"/>
          </a:graphicData>
        </a:graphic>
      </p:graphicFrame>
      <p:sp>
        <p:nvSpPr>
          <p:cNvPr id="14" name="Rectangle 1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6" name="TextBox 1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7" name="TextBox 1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Rectangle 8"/>
          <p:cNvSpPr/>
          <p:nvPr/>
        </p:nvSpPr>
        <p:spPr>
          <a:xfrm>
            <a:off x="640080" y="1325880"/>
            <a:ext cx="10908792" cy="839289"/>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839289"/>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Unavailable comparison metrics</a:t>
            </a:r>
          </a:p>
        </p:txBody>
      </p:sp>
      <p:sp>
        <p:nvSpPr>
          <p:cNvPr id="12" name="TextBox 11"/>
          <p:cNvSpPr txBox="1"/>
          <p:nvPr/>
        </p:nvSpPr>
        <p:spPr>
          <a:xfrm>
            <a:off x="804671" y="1719072"/>
            <a:ext cx="10616184" cy="354657"/>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Differences, concentration, persistence, and Sources that persist are unavailable without a governed comparison result [S1].</a:t>
            </a:r>
          </a:p>
        </p:txBody>
      </p:sp>
      <p:graphicFrame>
        <p:nvGraphicFramePr>
          <p:cNvPr id="13" name="Table 12"/>
          <p:cNvGraphicFramePr>
            <a:graphicFrameLocks noGrp="1"/>
          </p:cNvGraphicFramePr>
          <p:nvPr/>
        </p:nvGraphicFramePr>
        <p:xfrm>
          <a:off x="640080" y="2274897"/>
          <a:ext cx="10908792" cy="2885058"/>
        </p:xfrm>
        <a:graphic>
          <a:graphicData uri="http://schemas.openxmlformats.org/drawingml/2006/table">
            <a:tbl>
              <a:tblPr firstRow="1" bandRow="1">
                <a:tableStyleId>{5C22544A-7EE6-4342-B048-85BDC9FD1C3A}</a:tableStyleId>
              </a:tblPr>
              <a:tblGrid>
                <a:gridCol w="2011680"/>
                <a:gridCol w="4448556"/>
                <a:gridCol w="4448556"/>
              </a:tblGrid>
              <a:tr h="577011">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577011">
                <a:tc>
                  <a:txBody>
                    <a:bodyPr/>
                    <a:lstStyle/>
                    <a:p>
                      <a:pPr>
                        <a:defRPr sz="800" b="1">
                          <a:solidFill>
                            <a:srgbClr val="0D1117"/>
                          </a:solidFill>
                          <a:latin typeface="Inter"/>
                        </a:defRPr>
                      </a:pPr>
                      <a:r>
                        <a:rPr>
                          <a:latin typeface="Inter"/>
                        </a:rPr>
                        <a:t>Lane differences</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Requires governed comparison output [S1]</a:t>
                      </a:r>
                    </a:p>
                  </a:txBody>
                  <a:tcPr marL="54864" marR="54864" marT="27432" marB="27432" anchor="ctr">
                    <a:solidFill>
                      <a:srgbClr val="FFFFFF"/>
                    </a:solidFill>
                  </a:tcPr>
                </a:tc>
              </a:tr>
              <a:tr h="577011">
                <a:tc>
                  <a:txBody>
                    <a:bodyPr/>
                    <a:lstStyle/>
                    <a:p>
                      <a:pPr>
                        <a:defRPr sz="800" b="1">
                          <a:solidFill>
                            <a:srgbClr val="0D1117"/>
                          </a:solidFill>
                          <a:latin typeface="Inter"/>
                        </a:defRPr>
                      </a:pPr>
                      <a:r>
                        <a:rPr>
                          <a:latin typeface="Inter"/>
                        </a:rPr>
                        <a:t>Concentration</a:t>
                      </a:r>
                    </a:p>
                  </a:txBody>
                  <a:tcPr marL="54864" marR="54864" marT="27432" marB="27432" anchor="ctr">
                    <a:solidFill>
                      <a:srgbClr val="F5F7F9"/>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 local aggregation permitted [S1]</a:t>
                      </a:r>
                    </a:p>
                  </a:txBody>
                  <a:tcPr marL="54864" marR="54864" marT="27432" marB="27432" anchor="ctr">
                    <a:solidFill>
                      <a:srgbClr val="F5F7F9"/>
                    </a:solidFill>
                  </a:tcPr>
                </a:tc>
              </a:tr>
              <a:tr h="577011">
                <a:tc>
                  <a:txBody>
                    <a:bodyPr/>
                    <a:lstStyle/>
                    <a:p>
                      <a:pPr>
                        <a:defRPr sz="800" b="1">
                          <a:solidFill>
                            <a:srgbClr val="0D1117"/>
                          </a:solidFill>
                          <a:latin typeface="Inter"/>
                        </a:defRPr>
                      </a:pPr>
                      <a:r>
                        <a:rPr>
                          <a:latin typeface="Inter"/>
                        </a:rPr>
                        <a:t>Persistence</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 server persistence metric [S1]</a:t>
                      </a:r>
                    </a:p>
                  </a:txBody>
                  <a:tcPr marL="54864" marR="54864" marT="27432" marB="27432" anchor="ctr">
                    <a:solidFill>
                      <a:srgbClr val="FFFFFF"/>
                    </a:solidFill>
                  </a:tcPr>
                </a:tc>
              </a:tr>
              <a:tr h="577014">
                <a:tc>
                  <a:txBody>
                    <a:bodyPr/>
                    <a:lstStyle/>
                    <a:p>
                      <a:pPr>
                        <a:defRPr sz="800" b="1">
                          <a:solidFill>
                            <a:srgbClr val="0D1117"/>
                          </a:solidFill>
                          <a:latin typeface="Inter"/>
                        </a:defRPr>
                      </a:pPr>
                      <a:r>
                        <a:rPr>
                          <a:latin typeface="Inter"/>
                        </a:rPr>
                        <a:t>Sources that persist</a:t>
                      </a:r>
                    </a:p>
                  </a:txBody>
                  <a:tcPr marL="54864" marR="54864" marT="27432" marB="27432" anchor="ctr">
                    <a:solidFill>
                      <a:srgbClr val="F5F7F9"/>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 governed comparison result [S1]</a:t>
                      </a:r>
                    </a:p>
                  </a:txBody>
                  <a:tcPr marL="54864" marR="54864" marT="27432" marB="27432" anchor="ctr">
                    <a:solidFill>
                      <a:srgbClr val="F5F7F9"/>
                    </a:solidFill>
                  </a:tcPr>
                </a:tc>
              </a:tr>
            </a:tbl>
          </a:graphicData>
        </a:graphic>
      </p:graphicFrame>
      <p:sp>
        <p:nvSpPr>
          <p:cNvPr id="14" name="Rectangle 13"/>
          <p:cNvSpPr/>
          <p:nvPr/>
        </p:nvSpPr>
        <p:spPr>
          <a:xfrm>
            <a:off x="640080" y="5269684"/>
            <a:ext cx="10908792" cy="948235"/>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Rectangle 14"/>
          <p:cNvSpPr/>
          <p:nvPr/>
        </p:nvSpPr>
        <p:spPr>
          <a:xfrm>
            <a:off x="640080" y="5269684"/>
            <a:ext cx="54864" cy="948235"/>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TextBox 15"/>
          <p:cNvSpPr txBox="1"/>
          <p:nvPr/>
        </p:nvSpPr>
        <p:spPr>
          <a:xfrm>
            <a:off x="804671" y="5379412"/>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Comparison unavailable</a:t>
            </a:r>
          </a:p>
        </p:txBody>
      </p:sp>
      <p:sp>
        <p:nvSpPr>
          <p:cNvPr id="17" name="TextBox 16"/>
          <p:cNvSpPr txBox="1"/>
          <p:nvPr/>
        </p:nvSpPr>
        <p:spPr>
          <a:xfrm>
            <a:off x="804671" y="5662876"/>
            <a:ext cx="10616184" cy="463603"/>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Comparison is planned per get_gradient_capabilities [S1]. Why it matters: No persistence claim is supported. Uncertainty: Planned capability timing is not returned. What would change the view: A…</a:t>
            </a:r>
          </a:p>
        </p:txBody>
      </p:sp>
      <p:sp>
        <p:nvSpPr>
          <p:cNvPr id="18" name="Rectangle 1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20" name="TextBox 1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21" name="TextBox 2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LIVE LANES AND TWO PLANNED CAPABILITIES DEFINE COVERAGE</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Coverage and Limitations</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07</a:t>
            </a:r>
          </a:p>
        </p:txBody>
      </p:sp>
      <p:graphicFrame>
        <p:nvGraphicFramePr>
          <p:cNvPr id="9" name="Table 8"/>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4448556"/>
                <a:gridCol w="4448556"/>
              </a:tblGrid>
              <a:tr h="1223010">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223010">
                <a:tc>
                  <a:txBody>
                    <a:bodyPr/>
                    <a:lstStyle/>
                    <a:p>
                      <a:pPr>
                        <a:defRPr sz="800" b="1">
                          <a:solidFill>
                            <a:srgbClr val="0D1117"/>
                          </a:solidFill>
                          <a:latin typeface="Inter"/>
                        </a:defRPr>
                      </a:pPr>
                      <a:r>
                        <a:rPr>
                          <a:latin typeface="Inter"/>
                        </a:rPr>
                        <a:t>Historical</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[S2]</a:t>
                      </a:r>
                    </a:p>
                  </a:txBody>
                  <a:tcPr marL="54864" marR="54864" marT="27432" marB="27432" anchor="ctr">
                    <a:solidFill>
                      <a:srgbClr val="FFFFFF"/>
                    </a:solidFill>
                  </a:tcPr>
                </a:tc>
              </a:tr>
              <a:tr h="1223010">
                <a:tc>
                  <a:txBody>
                    <a:bodyPr/>
                    <a:lstStyle/>
                    <a:p>
                      <a:pPr>
                        <a:defRPr sz="800" b="1">
                          <a:solidFill>
                            <a:srgbClr val="0D1117"/>
                          </a:solidFill>
                          <a:latin typeface="Inter"/>
                        </a:defRPr>
                      </a:pPr>
                      <a:r>
                        <a:rPr>
                          <a:latin typeface="Inter"/>
                        </a:rPr>
                        <a:t>Ex ante</a:t>
                      </a:r>
                    </a:p>
                  </a:txBody>
                  <a:tcPr marL="54864" marR="54864" marT="27432" marB="27432" anchor="ctr">
                    <a:solidFill>
                      <a:srgbClr val="F5F7F9"/>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[S3]</a:t>
                      </a:r>
                    </a:p>
                  </a:txBody>
                  <a:tcPr marL="54864" marR="54864" marT="27432" marB="27432" anchor="ctr">
                    <a:solidFill>
                      <a:srgbClr val="F5F7F9"/>
                    </a:solidFill>
                  </a:tcPr>
                </a:tc>
              </a:tr>
              <a:tr h="1223010">
                <a:tc>
                  <a:txBody>
                    <a:bodyPr/>
                    <a:lstStyle/>
                    <a:p>
                      <a:pPr>
                        <a:defRPr sz="800" b="1">
                          <a:solidFill>
                            <a:srgbClr val="0D1117"/>
                          </a:solidFill>
                          <a:latin typeface="Inter"/>
                        </a:defRPr>
                      </a:pPr>
                      <a:r>
                        <a:rPr>
                          <a:latin typeface="Inter"/>
                        </a:rPr>
                        <a:t>Planned tools</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Simulation and comparison are planned [S1]</a:t>
                      </a:r>
                    </a:p>
                  </a:txBody>
                  <a:tcPr marL="54864" marR="54864" marT="27432" marB="27432" anchor="ctr">
                    <a:solidFill>
                      <a:srgbClr val="FFFFFF"/>
                    </a:solidFill>
                  </a:tcPr>
                </a:tc>
              </a:tr>
            </a:tbl>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SOURCE INVENTORY</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graphicFrame>
        <p:nvGraphicFramePr>
          <p:cNvPr id="9" name="Table 8"/>
          <p:cNvGraphicFramePr>
            <a:graphicFrameLocks noGrp="1"/>
          </p:cNvGraphicFramePr>
          <p:nvPr/>
        </p:nvGraphicFramePr>
        <p:xfrm>
          <a:off x="640080" y="1325880"/>
          <a:ext cx="10908792" cy="1348514"/>
        </p:xfrm>
        <a:graphic>
          <a:graphicData uri="http://schemas.openxmlformats.org/drawingml/2006/table">
            <a:tbl>
              <a:tblPr firstRow="1" bandRow="1">
                <a:tableStyleId>{5C22544A-7EE6-4342-B048-85BDC9FD1C3A}</a:tableStyleId>
              </a:tblPr>
              <a:tblGrid>
                <a:gridCol w="2011680"/>
                <a:gridCol w="1112139"/>
                <a:gridCol w="1112139"/>
                <a:gridCol w="1112139"/>
                <a:gridCol w="1112139"/>
                <a:gridCol w="1112139"/>
                <a:gridCol w="1112139"/>
                <a:gridCol w="1112139"/>
                <a:gridCol w="1112139"/>
              </a:tblGrid>
              <a:tr h="337128">
                <a:tc>
                  <a:txBody>
                    <a:bodyPr/>
                    <a:lstStyle/>
                    <a:p>
                      <a:pPr>
                        <a:defRPr sz="750" b="1">
                          <a:solidFill>
                            <a:srgbClr val="FFFFFF"/>
                          </a:solidFill>
                          <a:latin typeface="Inter"/>
                        </a:defRPr>
                      </a:pPr>
                      <a:r>
                        <a:rPr>
                          <a:latin typeface="Inter"/>
                        </a:rPr>
                        <a:t>Tag</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Evidence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Basis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 / view</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Key parameters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Data scope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Validation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Digest</a:t>
                      </a:r>
                    </a:p>
                  </a:txBody>
                  <a:tcPr marL="54864" marR="54864" marT="27432" marB="27432" anchor="ctr">
                    <a:solidFill>
                      <a:srgbClr val="0D1117"/>
                    </a:solidFill>
                  </a:tcPr>
                </a:tc>
              </a:tr>
              <a:tr h="337128">
                <a:tc>
                  <a:txBody>
                    <a:bodyPr/>
                    <a:lstStyle/>
                    <a:p>
                      <a:pPr>
                        <a:defRPr sz="650" b="1">
                          <a:solidFill>
                            <a:srgbClr val="0D1117"/>
                          </a:solidFill>
                          <a:latin typeface="Inter"/>
                        </a:defRPr>
                      </a:pPr>
                      <a:r>
                        <a:rPr>
                          <a:latin typeface="Inter"/>
                        </a:rPr>
                        <a:t>S1</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Capability gate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get_gradient_capabilities</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2026-09-30</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sha256:aaaaaaaaaaaaaaaaaaaaaaaaaaaaaaaaaaaaaaaaaaaaaaaaaaaaaaaaaaaaaaaa</a:t>
                      </a:r>
                    </a:p>
                  </a:txBody>
                  <a:tcPr marL="54864" marR="54864" marT="27432" marB="27432" anchor="ctr">
                    <a:solidFill>
                      <a:srgbClr val="FFFFFF"/>
                    </a:solidFill>
                  </a:tcPr>
                </a:tc>
              </a:tr>
              <a:tr h="337128">
                <a:tc>
                  <a:txBody>
                    <a:bodyPr/>
                    <a:lstStyle/>
                    <a:p>
                      <a:pPr>
                        <a:defRPr sz="650" b="1">
                          <a:solidFill>
                            <a:srgbClr val="0D1117"/>
                          </a:solidFill>
                          <a:latin typeface="Inter"/>
                        </a:defRPr>
                      </a:pPr>
                      <a:r>
                        <a:rPr>
                          <a:latin typeface="Inter"/>
                        </a:rPr>
                        <a:t>S2</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Historical attribution</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get_portfolio_attribution</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2026-09-30</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sha256:bbbbbbbbbbbbbbbbbbbbbbbbbbbbbbbbbbbbbbbbbbbbbbbbbbbbbbbbbbbbbbbb</a:t>
                      </a:r>
                    </a:p>
                  </a:txBody>
                  <a:tcPr marL="54864" marR="54864" marT="27432" marB="27432" anchor="ctr">
                    <a:solidFill>
                      <a:srgbClr val="F5F7F9"/>
                    </a:solidFill>
                  </a:tcPr>
                </a:tc>
              </a:tr>
              <a:tr h="337130">
                <a:tc>
                  <a:txBody>
                    <a:bodyPr/>
                    <a:lstStyle/>
                    <a:p>
                      <a:pPr>
                        <a:defRPr sz="650" b="1">
                          <a:solidFill>
                            <a:srgbClr val="0D1117"/>
                          </a:solidFill>
                          <a:latin typeface="Inter"/>
                        </a:defRPr>
                      </a:pPr>
                      <a:r>
                        <a:rPr>
                          <a:latin typeface="Inter"/>
                        </a:rPr>
                        <a:t>S3</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Ex ante attribution</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get_portfolio_ex_ante_attribution</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2026-09-30</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sha256:cccccccccccccccccccccccccccccccccccccccccccccccccccccccccccccccc</a:t>
                      </a:r>
                    </a:p>
                  </a:txBody>
                  <a:tcPr marL="54864" marR="54864" marT="27432" marB="27432" anchor="ctr">
                    <a:solidFill>
                      <a:srgbClr val="FFFFFF"/>
                    </a:solidFill>
                  </a:tcPr>
                </a:tc>
              </a:tr>
            </a:tbl>
          </a:graphicData>
        </a:graphic>
      </p:graphicFrame>
      <p:sp>
        <p:nvSpPr>
          <p:cNvPr id="10" name="TextBox 9"/>
          <p:cNvSpPr txBox="1"/>
          <p:nvPr/>
        </p:nvSpPr>
        <p:spPr>
          <a:xfrm>
            <a:off x="640080" y="2692682"/>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Illustrative, Gradient Maintained — demo data, not the client's holdings or managers. All organizations, portfolios, managers and results in this public example are illustrative.</a:t>
            </a:r>
          </a:p>
        </p:txBody>
      </p:sp>
      <p:sp>
        <p:nvSpPr>
          <p:cNvPr id="11" name="TextBox 10"/>
          <p:cNvSpPr txBox="1"/>
          <p:nvPr/>
        </p:nvSpPr>
        <p:spPr>
          <a:xfrm>
            <a:off x="640080" y="298529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SIGN BY SEGMENT</a:t>
            </a:r>
          </a:p>
        </p:txBody>
      </p:sp>
      <p:graphicFrame>
        <p:nvGraphicFramePr>
          <p:cNvPr id="12" name="Table 11"/>
          <p:cNvGraphicFramePr>
            <a:graphicFrameLocks noGrp="1"/>
          </p:cNvGraphicFramePr>
          <p:nvPr/>
        </p:nvGraphicFramePr>
        <p:xfrm>
          <a:off x="640080" y="3259610"/>
          <a:ext cx="10908792" cy="1409794"/>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281958">
                <a:tc>
                  <a:txBody>
                    <a:bodyPr/>
                    <a:lstStyle/>
                    <a:p>
                      <a:pPr>
                        <a:defRPr sz="750" b="1">
                          <a:solidFill>
                            <a:srgbClr val="FFFFFF"/>
                          </a:solidFill>
                          <a:latin typeface="Inter"/>
                        </a:defRPr>
                      </a:pPr>
                      <a:r>
                        <a:rPr>
                          <a:latin typeface="Inter"/>
                        </a:rPr>
                        <a:t>Lane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Segment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Returned effect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Returned sign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r>
              <a:tr h="281958">
                <a:tc>
                  <a:txBody>
                    <a:bodyPr/>
                    <a:lstStyle/>
                    <a:p>
                      <a:pPr>
                        <a:defRPr sz="720" b="1">
                          <a:solidFill>
                            <a:srgbClr val="0D1117"/>
                          </a:solidFill>
                          <a:latin typeface="Inter"/>
                        </a:defRPr>
                      </a:pPr>
                      <a:r>
                        <a:rPr>
                          <a:latin typeface="Inter"/>
                        </a:rPr>
                        <a:t>Historical</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+0.2pp</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[S2]</a:t>
                      </a:r>
                    </a:p>
                  </a:txBody>
                  <a:tcPr marL="54864" marR="54864" marT="27432" marB="27432" anchor="ctr">
                    <a:solidFill>
                      <a:srgbClr val="FFFFFF"/>
                    </a:solidFill>
                  </a:tcPr>
                </a:tc>
              </a:tr>
              <a:tr h="281958">
                <a:tc>
                  <a:txBody>
                    <a:bodyPr/>
                    <a:lstStyle/>
                    <a:p>
                      <a:pPr>
                        <a:defRPr sz="720" b="1">
                          <a:solidFill>
                            <a:srgbClr val="0D1117"/>
                          </a:solidFill>
                          <a:latin typeface="Inter"/>
                        </a:defRPr>
                      </a:pPr>
                      <a:r>
                        <a:rPr>
                          <a:latin typeface="Inter"/>
                        </a:rPr>
                        <a:t>Historical</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Alternatives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-0.8pp</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Negative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[S2]</a:t>
                      </a:r>
                    </a:p>
                  </a:txBody>
                  <a:tcPr marL="54864" marR="54864" marT="27432" marB="27432" anchor="ctr">
                    <a:solidFill>
                      <a:srgbClr val="F5F7F9"/>
                    </a:solidFill>
                  </a:tcPr>
                </a:tc>
              </a:tr>
              <a:tr h="281958">
                <a:tc>
                  <a:txBody>
                    <a:bodyPr/>
                    <a:lstStyle/>
                    <a:p>
                      <a:pPr>
                        <a:defRPr sz="720" b="1">
                          <a:solidFill>
                            <a:srgbClr val="0D1117"/>
                          </a:solidFill>
                          <a:latin typeface="Inter"/>
                        </a:defRPr>
                      </a:pPr>
                      <a:r>
                        <a:rPr>
                          <a:latin typeface="Inter"/>
                        </a:rPr>
                        <a:t>Governed ex ante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+0.27pp</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[S3]</a:t>
                      </a:r>
                    </a:p>
                  </a:txBody>
                  <a:tcPr marL="54864" marR="54864" marT="27432" marB="27432" anchor="ctr">
                    <a:solidFill>
                      <a:srgbClr val="FFFFFF"/>
                    </a:solidFill>
                  </a:tcPr>
                </a:tc>
              </a:tr>
              <a:tr h="281962">
                <a:tc>
                  <a:txBody>
                    <a:bodyPr/>
                    <a:lstStyle/>
                    <a:p>
                      <a:pPr>
                        <a:defRPr sz="720" b="1">
                          <a:solidFill>
                            <a:srgbClr val="0D1117"/>
                          </a:solidFill>
                          <a:latin typeface="Inter"/>
                        </a:defRPr>
                      </a:pPr>
                      <a:r>
                        <a:rPr>
                          <a:latin typeface="Inter"/>
                        </a:rPr>
                        <a:t>Governed ex ante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Alternatives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+0.08pp</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[S3]</a:t>
                      </a:r>
                    </a:p>
                  </a:txBody>
                  <a:tcPr marL="54864" marR="54864" marT="27432" marB="27432" anchor="ctr">
                    <a:solidFill>
                      <a:srgbClr val="F5F7F9"/>
                    </a:solidFill>
                  </a:tcPr>
                </a:tc>
              </a:tr>
            </a:tbl>
          </a:graphicData>
        </a:graphic>
      </p:graphicFrame>
      <p:sp>
        <p:nvSpPr>
          <p:cNvPr id="13" name="TextBox 12"/>
          <p:cNvSpPr txBox="1"/>
          <p:nvPr/>
        </p:nvSpPr>
        <p:spPr>
          <a:xfrm>
            <a:off x="640080" y="4687692"/>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Signs classify returned effects only; no cross-lane arithmetic [S2][S3].</a:t>
            </a:r>
          </a:p>
        </p:txBody>
      </p:sp>
      <p:sp>
        <p:nvSpPr>
          <p:cNvPr id="14" name="Rectangle 13"/>
          <p:cNvSpPr/>
          <p:nvPr/>
        </p:nvSpPr>
        <p:spPr>
          <a:xfrm>
            <a:off x="640080" y="4980300"/>
            <a:ext cx="10908792" cy="1237619"/>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Rectangle 14"/>
          <p:cNvSpPr/>
          <p:nvPr/>
        </p:nvSpPr>
        <p:spPr>
          <a:xfrm>
            <a:off x="640080" y="4980300"/>
            <a:ext cx="54864" cy="1237619"/>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TextBox 15"/>
          <p:cNvSpPr txBox="1"/>
          <p:nvPr/>
        </p:nvSpPr>
        <p:spPr>
          <a:xfrm>
            <a:off x="804671" y="509002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Method boundary</a:t>
            </a:r>
          </a:p>
        </p:txBody>
      </p:sp>
      <p:sp>
        <p:nvSpPr>
          <p:cNvPr id="17" name="TextBox 16"/>
          <p:cNvSpPr txBox="1"/>
          <p:nvPr/>
        </p:nvSpPr>
        <p:spPr>
          <a:xfrm>
            <a:off x="804671" y="5373492"/>
            <a:ext cx="10616184" cy="752987"/>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Each lane remains on its returned method, period or horizon, benchmark role, parent cohort and calculation currency. Historical evidence is realized, ex ante evidence is expected, and simulated evidence is scenario-based. Values are displayed without local reconciliation, attribution arithmetic or substitutions [S1][S2][S3].</a:t>
            </a:r>
          </a:p>
        </p:txBody>
      </p:sp>
      <p:sp>
        <p:nvSpPr>
          <p:cNvPr id="18" name="Rectangle 1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20" name="TextBox 1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21" name="TextBox 2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SOURCE INVENTORY</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sp>
        <p:nvSpPr>
          <p:cNvPr id="9" name="Rectangle 8"/>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Comparison boundary</a:t>
            </a:r>
          </a:p>
        </p:txBody>
      </p:sp>
      <p:sp>
        <p:nvSpPr>
          <p:cNvPr id="12" name="TextBox 11"/>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Cross-lane differences, concentration, overlap, reconciliation and persistence are reported only when the governed comparison capability returns them. Capability absence is an evidence limitation, not a zero value or a failed lane. Request IDs, diagnostics, residuals and coverage remain attached to their source payloads [S1].</a:t>
            </a:r>
          </a:p>
        </p:txBody>
      </p:sp>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2026-09-30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23</a:t>
            </a:r>
          </a:p>
        </p:txBody>
      </p:sp>
    </p:spTree>
  </p:cSld>
  <p:clrMapOvr>
    <a:masterClrMapping/>
  </p:clrMapOvr>
</p:sld>
</file>

<file path=ppt/theme/theme1.xml><?xml version="1.0" encoding="utf-8"?>
<a:theme xmlns:a="http://schemas.openxmlformats.org/drawingml/2006/main" name="Office Theme">
  <a:themeElements>
    <a:clrScheme name="Office">
      <a:dk1>
        <a:srgbClr val="0D1117"/>
      </a:dk1>
      <a:lt1>
        <a:srgbClr val="FFFFFF"/>
      </a:lt1>
      <a:dk2>
        <a:srgbClr val="161C24"/>
      </a:dk2>
      <a:lt2>
        <a:srgbClr val="F5F7F9"/>
      </a:lt2>
      <a:accent1>
        <a:srgbClr val="C6F432"/>
      </a:accent1>
      <a:accent2>
        <a:srgbClr val="4F6B00"/>
      </a:accent2>
      <a:accent3>
        <a:srgbClr val="F2A93B"/>
      </a:accent3>
      <a:accent4>
        <a:srgbClr val="5B8DEF"/>
      </a:accent4>
      <a:accent5>
        <a:srgbClr val="FF6B5E"/>
      </a:accent5>
      <a:accent6>
        <a:srgbClr val="3FB8AF"/>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Total Fund Attribution Comparison</dc:title>
  <dc:subject>Attribution Comparison</dc:subject>
  <dc:creator>GradientCIO</dc:creator>
  <cp:keywords>Gradient report theme 2.3.0</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