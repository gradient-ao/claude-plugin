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Japan</c:v>
                </c:pt>
                <c:pt idx="3">
                  <c:v>Emerging markets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59.0</c:v>
                </c:pt>
                <c:pt idx="1">
                  <c:v>20.0</c:v>
                </c:pt>
                <c:pt idx="2">
                  <c:v>8.0</c:v>
                </c:pt>
                <c:pt idx="3">
                  <c:v>13.0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core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24.0</c:v>
                </c:pt>
                <c:pt idx="1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Passive completion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12.0</c:v>
                </c:pt>
                <c:pt idx="1">
                  <c:v>16.0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Emerging markets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6.0</c:v>
                </c:pt>
                <c:pt idx="1">
                  <c:v>6.0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Active core</c:v>
                </c:pt>
                <c:pt idx="1">
                  <c:v>Passive completion</c:v>
                </c:pt>
                <c:pt idx="2">
                  <c:v>Emerging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Active core</c:v>
                </c:pt>
                <c:pt idx="1">
                  <c:v>Passive completion</c:v>
                </c:pt>
                <c:pt idx="2">
                  <c:v>Emerging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4.0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Active core</c:v>
                </c:pt>
                <c:pt idx="1">
                  <c:v>Passive completion</c:v>
                </c:pt>
                <c:pt idx="2">
                  <c:v>Emerging markets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FF6B5E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FF6B5E"/>
              </a:solidFill>
            </c:spPr>
          </c:dPt>
          <c:cat>
            <c:strRef>
              <c:f>Sheet1!$A$2:$A$5</c:f>
              <c:strCache>
                <c:ptCount val="4"/>
                <c:pt idx="0">
                  <c:v>Value</c:v>
                </c:pt>
                <c:pt idx="1">
                  <c:v>Quality</c:v>
                </c:pt>
                <c:pt idx="2">
                  <c:v>Momentum</c:v>
                </c:pt>
                <c:pt idx="3">
                  <c:v>Size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-0.18</c:v>
                </c:pt>
                <c:pt idx="1">
                  <c:v>0.31</c:v>
                </c:pt>
                <c:pt idx="2">
                  <c:v>0.22</c:v>
                </c:pt>
                <c:pt idx="3">
                  <c:v>-0.09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7.1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moves 4.0 percentage points from active core to passive completion [S4][S8]. Why it matters: Manager concentration falls while equity exposure is preserved [S3]. Uncertainty: CMA consensus, macro regime, open findings and costs are incomplete [S9]. What would change the view: Completed context that weakens the concentration benefit [S8][S9].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Concentration remains near limits</a:t>
            </a:r>
          </a:p>
          <a:p>
            <a:r>
              <a:t>Observation: The largest manager and issuer look-through remain below but near governed limits [S3][S4][S7]. Why it matters: Completion exposure can reduce reliance on concentrated active mandates. Uncertainty: Issuer evidence is lagged and incomplete [S7]. What would change the view: Fresher look-through or manager data showing materially lower concentration [S4][S7].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Risk falls modestly</a:t>
            </a:r>
          </a:p>
          <a:p>
            <a:r>
              <a:t>Observation: The proposed sleeve has slightly lower expected return, volatility and drawdown than the current sleeve [S6]. Why it matters: The completion shift trades little assumed return for lower modeled risk. Uncertainty: These are long-horizon assumptions. What would change the view: A governed context where the proposed sleeve no longer improves risk meaningfully 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GLOBAL PUBLIC EQUITY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Northstar Global Public Equity Portfolio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Decision pack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BASE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TOTAL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$1,000.0M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PUBLIC-EQUITY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42.0%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POLICY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Example Global Equity Index (TEST)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Fictional TEST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48990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48990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20052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We recommend retaining the 42.0% total-fund public-equity allocation while moving 4.0 percentage points of the sleeve from concentrated active mandates to a global passive completion mandate [S3][S4][S7]. Committee action requested: approve the target manager structure and phased funding, subject to manager diligence and concentration limits [S3][S8].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25513"/>
            <a:ext cx="2644902" cy="22924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25513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352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PUBLIC-EQUITY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0956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42.0%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Policy target 42.0% [S3]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925513"/>
            <a:ext cx="2644902" cy="22924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4710" y="3925513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4438" y="405352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ACTIVE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430956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0.0pp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Total-fund target [S3]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925513"/>
            <a:ext cx="2644902" cy="22924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9340" y="3925513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405352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RELATIVE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430956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-0.6pp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Trailing 1Y versus benchmark [S5]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925513"/>
            <a:ext cx="2644902" cy="22924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3970" y="3925513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3698" y="405352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LARGEST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4309561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2.3% NAV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Largest issuer; lagged 13F look-through [S7]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S5 · S7 · 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9198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91983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 and action 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351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We recommend moving 4.0 percentage points of the equity sleeve from concentrated active mandates to a global passive completion mandate. Committee action requested: approve the target lineup and phased funding [S3][S4][S8].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543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629758"/>
          <a:ext cx="10908792" cy="140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5235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23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Retain 42.0% of total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3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from 57.1% to 47.6% of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3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Increase from 28.6% to 38.1%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148911"/>
            <a:ext cx="10908792" cy="85795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48911"/>
            <a:ext cx="54864" cy="85795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25863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Conditions and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542103"/>
            <a:ext cx="10616184" cy="37332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Complete manager comparison and diligence, confirm transition costs, and preserve governed manager and issuer concentration limits [S3][S7][S8].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16597"/>
            <a:ext cx="10908792" cy="110132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116597"/>
            <a:ext cx="54864" cy="110132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522632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509789"/>
            <a:ext cx="10616184" cy="6166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Manager and issuer concentration on watch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S4 · S7 · S8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40513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40513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92050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Public-equity weight is 42.0%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747"/>
            <a:ext cx="10908792" cy="23771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40747"/>
            <a:ext cx="54864" cy="23771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95047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33939"/>
            <a:ext cx="10616184" cy="18925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Largest concentration is 2.3% NAV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Mandate, Benchmark and Data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Northstar Total Fund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Global public-equity growth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Global Equity Index (TEST)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32.0%–52.0%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15.0%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Single issuer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3.0%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Current Global Public Equity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PUBLIC-EQUITY REGIONAL EXPOSURE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Current Global Public Equity Portfolio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SLEEVE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3225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4507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equity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Active Global Manager A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35.7%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Active Global Manager B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$90.0M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21.4%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Global Index Fund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28.6%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Emerging Manager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Emerging markets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$60.0M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14.3%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35307"/>
            <a:ext cx="10908792" cy="12826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Manager roles are from the fictional mandate; regional weights are returned portfolio analytics and retain their stated basis [S4][S8].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Active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1205" y="2185111"/>
            <a:ext cx="450762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05294" y="206197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41192" y="190804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601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Passive completion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7503" y="3724351"/>
            <a:ext cx="34674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44408" y="360121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54230" y="344728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1525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Emerging markets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5263591"/>
            <a:ext cx="173370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63965" y="514045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86825" y="498652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AND TARGET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TARGET ALLOCATION CHANGES (PERCENTAGE POINTS)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VERSUS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718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2957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957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-4.0pp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15.0%–28.0%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manager concentration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57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+4.0pp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10.0%–20.0%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Improve benchmark completion [S5][S8]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957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Emerging markets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3.0%–8.0%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Maintain strategic exposure 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28241"/>
            <a:ext cx="10908792" cy="179151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28241"/>
            <a:ext cx="54864" cy="179151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53796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Why this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21433"/>
            <a:ext cx="10616184" cy="130688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target moves 4.0 percentage points from active core to passive completion [S4][S8]. Why it matters: Manager concentration falls while equity exposure is preserved [S3]. Uncertainty: CMA…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29484"/>
            <a:ext cx="10908792" cy="88843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 target is a committee proposal and is not a saved portfolio change [S3][S8].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S5 · S6 · S8 · S9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Performance and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STANDARD PERIODS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883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708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1Y equity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3Y equity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8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5Y equity sleeve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314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ATTRIBUTION EFFECTS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867465"/>
          <a:ext cx="10908792" cy="235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7009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+0.10pp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bp; degraded residual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COMPLETION EXPOSURE REDUCES RELIANCE ON CONCENTRATED ACTIVE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Factor Exposures and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ACTIVE FACTOR EXPOSURE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COMPLETION EXPOSURE REDUCES RELIANCE ON CONCENTRATED ACTIVE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Factor Exposures and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CONCENTRATION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65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1443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1443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443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Largest issuer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2.3%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444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 America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59.0% of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367687"/>
            <a:ext cx="10908792" cy="175600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67687"/>
            <a:ext cx="54864" cy="175600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47741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Concentration remains near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60879"/>
            <a:ext cx="10616184" cy="12713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largest manager and issuer look-through remain below but near governed limits [S3][S4][S7]. Why it matters: Completion exposure can reduce reliance on concentrated active mandates. Uncertainty: Issuer…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33420"/>
            <a:ext cx="10908792" cy="98449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233420"/>
            <a:ext cx="54864" cy="98449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534314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Look-through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626612"/>
            <a:ext cx="10616184" cy="49986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The issuer concentration uses lagged Form 13F evidence and does not represent a complete holdings record [S7].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Strategic CMA (TEST)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test-equity-forward-2026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GLOBAL EQUITY FORWARD ASSUMPTIONS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Current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16.8%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15.7%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 max 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-28.5%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-26.6%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322528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22528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Risk falls modestly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74064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proposed sleeve has slightly lower expected return, volatility and drawdown than the current sleeve [S6]. Why it matters: The completion shift trades little assumed return for…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0888"/>
            <a:ext cx="10908792" cy="155703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These figures are assumptions under the selected context, not forecasts or guarantees [S6].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Manager Lineup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AND PROPOSED ROLES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Active Global Manager A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by 2.5pp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Review funding schedule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Active Global Manager B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9.0%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by 1.5pp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performance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Global Index Fund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Increase by 4.0pp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Confirm vehicle terms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Issuer-Level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LOOK-THROUGH FLAGS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2612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87079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Issuer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Look-through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Flag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87079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Technology Issuer A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$23.0M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Near policy watch level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7080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Consumer Issuer B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Monitor overlap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322326"/>
            <a:ext cx="10908792" cy="189559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322326"/>
            <a:ext cx="54864" cy="189559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43205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Form 13F caveat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715518"/>
            <a:ext cx="10616184" cy="141096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Form 13F evidence is lagged by up to 45 days, covers long-only US-listed equity, excludes shorts, cash, non-US listings and private assets, and uses USD filing values that are not FX-converted against NAV [S7].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Scenarios and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SCENARIO RESULTS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Scenarios and Robustness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SUPPORTED SCENARIOS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7.1%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15.7%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Alternative 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no comparable returned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Tracking-error scenario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active-risk result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Selected-series sandbox — not saved-portfolio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no Strategy Lab return series selected [S9].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 · S9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IMPLEMENTATION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 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Active-manager redemption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Vehicle and liquidity 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target shift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Active-manager redemption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Diligence and transition costs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2720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ALTERNATIVES CONSIDERED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101520"/>
          <a:ext cx="10908792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turnover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Concentration persists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Does not address watch items 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Replace all 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Maximum simplification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and transition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Evidence does not support full replacement [S5][S8]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328521"/>
            <a:ext cx="10908792" cy="18893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Complete manager comparison and diligence before final funding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Confirm transition costs before implementation [S9].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Refresh governed concentration and attribution after phase one [S3][S5].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S5 · S7 · S8 · S9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Risks, Open Items and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coverage is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Lagged long-only evidence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Use as a concentration flag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Selection shortfall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-0.62pp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Stage funding and monitor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Transition costs 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Coverage gap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Obtain estimates before phase two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OPEN ITEMS AND APPROVALS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Confirm passive vehicle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Terms and 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Transition-cost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/ custodian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Refresh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Latest 13F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Research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 · S7 · S8 · S9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and regional rows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 outside tolerance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Strategic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Lagged and incomplete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mandate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Scenario and cost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returned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 · S4 · S5 · S6 · S7 · S8 · S9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4892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Public-equity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get_portfolio_exposure; get_chart_data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public_equity; allocations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portfolio_13f_lookthrough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mandate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User document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Scenario and cost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Coverage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eq-s9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997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995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statistics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Expected-statistics chart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10-year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5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Issuer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Portfolio-to-manager 13F join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cross-domain-v1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Lagged US-listed long-only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07801"/>
            <a:ext cx="10908792" cy="25101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Forward values are assumptions, not forecasts or guarantees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Form 13F evidence has the stated lag, coverage and FX limitations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This AI-assisted construction analysis is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S5 ·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Global Public Equity Portfolio (TEST)</dc:title>
  <dc:subject>Global Public Equity Portfolio Construction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