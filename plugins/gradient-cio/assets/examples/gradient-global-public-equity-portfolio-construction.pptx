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 America</c:v>
                </c:pt>
                <c:pt idx="1">
                  <c:v>Europe</c:v>
                </c:pt>
                <c:pt idx="2">
                  <c:v>Japan</c:v>
                </c:pt>
                <c:pt idx="3">
                  <c:v>Emerging markets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59.0</c:v>
                </c:pt>
                <c:pt idx="1">
                  <c:v>20.0</c:v>
                </c:pt>
                <c:pt idx="2">
                  <c:v>8.0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Active core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24.0</c:v>
                </c:pt>
                <c:pt idx="1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Passive completion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12.0</c:v>
                </c:pt>
                <c:pt idx="1">
                  <c:v>16.0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Emerging markets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6.0</c:v>
                </c:pt>
                <c:pt idx="1">
                  <c:v>6.0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4.0</c:v>
                </c:pt>
                <c:pt idx="2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Active core</c:v>
                </c:pt>
                <c:pt idx="1">
                  <c:v>Passive completion</c:v>
                </c:pt>
                <c:pt idx="2">
                  <c:v>Emerging markets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FF6B5E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FF6B5E"/>
              </a:solidFill>
            </c:spPr>
          </c:dPt>
          <c:cat>
            <c:strRef>
              <c:f>Sheet1!$A$2:$A$5</c:f>
              <c:strCache>
                <c:ptCount val="4"/>
                <c:pt idx="0">
                  <c:v>Value</c:v>
                </c:pt>
                <c:pt idx="1">
                  <c:v>Quality</c:v>
                </c:pt>
                <c:pt idx="2">
                  <c:v>Momentum</c:v>
                </c:pt>
                <c:pt idx="3">
                  <c:v>Size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-0.18</c:v>
                </c:pt>
                <c:pt idx="1">
                  <c:v>0.31</c:v>
                </c:pt>
                <c:pt idx="2">
                  <c:v>0.22</c:v>
                </c:pt>
                <c:pt idx="3">
                  <c:v>-0.09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moves 4.0 percentage points from active core to passive completion [S4][S8]. Why it matters: Manager concentration falls while equity exposure is preserved [S3]. Uncertainty: CMA consensus, macro regime, open findings and costs are incomplete [S9]. What would change the view: Completed context that weakens the concentration benefit [S8][S9].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near limits</a:t>
            </a:r>
          </a:p>
          <a:p>
            <a:r>
              <a:t>Observation: The largest manager and issuer look-through remain below but near governed limits [S3][S4][S7]. Why it matters: Completion exposure can reduce reliance on concentrated active mandates. Uncertainty: Issuer evidence is lagged and incomplete [S7]. What would change the view: Fresher look-through or manager data showing materially lower concentration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Risk falls modestly</a:t>
            </a:r>
          </a:p>
          <a:p>
            <a:r>
              <a:t>Observation: The proposed sleeve has slightly lower expected return, volatility and drawdown than the current sleeve [S6]. Why it matters: The completion shift trades little assumed return for lower modeled risk. Uncertainty: These are long-horizon assumptions. What would change the view: A governed context where the proposed sleeve no longer improves risk meaningfully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GLOBAL PUBLIC EQUITY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Global Public Equity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PUBLIC-EQUITY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42.0%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Global Equity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899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899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0052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retaining the 42.0% total-fund public-equity allocation while moving 4.0 percentage points of the sleeve from concentrated active mandates to a global passive completion mandate [S3][S4][S7]. Committee action requested: approve the target manager structure and phased funding, subject to manager diligence and concentration limits [S3][S8].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PUBLIC-EQUITY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42.0%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target 42.0%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925513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-0.6pp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925513"/>
            <a:ext cx="2644902" cy="22924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925513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4053529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LARGEST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309561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2.3% NAV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Largest issuer; lagged 13F look-through [S7]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9198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91983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351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moving 4.0 percentage points of the equity sleeve from concentrated active mandates to a global passive completion mandate. Committee action requested: approve the target lineup and phased funding [S3][S4][S8].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5543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29758"/>
          <a:ext cx="10908792" cy="1409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5235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Retain 42.0% of 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from 57.1% to 47.6% of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from 28.6% to 38.1%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148911"/>
            <a:ext cx="10908792" cy="8579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148911"/>
            <a:ext cx="54864" cy="85795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25863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542103"/>
            <a:ext cx="10616184" cy="3733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Complete manager comparison and diligence, confirm transition costs, and preserve governed manager and issuer concentration limits [S3][S7][S8].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16597"/>
            <a:ext cx="10908792" cy="11013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116597"/>
            <a:ext cx="54864" cy="110132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22632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509789"/>
            <a:ext cx="10616184" cy="6166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Manager and issuer concentration on watch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051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0513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205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Public-equity weight is 42.0%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747"/>
            <a:ext cx="10908792" cy="23771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840747"/>
            <a:ext cx="54864" cy="23771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4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33939"/>
            <a:ext cx="10616184" cy="18925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Largest concentration is 2.3% NAV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Global public-equity growth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Global Equity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32.0%–52.0%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15.0%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 issuer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Global Public Equity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PUBLIC-EQUITY REGIONAL EXPOSURE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Global Public Equity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 / 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equity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Active Global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35.7%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Active Global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$90.0M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Global Index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Emerging Manager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$60.0M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14.3%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Manager roles are from the fictional mandate; regional weights are returned portfolio analytics and retain their stated basis [S4][S8].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Active core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1205" y="2185111"/>
            <a:ext cx="450762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05294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41192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Passive completion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7503" y="3724351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440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230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Emerging markets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5263591"/>
            <a:ext cx="173370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63965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86825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TARGET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PROPOSED MIX REDUCES CONCENTRATED RISK WHILE PRESERVING MANDATE EXPOSURE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Portfolio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718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2957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95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15.0%–28.0%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manager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57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+4.0pp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10.0%–20.0%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Improve benchmark completion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95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Emerging markets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3.0%–8.0%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strategic exposure 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28241"/>
            <a:ext cx="10908792" cy="17915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8241"/>
            <a:ext cx="54864" cy="17915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3796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21433"/>
            <a:ext cx="10616184" cy="13068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target moves 4.0 percentage points from active core to passive completion [S4][S8]. Why it matters: Manager concentration falls while equity exposure is preserved [S3]. Uncertainty: CMA…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9484"/>
            <a:ext cx="10908792" cy="88843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 · S8 · S9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 equity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5Y equity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bp; degraded residual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 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ACTIVE FACTOR EXPOSURE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COMPLETION EXPOSURE REDUCES RELIANCE ON CONCENTRATED ACTIVE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 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65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1443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443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443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2.3%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44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 America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59.0% of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367687"/>
            <a:ext cx="10908792" cy="17560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67687"/>
            <a:ext cx="54864" cy="175600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47741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Concentration remains near 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760879"/>
            <a:ext cx="10616184" cy="12713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largest manager and issuer look-through remain below but near governed limits [S3][S4][S7]. Why it matters: Completion exposure can reduce reliance on concentrated active mandates. Uncertainty: Issuer…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33420"/>
            <a:ext cx="10908792" cy="9844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233420"/>
            <a:ext cx="54864" cy="98449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34314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26612"/>
            <a:ext cx="10616184" cy="4998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The issuer concentration uses lagged Form 13F evidence and does not represent a complete holdings record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test-equity-forward-2026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GLOBAL EQUITY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16.8%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-28.5%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-26.6%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252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252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Risk falls modestly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406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proposed sleeve has slightly lower expected return, volatility and drawdown than the current sleeve [S6]. Why it matters: The completion shift trades little assumed return for…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660888"/>
            <a:ext cx="10908792" cy="1557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Manager Lineup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PROPOSED ROLES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Active Global Manager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by 2.5pp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Review funding schedule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Active Global Manager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9.0%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by 1.5pp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performance 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Global Index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by 4.0pp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vehicle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Issuer-Level Flags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LOOK-THROUGH FLAGS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612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87079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Look-through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 date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Flag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70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Technology Issuer A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Near policy watch level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7080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Consumer Issuer B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 overlap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322326"/>
            <a:ext cx="10908792" cy="18955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322326"/>
            <a:ext cx="54864" cy="18955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320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Form 13F caveat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715518"/>
            <a:ext cx="10616184" cy="14109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Form 13F evidence is lagged by up to 45 days, covers long-only US-listed equity, excludes shorts, cash, non-US listings and private assets, and uses USD filing values that are not FX-converted against NAV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15.7%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Alternative 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comparable returned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Tracking-error scenario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active-risk result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Strategy Lab return series selected [S9].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 · 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passive completion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Vehicle and liquidity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target shift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Active-manager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and transition costs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82720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101520"/>
          <a:ext cx="10908792" cy="111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242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turnover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Concentration persists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Does not address watch items [S3][S7]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242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Replace all active core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Maximum simplification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and transition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Evidence does not support full replacement [S5][S8]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328521"/>
            <a:ext cx="10908792" cy="18893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Complete manager comparison and diligence before final funding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Confirm transition costs before implementation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Refresh governed concentration and attribution after phase one [S3][S5].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S5 · S7 ·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coverage is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Lagged long-only evidence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 as a concentration flag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 shortfall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-0.62pp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Stage funding and monitor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Transition costs unavailable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 gap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Obtain estimates before phase two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passive vehicle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Terms and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Within 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Transition-cost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/ custodian estimate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Research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 · S7 · S8 · 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and regional rows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 outside tolerance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Lagged and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evidence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mandate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Scenario and cost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returned [S9]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4892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Public-equity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get_portfolio_exposure; get_chart_data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public_equity; allocations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portfolio_13f_lookthrough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mandate 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User document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920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Scenario and cost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Coverage record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eq-s9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9978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995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995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10-year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5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Portfolio-to-manager 13F join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cross-domain-v1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Lagged US-listed long-only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7801"/>
            <a:ext cx="10908792" cy="25101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Form 13F evidence has the stated lag, coverage and FX limitations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S5 · S6 ·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Global Public Equity Portfolio (TEST)</dc:title>
  <dc:subject>Global Public Equity Portfolio Construction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