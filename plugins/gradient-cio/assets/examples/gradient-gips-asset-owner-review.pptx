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Met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Sheet1!$A$2:$A$5</c:f>
              <c:strCache>
                <c:ptCount val="4"/>
                <c:pt idx="0">
                  <c:v>Returns</c:v>
                </c:pt>
                <c:pt idx="1">
                  <c:v>Benchmark</c:v>
                </c:pt>
                <c:pt idx="2">
                  <c:v>Valuation</c:v>
                </c:pt>
                <c:pt idx="3">
                  <c:v>Oversight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Partially met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Sheet1!$A$2:$A$5</c:f>
              <c:strCache>
                <c:ptCount val="4"/>
                <c:pt idx="0">
                  <c:v>Returns</c:v>
                </c:pt>
                <c:pt idx="1">
                  <c:v>Benchmark</c:v>
                </c:pt>
                <c:pt idx="2">
                  <c:v>Valuation</c:v>
                </c:pt>
                <c:pt idx="3">
                  <c:v>Oversight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met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Sheet1!$A$2:$A$5</c:f>
              <c:strCache>
                <c:ptCount val="4"/>
                <c:pt idx="0">
                  <c:v>Returns</c:v>
                </c:pt>
                <c:pt idx="1">
                  <c:v>Benchmark</c:v>
                </c:pt>
                <c:pt idx="2">
                  <c:v>Valuation</c:v>
                </c:pt>
                <c:pt idx="3">
                  <c:v>Oversight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found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Sheet1!$A$2:$A$5</c:f>
              <c:strCache>
                <c:ptCount val="4"/>
                <c:pt idx="0">
                  <c:v>Returns</c:v>
                </c:pt>
                <c:pt idx="1">
                  <c:v>Benchmark</c:v>
                </c:pt>
                <c:pt idx="2">
                  <c:v>Valuation</c:v>
                </c:pt>
                <c:pt idx="3">
                  <c:v>Oversight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Benchmark lineage incomplete</a:t>
            </a:r>
          </a:p>
          <a:p>
            <a:r>
              <a:t>Observation: The benchmark is identified, but its change date is absent [S1, S2]. Why it matters: period comparability depends on benchmark lineage. Uncertainty: the underlying approval date is not evidenced. What would change the view: evidence closing follow-up request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GIPS ASSET OWNER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Northstar Public Trust (TEST) — GIPS Asset Owner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Total-fund reporting · SYNTHETIC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SUBJECT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Northstar Public Trust (TEST)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Asset owner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DATA 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Fictional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PREPARED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Gradient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REVIEW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2026-10-09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866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86626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Bottom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381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Total-fund return and benchmark evidence is present, while benchmark-change and policy documentation remain incomplete [S1][S2][S3].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0187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MET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Return basis and benchmark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471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94710" y="330187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443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PARTIALLY MET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Benchmark change disclosure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934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9340" y="3301876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906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NOT MET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Valuation policy 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397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3970" y="330187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1369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NOT FOUND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Error-correction policy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EVIDENCE STATUS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7107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2768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768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Board report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Total-fund evidence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768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Investment 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Benchmark evidence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768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Custodian package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Valuation policy absent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420665"/>
            <a:ext cx="10908792" cy="106471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Overall assessment:** Partial evidence with follow-ups.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Total-fund reporting is documented, while benchmark-change disclosure and valuation-policy evidence need completion.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595106"/>
            <a:ext cx="10908792" cy="72877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595106"/>
            <a:ext cx="54864" cy="72877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470483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evidence balance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988298"/>
            <a:ext cx="10616184" cy="2441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Met is 2 and Not met is 1 [S1]. Why it matters: The evidence is mixed. Uncertainty: The review is document-bound. What would change the view: Additional governed evidence that changes either count.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433614"/>
            <a:ext cx="10908792" cy="78430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433614"/>
            <a:ext cx="54864" cy="78430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554334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partial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826806"/>
            <a:ext cx="10616184" cy="2996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Partially met is 1 [S1]. Why it matters: Partial support limits a clean conclusion. Uncertainty: Missing documents may exist. What would change the view: Complete evidence for the partially supported requirements.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2180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21801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evidence gaps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73338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Not found is 1 [S1]. Why it matters: Unlocated evidence remains outside the assessment. Uncertainty: Absence from the supplied record is not proof of absence. What would change the view: A current document resolving the gap.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53627"/>
            <a:ext cx="10908792" cy="25642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653627"/>
            <a:ext cx="54864" cy="256429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76335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Benchmark lineage incomplete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046819"/>
            <a:ext cx="10616184" cy="20796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benchmark is identified, but its change date is absent [S1, S2]. Why it matters: period comparability depends on benchmark lineage. Uncertainty: the underlying approval date is…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Performance Integrity &amp; GIPS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REQUIREMENT EVIDENCE MATRIX (TEST)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4396"/>
                <a:gridCol w="5454396"/>
              </a:tblGrid>
              <a:tr h="115443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 score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Performance record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Disclosures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0.5</a:t>
                      </a:r>
                    </a:p>
                  </a:txBody>
                  <a:tcPr marL="54864" marR="54864" marT="27432" marB="27432" anchor="ctr">
                    <a:solidFill>
                      <a:srgbClr val="D6F574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Governance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Performance Integrity &amp; GIPS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The fictional board report presents total-fund returns net of external manager fees and identifies the policy benchmark [S1]. The policy names the reporting basis, but the custodian package does not evidence the effective date of a benchmark change [S2][S3].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Follow-up Requests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Provide the benchmark-change effective date and rationale.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Provide the valuation and error-correction policies.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Findings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CHECKLIST STATUS BY AREA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Findings Checklist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FINDINGS BY SEVERITY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Findings Checklist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29113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·  Area  ·  Requirement  ·  Provision  ·  Status  ·  Evidence  ·  Finding / follow-up  · </a:t>
            </a:r>
            <a:br/>
            <a:br/>
            <a:r>
              <a:t> ·  Returns  ·  Total-fund return basis  ·  Asset Owner 22.A.1  ·  Met  ·  Board report [S1]  ·  —  · </a:t>
            </a:r>
            <a:br/>
            <a:br/>
            <a:r>
              <a:t> ·  Benchmark  ·  Policy benchmark identified  ·  Asset Owner 22.C.8  ·  Met  ·  Policy [S2]  ·  —  · </a:t>
            </a:r>
            <a:br/>
            <a:br/>
            <a:r>
              <a:t> ·  Benchmark  ·  Change disclosure  ·  Asset Owner 22.C.9  ·  Partially met  ·  Board report [S1]  ·  Effective date absent  · </a:t>
            </a:r>
            <a:br/>
            <a:br/>
            <a:r>
              <a:t> ·  Valuation  ·  Valuation policy availability  ·  Asset Owner 21.A.6  ·  Not met  ·  Custodian package [S3]  ·  Policy not supplied  · </a:t>
            </a:r>
            <a:br/>
            <a:br/>
            <a:r>
              <a:t> ·  Oversight  ·  Error-correction policy  ·  Asset Owner 22.C.20  ·  Not found  ·  —  ·  Request  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6739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PRIORITY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001059"/>
          <a:ext cx="10908792" cy="2216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5421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54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Benchmark date absent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The report omits the benchmark-change effective date [S1][S2].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4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Valuation policy absent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The reviewed package does not include the valuation policy [S3].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42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Error policy not found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error-correction policy was supplied [S2][S3].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·  Tag  ·  Source  ·  Detail  ·  As of  ·  Validation  · </a:t>
            </a:r>
            <a:br/>
            <a:br/>
            <a:r>
              <a:t> ·  S1  ·  Board performance report (TEST)  ·  Total-fund pages 2–6  ·  2026-06-30  ·  Synthetic document  · </a:t>
            </a:r>
            <a:br/>
            <a:br/>
            <a:r>
              <a:t> ·  S2  ·  Investment policy (TEST)  ·  Benchmark section  ·  2026-01-01  ·  Synthetic document  · </a:t>
            </a:r>
            <a:br/>
            <a:br/>
            <a:r>
              <a:t> ·  S3  ·  Custodian package (TEST)  ·  Performance schedules  ·  2026-06-30  ·  Synthetic document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Method &amp;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This fictional asset-owner review tests the shared GIPS handoff contract. It is not verification, certification, legal advice or an assessment of any real organization.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Public Trust (TEST) — GIPS Asset Owner Review</dc:title>
  <dc:subject>GIPS Review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