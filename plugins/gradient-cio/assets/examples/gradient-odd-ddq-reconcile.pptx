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Contradicted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Firm</c:v>
                </c:pt>
                <c:pt idx="1">
                  <c:v>Fund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2.0</c:v>
                </c:pt>
                <c:pt idx="1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Needs review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Firm</c:v>
                </c:pt>
                <c:pt idx="1">
                  <c:v>Fund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0.0</c:v>
                </c:pt>
                <c:pt idx="1">
                  <c:v>3.0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Consistent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Firm</c:v>
                </c:pt>
                <c:pt idx="1">
                  <c:v>Fund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6.0</c:v>
                </c:pt>
                <c:pt idx="1">
                  <c:v>7.0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Not checkable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Sheet1!$A$2:$A$3</c:f>
              <c:strCache>
                <c:ptCount val="2"/>
                <c:pt idx="0">
                  <c:v>Firm</c:v>
                </c:pt>
                <c:pt idx="1">
                  <c:v>Fund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0.0</c:v>
                </c:pt>
                <c:pt idx="1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Provider identity conflict</a:t>
            </a:r>
          </a:p>
          <a:p>
            <a:r>
              <a:t>Observation: The administrator names conflict, while three provider lists are partial [S2]. Why it matters: Current service-provider responsibility cannot be assigned confidently. Uncertainty: Canonical catalog coverage for the fund is unavailable. What would change the view: Dated provider records reconciling the DDQ and Schedule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Scale claims diverge</a:t>
            </a:r>
          </a:p>
          <a:p>
            <a:r>
              <a:t>Observation: Two of five scale claims are contradicted: employees and private funds [S1]. Why it matters: Both discrepancies affect the operating-profile baseline used for diligence. Uncertainty: Filing timing may explain part of the difference. What would change the view: Dated records reconciling headcount and fund launches.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Canonical fund ID unavailable</a:t>
            </a:r>
          </a:p>
          <a:p>
            <a:r>
              <a:t>Observation: The fund resolves only to pfid:805-5927286713, so its rows are analyst comparisons [S2]. Why it matters: Those comparisons are not governed reconciliation verdicts. Uncertainty: A canonical catalog fund ID remains unavailable. What would change the view: Catalog resolution followed by governed reconciliation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DDQ RECONCILIATION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Ridgeview Advisors, 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DDQ reconciliation · Global Macro Fund III · Form ADV cross-check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ADVISER CRD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999901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DDQ AS 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FORM ADV 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REPORT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 discrepancies found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 of 21 · Partial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THE MANAGER TOLD US VS. WHAT IT FILED WITH THE SEC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239512" cy="287525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87525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494690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4946904" cy="23906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Of 20 checkable DDQ answers, 13 are consistent with Form ADV and Schedule D, 4 are contradicted and 3 need review [S1][S2]. The most serious gap is the fund administrator: the DDQ names Example Fund Administration, while Schedule D lists Example Trust Company [S1][S2]. The DDQ also overstates headcount by 105 people and private funds by 3, and understates the fund minimum by $1.67M; these gaps are returned by the governed reconciliation [S1]. The source DDQ is preserved by digest [S3].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310863"/>
            <a:ext cx="1227582" cy="19070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310863"/>
            <a:ext cx="1227582" cy="4572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749808" y="4438879"/>
            <a:ext cx="100812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CONTRADICTED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694911"/>
            <a:ext cx="100812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888736"/>
            <a:ext cx="100812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 firm · 2 fund [S1]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77389" y="4310863"/>
            <a:ext cx="1227582" cy="19070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1977389" y="4310863"/>
            <a:ext cx="122758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2087117" y="4438879"/>
            <a:ext cx="100812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NEEDS 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87117" y="4694911"/>
            <a:ext cx="100812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87117" y="5888736"/>
            <a:ext cx="100812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Partial provider lists [S2]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14700" y="4310863"/>
            <a:ext cx="1227582" cy="19070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3314700" y="4310863"/>
            <a:ext cx="122758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3424428" y="4438879"/>
            <a:ext cx="100812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CONSISTENT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4428" y="4694911"/>
            <a:ext cx="100812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4428" y="5888736"/>
            <a:ext cx="100812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6 governed · 7 analyst [S3]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52009" y="4310863"/>
            <a:ext cx="1227582" cy="19070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4652009" y="4310863"/>
            <a:ext cx="1227582" cy="45720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4761738" y="4438879"/>
            <a:ext cx="100812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CHECKABLE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61738" y="4694911"/>
            <a:ext cx="100812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61738" y="5888736"/>
            <a:ext cx="100812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Of transcribed fields [S3]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4" name="Rectangle 33"/>
          <p:cNvSpPr/>
          <p:nvPr/>
        </p:nvSpPr>
        <p:spPr>
          <a:xfrm>
            <a:off x="6309360" y="1325880"/>
            <a:ext cx="523951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5" name="Rectangle 34"/>
          <p:cNvSpPr/>
          <p:nvPr/>
        </p:nvSpPr>
        <p:spPr>
          <a:xfrm>
            <a:off x="630936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6" name="TextBox 35"/>
          <p:cNvSpPr txBox="1"/>
          <p:nvPr/>
        </p:nvSpPr>
        <p:spPr>
          <a:xfrm>
            <a:off x="6473952" y="1435607"/>
            <a:ext cx="494690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Unsupported block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73952" y="1719072"/>
            <a:ext cx="494690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Block type 'two_col' is not available in PowerPoint.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9" name="TextBox 3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WHAT THE MANAGER TOLD US VS. WHAT IT FILED WITH THE SEC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162119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162119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13656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sample report carries a 4 discrepancies found signal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056803"/>
            <a:ext cx="10908792" cy="149541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056803"/>
            <a:ext cx="54864" cy="149541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16653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449995"/>
            <a:ext cx="10616184" cy="101078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Contradicted is 4 in the review evidence [S2]. Why it matters: This measure establishes the baseline for comparing later governed results. Uncertainty: The source basis may omit newer observations outside the reviewed evidence. What would change the view: A refreshed source report showing a change above 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661944"/>
            <a:ext cx="10908792" cy="155597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0080" y="4661944"/>
            <a:ext cx="54864" cy="155597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04671" y="477167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5055136"/>
            <a:ext cx="10616184" cy="107134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Not checkable is 0 in the review evidence [S3]. Why it matters: This result determines which item receives priority in the next monitoring cycle. Uncertainty: Supporting coverage may omit later filings or corroborating detail. What would change the view: A new filing or report that resolves the item or changes it by 1%.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RANKED BY SEVERITY; EACH QUESTION QUOTES BOTH SIDES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Discrepancies and follow-ups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VERDICT MIX BY CLAIM DOMAIN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RANKED BY SEVERITY; EACH QUESTION QUOTES BOTH SIDES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Discrepancies and follow-ups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3439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7323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732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HIGH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Administrator does not match Schedule 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 2.6: Example Fund Administration (Ireland) Limited. Schedule D 7.B.1 (report 2026-10-01): Example Trust Company 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732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fund count overstated by 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 1.5: 41 private funds. Form ADV Item 7.B: 38 [S1]. Possible undisclosed or newly launched vehicles.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732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Headcount overstated by 105 (+9.3%)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 1.3: 1,240. Form ADV Item 5.A: 1,135, filed 2026-08-18; governed gap +105 (+9.3%) [S1]. Could partly reflect hiring since the filing.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732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Minimum investment understated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 2.3: $5,000,000. Schedule D: $6,668,500; governed gap −$1.67M (−25.0%) [S1][S2].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732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LOW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Service-provider lists incomplete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Prime brokers 2 of 4; custodians 1 of 12; auditor PCAOB IDs 1 of 2 (1323 and 185) 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875024"/>
            <a:ext cx="10908792" cy="134289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875024"/>
            <a:ext cx="54864" cy="134289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98475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Provider identity conflict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268216"/>
            <a:ext cx="10616184" cy="85826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administrator names conflict, while three provider lists are partial [S2]. Why it matters: Current service-provider responsibility cannot be assigned confidently. Uncertainty: Canonical catalog coverage for the…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RANKED BY SEVERITY; EACH QUESTION QUOTES BOTH SIDES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Discrepancies and follow-ups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Your DDQ names Example Fund Administration (Ireland) as administrator; Schedule D (report 2026-10-01) lists Example Trust Company. Who is the current administrator, and when did any change take effect?</a:t>
            </a:r>
            <a:br/>
            <a:r>
              <a:rPr>
                <a:latin typeface="Inter"/>
              </a:rPr>
              <a:t>      Contradicted, high severity [S2]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  Please list the 41 private funds referenced in DDQ 1.5 and identify the 3 not reported in your most recent Form ADV.</a:t>
            </a:r>
            <a:br/>
            <a:r>
              <a:rPr>
                <a:latin typeface="Inter"/>
              </a:rPr>
              <a:t>      Item 7.B reports 38 [S1]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  Please reconcile the 1,240 headcount in DDQ 1.3 with the 1,135 employees in Item 5.A of your 2026-08-18 filing.</a:t>
            </a:r>
            <a:br/>
            <a:r>
              <a:rPr>
                <a:latin typeface="Inter"/>
              </a:rPr>
              <a:t>      Governed gap of 105 [S1]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  Confirm the minimum initial investment for Global Macro Fund III; Schedule D reports $6,668,500.</a:t>
            </a:r>
            <a:br/>
            <a:r>
              <a:rPr>
                <a:latin typeface="Inter"/>
              </a:rPr>
              <a:t>      DDQ states $5,000,000 [S2]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  Please provide the full list of prime brokers and custodians, and confirm which Example Audit entity (PCAOB 9991 or 9992) signs the audit opinion.</a:t>
            </a:r>
            <a:br/>
            <a:r>
              <a:rPr>
                <a:latin typeface="Inter"/>
              </a:rPr>
              <a:t>      DDQ lists subsets [S2]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GRADIENT VERDICTS AGAINST FORM ADV PART 1A, REPORT 2026-10-01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Firm reconciliation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FIRM CLAIM DOMAINS BY VERDICT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1758"/>
                <a:gridCol w="2181758"/>
                <a:gridCol w="2181758"/>
                <a:gridCol w="2181758"/>
                <a:gridCol w="2181760"/>
              </a:tblGrid>
              <a:tr h="115443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Consistent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Contradicted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Needs review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checkable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Scale and assets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D6F57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Custody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E5F6B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Discipline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D6F57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GRADIENT VERDICTS AGAINST FORM ADV PART 1A, REPORT 2026-10-01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Firm reconciliation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Scale claims diverge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Two of five scale claims are contradicted: employees and private funds [S1]. Why it matters: Both discrepancies affect the operating-profile baseline used for diligence. Uncertainty: Filing timing…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GRADIENT VERDICTS AGAINST FORM ADV PART 1A, REPORT 2026-10-01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Firm reconciliation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120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 says (quote, line)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Filed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Verdict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Regulatory AUM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$12.4B — “…regulatory assets under management of $12.4 billion…” (L16)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$12.40B (Item 5.F)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corroborated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tolerance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Discretionary AUM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$12.4B — “…managed on a discretionary basis: $12.4 billion.” (L19)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$12.40B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corroborated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Employees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1,240 — “The firm employs 1,240 people…” (L22)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1,135 (Item 5.A)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contradicted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+105 (+9.3%)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Client accounts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133 — “The firm advises 133 client accounts.” (L25)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133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corroborated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 match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funds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41 — “The firm advises 41 private funds.” (L28)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38 (Item 7.B)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contradicted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+3 funds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Custody amount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$127.2B — “…custody total approximately $127.2 billion.” (L31)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$127.22B (Item 9)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corroborated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Within 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Disciplinary count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 — “Disciplinary disclosure count: 0.” (L34)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 (Item 11)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corroborated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 match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Disciplinary flag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— “The firm has no disciplinary disclosures…” (L34)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corroborated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 match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Verdicts and tolerances are Gradient's governed comparator (ddq-reconciliation-comparator-v1). DDQ values are the manager's assertions; Form ADV is adviser-reported, not SEC-verified.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ANALYST COMPARISON AGAINST SCHEDULE D 7.B.1 (PFID 805-5927286713)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Fund reconciliation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FUND-BY-DOMAIN VERDICT MIX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1758"/>
                <a:gridCol w="2181758"/>
                <a:gridCol w="2181758"/>
                <a:gridCol w="2181758"/>
                <a:gridCol w="2181760"/>
              </a:tblGrid>
              <a:tr h="230886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Consistent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Contradicted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Needs review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checkable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3088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Global Macro Fund III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8F6C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1F6A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ANALYST COMPARISON AGAINST SCHEDULE D 7.B.1 (PFID 805-5927286713)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Fund reconciliation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Canonical fund ID unavailable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fund resolves only to pfid:805-5927286713, so its rows are analyst comparisons [S2]. Why it matters: Those comparisons are not governed reconciliation verdicts. Uncertainty: A canonical catalog…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ANALYST COMPARISON AGAINST SCHEDULE D 7.B.1 (PFID 805-5927286713)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Fund reconciliation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GLOBAL MACRO FUND III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55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 says (line)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Filed (Schedule D)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Verdict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 type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Hedge Fund (L38)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Hedge Fund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consistent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Gross asset value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$1.11B (L40)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$1.105B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consistent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+0.4%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Minimum investment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$5,000,000 (L42)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$6,668,500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contradicted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−$1.67M (−25.0%)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Beneficial owners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 (L44)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consistent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Auditor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Audit LLP (L46)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Audit LLP (two Example Audit entities)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consistent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Name match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Auditor PCAOB ID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185 (L46)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1323 and 185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needs 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 names 1 of 2 audit firms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Audited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Yes (L46)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Yes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consistent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Unqualified opinion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Yes (L46)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Yes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consistent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Administrator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Fund Administration (Ireland) Ltd (L48)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Trust Company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contradicted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Different provider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Admin prepares statements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Yes (L48)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Yes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consistent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5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Prime brokers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Securities LLC; Example Markets LLC (L50)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Prime Brokerage A; Example Prime Brokerage B; Example Securities LLC; Example Markets LLC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needs 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 of 4 named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21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Custodian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Trust Company (L52)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 custodians incl. Example Trust Company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needs 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of 12 named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FIRM EVIDENCE IS COMPLETE; FUND GOVERNANCE REMAINS PARTIAL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 and scope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CHECK COVERAGE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504"/>
                <a:gridCol w="1746504"/>
                <a:gridCol w="1746504"/>
              </a:tblGrid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Firm claims (8)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reconciliation, verdicts from Gradient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 claims (12)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partial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Analyst comparison against Schedule D; canonical fund ID unavailable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stated in the manager DDQ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Workpaper saved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run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saved reconciliation record was returned; this report preserves the review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309360" y="1325880"/>
            <a:ext cx="523951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30936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73952" y="1435607"/>
            <a:ext cx="494690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Out of scope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1719072"/>
            <a:ext cx="494690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No out-of-scope evidence was identified in the sample DDQ [S3].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3864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34660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660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 reconciliation, 20 claims with governed numeric gaps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reconcile_manager_ddq_claims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'passed', 'status': 'passed'}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sha256:f7d651b2f80f66bfed38fc7041a906cab927de85ad580cf8dc38713fbc66bafa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60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profile incl. Schedule D 7.B.1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get_manager_odd_profile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{'chip': 'not run', 'status': 'not_run'}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sha256:a04715c67d5ce3adfd18b7b78a12cf0cbf791f70803e2feffcd7826418a2b647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66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Synthetic DDQ file (sha256)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user_document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User-supplied document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not_applicable: user document validation is not applicable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1b448613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004917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9752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3571845"/>
          <a:ext cx="10908792" cy="15875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9689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formula identity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Result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9689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Headcount gap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ddq-claim-filed-numeric-gap/v1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+9.3%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689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Gross asset value gap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ddq-claim-filed-numeric-gap/v1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969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Minimum investment gap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ddq-claim-filed-numeric-gap/v1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−25.0%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5269171"/>
            <a:ext cx="10908792" cy="94874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5269171"/>
            <a:ext cx="54864" cy="94874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537889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Method boundary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5662363"/>
            <a:ext cx="10616184" cy="4641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Numeric gaps and verdicts are reproduced from the saved reconciliation; no local verdict or filed value was synthesized [S1][S2].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VERDICTS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8854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72136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Consistent / corroborated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Exact match, legal-suffix match or within tolerance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2136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Contradicted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Numeric or name mismatch beyond 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2136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Needs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Partial overlap, e.g. DDQ lists a subset of filed providers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2136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Unverifiable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filed value to compare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595395"/>
            <a:ext cx="10908792" cy="162252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595395"/>
            <a:ext cx="54864" cy="162252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70512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Disclaimer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988587"/>
            <a:ext cx="10616184" cy="11378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Illustrative sample. The DDQ is synthetic and was written by Gradient for QA; it was not issued by Ridgeview Advisors. Filed values are Form ADV data reported by the adviser and normalized by Gradient; they are not SEC verification. Not investment advice.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diligence review · Data as of 2026-10-01 (Form ADV); DDQ responses as of 2026-09-30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Ridgeview Advisors, LP</dc:title>
  <dc:subject>DDQ Reconciliation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