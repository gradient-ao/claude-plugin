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a="http://schemas.openxmlformats.org/drawingml/2006/main" xmlns:ns0="http://schemas.openxmlformats.org/presentationml/2006/main" xmlns:ns1="http://schemas.openxmlformats.org/officeDocument/2006/relationships" saveSubsetFonts="1" autoCompressPictures="0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1695" cy="6858000" type="screen16x9"/>
  <ns0:notesSz cx="6858000" cy="9144000"/>
  <ns0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Contradicted</c:v>
                </c:pt>
              </c:strCache>
            </c:strRef>
          </c:tx>
          <c:spPr>
            <a:solidFill>
              <a:srgbClr val="0D1117"/>
            </a:solidFill>
          </c:spPr>
          <c:cat>
            <c:strRef>
              <c:f>Sheet1!$A$2:$A$3</c:f>
              <c:strCache>
                <c:ptCount val="2"/>
                <c:pt idx="0">
                  <c:v>Firm</c:v>
                </c:pt>
                <c:pt idx="1">
                  <c:v>Fund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2.0</c:v>
                </c:pt>
                <c:pt idx="1">
                  <c:v>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Needs review</c:v>
                </c:pt>
              </c:strCache>
            </c:strRef>
          </c:tx>
          <c:spPr>
            <a:solidFill>
              <a:srgbClr val="7FA600"/>
            </a:solidFill>
          </c:spPr>
          <c:cat>
            <c:strRef>
              <c:f>Sheet1!$A$2:$A$3</c:f>
              <c:strCache>
                <c:ptCount val="2"/>
                <c:pt idx="0">
                  <c:v>Firm</c:v>
                </c:pt>
                <c:pt idx="1">
                  <c:v>Fund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0.0</c:v>
                </c:pt>
                <c:pt idx="1">
                  <c:v>3.0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Consistent</c:v>
                </c:pt>
              </c:strCache>
            </c:strRef>
          </c:tx>
          <c:spPr>
            <a:solidFill>
              <a:srgbClr val="F2A93B"/>
            </a:solidFill>
          </c:spPr>
          <c:cat>
            <c:strRef>
              <c:f>Sheet1!$A$2:$A$3</c:f>
              <c:strCache>
                <c:ptCount val="2"/>
                <c:pt idx="0">
                  <c:v>Firm</c:v>
                </c:pt>
                <c:pt idx="1">
                  <c:v>Fund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6.0</c:v>
                </c:pt>
                <c:pt idx="1">
                  <c:v>7.0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Not checkable</c:v>
                </c:pt>
              </c:strCache>
            </c:strRef>
          </c:tx>
          <c:spPr>
            <a:solidFill>
              <a:srgbClr val="5B8DEF"/>
            </a:solidFill>
          </c:spPr>
          <c:cat>
            <c:strRef>
              <c:f>Sheet1!$A$2:$A$3</c:f>
              <c:strCache>
                <c:ptCount val="2"/>
                <c:pt idx="0">
                  <c:v>Firm</c:v>
                </c:pt>
                <c:pt idx="1">
                  <c:v>Fund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0.0</c:v>
                </c:pt>
                <c:pt idx="1">
                  <c:v>0.0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Provider identity conflict</a:t>
            </a:r>
          </a:p>
          <a:p>
            <a:r>
              <a:t>Observation: The administrator names conflict, while three provider lists are partial [S2]. Why it matters: Current service-provider responsibility cannot be assigned confidently. Uncertainty: Canonical catalog coverage for the fund is unavailable. What would change the view: Dated provider records reconciling the DDQ and Schedule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Scale claims diverge</a:t>
            </a:r>
          </a:p>
          <a:p>
            <a:r>
              <a:t>Observation: Two of five scale claims are contradicted: employees and private funds [S1]. Why it matters: Both discrepancies affect the operating-profile baseline used for diligence. Uncertainty: Filing timing may explain part of the difference. What would change the view: Dated records reconciling headcount and fund launches.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Canonical fund ID unavailable</a:t>
            </a:r>
          </a:p>
          <a:p>
            <a:r>
              <a:t>Observation: The fund resolves only to pfid:805-5927286713, so its rows are analyst comparisons [S2]. Why it matters: Those comparisons are not governed reconciliation verdicts. Uncertainty: A canonical catalog fund ID remains unavailable. What would change the view: Catalog resolution followed by governed reconciliation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xhi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9372600" y="164592"/>
            <a:ext cx="2514600" cy="2514600"/>
          </a:xfrm>
          <a:prstGeom prst="ellipse">
            <a:avLst/>
          </a:prstGeom>
          <a:solidFill>
            <a:srgbClr val="161C24"/>
          </a:solidFill>
          <a:ln>
            <a:solidFill>
              <a:srgbClr val="16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475488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GradientCIO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996696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C6F432"/>
                </a:solidFill>
                <a:latin typeface="Inter"/>
              </a:defRPr>
            </a:pPr>
            <a:r>
              <a:rPr>
                <a:latin typeface="Inter"/>
              </a:rPr>
              <a:t>DDQ RECONCILIATION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9966960" cy="12344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3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Ridgeview Advisors, LP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73552"/>
            <a:ext cx="9692640" cy="59436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9AA5B1"/>
                </a:solidFill>
                <a:latin typeface="Inter"/>
              </a:defRPr>
            </a:pPr>
            <a:r>
              <a:rPr>
                <a:latin typeface="Inter"/>
              </a:rPr>
              <a:t>DDQ reconciliation · Global Macro Fund III · Form ADV cross-check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005072"/>
            <a:ext cx="822960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85800" y="4315968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ADVISER CRD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07992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999901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315968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DDQ AS 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4507992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2026-09-30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937759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FORM ADV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29783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2026-10-01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4937759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REPORT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5129783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2026-10-04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5687568"/>
            <a:ext cx="3337560" cy="530352"/>
          </a:xfrm>
          <a:prstGeom prst="rect">
            <a:avLst/>
          </a:prstGeom>
          <a:solidFill>
            <a:srgbClr val="FF6B5E"/>
          </a:solidFill>
          <a:ln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22960" y="5760720"/>
            <a:ext cx="3063240" cy="1280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2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OVERALL 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9161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4 discrepancies found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5733288"/>
            <a:ext cx="3108960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SCOPE REVIEWED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934456"/>
            <a:ext cx="3108960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20 of 21 · Partial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00800"/>
            <a:ext cx="80467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556248"/>
            <a:ext cx="8046720" cy="1280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Illustrative sample · not client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6473952"/>
            <a:ext cx="274320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GradientCIO.com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WHAT THE MANAGER TOLD US VS. WHAT IT FILED WITH THE SEC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239512" cy="289381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54864" cy="2893811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04671" y="1435607"/>
            <a:ext cx="494690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Bottom 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1719072"/>
            <a:ext cx="4946904" cy="240917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Of 20 checkable DDQ answers, 13 are consistent with Form ADV and Schedule D, 4 are contradicted and 3 need review [S1][S2]. The most serious gap is the fund administrator: the DDQ names Example Fund Administration, while Schedule D lists Example Trust Company [S1][S2]. The DDQ also overstates headcount by 105 people and private funds by 3, and understates the fund minimum by $1.67M; these gaps are returned by the governed reconciliation [S1]. The source DDQ is preserved by digest [S3].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329419"/>
            <a:ext cx="1227582" cy="188850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640080" y="4329419"/>
            <a:ext cx="1227582" cy="45720"/>
          </a:xfrm>
          <a:prstGeom prst="rect">
            <a:avLst/>
          </a:prstGeom>
          <a:solidFill>
            <a:srgbClr val="FF6B5E"/>
          </a:solidFill>
          <a:ln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749808" y="4457435"/>
            <a:ext cx="100812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CONTRADICTED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713467"/>
            <a:ext cx="100812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888735"/>
            <a:ext cx="100812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2 firm · 2 fund [S1]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77389" y="4329419"/>
            <a:ext cx="1227582" cy="188850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1977389" y="4329419"/>
            <a:ext cx="122758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2087117" y="4457435"/>
            <a:ext cx="100812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NEEDS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87117" y="4713467"/>
            <a:ext cx="100812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87117" y="5888735"/>
            <a:ext cx="100812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Partial provider lists [S2]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14700" y="4329419"/>
            <a:ext cx="1227582" cy="188850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4" name="Rectangle 23"/>
          <p:cNvSpPr/>
          <p:nvPr/>
        </p:nvSpPr>
        <p:spPr>
          <a:xfrm>
            <a:off x="3314700" y="4329419"/>
            <a:ext cx="122758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3424428" y="4457435"/>
            <a:ext cx="100812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CONSISTENT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4428" y="4713467"/>
            <a:ext cx="100812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4428" y="5888735"/>
            <a:ext cx="100812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6 governed · 7 analyst [S3]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52009" y="4329419"/>
            <a:ext cx="1227582" cy="188850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9" name="Rectangle 28"/>
          <p:cNvSpPr/>
          <p:nvPr/>
        </p:nvSpPr>
        <p:spPr>
          <a:xfrm>
            <a:off x="4652009" y="4329419"/>
            <a:ext cx="1227582" cy="45720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4761738" y="4457435"/>
            <a:ext cx="100812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CHECKABLE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61738" y="4713467"/>
            <a:ext cx="100812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61738" y="5888735"/>
            <a:ext cx="100812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Of transcribed fields [S3]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1325880"/>
            <a:ext cx="9144" cy="4892040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4" name="Rectangle 33"/>
          <p:cNvSpPr/>
          <p:nvPr/>
        </p:nvSpPr>
        <p:spPr>
          <a:xfrm>
            <a:off x="6309360" y="1325880"/>
            <a:ext cx="523951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5" name="Rectangle 34"/>
          <p:cNvSpPr/>
          <p:nvPr/>
        </p:nvSpPr>
        <p:spPr>
          <a:xfrm>
            <a:off x="6309360" y="1325880"/>
            <a:ext cx="54864" cy="489204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6473952" y="1435607"/>
            <a:ext cx="494690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Unsupported block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2" y="1719072"/>
            <a:ext cx="494690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Block type 'two_col' is not available in PowerPoint.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9" name="TextBox 3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DDQ responses as of 2026-09-30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WHAT THE MANAGER TOLD US VS. WHAT IT FILED WITH THE SEC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summary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10908792" cy="176473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54864" cy="1764733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headline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1719072"/>
            <a:ext cx="10616184" cy="128010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The sample report carries a 4 discrepancies found signal [S1]. Why it matters: This signal focuses oversight on the report's most decision-relevant condition. Uncertainty: Evidence coverage may exclude newer or more detailed observations. What would change the view: A governed refresh showing a different signal or breached threshold.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00341"/>
            <a:ext cx="10908792" cy="145392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640080" y="3200341"/>
            <a:ext cx="54864" cy="1453925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04671" y="3310069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primary measure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593533"/>
            <a:ext cx="10616184" cy="96929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Contradicted is 4 in the review evidence [S2]. Why it matters: This measure establishes the baseline for comparing later governed results. Uncertainty: The source basis may omit newer observations outside the reviewed evidence. What would change the view: A refreshed source report showing a change above 1%.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763994"/>
            <a:ext cx="10908792" cy="145392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640080" y="4763994"/>
            <a:ext cx="54864" cy="1453925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804671" y="4873722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monitoring priority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5157186"/>
            <a:ext cx="10616184" cy="96929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Not checkable is 0 in the review evidence [S3]. Why it matters: This result determines which item receives priority in the next monitoring cycle. Uncertainty: Supporting coverage may omit later filings or corroborating detail. What would change the view: A new filing or report that resolves the item or changes it by 1%.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DDQ responses as of 2026-09-30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RANKED BY SEVERITY; EACH QUESTION QUOTES BOTH SIDES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Discrepancies and follow-ups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VERDICT MIX BY CLAIM DOMAIN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DDQ responses as of 2026-09-30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RANKED BY SEVERITY; EACH QUESTION QUOTES BOTH SIDES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Discrepancies and follow-ups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25880"/>
          <a:ext cx="10908792" cy="373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62242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Severity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Finding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Detail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62242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HIGH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Administrator does not match Schedule 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DDQ 2.6: Example Fund Administration (Ireland) Limited. Schedule D 7.B.1 (report 2026-10-01): Example Trust Company [S2].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2242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Private fund count overstated by 3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DDQ 1.5: 41 private funds. Form ADV Item 7.B: 38 [S1]. Possible undisclosed or newly launched vehicles.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2242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Headcount overstated by 105 (+9.3%)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DDQ 1.3: 1,240. Form ADV Item 5.A: 1,135, filed 2026-08-18; governed gap +105 (+9.3%) [S1]. Could partly reflect hiring since the filing.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2242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Minimum investment understated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DDQ 2.3: $5,000,000. Schedule D: $6,668,500; governed gap −$1.67M (−25.0%) [S1][S2].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2243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LOW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Service-provider lists incomplete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Prime brokers 2 of 4; custodians 1 of 12; auditor PCAOB IDs 1 of 2 (1323 and 185) [S2].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5170168"/>
            <a:ext cx="10908792" cy="104775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5170168"/>
            <a:ext cx="54864" cy="1047751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04671" y="5279896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Provider identity conflict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5563360"/>
            <a:ext cx="10616184" cy="56311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The administrator names conflict, while three provider lists are partial [S2]. Why it matters: Current service-provider responsibility cannot be assigned confidently. Uncertainty: Canonical catalog coverage for the…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DDQ responses as of 2026-09-30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RANKED BY SEVERITY; EACH QUESTION QUOTES BOTH SIDES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Discrepancies and follow-ups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  Your DDQ names Example Fund Administration (Ireland) as administrator; Schedule D (report 2026-10-01) lists Example Trust Company. Who is the current administrator, and when did any change take effect?</a:t>
            </a:r>
            <a:br/>
            <a:r>
              <a:rPr>
                <a:latin typeface="Inter"/>
              </a:rPr>
              <a:t>      Contradicted, high severity [S2]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  Please list the 41 private funds referenced in DDQ 1.5 and identify the 3 not reported in your most recent Form ADV.</a:t>
            </a:r>
            <a:br/>
            <a:r>
              <a:rPr>
                <a:latin typeface="Inter"/>
              </a:rPr>
              <a:t>      Item 7.B reports 38 [S1]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  Please reconcile the 1,240 headcount in DDQ 1.3 with the 1,135 employees in Item 5.A of your 2026-08-18 filing.</a:t>
            </a:r>
            <a:br/>
            <a:r>
              <a:rPr>
                <a:latin typeface="Inter"/>
              </a:rPr>
              <a:t>      Governed gap of 105 [S1]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  Confirm the minimum initial investment for Global Macro Fund III; Schedule D reports $6,668,500.</a:t>
            </a:r>
            <a:br/>
            <a:r>
              <a:rPr>
                <a:latin typeface="Inter"/>
              </a:rPr>
              <a:t>      DDQ states $5,000,000 [S2]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  Please provide the full list of prime brokers and custodians, and confirm which Example Audit entity (PCAOB 9991 or 9992) signs the audit opinion.</a:t>
            </a:r>
            <a:br/>
            <a:r>
              <a:rPr>
                <a:latin typeface="Inter"/>
              </a:rPr>
              <a:t>      DDQ lists subsets [S2]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DDQ responses as of 2026-09-30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GRADIENT VERDICTS AGAINST FORM ADV PART 1A, REPORT 2026-10-01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Firm reconciliation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FIRM CLAIM DOMAINS BY VERDICT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00200"/>
          <a:ext cx="10908792" cy="3661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1758"/>
                <a:gridCol w="2181758"/>
                <a:gridCol w="2181758"/>
                <a:gridCol w="2181758"/>
                <a:gridCol w="2181760"/>
              </a:tblGrid>
              <a:tr h="915352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Consistent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Contradicted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Needs review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checkable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915352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Scale and assets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D6F57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15352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Custody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E5F6B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1535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Discipline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D6F57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5371338"/>
            <a:ext cx="10908792" cy="84658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40080" y="5371338"/>
            <a:ext cx="54864" cy="846582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671" y="5481066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Scale claims diverge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5764530"/>
            <a:ext cx="10616184" cy="36195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Two of five scale claims are contradicted: employees and private funds [S1]. Why it matters: Both discrepancies affect the operating-profile baseline used for diligence. Uncertainty: Filing timing…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DDQ responses as of 2026-09-30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GRADIENT VERDICTS AGAINST FORM ADV PART 1A, REPORT 2026-10-01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Firm reconciliation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25880"/>
          <a:ext cx="10908792" cy="4690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521208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Item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DDQ says (quote, line)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Filed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Verdict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Regulatory AUM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$12.4B — “…regulatory assets under management of $12.4 billion…” (L16)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$12.40B (Item 5.F)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corroborated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Within tolerance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Discretionary AUM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$12.4B — “…managed on a discretionary basis: $12.4 billion.” (L19)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$12.40B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corroborated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Within tolerance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Employees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1,240 — “The firm employs 1,240 people…” (L22)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1,135 (Item 5.A)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contradicted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+105 (+9.3%)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Client accounts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133 — “The firm advises 133 client accounts.” (L25)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133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corroborated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Exact match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Private funds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41 — “The firm advises 41 private funds.” (L28)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38 (Item 7.B)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contradicted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+3 funds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Custody amount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$127.2B — “…custody total approximately $127.2 billion.” (L31)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$127.22B (Item 9)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corroborated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Within tolerance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Disciplinary count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 — “Disciplinary disclosure count: 0.” (L34)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 (Item 11)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corroborated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Exact match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Disciplinary flag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 — “The firm has no disciplinary disclosures…” (L34)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corroborated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Exact match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6035040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Verdicts and tolerances are Gradient's governed comparator (ddq-reconciliation-comparator-v1). DDQ values are the manager's assertions; Form ADV is adviser-reported, not SEC-verified.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DDQ responses as of 2026-09-30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ANALYST COMPARISON AGAINST SCHEDULE D 7.B.1 (PFID 805-5927286713)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Fund reconciliation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FUND-BY-DOMAIN VERDICT MIX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00200"/>
          <a:ext cx="10908792" cy="3661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1758"/>
                <a:gridCol w="2181758"/>
                <a:gridCol w="2181758"/>
                <a:gridCol w="2181758"/>
                <a:gridCol w="2181760"/>
              </a:tblGrid>
              <a:tr h="1830705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Consistent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Contradicted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Needs review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checkable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183070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Global Macro Fund III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8F6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E1F6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5371338"/>
            <a:ext cx="10908792" cy="84658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40080" y="5371338"/>
            <a:ext cx="54864" cy="846582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671" y="5481066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Canonical fund ID unavailable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5764530"/>
            <a:ext cx="10616184" cy="36195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The fund resolves only to pfid:805-5927286713, so its rows are analyst comparisons [S2]. Why it matters: Those comparisons are not governed reconciliation verdicts. Uncertainty: A canonical catalog…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DDQ responses as of 2026-09-30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ANALYST COMPARISON AGAINST SCHEDULE D 7.B.1 (PFID 805-5927286713)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Fund reconciliation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GLOBAL MACRO FUND III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35520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Item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DDQ says (line)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Filed (Schedule D)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Verdict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55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Fund type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Hedge Fund (L38)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Hedge Fund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consistent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5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Gross asset value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$1.11B (L40)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$1.105B [S2]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consistent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+0.4%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55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Minimum investment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$5,000,000 (L42)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$6,668,500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contradicted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−$1.67M (−25.0%)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5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Beneficial owners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 (L44)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 [S2]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consistent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Exact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55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Auditor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Audit LLP (L46)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Audit LLP (two Example Audit entities)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consistent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Name match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5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Auditor PCAOB ID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185 (L46)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1323 and 185 [S2]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needs review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DDQ names 1 of 2 audit firms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55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Audited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Yes (L46)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Yes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consistent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5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Unqualified opinion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Yes (L46)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Yes [S2]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consistent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Exact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55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Administrator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Fund Administration (Ireland) Ltd (L48)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Trust Company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contradicted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Different provider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5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Admin prepares statements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Yes (L48)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Yes [S2]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consistent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Exact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55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Prime brokers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Securities LLC; Example Markets LLC (L50)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Prime Brokerage A; Example Prime Brokerage B; Example Securities LLC; Example Markets LLC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needs review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 of 4 named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5212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Custodian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Trust Company (L52)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12 custodians incl. Example Trust Company [S2]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needs review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 of 12 named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DDQ responses as of 2026-09-30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GOVERNED FIRM EVIDENCE IS COMPLETE; FUND GOVERNANCE REMAINS PARTIAL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Coverage and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CHECK COVERAGE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00200"/>
          <a:ext cx="523951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504"/>
                <a:gridCol w="1746504"/>
                <a:gridCol w="1746504"/>
              </a:tblGrid>
              <a:tr h="92354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Firm claims (8)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Governed reconciliation, verdicts from Gradient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Fund claims (12)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partial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Analyst comparison against Schedule D; canonical fund ID unavailable [S2]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Fund status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not assessed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stated in the manager DDQ 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Workpaper saved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not run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 saved reconciliation record was returned; this report preserves the review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080760" y="1325880"/>
            <a:ext cx="9144" cy="4892040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309360" y="1325880"/>
            <a:ext cx="523951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309360" y="1325880"/>
            <a:ext cx="54864" cy="489204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73952" y="1435607"/>
            <a:ext cx="494690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Out of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1719072"/>
            <a:ext cx="494690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available — No out-of-scope evidence was identified in the sample DDQ [S3].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DDQ responses as of 2026-09-30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Sources and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SOURCES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14103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12139"/>
                <a:gridCol w="1112139"/>
                <a:gridCol w="1112139"/>
                <a:gridCol w="1112139"/>
                <a:gridCol w="1112139"/>
                <a:gridCol w="1112139"/>
                <a:gridCol w="1112139"/>
                <a:gridCol w="1112139"/>
              </a:tblGrid>
              <a:tr h="35259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Tool / 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Key parameters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Data scope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Validation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Digest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5259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DDQ reconciliation, 20 claims with governed numeric gaps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reconcile_manager_ddq_claims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2026-10-01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Gradient-governed review evidence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{'chip': 'passed', 'status': 'passed'}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sha256:f7d651b2f80f66bfed38fc7041a906cab927de85ad580cf8dc38713fbc66bafa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259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Form ADV profile incl. Schedule D 7.B.1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get_manager_odd_profile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2026-10-01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Gradient-governed review evidence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{'chip': 'not run', 'status': 'not_run'}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sha256:a04715c67d5ce3adfd18b7b78a12cf0cbf791f70803e2feffcd7826418a2b647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52592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Synthetic DDQ file (sha256)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user_document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User-supplied document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2026-09-30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Gradient-governed review evidence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not_applicable: user document validation is not applicable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1b448613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3028850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managers. All organizations, portfolios, managers and results in this public example are illustrative.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21458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SERVER METRIC METHODS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3595778"/>
          <a:ext cx="10908792" cy="1611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402882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Server formula identity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Result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0288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Headcount gap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ddq-claim-filed-numeric-gap/v1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+9.3%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88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Gross asset value gap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ddq-claim-filed-numeric-gap/v1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+0.4%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0288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Minimum investment gap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ddq-claim-filed-numeric-gap/v1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−25.0%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40080" y="5317036"/>
            <a:ext cx="10908792" cy="90088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640080" y="5317036"/>
            <a:ext cx="54864" cy="900883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04671" y="5426764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Method boundary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5710228"/>
            <a:ext cx="10616184" cy="41625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Numeric gaps and verdicts are reproduced from the saved reconciliation; no local verdict or filed value was synthesized [S1][S2].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DDQ responses as of 2026-09-30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Sources and methods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VERDICTS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2946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73666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Consistent / corroborated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Exact match, legal-suffix match or within tolerance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3666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Contradicted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Numeric or name mismatch beyond tolerance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73666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Needs review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Partial overlap, e.g. DDQ lists a subset of filed providers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3667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Unverifiable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 filed value to compare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4656606"/>
            <a:ext cx="10908792" cy="156131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4656606"/>
            <a:ext cx="54864" cy="1561313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04671" y="4766334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Disclaimer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5049798"/>
            <a:ext cx="10616184" cy="107668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Illustrative sample. The DDQ is synthetic and was written by Gradient for QA; it was not issued by Ridgeview Advisors. Filed values are Form ADV data reported by the adviser and normalized by Gradient; they are not SEC verification. Not investment advice.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DDQ responses as of 2026-09-30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D1117"/>
      </a:dk1>
      <a:lt1>
        <a:srgbClr val="FFFFFF"/>
      </a:lt1>
      <a:dk2>
        <a:srgbClr val="161C24"/>
      </a:dk2>
      <a:lt2>
        <a:srgbClr val="F5F7F9"/>
      </a:lt2>
      <a:accent1>
        <a:srgbClr val="C6F432"/>
      </a:accent1>
      <a:accent2>
        <a:srgbClr val="4F6B00"/>
      </a:accent2>
      <a:accent3>
        <a:srgbClr val="F2A93B"/>
      </a:accent3>
      <a:accent4>
        <a:srgbClr val="5B8DEF"/>
      </a:accent4>
      <a:accent5>
        <a:srgbClr val="FF6B5E"/>
      </a:accent5>
      <a:accent6>
        <a:srgbClr val="3FB8AF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Ridgeview Advisors, LP</dc:title>
  <dc:subject>DDQ Reconciliation</dc:subject>
  <dc:creator>GradientCIO</dc:creator>
  <cp:keywords>Gradient report theme 2.3.0</cp:keywords>
  <dc:description>generated using python-pptx</dc:description>
  <cp:lastModifiedBy>GradientCIO</cp:lastModifiedBy>
  <cp:revision>1</cp:revision>
  <dcterms:created xsi:type="dcterms:W3CDTF">2020-01-01T00:00:00Z</dcterms:created>
  <dcterms:modified xsi:type="dcterms:W3CDTF">2020-01-01T00:00:00Z</dcterms:modified>
  <cp:category/>
</cp:coreProperties>
</file>