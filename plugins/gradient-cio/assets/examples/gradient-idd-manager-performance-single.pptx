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notesMasters/notesMaster1.xml" ContentType="application/vnd.openxmlformats-officedocument.presentationml.notesMaster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theme/theme2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ns0:presentation xmlns:a="http://schemas.openxmlformats.org/drawingml/2006/main" xmlns:ns0="http://schemas.openxmlformats.org/presentationml/2006/main" xmlns:ns1="http://schemas.openxmlformats.org/officeDocument/2006/relationships" saveSubsetFonts="1" autoCompressPictures="0">
  <ns0:sldMasterIdLst>
    <ns0:sldMasterId id="2147483648" ns1:id="rId1"/>
  </ns0:sldMasterIdLst>
  <ns0:sldIdLst>
    <ns0:sldId id="256" ns1:id="rId7"/>
    <ns0:sldId id="257" ns1:id="rId8"/>
    <ns0:sldId id="258" ns1:id="rId9"/>
    <ns0:sldId id="259" ns1:id="rId10"/>
    <ns0:sldId id="260" ns1:id="rId11"/>
    <ns0:sldId id="261" ns1:id="rId12"/>
    <ns0:sldId id="262" ns1:id="rId13"/>
    <ns0:sldId id="263" ns1:id="rId14"/>
  </ns0:sldIdLst>
  <ns0:sldSz cx="12191695" cy="6858000" type="screen16x9"/>
  <ns0:notesSz cx="6858000" cy="9144000"/>
  <ns0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ns0:defaultTextStyle>
</ns0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Relationship Id="rId9" Type="http://schemas.openxmlformats.org/officeDocument/2006/relationships/slide" Target="slides/slide3.xml"/><Relationship Id="rId10" Type="http://schemas.openxmlformats.org/officeDocument/2006/relationships/slide" Target="slides/slide4.xml"/><Relationship Id="rId11" Type="http://schemas.openxmlformats.org/officeDocument/2006/relationships/slide" Target="slides/slide5.xml"/><Relationship Id="rId12" Type="http://schemas.openxmlformats.org/officeDocument/2006/relationships/slide" Target="slides/slide6.xml"/><Relationship Id="rId13" Type="http://schemas.openxmlformats.org/officeDocument/2006/relationships/slide" Target="slides/slide7.xml"/><Relationship Id="rId14" Type="http://schemas.openxmlformats.org/officeDocument/2006/relationships/slide" Target="slides/slide8.xml"/><Relationship Id="rId15" Type="http://schemas.openxmlformats.org/officeDocument/2006/relationships/notesMaster" Target="notesMasters/notesMaster1.xml"/></Relationships>
</file>

<file path=ppt/notesMasters/_rels/notesMaster1.xml.rels><?xml version='1.0' encoding='UTF-8' standalone='yes'?>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p="http://schemas.openxmlformats.org/presentationml/2006/main" xmlns:r="http://schemas.openxmlformats.org/officeDocument/2006/relationships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0F89C1C7-3DCD-1040-A9CF-14679D8B5DDD}" type="datetimeFigureOut">
              <a:rPr lang="en-US" smtClean="0"/>
              <a:t>10/17/16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1143000" y="685800"/>
            <a:ext cx="4572000" cy="34290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BB5E49A5-4136-284D-997B-48E1D791AD67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23252185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4.xml"/></Relationships>
</file>

<file path=ppt/notesSlides/_rels/notesSlide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5.xml"/></Relationships>
</file>

<file path=ppt/notesSlides/_rels/notesSlide3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6.xml"/></Relationships>
</file>

<file path=ppt/notesSlides/notesSlide1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Analysis — Comparison unavailable</a:t>
            </a:r>
          </a:p>
          <a:p>
            <a:r>
              <a:t>Observation: Comparative metrics are unavailable [S1]. Why it matters: No ranking is supportable. Uncertainty: Missing evidence may differ by manager. What would change the view: A governed comparison result.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Analysis — Relative evidence missing</a:t>
            </a:r>
          </a:p>
          <a:p>
            <a:r>
              <a:t>Observation: Relative evidence is unavailable [S1]. Why it matters: Benchmark-relative behavior is unknown. Uncertainty: Capture may vary by window. What would change the view: A governed relative-return result.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Analysis — Robustness unavailable</a:t>
            </a:r>
          </a:p>
          <a:p>
            <a:r>
              <a:t>Observation: Robustness evidence is unavailable [S1]. Why it matters: Persistence cannot be assessed. Uncertainty: Results may depend on dates. What would change the view: Governed window tests.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Cov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Section divi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Exhibi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-up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Tabl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Appendix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2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3.xml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0D1117"/>
          </a:solidFill>
          <a:ln>
            <a:solidFill>
              <a:srgbClr val="0D111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>
                <a:latin typeface="Inter"/>
              </a:defRPr>
            </a:pPr>
          </a:p>
        </p:txBody>
      </p:sp>
      <p:sp>
        <p:nvSpPr>
          <p:cNvPr id="3" name="Oval 2"/>
          <p:cNvSpPr/>
          <p:nvPr/>
        </p:nvSpPr>
        <p:spPr>
          <a:xfrm>
            <a:off x="9372600" y="164592"/>
            <a:ext cx="2514600" cy="2514600"/>
          </a:xfrm>
          <a:prstGeom prst="ellipse">
            <a:avLst/>
          </a:prstGeom>
          <a:solidFill>
            <a:srgbClr val="161C24"/>
          </a:solidFill>
          <a:ln>
            <a:solidFill>
              <a:srgbClr val="161C24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>
                <a:latin typeface="Inter"/>
              </a:defRPr>
            </a:pPr>
          </a:p>
        </p:txBody>
      </p:sp>
      <p:sp>
        <p:nvSpPr>
          <p:cNvPr id="4" name="TextBox 3"/>
          <p:cNvSpPr txBox="1"/>
          <p:nvPr/>
        </p:nvSpPr>
        <p:spPr>
          <a:xfrm>
            <a:off x="685800" y="457200"/>
            <a:ext cx="4754880" cy="320040"/>
          </a:xfrm>
          <a:prstGeom prst="rect">
            <a:avLst/>
          </a:prstGeom>
          <a:noFill/>
        </p:spPr>
        <p:txBody>
          <a:bodyPr wrap="none" lIns="9144" rIns="9144" tIns="9144" bIns="9144" anchor="t">
            <a:spAutoFit/>
          </a:bodyPr>
          <a:lstStyle/>
          <a:p>
            <a:pPr algn="l">
              <a:spcAft>
                <a:spcPts val="0"/>
              </a:spcAft>
              <a:defRPr sz="1200" b="1">
                <a:solidFill>
                  <a:srgbClr val="FFFFFF"/>
                </a:solidFill>
                <a:latin typeface="Inter"/>
              </a:defRPr>
            </a:pPr>
            <a:r>
              <a:rPr>
                <a:latin typeface="Inter"/>
              </a:rPr>
              <a:t>GradientCIO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685800" y="1828800"/>
            <a:ext cx="9966960" cy="274320"/>
          </a:xfrm>
          <a:prstGeom prst="rect">
            <a:avLst/>
          </a:prstGeom>
          <a:noFill/>
        </p:spPr>
        <p:txBody>
          <a:bodyPr wrap="none" lIns="9144" rIns="9144" tIns="9144" bIns="9144" anchor="t">
            <a:spAutoFit/>
          </a:bodyPr>
          <a:lstStyle/>
          <a:p>
            <a:pPr algn="l">
              <a:spcAft>
                <a:spcPts val="0"/>
              </a:spcAft>
              <a:defRPr sz="900" b="1">
                <a:solidFill>
                  <a:srgbClr val="C6F432"/>
                </a:solidFill>
                <a:latin typeface="Inter"/>
              </a:defRPr>
            </a:pPr>
            <a:r>
              <a:rPr>
                <a:latin typeface="Inter"/>
              </a:rPr>
              <a:t>INVESTMENT DUE DILIGENCE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85800" y="2176272"/>
            <a:ext cx="9966960" cy="1234440"/>
          </a:xfrm>
          <a:prstGeom prst="rect">
            <a:avLst/>
          </a:prstGeom>
          <a:noFill/>
        </p:spPr>
        <p:txBody>
          <a:bodyPr wrap="none" lIns="9144" rIns="9144" tIns="9144" bIns="9144" anchor="t">
            <a:spAutoFit/>
          </a:bodyPr>
          <a:lstStyle/>
          <a:p>
            <a:pPr algn="l">
              <a:spcAft>
                <a:spcPts val="0"/>
              </a:spcAft>
              <a:defRPr sz="3400" b="1">
                <a:solidFill>
                  <a:srgbClr val="FFFFFF"/>
                </a:solidFill>
                <a:latin typeface="Inter"/>
              </a:defRPr>
            </a:pPr>
            <a:r>
              <a:rPr>
                <a:latin typeface="Inter"/>
              </a:rPr>
              <a:t>Northstar Manager Single (TEST)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85800" y="3456432"/>
            <a:ext cx="9692640" cy="640080"/>
          </a:xfrm>
          <a:prstGeom prst="rect">
            <a:avLst/>
          </a:prstGeom>
          <a:noFill/>
        </p:spPr>
        <p:txBody>
          <a:bodyPr wrap="none" lIns="9144" rIns="9144" tIns="9144" bIns="9144" anchor="t">
            <a:spAutoFit/>
          </a:bodyPr>
          <a:lstStyle/>
          <a:p>
            <a:pPr algn="l">
              <a:spcAft>
                <a:spcPts val="0"/>
              </a:spcAft>
              <a:defRPr sz="1500" b="0">
                <a:solidFill>
                  <a:srgbClr val="9AA5B1"/>
                </a:solidFill>
                <a:latin typeface="Inter"/>
              </a:defRPr>
            </a:pPr>
            <a:r>
              <a:rPr>
                <a:latin typeface="Inter"/>
              </a:rPr>
              <a:t>Governed return evidence</a:t>
            </a:r>
          </a:p>
        </p:txBody>
      </p:sp>
      <p:sp>
        <p:nvSpPr>
          <p:cNvPr id="8" name="Rectangle 7"/>
          <p:cNvSpPr/>
          <p:nvPr/>
        </p:nvSpPr>
        <p:spPr>
          <a:xfrm>
            <a:off x="685800" y="4251960"/>
            <a:ext cx="1005840" cy="54864"/>
          </a:xfrm>
          <a:prstGeom prst="rect">
            <a:avLst/>
          </a:prstGeom>
          <a:solidFill>
            <a:srgbClr val="C6F432"/>
          </a:solidFill>
          <a:ln>
            <a:solidFill>
              <a:srgbClr val="C6F432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>
                <a:latin typeface="Inter"/>
              </a:defRPr>
            </a:pPr>
          </a:p>
        </p:txBody>
      </p:sp>
      <p:sp>
        <p:nvSpPr>
          <p:cNvPr id="9" name="TextBox 8"/>
          <p:cNvSpPr txBox="1"/>
          <p:nvPr/>
        </p:nvSpPr>
        <p:spPr>
          <a:xfrm>
            <a:off x="685800" y="4572000"/>
            <a:ext cx="3063240" cy="182880"/>
          </a:xfrm>
          <a:prstGeom prst="rect">
            <a:avLst/>
          </a:prstGeom>
          <a:noFill/>
        </p:spPr>
        <p:txBody>
          <a:bodyPr wrap="none" lIns="9144" rIns="9144" tIns="9144" bIns="9144" anchor="t">
            <a:spAutoFit/>
          </a:bodyPr>
          <a:lstStyle/>
          <a:p>
            <a:pPr algn="l">
              <a:spcAft>
                <a:spcPts val="0"/>
              </a:spcAft>
              <a:defRPr sz="700" b="1">
                <a:solidFill>
                  <a:srgbClr val="8A94A1"/>
                </a:solidFill>
                <a:latin typeface="Inter"/>
              </a:defRPr>
            </a:pPr>
            <a:r>
              <a:rPr>
                <a:latin typeface="Inter"/>
              </a:rPr>
              <a:t>MODE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685800" y="4773168"/>
            <a:ext cx="3063240" cy="320040"/>
          </a:xfrm>
          <a:prstGeom prst="rect">
            <a:avLst/>
          </a:prstGeom>
          <a:noFill/>
        </p:spPr>
        <p:txBody>
          <a:bodyPr wrap="none" lIns="9144" rIns="9144" tIns="9144" bIns="9144" anchor="t">
            <a:spAutoFit/>
          </a:bodyPr>
          <a:lstStyle/>
          <a:p>
            <a:pPr algn="l">
              <a:spcAft>
                <a:spcPts val="0"/>
              </a:spcAft>
              <a:defRPr sz="1000" b="1">
                <a:solidFill>
                  <a:srgbClr val="FFFFFF"/>
                </a:solidFill>
                <a:latin typeface="Inter"/>
              </a:defRPr>
            </a:pPr>
            <a:r>
              <a:rPr>
                <a:latin typeface="Inter"/>
              </a:rPr>
              <a:t>Single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4160520" y="4572000"/>
            <a:ext cx="3063240" cy="182880"/>
          </a:xfrm>
          <a:prstGeom prst="rect">
            <a:avLst/>
          </a:prstGeom>
          <a:noFill/>
        </p:spPr>
        <p:txBody>
          <a:bodyPr wrap="none" lIns="9144" rIns="9144" tIns="9144" bIns="9144" anchor="t">
            <a:spAutoFit/>
          </a:bodyPr>
          <a:lstStyle/>
          <a:p>
            <a:pPr algn="l">
              <a:spcAft>
                <a:spcPts val="0"/>
              </a:spcAft>
              <a:defRPr sz="700" b="1">
                <a:solidFill>
                  <a:srgbClr val="8A94A1"/>
                </a:solidFill>
                <a:latin typeface="Inter"/>
              </a:defRPr>
            </a:pPr>
            <a:r>
              <a:rPr>
                <a:latin typeface="Inter"/>
              </a:rPr>
              <a:t>SCOPE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4160520" y="4773168"/>
            <a:ext cx="3063240" cy="320040"/>
          </a:xfrm>
          <a:prstGeom prst="rect">
            <a:avLst/>
          </a:prstGeom>
          <a:noFill/>
        </p:spPr>
        <p:txBody>
          <a:bodyPr wrap="none" lIns="9144" rIns="9144" tIns="9144" bIns="9144" anchor="t">
            <a:spAutoFit/>
          </a:bodyPr>
          <a:lstStyle/>
          <a:p>
            <a:pPr algn="l">
              <a:spcAft>
                <a:spcPts val="0"/>
              </a:spcAft>
              <a:defRPr sz="1000" b="1">
                <a:solidFill>
                  <a:srgbClr val="FFFFFF"/>
                </a:solidFill>
                <a:latin typeface="Inter"/>
              </a:defRPr>
            </a:pPr>
            <a:r>
              <a:rPr>
                <a:latin typeface="Inter"/>
              </a:rPr>
              <a:t>Fictional TEST managers</a:t>
            </a:r>
          </a:p>
        </p:txBody>
      </p:sp>
      <p:sp>
        <p:nvSpPr>
          <p:cNvPr id="13" name="Rectangle 12"/>
          <p:cNvSpPr/>
          <p:nvPr/>
        </p:nvSpPr>
        <p:spPr>
          <a:xfrm>
            <a:off x="685800" y="5833872"/>
            <a:ext cx="3063240" cy="384048"/>
          </a:xfrm>
          <a:prstGeom prst="rect">
            <a:avLst/>
          </a:prstGeom>
          <a:solidFill>
            <a:srgbClr val="9AA5B1"/>
          </a:solidFill>
          <a:ln>
            <a:solidFill>
              <a:srgbClr val="9AA5B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>
                <a:latin typeface="Inter"/>
              </a:defRPr>
            </a:pPr>
          </a:p>
        </p:txBody>
      </p:sp>
      <p:sp>
        <p:nvSpPr>
          <p:cNvPr id="14" name="TextBox 13"/>
          <p:cNvSpPr txBox="1"/>
          <p:nvPr/>
        </p:nvSpPr>
        <p:spPr>
          <a:xfrm>
            <a:off x="822960" y="5934456"/>
            <a:ext cx="2788920" cy="164592"/>
          </a:xfrm>
          <a:prstGeom prst="rect">
            <a:avLst/>
          </a:prstGeom>
          <a:noFill/>
        </p:spPr>
        <p:txBody>
          <a:bodyPr wrap="none" lIns="9144" rIns="9144" tIns="9144" bIns="9144" anchor="t">
            <a:spAutoFit/>
          </a:bodyPr>
          <a:lstStyle/>
          <a:p>
            <a:pPr algn="l">
              <a:spcAft>
                <a:spcPts val="0"/>
              </a:spcAft>
              <a:defRPr sz="800" b="1">
                <a:solidFill>
                  <a:srgbClr val="0D1117"/>
                </a:solidFill>
                <a:latin typeface="Inter"/>
              </a:defRPr>
            </a:pPr>
            <a:r>
              <a:rPr>
                <a:latin typeface="Inter"/>
              </a:rPr>
              <a:t>Insufficient governed evidence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3977639" y="5824728"/>
            <a:ext cx="3108960" cy="164592"/>
          </a:xfrm>
          <a:prstGeom prst="rect">
            <a:avLst/>
          </a:prstGeom>
          <a:noFill/>
        </p:spPr>
        <p:txBody>
          <a:bodyPr wrap="none" lIns="9144" rIns="9144" tIns="9144" bIns="9144" anchor="t">
            <a:spAutoFit/>
          </a:bodyPr>
          <a:lstStyle/>
          <a:p>
            <a:pPr algn="l">
              <a:spcAft>
                <a:spcPts val="0"/>
              </a:spcAft>
              <a:defRPr sz="650" b="1">
                <a:solidFill>
                  <a:srgbClr val="8A94A1"/>
                </a:solidFill>
                <a:latin typeface="Inter"/>
              </a:defRPr>
            </a:pPr>
            <a:r>
              <a:rPr>
                <a:latin typeface="Inter"/>
              </a:rPr>
              <a:t>EVIDENCE COMPLETENESS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3977639" y="5998464"/>
            <a:ext cx="3108960" cy="201168"/>
          </a:xfrm>
          <a:prstGeom prst="rect">
            <a:avLst/>
          </a:prstGeom>
          <a:noFill/>
        </p:spPr>
        <p:txBody>
          <a:bodyPr wrap="none" lIns="9144" rIns="9144" tIns="9144" bIns="9144" anchor="t">
            <a:spAutoFit/>
          </a:bodyPr>
          <a:lstStyle/>
          <a:p>
            <a:pPr algn="l">
              <a:spcAft>
                <a:spcPts val="0"/>
              </a:spcAft>
              <a:defRPr sz="800" b="1">
                <a:solidFill>
                  <a:srgbClr val="FFFFFF"/>
                </a:solidFill>
                <a:latin typeface="Inter"/>
              </a:defRPr>
            </a:pPr>
            <a:r>
              <a:rPr>
                <a:latin typeface="Inter"/>
              </a:rPr>
              <a:t>1 of 4 · Partial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685800" y="6473952"/>
            <a:ext cx="8046720" cy="182880"/>
          </a:xfrm>
          <a:prstGeom prst="rect">
            <a:avLst/>
          </a:prstGeom>
          <a:noFill/>
        </p:spPr>
        <p:txBody>
          <a:bodyPr wrap="none" lIns="9144" rIns="9144" tIns="9144" bIns="9144" anchor="t">
            <a:spAutoFit/>
          </a:bodyPr>
          <a:lstStyle/>
          <a:p>
            <a:pPr algn="l">
              <a:spcAft>
                <a:spcPts val="0"/>
              </a:spcAft>
              <a:defRPr sz="700" b="0">
                <a:solidFill>
                  <a:srgbClr val="8A94A1"/>
                </a:solidFill>
                <a:latin typeface="Inter"/>
              </a:defRPr>
            </a:pPr>
            <a:r>
              <a:rPr>
                <a:latin typeface="Inter"/>
              </a:rPr>
              <a:t>Confidential — prepared for internal investment use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8778240" y="6473952"/>
            <a:ext cx="2743200" cy="182880"/>
          </a:xfrm>
          <a:prstGeom prst="rect">
            <a:avLst/>
          </a:prstGeom>
          <a:noFill/>
        </p:spPr>
        <p:txBody>
          <a:bodyPr wrap="none" lIns="9144" rIns="9144" tIns="9144" bIns="9144" anchor="t">
            <a:spAutoFit/>
          </a:bodyPr>
          <a:lstStyle/>
          <a:p>
            <a:pPr algn="r">
              <a:spcAft>
                <a:spcPts val="0"/>
              </a:spcAft>
              <a:defRPr sz="700" b="0">
                <a:solidFill>
                  <a:srgbClr val="8A94A1"/>
                </a:solidFill>
                <a:latin typeface="Inter"/>
              </a:defRPr>
            </a:pPr>
            <a:r>
              <a:rPr>
                <a:latin typeface="Inter"/>
              </a:rPr>
              <a:t>GradientCIO.com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solidFill>
              <a:srgbClr val="FFFFF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>
                <a:latin typeface="Inter"/>
              </a:defRPr>
            </a:pPr>
          </a:p>
        </p:txBody>
      </p:sp>
      <p:sp>
        <p:nvSpPr>
          <p:cNvPr id="3" name="TextBox 2"/>
          <p:cNvSpPr txBox="1"/>
          <p:nvPr/>
        </p:nvSpPr>
        <p:spPr>
          <a:xfrm>
            <a:off x="640080" y="329184"/>
            <a:ext cx="9875520" cy="182880"/>
          </a:xfrm>
          <a:prstGeom prst="rect">
            <a:avLst/>
          </a:prstGeom>
          <a:noFill/>
        </p:spPr>
        <p:txBody>
          <a:bodyPr wrap="none" lIns="9144" rIns="9144" tIns="9144" bIns="9144" anchor="t">
            <a:spAutoFit/>
          </a:bodyPr>
          <a:lstStyle/>
          <a:p>
            <a:pPr algn="l">
              <a:spcAft>
                <a:spcPts val="0"/>
              </a:spcAft>
              <a:defRPr sz="750" b="1">
                <a:solidFill>
                  <a:srgbClr val="4F6B00"/>
                </a:solidFill>
                <a:latin typeface="Inter"/>
              </a:defRPr>
            </a:pPr>
            <a:r>
              <a:rPr>
                <a:latin typeface="Inter"/>
              </a:rPr>
              <a:t>EVIDENCE DOES NOT SUPPORT A COMPARATIVE CONCLUSION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40080" y="566928"/>
            <a:ext cx="10058400" cy="530352"/>
          </a:xfrm>
          <a:prstGeom prst="rect">
            <a:avLst/>
          </a:prstGeom>
          <a:noFill/>
        </p:spPr>
        <p:txBody>
          <a:bodyPr wrap="none" lIns="9144" rIns="9144" tIns="9144" bIns="9144" anchor="t">
            <a:spAutoFit/>
          </a:bodyPr>
          <a:lstStyle/>
          <a:p>
            <a:pPr algn="l">
              <a:spcAft>
                <a:spcPts val="0"/>
              </a:spcAft>
              <a:defRPr sz="2300" b="1">
                <a:solidFill>
                  <a:srgbClr val="0D1117"/>
                </a:solidFill>
                <a:latin typeface="Inter"/>
              </a:defRPr>
            </a:pPr>
            <a:r>
              <a:rPr>
                <a:latin typeface="Inter"/>
              </a:rPr>
              <a:t>Executive conclusion</a:t>
            </a:r>
          </a:p>
        </p:txBody>
      </p:sp>
      <p:sp>
        <p:nvSpPr>
          <p:cNvPr id="5" name="Rectangle 4"/>
          <p:cNvSpPr/>
          <p:nvPr/>
        </p:nvSpPr>
        <p:spPr>
          <a:xfrm>
            <a:off x="640080" y="1115568"/>
            <a:ext cx="10908792" cy="18288"/>
          </a:xfrm>
          <a:prstGeom prst="rect">
            <a:avLst/>
          </a:prstGeom>
          <a:solidFill>
            <a:srgbClr val="0D1117"/>
          </a:solidFill>
          <a:ln>
            <a:solidFill>
              <a:srgbClr val="0D111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>
                <a:latin typeface="Inter"/>
              </a:defRPr>
            </a:pPr>
          </a:p>
        </p:txBody>
      </p:sp>
      <p:sp>
        <p:nvSpPr>
          <p:cNvPr id="6" name="Rectangle 5"/>
          <p:cNvSpPr/>
          <p:nvPr/>
        </p:nvSpPr>
        <p:spPr>
          <a:xfrm>
            <a:off x="11018520" y="502920"/>
            <a:ext cx="530352" cy="393192"/>
          </a:xfrm>
          <a:prstGeom prst="rect">
            <a:avLst/>
          </a:prstGeom>
          <a:solidFill>
            <a:srgbClr val="C6F432"/>
          </a:solidFill>
          <a:ln>
            <a:solidFill>
              <a:srgbClr val="C6F432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>
                <a:latin typeface="Inter"/>
              </a:defRPr>
            </a:pPr>
          </a:p>
        </p:txBody>
      </p:sp>
      <p:sp>
        <p:nvSpPr>
          <p:cNvPr id="7" name="TextBox 6"/>
          <p:cNvSpPr txBox="1"/>
          <p:nvPr/>
        </p:nvSpPr>
        <p:spPr>
          <a:xfrm>
            <a:off x="11045952" y="557784"/>
            <a:ext cx="475488" cy="182880"/>
          </a:xfrm>
          <a:prstGeom prst="rect">
            <a:avLst/>
          </a:prstGeom>
          <a:noFill/>
        </p:spPr>
        <p:txBody>
          <a:bodyPr wrap="none" lIns="9144" rIns="9144" tIns="9144" bIns="9144" anchor="t">
            <a:spAutoFit/>
          </a:bodyPr>
          <a:lstStyle/>
          <a:p>
            <a:pPr algn="ctr">
              <a:spcAft>
                <a:spcPts val="0"/>
              </a:spcAft>
              <a:defRPr sz="1000" b="1">
                <a:solidFill>
                  <a:srgbClr val="0D1117"/>
                </a:solidFill>
                <a:latin typeface="Inter"/>
              </a:defRPr>
            </a:pPr>
            <a:r>
              <a:rPr>
                <a:latin typeface="Inter"/>
              </a:rPr>
              <a:t>01</a:t>
            </a:r>
          </a:p>
        </p:txBody>
      </p:sp>
      <p:sp>
        <p:nvSpPr>
          <p:cNvPr id="8" name="Rectangle 7"/>
          <p:cNvSpPr/>
          <p:nvPr/>
        </p:nvSpPr>
        <p:spPr>
          <a:xfrm>
            <a:off x="640080" y="1325880"/>
            <a:ext cx="10908792" cy="1557527"/>
          </a:xfrm>
          <a:prstGeom prst="rect">
            <a:avLst/>
          </a:prstGeom>
          <a:solidFill>
            <a:srgbClr val="F5F7F9"/>
          </a:solidFill>
          <a:ln>
            <a:solidFill>
              <a:srgbClr val="E3E7E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>
                <a:latin typeface="Inter"/>
              </a:defRPr>
            </a:pPr>
          </a:p>
        </p:txBody>
      </p:sp>
      <p:sp>
        <p:nvSpPr>
          <p:cNvPr id="9" name="Rectangle 8"/>
          <p:cNvSpPr/>
          <p:nvPr/>
        </p:nvSpPr>
        <p:spPr>
          <a:xfrm>
            <a:off x="640080" y="1325880"/>
            <a:ext cx="54864" cy="1557527"/>
          </a:xfrm>
          <a:prstGeom prst="rect">
            <a:avLst/>
          </a:prstGeom>
          <a:solidFill>
            <a:srgbClr val="F2A93B"/>
          </a:solidFill>
          <a:ln>
            <a:solidFill>
              <a:srgbClr val="F2A93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>
                <a:latin typeface="Inter"/>
              </a:defRPr>
            </a:pPr>
          </a:p>
        </p:txBody>
      </p:sp>
      <p:sp>
        <p:nvSpPr>
          <p:cNvPr id="10" name="TextBox 9"/>
          <p:cNvSpPr txBox="1"/>
          <p:nvPr/>
        </p:nvSpPr>
        <p:spPr>
          <a:xfrm>
            <a:off x="804671" y="1435607"/>
            <a:ext cx="10616184" cy="228600"/>
          </a:xfrm>
          <a:prstGeom prst="rect">
            <a:avLst/>
          </a:prstGeom>
          <a:noFill/>
        </p:spPr>
        <p:txBody>
          <a:bodyPr wrap="none" lIns="9144" rIns="9144" tIns="9144" bIns="9144" anchor="t">
            <a:spAutoFit/>
          </a:bodyPr>
          <a:lstStyle/>
          <a:p>
            <a:pPr algn="l">
              <a:spcAft>
                <a:spcPts val="0"/>
              </a:spcAft>
              <a:defRPr sz="1000" b="1">
                <a:solidFill>
                  <a:srgbClr val="0D1117"/>
                </a:solidFill>
                <a:latin typeface="Inter"/>
              </a:defRPr>
            </a:pPr>
            <a:r>
              <a:rPr>
                <a:latin typeface="Inter"/>
              </a:rPr>
              <a:t>Key judgment — Coverage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804671" y="1719072"/>
            <a:ext cx="10616184" cy="1072895"/>
          </a:xfrm>
          <a:prstGeom prst="rect">
            <a:avLst/>
          </a:prstGeom>
          <a:noFill/>
        </p:spPr>
        <p:txBody>
          <a:bodyPr wrap="none" lIns="9144" rIns="9144" tIns="9144" bIns="9144" anchor="t">
            <a:spAutoFit/>
          </a:bodyPr>
          <a:lstStyle/>
          <a:p>
            <a:pPr algn="l">
              <a:spcAft>
                <a:spcPts val="0"/>
              </a:spcAft>
              <a:defRPr sz="950" b="0">
                <a:solidFill>
                  <a:srgbClr val="4A5563"/>
                </a:solidFill>
                <a:latin typeface="Inter"/>
              </a:defRPr>
            </a:pPr>
            <a:r>
              <a:rPr>
                <a:latin typeface="Inter"/>
              </a:rPr>
              <a:t>Observation: Coverage is incomplete [S1]. Why it matters: Comparison is constrained. Uncertainty: Missing reads may change results. What would change the view: Governed comparison evidence.</a:t>
            </a:r>
          </a:p>
        </p:txBody>
      </p:sp>
      <p:sp>
        <p:nvSpPr>
          <p:cNvPr id="12" name="Rectangle 11"/>
          <p:cNvSpPr/>
          <p:nvPr/>
        </p:nvSpPr>
        <p:spPr>
          <a:xfrm>
            <a:off x="640080" y="2993136"/>
            <a:ext cx="10908792" cy="1557527"/>
          </a:xfrm>
          <a:prstGeom prst="rect">
            <a:avLst/>
          </a:prstGeom>
          <a:solidFill>
            <a:srgbClr val="F5F7F9"/>
          </a:solidFill>
          <a:ln>
            <a:solidFill>
              <a:srgbClr val="E3E7E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>
                <a:latin typeface="Inter"/>
              </a:defRPr>
            </a:pPr>
          </a:p>
        </p:txBody>
      </p:sp>
      <p:sp>
        <p:nvSpPr>
          <p:cNvPr id="13" name="Rectangle 12"/>
          <p:cNvSpPr/>
          <p:nvPr/>
        </p:nvSpPr>
        <p:spPr>
          <a:xfrm>
            <a:off x="640080" y="2993136"/>
            <a:ext cx="54864" cy="1557527"/>
          </a:xfrm>
          <a:prstGeom prst="rect">
            <a:avLst/>
          </a:prstGeom>
          <a:solidFill>
            <a:srgbClr val="F2A93B"/>
          </a:solidFill>
          <a:ln>
            <a:solidFill>
              <a:srgbClr val="F2A93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>
                <a:latin typeface="Inter"/>
              </a:defRPr>
            </a:pPr>
          </a:p>
        </p:txBody>
      </p:sp>
      <p:sp>
        <p:nvSpPr>
          <p:cNvPr id="14" name="TextBox 13"/>
          <p:cNvSpPr txBox="1"/>
          <p:nvPr/>
        </p:nvSpPr>
        <p:spPr>
          <a:xfrm>
            <a:off x="804671" y="3102864"/>
            <a:ext cx="10616184" cy="228600"/>
          </a:xfrm>
          <a:prstGeom prst="rect">
            <a:avLst/>
          </a:prstGeom>
          <a:noFill/>
        </p:spPr>
        <p:txBody>
          <a:bodyPr wrap="none" lIns="9144" rIns="9144" tIns="9144" bIns="9144" anchor="t">
            <a:spAutoFit/>
          </a:bodyPr>
          <a:lstStyle/>
          <a:p>
            <a:pPr algn="l">
              <a:spcAft>
                <a:spcPts val="0"/>
              </a:spcAft>
              <a:defRPr sz="1000" b="1">
                <a:solidFill>
                  <a:srgbClr val="0D1117"/>
                </a:solidFill>
                <a:latin typeface="Inter"/>
              </a:defRPr>
            </a:pPr>
            <a:r>
              <a:rPr>
                <a:latin typeface="Inter"/>
              </a:rPr>
              <a:t>Key judgment — Benchmarks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804671" y="3386328"/>
            <a:ext cx="10616184" cy="1072895"/>
          </a:xfrm>
          <a:prstGeom prst="rect">
            <a:avLst/>
          </a:prstGeom>
          <a:noFill/>
        </p:spPr>
        <p:txBody>
          <a:bodyPr wrap="none" lIns="9144" rIns="9144" tIns="9144" bIns="9144" anchor="t">
            <a:spAutoFit/>
          </a:bodyPr>
          <a:lstStyle/>
          <a:p>
            <a:pPr algn="l">
              <a:spcAft>
                <a:spcPts val="0"/>
              </a:spcAft>
              <a:defRPr sz="950" b="0">
                <a:solidFill>
                  <a:srgbClr val="4A5563"/>
                </a:solidFill>
                <a:latin typeface="Inter"/>
              </a:defRPr>
            </a:pPr>
            <a:r>
              <a:rPr>
                <a:latin typeface="Inter"/>
              </a:rPr>
              <a:t>Observation: Benchmark matching is advisory [S1]. Why it matters: Relative evidence is bounded. Uncertainty: Mandate fit is unconfirmed. What would change the view: Canonical matches.</a:t>
            </a:r>
          </a:p>
        </p:txBody>
      </p:sp>
      <p:sp>
        <p:nvSpPr>
          <p:cNvPr id="16" name="Rectangle 15"/>
          <p:cNvSpPr/>
          <p:nvPr/>
        </p:nvSpPr>
        <p:spPr>
          <a:xfrm>
            <a:off x="640080" y="4660392"/>
            <a:ext cx="10908792" cy="1557527"/>
          </a:xfrm>
          <a:prstGeom prst="rect">
            <a:avLst/>
          </a:prstGeom>
          <a:solidFill>
            <a:srgbClr val="F5F7F9"/>
          </a:solidFill>
          <a:ln>
            <a:solidFill>
              <a:srgbClr val="E3E7E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>
                <a:latin typeface="Inter"/>
              </a:defRPr>
            </a:pPr>
          </a:p>
        </p:txBody>
      </p:sp>
      <p:sp>
        <p:nvSpPr>
          <p:cNvPr id="17" name="Rectangle 16"/>
          <p:cNvSpPr/>
          <p:nvPr/>
        </p:nvSpPr>
        <p:spPr>
          <a:xfrm>
            <a:off x="640080" y="4660392"/>
            <a:ext cx="54864" cy="1557527"/>
          </a:xfrm>
          <a:prstGeom prst="rect">
            <a:avLst/>
          </a:prstGeom>
          <a:solidFill>
            <a:srgbClr val="F2A93B"/>
          </a:solidFill>
          <a:ln>
            <a:solidFill>
              <a:srgbClr val="F2A93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>
                <a:latin typeface="Inter"/>
              </a:defRPr>
            </a:pPr>
          </a:p>
        </p:txBody>
      </p:sp>
      <p:sp>
        <p:nvSpPr>
          <p:cNvPr id="18" name="TextBox 17"/>
          <p:cNvSpPr txBox="1"/>
          <p:nvPr/>
        </p:nvSpPr>
        <p:spPr>
          <a:xfrm>
            <a:off x="804671" y="4770120"/>
            <a:ext cx="10616184" cy="228600"/>
          </a:xfrm>
          <a:prstGeom prst="rect">
            <a:avLst/>
          </a:prstGeom>
          <a:noFill/>
        </p:spPr>
        <p:txBody>
          <a:bodyPr wrap="none" lIns="9144" rIns="9144" tIns="9144" bIns="9144" anchor="t">
            <a:spAutoFit/>
          </a:bodyPr>
          <a:lstStyle/>
          <a:p>
            <a:pPr algn="l">
              <a:spcAft>
                <a:spcPts val="0"/>
              </a:spcAft>
              <a:defRPr sz="1000" b="1">
                <a:solidFill>
                  <a:srgbClr val="0D1117"/>
                </a:solidFill>
                <a:latin typeface="Inter"/>
              </a:defRPr>
            </a:pPr>
            <a:r>
              <a:rPr>
                <a:latin typeface="Inter"/>
              </a:rPr>
              <a:t>Key judgment — Reliability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804671" y="5053584"/>
            <a:ext cx="10616184" cy="1072896"/>
          </a:xfrm>
          <a:prstGeom prst="rect">
            <a:avLst/>
          </a:prstGeom>
          <a:noFill/>
        </p:spPr>
        <p:txBody>
          <a:bodyPr wrap="none" lIns="9144" rIns="9144" tIns="9144" bIns="9144" anchor="t">
            <a:spAutoFit/>
          </a:bodyPr>
          <a:lstStyle/>
          <a:p>
            <a:pPr algn="l">
              <a:spcAft>
                <a:spcPts val="0"/>
              </a:spcAft>
              <a:defRPr sz="950" b="0">
                <a:solidFill>
                  <a:srgbClr val="4A5563"/>
                </a:solidFill>
                <a:latin typeface="Inter"/>
              </a:defRPr>
            </a:pPr>
            <a:r>
              <a:rPr>
                <a:latin typeface="Inter"/>
              </a:rPr>
              <a:t>Observation: Robustness is unavailable [S1]. Why it matters: Persistence is unknown. Uncertainty: Window sensitivity is untested. What would change the view: Governed robustness results.</a:t>
            </a:r>
          </a:p>
        </p:txBody>
      </p:sp>
      <p:sp>
        <p:nvSpPr>
          <p:cNvPr id="20" name="Rectangle 19"/>
          <p:cNvSpPr/>
          <p:nvPr/>
        </p:nvSpPr>
        <p:spPr>
          <a:xfrm>
            <a:off x="640080" y="6446520"/>
            <a:ext cx="10908792" cy="9144"/>
          </a:xfrm>
          <a:prstGeom prst="rect">
            <a:avLst/>
          </a:prstGeom>
          <a:solidFill>
            <a:srgbClr val="E3E7EC"/>
          </a:solidFill>
          <a:ln>
            <a:solidFill>
              <a:srgbClr val="E3E7E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>
                <a:latin typeface="Inter"/>
              </a:defRPr>
            </a:pPr>
          </a:p>
        </p:txBody>
      </p:sp>
      <p:sp>
        <p:nvSpPr>
          <p:cNvPr id="21" name="TextBox 20"/>
          <p:cNvSpPr txBox="1"/>
          <p:nvPr/>
        </p:nvSpPr>
        <p:spPr>
          <a:xfrm>
            <a:off x="640080" y="6501384"/>
            <a:ext cx="4297680" cy="146304"/>
          </a:xfrm>
          <a:prstGeom prst="rect">
            <a:avLst/>
          </a:prstGeom>
          <a:noFill/>
        </p:spPr>
        <p:txBody>
          <a:bodyPr wrap="none" lIns="9144" rIns="9144" tIns="9144" bIns="9144" anchor="t">
            <a:spAutoFit/>
          </a:bodyPr>
          <a:lstStyle/>
          <a:p>
            <a:pPr algn="l">
              <a:spcAft>
                <a:spcPts val="0"/>
              </a:spcAft>
              <a:defRPr sz="650" b="0">
                <a:solidFill>
                  <a:srgbClr val="8A94A1"/>
                </a:solidFill>
                <a:latin typeface="Inter"/>
              </a:defRPr>
            </a:pPr>
            <a:r>
              <a:rPr>
                <a:latin typeface="Inter"/>
              </a:rPr>
              <a:t>Sources: S1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4480560" y="6501384"/>
            <a:ext cx="5303520" cy="146304"/>
          </a:xfrm>
          <a:prstGeom prst="rect">
            <a:avLst/>
          </a:prstGeom>
          <a:noFill/>
        </p:spPr>
        <p:txBody>
          <a:bodyPr wrap="none" lIns="9144" rIns="9144" tIns="9144" bIns="9144" anchor="t">
            <a:spAutoFit/>
          </a:bodyPr>
          <a:lstStyle/>
          <a:p>
            <a:pPr algn="ctr">
              <a:spcAft>
                <a:spcPts val="0"/>
              </a:spcAft>
              <a:defRPr sz="650" b="0">
                <a:solidFill>
                  <a:srgbClr val="8A94A1"/>
                </a:solidFill>
                <a:latin typeface="Inter"/>
              </a:defRPr>
            </a:pPr>
            <a:r>
              <a:rPr>
                <a:latin typeface="Inter"/>
              </a:rPr>
              <a:t>Confidential — prepared for internal investment use · Data as of 2025-12-31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10287000" y="6501384"/>
            <a:ext cx="1261872" cy="146304"/>
          </a:xfrm>
          <a:prstGeom prst="rect">
            <a:avLst/>
          </a:prstGeom>
          <a:noFill/>
        </p:spPr>
        <p:txBody>
          <a:bodyPr wrap="none" lIns="9144" rIns="9144" tIns="9144" bIns="9144" anchor="t">
            <a:spAutoFit/>
          </a:bodyPr>
          <a:lstStyle/>
          <a:p>
            <a:pPr algn="r">
              <a:spcAft>
                <a:spcPts val="0"/>
              </a:spcAft>
              <a:defRPr sz="650" b="0">
                <a:solidFill>
                  <a:srgbClr val="8A94A1"/>
                </a:solidFill>
                <a:latin typeface="Inter"/>
              </a:defRPr>
            </a:pPr>
            <a:r>
              <a:rPr>
                <a:latin typeface="Inter"/>
              </a:rPr>
              <a:t>2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solidFill>
              <a:srgbClr val="FFFFF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>
                <a:latin typeface="Inter"/>
              </a:defRPr>
            </a:pPr>
          </a:p>
        </p:txBody>
      </p:sp>
      <p:sp>
        <p:nvSpPr>
          <p:cNvPr id="3" name="TextBox 2"/>
          <p:cNvSpPr txBox="1"/>
          <p:nvPr/>
        </p:nvSpPr>
        <p:spPr>
          <a:xfrm>
            <a:off x="640080" y="329184"/>
            <a:ext cx="9875520" cy="182880"/>
          </a:xfrm>
          <a:prstGeom prst="rect">
            <a:avLst/>
          </a:prstGeom>
          <a:noFill/>
        </p:spPr>
        <p:txBody>
          <a:bodyPr wrap="none" lIns="9144" rIns="9144" tIns="9144" bIns="9144" anchor="t">
            <a:spAutoFit/>
          </a:bodyPr>
          <a:lstStyle/>
          <a:p>
            <a:pPr algn="l">
              <a:spcAft>
                <a:spcPts val="0"/>
              </a:spcAft>
              <a:defRPr sz="750" b="1">
                <a:solidFill>
                  <a:srgbClr val="4F6B00"/>
                </a:solidFill>
                <a:latin typeface="Inter"/>
              </a:defRPr>
            </a:pPr>
            <a:r>
              <a:rPr>
                <a:latin typeface="Inter"/>
              </a:rPr>
              <a:t>BENCHMARK IDENTITY REMAINS ADVISORY FOR THE TEST CANDIDATES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40080" y="566928"/>
            <a:ext cx="10058400" cy="530352"/>
          </a:xfrm>
          <a:prstGeom prst="rect">
            <a:avLst/>
          </a:prstGeom>
          <a:noFill/>
        </p:spPr>
        <p:txBody>
          <a:bodyPr wrap="none" lIns="9144" rIns="9144" tIns="9144" bIns="9144" anchor="t">
            <a:spAutoFit/>
          </a:bodyPr>
          <a:lstStyle/>
          <a:p>
            <a:pPr algn="l">
              <a:spcAft>
                <a:spcPts val="0"/>
              </a:spcAft>
              <a:defRPr sz="2300" b="1">
                <a:solidFill>
                  <a:srgbClr val="0D1117"/>
                </a:solidFill>
                <a:latin typeface="Inter"/>
              </a:defRPr>
            </a:pPr>
            <a:r>
              <a:rPr>
                <a:latin typeface="Inter"/>
              </a:rPr>
              <a:t>Data and benchmark coverage</a:t>
            </a:r>
          </a:p>
        </p:txBody>
      </p:sp>
      <p:sp>
        <p:nvSpPr>
          <p:cNvPr id="5" name="Rectangle 4"/>
          <p:cNvSpPr/>
          <p:nvPr/>
        </p:nvSpPr>
        <p:spPr>
          <a:xfrm>
            <a:off x="640080" y="1115568"/>
            <a:ext cx="10908792" cy="18288"/>
          </a:xfrm>
          <a:prstGeom prst="rect">
            <a:avLst/>
          </a:prstGeom>
          <a:solidFill>
            <a:srgbClr val="0D1117"/>
          </a:solidFill>
          <a:ln>
            <a:solidFill>
              <a:srgbClr val="0D111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>
                <a:latin typeface="Inter"/>
              </a:defRPr>
            </a:pPr>
          </a:p>
        </p:txBody>
      </p:sp>
      <p:sp>
        <p:nvSpPr>
          <p:cNvPr id="6" name="Rectangle 5"/>
          <p:cNvSpPr/>
          <p:nvPr/>
        </p:nvSpPr>
        <p:spPr>
          <a:xfrm>
            <a:off x="11018520" y="502920"/>
            <a:ext cx="530352" cy="393192"/>
          </a:xfrm>
          <a:prstGeom prst="rect">
            <a:avLst/>
          </a:prstGeom>
          <a:solidFill>
            <a:srgbClr val="C6F432"/>
          </a:solidFill>
          <a:ln>
            <a:solidFill>
              <a:srgbClr val="C6F432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>
                <a:latin typeface="Inter"/>
              </a:defRPr>
            </a:pPr>
          </a:p>
        </p:txBody>
      </p:sp>
      <p:sp>
        <p:nvSpPr>
          <p:cNvPr id="7" name="TextBox 6"/>
          <p:cNvSpPr txBox="1"/>
          <p:nvPr/>
        </p:nvSpPr>
        <p:spPr>
          <a:xfrm>
            <a:off x="11045952" y="557784"/>
            <a:ext cx="475488" cy="182880"/>
          </a:xfrm>
          <a:prstGeom prst="rect">
            <a:avLst/>
          </a:prstGeom>
          <a:noFill/>
        </p:spPr>
        <p:txBody>
          <a:bodyPr wrap="none" lIns="9144" rIns="9144" tIns="9144" bIns="9144" anchor="t">
            <a:spAutoFit/>
          </a:bodyPr>
          <a:lstStyle/>
          <a:p>
            <a:pPr algn="ctr">
              <a:spcAft>
                <a:spcPts val="0"/>
              </a:spcAft>
              <a:defRPr sz="1000" b="1">
                <a:solidFill>
                  <a:srgbClr val="0D1117"/>
                </a:solidFill>
                <a:latin typeface="Inter"/>
              </a:defRPr>
            </a:pPr>
            <a:r>
              <a:rPr>
                <a:latin typeface="Inter"/>
              </a:rPr>
              <a:t>02</a:t>
            </a:r>
          </a:p>
        </p:txBody>
      </p:sp>
      <p:graphicFrame>
        <p:nvGraphicFramePr>
          <p:cNvPr id="8" name="Table 7"/>
          <p:cNvGraphicFramePr>
            <a:graphicFrameLocks noGrp="1"/>
          </p:cNvGraphicFramePr>
          <p:nvPr/>
        </p:nvGraphicFramePr>
        <p:xfrm>
          <a:off x="640080" y="1325880"/>
          <a:ext cx="10908792" cy="489204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2011680"/>
                <a:gridCol w="4448556"/>
                <a:gridCol w="4448556"/>
              </a:tblGrid>
              <a:tr h="2446020">
                <a:tc>
                  <a:txBody>
                    <a:bodyPr/>
                    <a:lstStyle/>
                    <a:p>
                      <a:pPr>
                        <a:defRPr sz="750" b="1">
                          <a:solidFill>
                            <a:srgbClr val="FFFFFF"/>
                          </a:solidFill>
                          <a:latin typeface="Inter"/>
                        </a:defRPr>
                      </a:pPr>
                      <a:r>
                        <a:rPr>
                          <a:latin typeface="Inter"/>
                        </a:rPr>
                        <a:t>Source</a:t>
                      </a:r>
                    </a:p>
                  </a:txBody>
                  <a:tcPr marL="54864" marR="54864" marT="27432" marB="27432" anchor="ctr">
                    <a:solidFill>
                      <a:srgbClr val="0D1117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750" b="1">
                          <a:solidFill>
                            <a:srgbClr val="FFFFFF"/>
                          </a:solidFill>
                          <a:latin typeface="Inter"/>
                        </a:defRPr>
                      </a:pPr>
                      <a:r>
                        <a:rPr>
                          <a:latin typeface="Inter"/>
                        </a:rPr>
                        <a:t>Status</a:t>
                      </a:r>
                    </a:p>
                  </a:txBody>
                  <a:tcPr marL="54864" marR="54864" marT="27432" marB="27432" anchor="ctr">
                    <a:solidFill>
                      <a:srgbClr val="0D1117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750" b="1">
                          <a:solidFill>
                            <a:srgbClr val="FFFFFF"/>
                          </a:solidFill>
                          <a:latin typeface="Inter"/>
                        </a:defRPr>
                      </a:pPr>
                      <a:r>
                        <a:rPr>
                          <a:latin typeface="Inter"/>
                        </a:rPr>
                        <a:t>Note</a:t>
                      </a:r>
                    </a:p>
                  </a:txBody>
                  <a:tcPr marL="54864" marR="54864" marT="27432" marB="27432" anchor="ctr">
                    <a:solidFill>
                      <a:srgbClr val="0D1117"/>
                    </a:solidFill>
                  </a:tcPr>
                </a:tc>
              </a:tr>
              <a:tr h="2446020">
                <a:tc>
                  <a:txBody>
                    <a:bodyPr/>
                    <a:lstStyle/>
                    <a:p>
                      <a:pPr>
                        <a:defRPr sz="800" b="1">
                          <a:solidFill>
                            <a:srgbClr val="0D1117"/>
                          </a:solidFill>
                          <a:latin typeface="Inter"/>
                        </a:defRPr>
                      </a:pPr>
                      <a:r>
                        <a:rPr>
                          <a:latin typeface="Inter"/>
                        </a:rPr>
                        <a:t>Benchmark mapping</a:t>
                      </a:r>
                    </a:p>
                  </a:txBody>
                  <a:tcPr marL="54864" marR="54864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800" b="1">
                          <a:solidFill>
                            <a:srgbClr val="FF6B5E"/>
                          </a:solidFill>
                          <a:latin typeface="Inter"/>
                        </a:defRPr>
                      </a:pPr>
                      <a:r>
                        <a:rPr>
                          <a:latin typeface="Inter"/>
                        </a:rPr>
                        <a:t>● unavailable</a:t>
                      </a:r>
                    </a:p>
                  </a:txBody>
                  <a:tcPr marL="54864" marR="54864" marT="27432" marB="27432" anchor="ctr">
                    <a:solidFill>
                      <a:srgbClr val="F5F7F9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800" b="0">
                          <a:solidFill>
                            <a:srgbClr val="0D1117"/>
                          </a:solidFill>
                          <a:latin typeface="Inter"/>
                        </a:defRPr>
                      </a:pPr>
                      <a:r>
                        <a:rPr>
                          <a:latin typeface="Inter"/>
                        </a:rPr>
                        <a:t>Canonical match unavailable [S1]</a:t>
                      </a:r>
                    </a:p>
                  </a:txBody>
                  <a:tcPr marL="54864" marR="54864" marT="27432" marB="27432" anchor="ctr"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9" name="Rectangle 8"/>
          <p:cNvSpPr/>
          <p:nvPr/>
        </p:nvSpPr>
        <p:spPr>
          <a:xfrm>
            <a:off x="640080" y="6446520"/>
            <a:ext cx="10908792" cy="9144"/>
          </a:xfrm>
          <a:prstGeom prst="rect">
            <a:avLst/>
          </a:prstGeom>
          <a:solidFill>
            <a:srgbClr val="E3E7EC"/>
          </a:solidFill>
          <a:ln>
            <a:solidFill>
              <a:srgbClr val="E3E7E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>
                <a:latin typeface="Inter"/>
              </a:defRPr>
            </a:pPr>
          </a:p>
        </p:txBody>
      </p:sp>
      <p:sp>
        <p:nvSpPr>
          <p:cNvPr id="10" name="TextBox 9"/>
          <p:cNvSpPr txBox="1"/>
          <p:nvPr/>
        </p:nvSpPr>
        <p:spPr>
          <a:xfrm>
            <a:off x="640080" y="6501384"/>
            <a:ext cx="4297680" cy="146304"/>
          </a:xfrm>
          <a:prstGeom prst="rect">
            <a:avLst/>
          </a:prstGeom>
          <a:noFill/>
        </p:spPr>
        <p:txBody>
          <a:bodyPr wrap="none" lIns="9144" rIns="9144" tIns="9144" bIns="9144" anchor="t">
            <a:spAutoFit/>
          </a:bodyPr>
          <a:lstStyle/>
          <a:p>
            <a:pPr algn="l">
              <a:spcAft>
                <a:spcPts val="0"/>
              </a:spcAft>
              <a:defRPr sz="650" b="0">
                <a:solidFill>
                  <a:srgbClr val="8A94A1"/>
                </a:solidFill>
                <a:latin typeface="Inter"/>
              </a:defRPr>
            </a:pPr>
            <a:r>
              <a:rPr>
                <a:latin typeface="Inter"/>
              </a:rPr>
              <a:t>Sources: S1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4480560" y="6501384"/>
            <a:ext cx="5303520" cy="146304"/>
          </a:xfrm>
          <a:prstGeom prst="rect">
            <a:avLst/>
          </a:prstGeom>
          <a:noFill/>
        </p:spPr>
        <p:txBody>
          <a:bodyPr wrap="none" lIns="9144" rIns="9144" tIns="9144" bIns="9144" anchor="t">
            <a:spAutoFit/>
          </a:bodyPr>
          <a:lstStyle/>
          <a:p>
            <a:pPr algn="ctr">
              <a:spcAft>
                <a:spcPts val="0"/>
              </a:spcAft>
              <a:defRPr sz="650" b="0">
                <a:solidFill>
                  <a:srgbClr val="8A94A1"/>
                </a:solidFill>
                <a:latin typeface="Inter"/>
              </a:defRPr>
            </a:pPr>
            <a:r>
              <a:rPr>
                <a:latin typeface="Inter"/>
              </a:rPr>
              <a:t>Confidential — prepared for internal investment use · Data as of 2025-12-31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10287000" y="6501384"/>
            <a:ext cx="1261872" cy="146304"/>
          </a:xfrm>
          <a:prstGeom prst="rect">
            <a:avLst/>
          </a:prstGeom>
          <a:noFill/>
        </p:spPr>
        <p:txBody>
          <a:bodyPr wrap="none" lIns="9144" rIns="9144" tIns="9144" bIns="9144" anchor="t">
            <a:spAutoFit/>
          </a:bodyPr>
          <a:lstStyle/>
          <a:p>
            <a:pPr algn="r">
              <a:spcAft>
                <a:spcPts val="0"/>
              </a:spcAft>
              <a:defRPr sz="650" b="0">
                <a:solidFill>
                  <a:srgbClr val="8A94A1"/>
                </a:solidFill>
                <a:latin typeface="Inter"/>
              </a:defRPr>
            </a:pPr>
            <a:r>
              <a:rPr>
                <a:latin typeface="Inter"/>
              </a:rPr>
              <a:t>3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solidFill>
              <a:srgbClr val="FFFFF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>
                <a:latin typeface="Inter"/>
              </a:defRPr>
            </a:pPr>
          </a:p>
        </p:txBody>
      </p:sp>
      <p:sp>
        <p:nvSpPr>
          <p:cNvPr id="3" name="TextBox 2"/>
          <p:cNvSpPr txBox="1"/>
          <p:nvPr/>
        </p:nvSpPr>
        <p:spPr>
          <a:xfrm>
            <a:off x="640080" y="329184"/>
            <a:ext cx="9875520" cy="182880"/>
          </a:xfrm>
          <a:prstGeom prst="rect">
            <a:avLst/>
          </a:prstGeom>
          <a:noFill/>
        </p:spPr>
        <p:txBody>
          <a:bodyPr wrap="none" lIns="9144" rIns="9144" tIns="9144" bIns="9144" anchor="t">
            <a:spAutoFit/>
          </a:bodyPr>
          <a:lstStyle/>
          <a:p>
            <a:pPr algn="l">
              <a:spcAft>
                <a:spcPts val="0"/>
              </a:spcAft>
              <a:defRPr sz="750" b="1">
                <a:solidFill>
                  <a:srgbClr val="4F6B00"/>
                </a:solidFill>
                <a:latin typeface="Inter"/>
              </a:defRPr>
            </a:pPr>
            <a:r>
              <a:rPr>
                <a:latin typeface="Inter"/>
              </a:rPr>
              <a:t>RISK AND RETURN COMPARISON IS UNAVAILABLE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40080" y="566928"/>
            <a:ext cx="10058400" cy="530352"/>
          </a:xfrm>
          <a:prstGeom prst="rect">
            <a:avLst/>
          </a:prstGeom>
          <a:noFill/>
        </p:spPr>
        <p:txBody>
          <a:bodyPr wrap="none" lIns="9144" rIns="9144" tIns="9144" bIns="9144" anchor="t">
            <a:spAutoFit/>
          </a:bodyPr>
          <a:lstStyle/>
          <a:p>
            <a:pPr algn="l">
              <a:spcAft>
                <a:spcPts val="0"/>
              </a:spcAft>
              <a:defRPr sz="2300" b="1">
                <a:solidFill>
                  <a:srgbClr val="0D1117"/>
                </a:solidFill>
                <a:latin typeface="Inter"/>
              </a:defRPr>
            </a:pPr>
            <a:r>
              <a:rPr>
                <a:latin typeface="Inter"/>
              </a:rPr>
              <a:t>Absolute risk and return</a:t>
            </a:r>
          </a:p>
        </p:txBody>
      </p:sp>
      <p:sp>
        <p:nvSpPr>
          <p:cNvPr id="5" name="Rectangle 4"/>
          <p:cNvSpPr/>
          <p:nvPr/>
        </p:nvSpPr>
        <p:spPr>
          <a:xfrm>
            <a:off x="640080" y="1115568"/>
            <a:ext cx="10908792" cy="18288"/>
          </a:xfrm>
          <a:prstGeom prst="rect">
            <a:avLst/>
          </a:prstGeom>
          <a:solidFill>
            <a:srgbClr val="0D1117"/>
          </a:solidFill>
          <a:ln>
            <a:solidFill>
              <a:srgbClr val="0D111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>
                <a:latin typeface="Inter"/>
              </a:defRPr>
            </a:pPr>
          </a:p>
        </p:txBody>
      </p:sp>
      <p:sp>
        <p:nvSpPr>
          <p:cNvPr id="6" name="Rectangle 5"/>
          <p:cNvSpPr/>
          <p:nvPr/>
        </p:nvSpPr>
        <p:spPr>
          <a:xfrm>
            <a:off x="11018520" y="502920"/>
            <a:ext cx="530352" cy="393192"/>
          </a:xfrm>
          <a:prstGeom prst="rect">
            <a:avLst/>
          </a:prstGeom>
          <a:solidFill>
            <a:srgbClr val="C6F432"/>
          </a:solidFill>
          <a:ln>
            <a:solidFill>
              <a:srgbClr val="C6F432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>
                <a:latin typeface="Inter"/>
              </a:defRPr>
            </a:pPr>
          </a:p>
        </p:txBody>
      </p:sp>
      <p:sp>
        <p:nvSpPr>
          <p:cNvPr id="7" name="TextBox 6"/>
          <p:cNvSpPr txBox="1"/>
          <p:nvPr/>
        </p:nvSpPr>
        <p:spPr>
          <a:xfrm>
            <a:off x="11045952" y="557784"/>
            <a:ext cx="475488" cy="182880"/>
          </a:xfrm>
          <a:prstGeom prst="rect">
            <a:avLst/>
          </a:prstGeom>
          <a:noFill/>
        </p:spPr>
        <p:txBody>
          <a:bodyPr wrap="none" lIns="9144" rIns="9144" tIns="9144" bIns="9144" anchor="t">
            <a:spAutoFit/>
          </a:bodyPr>
          <a:lstStyle/>
          <a:p>
            <a:pPr algn="ctr">
              <a:spcAft>
                <a:spcPts val="0"/>
              </a:spcAft>
              <a:defRPr sz="1000" b="1">
                <a:solidFill>
                  <a:srgbClr val="0D1117"/>
                </a:solidFill>
                <a:latin typeface="Inter"/>
              </a:defRPr>
            </a:pPr>
            <a:r>
              <a:rPr>
                <a:latin typeface="Inter"/>
              </a:rPr>
              <a:t>03</a:t>
            </a:r>
          </a:p>
        </p:txBody>
      </p:sp>
      <p:sp>
        <p:nvSpPr>
          <p:cNvPr id="8" name="Rectangle 7"/>
          <p:cNvSpPr/>
          <p:nvPr/>
        </p:nvSpPr>
        <p:spPr>
          <a:xfrm>
            <a:off x="640080" y="1325880"/>
            <a:ext cx="10908792" cy="2391156"/>
          </a:xfrm>
          <a:prstGeom prst="rect">
            <a:avLst/>
          </a:prstGeom>
          <a:solidFill>
            <a:srgbClr val="F5F7F9"/>
          </a:solidFill>
          <a:ln>
            <a:solidFill>
              <a:srgbClr val="E3E7E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>
                <a:latin typeface="Inter"/>
              </a:defRPr>
            </a:pPr>
          </a:p>
        </p:txBody>
      </p:sp>
      <p:sp>
        <p:nvSpPr>
          <p:cNvPr id="9" name="Rectangle 8"/>
          <p:cNvSpPr/>
          <p:nvPr/>
        </p:nvSpPr>
        <p:spPr>
          <a:xfrm>
            <a:off x="640080" y="1325880"/>
            <a:ext cx="54864" cy="2391156"/>
          </a:xfrm>
          <a:prstGeom prst="rect">
            <a:avLst/>
          </a:prstGeom>
          <a:solidFill>
            <a:srgbClr val="F2A93B"/>
          </a:solidFill>
          <a:ln>
            <a:solidFill>
              <a:srgbClr val="F2A93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>
                <a:latin typeface="Inter"/>
              </a:defRPr>
            </a:pPr>
          </a:p>
        </p:txBody>
      </p:sp>
      <p:sp>
        <p:nvSpPr>
          <p:cNvPr id="10" name="TextBox 9"/>
          <p:cNvSpPr txBox="1"/>
          <p:nvPr/>
        </p:nvSpPr>
        <p:spPr>
          <a:xfrm>
            <a:off x="804671" y="1435607"/>
            <a:ext cx="10616184" cy="228600"/>
          </a:xfrm>
          <a:prstGeom prst="rect">
            <a:avLst/>
          </a:prstGeom>
          <a:noFill/>
        </p:spPr>
        <p:txBody>
          <a:bodyPr wrap="none" lIns="9144" rIns="9144" tIns="9144" bIns="9144" anchor="t">
            <a:spAutoFit/>
          </a:bodyPr>
          <a:lstStyle/>
          <a:p>
            <a:pPr algn="l">
              <a:spcAft>
                <a:spcPts val="0"/>
              </a:spcAft>
              <a:defRPr sz="1000" b="1">
                <a:solidFill>
                  <a:srgbClr val="0D1117"/>
                </a:solidFill>
                <a:latin typeface="Inter"/>
              </a:defRPr>
            </a:pPr>
            <a:r>
              <a:rPr>
                <a:latin typeface="Inter"/>
              </a:rPr>
              <a:t>Not available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804671" y="1719072"/>
            <a:ext cx="10616184" cy="1906523"/>
          </a:xfrm>
          <a:prstGeom prst="rect">
            <a:avLst/>
          </a:prstGeom>
          <a:noFill/>
        </p:spPr>
        <p:txBody>
          <a:bodyPr wrap="none" lIns="9144" rIns="9144" tIns="9144" bIns="9144" anchor="t">
            <a:spAutoFit/>
          </a:bodyPr>
          <a:lstStyle/>
          <a:p>
            <a:pPr algn="l">
              <a:spcAft>
                <a:spcPts val="0"/>
              </a:spcAft>
              <a:defRPr sz="950" b="0">
                <a:solidFill>
                  <a:srgbClr val="4A5563"/>
                </a:solidFill>
                <a:latin typeface="Inter"/>
              </a:defRPr>
            </a:pPr>
            <a:r>
              <a:rPr>
                <a:latin typeface="Inter"/>
              </a:rPr>
              <a:t>Not available — governed comparison result missing [S1].</a:t>
            </a:r>
          </a:p>
        </p:txBody>
      </p:sp>
      <p:sp>
        <p:nvSpPr>
          <p:cNvPr id="12" name="Rectangle 11"/>
          <p:cNvSpPr/>
          <p:nvPr/>
        </p:nvSpPr>
        <p:spPr>
          <a:xfrm>
            <a:off x="640080" y="3826763"/>
            <a:ext cx="10908792" cy="2391156"/>
          </a:xfrm>
          <a:prstGeom prst="rect">
            <a:avLst/>
          </a:prstGeom>
          <a:solidFill>
            <a:srgbClr val="F5F7F9"/>
          </a:solidFill>
          <a:ln>
            <a:solidFill>
              <a:srgbClr val="E3E7E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>
                <a:latin typeface="Inter"/>
              </a:defRPr>
            </a:pPr>
          </a:p>
        </p:txBody>
      </p:sp>
      <p:sp>
        <p:nvSpPr>
          <p:cNvPr id="13" name="Rectangle 12"/>
          <p:cNvSpPr/>
          <p:nvPr/>
        </p:nvSpPr>
        <p:spPr>
          <a:xfrm>
            <a:off x="640080" y="3826763"/>
            <a:ext cx="54864" cy="2391156"/>
          </a:xfrm>
          <a:prstGeom prst="rect">
            <a:avLst/>
          </a:prstGeom>
          <a:solidFill>
            <a:srgbClr val="0D1117"/>
          </a:solidFill>
          <a:ln>
            <a:solidFill>
              <a:srgbClr val="0D111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>
                <a:latin typeface="Inter"/>
              </a:defRPr>
            </a:pPr>
          </a:p>
        </p:txBody>
      </p:sp>
      <p:sp>
        <p:nvSpPr>
          <p:cNvPr id="14" name="TextBox 13"/>
          <p:cNvSpPr txBox="1"/>
          <p:nvPr/>
        </p:nvSpPr>
        <p:spPr>
          <a:xfrm>
            <a:off x="804671" y="3936491"/>
            <a:ext cx="10616184" cy="228600"/>
          </a:xfrm>
          <a:prstGeom prst="rect">
            <a:avLst/>
          </a:prstGeom>
          <a:noFill/>
        </p:spPr>
        <p:txBody>
          <a:bodyPr wrap="none" lIns="9144" rIns="9144" tIns="9144" bIns="9144" anchor="t">
            <a:spAutoFit/>
          </a:bodyPr>
          <a:lstStyle/>
          <a:p>
            <a:pPr algn="l">
              <a:spcAft>
                <a:spcPts val="0"/>
              </a:spcAft>
              <a:defRPr sz="1000" b="1">
                <a:solidFill>
                  <a:srgbClr val="0D1117"/>
                </a:solidFill>
                <a:latin typeface="Inter"/>
              </a:defRPr>
            </a:pPr>
            <a:r>
              <a:rPr>
                <a:latin typeface="Inter"/>
              </a:rPr>
              <a:t>Analysis — Comparison unavailable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804671" y="4219955"/>
            <a:ext cx="10616184" cy="1906524"/>
          </a:xfrm>
          <a:prstGeom prst="rect">
            <a:avLst/>
          </a:prstGeom>
          <a:noFill/>
        </p:spPr>
        <p:txBody>
          <a:bodyPr wrap="none" lIns="9144" rIns="9144" tIns="9144" bIns="9144" anchor="t">
            <a:spAutoFit/>
          </a:bodyPr>
          <a:lstStyle/>
          <a:p>
            <a:pPr algn="l">
              <a:spcAft>
                <a:spcPts val="0"/>
              </a:spcAft>
              <a:defRPr sz="950" b="0">
                <a:solidFill>
                  <a:srgbClr val="4A5563"/>
                </a:solidFill>
                <a:latin typeface="Inter"/>
              </a:defRPr>
            </a:pPr>
            <a:r>
              <a:rPr>
                <a:latin typeface="Inter"/>
              </a:rPr>
              <a:t>Observation: Comparative metrics are unavailable [S1]. Why it matters: No ranking is supportable. Uncertainty: Missing evidence may differ by manager. What would change the view: A governed comparison…</a:t>
            </a:r>
          </a:p>
        </p:txBody>
      </p:sp>
      <p:sp>
        <p:nvSpPr>
          <p:cNvPr id="16" name="Rectangle 15"/>
          <p:cNvSpPr/>
          <p:nvPr/>
        </p:nvSpPr>
        <p:spPr>
          <a:xfrm>
            <a:off x="640080" y="6446520"/>
            <a:ext cx="10908792" cy="9144"/>
          </a:xfrm>
          <a:prstGeom prst="rect">
            <a:avLst/>
          </a:prstGeom>
          <a:solidFill>
            <a:srgbClr val="E3E7EC"/>
          </a:solidFill>
          <a:ln>
            <a:solidFill>
              <a:srgbClr val="E3E7E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>
                <a:latin typeface="Inter"/>
              </a:defRPr>
            </a:pPr>
          </a:p>
        </p:txBody>
      </p:sp>
      <p:sp>
        <p:nvSpPr>
          <p:cNvPr id="17" name="TextBox 16"/>
          <p:cNvSpPr txBox="1"/>
          <p:nvPr/>
        </p:nvSpPr>
        <p:spPr>
          <a:xfrm>
            <a:off x="640080" y="6501384"/>
            <a:ext cx="4297680" cy="146304"/>
          </a:xfrm>
          <a:prstGeom prst="rect">
            <a:avLst/>
          </a:prstGeom>
          <a:noFill/>
        </p:spPr>
        <p:txBody>
          <a:bodyPr wrap="none" lIns="9144" rIns="9144" tIns="9144" bIns="9144" anchor="t">
            <a:spAutoFit/>
          </a:bodyPr>
          <a:lstStyle/>
          <a:p>
            <a:pPr algn="l">
              <a:spcAft>
                <a:spcPts val="0"/>
              </a:spcAft>
              <a:defRPr sz="650" b="0">
                <a:solidFill>
                  <a:srgbClr val="8A94A1"/>
                </a:solidFill>
                <a:latin typeface="Inter"/>
              </a:defRPr>
            </a:pPr>
            <a:r>
              <a:rPr>
                <a:latin typeface="Inter"/>
              </a:rPr>
              <a:t>Sources: S1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4480560" y="6501384"/>
            <a:ext cx="5303520" cy="146304"/>
          </a:xfrm>
          <a:prstGeom prst="rect">
            <a:avLst/>
          </a:prstGeom>
          <a:noFill/>
        </p:spPr>
        <p:txBody>
          <a:bodyPr wrap="none" lIns="9144" rIns="9144" tIns="9144" bIns="9144" anchor="t">
            <a:spAutoFit/>
          </a:bodyPr>
          <a:lstStyle/>
          <a:p>
            <a:pPr algn="ctr">
              <a:spcAft>
                <a:spcPts val="0"/>
              </a:spcAft>
              <a:defRPr sz="650" b="0">
                <a:solidFill>
                  <a:srgbClr val="8A94A1"/>
                </a:solidFill>
                <a:latin typeface="Inter"/>
              </a:defRPr>
            </a:pPr>
            <a:r>
              <a:rPr>
                <a:latin typeface="Inter"/>
              </a:rPr>
              <a:t>Confidential — prepared for internal investment use · Data as of 2025-12-31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10287000" y="6501384"/>
            <a:ext cx="1261872" cy="146304"/>
          </a:xfrm>
          <a:prstGeom prst="rect">
            <a:avLst/>
          </a:prstGeom>
          <a:noFill/>
        </p:spPr>
        <p:txBody>
          <a:bodyPr wrap="none" lIns="9144" rIns="9144" tIns="9144" bIns="9144" anchor="t">
            <a:spAutoFit/>
          </a:bodyPr>
          <a:lstStyle/>
          <a:p>
            <a:pPr algn="r">
              <a:spcAft>
                <a:spcPts val="0"/>
              </a:spcAft>
              <a:defRPr sz="650" b="0">
                <a:solidFill>
                  <a:srgbClr val="8A94A1"/>
                </a:solidFill>
                <a:latin typeface="Inter"/>
              </a:defRPr>
            </a:pPr>
            <a:r>
              <a:rPr>
                <a:latin typeface="Inter"/>
              </a:rPr>
              <a:t>4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solidFill>
              <a:srgbClr val="FFFFF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>
                <a:latin typeface="Inter"/>
              </a:defRPr>
            </a:pPr>
          </a:p>
        </p:txBody>
      </p:sp>
      <p:sp>
        <p:nvSpPr>
          <p:cNvPr id="3" name="TextBox 2"/>
          <p:cNvSpPr txBox="1"/>
          <p:nvPr/>
        </p:nvSpPr>
        <p:spPr>
          <a:xfrm>
            <a:off x="640080" y="329184"/>
            <a:ext cx="9875520" cy="182880"/>
          </a:xfrm>
          <a:prstGeom prst="rect">
            <a:avLst/>
          </a:prstGeom>
          <a:noFill/>
        </p:spPr>
        <p:txBody>
          <a:bodyPr wrap="none" lIns="9144" rIns="9144" tIns="9144" bIns="9144" anchor="t">
            <a:spAutoFit/>
          </a:bodyPr>
          <a:lstStyle/>
          <a:p>
            <a:pPr algn="l">
              <a:spcAft>
                <a:spcPts val="0"/>
              </a:spcAft>
              <a:defRPr sz="750" b="1">
                <a:solidFill>
                  <a:srgbClr val="4F6B00"/>
                </a:solidFill>
                <a:latin typeface="Inter"/>
              </a:defRPr>
            </a:pPr>
            <a:r>
              <a:rPr>
                <a:latin typeface="Inter"/>
              </a:rPr>
              <a:t>RELATIVE AND CAPTURE EVIDENCE IS UNAVAILABLE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40080" y="566928"/>
            <a:ext cx="10058400" cy="530352"/>
          </a:xfrm>
          <a:prstGeom prst="rect">
            <a:avLst/>
          </a:prstGeom>
          <a:noFill/>
        </p:spPr>
        <p:txBody>
          <a:bodyPr wrap="none" lIns="9144" rIns="9144" tIns="9144" bIns="9144" anchor="t">
            <a:spAutoFit/>
          </a:bodyPr>
          <a:lstStyle/>
          <a:p>
            <a:pPr algn="l">
              <a:spcAft>
                <a:spcPts val="0"/>
              </a:spcAft>
              <a:defRPr sz="2300" b="1">
                <a:solidFill>
                  <a:srgbClr val="0D1117"/>
                </a:solidFill>
                <a:latin typeface="Inter"/>
              </a:defRPr>
            </a:pPr>
            <a:r>
              <a:rPr>
                <a:latin typeface="Inter"/>
              </a:rPr>
              <a:t>Relative performance</a:t>
            </a:r>
          </a:p>
        </p:txBody>
      </p:sp>
      <p:sp>
        <p:nvSpPr>
          <p:cNvPr id="5" name="Rectangle 4"/>
          <p:cNvSpPr/>
          <p:nvPr/>
        </p:nvSpPr>
        <p:spPr>
          <a:xfrm>
            <a:off x="640080" y="1115568"/>
            <a:ext cx="10908792" cy="18288"/>
          </a:xfrm>
          <a:prstGeom prst="rect">
            <a:avLst/>
          </a:prstGeom>
          <a:solidFill>
            <a:srgbClr val="0D1117"/>
          </a:solidFill>
          <a:ln>
            <a:solidFill>
              <a:srgbClr val="0D111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>
                <a:latin typeface="Inter"/>
              </a:defRPr>
            </a:pPr>
          </a:p>
        </p:txBody>
      </p:sp>
      <p:sp>
        <p:nvSpPr>
          <p:cNvPr id="6" name="Rectangle 5"/>
          <p:cNvSpPr/>
          <p:nvPr/>
        </p:nvSpPr>
        <p:spPr>
          <a:xfrm>
            <a:off x="11018520" y="502920"/>
            <a:ext cx="530352" cy="393192"/>
          </a:xfrm>
          <a:prstGeom prst="rect">
            <a:avLst/>
          </a:prstGeom>
          <a:solidFill>
            <a:srgbClr val="C6F432"/>
          </a:solidFill>
          <a:ln>
            <a:solidFill>
              <a:srgbClr val="C6F432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>
                <a:latin typeface="Inter"/>
              </a:defRPr>
            </a:pPr>
          </a:p>
        </p:txBody>
      </p:sp>
      <p:sp>
        <p:nvSpPr>
          <p:cNvPr id="7" name="TextBox 6"/>
          <p:cNvSpPr txBox="1"/>
          <p:nvPr/>
        </p:nvSpPr>
        <p:spPr>
          <a:xfrm>
            <a:off x="11045952" y="557784"/>
            <a:ext cx="475488" cy="182880"/>
          </a:xfrm>
          <a:prstGeom prst="rect">
            <a:avLst/>
          </a:prstGeom>
          <a:noFill/>
        </p:spPr>
        <p:txBody>
          <a:bodyPr wrap="none" lIns="9144" rIns="9144" tIns="9144" bIns="9144" anchor="t">
            <a:spAutoFit/>
          </a:bodyPr>
          <a:lstStyle/>
          <a:p>
            <a:pPr algn="ctr">
              <a:spcAft>
                <a:spcPts val="0"/>
              </a:spcAft>
              <a:defRPr sz="1000" b="1">
                <a:solidFill>
                  <a:srgbClr val="0D1117"/>
                </a:solidFill>
                <a:latin typeface="Inter"/>
              </a:defRPr>
            </a:pPr>
            <a:r>
              <a:rPr>
                <a:latin typeface="Inter"/>
              </a:rPr>
              <a:t>04</a:t>
            </a:r>
          </a:p>
        </p:txBody>
      </p:sp>
      <p:sp>
        <p:nvSpPr>
          <p:cNvPr id="8" name="Rectangle 7"/>
          <p:cNvSpPr/>
          <p:nvPr/>
        </p:nvSpPr>
        <p:spPr>
          <a:xfrm>
            <a:off x="640080" y="1325880"/>
            <a:ext cx="10908792" cy="2374035"/>
          </a:xfrm>
          <a:prstGeom prst="rect">
            <a:avLst/>
          </a:prstGeom>
          <a:solidFill>
            <a:srgbClr val="F5F7F9"/>
          </a:solidFill>
          <a:ln>
            <a:solidFill>
              <a:srgbClr val="E3E7E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>
                <a:latin typeface="Inter"/>
              </a:defRPr>
            </a:pPr>
          </a:p>
        </p:txBody>
      </p:sp>
      <p:sp>
        <p:nvSpPr>
          <p:cNvPr id="9" name="Rectangle 8"/>
          <p:cNvSpPr/>
          <p:nvPr/>
        </p:nvSpPr>
        <p:spPr>
          <a:xfrm>
            <a:off x="640080" y="1325880"/>
            <a:ext cx="54864" cy="2374035"/>
          </a:xfrm>
          <a:prstGeom prst="rect">
            <a:avLst/>
          </a:prstGeom>
          <a:solidFill>
            <a:srgbClr val="F2A93B"/>
          </a:solidFill>
          <a:ln>
            <a:solidFill>
              <a:srgbClr val="F2A93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>
                <a:latin typeface="Inter"/>
              </a:defRPr>
            </a:pPr>
          </a:p>
        </p:txBody>
      </p:sp>
      <p:sp>
        <p:nvSpPr>
          <p:cNvPr id="10" name="TextBox 9"/>
          <p:cNvSpPr txBox="1"/>
          <p:nvPr/>
        </p:nvSpPr>
        <p:spPr>
          <a:xfrm>
            <a:off x="804671" y="1435607"/>
            <a:ext cx="10616184" cy="228600"/>
          </a:xfrm>
          <a:prstGeom prst="rect">
            <a:avLst/>
          </a:prstGeom>
          <a:noFill/>
        </p:spPr>
        <p:txBody>
          <a:bodyPr wrap="none" lIns="9144" rIns="9144" tIns="9144" bIns="9144" anchor="t">
            <a:spAutoFit/>
          </a:bodyPr>
          <a:lstStyle/>
          <a:p>
            <a:pPr algn="l">
              <a:spcAft>
                <a:spcPts val="0"/>
              </a:spcAft>
              <a:defRPr sz="1000" b="1">
                <a:solidFill>
                  <a:srgbClr val="0D1117"/>
                </a:solidFill>
                <a:latin typeface="Inter"/>
              </a:defRPr>
            </a:pPr>
            <a:r>
              <a:rPr>
                <a:latin typeface="Inter"/>
              </a:rPr>
              <a:t>Not available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804671" y="1719072"/>
            <a:ext cx="10616184" cy="1889403"/>
          </a:xfrm>
          <a:prstGeom prst="rect">
            <a:avLst/>
          </a:prstGeom>
          <a:noFill/>
        </p:spPr>
        <p:txBody>
          <a:bodyPr wrap="none" lIns="9144" rIns="9144" tIns="9144" bIns="9144" anchor="t">
            <a:spAutoFit/>
          </a:bodyPr>
          <a:lstStyle/>
          <a:p>
            <a:pPr algn="l">
              <a:spcAft>
                <a:spcPts val="0"/>
              </a:spcAft>
              <a:defRPr sz="950" b="0">
                <a:solidFill>
                  <a:srgbClr val="4A5563"/>
                </a:solidFill>
                <a:latin typeface="Inter"/>
              </a:defRPr>
            </a:pPr>
            <a:r>
              <a:rPr>
                <a:latin typeface="Inter"/>
              </a:rPr>
              <a:t>Not available — relative-return result missing [S1].</a:t>
            </a:r>
          </a:p>
        </p:txBody>
      </p:sp>
      <p:sp>
        <p:nvSpPr>
          <p:cNvPr id="12" name="Rectangle 11"/>
          <p:cNvSpPr/>
          <p:nvPr/>
        </p:nvSpPr>
        <p:spPr>
          <a:xfrm>
            <a:off x="640080" y="3809643"/>
            <a:ext cx="10908792" cy="2408276"/>
          </a:xfrm>
          <a:prstGeom prst="rect">
            <a:avLst/>
          </a:prstGeom>
          <a:solidFill>
            <a:srgbClr val="F5F7F9"/>
          </a:solidFill>
          <a:ln>
            <a:solidFill>
              <a:srgbClr val="E3E7E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>
                <a:latin typeface="Inter"/>
              </a:defRPr>
            </a:pPr>
          </a:p>
        </p:txBody>
      </p:sp>
      <p:sp>
        <p:nvSpPr>
          <p:cNvPr id="13" name="Rectangle 12"/>
          <p:cNvSpPr/>
          <p:nvPr/>
        </p:nvSpPr>
        <p:spPr>
          <a:xfrm>
            <a:off x="640080" y="3809643"/>
            <a:ext cx="54864" cy="2408276"/>
          </a:xfrm>
          <a:prstGeom prst="rect">
            <a:avLst/>
          </a:prstGeom>
          <a:solidFill>
            <a:srgbClr val="0D1117"/>
          </a:solidFill>
          <a:ln>
            <a:solidFill>
              <a:srgbClr val="0D111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>
                <a:latin typeface="Inter"/>
              </a:defRPr>
            </a:pPr>
          </a:p>
        </p:txBody>
      </p:sp>
      <p:sp>
        <p:nvSpPr>
          <p:cNvPr id="14" name="TextBox 13"/>
          <p:cNvSpPr txBox="1"/>
          <p:nvPr/>
        </p:nvSpPr>
        <p:spPr>
          <a:xfrm>
            <a:off x="804671" y="3919371"/>
            <a:ext cx="10616184" cy="228600"/>
          </a:xfrm>
          <a:prstGeom prst="rect">
            <a:avLst/>
          </a:prstGeom>
          <a:noFill/>
        </p:spPr>
        <p:txBody>
          <a:bodyPr wrap="none" lIns="9144" rIns="9144" tIns="9144" bIns="9144" anchor="t">
            <a:spAutoFit/>
          </a:bodyPr>
          <a:lstStyle/>
          <a:p>
            <a:pPr algn="l">
              <a:spcAft>
                <a:spcPts val="0"/>
              </a:spcAft>
              <a:defRPr sz="1000" b="1">
                <a:solidFill>
                  <a:srgbClr val="0D1117"/>
                </a:solidFill>
                <a:latin typeface="Inter"/>
              </a:defRPr>
            </a:pPr>
            <a:r>
              <a:rPr>
                <a:latin typeface="Inter"/>
              </a:rPr>
              <a:t>Analysis — Relative evidence missing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804671" y="4202835"/>
            <a:ext cx="10616184" cy="1923644"/>
          </a:xfrm>
          <a:prstGeom prst="rect">
            <a:avLst/>
          </a:prstGeom>
          <a:noFill/>
        </p:spPr>
        <p:txBody>
          <a:bodyPr wrap="none" lIns="9144" rIns="9144" tIns="9144" bIns="9144" anchor="t">
            <a:spAutoFit/>
          </a:bodyPr>
          <a:lstStyle/>
          <a:p>
            <a:pPr algn="l">
              <a:spcAft>
                <a:spcPts val="0"/>
              </a:spcAft>
              <a:defRPr sz="950" b="0">
                <a:solidFill>
                  <a:srgbClr val="4A5563"/>
                </a:solidFill>
                <a:latin typeface="Inter"/>
              </a:defRPr>
            </a:pPr>
            <a:r>
              <a:rPr>
                <a:latin typeface="Inter"/>
              </a:rPr>
              <a:t>Observation: Relative evidence is unavailable [S1]. Why it matters: Benchmark-relative behavior is unknown. Uncertainty: Capture may vary by window. What would change the view: A governed relative-return result.</a:t>
            </a:r>
          </a:p>
        </p:txBody>
      </p:sp>
      <p:sp>
        <p:nvSpPr>
          <p:cNvPr id="16" name="Rectangle 15"/>
          <p:cNvSpPr/>
          <p:nvPr/>
        </p:nvSpPr>
        <p:spPr>
          <a:xfrm>
            <a:off x="640080" y="6446520"/>
            <a:ext cx="10908792" cy="9144"/>
          </a:xfrm>
          <a:prstGeom prst="rect">
            <a:avLst/>
          </a:prstGeom>
          <a:solidFill>
            <a:srgbClr val="E3E7EC"/>
          </a:solidFill>
          <a:ln>
            <a:solidFill>
              <a:srgbClr val="E3E7E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>
                <a:latin typeface="Inter"/>
              </a:defRPr>
            </a:pPr>
          </a:p>
        </p:txBody>
      </p:sp>
      <p:sp>
        <p:nvSpPr>
          <p:cNvPr id="17" name="TextBox 16"/>
          <p:cNvSpPr txBox="1"/>
          <p:nvPr/>
        </p:nvSpPr>
        <p:spPr>
          <a:xfrm>
            <a:off x="640080" y="6501384"/>
            <a:ext cx="4297680" cy="146304"/>
          </a:xfrm>
          <a:prstGeom prst="rect">
            <a:avLst/>
          </a:prstGeom>
          <a:noFill/>
        </p:spPr>
        <p:txBody>
          <a:bodyPr wrap="none" lIns="9144" rIns="9144" tIns="9144" bIns="9144" anchor="t">
            <a:spAutoFit/>
          </a:bodyPr>
          <a:lstStyle/>
          <a:p>
            <a:pPr algn="l">
              <a:spcAft>
                <a:spcPts val="0"/>
              </a:spcAft>
              <a:defRPr sz="650" b="0">
                <a:solidFill>
                  <a:srgbClr val="8A94A1"/>
                </a:solidFill>
                <a:latin typeface="Inter"/>
              </a:defRPr>
            </a:pPr>
            <a:r>
              <a:rPr>
                <a:latin typeface="Inter"/>
              </a:rPr>
              <a:t>Sources: S1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4480560" y="6501384"/>
            <a:ext cx="5303520" cy="146304"/>
          </a:xfrm>
          <a:prstGeom prst="rect">
            <a:avLst/>
          </a:prstGeom>
          <a:noFill/>
        </p:spPr>
        <p:txBody>
          <a:bodyPr wrap="none" lIns="9144" rIns="9144" tIns="9144" bIns="9144" anchor="t">
            <a:spAutoFit/>
          </a:bodyPr>
          <a:lstStyle/>
          <a:p>
            <a:pPr algn="ctr">
              <a:spcAft>
                <a:spcPts val="0"/>
              </a:spcAft>
              <a:defRPr sz="650" b="0">
                <a:solidFill>
                  <a:srgbClr val="8A94A1"/>
                </a:solidFill>
                <a:latin typeface="Inter"/>
              </a:defRPr>
            </a:pPr>
            <a:r>
              <a:rPr>
                <a:latin typeface="Inter"/>
              </a:rPr>
              <a:t>Confidential — prepared for internal investment use · Data as of 2025-12-31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10287000" y="6501384"/>
            <a:ext cx="1261872" cy="146304"/>
          </a:xfrm>
          <a:prstGeom prst="rect">
            <a:avLst/>
          </a:prstGeom>
          <a:noFill/>
        </p:spPr>
        <p:txBody>
          <a:bodyPr wrap="none" lIns="9144" rIns="9144" tIns="9144" bIns="9144" anchor="t">
            <a:spAutoFit/>
          </a:bodyPr>
          <a:lstStyle/>
          <a:p>
            <a:pPr algn="r">
              <a:spcAft>
                <a:spcPts val="0"/>
              </a:spcAft>
              <a:defRPr sz="650" b="0">
                <a:solidFill>
                  <a:srgbClr val="8A94A1"/>
                </a:solidFill>
                <a:latin typeface="Inter"/>
              </a:defRPr>
            </a:pPr>
            <a:r>
              <a:rPr>
                <a:latin typeface="Inter"/>
              </a:rPr>
              <a:t>5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solidFill>
              <a:srgbClr val="FFFFF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>
                <a:latin typeface="Inter"/>
              </a:defRPr>
            </a:pPr>
          </a:p>
        </p:txBody>
      </p:sp>
      <p:sp>
        <p:nvSpPr>
          <p:cNvPr id="3" name="TextBox 2"/>
          <p:cNvSpPr txBox="1"/>
          <p:nvPr/>
        </p:nvSpPr>
        <p:spPr>
          <a:xfrm>
            <a:off x="640080" y="329184"/>
            <a:ext cx="9875520" cy="182880"/>
          </a:xfrm>
          <a:prstGeom prst="rect">
            <a:avLst/>
          </a:prstGeom>
          <a:noFill/>
        </p:spPr>
        <p:txBody>
          <a:bodyPr wrap="none" lIns="9144" rIns="9144" tIns="9144" bIns="9144" anchor="t">
            <a:spAutoFit/>
          </a:bodyPr>
          <a:lstStyle/>
          <a:p>
            <a:pPr algn="l">
              <a:spcAft>
                <a:spcPts val="0"/>
              </a:spcAft>
              <a:defRPr sz="750" b="1">
                <a:solidFill>
                  <a:srgbClr val="4F6B00"/>
                </a:solidFill>
                <a:latin typeface="Inter"/>
              </a:defRPr>
            </a:pPr>
            <a:r>
              <a:rPr>
                <a:latin typeface="Inter"/>
              </a:rPr>
              <a:t>PERSISTENCE AND CORRELATION EVIDENCE IS UNAVAILABLE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40080" y="566928"/>
            <a:ext cx="10058400" cy="530352"/>
          </a:xfrm>
          <a:prstGeom prst="rect">
            <a:avLst/>
          </a:prstGeom>
          <a:noFill/>
        </p:spPr>
        <p:txBody>
          <a:bodyPr wrap="none" lIns="9144" rIns="9144" tIns="9144" bIns="9144" anchor="t">
            <a:spAutoFit/>
          </a:bodyPr>
          <a:lstStyle/>
          <a:p>
            <a:pPr algn="l">
              <a:spcAft>
                <a:spcPts val="0"/>
              </a:spcAft>
              <a:defRPr sz="2300" b="1">
                <a:solidFill>
                  <a:srgbClr val="0D1117"/>
                </a:solidFill>
                <a:latin typeface="Inter"/>
              </a:defRPr>
            </a:pPr>
            <a:r>
              <a:rPr>
                <a:latin typeface="Inter"/>
              </a:rPr>
              <a:t>Reliability and date-window sensitivity</a:t>
            </a:r>
          </a:p>
        </p:txBody>
      </p:sp>
      <p:sp>
        <p:nvSpPr>
          <p:cNvPr id="5" name="Rectangle 4"/>
          <p:cNvSpPr/>
          <p:nvPr/>
        </p:nvSpPr>
        <p:spPr>
          <a:xfrm>
            <a:off x="640080" y="1115568"/>
            <a:ext cx="10908792" cy="18288"/>
          </a:xfrm>
          <a:prstGeom prst="rect">
            <a:avLst/>
          </a:prstGeom>
          <a:solidFill>
            <a:srgbClr val="0D1117"/>
          </a:solidFill>
          <a:ln>
            <a:solidFill>
              <a:srgbClr val="0D111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>
                <a:latin typeface="Inter"/>
              </a:defRPr>
            </a:pPr>
          </a:p>
        </p:txBody>
      </p:sp>
      <p:sp>
        <p:nvSpPr>
          <p:cNvPr id="6" name="Rectangle 5"/>
          <p:cNvSpPr/>
          <p:nvPr/>
        </p:nvSpPr>
        <p:spPr>
          <a:xfrm>
            <a:off x="11018520" y="502920"/>
            <a:ext cx="530352" cy="393192"/>
          </a:xfrm>
          <a:prstGeom prst="rect">
            <a:avLst/>
          </a:prstGeom>
          <a:solidFill>
            <a:srgbClr val="C6F432"/>
          </a:solidFill>
          <a:ln>
            <a:solidFill>
              <a:srgbClr val="C6F432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>
                <a:latin typeface="Inter"/>
              </a:defRPr>
            </a:pPr>
          </a:p>
        </p:txBody>
      </p:sp>
      <p:sp>
        <p:nvSpPr>
          <p:cNvPr id="7" name="TextBox 6"/>
          <p:cNvSpPr txBox="1"/>
          <p:nvPr/>
        </p:nvSpPr>
        <p:spPr>
          <a:xfrm>
            <a:off x="11045952" y="557784"/>
            <a:ext cx="475488" cy="182880"/>
          </a:xfrm>
          <a:prstGeom prst="rect">
            <a:avLst/>
          </a:prstGeom>
          <a:noFill/>
        </p:spPr>
        <p:txBody>
          <a:bodyPr wrap="none" lIns="9144" rIns="9144" tIns="9144" bIns="9144" anchor="t">
            <a:spAutoFit/>
          </a:bodyPr>
          <a:lstStyle/>
          <a:p>
            <a:pPr algn="ctr">
              <a:spcAft>
                <a:spcPts val="0"/>
              </a:spcAft>
              <a:defRPr sz="1000" b="1">
                <a:solidFill>
                  <a:srgbClr val="0D1117"/>
                </a:solidFill>
                <a:latin typeface="Inter"/>
              </a:defRPr>
            </a:pPr>
            <a:r>
              <a:rPr>
                <a:latin typeface="Inter"/>
              </a:rPr>
              <a:t>05</a:t>
            </a:r>
          </a:p>
        </p:txBody>
      </p:sp>
      <p:sp>
        <p:nvSpPr>
          <p:cNvPr id="8" name="Rectangle 7"/>
          <p:cNvSpPr/>
          <p:nvPr/>
        </p:nvSpPr>
        <p:spPr>
          <a:xfrm>
            <a:off x="640080" y="1325880"/>
            <a:ext cx="10908792" cy="2391156"/>
          </a:xfrm>
          <a:prstGeom prst="rect">
            <a:avLst/>
          </a:prstGeom>
          <a:solidFill>
            <a:srgbClr val="F5F7F9"/>
          </a:solidFill>
          <a:ln>
            <a:solidFill>
              <a:srgbClr val="E3E7E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>
                <a:latin typeface="Inter"/>
              </a:defRPr>
            </a:pPr>
          </a:p>
        </p:txBody>
      </p:sp>
      <p:sp>
        <p:nvSpPr>
          <p:cNvPr id="9" name="Rectangle 8"/>
          <p:cNvSpPr/>
          <p:nvPr/>
        </p:nvSpPr>
        <p:spPr>
          <a:xfrm>
            <a:off x="640080" y="1325880"/>
            <a:ext cx="54864" cy="2391156"/>
          </a:xfrm>
          <a:prstGeom prst="rect">
            <a:avLst/>
          </a:prstGeom>
          <a:solidFill>
            <a:srgbClr val="F2A93B"/>
          </a:solidFill>
          <a:ln>
            <a:solidFill>
              <a:srgbClr val="F2A93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>
                <a:latin typeface="Inter"/>
              </a:defRPr>
            </a:pPr>
          </a:p>
        </p:txBody>
      </p:sp>
      <p:sp>
        <p:nvSpPr>
          <p:cNvPr id="10" name="TextBox 9"/>
          <p:cNvSpPr txBox="1"/>
          <p:nvPr/>
        </p:nvSpPr>
        <p:spPr>
          <a:xfrm>
            <a:off x="804671" y="1435607"/>
            <a:ext cx="10616184" cy="228600"/>
          </a:xfrm>
          <a:prstGeom prst="rect">
            <a:avLst/>
          </a:prstGeom>
          <a:noFill/>
        </p:spPr>
        <p:txBody>
          <a:bodyPr wrap="none" lIns="9144" rIns="9144" tIns="9144" bIns="9144" anchor="t">
            <a:spAutoFit/>
          </a:bodyPr>
          <a:lstStyle/>
          <a:p>
            <a:pPr algn="l">
              <a:spcAft>
                <a:spcPts val="0"/>
              </a:spcAft>
              <a:defRPr sz="1000" b="1">
                <a:solidFill>
                  <a:srgbClr val="0D1117"/>
                </a:solidFill>
                <a:latin typeface="Inter"/>
              </a:defRPr>
            </a:pPr>
            <a:r>
              <a:rPr>
                <a:latin typeface="Inter"/>
              </a:rPr>
              <a:t>Not available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804671" y="1719072"/>
            <a:ext cx="10616184" cy="1906523"/>
          </a:xfrm>
          <a:prstGeom prst="rect">
            <a:avLst/>
          </a:prstGeom>
          <a:noFill/>
        </p:spPr>
        <p:txBody>
          <a:bodyPr wrap="none" lIns="9144" rIns="9144" tIns="9144" bIns="9144" anchor="t">
            <a:spAutoFit/>
          </a:bodyPr>
          <a:lstStyle/>
          <a:p>
            <a:pPr algn="l">
              <a:spcAft>
                <a:spcPts val="0"/>
              </a:spcAft>
              <a:defRPr sz="950" b="0">
                <a:solidFill>
                  <a:srgbClr val="4A5563"/>
                </a:solidFill>
                <a:latin typeface="Inter"/>
              </a:defRPr>
            </a:pPr>
            <a:r>
              <a:rPr>
                <a:latin typeface="Inter"/>
              </a:rPr>
              <a:t>Not available — governed robustness and correlation results missing [S1].</a:t>
            </a:r>
          </a:p>
        </p:txBody>
      </p:sp>
      <p:sp>
        <p:nvSpPr>
          <p:cNvPr id="12" name="Rectangle 11"/>
          <p:cNvSpPr/>
          <p:nvPr/>
        </p:nvSpPr>
        <p:spPr>
          <a:xfrm>
            <a:off x="640080" y="3826763"/>
            <a:ext cx="10908792" cy="2391156"/>
          </a:xfrm>
          <a:prstGeom prst="rect">
            <a:avLst/>
          </a:prstGeom>
          <a:solidFill>
            <a:srgbClr val="F5F7F9"/>
          </a:solidFill>
          <a:ln>
            <a:solidFill>
              <a:srgbClr val="E3E7E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>
                <a:latin typeface="Inter"/>
              </a:defRPr>
            </a:pPr>
          </a:p>
        </p:txBody>
      </p:sp>
      <p:sp>
        <p:nvSpPr>
          <p:cNvPr id="13" name="Rectangle 12"/>
          <p:cNvSpPr/>
          <p:nvPr/>
        </p:nvSpPr>
        <p:spPr>
          <a:xfrm>
            <a:off x="640080" y="3826763"/>
            <a:ext cx="54864" cy="2391156"/>
          </a:xfrm>
          <a:prstGeom prst="rect">
            <a:avLst/>
          </a:prstGeom>
          <a:solidFill>
            <a:srgbClr val="0D1117"/>
          </a:solidFill>
          <a:ln>
            <a:solidFill>
              <a:srgbClr val="0D111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>
                <a:latin typeface="Inter"/>
              </a:defRPr>
            </a:pPr>
          </a:p>
        </p:txBody>
      </p:sp>
      <p:sp>
        <p:nvSpPr>
          <p:cNvPr id="14" name="TextBox 13"/>
          <p:cNvSpPr txBox="1"/>
          <p:nvPr/>
        </p:nvSpPr>
        <p:spPr>
          <a:xfrm>
            <a:off x="804671" y="3936491"/>
            <a:ext cx="10616184" cy="228600"/>
          </a:xfrm>
          <a:prstGeom prst="rect">
            <a:avLst/>
          </a:prstGeom>
          <a:noFill/>
        </p:spPr>
        <p:txBody>
          <a:bodyPr wrap="none" lIns="9144" rIns="9144" tIns="9144" bIns="9144" anchor="t">
            <a:spAutoFit/>
          </a:bodyPr>
          <a:lstStyle/>
          <a:p>
            <a:pPr algn="l">
              <a:spcAft>
                <a:spcPts val="0"/>
              </a:spcAft>
              <a:defRPr sz="1000" b="1">
                <a:solidFill>
                  <a:srgbClr val="0D1117"/>
                </a:solidFill>
                <a:latin typeface="Inter"/>
              </a:defRPr>
            </a:pPr>
            <a:r>
              <a:rPr>
                <a:latin typeface="Inter"/>
              </a:rPr>
              <a:t>Analysis — Robustness unavailable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804671" y="4219955"/>
            <a:ext cx="10616184" cy="1906524"/>
          </a:xfrm>
          <a:prstGeom prst="rect">
            <a:avLst/>
          </a:prstGeom>
          <a:noFill/>
        </p:spPr>
        <p:txBody>
          <a:bodyPr wrap="none" lIns="9144" rIns="9144" tIns="9144" bIns="9144" anchor="t">
            <a:spAutoFit/>
          </a:bodyPr>
          <a:lstStyle/>
          <a:p>
            <a:pPr algn="l">
              <a:spcAft>
                <a:spcPts val="0"/>
              </a:spcAft>
              <a:defRPr sz="950" b="0">
                <a:solidFill>
                  <a:srgbClr val="4A5563"/>
                </a:solidFill>
                <a:latin typeface="Inter"/>
              </a:defRPr>
            </a:pPr>
            <a:r>
              <a:rPr>
                <a:latin typeface="Inter"/>
              </a:rPr>
              <a:t>Observation: Robustness evidence is unavailable [S1]. Why it matters: Persistence cannot be assessed. Uncertainty: Results may depend on dates. What would change the view: Governed window tests.</a:t>
            </a:r>
          </a:p>
        </p:txBody>
      </p:sp>
      <p:sp>
        <p:nvSpPr>
          <p:cNvPr id="16" name="Rectangle 15"/>
          <p:cNvSpPr/>
          <p:nvPr/>
        </p:nvSpPr>
        <p:spPr>
          <a:xfrm>
            <a:off x="640080" y="6446520"/>
            <a:ext cx="10908792" cy="9144"/>
          </a:xfrm>
          <a:prstGeom prst="rect">
            <a:avLst/>
          </a:prstGeom>
          <a:solidFill>
            <a:srgbClr val="E3E7EC"/>
          </a:solidFill>
          <a:ln>
            <a:solidFill>
              <a:srgbClr val="E3E7E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>
                <a:latin typeface="Inter"/>
              </a:defRPr>
            </a:pPr>
          </a:p>
        </p:txBody>
      </p:sp>
      <p:sp>
        <p:nvSpPr>
          <p:cNvPr id="17" name="TextBox 16"/>
          <p:cNvSpPr txBox="1"/>
          <p:nvPr/>
        </p:nvSpPr>
        <p:spPr>
          <a:xfrm>
            <a:off x="640080" y="6501384"/>
            <a:ext cx="4297680" cy="146304"/>
          </a:xfrm>
          <a:prstGeom prst="rect">
            <a:avLst/>
          </a:prstGeom>
          <a:noFill/>
        </p:spPr>
        <p:txBody>
          <a:bodyPr wrap="none" lIns="9144" rIns="9144" tIns="9144" bIns="9144" anchor="t">
            <a:spAutoFit/>
          </a:bodyPr>
          <a:lstStyle/>
          <a:p>
            <a:pPr algn="l">
              <a:spcAft>
                <a:spcPts val="0"/>
              </a:spcAft>
              <a:defRPr sz="650" b="0">
                <a:solidFill>
                  <a:srgbClr val="8A94A1"/>
                </a:solidFill>
                <a:latin typeface="Inter"/>
              </a:defRPr>
            </a:pPr>
            <a:r>
              <a:rPr>
                <a:latin typeface="Inter"/>
              </a:rPr>
              <a:t>Sources: S1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4480560" y="6501384"/>
            <a:ext cx="5303520" cy="146304"/>
          </a:xfrm>
          <a:prstGeom prst="rect">
            <a:avLst/>
          </a:prstGeom>
          <a:noFill/>
        </p:spPr>
        <p:txBody>
          <a:bodyPr wrap="none" lIns="9144" rIns="9144" tIns="9144" bIns="9144" anchor="t">
            <a:spAutoFit/>
          </a:bodyPr>
          <a:lstStyle/>
          <a:p>
            <a:pPr algn="ctr">
              <a:spcAft>
                <a:spcPts val="0"/>
              </a:spcAft>
              <a:defRPr sz="650" b="0">
                <a:solidFill>
                  <a:srgbClr val="8A94A1"/>
                </a:solidFill>
                <a:latin typeface="Inter"/>
              </a:defRPr>
            </a:pPr>
            <a:r>
              <a:rPr>
                <a:latin typeface="Inter"/>
              </a:rPr>
              <a:t>Confidential — prepared for internal investment use · Data as of 2025-12-31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10287000" y="6501384"/>
            <a:ext cx="1261872" cy="146304"/>
          </a:xfrm>
          <a:prstGeom prst="rect">
            <a:avLst/>
          </a:prstGeom>
          <a:noFill/>
        </p:spPr>
        <p:txBody>
          <a:bodyPr wrap="none" lIns="9144" rIns="9144" tIns="9144" bIns="9144" anchor="t">
            <a:spAutoFit/>
          </a:bodyPr>
          <a:lstStyle/>
          <a:p>
            <a:pPr algn="r">
              <a:spcAft>
                <a:spcPts val="0"/>
              </a:spcAft>
              <a:defRPr sz="650" b="0">
                <a:solidFill>
                  <a:srgbClr val="8A94A1"/>
                </a:solidFill>
                <a:latin typeface="Inter"/>
              </a:defRPr>
            </a:pPr>
            <a:r>
              <a:rPr>
                <a:latin typeface="Inter"/>
              </a:rPr>
              <a:t>6</a:t>
            </a: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solidFill>
              <a:srgbClr val="FFFFF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>
                <a:latin typeface="Inter"/>
              </a:defRPr>
            </a:pPr>
          </a:p>
        </p:txBody>
      </p:sp>
      <p:sp>
        <p:nvSpPr>
          <p:cNvPr id="3" name="TextBox 2"/>
          <p:cNvSpPr txBox="1"/>
          <p:nvPr/>
        </p:nvSpPr>
        <p:spPr>
          <a:xfrm>
            <a:off x="640080" y="329184"/>
            <a:ext cx="9875520" cy="182880"/>
          </a:xfrm>
          <a:prstGeom prst="rect">
            <a:avLst/>
          </a:prstGeom>
          <a:noFill/>
        </p:spPr>
        <p:txBody>
          <a:bodyPr wrap="none" lIns="9144" rIns="9144" tIns="9144" bIns="9144" anchor="t">
            <a:spAutoFit/>
          </a:bodyPr>
          <a:lstStyle/>
          <a:p>
            <a:pPr algn="l">
              <a:spcAft>
                <a:spcPts val="0"/>
              </a:spcAft>
              <a:defRPr sz="750" b="1">
                <a:solidFill>
                  <a:srgbClr val="4F6B00"/>
                </a:solidFill>
                <a:latin typeface="Inter"/>
              </a:defRPr>
            </a:pPr>
            <a:r>
              <a:rPr>
                <a:latin typeface="Inter"/>
              </a:rPr>
              <a:t>ONE GOVERNED EVIDENCE REQUEST REMAINS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40080" y="566928"/>
            <a:ext cx="10058400" cy="530352"/>
          </a:xfrm>
          <a:prstGeom prst="rect">
            <a:avLst/>
          </a:prstGeom>
          <a:noFill/>
        </p:spPr>
        <p:txBody>
          <a:bodyPr wrap="none" lIns="9144" rIns="9144" tIns="9144" bIns="9144" anchor="t">
            <a:spAutoFit/>
          </a:bodyPr>
          <a:lstStyle/>
          <a:p>
            <a:pPr algn="l">
              <a:spcAft>
                <a:spcPts val="0"/>
              </a:spcAft>
              <a:defRPr sz="2300" b="1">
                <a:solidFill>
                  <a:srgbClr val="0D1117"/>
                </a:solidFill>
                <a:latin typeface="Inter"/>
              </a:defRPr>
            </a:pPr>
            <a:r>
              <a:rPr>
                <a:latin typeface="Inter"/>
              </a:rPr>
              <a:t>Follow-ups</a:t>
            </a:r>
          </a:p>
        </p:txBody>
      </p:sp>
      <p:sp>
        <p:nvSpPr>
          <p:cNvPr id="5" name="Rectangle 4"/>
          <p:cNvSpPr/>
          <p:nvPr/>
        </p:nvSpPr>
        <p:spPr>
          <a:xfrm>
            <a:off x="640080" y="1115568"/>
            <a:ext cx="10908792" cy="18288"/>
          </a:xfrm>
          <a:prstGeom prst="rect">
            <a:avLst/>
          </a:prstGeom>
          <a:solidFill>
            <a:srgbClr val="0D1117"/>
          </a:solidFill>
          <a:ln>
            <a:solidFill>
              <a:srgbClr val="0D111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>
                <a:latin typeface="Inter"/>
              </a:defRPr>
            </a:pPr>
          </a:p>
        </p:txBody>
      </p:sp>
      <p:sp>
        <p:nvSpPr>
          <p:cNvPr id="6" name="Rectangle 5"/>
          <p:cNvSpPr/>
          <p:nvPr/>
        </p:nvSpPr>
        <p:spPr>
          <a:xfrm>
            <a:off x="11018520" y="502920"/>
            <a:ext cx="530352" cy="393192"/>
          </a:xfrm>
          <a:prstGeom prst="rect">
            <a:avLst/>
          </a:prstGeom>
          <a:solidFill>
            <a:srgbClr val="C6F432"/>
          </a:solidFill>
          <a:ln>
            <a:solidFill>
              <a:srgbClr val="C6F432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>
                <a:latin typeface="Inter"/>
              </a:defRPr>
            </a:pPr>
          </a:p>
        </p:txBody>
      </p:sp>
      <p:sp>
        <p:nvSpPr>
          <p:cNvPr id="7" name="TextBox 6"/>
          <p:cNvSpPr txBox="1"/>
          <p:nvPr/>
        </p:nvSpPr>
        <p:spPr>
          <a:xfrm>
            <a:off x="11045952" y="557784"/>
            <a:ext cx="475488" cy="182880"/>
          </a:xfrm>
          <a:prstGeom prst="rect">
            <a:avLst/>
          </a:prstGeom>
          <a:noFill/>
        </p:spPr>
        <p:txBody>
          <a:bodyPr wrap="none" lIns="9144" rIns="9144" tIns="9144" bIns="9144" anchor="t">
            <a:spAutoFit/>
          </a:bodyPr>
          <a:lstStyle/>
          <a:p>
            <a:pPr algn="ctr">
              <a:spcAft>
                <a:spcPts val="0"/>
              </a:spcAft>
              <a:defRPr sz="1000" b="1">
                <a:solidFill>
                  <a:srgbClr val="0D1117"/>
                </a:solidFill>
                <a:latin typeface="Inter"/>
              </a:defRPr>
            </a:pPr>
            <a:r>
              <a:rPr>
                <a:latin typeface="Inter"/>
              </a:rPr>
              <a:t>06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40080" y="1325880"/>
            <a:ext cx="10908792" cy="4892040"/>
          </a:xfrm>
          <a:prstGeom prst="rect">
            <a:avLst/>
          </a:prstGeom>
          <a:noFill/>
        </p:spPr>
        <p:txBody>
          <a:bodyPr wrap="none" lIns="9144" rIns="9144" tIns="9144" bIns="9144" anchor="t">
            <a:spAutoFit/>
          </a:bodyPr>
          <a:lstStyle/>
          <a:p>
            <a:pPr algn="l">
              <a:spcAft>
                <a:spcPts val="0"/>
              </a:spcAft>
              <a:defRPr sz="1000" b="0">
                <a:solidFill>
                  <a:srgbClr val="0D1117"/>
                </a:solidFill>
                <a:latin typeface="Inter"/>
              </a:defRPr>
            </a:pPr>
            <a:r>
              <a:rPr>
                <a:latin typeface="Inter"/>
              </a:rPr>
              <a:t>01  Return canonical benchmark and comparison evidence.</a:t>
            </a:r>
            <a:br/>
            <a:r>
              <a:rPr>
                <a:latin typeface="Inter"/>
              </a:rPr>
              <a:t>      Required to assess manager-relative performance [S1].</a:t>
            </a:r>
          </a:p>
        </p:txBody>
      </p:sp>
      <p:sp>
        <p:nvSpPr>
          <p:cNvPr id="9" name="Rectangle 8"/>
          <p:cNvSpPr/>
          <p:nvPr/>
        </p:nvSpPr>
        <p:spPr>
          <a:xfrm>
            <a:off x="640080" y="6446520"/>
            <a:ext cx="10908792" cy="9144"/>
          </a:xfrm>
          <a:prstGeom prst="rect">
            <a:avLst/>
          </a:prstGeom>
          <a:solidFill>
            <a:srgbClr val="E3E7EC"/>
          </a:solidFill>
          <a:ln>
            <a:solidFill>
              <a:srgbClr val="E3E7E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>
                <a:latin typeface="Inter"/>
              </a:defRPr>
            </a:pPr>
          </a:p>
        </p:txBody>
      </p:sp>
      <p:sp>
        <p:nvSpPr>
          <p:cNvPr id="10" name="TextBox 9"/>
          <p:cNvSpPr txBox="1"/>
          <p:nvPr/>
        </p:nvSpPr>
        <p:spPr>
          <a:xfrm>
            <a:off x="640080" y="6501384"/>
            <a:ext cx="4297680" cy="146304"/>
          </a:xfrm>
          <a:prstGeom prst="rect">
            <a:avLst/>
          </a:prstGeom>
          <a:noFill/>
        </p:spPr>
        <p:txBody>
          <a:bodyPr wrap="none" lIns="9144" rIns="9144" tIns="9144" bIns="9144" anchor="t">
            <a:spAutoFit/>
          </a:bodyPr>
          <a:lstStyle/>
          <a:p>
            <a:pPr algn="l">
              <a:spcAft>
                <a:spcPts val="0"/>
              </a:spcAft>
              <a:defRPr sz="650" b="0">
                <a:solidFill>
                  <a:srgbClr val="8A94A1"/>
                </a:solidFill>
                <a:latin typeface="Inter"/>
              </a:defRPr>
            </a:pPr>
            <a:r>
              <a:rPr>
                <a:latin typeface="Inter"/>
              </a:rPr>
              <a:t>Sources: S1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4480560" y="6501384"/>
            <a:ext cx="5303520" cy="146304"/>
          </a:xfrm>
          <a:prstGeom prst="rect">
            <a:avLst/>
          </a:prstGeom>
          <a:noFill/>
        </p:spPr>
        <p:txBody>
          <a:bodyPr wrap="none" lIns="9144" rIns="9144" tIns="9144" bIns="9144" anchor="t">
            <a:spAutoFit/>
          </a:bodyPr>
          <a:lstStyle/>
          <a:p>
            <a:pPr algn="ctr">
              <a:spcAft>
                <a:spcPts val="0"/>
              </a:spcAft>
              <a:defRPr sz="650" b="0">
                <a:solidFill>
                  <a:srgbClr val="8A94A1"/>
                </a:solidFill>
                <a:latin typeface="Inter"/>
              </a:defRPr>
            </a:pPr>
            <a:r>
              <a:rPr>
                <a:latin typeface="Inter"/>
              </a:rPr>
              <a:t>Confidential — prepared for internal investment use · Data as of 2025-12-31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10287000" y="6501384"/>
            <a:ext cx="1261872" cy="146304"/>
          </a:xfrm>
          <a:prstGeom prst="rect">
            <a:avLst/>
          </a:prstGeom>
          <a:noFill/>
        </p:spPr>
        <p:txBody>
          <a:bodyPr wrap="none" lIns="9144" rIns="9144" tIns="9144" bIns="9144" anchor="t">
            <a:spAutoFit/>
          </a:bodyPr>
          <a:lstStyle/>
          <a:p>
            <a:pPr algn="r">
              <a:spcAft>
                <a:spcPts val="0"/>
              </a:spcAft>
              <a:defRPr sz="650" b="0">
                <a:solidFill>
                  <a:srgbClr val="8A94A1"/>
                </a:solidFill>
                <a:latin typeface="Inter"/>
              </a:defRPr>
            </a:pPr>
            <a:r>
              <a:rPr>
                <a:latin typeface="Inter"/>
              </a:rPr>
              <a:t>7</a:t>
            </a: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solidFill>
              <a:srgbClr val="FFFFF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>
                <a:latin typeface="Inter"/>
              </a:defRPr>
            </a:pPr>
          </a:p>
        </p:txBody>
      </p:sp>
      <p:sp>
        <p:nvSpPr>
          <p:cNvPr id="3" name="TextBox 2"/>
          <p:cNvSpPr txBox="1"/>
          <p:nvPr/>
        </p:nvSpPr>
        <p:spPr>
          <a:xfrm>
            <a:off x="640080" y="329184"/>
            <a:ext cx="9875520" cy="182880"/>
          </a:xfrm>
          <a:prstGeom prst="rect">
            <a:avLst/>
          </a:prstGeom>
          <a:noFill/>
        </p:spPr>
        <p:txBody>
          <a:bodyPr wrap="none" lIns="9144" rIns="9144" tIns="9144" bIns="9144" anchor="t">
            <a:spAutoFit/>
          </a:bodyPr>
          <a:lstStyle/>
          <a:p>
            <a:pPr algn="l">
              <a:spcAft>
                <a:spcPts val="0"/>
              </a:spcAft>
              <a:defRPr sz="750" b="1">
                <a:solidFill>
                  <a:srgbClr val="4F6B00"/>
                </a:solidFill>
                <a:latin typeface="Inter"/>
              </a:defRPr>
            </a:pPr>
            <a:r>
              <a:rPr>
                <a:latin typeface="Inter"/>
              </a:rPr>
              <a:t>SAVED FICTIONAL TEST EVIDENCE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40080" y="566928"/>
            <a:ext cx="10058400" cy="530352"/>
          </a:xfrm>
          <a:prstGeom prst="rect">
            <a:avLst/>
          </a:prstGeom>
          <a:noFill/>
        </p:spPr>
        <p:txBody>
          <a:bodyPr wrap="none" lIns="9144" rIns="9144" tIns="9144" bIns="9144" anchor="t">
            <a:spAutoFit/>
          </a:bodyPr>
          <a:lstStyle/>
          <a:p>
            <a:pPr algn="l">
              <a:spcAft>
                <a:spcPts val="0"/>
              </a:spcAft>
              <a:defRPr sz="2300" b="1">
                <a:solidFill>
                  <a:srgbClr val="0D1117"/>
                </a:solidFill>
                <a:latin typeface="Inter"/>
              </a:defRPr>
            </a:pPr>
            <a:r>
              <a:rPr>
                <a:latin typeface="Inter"/>
              </a:rPr>
              <a:t>Appendix A — Sources and methods</a:t>
            </a:r>
          </a:p>
        </p:txBody>
      </p:sp>
      <p:sp>
        <p:nvSpPr>
          <p:cNvPr id="5" name="Rectangle 4"/>
          <p:cNvSpPr/>
          <p:nvPr/>
        </p:nvSpPr>
        <p:spPr>
          <a:xfrm>
            <a:off x="640080" y="1115568"/>
            <a:ext cx="10908792" cy="18288"/>
          </a:xfrm>
          <a:prstGeom prst="rect">
            <a:avLst/>
          </a:prstGeom>
          <a:solidFill>
            <a:srgbClr val="0D1117"/>
          </a:solidFill>
          <a:ln>
            <a:solidFill>
              <a:srgbClr val="0D111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>
                <a:latin typeface="Inter"/>
              </a:defRPr>
            </a:pPr>
          </a:p>
        </p:txBody>
      </p:sp>
      <p:sp>
        <p:nvSpPr>
          <p:cNvPr id="6" name="Rectangle 5"/>
          <p:cNvSpPr/>
          <p:nvPr/>
        </p:nvSpPr>
        <p:spPr>
          <a:xfrm>
            <a:off x="11018520" y="502920"/>
            <a:ext cx="530352" cy="393192"/>
          </a:xfrm>
          <a:prstGeom prst="rect">
            <a:avLst/>
          </a:prstGeom>
          <a:solidFill>
            <a:srgbClr val="9AA5B1"/>
          </a:solidFill>
          <a:ln>
            <a:solidFill>
              <a:srgbClr val="9AA5B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>
                <a:latin typeface="Inter"/>
              </a:defRPr>
            </a:pPr>
          </a:p>
        </p:txBody>
      </p:sp>
      <p:sp>
        <p:nvSpPr>
          <p:cNvPr id="7" name="TextBox 6"/>
          <p:cNvSpPr txBox="1"/>
          <p:nvPr/>
        </p:nvSpPr>
        <p:spPr>
          <a:xfrm>
            <a:off x="11045952" y="557784"/>
            <a:ext cx="475488" cy="182880"/>
          </a:xfrm>
          <a:prstGeom prst="rect">
            <a:avLst/>
          </a:prstGeom>
          <a:noFill/>
        </p:spPr>
        <p:txBody>
          <a:bodyPr wrap="none" lIns="9144" rIns="9144" tIns="9144" bIns="9144" anchor="t">
            <a:spAutoFit/>
          </a:bodyPr>
          <a:lstStyle/>
          <a:p>
            <a:pPr algn="ctr">
              <a:spcAft>
                <a:spcPts val="0"/>
              </a:spcAft>
              <a:defRPr sz="1000" b="1">
                <a:solidFill>
                  <a:srgbClr val="0D1117"/>
                </a:solidFill>
                <a:latin typeface="Inter"/>
              </a:defRPr>
            </a:pPr>
            <a:r>
              <a:rPr>
                <a:latin typeface="Inter"/>
              </a:rPr>
              <a:t>07</a:t>
            </a:r>
          </a:p>
        </p:txBody>
      </p:sp>
      <p:graphicFrame>
        <p:nvGraphicFramePr>
          <p:cNvPr id="8" name="Table 7"/>
          <p:cNvGraphicFramePr>
            <a:graphicFrameLocks noGrp="1"/>
          </p:cNvGraphicFramePr>
          <p:nvPr/>
        </p:nvGraphicFramePr>
        <p:xfrm>
          <a:off x="640080" y="1325880"/>
          <a:ext cx="10908792" cy="1169662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2011680"/>
                <a:gridCol w="4448556"/>
                <a:gridCol w="4448556"/>
              </a:tblGrid>
              <a:tr h="584831">
                <a:tc>
                  <a:txBody>
                    <a:bodyPr/>
                    <a:lstStyle/>
                    <a:p>
                      <a:pPr>
                        <a:defRPr sz="750" b="1">
                          <a:solidFill>
                            <a:srgbClr val="FFFFFF"/>
                          </a:solidFill>
                          <a:latin typeface="Inter"/>
                        </a:defRPr>
                      </a:pPr>
                      <a:r>
                        <a:rPr>
                          <a:latin typeface="Inter"/>
                        </a:rPr>
                        <a:t>Tag</a:t>
                      </a:r>
                    </a:p>
                  </a:txBody>
                  <a:tcPr marL="54864" marR="54864" marT="27432" marB="27432" anchor="ctr">
                    <a:solidFill>
                      <a:srgbClr val="0D1117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750" b="1">
                          <a:solidFill>
                            <a:srgbClr val="FFFFFF"/>
                          </a:solidFill>
                          <a:latin typeface="Inter"/>
                        </a:defRPr>
                      </a:pPr>
                      <a:r>
                        <a:rPr>
                          <a:latin typeface="Inter"/>
                        </a:rPr>
                        <a:t>Evidence</a:t>
                      </a:r>
                    </a:p>
                  </a:txBody>
                  <a:tcPr marL="54864" marR="54864" marT="27432" marB="27432" anchor="ctr">
                    <a:solidFill>
                      <a:srgbClr val="0D1117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750" b="1">
                          <a:solidFill>
                            <a:srgbClr val="FFFFFF"/>
                          </a:solidFill>
                          <a:latin typeface="Inter"/>
                        </a:defRPr>
                      </a:pPr>
                      <a:r>
                        <a:rPr>
                          <a:latin typeface="Inter"/>
                        </a:rPr>
                        <a:t>Tool</a:t>
                      </a:r>
                    </a:p>
                  </a:txBody>
                  <a:tcPr marL="54864" marR="54864" marT="27432" marB="27432" anchor="ctr">
                    <a:solidFill>
                      <a:srgbClr val="0D1117"/>
                    </a:solidFill>
                  </a:tcPr>
                </a:tc>
              </a:tr>
              <a:tr h="584831">
                <a:tc>
                  <a:txBody>
                    <a:bodyPr/>
                    <a:lstStyle/>
                    <a:p>
                      <a:pPr>
                        <a:defRPr sz="800" b="1">
                          <a:solidFill>
                            <a:srgbClr val="0D1117"/>
                          </a:solidFill>
                          <a:latin typeface="Inter"/>
                        </a:defRPr>
                      </a:pPr>
                      <a:r>
                        <a:rPr>
                          <a:latin typeface="Inter"/>
                        </a:rPr>
                        <a:t>S1</a:t>
                      </a:r>
                    </a:p>
                  </a:txBody>
                  <a:tcPr marL="54864" marR="54864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800" b="0">
                          <a:solidFill>
                            <a:srgbClr val="0D1117"/>
                          </a:solidFill>
                          <a:latin typeface="Inter"/>
                        </a:defRPr>
                      </a:pPr>
                      <a:r>
                        <a:rPr>
                          <a:latin typeface="Inter"/>
                        </a:rPr>
                        <a:t>Typed unavailable test response</a:t>
                      </a:r>
                    </a:p>
                  </a:txBody>
                  <a:tcPr marL="54864" marR="54864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800" b="0">
                          <a:solidFill>
                            <a:srgbClr val="0D1117"/>
                          </a:solidFill>
                          <a:latin typeface="Inter"/>
                        </a:defRPr>
                      </a:pPr>
                      <a:r>
                        <a:rPr>
                          <a:latin typeface="Inter"/>
                        </a:rPr>
                        <a:t>get_gradient_capabilities</a:t>
                      </a:r>
                    </a:p>
                  </a:txBody>
                  <a:tcPr marL="54864" marR="54864" marT="27432" marB="27432" anchor="ctr"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9" name="Rectangle 8"/>
          <p:cNvSpPr/>
          <p:nvPr/>
        </p:nvSpPr>
        <p:spPr>
          <a:xfrm>
            <a:off x="640080" y="2605270"/>
            <a:ext cx="10908792" cy="1632674"/>
          </a:xfrm>
          <a:prstGeom prst="rect">
            <a:avLst/>
          </a:prstGeom>
          <a:solidFill>
            <a:srgbClr val="F5F7F9"/>
          </a:solidFill>
          <a:ln>
            <a:solidFill>
              <a:srgbClr val="E3E7E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>
                <a:latin typeface="Inter"/>
              </a:defRPr>
            </a:pPr>
          </a:p>
        </p:txBody>
      </p:sp>
      <p:sp>
        <p:nvSpPr>
          <p:cNvPr id="10" name="Rectangle 9"/>
          <p:cNvSpPr/>
          <p:nvPr/>
        </p:nvSpPr>
        <p:spPr>
          <a:xfrm>
            <a:off x="640080" y="2605270"/>
            <a:ext cx="54864" cy="1632674"/>
          </a:xfrm>
          <a:prstGeom prst="rect">
            <a:avLst/>
          </a:prstGeom>
          <a:solidFill>
            <a:srgbClr val="0D1117"/>
          </a:solidFill>
          <a:ln>
            <a:solidFill>
              <a:srgbClr val="0D111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>
                <a:latin typeface="Inter"/>
              </a:defRPr>
            </a:pPr>
          </a:p>
        </p:txBody>
      </p:sp>
      <p:sp>
        <p:nvSpPr>
          <p:cNvPr id="11" name="TextBox 10"/>
          <p:cNvSpPr txBox="1"/>
          <p:nvPr/>
        </p:nvSpPr>
        <p:spPr>
          <a:xfrm>
            <a:off x="804671" y="2714998"/>
            <a:ext cx="10616184" cy="228600"/>
          </a:xfrm>
          <a:prstGeom prst="rect">
            <a:avLst/>
          </a:prstGeom>
          <a:noFill/>
        </p:spPr>
        <p:txBody>
          <a:bodyPr wrap="none" lIns="9144" rIns="9144" tIns="9144" bIns="9144" anchor="t">
            <a:spAutoFit/>
          </a:bodyPr>
          <a:lstStyle/>
          <a:p>
            <a:pPr algn="l">
              <a:spcAft>
                <a:spcPts val="0"/>
              </a:spcAft>
              <a:defRPr sz="1000" b="1">
                <a:solidFill>
                  <a:srgbClr val="0D1117"/>
                </a:solidFill>
                <a:latin typeface="Inter"/>
              </a:defRPr>
            </a:pPr>
            <a:r>
              <a:rPr>
                <a:latin typeface="Inter"/>
              </a:rPr>
              <a:t>Governed evidence boundary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804671" y="2998462"/>
            <a:ext cx="10616184" cy="1148042"/>
          </a:xfrm>
          <a:prstGeom prst="rect">
            <a:avLst/>
          </a:prstGeom>
          <a:noFill/>
        </p:spPr>
        <p:txBody>
          <a:bodyPr wrap="none" lIns="9144" rIns="9144" tIns="9144" bIns="9144" anchor="t">
            <a:spAutoFit/>
          </a:bodyPr>
          <a:lstStyle/>
          <a:p>
            <a:pPr algn="l">
              <a:spcAft>
                <a:spcPts val="0"/>
              </a:spcAft>
              <a:defRPr sz="950" b="0">
                <a:solidFill>
                  <a:srgbClr val="4A5563"/>
                </a:solidFill>
                <a:latin typeface="Inter"/>
              </a:defRPr>
            </a:pPr>
            <a:r>
              <a:rPr>
                <a:latin typeface="Inter"/>
              </a:rPr>
              <a:t>The report preserves the returned subject identity, benchmark mapping, observation window, units, methods, coverage status and request provenance [S1]. Missing performance, correlation, capture, simulation or regime fields remain unavailable. No local statistics, substitutions, rankings or neutral defaults are introduced.</a:t>
            </a:r>
          </a:p>
        </p:txBody>
      </p:sp>
      <p:sp>
        <p:nvSpPr>
          <p:cNvPr id="13" name="Rectangle 12"/>
          <p:cNvSpPr/>
          <p:nvPr/>
        </p:nvSpPr>
        <p:spPr>
          <a:xfrm>
            <a:off x="640080" y="4347673"/>
            <a:ext cx="10908792" cy="1870246"/>
          </a:xfrm>
          <a:prstGeom prst="rect">
            <a:avLst/>
          </a:prstGeom>
          <a:solidFill>
            <a:srgbClr val="F5F7F9"/>
          </a:solidFill>
          <a:ln>
            <a:solidFill>
              <a:srgbClr val="E3E7E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>
                <a:latin typeface="Inter"/>
              </a:defRPr>
            </a:pPr>
          </a:p>
        </p:txBody>
      </p:sp>
      <p:sp>
        <p:nvSpPr>
          <p:cNvPr id="14" name="Rectangle 13"/>
          <p:cNvSpPr/>
          <p:nvPr/>
        </p:nvSpPr>
        <p:spPr>
          <a:xfrm>
            <a:off x="640080" y="4347673"/>
            <a:ext cx="54864" cy="1870246"/>
          </a:xfrm>
          <a:prstGeom prst="rect">
            <a:avLst/>
          </a:prstGeom>
          <a:solidFill>
            <a:srgbClr val="0D1117"/>
          </a:solidFill>
          <a:ln>
            <a:solidFill>
              <a:srgbClr val="0D111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>
                <a:latin typeface="Inter"/>
              </a:defRPr>
            </a:pPr>
          </a:p>
        </p:txBody>
      </p:sp>
      <p:sp>
        <p:nvSpPr>
          <p:cNvPr id="15" name="TextBox 14"/>
          <p:cNvSpPr txBox="1"/>
          <p:nvPr/>
        </p:nvSpPr>
        <p:spPr>
          <a:xfrm>
            <a:off x="804671" y="4457401"/>
            <a:ext cx="10616184" cy="228600"/>
          </a:xfrm>
          <a:prstGeom prst="rect">
            <a:avLst/>
          </a:prstGeom>
          <a:noFill/>
        </p:spPr>
        <p:txBody>
          <a:bodyPr wrap="none" lIns="9144" rIns="9144" tIns="9144" bIns="9144" anchor="t">
            <a:spAutoFit/>
          </a:bodyPr>
          <a:lstStyle/>
          <a:p>
            <a:pPr algn="l">
              <a:spcAft>
                <a:spcPts val="0"/>
              </a:spcAft>
              <a:defRPr sz="1000" b="1">
                <a:solidFill>
                  <a:srgbClr val="0D1117"/>
                </a:solidFill>
                <a:latin typeface="Inter"/>
              </a:defRPr>
            </a:pPr>
            <a:r>
              <a:rPr>
                <a:latin typeface="Inter"/>
              </a:rPr>
              <a:t>Decision-use boundary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804671" y="4740865"/>
            <a:ext cx="10616184" cy="1385614"/>
          </a:xfrm>
          <a:prstGeom prst="rect">
            <a:avLst/>
          </a:prstGeom>
          <a:noFill/>
        </p:spPr>
        <p:txBody>
          <a:bodyPr wrap="none" lIns="9144" rIns="9144" tIns="9144" bIns="9144" anchor="t">
            <a:spAutoFit/>
          </a:bodyPr>
          <a:lstStyle/>
          <a:p>
            <a:pPr algn="l">
              <a:spcAft>
                <a:spcPts val="0"/>
              </a:spcAft>
              <a:defRPr sz="950" b="0">
                <a:solidFill>
                  <a:srgbClr val="4A5563"/>
                </a:solidFill>
                <a:latin typeface="Inter"/>
              </a:defRPr>
            </a:pPr>
            <a:r>
              <a:rPr>
                <a:latin typeface="Inter"/>
              </a:rPr>
              <a:t>Typed unavailability limits the conclusion and drives the insufficient signal where most required slots are absent [S1]. The evidence supports follow-up collection only; operational diligence and committee decisions remain separate handoffs with their own governed evidence and validation contracts. Every unresolved field remains reader-visible in the delivered report.</a:t>
            </a:r>
          </a:p>
        </p:txBody>
      </p:sp>
      <p:sp>
        <p:nvSpPr>
          <p:cNvPr id="17" name="Rectangle 16"/>
          <p:cNvSpPr/>
          <p:nvPr/>
        </p:nvSpPr>
        <p:spPr>
          <a:xfrm>
            <a:off x="640080" y="6446520"/>
            <a:ext cx="10908792" cy="9144"/>
          </a:xfrm>
          <a:prstGeom prst="rect">
            <a:avLst/>
          </a:prstGeom>
          <a:solidFill>
            <a:srgbClr val="E3E7EC"/>
          </a:solidFill>
          <a:ln>
            <a:solidFill>
              <a:srgbClr val="E3E7E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>
                <a:latin typeface="Inter"/>
              </a:defRPr>
            </a:pPr>
          </a:p>
        </p:txBody>
      </p:sp>
      <p:sp>
        <p:nvSpPr>
          <p:cNvPr id="18" name="TextBox 17"/>
          <p:cNvSpPr txBox="1"/>
          <p:nvPr/>
        </p:nvSpPr>
        <p:spPr>
          <a:xfrm>
            <a:off x="640080" y="6501384"/>
            <a:ext cx="4297680" cy="146304"/>
          </a:xfrm>
          <a:prstGeom prst="rect">
            <a:avLst/>
          </a:prstGeom>
          <a:noFill/>
        </p:spPr>
        <p:txBody>
          <a:bodyPr wrap="none" lIns="9144" rIns="9144" tIns="9144" bIns="9144" anchor="t">
            <a:spAutoFit/>
          </a:bodyPr>
          <a:lstStyle/>
          <a:p>
            <a:pPr algn="l">
              <a:spcAft>
                <a:spcPts val="0"/>
              </a:spcAft>
              <a:defRPr sz="650" b="0">
                <a:solidFill>
                  <a:srgbClr val="8A94A1"/>
                </a:solidFill>
                <a:latin typeface="Inter"/>
              </a:defRPr>
            </a:pPr>
            <a:r>
              <a:rPr>
                <a:latin typeface="Inter"/>
              </a:rPr>
              <a:t>Sources: S1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4480560" y="6501384"/>
            <a:ext cx="5303520" cy="146304"/>
          </a:xfrm>
          <a:prstGeom prst="rect">
            <a:avLst/>
          </a:prstGeom>
          <a:noFill/>
        </p:spPr>
        <p:txBody>
          <a:bodyPr wrap="none" lIns="9144" rIns="9144" tIns="9144" bIns="9144" anchor="t">
            <a:spAutoFit/>
          </a:bodyPr>
          <a:lstStyle/>
          <a:p>
            <a:pPr algn="ctr">
              <a:spcAft>
                <a:spcPts val="0"/>
              </a:spcAft>
              <a:defRPr sz="650" b="0">
                <a:solidFill>
                  <a:srgbClr val="8A94A1"/>
                </a:solidFill>
                <a:latin typeface="Inter"/>
              </a:defRPr>
            </a:pPr>
            <a:r>
              <a:rPr>
                <a:latin typeface="Inter"/>
              </a:rPr>
              <a:t>Confidential — prepared for internal investment use · Data as of 2025-12-31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10287000" y="6501384"/>
            <a:ext cx="1261872" cy="146304"/>
          </a:xfrm>
          <a:prstGeom prst="rect">
            <a:avLst/>
          </a:prstGeom>
          <a:noFill/>
        </p:spPr>
        <p:txBody>
          <a:bodyPr wrap="none" lIns="9144" rIns="9144" tIns="9144" bIns="9144" anchor="t">
            <a:spAutoFit/>
          </a:bodyPr>
          <a:lstStyle/>
          <a:p>
            <a:pPr algn="r">
              <a:spcAft>
                <a:spcPts val="0"/>
              </a:spcAft>
              <a:defRPr sz="650" b="0">
                <a:solidFill>
                  <a:srgbClr val="8A94A1"/>
                </a:solidFill>
                <a:latin typeface="Inter"/>
              </a:defRPr>
            </a:pPr>
            <a:r>
              <a:rPr>
                <a:latin typeface="Inter"/>
              </a:rPr>
              <a:t>8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rgbClr val="0D1117"/>
      </a:dk1>
      <a:lt1>
        <a:srgbClr val="FFFFFF"/>
      </a:lt1>
      <a:dk2>
        <a:srgbClr val="161C24"/>
      </a:dk2>
      <a:lt2>
        <a:srgbClr val="F5F7F9"/>
      </a:lt2>
      <a:accent1>
        <a:srgbClr val="C6F432"/>
      </a:accent1>
      <a:accent2>
        <a:srgbClr val="4F6B00"/>
      </a:accent2>
      <a:accent3>
        <a:srgbClr val="F2A93B"/>
      </a:accent3>
      <a:accent4>
        <a:srgbClr val="5B8DEF"/>
      </a:accent4>
      <a:accent5>
        <a:srgbClr val="FF6B5E"/>
      </a:accent5>
      <a:accent6>
        <a:srgbClr val="3FB8AF"/>
      </a:accent6>
      <a:hlink>
        <a:srgbClr val="0000FF"/>
      </a:hlink>
      <a:folHlink>
        <a:srgbClr val="800080"/>
      </a:folHlink>
    </a:clrScheme>
    <a:fontScheme name="Office">
      <a:majorFont>
        <a:latin typeface="Inter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Inter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ppt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Northstar Manager Single (TEST)</dc:title>
  <dc:subject>Manager Performance</dc:subject>
  <dc:creator>GradientCIO</dc:creator>
  <cp:keywords>Gradient report theme 2.1.0</cp:keywords>
  <dc:description>generated using python-pptx</dc:description>
  <cp:lastModifiedBy>GradientCIO</cp:lastModifiedBy>
  <cp:revision>1</cp:revision>
  <dcterms:created xsi:type="dcterms:W3CDTF">2020-01-01T00:00:00Z</dcterms:created>
  <dcterms:modified xsi:type="dcterms:W3CDTF">2020-01-01T00:00:00Z</dcterms:modified>
  <cp:category/>
</cp:coreProperties>
</file>