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a="http://schemas.openxmlformats.org/drawingml/2006/main" xmlns:ns0="http://schemas.openxmlformats.org/presentationml/2006/main" xmlns:ns1="http://schemas.openxmlformats.org/officeDocument/2006/relationships" saveSubsetFonts="1" autoCompressPictures="0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  <ns0:sldId id="269" ns1:id="rId20"/>
    <ns0:sldId id="270" ns1:id="rId21"/>
    <ns0:sldId id="271" ns1:id="rId22"/>
    <ns0:sldId id="272" ns1:id="rId23"/>
    <ns0:sldId id="273" ns1:id="rId24"/>
    <ns0:sldId id="274" ns1:id="rId25"/>
    <ns0:sldId id="275" ns1:id="rId26"/>
    <ns0:sldId id="276" ns1:id="rId27"/>
    <ns0:sldId id="277" ns1:id="rId28"/>
  </ns0:sldIdLst>
  <ns0:sldSz cx="12191695" cy="6858000" type="screen16x9"/>
  <ns0:notesSz cx="6858000" cy="9144000"/>
  <ns0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Northstar Select Equity Composite (TEST)</c:v>
                </c:pt>
              </c:strCache>
            </c:strRef>
          </c:tx>
          <c:spPr>
            <a:ln w="22860">
              <a:solidFill>
                <a:srgbClr val="0D1117"/>
              </a:solidFill>
            </a:ln>
          </c:spPr>
          <c:cat>
            <c:strRef>
              <c:f>Sheet1!$A$2:$A$8</c:f>
              <c:strCache>
                <c:ptCount val="7"/>
                <c:pt idx="0">
                  <c:v>2019-12-31</c:v>
                </c:pt>
                <c:pt idx="1">
                  <c:v>2020-12-31</c:v>
                </c:pt>
                <c:pt idx="2">
                  <c:v>2021-12-31</c:v>
                </c:pt>
                <c:pt idx="3">
                  <c:v>2022-12-31</c:v>
                </c:pt>
                <c:pt idx="4">
                  <c:v>2023-12-31</c:v>
                </c:pt>
                <c:pt idx="5">
                  <c:v>2024-12-31</c:v>
                </c:pt>
                <c:pt idx="6">
                  <c:v>2025-12-31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100.0</c:v>
                </c:pt>
                <c:pt idx="1">
                  <c:v>108.0</c:v>
                </c:pt>
                <c:pt idx="2">
                  <c:v>121.0</c:v>
                </c:pt>
                <c:pt idx="3">
                  <c:v>104.0</c:v>
                </c:pt>
                <c:pt idx="4">
                  <c:v>119.6</c:v>
                </c:pt>
                <c:pt idx="5">
                  <c:v>132.8</c:v>
                </c:pt>
                <c:pt idx="6">
                  <c:v>146.1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Northstar Core Equity Benchmark (TEST)</c:v>
                </c:pt>
              </c:strCache>
            </c:strRef>
          </c:tx>
          <c:spPr>
            <a:ln w="22860">
              <a:solidFill>
                <a:srgbClr val="7FA600"/>
              </a:solidFill>
            </a:ln>
          </c:spPr>
          <c:cat>
            <c:strRef>
              <c:f>Sheet1!$A$2:$A$8</c:f>
              <c:strCache>
                <c:ptCount val="7"/>
                <c:pt idx="0">
                  <c:v>2019-12-31</c:v>
                </c:pt>
                <c:pt idx="1">
                  <c:v>2020-12-31</c:v>
                </c:pt>
                <c:pt idx="2">
                  <c:v>2021-12-31</c:v>
                </c:pt>
                <c:pt idx="3">
                  <c:v>2022-12-31</c:v>
                </c:pt>
                <c:pt idx="4">
                  <c:v>2023-12-31</c:v>
                </c:pt>
                <c:pt idx="5">
                  <c:v>2024-12-31</c:v>
                </c:pt>
                <c:pt idx="6">
                  <c:v>2025-12-31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100.0</c:v>
                </c:pt>
                <c:pt idx="1">
                  <c:v>107.0</c:v>
                </c:pt>
                <c:pt idx="2">
                  <c:v>117.7</c:v>
                </c:pt>
                <c:pt idx="3">
                  <c:v>98.9</c:v>
                </c:pt>
                <c:pt idx="4">
                  <c:v>112.7</c:v>
                </c:pt>
                <c:pt idx="5">
                  <c:v>124.0</c:v>
                </c:pt>
                <c:pt idx="6">
                  <c:v>135.1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numFmt formatCode="0.0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Manager drawdown</c:v>
                </c:pt>
              </c:strCache>
            </c:strRef>
          </c:tx>
          <c:spPr>
            <a:ln w="22860">
              <a:solidFill>
                <a:srgbClr val="0D1117"/>
              </a:solidFill>
            </a:ln>
          </c:spPr>
          <c:cat>
            <c:strRef>
              <c:f>Sheet1!$A$2:$A$12</c:f>
              <c:strCache>
                <c:ptCount val="11"/>
                <c:pt idx="0">
                  <c:v>2020-01-31</c:v>
                </c:pt>
                <c:pt idx="1">
                  <c:v>2020-03-31</c:v>
                </c:pt>
                <c:pt idx="2">
                  <c:v>2020-12-31</c:v>
                </c:pt>
                <c:pt idx="3">
                  <c:v>2021-12-31</c:v>
                </c:pt>
                <c:pt idx="4">
                  <c:v>2022-03-31</c:v>
                </c:pt>
                <c:pt idx="5">
                  <c:v>2022-06-30</c:v>
                </c:pt>
                <c:pt idx="6">
                  <c:v>2022-12-31</c:v>
                </c:pt>
                <c:pt idx="7">
                  <c:v>2023-06-30</c:v>
                </c:pt>
                <c:pt idx="8">
                  <c:v>2023-12-31</c:v>
                </c:pt>
                <c:pt idx="9">
                  <c:v>2024-12-31</c:v>
                </c:pt>
                <c:pt idx="10">
                  <c:v>2025-12-31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0.0</c:v>
                </c:pt>
                <c:pt idx="1">
                  <c:v>-11.0</c:v>
                </c:pt>
                <c:pt idx="2">
                  <c:v>-2.0</c:v>
                </c:pt>
                <c:pt idx="3">
                  <c:v>0.0</c:v>
                </c:pt>
                <c:pt idx="4">
                  <c:v>-6.0</c:v>
                </c:pt>
                <c:pt idx="5">
                  <c:v>-18.2</c:v>
                </c:pt>
                <c:pt idx="6">
                  <c:v>-10.5</c:v>
                </c:pt>
                <c:pt idx="7">
                  <c:v>-4.0</c:v>
                </c:pt>
                <c:pt idx="8">
                  <c:v>0.0</c:v>
                </c:pt>
                <c:pt idx="9">
                  <c:v>0.0</c:v>
                </c:pt>
                <c:pt idx="10">
                  <c:v>-1.5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Benchmark drawdown</c:v>
                </c:pt>
              </c:strCache>
            </c:strRef>
          </c:tx>
          <c:spPr>
            <a:ln w="22860">
              <a:solidFill>
                <a:srgbClr val="7FA600"/>
              </a:solidFill>
            </a:ln>
          </c:spPr>
          <c:cat>
            <c:strRef>
              <c:f>Sheet1!$A$2:$A$12</c:f>
              <c:strCache>
                <c:ptCount val="11"/>
                <c:pt idx="0">
                  <c:v>2020-01-31</c:v>
                </c:pt>
                <c:pt idx="1">
                  <c:v>2020-03-31</c:v>
                </c:pt>
                <c:pt idx="2">
                  <c:v>2020-12-31</c:v>
                </c:pt>
                <c:pt idx="3">
                  <c:v>2021-12-31</c:v>
                </c:pt>
                <c:pt idx="4">
                  <c:v>2022-03-31</c:v>
                </c:pt>
                <c:pt idx="5">
                  <c:v>2022-06-30</c:v>
                </c:pt>
                <c:pt idx="6">
                  <c:v>2022-12-31</c:v>
                </c:pt>
                <c:pt idx="7">
                  <c:v>2023-06-30</c:v>
                </c:pt>
                <c:pt idx="8">
                  <c:v>2023-12-31</c:v>
                </c:pt>
                <c:pt idx="9">
                  <c:v>2024-12-31</c:v>
                </c:pt>
                <c:pt idx="10">
                  <c:v>2025-12-31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0.0</c:v>
                </c:pt>
                <c:pt idx="1">
                  <c:v>-12.5</c:v>
                </c:pt>
                <c:pt idx="2">
                  <c:v>-2.8</c:v>
                </c:pt>
                <c:pt idx="3">
                  <c:v>0.0</c:v>
                </c:pt>
                <c:pt idx="4">
                  <c:v>-7.4</c:v>
                </c:pt>
                <c:pt idx="5">
                  <c:v>-20.1</c:v>
                </c:pt>
                <c:pt idx="6">
                  <c:v>-12.4</c:v>
                </c:pt>
                <c:pt idx="7">
                  <c:v>-5.1</c:v>
                </c:pt>
                <c:pt idx="8">
                  <c:v>0.0</c:v>
                </c:pt>
                <c:pt idx="9">
                  <c:v>-0.8</c:v>
                </c:pt>
                <c:pt idx="10">
                  <c:v>-2.2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numFmt formatCode="0.0&quot;%&quot;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D1117"/>
            </a:solidFill>
          </c:spPr>
          <c:dPt>
            <c:idx val="0"/>
            <c:spPr>
              <a:solidFill>
                <a:srgbClr val="C6F432"/>
              </a:solidFill>
            </c:spPr>
          </c:dPt>
          <c:dPt>
            <c:idx val="1"/>
            <c:spPr>
              <a:solidFill>
                <a:srgbClr val="C6F432"/>
              </a:solidFill>
            </c:spPr>
          </c:dPt>
          <c:dPt>
            <c:idx val="2"/>
            <c:spPr>
              <a:solidFill>
                <a:srgbClr val="C6F432"/>
              </a:solidFill>
            </c:spPr>
          </c:dPt>
          <c:dPt>
            <c:idx val="3"/>
            <c:spPr>
              <a:solidFill>
                <a:srgbClr val="C6F432"/>
              </a:solidFill>
            </c:spPr>
          </c:dPt>
          <c:dPt>
            <c:idx val="4"/>
            <c:spPr>
              <a:solidFill>
                <a:srgbClr val="FF6B5E"/>
              </a:solidFill>
            </c:spPr>
          </c:dPt>
          <c:dPt>
            <c:idx val="5"/>
            <c:spPr>
              <a:solidFill>
                <a:srgbClr val="FF6B5E"/>
              </a:solidFill>
            </c:spPr>
          </c:dPt>
          <c:dPt>
            <c:idx val="6"/>
            <c:spPr>
              <a:solidFill>
                <a:srgbClr val="C6F432"/>
              </a:solidFill>
            </c:spPr>
          </c:dPt>
          <c:dPt>
            <c:idx val="7"/>
            <c:spPr>
              <a:solidFill>
                <a:srgbClr val="C6F432"/>
              </a:solidFill>
            </c:spPr>
          </c:dPt>
          <c:dPt>
            <c:idx val="8"/>
            <c:spPr>
              <a:solidFill>
                <a:srgbClr val="C6F432"/>
              </a:solidFill>
            </c:spPr>
          </c:dPt>
          <c:dPt>
            <c:idx val="9"/>
            <c:spPr>
              <a:solidFill>
                <a:srgbClr val="C6F432"/>
              </a:solidFill>
            </c:spPr>
          </c:dPt>
          <c:dPt>
            <c:idx val="10"/>
            <c:spPr>
              <a:solidFill>
                <a:srgbClr val="C6F432"/>
              </a:solidFill>
            </c:spPr>
          </c:dPt>
          <c:dPt>
            <c:idx val="11"/>
            <c:spPr>
              <a:solidFill>
                <a:srgbClr val="C6F432"/>
              </a:solidFill>
            </c:spPr>
          </c:dPt>
          <c:cat>
            <c:strRef>
              <c:f>Sheet1!$A$2:$A$13</c:f>
              <c:strCache>
                <c:ptCount val="12"/>
                <c:pt idx="0">
                  <c:v>2020 Manager</c:v>
                </c:pt>
                <c:pt idx="1">
                  <c:v>2020 Benchmark</c:v>
                </c:pt>
                <c:pt idx="2">
                  <c:v>2021 Manager</c:v>
                </c:pt>
                <c:pt idx="3">
                  <c:v>2021 Benchmark</c:v>
                </c:pt>
                <c:pt idx="4">
                  <c:v>2022 Manager</c:v>
                </c:pt>
                <c:pt idx="5">
                  <c:v>2022 Benchmark</c:v>
                </c:pt>
                <c:pt idx="6">
                  <c:v>2023 Manager</c:v>
                </c:pt>
                <c:pt idx="7">
                  <c:v>2023 Benchmark</c:v>
                </c:pt>
                <c:pt idx="8">
                  <c:v>2024 Manager</c:v>
                </c:pt>
                <c:pt idx="9">
                  <c:v>2024 Benchmark</c:v>
                </c:pt>
                <c:pt idx="10">
                  <c:v>2025 Manager</c:v>
                </c:pt>
                <c:pt idx="11">
                  <c:v>2025 Benchmark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8.0</c:v>
                </c:pt>
                <c:pt idx="1">
                  <c:v>7.0</c:v>
                </c:pt>
                <c:pt idx="2">
                  <c:v>12.0</c:v>
                </c:pt>
                <c:pt idx="3">
                  <c:v>10.0</c:v>
                </c:pt>
                <c:pt idx="4">
                  <c:v>-14.0</c:v>
                </c:pt>
                <c:pt idx="5">
                  <c:v>-16.0</c:v>
                </c:pt>
                <c:pt idx="6">
                  <c:v>15.0</c:v>
                </c:pt>
                <c:pt idx="7">
                  <c:v>14.0</c:v>
                </c:pt>
                <c:pt idx="8">
                  <c:v>11.0</c:v>
                </c:pt>
                <c:pt idx="9">
                  <c:v>10.0</c:v>
                </c:pt>
                <c:pt idx="10">
                  <c:v>10.0</c:v>
                </c:pt>
                <c:pt idx="11">
                  <c:v>9.0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D1117"/>
            </a:solidFill>
          </c:spPr>
          <c:dPt>
            <c:idx val="0"/>
            <c:spPr>
              <a:solidFill>
                <a:srgbClr val="C6F432"/>
              </a:solidFill>
            </c:spPr>
          </c:dPt>
          <c:dPt>
            <c:idx val="1"/>
            <c:spPr>
              <a:solidFill>
                <a:srgbClr val="C6F432"/>
              </a:solidFill>
            </c:spPr>
          </c:dPt>
          <c:dPt>
            <c:idx val="2"/>
            <c:spPr>
              <a:solidFill>
                <a:srgbClr val="C6F432"/>
              </a:solidFill>
            </c:spPr>
          </c:dPt>
          <c:dPt>
            <c:idx val="3"/>
            <c:spPr>
              <a:solidFill>
                <a:srgbClr val="C6F432"/>
              </a:solidFill>
            </c:spPr>
          </c:dPt>
          <c:cat>
            <c:strRef>
              <c:f>Sheet1!$A$2:$A$5</c:f>
              <c:strCache>
                <c:ptCount val="4"/>
                <c:pt idx="0">
                  <c:v>Below -5%</c:v>
                </c:pt>
                <c:pt idx="1">
                  <c:v>-5% to 0%</c:v>
                </c:pt>
                <c:pt idx="2">
                  <c:v>0% to 5%</c:v>
                </c:pt>
                <c:pt idx="3">
                  <c:v>Above 5%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5.0</c:v>
                </c:pt>
                <c:pt idx="1">
                  <c:v>20.0</c:v>
                </c:pt>
                <c:pt idx="2">
                  <c:v>34.0</c:v>
                </c:pt>
                <c:pt idx="3">
                  <c:v>13.0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D1117"/>
            </a:solidFill>
          </c:spPr>
          <c:dPt>
            <c:idx val="0"/>
            <c:spPr>
              <a:solidFill>
                <a:srgbClr val="C6F432"/>
              </a:solidFill>
            </c:spPr>
          </c:dPt>
          <c:dPt>
            <c:idx val="1"/>
            <c:spPr>
              <a:solidFill>
                <a:srgbClr val="C6F432"/>
              </a:solidFill>
            </c:spPr>
          </c:dPt>
          <c:cat>
            <c:strRef>
              <c:f>Sheet1!$A$2:$A$3</c:f>
              <c:strCache>
                <c:ptCount val="2"/>
                <c:pt idx="0">
                  <c:v>Upside capture</c:v>
                </c:pt>
                <c:pt idx="1">
                  <c:v>Downside capture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105.0</c:v>
                </c:pt>
                <c:pt idx="1">
                  <c:v>92.0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36-month excess return</c:v>
                </c:pt>
              </c:strCache>
            </c:strRef>
          </c:tx>
          <c:spPr>
            <a:ln w="22860">
              <a:solidFill>
                <a:srgbClr val="0D1117"/>
              </a:solidFill>
            </a:ln>
          </c:spPr>
          <c:cat>
            <c:strRef>
              <c:f>Sheet1!$A$2:$A$8</c:f>
              <c:strCache>
                <c:ptCount val="7"/>
                <c:pt idx="0">
                  <c:v>2022-12-31</c:v>
                </c:pt>
                <c:pt idx="1">
                  <c:v>2023-06-30</c:v>
                </c:pt>
                <c:pt idx="2">
                  <c:v>2023-12-31</c:v>
                </c:pt>
                <c:pt idx="3">
                  <c:v>2024-06-30</c:v>
                </c:pt>
                <c:pt idx="4">
                  <c:v>2024-12-31</c:v>
                </c:pt>
                <c:pt idx="5">
                  <c:v>2025-06-30</c:v>
                </c:pt>
                <c:pt idx="6">
                  <c:v>2025-12-31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1.0</c:v>
                </c:pt>
                <c:pt idx="1">
                  <c:v>1.2</c:v>
                </c:pt>
                <c:pt idx="2">
                  <c:v>1.3</c:v>
                </c:pt>
                <c:pt idx="3">
                  <c:v>1.0</c:v>
                </c:pt>
                <c:pt idx="4">
                  <c:v>0.8</c:v>
                </c:pt>
                <c:pt idx="5">
                  <c:v>1.1</c:v>
                </c:pt>
                <c:pt idx="6">
                  <c:v>1.4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numFmt formatCode="0.0&quot;%&quot;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12-month Sharpe</c:v>
                </c:pt>
              </c:strCache>
            </c:strRef>
          </c:tx>
          <c:spPr>
            <a:ln w="22860">
              <a:solidFill>
                <a:srgbClr val="0D1117"/>
              </a:solidFill>
            </a:ln>
          </c:spPr>
          <c:cat>
            <c:strRef>
              <c:f>Sheet1!$A$2:$A$8</c:f>
              <c:strCache>
                <c:ptCount val="7"/>
                <c:pt idx="0">
                  <c:v>2022-12-31</c:v>
                </c:pt>
                <c:pt idx="1">
                  <c:v>2023-06-30</c:v>
                </c:pt>
                <c:pt idx="2">
                  <c:v>2023-12-31</c:v>
                </c:pt>
                <c:pt idx="3">
                  <c:v>2024-06-30</c:v>
                </c:pt>
                <c:pt idx="4">
                  <c:v>2024-12-31</c:v>
                </c:pt>
                <c:pt idx="5">
                  <c:v>2025-06-30</c:v>
                </c:pt>
                <c:pt idx="6">
                  <c:v>2025-12-31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-0.95</c:v>
                </c:pt>
                <c:pt idx="1">
                  <c:v>0.4</c:v>
                </c:pt>
                <c:pt idx="2">
                  <c:v>1.1</c:v>
                </c:pt>
                <c:pt idx="3">
                  <c:v>0.92</c:v>
                </c:pt>
                <c:pt idx="4">
                  <c:v>0.78</c:v>
                </c:pt>
                <c:pt idx="5">
                  <c:v>0.89</c:v>
                </c:pt>
                <c:pt idx="6">
                  <c:v>0.84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36-month Sharpe</c:v>
                </c:pt>
              </c:strCache>
            </c:strRef>
          </c:tx>
          <c:spPr>
            <a:ln w="22860">
              <a:solidFill>
                <a:srgbClr val="7FA600"/>
              </a:solidFill>
            </a:ln>
          </c:spPr>
          <c:cat>
            <c:strRef>
              <c:f>Sheet1!$A$2:$A$8</c:f>
              <c:strCache>
                <c:ptCount val="7"/>
                <c:pt idx="0">
                  <c:v>2022-12-31</c:v>
                </c:pt>
                <c:pt idx="1">
                  <c:v>2023-06-30</c:v>
                </c:pt>
                <c:pt idx="2">
                  <c:v>2023-12-31</c:v>
                </c:pt>
                <c:pt idx="3">
                  <c:v>2024-06-30</c:v>
                </c:pt>
                <c:pt idx="4">
                  <c:v>2024-12-31</c:v>
                </c:pt>
                <c:pt idx="5">
                  <c:v>2025-06-30</c:v>
                </c:pt>
                <c:pt idx="6">
                  <c:v>2025-12-31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0.24</c:v>
                </c:pt>
                <c:pt idx="1">
                  <c:v>0.31</c:v>
                </c:pt>
                <c:pt idx="2">
                  <c:v>0.38</c:v>
                </c:pt>
                <c:pt idx="3">
                  <c:v>0.45</c:v>
                </c:pt>
                <c:pt idx="4">
                  <c:v>0.5</c:v>
                </c:pt>
                <c:pt idx="5">
                  <c:v>0.53</c:v>
                </c:pt>
                <c:pt idx="6">
                  <c:v>0.55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numFmt formatCode="0.00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Ending wealth advantage survived drawdown</a:t>
            </a:r>
          </a:p>
          <a:p>
            <a:r>
              <a:t>Observation: Growth ended at 146.1 versus 135.1, with drawdowns of -18.2% and -20.1% [S2]. Why it matters: The wealth advantage survived the deepest loss. Uncertainty: Returned annual display points omit monthly path detail. What would change the view: An ending value below 135.1 or manager drawdown below -20.1%.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Return retained absolute risk</a:t>
            </a:r>
          </a:p>
          <a:p>
            <a:r>
              <a:t>Observation: The manager returned 6.5% with 12.4% volatility and -18.2% drawdown [S1]. Why it matters: Positive compounding required material loss tolerance. Uncertainty: Seventy-two months include one major drawdown. What would change the view: An 84-month governed update below 5.1% return or below -20.1% drawdown.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Positive edge, moderate efficiency</a:t>
            </a:r>
          </a:p>
          <a:p>
            <a:r>
              <a:t>Observation: Excess return was 1.4 points, information ratio 0.32, and capture 105% upside / 92% downside [S2]. Why it matters: Participation was favorable but only moderately efficient. Uncertainty: Only 72 monthly observations are available for both estimates. What would change the view: Downside capture above 100% or information ratio below zero.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Stable sign, sensitive magnitude</a:t>
            </a:r>
          </a:p>
          <a:p>
            <a:r>
              <a:t>Observation: Four windows had positive excess, while manager returns ranged from 4.8% to 12.0% [S3]. Why it matters: Relative sign was stable but absolute outcome varied. Uncertainty: The shortest window has 36 post-decline observations. What would change the view: A negative returned window or 36-month Sharpe below zero.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Benchmark choice changes strength, not sign</a:t>
            </a:r>
          </a:p>
          <a:p>
            <a:r>
              <a:t>Observation: Excess return narrows from 1.4 percentage points to 0.5 percentage points and information ratio falls from 0.32 to 0.11 against the advisory alternative [S2][S5]. Why it matters: The relative case is less persuasive under a broader comparator. Uncertainty: The alternative benchmark is advisory rather than server matched. What would change the view: A canonical alternative benchmark with annualized excess at or below 0.0 percentage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xhib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-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ppend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Oval 2"/>
          <p:cNvSpPr/>
          <p:nvPr/>
        </p:nvSpPr>
        <p:spPr>
          <a:xfrm>
            <a:off x="9372600" y="164592"/>
            <a:ext cx="2514600" cy="2514600"/>
          </a:xfrm>
          <a:prstGeom prst="ellipse">
            <a:avLst/>
          </a:prstGeom>
          <a:solidFill>
            <a:srgbClr val="161C24"/>
          </a:solidFill>
          <a:ln>
            <a:solidFill>
              <a:srgbClr val="16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475488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GradientCIO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9966960" cy="27432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C6F432"/>
                </a:solidFill>
                <a:latin typeface="Inter"/>
              </a:defRPr>
            </a:pPr>
            <a:r>
              <a:rPr>
                <a:latin typeface="Inter"/>
              </a:rPr>
              <a:t>INVESTMENT DUE DILIGENCE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76272"/>
            <a:ext cx="9966960" cy="12344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34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Northstar Select Equity Composite (TEST)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456432"/>
            <a:ext cx="9692640" cy="6400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9AA5B1"/>
                </a:solidFill>
                <a:latin typeface="Inter"/>
              </a:defRPr>
            </a:pPr>
            <a:r>
              <a:rPr>
                <a:latin typeface="Inter"/>
              </a:rPr>
              <a:t>Single-manager performance assessment · fictional TEST data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4251960"/>
            <a:ext cx="1005840" cy="54864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85800" y="4572000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773168"/>
            <a:ext cx="306324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Single manager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4572000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OBSERVATION WINDOW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4773168"/>
            <a:ext cx="306324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2020-01-31 to 2025-12-31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4572000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OBSERVATIONS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4773168"/>
            <a:ext cx="306324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72 monthly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230368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PRIMARY BENCHMARK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431536"/>
            <a:ext cx="306324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Northstar Core Equity Benchmark (TEST)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5230368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BENCHMARK STATUS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5431536"/>
            <a:ext cx="306324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Server matched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5230368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DATA SCOPE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5431536"/>
            <a:ext cx="306324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Fictional Gradient-governed TEST evidence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5833872"/>
            <a:ext cx="3063240" cy="384048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822960" y="5934456"/>
            <a:ext cx="2788920" cy="16459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Positive edge; moderate reliability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77639" y="5824728"/>
            <a:ext cx="3108960" cy="16459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EVIDENCE COMPLETENESS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77639" y="5998464"/>
            <a:ext cx="3108960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5 of 5 · Complete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473952"/>
            <a:ext cx="80467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TEST DATA — fictional manager and benchmarks for rendering tests only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0" y="6473952"/>
            <a:ext cx="274320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70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GradientCIO.com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POSITIVE FULL-WINDOW EDGE WITH MODERATE RISK-ADJUSTED RELIABILITY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Executive 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2644902" cy="1123430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2644902" cy="45720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749808" y="1453895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ANNUALIZED RETURN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709928"/>
            <a:ext cx="2425446" cy="3932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6.5%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120126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2020-01-31 to 2025-12-31 [S1]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94710" y="1325880"/>
            <a:ext cx="2644902" cy="1123430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4" name="Rectangle 13"/>
          <p:cNvSpPr/>
          <p:nvPr/>
        </p:nvSpPr>
        <p:spPr>
          <a:xfrm>
            <a:off x="3394710" y="1325880"/>
            <a:ext cx="2644902" cy="45720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3504438" y="1453895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EXCESS VS BENCHMARK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4438" y="1709928"/>
            <a:ext cx="2425446" cy="3932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+1.4pp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04438" y="2120126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Annualized, same 72 months [S2]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9340" y="1325880"/>
            <a:ext cx="2644902" cy="1123430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9" name="Rectangle 18"/>
          <p:cNvSpPr/>
          <p:nvPr/>
        </p:nvSpPr>
        <p:spPr>
          <a:xfrm>
            <a:off x="6149340" y="1325880"/>
            <a:ext cx="2644902" cy="45720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6259068" y="1453895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INFORMATION RATIO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59068" y="1709928"/>
            <a:ext cx="2425446" cy="3932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0.32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9068" y="2120126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2020-01-31 to 2025-12-31 [S2]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03970" y="1325880"/>
            <a:ext cx="2644902" cy="1123430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4" name="Rectangle 23"/>
          <p:cNvSpPr/>
          <p:nvPr/>
        </p:nvSpPr>
        <p:spPr>
          <a:xfrm>
            <a:off x="8903970" y="1325880"/>
            <a:ext cx="2644902" cy="45720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9013698" y="1453895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MAX DRAWDOWN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13698" y="1709928"/>
            <a:ext cx="2425446" cy="3932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-18.2%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13698" y="2120126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Observed through 2025-12-31 [S1]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2632190"/>
            <a:ext cx="73152" cy="572691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896112" y="2604758"/>
            <a:ext cx="10588752" cy="417017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Positive observed edge; reliability remains moderate.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" y="2990435"/>
            <a:ext cx="10588752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The manager outpaced the matched benchmark across every returned start-date window, but the 0.32 information ratio and 72-month sample do not establish persistence. A negative rolling 36-month excess path or downside capture above 100% would weaken the view [S2][S3].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3387761"/>
            <a:ext cx="10908792" cy="1417250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2" name="Rectangle 31"/>
          <p:cNvSpPr/>
          <p:nvPr/>
        </p:nvSpPr>
        <p:spPr>
          <a:xfrm>
            <a:off x="640080" y="3387761"/>
            <a:ext cx="54864" cy="1417250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3" name="TextBox 32"/>
          <p:cNvSpPr txBox="1"/>
          <p:nvPr/>
        </p:nvSpPr>
        <p:spPr>
          <a:xfrm>
            <a:off x="804671" y="3497489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Key judgment — full-window outcome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1" y="3780953"/>
            <a:ext cx="10616184" cy="93261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The manager returned 6.5% annualized versus 5.1% for the matched benchmark from 2020-01-31 through 2025-12-31 [S1]. Why it matters: The observed track record compounded to a higher ending value. Uncertainty: Only 72 monthly observations cover one severe market decline. What would change the view: A governed 84-month common-window refresh with annualized excess at or below 0.0 percentage points.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4914740"/>
            <a:ext cx="10908792" cy="1303179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6" name="Rectangle 35"/>
          <p:cNvSpPr/>
          <p:nvPr/>
        </p:nvSpPr>
        <p:spPr>
          <a:xfrm>
            <a:off x="640080" y="4914740"/>
            <a:ext cx="54864" cy="1303179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7" name="TextBox 36"/>
          <p:cNvSpPr txBox="1"/>
          <p:nvPr/>
        </p:nvSpPr>
        <p:spPr>
          <a:xfrm>
            <a:off x="804671" y="5024468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Key judgment — relative efficiency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4671" y="5307932"/>
            <a:ext cx="10616184" cy="818547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Annualized excess return was 1.4 percentage points with a 0.32 information ratio [S2]. Why it matters: Positive relative return was achieved with only moderate efficiency. Uncertainty: The 72-observation tracking-error estimate may shift as history extends. What would change the view: A governed information ratio below zero or above 0.50 over at least 84 months.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40" name="TextBox 39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S2 · S3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TEST DATA — fictional manager and benchmarks for rendering tests only · Data as of 2025-12-31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POSITIVE FULL-WINDOW EDGE WITH MODERATE RISK-ADJUSTED RELIABILITY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Executive conclusion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10908792" cy="4892040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54864" cy="4892040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Key judgment — benchmark dependence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719072"/>
            <a:ext cx="10616184" cy="440740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Excess return narrows to 0.5 percentage points against the advisory alternative benchmark [S5]. Why it matters: The sign remains positive, but the strength of the relative conclusion depends on benchmark choice. Uncertainty: The alternative benchmark is not the canonical server match. What would change the view: Mandate confirmation that replaces the primary match or returns negative alternative-benchmark excess.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TEST DATA — fictional manager and benchmarks for rendering tests only · Data as of 2025-12-31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THE ENDING WEALTH ADVANTAGE SURVIVED THE DEEPEST OBSERVED DRAWDOWN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Track record over 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CUMULATIVE GROWTH OF 100 · 2019-12-31 TO 2025-12-31 [S2]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TEST DATA — fictional manager and benchmarks for rendering tests only · Data as of 2025-12-31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THE ENDING WEALTH ADVANTAGE SURVIVED THE DEEPEST OBSERVED DRAWDOWN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Track record over time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OBSERVED DRAWDOWN PATH · 2020-01-31 TO 2025-12-31 [S2]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TEST DATA — fictional manager and benchmarks for rendering tests only · Data as of 2025-12-31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THE ENDING WEALTH ADVANTAGE SURVIVED THE DEEPEST OBSERVED DRAWDOWN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Track record over time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10908792" cy="4892040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54864" cy="4892040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Analysis — Ending wealth advantage survived drawdown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719072"/>
            <a:ext cx="10616184" cy="440740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Growth ended at 146.1 versus 135.1, with drawdowns of -18.2% and -20.1% [S2]. Why it matters: The wealth advantage survived the deepest loss. Uncertainty: Returned annual display…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TEST DATA — fictional manager and benchmarks for rendering tests only · Data as of 2025-12-31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COMPLETE MONTHLY COVERAGE WITH A SERVER-MATCHED PRIMARY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Data and benchmark coverage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EVIDENCE COVERAGE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448556"/>
                <a:gridCol w="4448556"/>
              </a:tblGrid>
              <a:tr h="76962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Note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Manager return series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complete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72 of 72 monthly observations, 2020-01-31 to 2025-12-31 [S1]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Primary benchmark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complete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Northstar Core Equity Benchmark (TEST), server matched [S1]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Relative and capture views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complete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Common 72-month window [S2]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Date-window robustness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complete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Four returned start dates [S3]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Alternative benchmark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partial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Governed comparison returned; mapping remains advisory [S5]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S2 · S3 · S5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TEST DATA — fictional manager and benchmarks for rendering tests only · Data as of 2025-12-31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COMPLETE MONTHLY COVERAGE WITH A SERVER-MATCHED PRIMARY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Data and benchmark coverage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SERIES AND BENCHMARK IDENTITY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908792" cy="33222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8897112"/>
              </a:tblGrid>
              <a:tr h="55371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Manager series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returns-test-northstar-select [S1]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5371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Primary benchmark series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benchmark-test-northstar-core-equity [S1]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55371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Frequency / observations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Monthly / 72 [S1]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5371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Return basis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Total return, net of reported manager fees [S1]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55371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Currency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USD [S1]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53719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Alternative benchmark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Northstar Broad Equity Benchmark (TEST), advisory [S5]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5032222"/>
            <a:ext cx="10908792" cy="1185697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Rectangle 10"/>
          <p:cNvSpPr/>
          <p:nvPr/>
        </p:nvSpPr>
        <p:spPr>
          <a:xfrm>
            <a:off x="640080" y="5032222"/>
            <a:ext cx="54864" cy="1185697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804671" y="5141950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Coverage 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5425414"/>
            <a:ext cx="10616184" cy="701065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The report uses the common returned window and preserves the server-matched primary benchmark. The advisory alternative benchmark is isolated in its own sensitivity section and does not replace the primary result [S1][S5].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TEST DATA — fictional manager and benchmarks for rendering tests only · Data as of 2025-12-31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POSITIVE COMPOUNDING CAME WITH DOUBLE-DIGIT VOLATILITY AND AN 18.2% DRAWDOWN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Absolute risk and return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CALENDAR-YEAR RETURNS · GROUPED MANAGER AND BENCHMARK BARS [S2]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TEST DATA — fictional manager and benchmarks for rendering tests only · Data as of 2025-12-31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POSITIVE COMPOUNDING CAME WITH DOUBLE-DIGIT VOLATILITY AND AN 18.2% DRAWDOWN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Absolute risk and return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CALENDAR-YEAR RETURN DETAIL [S2]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24278"/>
                <a:gridCol w="2224278"/>
                <a:gridCol w="2224278"/>
                <a:gridCol w="2224278"/>
              </a:tblGrid>
              <a:tr h="659674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Year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Manager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Benchmark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Excess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8.0%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7.0%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+1.0pp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2021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12.0%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10.0%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+2.0pp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S2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-14.0%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-16.0%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+2.0pp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2023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15.0%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14.0%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+1.0pp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S2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11.0%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10.0%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+1.0pp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59676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2025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10.0%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9.0%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+1.0pp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S2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TEST DATA — fictional manager and benchmarks for rendering tests only · Data as of 2025-12-31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POSITIVE COMPOUNDING CAME WITH DOUBLE-DIGIT VOLATILITY AND AN 18.2% DRAWDOWN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Absolute risk and return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REALIZED MONTHLY RETURN DISTRIBUTION [S2]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TEST DATA — fictional manager and benchmarks for rendering tests only · Data as of 2025-12-31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POSITIVE COMPOUNDING CAME WITH DOUBLE-DIGIT VOLATILITY AND AN 18.2% DRAWDOWN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Absolute risk and return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MODEL OUTPUTS (SIMULATED)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908792" cy="13293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448556"/>
                <a:gridCol w="4448556"/>
              </a:tblGrid>
              <a:tr h="332343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10-year output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Returned value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332343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Expected annualized return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6.8%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32343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Expected annualized volatility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12.1%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S4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3234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10-year terminal wealth median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193.4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2947862"/>
            <a:ext cx="10908792" cy="16459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8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Server-returned 10-year simulated outputs from the outer response; not realized series-view evidence [S4].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4047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RISK AND RETURN BY COMMON WINDOW [S1]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40080" y="3514790"/>
          <a:ext cx="10908792" cy="27031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482852"/>
                <a:gridCol w="1482852"/>
                <a:gridCol w="1482852"/>
                <a:gridCol w="1482852"/>
                <a:gridCol w="1482852"/>
                <a:gridCol w="1482852"/>
              </a:tblGrid>
              <a:tr h="386161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Window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Series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Ann. return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Ann. volatility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Sharpe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Max drawdown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386161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2020-01-31 to 2025-12-31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Manager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6.5%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12.4%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0.45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-18.2%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6161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2020-01-31 to 2025-12-31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Benchmark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5.1%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11.8%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0.36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-20.1%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S1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86161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2021-01-31 to 2025-12-31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Manager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6.2%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12.8%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0.41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-18.2%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6161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2021-01-31 to 2025-12-31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Benchmark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4.8%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12.1%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0.32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-20.1%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S1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86161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2023-01-31 to 2025-12-31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Manager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12.0%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10.9%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0.92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-7.1%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6163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2023-01-31 to 2025-12-31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Benchmark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11.0%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10.5%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0.86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-8.0%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S1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TEST DATA — fictional manager and benchmarks for rendering tests only · Data as of 2025-12-31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POSITIVE COMPOUNDING CAME WITH DOUBLE-DIGIT VOLATILITY AND AN 18.2% DRAWDOWN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Absolute risk and return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10908792" cy="4892040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54864" cy="4892040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Analysis — Return retained absolute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719072"/>
            <a:ext cx="10616184" cy="440740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The manager returned 6.5% with 12.4% volatility and -18.2% drawdown [S1]. Why it matters: Positive compounding required material loss tolerance. Uncertainty: Seventy-two months include one major drawdown…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TEST DATA — fictional manager and benchmarks for rendering tests only · Data as of 2025-12-31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CAPTURE WAS FAVORABLE, WHILE THE INFORMATION RATIO REMAINED MODERATE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Relative performance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UPSIDE AND DOWNSIDE CAPTURE · 2020-01-31 TO 2025-12-31 [S2]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TEST DATA — fictional manager and benchmarks for rendering tests only · Data as of 2025-12-31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CAPTURE WAS FAVORABLE, WHILE THE INFORMATION RATIO REMAINED MODERATE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Relative performance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ROLLING 36-MONTH ANNUALIZED EXCESS RETURN · RELATIVE VIEW [S2]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TEST DATA — fictional manager and benchmarks for rendering tests only · Data as of 2025-12-31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CAPTURE WAS FAVORABLE, WHILE THE INFORMATION RATIO REMAINED MODERATE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Relative performance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REALIZED RELATIVE PERFORMANCE [S2]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908792" cy="22969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482852"/>
                <a:gridCol w="1482852"/>
                <a:gridCol w="1482852"/>
                <a:gridCol w="1482852"/>
                <a:gridCol w="1482852"/>
                <a:gridCol w="1482852"/>
              </a:tblGrid>
              <a:tr h="574247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Window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Manager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Benchmark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Excess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Tracking error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Information ratio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574247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6 years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6.5%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5.1%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+1.4pp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4.3%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0.32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74247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5 years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6.2%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4.8%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+1.4pp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4.5%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0.31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S2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574250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3 years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12.0%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11.0%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+1.0pp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3.8%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0.26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4006919"/>
            <a:ext cx="10908792" cy="2211000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Rectangle 10"/>
          <p:cNvSpPr/>
          <p:nvPr/>
        </p:nvSpPr>
        <p:spPr>
          <a:xfrm>
            <a:off x="640080" y="4006919"/>
            <a:ext cx="54864" cy="2211000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804671" y="411664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Analysis — Positive edge, moderate efficiency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4400111"/>
            <a:ext cx="10616184" cy="17263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Excess return was 1.4 points, information ratio 0.32, and capture 105% upside / 92% downside [S2]. Why it matters: Participation was favorable but only moderately efficient. Uncertainty…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TEST DATA — fictional manager and benchmarks for rendering tests only · Data as of 2025-12-31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ALL RETURNED START DATES PRESERVED POSITIVE EXCESS, BUT OUTCOMES VARIED MATERIALLY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Reliability and date-window sensitivity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ROLLING SHARPE RELIABILITY CHECK [S2]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TEST DATA — fictional manager and benchmarks for rendering tests only · Data as of 2025-12-31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ALL RETURNED START DATES PRESERVED POSITIVE EXCESS, BUT OUTCOMES VARIED MATERIALLY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Reliability and date-window sensitivity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DATE-WINDOW SENSITIVITY DETAIL [S3]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908792" cy="26233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482852"/>
                <a:gridCol w="1482852"/>
                <a:gridCol w="1482852"/>
                <a:gridCol w="1482852"/>
                <a:gridCol w="1482852"/>
                <a:gridCol w="1482852"/>
              </a:tblGrid>
              <a:tr h="524661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Start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End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Months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Manager ann. return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Benchmark ann. return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Excess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524661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2020-01-31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2025-12-31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72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6.5%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5.1%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+1.4pp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24661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2021-01-31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2025-12-31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60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6.2%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4.8%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+1.4pp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S3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524661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2022-01-31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2025-12-31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48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4.8%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3.5%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+1.3pp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24664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2023-01-31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2025-12-31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36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12.0%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11.0%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+1.0pp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S3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4333236"/>
            <a:ext cx="10908792" cy="1884683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Rectangle 10"/>
          <p:cNvSpPr/>
          <p:nvPr/>
        </p:nvSpPr>
        <p:spPr>
          <a:xfrm>
            <a:off x="640080" y="4333236"/>
            <a:ext cx="54864" cy="1884683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804671" y="4442964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Analysis — Stable sign, sensitive magnitude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4726428"/>
            <a:ext cx="10616184" cy="1400051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Four windows had positive excess, while manager returns ranged from 4.8% to 12.0% [S3]. Why it matters: Relative sign was stable but absolute outcome varied. Uncertainty: The…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TEST DATA — fictional manager and benchmarks for rendering tests only · Data as of 2025-12-31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THE ALTERNATIVE BENCHMARK PRESERVES THE SIGN BUT WEAKENS THE RELATIVE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Benchmark sensitivity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SECOND-BENCHMARK COMPARISON [S5]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908790" cy="16995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779422"/>
                <a:gridCol w="1779422"/>
                <a:gridCol w="1779422"/>
                <a:gridCol w="1779422"/>
                <a:gridCol w="1779422"/>
              </a:tblGrid>
              <a:tr h="566529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Benchmark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Ann. benchmark return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Manager excess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Information ratio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566529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Northstar Core Equity Benchmark (TEST)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Server matched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5.1%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+1.4pp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0.32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S1 / S2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529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Northstar Broad Equity Benchmark (TEST)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Advisory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6.0%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+0.5pp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0.11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S5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3409515"/>
            <a:ext cx="10908792" cy="2808404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Rectangle 10"/>
          <p:cNvSpPr/>
          <p:nvPr/>
        </p:nvSpPr>
        <p:spPr>
          <a:xfrm>
            <a:off x="640080" y="3409515"/>
            <a:ext cx="54864" cy="2808404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804671" y="3519243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Analysis — Benchmark choice changes strength, not 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3802707"/>
            <a:ext cx="10616184" cy="232377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Excess return narrows from 1.4 percentage points to 0.5 percentage points and information ratio falls from 0.32 to 0.11 against the advisory alternative [S2][S5]. Why it matters…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S2 · S5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TEST DATA — fictional manager and benchmarks for rendering tests only · Data as of 2025-12-31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FOUR BOUNDED GAPS DEFINE THE NEXT DILIGENCE 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Limitations and follow-ups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00200"/>
            <a:ext cx="10908792" cy="1801951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The realized sample contains 72 monthly observations and one major drawdown episode, limiting inference about persistence [S1].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The primary benchmark is server matched, but mandate documentation was not included in the governed response [S1].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Capture ratios depend on returned up- and down-month classifications and may change as the sample extends [S2].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The 10-year expected-statistics outputs are model evidence and cannot be treated as realized manager performance [S4].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511879"/>
            <a:ext cx="10908792" cy="2706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01  Can the manager provide mandate documentation confirming that the server-matched primary benchmark reflects the strategy actually managed during the full window?</a:t>
            </a:r>
            <a:br/>
            <a:r>
              <a:rPr>
                <a:latin typeface="Inter"/>
              </a:rPr>
              <a:t>      Benchmark fit determines whether the 1.4-point annualized excess return is decision-useful [S1].</a:t>
            </a:r>
          </a:p>
          <a:p>
            <a:pPr algn="l">
              <a:spcAft>
                <a:spcPts val="500"/>
              </a:spcAft>
              <a:defRPr sz="100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02  What process or portfolio changes explain the -18.2% drawdown and subsequent recovery?</a:t>
            </a:r>
            <a:br/>
            <a:r>
              <a:rPr>
                <a:latin typeface="Inter"/>
              </a:rPr>
              <a:t>      The largest observed loss is the central absolute-risk event in the returned history [S1].</a:t>
            </a:r>
          </a:p>
          <a:p>
            <a:pPr algn="l">
              <a:spcAft>
                <a:spcPts val="500"/>
              </a:spcAft>
              <a:defRPr sz="100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03  Can the manager reconcile gross, net, and composite return definitions for all 72 observations?</a:t>
            </a:r>
            <a:br/>
            <a:r>
              <a:rPr>
                <a:latin typeface="Inter"/>
              </a:rPr>
              <a:t>      Return-basis consistency is required before extending the performance conclusion to an investment vehicle [S1].</a:t>
            </a:r>
          </a:p>
          <a:p>
            <a:pPr algn="l">
              <a:spcAft>
                <a:spcPts val="500"/>
              </a:spcAft>
              <a:defRPr sz="100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04  Would a governed refresh with at least 84 months preserve positive 36-month excess return and downside capture below 100%?</a:t>
            </a:r>
            <a:br/>
            <a:r>
              <a:rPr>
                <a:latin typeface="Inter"/>
              </a:rPr>
              <a:t>      Those thresholds would directly test persistence and defensive participation [S2][S3].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S2 · S3 · S4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TEST DATA — fictional manager and benchmarks for rendering tests only · Data as of 2025-12-31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SAVED FICTIONAL TEST RESPONSES AND REPRODUCIBILITY LINEAGE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Appendix — Sources and methods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9AA5B1"/>
          </a:solidFill>
          <a:ln>
            <a:solidFill>
              <a:srgbClr val="9AA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SERIES VIEW LINEAGE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448556"/>
                <a:gridCol w="4448556"/>
              </a:tblGrid>
              <a:tr h="419792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Source tag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View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Payload digest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419792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cumulative_growth_base100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sha256:0101010101010101010101010101010101010101010101010101010101010101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19792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S2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drawdown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sha256:0202020202020202020202020202020202020202020202020202020202020202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19792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rolling_return_12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sha256:0303030303030303030303030303030303030303030303030303030303030303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19792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S2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rolling_return_36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sha256:0404040404040404040404040404040404040404040404040404040404040404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19792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rolling_excess_36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sha256:0505050505050505050505050505050505050505050505050505050505050505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19792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S2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rolling_sharpe_12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sha256:0606060606060606060606060606060606060606060606060606060606060606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19792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rolling_sharpe_36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sha256:0707070707070707070707070707070707070707070707070707070707070707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19792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S2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calendar_years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sha256:0808080808080808080808080808080808080808080808080808080808080808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19792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capture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sha256:0909090909090909090909090909090909090909090909090909090909090909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198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S2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distribution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sha256:0a0a0a0a0a0a0a0a0a0a0a0a0a0a0a0a0a0a0a0a0a0a0a0a0a0a0a0a0a0a0a0a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TEST DATA — fictional manager and benchmarks for rendering tests only · Data as of 2025-12-31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SAVED FICTIONAL TEST RESPONSES AND REPRODUCIBILITY LINEAGE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Appendix — Sources and methods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9AA5B1"/>
          </a:solidFill>
          <a:ln>
            <a:solidFill>
              <a:srgbClr val="9AA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SOURCES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112139"/>
                <a:gridCol w="1112139"/>
                <a:gridCol w="1112139"/>
                <a:gridCol w="1112139"/>
                <a:gridCol w="1112139"/>
                <a:gridCol w="1112139"/>
                <a:gridCol w="1112139"/>
                <a:gridCol w="1112139"/>
              </a:tblGrid>
              <a:tr h="76962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Tag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Evidence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Basis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Tool / view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Key parameters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As of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Data scope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Validation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Digest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Observed manager and primary-benchmark summary metrics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gradient_tool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analyze_strategy_lab_compare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manager=returns-test-northstar-select; benchmark=benchmark-test-northstar-core-equity; start=2020-01-31; end=2025-12-31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2025-12-31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72 monthly observations; USD total return; fictional TEST data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passed; request_id=req-test-s1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sha256:aaaaaaaaaaaaaaaaaaaaaaaaaaaaaaaaaaaaaaaaaaaaaaaaaaaaaaaaaaaaaaaa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S2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Realized paths, rolling statistics, relative metrics, capture, and distribution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gradient_tool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run_strategy_lab_relative_return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manager=returns-test-northstar-select; benchmark=benchmark-test-northstar-core-equity; rolling_months=12,36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2025-12-31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Common 72-month manager/benchmark window; fictional TEST data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passed; request_id=req-test-s2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sha256:bbbbbbbbbbbbbbbbbbbbbbbbbbbbbbbbbbbbbbbbbbbbbbbbbbbbbbbbbbbbbbbb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Date-window robustness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gradient_tool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run_strategy_lab_date_window_robustness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starts=2020-01-31,2021-01-31,2022-01-31,2023-01-31; end=2025-12-31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2025-12-31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Four returned start-date windows; fictional TEST data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passed; request_id=req-test-s3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sha256:cccccccccccccccccccccccccccccccccccccccccccccccccccccccccccccccc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S4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10-year simulated expected-statistics outputs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gradient_tool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run_strategy_lab_expected_statistics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horizon=10y; outputs=annualized_return,annualized_volatility,terminal_wealth_median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2025-12-31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Server-returned model outputs; fictional TEST data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passed; request_id=req-test-s4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sha256:dddddddddddddddddddddddddddddddddddddddddddddddddddddddddddddddd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Alternative-benchmark sensitivity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gradient_tool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analyze_strategy_lab_compare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manager=returns-test-northstar-select; benchmark=benchmark-test-northstar-broad-equity; status=advisory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2025-12-31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Same 72-month window; fictional TEST data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passed; request_id=req-test-s5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sha256:eeeeeeeeeeeeeeeeeeeeeeeeeeeeeeeeeeeeeeeeeeeeeeeeeeeeeeeeeeeeeeee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S2 · S3 · S4 · S5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TEST DATA — fictional manager and benchmarks for rendering tests only · Data as of 2025-12-31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D1117"/>
      </a:dk1>
      <a:lt1>
        <a:srgbClr val="FFFFFF"/>
      </a:lt1>
      <a:dk2>
        <a:srgbClr val="161C24"/>
      </a:dk2>
      <a:lt2>
        <a:srgbClr val="F5F7F9"/>
      </a:lt2>
      <a:accent1>
        <a:srgbClr val="C6F432"/>
      </a:accent1>
      <a:accent2>
        <a:srgbClr val="4F6B00"/>
      </a:accent2>
      <a:accent3>
        <a:srgbClr val="F2A93B"/>
      </a:accent3>
      <a:accent4>
        <a:srgbClr val="5B8DEF"/>
      </a:accent4>
      <a:accent5>
        <a:srgbClr val="FF6B5E"/>
      </a:accent5>
      <a:accent6>
        <a:srgbClr val="3FB8AF"/>
      </a:accent6>
      <a:hlink>
        <a:srgbClr val="0000FF"/>
      </a:hlink>
      <a:folHlink>
        <a:srgbClr val="800080"/>
      </a:folHlink>
    </a:clrScheme>
    <a:fontScheme name="Office">
      <a:maj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Northstar Select Equity Composite (TEST)</dc:title>
  <dc:subject>Manager Performance</dc:subject>
  <dc:creator>GradientCIO</dc:creator>
  <cp:keywords>Gradient report theme 2.2.0</cp:keywords>
  <dc:description>generated using python-pptx</dc:description>
  <cp:lastModifiedBy>GradientCIO</cp:lastModifiedBy>
  <cp:revision>1</cp:revision>
  <dcterms:created xsi:type="dcterms:W3CDTF">2020-01-01T00:00:00Z</dcterms:created>
  <dcterms:modified xsi:type="dcterms:W3CDTF">2020-01-01T00:00:00Z</dcterms:modified>
  <cp:category/>
</cp:coreProperties>
</file>