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Northstar Select Equity Composite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2019-12-31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100.0</c:v>
                </c:pt>
                <c:pt idx="1">
                  <c:v>108.0</c:v>
                </c:pt>
                <c:pt idx="2">
                  <c:v>121.0</c:v>
                </c:pt>
                <c:pt idx="3">
                  <c:v>104.0</c:v>
                </c:pt>
                <c:pt idx="4">
                  <c:v>119.6</c:v>
                </c:pt>
                <c:pt idx="5">
                  <c:v>132.8</c:v>
                </c:pt>
                <c:pt idx="6">
                  <c:v>146.1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Northstar Core Equity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Sheet1!$A$2:$A$8</c:f>
              <c:strCache>
                <c:ptCount val="7"/>
                <c:pt idx="0">
                  <c:v>2019-12-31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100.0</c:v>
                </c:pt>
                <c:pt idx="1">
                  <c:v>107.0</c:v>
                </c:pt>
                <c:pt idx="2">
                  <c:v>117.7</c:v>
                </c:pt>
                <c:pt idx="3">
                  <c:v>98.9</c:v>
                </c:pt>
                <c:pt idx="4">
                  <c:v>112.7</c:v>
                </c:pt>
                <c:pt idx="5">
                  <c:v>124.0</c:v>
                </c:pt>
                <c:pt idx="6">
                  <c:v>135.1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8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20.0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Manager drawdown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Sheet1!$A$2:$A$12</c:f>
              <c:strCache>
                <c:ptCount val="11"/>
                <c:pt idx="0">
                  <c:v>2020-01-31</c:v>
                </c:pt>
                <c:pt idx="1">
                  <c:v>2020-03-31</c:v>
                </c:pt>
                <c:pt idx="2">
                  <c:v>2020-12-31</c:v>
                </c:pt>
                <c:pt idx="3">
                  <c:v>2021-12-31</c:v>
                </c:pt>
                <c:pt idx="4">
                  <c:v>2022-03-31</c:v>
                </c:pt>
                <c:pt idx="5">
                  <c:v>2022-06-30</c:v>
                </c:pt>
                <c:pt idx="6">
                  <c:v>2022-12-31</c:v>
                </c:pt>
                <c:pt idx="7">
                  <c:v>2023-06-30</c:v>
                </c:pt>
                <c:pt idx="8">
                  <c:v>2023-12-31</c:v>
                </c:pt>
                <c:pt idx="9">
                  <c:v>2024-12-31</c:v>
                </c:pt>
                <c:pt idx="10">
                  <c:v>2025-12-31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-11.0</c:v>
                </c:pt>
                <c:pt idx="2">
                  <c:v>-2.0</c:v>
                </c:pt>
                <c:pt idx="3">
                  <c:v>0.0</c:v>
                </c:pt>
                <c:pt idx="4">
                  <c:v>-6.0</c:v>
                </c:pt>
                <c:pt idx="5">
                  <c:v>-18.2</c:v>
                </c:pt>
                <c:pt idx="6">
                  <c:v>-10.5</c:v>
                </c:pt>
                <c:pt idx="7">
                  <c:v>-4.0</c:v>
                </c:pt>
                <c:pt idx="8">
                  <c:v>0.0</c:v>
                </c:pt>
                <c:pt idx="9">
                  <c:v>0.0</c:v>
                </c:pt>
                <c:pt idx="10">
                  <c:v>-1.5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drawdown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Sheet1!$A$2:$A$12</c:f>
              <c:strCache>
                <c:ptCount val="11"/>
                <c:pt idx="0">
                  <c:v>2020-01-31</c:v>
                </c:pt>
                <c:pt idx="1">
                  <c:v>2020-03-31</c:v>
                </c:pt>
                <c:pt idx="2">
                  <c:v>2020-12-31</c:v>
                </c:pt>
                <c:pt idx="3">
                  <c:v>2021-12-31</c:v>
                </c:pt>
                <c:pt idx="4">
                  <c:v>2022-03-31</c:v>
                </c:pt>
                <c:pt idx="5">
                  <c:v>2022-06-30</c:v>
                </c:pt>
                <c:pt idx="6">
                  <c:v>2022-12-31</c:v>
                </c:pt>
                <c:pt idx="7">
                  <c:v>2023-06-30</c:v>
                </c:pt>
                <c:pt idx="8">
                  <c:v>2023-12-31</c:v>
                </c:pt>
                <c:pt idx="9">
                  <c:v>2024-12-31</c:v>
                </c:pt>
                <c:pt idx="10">
                  <c:v>2025-12-31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0.0</c:v>
                </c:pt>
                <c:pt idx="1">
                  <c:v>-12.5</c:v>
                </c:pt>
                <c:pt idx="2">
                  <c:v>-2.8</c:v>
                </c:pt>
                <c:pt idx="3">
                  <c:v>0.0</c:v>
                </c:pt>
                <c:pt idx="4">
                  <c:v>-7.4</c:v>
                </c:pt>
                <c:pt idx="5">
                  <c:v>-20.1</c:v>
                </c:pt>
                <c:pt idx="6">
                  <c:v>-12.4</c:v>
                </c:pt>
                <c:pt idx="7">
                  <c:v>-5.1</c:v>
                </c:pt>
                <c:pt idx="8">
                  <c:v>0.0</c:v>
                </c:pt>
                <c:pt idx="9">
                  <c:v>-0.8</c:v>
                </c:pt>
                <c:pt idx="10">
                  <c:v>-2.2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30.0"/>
        </c:scaling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10.0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Pt>
            <c:idx val="5"/>
            <c:spPr>
              <a:solidFill>
                <a:srgbClr val="FF6B5E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dPt>
            <c:idx val="7"/>
            <c:spPr>
              <a:solidFill>
                <a:srgbClr val="C6F432"/>
              </a:solidFill>
            </c:spPr>
          </c:dPt>
          <c:dPt>
            <c:idx val="8"/>
            <c:spPr>
              <a:solidFill>
                <a:srgbClr val="C6F432"/>
              </a:solidFill>
            </c:spPr>
          </c:dPt>
          <c:dPt>
            <c:idx val="9"/>
            <c:spPr>
              <a:solidFill>
                <a:srgbClr val="C6F432"/>
              </a:solidFill>
            </c:spPr>
          </c:dPt>
          <c:dPt>
            <c:idx val="10"/>
            <c:spPr>
              <a:solidFill>
                <a:srgbClr val="C6F432"/>
              </a:solidFill>
            </c:spPr>
          </c:dPt>
          <c:dPt>
            <c:idx val="1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-16.0%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800"/>
                      <a:t>15.0%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800"/>
                      <a:t>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800"/>
                      <a:t>11.0%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lang="en-US" sz="800"/>
                      <a:t>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Sheet1!$A$2:$A$13</c:f>
              <c:strCache>
                <c:ptCount val="12"/>
                <c:pt idx="0">
                  <c:v>2020 Manager</c:v>
                </c:pt>
                <c:pt idx="1">
                  <c:v>2020 Benchmark</c:v>
                </c:pt>
                <c:pt idx="2">
                  <c:v>2021 Manager</c:v>
                </c:pt>
                <c:pt idx="3">
                  <c:v>2021 Benchmark</c:v>
                </c:pt>
                <c:pt idx="4">
                  <c:v>2022 Manager</c:v>
                </c:pt>
                <c:pt idx="5">
                  <c:v>2022 Benchmark</c:v>
                </c:pt>
                <c:pt idx="6">
                  <c:v>2023 Manager</c:v>
                </c:pt>
                <c:pt idx="7">
                  <c:v>2023 Benchmark</c:v>
                </c:pt>
                <c:pt idx="8">
                  <c:v>2024 Manager</c:v>
                </c:pt>
                <c:pt idx="9">
                  <c:v>2024 Benchmark</c:v>
                </c:pt>
                <c:pt idx="10">
                  <c:v>2025 Manager</c:v>
                </c:pt>
                <c:pt idx="11">
                  <c:v>2025 Benchmark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8.0</c:v>
                </c:pt>
                <c:pt idx="1">
                  <c:v>7.0</c:v>
                </c:pt>
                <c:pt idx="2">
                  <c:v>12.0</c:v>
                </c:pt>
                <c:pt idx="3">
                  <c:v>10.0</c:v>
                </c:pt>
                <c:pt idx="4">
                  <c:v>-14.0</c:v>
                </c:pt>
                <c:pt idx="5">
                  <c:v>-16.0</c:v>
                </c:pt>
                <c:pt idx="6">
                  <c:v>15.0</c:v>
                </c:pt>
                <c:pt idx="7">
                  <c:v>14.0</c:v>
                </c:pt>
                <c:pt idx="8">
                  <c:v>11.0</c:v>
                </c:pt>
                <c:pt idx="9">
                  <c:v>10.0</c:v>
                </c:pt>
                <c:pt idx="10">
                  <c:v>10.0</c:v>
                </c:pt>
                <c:pt idx="11">
                  <c:v>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20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34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13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Below -5%</c:v>
                </c:pt>
                <c:pt idx="1">
                  <c:v>-5% to 0%</c:v>
                </c:pt>
                <c:pt idx="2">
                  <c:v>0% to 5%</c:v>
                </c:pt>
                <c:pt idx="3">
                  <c:v>Above 5%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5.0</c:v>
                </c:pt>
                <c:pt idx="1">
                  <c:v>20.0</c:v>
                </c:pt>
                <c:pt idx="2">
                  <c:v>34.0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105%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92%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Upside capture</c:v>
                </c:pt>
                <c:pt idx="1">
                  <c:v>Downside capture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105.0</c:v>
                </c:pt>
                <c:pt idx="1">
                  <c:v>92.0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36-month excess return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</c:v>
                </c:pt>
                <c:pt idx="1">
                  <c:v>1.2</c:v>
                </c:pt>
                <c:pt idx="2">
                  <c:v>1.3</c:v>
                </c:pt>
                <c:pt idx="3">
                  <c:v>1.0</c:v>
                </c:pt>
                <c:pt idx="4">
                  <c:v>0.8</c:v>
                </c:pt>
                <c:pt idx="5">
                  <c:v>1.1</c:v>
                </c:pt>
                <c:pt idx="6">
                  <c:v>1.4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4000000000000001"/>
          <c:min val="0.8"/>
        </c:scaling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2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12-month Sharpe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-0.95</c:v>
                </c:pt>
                <c:pt idx="1">
                  <c:v>0.4</c:v>
                </c:pt>
                <c:pt idx="2">
                  <c:v>1.1</c:v>
                </c:pt>
                <c:pt idx="3">
                  <c:v>0.92</c:v>
                </c:pt>
                <c:pt idx="4">
                  <c:v>0.78</c:v>
                </c:pt>
                <c:pt idx="5">
                  <c:v>0.89</c:v>
                </c:pt>
                <c:pt idx="6">
                  <c:v>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36-month Sharpe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0.24</c:v>
                </c:pt>
                <c:pt idx="1">
                  <c:v>0.31</c:v>
                </c:pt>
                <c:pt idx="2">
                  <c:v>0.38</c:v>
                </c:pt>
                <c:pt idx="3">
                  <c:v>0.45</c:v>
                </c:pt>
                <c:pt idx="4">
                  <c:v>0.5</c:v>
                </c:pt>
                <c:pt idx="5">
                  <c:v>0.53</c:v>
                </c:pt>
                <c:pt idx="6">
                  <c:v>0.55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Ending wealth advantage survived drawdown</a:t>
            </a:r>
          </a:p>
          <a:p>
            <a:r>
              <a:t>Observation: Growth ended at 146.1 versus 135.1, with drawdowns of -18.2% and -20.1% [S2]. Why it matters: The wealth advantage survived the deepest loss. Uncertainty: Returned annual display points omit monthly path detail. What would change the view: An ending value below 135.1 or manager drawdown below -20.1%.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Return retained absolute risk</a:t>
            </a:r>
          </a:p>
          <a:p>
            <a:r>
              <a:t>Observation: The manager returned 6.5% with 12.4% volatility and -18.2% drawdown [S1]. Why it matters: Positive compounding required material loss tolerance. Uncertainty: Seventy-two months include one major drawdown. What would change the view: An 84-month governed update below 5.1% return or below -20.1% drawdown.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Positive edge, moderate efficiency</a:t>
            </a:r>
          </a:p>
          <a:p>
            <a:r>
              <a:t>Observation: Excess return was 1.4 points, information ratio 0.32, and capture 105% upside / 92% downside [S2]. Why it matters: Participation was favorable but only moderately efficient. Uncertainty: Only 72 monthly observations are available for both estimates. What would change the view: Downside capture above 100% or information ratio below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Stable sign, sensitive magnitude</a:t>
            </a:r>
          </a:p>
          <a:p>
            <a:r>
              <a:t>Observation: Four windows had positive excess, while manager returns ranged from 4.8% to 12.0% [S3]. Why it matters: Relative sign was stable but absolute outcome varied. Uncertainty: The shortest window has 36 post-decline observations. What would change the view: A negative returned window or 36-month Sharpe below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choice changes strength, not sign</a:t>
            </a:r>
          </a:p>
          <a:p>
            <a:r>
              <a:t>Observation: Excess return narrows from 1.4 percentage points to 0.5 percentage points and information ratio falls from 0.32 to 0.11 against the advisory alternative [S2][S5]. Why it matters: The relative case is less persuasive under a broader comparator. Uncertainty: The alternative benchmark is advisory rather than server matched. What would change the view: A canonical alternative benchmark with annualized excess at or below 0.0 percentage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Select Equity Composite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Single-manager performance assessment · Investment Committee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Single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OBSERVATION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2020-01-31 to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OBSERVATIONS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72 monthly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PRIMARY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Core Equity Benchmark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Positive edge; moderate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FULL-WINDOW EDGE WITH MODERATE RISK-ADJUSTED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13271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ANNUALIZED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9928"/>
            <a:ext cx="2425446" cy="464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32387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2020-01-31 to 2025-12-31 [S1]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13271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EXCESS VS 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709928"/>
            <a:ext cx="2425446" cy="464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+1.4pp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232387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Annualized, same 72 months [S2]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13271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INFORMATION RATIO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709928"/>
            <a:ext cx="2425446" cy="464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232387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2020-01-31 to 2025-12-31 [S2]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13271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MAX DRAWDOWN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709928"/>
            <a:ext cx="2425446" cy="464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-18.2%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232387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Observed through 2025-12-31 [S1]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835943"/>
            <a:ext cx="73152" cy="703093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896112" y="2808511"/>
            <a:ext cx="10588752" cy="492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Positive observed edge; reliability remains moderate.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3272429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manager outpaced the matched benchmark across every returned start-date window, but the 0.32 information ratio and 72-month sample do not establish persistence. A negative rolling 36-month excess path or downside capture above 100% would weaken the view [S2][S3].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3721916"/>
            <a:ext cx="10908792" cy="11931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Rectangle 32"/>
          <p:cNvSpPr/>
          <p:nvPr/>
        </p:nvSpPr>
        <p:spPr>
          <a:xfrm>
            <a:off x="640080" y="3721916"/>
            <a:ext cx="54864" cy="119313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04671" y="383164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full-window outcome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" y="4115108"/>
            <a:ext cx="10616184" cy="7085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manager returned 6.5% annualized versus 5.1% for the matched benchmark from 2020-01-31 through 2025-12-31 [S1]. Why it matters: The observed track record compounded to a higher ending value. Uncertainty: Only 72 monthly observations cover one severe market decline. What would change the view: A governed 84-month common-window refresh with annualized excess at or below 0.0 percentage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024782"/>
            <a:ext cx="10908792" cy="11931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7" name="Rectangle 36"/>
          <p:cNvSpPr/>
          <p:nvPr/>
        </p:nvSpPr>
        <p:spPr>
          <a:xfrm>
            <a:off x="640080" y="5024782"/>
            <a:ext cx="54864" cy="119313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804671" y="513451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relative efficiency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1" y="5417974"/>
            <a:ext cx="10616184" cy="7085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Annualized excess return was 1.4 percentage points with a 0.32 information ratio [S2]. Why it matters: Positive relative return was achieved with only moderate efficiency. Uncertainty: The 72-observation tracking-error estimate may shift as history extends. What would change the view: A governed information ratio below zero or above 0.50 over at least 84 months.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FULL-WINDOW EDGE WITH MODERATE RISK-ADJUSTED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 dependence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narrows to 0.5 percentage points against the advisory alternative benchmark [S5]. Why it matters: The sign remains positive, but the strength of the relative conclusion depends on benchmark choice. Uncertainty: The alternative benchmark is not the canonical server match. What would change the view: Mandate confirmation that replaces the primary match or returns negative alternative-benchmark excess.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ENDING WEALTH ADVANTAGE SURVIVED THE DEEPEST OBSERVED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Track record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GROWTH OF 100 · 2019-12-31 TO 2025-12-31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OBSERVED DRAWDOWN PATH · 2020-01-31 TO 2025-12-31 [S2]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348043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309360" y="5190363"/>
            <a:ext cx="5239512" cy="10275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309360" y="5190363"/>
            <a:ext cx="54864" cy="10275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73952" y="5300091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Ending wealth advantage survived drawdown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5583554"/>
            <a:ext cx="4946904" cy="5429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Growth ended at 146.1 versus 135.1, with drawdowns of -18.2% and -20.1% [S2]. Why it matters: The wealth advantage survived the deepest loss. Uncertainty: Returned annual display…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COMPLETE MONTHLY COVERAGE WITH A SERVER-MATCHED PRIMARY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return 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 of 72 monthly observations, 2020-01-31 to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Core Equity Benchmark, server matched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and capture views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Common 72-month window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Date-window robustness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returned start dates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comparison returned; mapping remains advisory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COMPLETE MONTHLY COVERAGE WITH A SERVER-MATCHED PRIMARY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AND BENCHMARK IDENTITY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32486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returns-test-northstar-select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 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benchmark-test-northstar-core-equity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Frequency / observations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/ 72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return, net of reported manager fees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14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Benchmark, advisory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958581"/>
            <a:ext cx="10908792" cy="125933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958581"/>
            <a:ext cx="54864" cy="125933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0683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351773"/>
            <a:ext cx="10616184" cy="77470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uses the common returned window and preserves the server-matched primary benchmark. The advisory alternative benchmark is isolated in its own sensitivity section and does not replace the primary result [S1][S5].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 · GROUPED MANAGER AND BENCHMARK BARS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 DETAIL [S2]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596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MONTHLY RETURN DISTRIBUTION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 OUTPUTS (SIMULATED)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9669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17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output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17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annualized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17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annualized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417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terminal wealth median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193.4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58542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Server-returned 10-year simulated outputs from the outer response; not realized series-view evidence [S4].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7803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AND RETURN BY COMMON WINDOW [S1]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152357"/>
          <a:ext cx="10908792" cy="21052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007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Window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 drawdown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-20.1%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-20.1%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5367315"/>
            <a:ext cx="10908792" cy="8506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367315"/>
            <a:ext cx="54864" cy="8506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4770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Return retained absolute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760507"/>
            <a:ext cx="10616184" cy="3659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manager returned 6.5% with 12.4% volatility and -18.2% drawdown [S1]. Why it matters: Positive compounding required material loss tolerance. Uncertainty: Seventy-two months include one major drawdown…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UPSIDE AND DOWNSIDE CAPTURE · 2020-01-31 TO 2025-12-31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36-MONTH ANNUALIZED EXCESS RETURN · RELATIVE VIEW [S2]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RELATIVE PERFORMANCE [S2]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73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683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Window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83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3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834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443913"/>
            <a:ext cx="10908792" cy="1774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443913"/>
            <a:ext cx="54864" cy="177400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553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Positive edge, moderate efficiency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837105"/>
            <a:ext cx="10616184" cy="1289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was 1.4 points, information ratio 0.32, and capture 105% upside / 92% downside [S2]. Why it matters: Participation was favorable but only moderately efficient. Uncertainty…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RETURNED START DATES PRESERVED POSITIVE EXCESS, BUT OUTCOMES VARIED MATERIALLY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Reliability and date-window sensitivity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SHARPE RELIABILITY CHECK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RETURNED START DATES PRESERVED POSITIVE EXCESS, BUT OUTCOMES VARIED MATERIALLY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Reliability and date-window sensitivity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DATE-WINDOW SENSITIVITY DETAIL [S3]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946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5893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Start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933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933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933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2022-01-31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93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656606"/>
            <a:ext cx="10908792" cy="156131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656606"/>
            <a:ext cx="54864" cy="156131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7663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Stable sign, sensitive magnitude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049798"/>
            <a:ext cx="10616184" cy="10766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Four windows had positive excess, while manager returns ranged from 4.8% to 12.0% [S3]. Why it matters: Relative sign was stable but absolute outcome varied. Uncertainty: The…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ALTERNATIVE BENCHMARK PRESERVES THE SIGN BUT WEAKENS THE RELATIVE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SECOND-BENCHMARK COMPARISON [S5]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2454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81806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benchmark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1806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Core Equity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 / 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1806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164132"/>
            <a:ext cx="10908792" cy="20537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164132"/>
            <a:ext cx="54864" cy="205378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2738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choice changes strength, not 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557324"/>
            <a:ext cx="10616184" cy="15691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narrows from 1.4 percentage points to 0.5 percentage points and information ratio falls from 0.32 to 0.11 against the advisory alternative [S2][S5]. Why it matters…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FOUR BOUNDED GAPS DEFINE THE NEXT DILIGENCE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Limitations and follow-ups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10908792" cy="13658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realized sample contains 72 monthly observations and one major drawdown episode, limiting inference about persistence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primary benchmark is server matched, but mandate documentation was not included in the governed response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Capture ratios depend on returned up- and down-month classifications and may change as the sample extends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10-year expected-statistics outputs are model evidence and cannot be treated as realized manager performance [S4].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75733"/>
            <a:ext cx="10908792" cy="31421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Can the manager provide mandate documentation confirming that the server-matched primary benchmark reflects the strategy actually managed during the full window?</a:t>
            </a:r>
            <a:br/>
            <a:r>
              <a:rPr>
                <a:latin typeface="Inter"/>
              </a:rPr>
              <a:t>      Benchmark fit determines whether the 1.4-point annualized excess return is decision-useful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What process or portfolio changes explain the -18.2% drawdown and subsequent recovery?</a:t>
            </a:r>
            <a:br/>
            <a:r>
              <a:rPr>
                <a:latin typeface="Inter"/>
              </a:rPr>
              <a:t>      The largest observed loss is the central absolute-risk event in the returned history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Can the manager reconcile gross, net, and composite return definitions for all 72 observations?</a:t>
            </a:r>
            <a:br/>
            <a:r>
              <a:rPr>
                <a:latin typeface="Inter"/>
              </a:rPr>
              <a:t>      Return-basis consistency is required before extending the performance conclusion to an investment vehicle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  Would a governed refresh with at least 84 months preserve positive 36-month excess return and downside capture below 100%?</a:t>
            </a:r>
            <a:br/>
            <a:r>
              <a:rPr>
                <a:latin typeface="Inter"/>
              </a:rPr>
              <a:t>      Those thresholds would directly test persistence and defensive participation [S2][S3].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SAMPLE RESPONSES AND REPRODUCIBILITY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VIEW LINEAGE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15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 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Payload 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cumulative_growth_base100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sha256:0101010101010101010101010101010101010101010101010101010101010101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sha256:0202020202020202020202020202020202020202020202020202020202020202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rolling_return_12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sha256:0303030303030303030303030303030303030303030303030303030303030303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rolling_return_36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sha256:0404040404040404040404040404040404040404040404040404040404040404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rolling_excess_36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sha256:0505050505050505050505050505050505050505050505050505050505050505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rolling_sharpe_12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sha256:0606060606060606060606060606060606060606060606060606060606060606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rolling_sharpe_36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sha256:0707070707070707070707070707070707070707070707070707070707070707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calendar_years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sha256:0808080808080808080808080808080808080808080808080808080808080808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sha256:0909090909090909090909090909090909090909090909090909090909090909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sha256:0a0a0a0a0a0a0a0a0a0a0a0a0a0a0a0a0a0a0a0a0a0a0a0a0a0a0a0a0a0a0a0a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SAMPLE RESPONSES AND REPRODUCIBILITY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 manager and primary-benchmark summary metrics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analyze_strategy_lab_compare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benchmark=benchmark-test-northstar-core-equity; start=2020-01-31; end=2025-12-31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 monthly observations; USD total return;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paths, rolling statistics, relative metrics, capture, and distribution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run_strategy_lab_relative_return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benchmark=benchmark-test-northstar-core-equity; rolling_months=12,36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Common 72-month manager/benchmark window;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Date-window robustness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run_strategy_lab_date_window_robustness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starts=2020-01-31,2021-01-31,2022-01-31,2023-01-31; end=2025-12-31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returned start-date windows;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simulated expected-statistics outputs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run_strategy_lab_expected_statistics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horizon=10y; outputs=annualized_return,annualized_volatility,terminal_wealth_median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model outputs;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Alternative-benchmark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analyze_strategy_lab_compare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benchmark=benchmark-test-northstar-broad-equity; status=advisory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Same 72-month window;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Select Equity Composite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