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0.08</c:v>
                </c:pt>
                <c:pt idx="2">
                  <c:v>0.3</c:v>
                </c:pt>
                <c:pt idx="3">
                  <c:v>0.32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0.22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 ? Core government / IG</c:v>
                </c:pt>
                <c:pt idx="1">
                  <c:v>Proposed ? Core government / IG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4.1000000000000005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The change directly reduces concentrated credit exposure. Uncertainty: Duration, cost, CMA, regime and manager coverage remain incomplete [S8]. What would change the view: Completed records showing higher duration or transition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Spread coverage neither attributes portfolio results nor predicts direction. What would change the view: Refreshed spreads and governed attribution results reversing the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Fixed Income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Aggregate Bond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Credit allocation proposed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309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309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463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28.0%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866556"/>
            <a:ext cx="2644902" cy="23513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86655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399457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25060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96.0%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weekly [S3]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784877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048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94805"/>
          <a:ext cx="10908792" cy="1266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6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3870536"/>
            <a:ext cx="10908792" cy="7848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70536"/>
            <a:ext cx="54864" cy="78487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802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63728"/>
            <a:ext cx="10616184" cy="3002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765141"/>
            <a:ext cx="10908792" cy="14527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765141"/>
            <a:ext cx="54864" cy="14527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8748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158333"/>
            <a:ext cx="10616184" cy="9681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credit-allocation signal above the prior neutral baseline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401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4012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554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Fixed-income weight is 28.0%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75733"/>
            <a:ext cx="10908792" cy="24421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75733"/>
            <a:ext cx="54864" cy="244218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8546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8925"/>
            <a:ext cx="10616184" cy="19575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96.0%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Aggregate Bond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ALLOCATION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033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831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831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5831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 classifications are shown as returned and are not remapped to policy-tree labels [S2][S4].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 government / 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8591702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914839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Core-plus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7448" y="3724351"/>
            <a:ext cx="303397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8580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580583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Global / emerging debt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4257446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4280306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3.0 percentage points from core-plus credit to government and investment-grade bonds [S3][S4]. Why it matters: The change directly reduces concentrated credit exposure. Uncertainty: Duration…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80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1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17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906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64941"/>
          <a:ext cx="10908792" cy="186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2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1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35429"/>
            <a:ext cx="10908792" cy="7824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EFFECTIVE 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SPREAD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IG SPREAD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112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HY SPREAD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365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99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493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49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9680"/>
            <a:ext cx="10908792" cy="18183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09680"/>
            <a:ext cx="54864" cy="18183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194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Spread context is cautionary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2872"/>
            <a:ext cx="10616184" cy="13337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 three returned credit spreads widened over three months [S6]. Why it matters: The context supports caution around concentrated credit exposure. Uncertainty: Spread coverage neither attributes portfolio…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37760"/>
            <a:ext cx="10908792" cy="8801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are market context only; governed attribution identifies the portfolio's historical effects [S5][S6].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(TEST)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188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1882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rises with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03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23816"/>
            <a:ext cx="10908792" cy="15941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15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05915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connector does not return security-level duration, spread duration, yield, convexity or key-rate exposure for this fixture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Report attribution and credit-spread context at the next review [S5][S6].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 (TEST)</dc:title>
  <dc:subject>Fixed Income Portfolio Construction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