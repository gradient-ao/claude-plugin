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  <ns0:sldId id="266" ns1:id="rId17"/>
    <ns0:sldId id="267" ns1:id="rId18"/>
    <ns0:sldId id="268" ns1:id="rId19"/>
    <ns0:sldId id="269" ns1:id="rId20"/>
    <ns0:sldId id="270" ns1:id="rId21"/>
    <ns0:sldId id="271" ns1:id="rId22"/>
    <ns0:sldId id="272" ns1:id="rId23"/>
    <ns0:sldId id="273" ns1:id="rId24"/>
    <ns0:sldId id="274" ns1:id="rId25"/>
    <ns0:sldId id="275" ns1:id="rId26"/>
    <ns0:sldId id="276" ns1:id="rId27"/>
    <ns0:sldId id="277" ns1:id="rId28"/>
    <ns0:sldId id="278" ns1:id="rId29"/>
    <ns0:sldId id="279" ns1:id="rId30"/>
    <ns0:sldId id="280" ns1:id="rId31"/>
    <ns0:sldId id="281" ns1:id="rId32"/>
    <ns0:sldId id="282" ns1:id="rId33"/>
    <ns0:sldId id="283" ns1:id="rId34"/>
    <ns0:sldId id="284" ns1:id="rId35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cat>
            <c:strRef>
              <c:f>Sheet1!$A$2:$A$4</c:f>
              <c:strCache>
                <c:ptCount val="3"/>
                <c:pt idx="0">
                  <c:v>Core government / IG</c:v>
                </c:pt>
                <c:pt idx="1">
                  <c:v>Core-plus credit</c:v>
                </c:pt>
                <c:pt idx="2">
                  <c:v>Global / emerging debt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50.0</c:v>
                </c:pt>
                <c:pt idx="1">
                  <c:v>35.699999999999996</c:v>
                </c:pt>
                <c:pt idx="2">
                  <c:v>14.299999999999999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Core government / IG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14.0</c:v>
                </c:pt>
                <c:pt idx="1">
                  <c:v>17.0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Core-plus credit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10.0</c:v>
                </c:pt>
                <c:pt idx="1">
                  <c:v>7.0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Global / emerging debt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4.0</c:v>
                </c:pt>
                <c:pt idx="1">
                  <c:v>4.0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Core government / IG</c:v>
                </c:pt>
                <c:pt idx="1">
                  <c:v>Core-plus credit</c:v>
                </c:pt>
                <c:pt idx="2">
                  <c:v>Global / emerging debt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C6F432"/>
            </a:solidFill>
          </c:spPr>
          <c:cat>
            <c:strRef>
              <c:f>Sheet1!$A$2:$A$4</c:f>
              <c:strCache>
                <c:ptCount val="3"/>
                <c:pt idx="0">
                  <c:v>Core government / IG</c:v>
                </c:pt>
                <c:pt idx="1">
                  <c:v>Core-plus credit</c:v>
                </c:pt>
                <c:pt idx="2">
                  <c:v>Global / emerging debt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Sheet1!$A$2:$A$4</c:f>
              <c:strCache>
                <c:ptCount val="3"/>
                <c:pt idx="0">
                  <c:v>Core government / IG</c:v>
                </c:pt>
                <c:pt idx="1">
                  <c:v>Core-plus credit</c:v>
                </c:pt>
                <c:pt idx="2">
                  <c:v>Global / emerging debt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0.0</c:v>
                </c:pt>
                <c:pt idx="1">
                  <c:v>3.0</c:v>
                </c:pt>
                <c:pt idx="2">
                  <c:v>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Residual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0.08</c:v>
                </c:pt>
                <c:pt idx="2">
                  <c:v>0.3</c:v>
                </c:pt>
                <c:pt idx="3">
                  <c:v>0.32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C6F432"/>
            </a:solidFill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Residual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0.08</c:v>
                </c:pt>
                <c:pt idx="1">
                  <c:v>0.22</c:v>
                </c:pt>
                <c:pt idx="2">
                  <c:v>0.02</c:v>
                </c:pt>
                <c:pt idx="3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Residual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cat>
            <c:strRef>
              <c:f>Sheet1!$A$2:$A$4</c:f>
              <c:strCache>
                <c:ptCount val="3"/>
                <c:pt idx="0">
                  <c:v>US investment grade</c:v>
                </c:pt>
                <c:pt idx="1">
                  <c:v>US high yield</c:v>
                </c:pt>
                <c:pt idx="2">
                  <c:v>Emerging hard currency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112.0</c:v>
                </c:pt>
                <c:pt idx="1">
                  <c:v>365.0</c:v>
                </c:pt>
                <c:pt idx="2">
                  <c:v>318.0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4.1%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5.2%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Sheet1!$A$2:$A$3</c:f>
              <c:strCache>
                <c:ptCount val="2"/>
                <c:pt idx="0">
                  <c:v>Current ? Core government / IG</c:v>
                </c:pt>
                <c:pt idx="1">
                  <c:v>Proposed ? Core government / IG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4.1000000000000005</c:v>
                </c:pt>
                <c:pt idx="1">
                  <c:v>5.2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Liquid / marketable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Sheet1!$A$2:$A$2</c:f>
              <c:strCache>
                <c:ptCount val="1"/>
                <c:pt idx="0">
                  <c:v>Portfolio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68.3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Illiquid / restricted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Sheet1!$A$2:$A$2</c:f>
              <c:strCache>
                <c:ptCount val="1"/>
                <c:pt idx="0">
                  <c:v>Portfolio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31.7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+4.7%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Sheet1!$A$2:$A$2</c:f>
              <c:strCache>
                <c:ptCount val="1"/>
                <c:pt idx="0">
                  <c:v>Baseline expected return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4.7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Why this target</a:t>
            </a:r>
          </a:p>
          <a:p>
            <a:r>
              <a:t>Observation: The target shifts 3.0 percentage points from core-plus credit to government and investment-grade bonds [S3][S4]. Why it matters: The change directly reduces concentrated credit exposure. Uncertainty: Duration, cost, CMA, regime and manager coverage remain incomplete [S8]. What would change the view: Completed records showing higher duration or transition costs.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Spread context is cautionary</a:t>
            </a:r>
          </a:p>
          <a:p>
            <a:r>
              <a:t>Observation: All three returned credit spreads widened over three months [S6]. Why it matters: The context supports caution around concentrated credit exposure. Uncertainty: Spread coverage neither attributes portfolio results nor predicts direction. What would change the view: Refreshed spreads and governed attribution results reversing the concentration tradeoff [S5][S6].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Risk rises with return</a:t>
            </a:r>
          </a:p>
          <a:p>
            <a:r>
              <a:t>Observation: Higher-returning fixed-income segments also carry higher expected volatility [S7]. Why it matters: Reducing core-plus credit gives up some assumed return for lower modeled risk. Uncertainty: The values are assumptions rather than forecasts. What would change the view: A governed assumption refresh that reverses the segment risk-return ordering [S7].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FIXED INCOME PORTFOLIO CONSTRUCTION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3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Fixed Income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73552"/>
            <a:ext cx="9692640" cy="5943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Portfolio construction review · prepared for the Investment Committee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005072"/>
            <a:ext cx="822960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AS OF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TOTAL NAV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$1,000.0M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FIXED-INCOME WEIGHT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28.0%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POLICY BENCHMARK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Aggregate Bond Index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400800"/>
            <a:ext cx="80467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556248"/>
            <a:ext cx="804672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 sample · not client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99032"/>
            <a:ext cx="73152" cy="110983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371600"/>
            <a:ext cx="10588752" cy="72856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Shift 3.0pp from core-plus credit to core bonds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691749"/>
            <a:ext cx="10908792" cy="145372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2691749"/>
            <a:ext cx="54864" cy="1453721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280147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Recommendation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3084941"/>
            <a:ext cx="10616184" cy="96908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We recommend shifting 3.0 percentage points of the fixed-income sleeve from core-plus credit to core government and investment-grade bonds while retaining the 28.0% total-fund allocation [S3][S4]. Committee action requested: approve the target structure and a two-stage implementation subject to benchmark and liquidity checks [S3][S8].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255199"/>
            <a:ext cx="2644902" cy="196272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4255199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749808" y="438321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FIXED-INCOME WEIGHT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4639247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28.0%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target 28.0% [S3]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94710" y="4255199"/>
            <a:ext cx="2644902" cy="196272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Rectangle 18"/>
          <p:cNvSpPr/>
          <p:nvPr/>
        </p:nvSpPr>
        <p:spPr>
          <a:xfrm>
            <a:off x="3394710" y="4255199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3504438" y="438321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ACTIVE WEIGHT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04438" y="4639247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0.0pp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0443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Total-fund target [S3]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9340" y="4255199"/>
            <a:ext cx="2644902" cy="196272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Rectangle 23"/>
          <p:cNvSpPr/>
          <p:nvPr/>
        </p:nvSpPr>
        <p:spPr>
          <a:xfrm>
            <a:off x="6149340" y="4255199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259068" y="438321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RELATIVE RETURN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9068" y="4639247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+0.4pp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906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Trailing 1Y versus benchmark [S5]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03970" y="4255199"/>
            <a:ext cx="2644902" cy="196272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Rectangle 28"/>
          <p:cNvSpPr/>
          <p:nvPr/>
        </p:nvSpPr>
        <p:spPr>
          <a:xfrm>
            <a:off x="8903970" y="4255199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0" name="TextBox 29"/>
          <p:cNvSpPr txBox="1"/>
          <p:nvPr/>
        </p:nvSpPr>
        <p:spPr>
          <a:xfrm>
            <a:off x="9013698" y="438321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 SHARE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13698" y="4639247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96.0%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1369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Daily to weekly [S3]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4" name="TextBox 3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S5 · S8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Decision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96678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966784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Recommendation and action requested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4821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We recommend a 3.0 percentage-point shift from core-plus credit to core government and investment-grade bonds. Committee action requested: approve the target and staged implementation [S3][S4][S8].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402392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DECISION SUMMARY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" y="2676712"/>
          <a:ext cx="10908792" cy="136512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34128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Decision element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4128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 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Hold at 28.0%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128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Core-plus credit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Reduce from 10.0% to 7.0% of total fund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Proposed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128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Core government / IG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Increase from 14.0% to 17.0%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Proposed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80" y="4151563"/>
            <a:ext cx="10908792" cy="78317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4151563"/>
            <a:ext cx="54864" cy="783173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04671" y="426129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Conditions and limits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4544755"/>
            <a:ext cx="10616184" cy="29854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Implementation requires confirmation of security-level duration and transaction costs, which are not available in the connector evidence [S8].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044464"/>
            <a:ext cx="10908792" cy="117345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Rectangle 17"/>
          <p:cNvSpPr/>
          <p:nvPr/>
        </p:nvSpPr>
        <p:spPr>
          <a:xfrm>
            <a:off x="640080" y="5044464"/>
            <a:ext cx="54864" cy="1173455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804671" y="5154192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Credit shift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1" y="5437656"/>
            <a:ext cx="10616184" cy="68882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proposal moves 3.0pp from core-plus credit to core government and investment-grade bonds [S1]. Why it matters: It lowers credit spread risk while keeping the fixed-income weight unchanged. Uncertainty: Security-level duration and transaction costs are not yet confirmed. What would change the view: Confirmed costs above the expected yield give-up.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S3 · S4 · S8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Decision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239115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239115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Sleeve size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190652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Fixed income is 28.0% of total NAV [S2]. Why it matters: The shift is sized against this sleeve, not the total fund. Uncertainty: The weight will move with market values before implementation. What would change the view: A drift of more than 1pp before funding.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826763"/>
            <a:ext cx="10908792" cy="239115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3826763"/>
            <a:ext cx="54864" cy="239115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393649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Liquidity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4219955"/>
            <a:ext cx="10616184" cy="19065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96.0% of the sleeve is liquid within the policy window [S3]. Why it matters: The shift can be implemented without breaching liquidity limits. Uncertainty: Liquidity tiers use manager-reported terms. What would change the view: A manager imposing new redemption terms.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Mandate, Benchmark and Data Basis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29774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Northstar Total Fund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Mandate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Capital preservation, income and diversification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Northstar Aggregate Bond Index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Horizon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 years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 basis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 [S1]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413057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FRAMEWORK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4687377"/>
          <a:ext cx="10908792" cy="15305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8263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Area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Objective or limit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Observed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8263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Fixed income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23.0%–33.0%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28.0%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63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Volatility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or below 7.0%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5.4%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263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Below-investment-grade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or below 8.0% of total fund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Near limit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S7 · S8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Current Fixed Income Portfolio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FIXED-INCOME ALLOCATION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Current Fixed Income Portfolio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SLEEVE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0" cy="33528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838211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Segment / exposure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Value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% portfolio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% fixed income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Currency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838211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Core government / IG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$140.0M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14.0%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50.0%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838211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Core-plus credit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$100.0M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35.7%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838211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Global / emerging debt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$40.0M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14.3%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Mixed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062772"/>
            <a:ext cx="10908792" cy="115514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Exposure classifications are shown as returned and are not remapped to policy-tree labels [S2][S4].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PROPOSED MIX REDUCES CONCENTRATED RISK WHILE PRESERVING MANDATE EXPOSURE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Portfolio Structure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WEIGHT VERSUS POLICY RANGE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36776"/>
            <a:ext cx="1480413" cy="14935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Core government / IG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20504" y="2185111"/>
            <a:ext cx="1339047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Oval 10"/>
          <p:cNvSpPr/>
          <p:nvPr/>
        </p:nvSpPr>
        <p:spPr>
          <a:xfrm>
            <a:off x="4518690" y="2061972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5043693" y="1908048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3176016"/>
            <a:ext cx="1480413" cy="14935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Core-plus credit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48838" y="3724351"/>
            <a:ext cx="1171666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Oval 14"/>
          <p:cNvSpPr/>
          <p:nvPr/>
        </p:nvSpPr>
        <p:spPr>
          <a:xfrm>
            <a:off x="3849166" y="3601212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3369884" y="3447288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4715256"/>
            <a:ext cx="1480413" cy="14935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Global / emerging debt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11933" y="5263591"/>
            <a:ext cx="1004285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Oval 18"/>
          <p:cNvSpPr/>
          <p:nvPr/>
        </p:nvSpPr>
        <p:spPr>
          <a:xfrm>
            <a:off x="2844881" y="5140452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Rectangle 19"/>
          <p:cNvSpPr/>
          <p:nvPr/>
        </p:nvSpPr>
        <p:spPr>
          <a:xfrm>
            <a:off x="2867741" y="4986528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Rectangle 20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630936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AND TARGET MIX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630936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ectangle 2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PROPOSED MIX REDUCES CONCENTRATED RISK WHILE PRESERVING MANDATE EXPOSURE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Portfolio Structure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TARGET ALLOCATION CHANGES (PERCENTAGE POINTS)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PROPOSED MIX REDUCES CONCENTRATED RISK WHILE PRESERVING MANDATE EXPOSURE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Portfolio Structure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VERSUS TARGET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0" cy="2174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54359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Target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Change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Range / constraint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Rationale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4359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Core government / IG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14.0%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17.0%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+3.0pp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12.0%–20.0%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Increase benchmark-aligned ballast [S3][S8]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359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Core-plus credit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-3.0pp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5.0%–12.0%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Reduce credit concentration [S3][S4][S6]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4360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Global / emerging debt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0.0%–6.0%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Maintain diversified role [S3][S7]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3884327"/>
            <a:ext cx="10908792" cy="144401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3884327"/>
            <a:ext cx="54864" cy="144401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3994055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Why this target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4277519"/>
            <a:ext cx="10616184" cy="95938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target shifts 3.0 percentage points from core-plus credit to government and investment-grade bonds [S3][S4]. Why it matters: The change directly reduces concentrated credit exposure. Uncertainty: Duration…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438072"/>
            <a:ext cx="10908792" cy="77984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target is a committee proposal and is not a saved portfolio change [S3][S8].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S6 · S7 · S8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Performance and Attribution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ATTRIBUTION EFFECTS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Performance and Attribution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STANDARD PERIODS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15688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92221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/ sleeve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Excess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9222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1Y fixed-income sleeve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4.7%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+0.4pp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222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3Y fixed-income sleeve (ann.)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3.4%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+0.3pp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9222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5Y fixed-income sleeve (ann.)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1.9%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-0.1pp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278813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ATTRIBUTION EFFECTS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3553133"/>
          <a:ext cx="10908792" cy="19680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39361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Effect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Contribution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936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+0.08pp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6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Selection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+0.22pp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936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Interaction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+0.02pp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6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Residual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5630911"/>
            <a:ext cx="10908792" cy="5870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attribution method and reconciliation metadata follow [S5].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Performance and Attribution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Brinson-Fachler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Linking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Symmetric Carino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Net, monthly linked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Tolerance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 bp; reconciled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WIDER SPREADS FAVOR A MORE BALANCED QUALITY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Rates and Credit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264490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74980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EFFECTIVE DURATION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170992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Security analytics unavailable [S8]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94710" y="1325880"/>
            <a:ext cx="264490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3394710" y="1325880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350443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SPREAD DURATION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04438" y="170992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443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Security analytics unavailable [S8]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49340" y="1325880"/>
            <a:ext cx="264490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Rectangle 18"/>
          <p:cNvSpPr/>
          <p:nvPr/>
        </p:nvSpPr>
        <p:spPr>
          <a:xfrm>
            <a:off x="6149340" y="1325880"/>
            <a:ext cx="2644902" cy="4572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625906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US IG SPREAD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9068" y="170992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112 bps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906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Latest returned context [S6]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03970" y="1325880"/>
            <a:ext cx="264490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Rectangle 23"/>
          <p:cNvSpPr/>
          <p:nvPr/>
        </p:nvSpPr>
        <p:spPr>
          <a:xfrm>
            <a:off x="8903970" y="1325880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901369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US HY SPREAD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13698" y="170992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365 bps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1369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Latest returned context [S6]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 · S8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WIDER SPREADS FAVOR A MORE BALANCED QUALITY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Rates and Credit Context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CREDIT SPREADS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WIDER SPREADS FAVOR A MORE BALANCED QUALITY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Rates and Credit Context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CREDIT SPREADS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2174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4359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Market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Latest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3-month change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4359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 investment grade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112 bps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+9 bps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359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 high yield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365 bps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+28 bps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4360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Emerging hard currency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318 bps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+17 bps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3884327"/>
            <a:ext cx="10908792" cy="144401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3884327"/>
            <a:ext cx="54864" cy="144401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3994055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Spread context is cautionary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4277519"/>
            <a:ext cx="10616184" cy="95938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All three returned credit spreads widened over three months [S6]. Why it matters: The context supports caution around concentrated credit exposure. Uncertainty: Spread coverage neither attributes portfolio…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438072"/>
            <a:ext cx="10908792" cy="77984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Credit spreads are market context only; governed attribution identifies the portfolio's historical effects [S5][S6].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 · S6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FORWARD EXPECTED-RETURN COMPARISON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Assumption set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Strategic CMA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Regime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Baseline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Horizon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 years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Currency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Context fingerprint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test-fi-forward-2026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FIXED-INCOME FORWARD ASSUMPTIONS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309448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77362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return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volatility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736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Core government / IG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736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Core-plus credit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5.8%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7362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Global / emerging debt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4804410"/>
            <a:ext cx="10908792" cy="84658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4804410"/>
            <a:ext cx="54864" cy="84658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491413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Risk rises with return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5197601"/>
            <a:ext cx="10616184" cy="36195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Higher-returning fixed-income segments also carry higher expected volatility [S7]. Why it matters: Reducing core-plus credit gives up some assumed return for lower modeled risk. Uncertainty: The values…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760720"/>
            <a:ext cx="10908792" cy="4572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These figures are assumptions under the selected context, not forecasts or guarantees [S7].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Policy Risk, Liquidity and Tradability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LIQUIDITY COMPOSITION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Policy Risk, Liquidity and Tradability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RISK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194869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8717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Metric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Observed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Limit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8717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Volatility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60 months [S3][S5]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8717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Maximum drawdown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-8.1%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-12.0%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60 months [S3][S5]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8717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Duration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 — security analytics not returned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Unavailable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658625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LIQUIDITY PROFILE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3932945"/>
          <a:ext cx="10908792" cy="14672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89093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Bucket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% NAV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Amount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Requirement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89093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Daily to weekly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26.9%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$269.0M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least 20.0%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89093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Monthly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$11.0M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Monitor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5509952"/>
            <a:ext cx="10908792" cy="70796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connector does not return security-level duration, spread duration, yield, convexity or key-rate exposure for this public sample [S8].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S3 · S5 · S8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Scenarios and Robustness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SCENARIO RESULTS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Scenarios and Robustness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SUPPORTED SCENARIOS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29619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74049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Scenario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 / loss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Risk measure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4049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Baseline 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4.7% expected return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6.2% volatility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sleeve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4049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Rate shock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 — no governed shock result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4049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Spread shock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 — no governed shock result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4671913"/>
            <a:ext cx="10908792" cy="154600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4671913"/>
            <a:ext cx="54864" cy="154600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478164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Selected-series sandbox — not saved-portfolio analytics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5065105"/>
            <a:ext cx="10616184" cy="106137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no Strategy Lab return series selected [S8].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S7 · S8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Implementation Plan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IMPLEMENTATION STEPS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0" cy="14726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49088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Phase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Size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Funding 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Condition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9088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Reduce core-plus credit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1.5pp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Internal rebalance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 and liquidity confirmed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Investment staff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088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remaining shift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1.5pp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Internal rebalance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Transaction-cost review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CIO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182574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ALTERNATIVES CONSIDERED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3456894"/>
          <a:ext cx="10908792" cy="14726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49088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Alternative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Benefit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Cost / risk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Reason not selected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9088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change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turnover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Credit concentration remains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Does not address watch item 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088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Full shift immediately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Fast target alignment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Unknown transaction costs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Costs not available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5039269"/>
            <a:ext cx="10908792" cy="117865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Confirm duration and transition costs before trade instructions [S8].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Recheck policy status after each phase [S3].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Report attribution and credit-spread context at the next review [S5][S6].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S5 · S6 · S8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Risks, Open Items and Approvals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DECISION RISKS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21168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2920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Priority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Risk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Mitigation / condition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High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Security analytics unavailable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Duration not returned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Obtain custodian analytics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Investment staff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Credit-spread sensitivity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Wider spreads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Stage implementation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CIO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Low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 mismatch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 confirmed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Document benchmark role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Operations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826763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OPEN ITEMS AND APPROVALS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4101083"/>
          <a:ext cx="10908792" cy="21168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2920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Timing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Item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Required 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Before approval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Confirm duration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Security analytics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Investment staff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Within 30 days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Transition-cost estimate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Dealer / manager estimate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CIO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Next review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Attribution update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return period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Performance team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 · S6 · S8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Coverage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61150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and 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Allocation, risk and liquidity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Fixed-income classifications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Returns and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evidence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Credit context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Credit spreads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Forward assumptions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CMA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Security analytics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Duration and transaction costs not returned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S3 · S4 · S5 · S6 · S7 · S8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46908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21208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Check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Organization and 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list_organizations; 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and allocation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list_portfolios; get_portfolio_structure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assessment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check_portfolio_policy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Fixed-income 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Returns and 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get_portfolio_historical_returns; get_portfolio_attribution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Credit context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get_macro_conditions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Forward 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get_capital_market_assumptions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2026-06-15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Mandate and evidence gaps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Advisory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managers. All organizations, portfolios, managers and results in this public example are illustrative.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 · S8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SOURCE AUDIT TRAIL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4416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490728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Key parameters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9072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organization=test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072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allocation_tree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072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portfolio=test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072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fixed_income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072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 sections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072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credit_spreads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072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baseline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072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Data scope for every source: Illustrative sample data. Each digest is the SHA-256 fingerprint of the exact data the report used.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 · S8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Server Metric Methods and Disclosures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SERVER METRIC METHODS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9235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Quantity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 / formula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Version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 / units / tolerance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status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assessment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portfolio-policy-v1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Returned status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Returns and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Linked returns; Brinson-Fachler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portfolio-attribution-v1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Net; 1 bp tolerance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Credit spreads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Returned macro conditions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macro-conditions-v1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 points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Forward statistics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Expected-statistics chart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chart-contract-v1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5-year assumptions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S5 · S6 · S7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Northstar Fixed Income Portfolio</dc:title>
  <dc:subject>Fixed Income Portfolio Construction</dc:subject>
  <dc:creator>GradientCIO</dc:creator>
  <cp:keywords>Gradient report theme 2.3.0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