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50.0</c:v>
                </c:pt>
                <c:pt idx="1">
                  <c:v>35.699999999999996</c:v>
                </c:pt>
                <c:pt idx="2">
                  <c:v>14.299999999999999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 government / IG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14.0</c:v>
                </c:pt>
                <c:pt idx="1">
                  <c:v>17.0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Core-plus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Global / emerging debt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4.0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0.08</c:v>
                </c:pt>
                <c:pt idx="2">
                  <c:v>0.3</c:v>
                </c:pt>
                <c:pt idx="3">
                  <c:v>0.32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0.22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US investment grade</c:v>
                </c:pt>
                <c:pt idx="1">
                  <c:v>US high yield</c:v>
                </c:pt>
                <c:pt idx="2">
                  <c:v>Emerging hard currency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112.0</c:v>
                </c:pt>
                <c:pt idx="1">
                  <c:v>365.0</c:v>
                </c:pt>
                <c:pt idx="2">
                  <c:v>318.0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Core government / IG</c:v>
                </c:pt>
                <c:pt idx="1">
                  <c:v>Proposed ? Core government / IG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4.1000000000000005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3.0 percentage points from core-plus credit to government and investment-grade bonds [S3][S4]. Why it matters: The change directly reduces concentrated credit exposure. Uncertainty: Duration, cost, CMA, regime and manager coverage remain incomplete [S8]. What would change the view: Completed records showing higher duration or transition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Spread context is cautionary</a:t>
            </a:r>
          </a:p>
          <a:p>
            <a:r>
              <a:t>Observation: All three returned credit spreads widened over three months [S6]. Why it matters: The context supports caution around concentrated credit exposure. Uncertainty: Spread coverage neither attributes portfolio results nor predicts direction. What would change the view: Refreshed spreads and governed attribution results reversing the concentration tradeoff [S5][S6].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rises with return</a:t>
            </a:r>
          </a:p>
          <a:p>
            <a:r>
              <a:t>Observation: Higher-returning fixed-income segments also carry higher expected volatility [S7]. Why it matters: Reducing core-plus credit gives up some assumed return for lower modeled risk. Uncertainty: The values are assumptions rather than forecasts. What would change the view: A governed assumption refresh that reverses the segment risk-return ordering 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FIXED INCOME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Fixed Income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Aggregate Bond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Credit allocation proposed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4309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4309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463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shifting 3.0 percentage points of the fixed-income sleeve from core-plus credit to core government and investment-grade bonds while retaining the 28.0% total-fund allocation [S3][S4]. Committee action requested: approve the target structure and a two-stage implementation subject to benchmark and liquidity checks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28.0%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weekly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7901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79010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05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3.0 percentage-point shift from core-plus credit to core government and investment-grade bonds. Committee action requested: approve the target and staged implementation [S3][S4][S8].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2571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00032"/>
          <a:ext cx="10908792" cy="1276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906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10.0% to 7.0% of total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14.0% to 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3886021"/>
            <a:ext cx="10908792" cy="7901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886021"/>
            <a:ext cx="54864" cy="7901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39957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279213"/>
            <a:ext cx="10616184" cy="305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requires confirmation of security-level duration and transaction costs, which are not available in the connector evidence 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85854"/>
            <a:ext cx="10908792" cy="143206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785854"/>
            <a:ext cx="54864" cy="143206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48955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179046"/>
            <a:ext cx="10616184" cy="9474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credit-allocation signal above the prior neutral baseline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732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7328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886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Fixed-income weight is 28.0%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08892"/>
            <a:ext cx="10908792" cy="24090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08892"/>
            <a:ext cx="54864" cy="240902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186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02084"/>
            <a:ext cx="10616184" cy="19243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96.0%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 preservation, income and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Aggregate Bond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23.0%–33.0%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Below-investment-grade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8.0%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ALLOCATION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033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831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5831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43198"/>
            <a:ext cx="1090879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 classifications are shown as returned and are not remapped to policy-tree labels [S2][S4].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 government / 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61427" y="218511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8591702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9914839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Core-plus credit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3724351"/>
            <a:ext cx="303397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6858000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5580583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Global / emerging debt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5263591"/>
            <a:ext cx="260055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4257446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4280306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699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493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benchmark-aligned ballast 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-3.0pp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5.0%–12.0%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credit concentration [S3][S4][S6]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diversified role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09680"/>
            <a:ext cx="10908792" cy="18183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09680"/>
            <a:ext cx="54864" cy="18183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19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02872"/>
            <a:ext cx="10616184" cy="13337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3.0 percentage points from core-plus credit to government and investment-grade bonds [S3][S4]. Why it matters: The change directly reduces concentrated credit exposure. Uncertainty: Duration…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37760"/>
            <a:ext cx="10908792" cy="8801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480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1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fixed-income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906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64941"/>
          <a:ext cx="10908792" cy="186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435429"/>
            <a:ext cx="10908792" cy="782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EFFECTIVE 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SPREAD 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IG SPREAD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112 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HY SPREAD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365 bps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699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493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3-month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investment 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112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+9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high yield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365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+28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hard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318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+17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09680"/>
            <a:ext cx="10908792" cy="18183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09680"/>
            <a:ext cx="54864" cy="18183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19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Spread context is cautionary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02872"/>
            <a:ext cx="10616184" cy="13337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 three returned credit spreads widened over three months [S6]. Why it matters: The context supports caution around concentrated credit exposure. Uncertainty: Spread coverage neither attributes portfolio…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37760"/>
            <a:ext cx="10908792" cy="8801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 are market context only; governed attribution identifies the portfolio's historical effects [S5][S6].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test-fi-forward-2026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31882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318820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rises with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7035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Higher-returning fixed-income segments also carry higher expected volatility [S7]. Why it matters: Reducing core-plus credit gives up some assumed return for lower modeled risk. Uncertainty: The values…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23816"/>
            <a:ext cx="10908792" cy="15941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security analytics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315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805915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connector does not return security-level duration, spread duration, yield, convexity or key-rate exposure for this public sample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S5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Rate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Spread shock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core-plus credit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remaining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Transaction-cost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Full shift immediately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Unknown 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Costs not available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duration and transition costs before trade instructions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Recheck policy status after each phase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Report attribution and credit-spread context at the next review [S5][S6].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custodian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Credit-spread 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Wider spreads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implementation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mismatch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confirmed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benchmark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Dealer / manager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 update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 and liquidity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classifications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evidence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and transaction costs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fixed_income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credit_spreads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and evidence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macro 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macro-conditions-v1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points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5-year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Fixed Income Portfolio</dc:title>
  <dc:subject>Fixed Income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