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50.0</c:v>
                </c:pt>
                <c:pt idx="1">
                  <c:v>35.699999999999996</c:v>
                </c:pt>
                <c:pt idx="2">
                  <c:v>14.299999999999999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 government / IG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14.0</c:v>
                </c:pt>
                <c:pt idx="1">
                  <c:v>17.0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Core-plus credit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10.0</c:v>
                </c:pt>
                <c:pt idx="1">
                  <c:v>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Global / emerging debt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4.0</c:v>
                </c:pt>
                <c:pt idx="1">
                  <c:v>4.0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3.0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0.08</c:v>
                </c:pt>
                <c:pt idx="2">
                  <c:v>0.3</c:v>
                </c:pt>
                <c:pt idx="3">
                  <c:v>0.32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0.08</c:v>
                </c:pt>
                <c:pt idx="1">
                  <c:v>0.22</c:v>
                </c:pt>
                <c:pt idx="2">
                  <c:v>0.02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US investment grade</c:v>
                </c:pt>
                <c:pt idx="1">
                  <c:v>US high yield</c:v>
                </c:pt>
                <c:pt idx="2">
                  <c:v>Emerging hard currency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112.0</c:v>
                </c:pt>
                <c:pt idx="1">
                  <c:v>365.0</c:v>
                </c:pt>
                <c:pt idx="2">
                  <c:v>318.0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5.2%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Core government / IG</c:v>
                </c:pt>
                <c:pt idx="1">
                  <c:v>Proposed ? Core government / IG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4.1000000000000005</c:v>
                </c:pt>
                <c:pt idx="1">
                  <c:v>5.2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+4.7%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4.7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shifts 3.0 percentage points from core-plus credit to government and investment-grade bonds [S3][S4]. Why it matters: The change directly reduces concentrated credit exposure. Uncertainty: Duration, cost, CMA, regime and manager coverage remain incomplete [S8]. What would change the view: Completed records showing higher duration or transition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Spread context is cautionary</a:t>
            </a:r>
          </a:p>
          <a:p>
            <a:r>
              <a:t>Observation: All three returned credit spreads widened over three months [S6]. Why it matters: The context supports caution around concentrated credit exposure. Uncertainty: Spread coverage neither attributes portfolio results nor predicts direction. What would change the view: Refreshed spreads and governed attribution results reversing the concentration tradeoff [S5][S6].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Risk rises with return</a:t>
            </a:r>
          </a:p>
          <a:p>
            <a:r>
              <a:t>Observation: Higher-returning fixed-income segments also carry higher expected volatility [S7]. Why it matters: Reducing core-plus credit gives up some assumed return for lower modeled risk. Uncertainty: The values are assumptions rather than forecasts. What would change the view: A governed assumption refresh that reverses the segment risk-return ordering 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FIXED INCOME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Fixed Income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FIXED-INCOME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28.0%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Aggregate Bond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99032"/>
            <a:ext cx="73152" cy="97210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371600"/>
            <a:ext cx="10588752" cy="6486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Shift 3.0pp from core-plus credit to core bonds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54017"/>
            <a:ext cx="10908792" cy="180666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554017"/>
            <a:ext cx="54864" cy="180666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266374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947209"/>
            <a:ext cx="10616184" cy="13220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shifting 3.0 percentage points of the fixed-income sleeve from core-plus credit to core government and investment-grade bonds while retaining the 28.0% total-fund allocation [S3][S4]. Committee action requested: approve the target structure and a two-stage implementation subject to benchmark and liquidity checks [S3][S8].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470405"/>
            <a:ext cx="2644902" cy="174751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470405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59842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FIXED-INCOME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85445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28.0% [S3]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4470405"/>
            <a:ext cx="2644902" cy="174751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4470405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59842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85445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Total-fund target [S3]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4470405"/>
            <a:ext cx="2644902" cy="174751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4470405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59842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RELATIVE RETURN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85445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+0.4pp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versus benchmark [S5]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4470405"/>
            <a:ext cx="2644902" cy="174751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4470405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59842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SHARE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85445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96.0%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Daily to weekly [S3]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79807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798077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3134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3.0 percentage-point shift from core-plus credit to core government and investment-grade bonds. Committee action requested: approve the target and staged implementation [S3][S4][S8].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3368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508005"/>
          <a:ext cx="10908792" cy="12919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2297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297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 at 28.0%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297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10.0% to 7.0% of total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297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14.0% to 17.0%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3909641"/>
            <a:ext cx="10908792" cy="79807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909641"/>
            <a:ext cx="54864" cy="79807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01936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302833"/>
            <a:ext cx="10616184" cy="3134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requires confirmation of security-level duration and transaction costs, which are not available in the connector evidence [S8].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817447"/>
            <a:ext cx="10908792" cy="14004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817447"/>
            <a:ext cx="54864" cy="140047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92717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Credit shift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210639"/>
            <a:ext cx="10616184" cy="9158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proposal moves 3.0pp from core-plus credit to core government and investment-grade bonds [S1]. Why it matters: It lowers credit spread risk while keeping the fixed-income weight unchanged. Uncertainty: Security-level duration and transaction costs are not yet confirmed. What would change the view: Confirmed costs above the expected yield give-up.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36525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36525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Sleeve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88062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Fixed income is 28.0% of total NAV [S2]. Why it matters: The shift is sized against this sleeve, not the total fund. Uncertainty: The weight will move with market values before implementation. What would change the view: A drift of more than 1pp before funding.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00867"/>
            <a:ext cx="10908792" cy="241705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800867"/>
            <a:ext cx="54864" cy="241705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91059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Liquidity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194059"/>
            <a:ext cx="10616184" cy="19324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96.0% of the sleeve is liquid within the policy window [S3]. Why it matters: The shift can be implemented without breaching liquidity limits. Uncertainty: Liquidity tiers use manager-reported terms. What would change the view: A manager imposing new redemption terms.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Benchmark and Data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Capital preservation, income and diversification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Aggregate Bond Index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23.0%–33.0%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Below-investment-grade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8.0% of total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Fixed Income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FIXED-INCOME ALLOCATION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Fixed Income Portfolio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3033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5831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fixed income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5831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5831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35.7%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5831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/ emerging debt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Mixed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743198"/>
            <a:ext cx="10908792" cy="147472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Exposure classifications are shown as returned and are not remapped to policy-tree labels [S2][S4].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Core government / IG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61427" y="2185111"/>
            <a:ext cx="34674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8591702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9914839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317601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Core-plus credit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7448" y="3724351"/>
            <a:ext cx="303397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6858000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5580583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471525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Global / emerging debt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5263591"/>
            <a:ext cx="260055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4257446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4280306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699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2493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493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+3.0pp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12.0%–20.0%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benchmark-aligned ballast 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493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-3.0pp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5.0%–12.0%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credit concentration [S3][S4][S6]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493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/ emerging debt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0.0%–6.0%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diversified role 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409680"/>
            <a:ext cx="10908792" cy="18183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409680"/>
            <a:ext cx="54864" cy="18183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51940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802872"/>
            <a:ext cx="10616184" cy="13337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shifts 3.0 percentage points from core-plus credit to government and investment-grade bonds [S3][S4]. Why it matters: The change directly reduces concentrated credit exposure. Uncertainty: Duration…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37760"/>
            <a:ext cx="10908792" cy="88015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4806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7017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017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fixed-income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17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fixed-income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01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5Y fixed-income sleeve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19062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464941"/>
          <a:ext cx="10908792" cy="186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7215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435429"/>
            <a:ext cx="10908792" cy="7824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WIDER SPREADS FAVOR A MORE BALANCED QUALITY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Rates and Credit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EFFECTIVE DURATION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Security analytics unavailable [S8]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471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SPREAD DURATION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443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Security analytics unavailable [S8]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934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US IG SPREAD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112 bps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returned context [S6]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397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US HY SPREAD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369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365 bps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returned context [S6]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WIDER SPREADS FAVOR A MORE BALANCED QUALITY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Rates and Credit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CREDIT SPREADS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WIDER SPREADS FAVOR A MORE BALANCED QUALITY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Rates and Credit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CREDIT SPREADS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699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2493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3-month 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493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 investment grade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112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+9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493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 high yield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365 bps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+28 bps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493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Emerging hard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318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+17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409680"/>
            <a:ext cx="10908792" cy="18183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409680"/>
            <a:ext cx="54864" cy="18183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51940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Spread context is cautionary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802872"/>
            <a:ext cx="10616184" cy="13337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All three returned credit spreads widened over three months [S6]. Why it matters: The context supports caution around concentrated credit exposure. Uncertainty: Spread coverage neither attributes portfolio…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37760"/>
            <a:ext cx="10908792" cy="88015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Credit spreads are market context only; governed attribution identifies the portfolio's historical effects [S5][S6].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test-fi-forward-2026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FIXED-INCOME FORWARD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/ emerging debt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318820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318820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Risk rises with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70357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Higher-returning fixed-income segments also carry higher expected volatility [S7]. Why it matters: Reducing core-plus credit gives up some assumed return for lower modeled risk. Uncertainty: The values…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23816"/>
            <a:ext cx="10908792" cy="15941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[S7].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Policy Risk, Liquidity and Tradability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COMPOSITION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Policy Risk, Liquidity and Tradability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RISK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821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554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60 months [S3][S5]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-8.1%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60 months [S3][S5]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541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Duration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security analytics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3159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805915"/>
          <a:ext cx="10908792" cy="136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5591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91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 to weekly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$269.0M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592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$11.0M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283403"/>
            <a:ext cx="10908792" cy="9345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connector does not return security-level duration, spread duration, yield, convexity or key-rate exposure for this public sample 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S5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4.7%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Rate shock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shock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Spread shock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shock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111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724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core-plus credit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Internal rebalance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and liquidity 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remaining shift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Internal rebalance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Transaction-cost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2720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101520"/>
          <a:ext cx="10908792" cy="111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724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turnover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concentration remains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watch item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Full shift immediately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Fast target alignment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Unknown transaction costs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Costs not available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328521"/>
            <a:ext cx="10908792" cy="188939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Confirm duration and transition costs before trade instructions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Recheck policy status after each phase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Report attribution and credit-spread context at the next review [S5][S6].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Security analytics 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Duration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Obtain custodian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Credit-spread sensitivity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Wider spreads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Stage implementation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mismatch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confirmed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Document benchmark role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duration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Security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Transition-cost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Dealer / manager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Attribution update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return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S6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risk and liquidity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Fixed-income classifications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evidence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spreads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CMA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Security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Duration and transaction costs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12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Fixed-income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get_macro_conditions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 and evidence gaps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9072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fixed_income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credit_spreads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spreads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macro conditions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macro-conditions-v1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points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Expected-statistics chart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5-year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S6 · S7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Fixed Income Portfolio</dc:title>
  <dc:subject>Fixed Income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