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50.0</c:v>
                </c:pt>
                <c:pt idx="1">
                  <c:v>35.699999999999996</c:v>
                </c:pt>
                <c:pt idx="2">
                  <c:v>14.299999999999999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Core government / IG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17.0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Core-plus credit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10.0</c:v>
                </c:pt>
                <c:pt idx="1">
                  <c:v>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Global / emerging debt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4.0</c:v>
                </c:pt>
                <c:pt idx="1">
                  <c:v>4.0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3.0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0.08</c:v>
                </c:pt>
                <c:pt idx="2">
                  <c:v>0.3</c:v>
                </c:pt>
                <c:pt idx="3">
                  <c:v>0.32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0.08</c:v>
                </c:pt>
                <c:pt idx="1">
                  <c:v>0.22</c:v>
                </c:pt>
                <c:pt idx="2">
                  <c:v>0.02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US investment grade</c:v>
                </c:pt>
                <c:pt idx="1">
                  <c:v>US high yield</c:v>
                </c:pt>
                <c:pt idx="2">
                  <c:v>Emerging hard currency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112.0</c:v>
                </c:pt>
                <c:pt idx="1">
                  <c:v>365.0</c:v>
                </c:pt>
                <c:pt idx="2">
                  <c:v>318.0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4.1%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5.2%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Current ? Core government / IG</c:v>
                </c:pt>
                <c:pt idx="1">
                  <c:v>Proposed ? Core government / IG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4.1000000000000005</c:v>
                </c:pt>
                <c:pt idx="1">
                  <c:v>5.2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Liquid / marketable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Illiquid / restricted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+4.7%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4.7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shifts 3.0 percentage points from core-plus credit to government and investment-grade bonds [S3][S4]. Why it matters: The change directly reduces concentrated credit exposure. Uncertainty: Duration, cost, CMA, regime and manager coverage remain incomplete [S8]. What would change the view: Completed records showing higher duration or transition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Spread context is cautionary</a:t>
            </a:r>
          </a:p>
          <a:p>
            <a:r>
              <a:t>Observation: All three returned credit spreads widened over three months [S6]. Why it matters: The context supports caution around concentrated credit exposure. Uncertainty: Spread coverage neither attributes portfolio results nor predicts direction. What would change the view: Refreshed spreads and governed attribution results reversing the concentration tradeoff [S5][S6].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Risk rises with return</a:t>
            </a:r>
          </a:p>
          <a:p>
            <a:r>
              <a:t>Observation: Higher-returning fixed-income segments also carry higher expected volatility [S7]. Why it matters: Reducing core-plus credit gives up some assumed return for lower modeled risk. Uncertainty: The values are assumptions rather than forecasts. What would change the view: A governed assumption refresh that reverses the segment risk-return ordering 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FIXED INCOME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Fixed Income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Portfolio construction review · prepared for the Investment Committee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TOTAL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$1,000.0M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FIXED-INCOME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POLICY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Aggregate Bond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OVERALL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Credit allocation proposed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73328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34456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8 of 9 ·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43094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43094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9463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shifting 3.0 percentage points of the fixed-income sleeve from core-plus credit to core government and investment-grade bonds while retaining the 28.0% total-fund allocation [S3][S4]. Committee action requested: approve the target structure and a two-stage implementation subject to benchmark and liquidity checks [S3][S8].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980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FIXED-INCOME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target 28.0% [S3]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339471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0443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ACTIVE 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0.0pp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Total-fund target [S3]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14934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5906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RELATIVE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+0.4pp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Trailing 1Y versus benchmark [S5]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890397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01369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96.0%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Daily to weekly [S3]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7901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790104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action requested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3054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a 3.0 percentage-point shift from core-plus credit to core government and investment-grade bonds. Committee action requested: approve the target and staged implementation [S3][S4][S8].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25712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SUMMARY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500032"/>
          <a:ext cx="10908792" cy="127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1906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906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 at 28.0%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06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from 10.0% to 7.0% of total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06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from 14.0% to 17.0%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3886021"/>
            <a:ext cx="10908792" cy="7901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3886021"/>
            <a:ext cx="54864" cy="79010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399574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Conditions and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279213"/>
            <a:ext cx="10616184" cy="3054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requires confirmation of security-level duration and transaction costs, which are not available in the connector evidence [S8].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85854"/>
            <a:ext cx="10908792" cy="143206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40080" y="4785854"/>
            <a:ext cx="54864" cy="143206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04671" y="489558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179046"/>
            <a:ext cx="10616184" cy="94743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sample report carries a credit-allocation signal above the prior neutral baseline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37328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37328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8886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Fixed-income weight is 28.0% in the review evidence [S2]. Why it matters: This measure establishes the baseline for comparing later governed results. Uncertainty: The source basis may omit newer observations outside the reviewed evidence. What would change the view: A refreshed source report showing a change above 1%.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08892"/>
            <a:ext cx="10908792" cy="24090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08892"/>
            <a:ext cx="54864" cy="240902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91862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02084"/>
            <a:ext cx="10616184" cy="19243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Liquid share is 96.0% in the review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Mandate, Benchmark and Data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Capital preservation, income and diversification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Aggregate Bond Index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FRAMEWORK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23.0%–33.0%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Volatility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Below-investment-grade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8.0% of total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S7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Fixed Income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FIXED-INCOME ALLOCATION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Fixed Income Portfolio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SLEEVE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303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75831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fixed income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5831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5831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$100.0M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35.7%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5831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/ emerging debt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743198"/>
            <a:ext cx="10908792" cy="147472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Exposure classifications are shown as returned and are not remapped to policy-tree labels [S2][S4].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VERSUS POLICY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3677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Core government / 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61427" y="2185111"/>
            <a:ext cx="34674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591702" y="206197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9914839" y="190804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317601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Core-plus credit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7448" y="3724351"/>
            <a:ext cx="3033979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6858000" y="360121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5580583" y="344728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471525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Global / emerging debt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5263591"/>
            <a:ext cx="2600553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257446" y="514045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4280306" y="498652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TARGET MIX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 ALLOCATION CHANGES (PERCENTAGE POINTS)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VERSUS TARGET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169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2493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+3.0pp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12.0%–20.0%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benchmark-aligned ballast [S3][S8]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-3.0pp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5.0%–12.0%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credit concentration [S3][S4][S6]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/ emerging debt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0.0%–6.0%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diversified role 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409680"/>
            <a:ext cx="10908792" cy="18183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409680"/>
            <a:ext cx="54864" cy="18183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51940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802872"/>
            <a:ext cx="10616184" cy="13337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target shifts 3.0 percentage points from core-plus credit to government and investment-grade bonds [S3][S4]. Why it matters: The change directly reduces concentrated credit exposure. Uncertainty: Duration…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37760"/>
            <a:ext cx="10908792" cy="88015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target is a committee proposal and is not a saved portfolio change [S3][S8].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S6 · S7 · S8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EFFECTS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480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7017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017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 fixed-income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17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fixed-income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01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5Y fixed-income sleeve (ann.)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190621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ATTRIBUTION EFFECTS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464941"/>
          <a:ext cx="10908792" cy="186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7215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+0.08pp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+0.22pp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+0.02pp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435429"/>
            <a:ext cx="10908792" cy="7824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method and reconciliation metadata follow [S5].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bp; reconciled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WIDER SPREADS FAVOR A MORE BALANCED QUALITY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Rates and Credit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4980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EFFECTIVE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Security analytics unavailable [S8]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471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339471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50443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SPREAD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43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Security analytics unavailable [S8]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934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6149340" y="1325880"/>
            <a:ext cx="264490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25906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US IG SPREAD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112 bps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returned context [S6]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397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890397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01369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US HY SPREAD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365 bps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returned context [S6]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WIDER SPREADS FAVOR A MORE BALANCED QUALITY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Rates and Credit Context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CREDIT SPREADS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WIDER SPREADS FAVOR A MORE BALANCED QUALITY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Rates and Credit Context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CREDIT SPREADS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69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2493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Latest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3-month 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 investment grade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112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+9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 high yield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365 bps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+28 bps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Emerging hard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318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+17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409680"/>
            <a:ext cx="10908792" cy="18183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409680"/>
            <a:ext cx="54864" cy="18183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51940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Spread context is cautionary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802872"/>
            <a:ext cx="10616184" cy="13337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All three returned credit spreads widened over three months [S6]. Why it matters: The context supports caution around concentrated credit exposure. Uncertainty: Spread coverage neither attributes portfolio…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37760"/>
            <a:ext cx="10908792" cy="88015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Credit spreads are market context only; governed attribution identifies the portfolio's historical effects [S5][S6].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 · S6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EXPECTED-RETURN COMPARISON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test-fi-forward-2026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FIXED-INCOME FORWARD ASSUMPTIONS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/ emerging debt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318820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318820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Risk rises with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270357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Higher-returning fixed-income segments also carry higher expected volatility [S7]. Why it matters: Reducing core-plus credit gives up some assumed return for lower modeled risk. Uncertainty: The values…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23816"/>
            <a:ext cx="10908792" cy="15941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These figures are assumptions under the selected context, not forecasts or guarantees [S7].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Policy Risk, Liquidity and Tradability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COMPOSITION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Policy Risk, Liquidity and Tradability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RISK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821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5541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554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60 months [S3][S5]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54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Maximum 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-8.1%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60 months [S3][S5]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541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security analytics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53159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PROFILE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805915"/>
          <a:ext cx="10908792" cy="136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5591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Bucket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5591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Daily to weekly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$269.0M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least 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592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$11.0M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283403"/>
            <a:ext cx="10908792" cy="9345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connector does not return security-level duration, spread duration, yield, convexity or key-rate exposure for this public sample [S8].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S5 · 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SCENARIO RESULTS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SUPPORTED SCENARIOS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4.7%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6.2% 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Rate shock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shock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Spread shock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shock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Selected-series sandbox — not saved-portfolio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Strategy Lab return series selected [S8].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 · S8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Implementation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STEPS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core-plus credit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Internal rebalance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and liquidity 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remaining shift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Internal rebalance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Transaction-cost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82720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ALTERNATIVES CONSIDERED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101520"/>
          <a:ext cx="10908792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turnover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concentration remains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Does not address watch item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Full shift immediately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Fast target alignment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Unknown transaction costs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Costs not available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328521"/>
            <a:ext cx="10908792" cy="18893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Confirm duration and transition costs before trade instructions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Recheck policy status after each phase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Report attribution and credit-spread context at the next review [S5][S6].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S6 · 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Risks, Open Items and 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RISKS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Security analytics 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Duration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Obtain custodian analytics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Credit-spread sensitivity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Wider spreads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Stage implementation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mismatch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confirmed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Document benchmark 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ITEMS AND APPROVALS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duration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Security analytics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Transition-cost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Dealer / manager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Attribution update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return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Performance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 · S6 ·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risk and liquidity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Fixed-income classifications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evidence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spreads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CMA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Security analytics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Duration and transaction costs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 · S4 · S5 · S6 · S7 ·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52120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Fixed-income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fixed_income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get_macro_conditions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credit_spreads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 and evidence gaps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 and Disclosures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Linked returns; Brinson-Fachler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Net; 1 bp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spreads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macro conditions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macro-conditions-v1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points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statistics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Expected-statistics chart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5-year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S5 · S6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Fixed Income Portfolio</dc:title>
  <dc:subject>Fixed Income Portfolio Construction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