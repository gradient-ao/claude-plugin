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dPt>
            <c:idx val="4"/>
            <c:spPr>
              <a:solidFill>
                <a:srgbClr val="C6F432"/>
              </a:solidFill>
            </c:spPr>
          </c:dPt>
          <c:dPt>
            <c:idx val="5"/>
            <c:spPr>
              <a:solidFill>
                <a:srgbClr val="C6F432"/>
              </a:solidFill>
            </c:spPr>
          </c:dPt>
          <c:dPt>
            <c:idx val="6"/>
            <c:spPr>
              <a:solidFill>
                <a:srgbClr val="C6F432"/>
              </a:solidFill>
            </c:spPr>
          </c:dPt>
          <c:dPt>
            <c:idx val="7"/>
            <c:spPr>
              <a:solidFill>
                <a:srgbClr val="C6F432"/>
              </a:solidFill>
            </c:spPr>
          </c:dPt>
          <c:cat>
            <c:strRef>
              <c:f>Sheet1!$A$2:$A$9</c:f>
              <c:strCache>
                <c:ptCount val="8"/>
                <c:pt idx="0">
                  <c:v>2-Year Treasury</c:v>
                </c:pt>
                <c:pt idx="1">
                  <c:v>1-Year Treasury</c:v>
                </c:pt>
                <c:pt idx="2">
                  <c:v>Fed funds effective</c:v>
                </c:pt>
                <c:pt idx="3">
                  <c:v>3-Month Treasury</c:v>
                </c:pt>
                <c:pt idx="4">
                  <c:v>10Y–3M spread</c:v>
                </c:pt>
                <c:pt idx="5">
                  <c:v>SOFR</c:v>
                </c:pt>
                <c:pt idx="6">
                  <c:v>10Y term premium (ACM)</c:v>
                </c:pt>
                <c:pt idx="7">
                  <c:v>10Y–2Y spread</c:v>
                </c:pt>
              </c:strCache>
            </c:strRef>
          </c:cat>
          <c:val>
            <c:numRef>
              <c:f>Sheet1!$B$2:$B$9</c:f>
              <c:numCache>
                <c:formatCode>General</c:formatCode>
                <c:ptCount val="8"/>
                <c:pt idx="0">
                  <c:v>39.0</c:v>
                </c:pt>
                <c:pt idx="1">
                  <c:v>26.0</c:v>
                </c:pt>
                <c:pt idx="2">
                  <c:v>25.0</c:v>
                </c:pt>
                <c:pt idx="3">
                  <c:v>25.0</c:v>
                </c:pt>
                <c:pt idx="4">
                  <c:v>22.0</c:v>
                </c:pt>
                <c:pt idx="5">
                  <c:v>21.0</c:v>
                </c:pt>
                <c:pt idx="6">
                  <c:v>18.09</c:v>
                </c:pt>
                <c:pt idx="7">
                  <c:v>5.0</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FF6B5E"/>
              </a:solidFill>
            </c:spPr>
          </c:dPt>
          <c:dPt>
            <c:idx val="1"/>
            <c:spPr>
              <a:solidFill>
                <a:srgbClr val="FF6B5E"/>
              </a:solidFill>
            </c:spPr>
          </c:dPt>
          <c:dPt>
            <c:idx val="2"/>
            <c:spPr>
              <a:solidFill>
                <a:srgbClr val="FF6B5E"/>
              </a:solidFill>
            </c:spPr>
          </c:dPt>
          <c:dPt>
            <c:idx val="3"/>
            <c:spPr>
              <a:solidFill>
                <a:srgbClr val="9AA5B1"/>
              </a:solidFill>
            </c:spPr>
          </c:dPt>
          <c:dPt>
            <c:idx val="4"/>
            <c:spPr>
              <a:solidFill>
                <a:srgbClr val="9AA5B1"/>
              </a:solidFill>
            </c:spPr>
          </c:dPt>
          <c:dPt>
            <c:idx val="5"/>
            <c:spPr>
              <a:solidFill>
                <a:srgbClr val="9AA5B1"/>
              </a:solidFill>
            </c:spPr>
          </c:dPt>
          <c:dPt>
            <c:idx val="6"/>
            <c:spPr>
              <a:solidFill>
                <a:srgbClr val="C6F432"/>
              </a:solidFill>
            </c:spPr>
          </c:dPt>
          <c:cat>
            <c:strRef>
              <c:f>Sheet1!$A$2:$A$8</c:f>
              <c:strCache>
                <c:ptCount val="7"/>
                <c:pt idx="0">
                  <c:v>Rates</c:v>
                </c:pt>
                <c:pt idx="1">
                  <c:v>Macro risk</c:v>
                </c:pt>
                <c:pt idx="2">
                  <c:v>Growth</c:v>
                </c:pt>
                <c:pt idx="3">
                  <c:v>Risk appetite</c:v>
                </c:pt>
                <c:pt idx="4">
                  <c:v>Credit</c:v>
                </c:pt>
                <c:pt idx="5">
                  <c:v>Liquidity</c:v>
                </c:pt>
                <c:pt idx="6">
                  <c:v>Inflation</c:v>
                </c:pt>
              </c:strCache>
            </c:strRef>
          </c:cat>
          <c:val>
            <c:numRef>
              <c:f>Sheet1!$B$2:$B$8</c:f>
              <c:numCache>
                <c:formatCode>General</c:formatCode>
                <c:ptCount val="7"/>
                <c:pt idx="0">
                  <c:v>76.7</c:v>
                </c:pt>
                <c:pt idx="1">
                  <c:v>68.0</c:v>
                </c:pt>
                <c:pt idx="2">
                  <c:v>67.7</c:v>
                </c:pt>
                <c:pt idx="3">
                  <c:v>61.1</c:v>
                </c:pt>
                <c:pt idx="4">
                  <c:v>57.5</c:v>
                </c:pt>
                <c:pt idx="5">
                  <c:v>49.4</c:v>
                </c:pt>
                <c:pt idx="6">
                  <c:v>21.9</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dPt>
            <c:idx val="4"/>
            <c:spPr>
              <a:solidFill>
                <a:srgbClr val="C6F432"/>
              </a:solidFill>
            </c:spPr>
          </c:dPt>
          <c:dPt>
            <c:idx val="5"/>
            <c:spPr>
              <a:solidFill>
                <a:srgbClr val="C6F432"/>
              </a:solidFill>
            </c:spPr>
          </c:dPt>
          <c:dPt>
            <c:idx val="6"/>
            <c:spPr>
              <a:solidFill>
                <a:srgbClr val="C6F432"/>
              </a:solidFill>
            </c:spPr>
          </c:dPt>
          <c:dPt>
            <c:idx val="7"/>
            <c:spPr>
              <a:solidFill>
                <a:srgbClr val="C6F432"/>
              </a:solidFill>
            </c:spPr>
          </c:dPt>
          <c:dPt>
            <c:idx val="8"/>
            <c:spPr>
              <a:solidFill>
                <a:srgbClr val="C6F432"/>
              </a:solidFill>
            </c:spPr>
          </c:dPt>
          <c:cat>
            <c:strRef>
              <c:f>Sheet1!$A$2:$A$10</c:f>
              <c:strCache>
                <c:ptCount val="9"/>
                <c:pt idx="0">
                  <c:v>Global Small Cap DM</c:v>
                </c:pt>
                <c:pt idx="1">
                  <c:v>Global Value DM</c:v>
                </c:pt>
                <c:pt idx="2">
                  <c:v>Global Public Equity EM</c:v>
                </c:pt>
                <c:pt idx="3">
                  <c:v>Global Public Equity DM</c:v>
                </c:pt>
                <c:pt idx="4">
                  <c:v>Global Large Cap DM</c:v>
                </c:pt>
                <c:pt idx="5">
                  <c:v>Global Growth DM</c:v>
                </c:pt>
                <c:pt idx="6">
                  <c:v>Convertibles</c:v>
                </c:pt>
                <c:pt idx="7">
                  <c:v>Global Aggregate Bonds</c:v>
                </c:pt>
                <c:pt idx="8">
                  <c:v>Global Government Bonds</c:v>
                </c:pt>
              </c:strCache>
            </c:strRef>
          </c:cat>
          <c:val>
            <c:numRef>
              <c:f>Sheet1!$B$2:$B$10</c:f>
              <c:numCache>
                <c:formatCode>General</c:formatCode>
                <c:ptCount val="9"/>
                <c:pt idx="0">
                  <c:v>5.87</c:v>
                </c:pt>
                <c:pt idx="1">
                  <c:v>5.2</c:v>
                </c:pt>
                <c:pt idx="2">
                  <c:v>4.98</c:v>
                </c:pt>
                <c:pt idx="3">
                  <c:v>4.69</c:v>
                </c:pt>
                <c:pt idx="4">
                  <c:v>4.5</c:v>
                </c:pt>
                <c:pt idx="5">
                  <c:v>4.2</c:v>
                </c:pt>
                <c:pt idx="6">
                  <c:v>3.61</c:v>
                </c:pt>
                <c:pt idx="7">
                  <c:v>0.06</c:v>
                </c:pt>
                <c:pt idx="8">
                  <c:v>0.05</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xhibit">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Appendix">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372600" y="164592"/>
            <a:ext cx="2514600" cy="2514600"/>
          </a:xfrm>
          <a:prstGeom prst="ellipse">
            <a:avLst/>
          </a:prstGeom>
          <a:solidFill>
            <a:srgbClr val="161C24"/>
          </a:solidFill>
          <a:ln>
            <a:solidFill>
              <a:srgbClr val="16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457200"/>
            <a:ext cx="2743200" cy="320040"/>
          </a:xfrm>
          <a:prstGeom prst="rect">
            <a:avLst/>
          </a:prstGeom>
          <a:noFill/>
        </p:spPr>
        <p:txBody>
          <a:bodyPr wrap="none" lIns="9144" rIns="9144" tIns="9144" bIns="9144" anchor="t">
            <a:spAutoFit/>
          </a:bodyPr>
          <a:lstStyle/>
          <a:p>
            <a:pPr algn="l">
              <a:spcAft>
                <a:spcPts val="0"/>
              </a:spcAft>
              <a:defRPr sz="1200" b="1">
                <a:solidFill>
                  <a:srgbClr val="FFFFFF"/>
                </a:solidFill>
                <a:latin typeface="Inter"/>
              </a:defRPr>
            </a:pPr>
            <a:r>
              <a:t>GradientCIO</a:t>
            </a:r>
          </a:p>
        </p:txBody>
      </p:sp>
      <p:sp>
        <p:nvSpPr>
          <p:cNvPr id="5" name="TextBox 4"/>
          <p:cNvSpPr txBox="1"/>
          <p:nvPr/>
        </p:nvSpPr>
        <p:spPr>
          <a:xfrm>
            <a:off x="685800" y="1828800"/>
            <a:ext cx="9966960" cy="274320"/>
          </a:xfrm>
          <a:prstGeom prst="rect">
            <a:avLst/>
          </a:prstGeom>
          <a:noFill/>
        </p:spPr>
        <p:txBody>
          <a:bodyPr wrap="none" lIns="9144" rIns="9144" tIns="9144" bIns="9144" anchor="t">
            <a:spAutoFit/>
          </a:bodyPr>
          <a:lstStyle/>
          <a:p>
            <a:pPr algn="l">
              <a:spcAft>
                <a:spcPts val="0"/>
              </a:spcAft>
              <a:defRPr sz="900" b="1">
                <a:solidFill>
                  <a:srgbClr val="C6F432"/>
                </a:solidFill>
                <a:latin typeface="Inter"/>
              </a:defRPr>
            </a:pPr>
            <a:r>
              <a:t>INVESTMENT COMMITTEE</a:t>
            </a:r>
          </a:p>
        </p:txBody>
      </p:sp>
      <p:sp>
        <p:nvSpPr>
          <p:cNvPr id="6" name="TextBox 5"/>
          <p:cNvSpPr txBox="1"/>
          <p:nvPr/>
        </p:nvSpPr>
        <p:spPr>
          <a:xfrm>
            <a:off x="685800" y="2176272"/>
            <a:ext cx="9966960" cy="1234440"/>
          </a:xfrm>
          <a:prstGeom prst="rect">
            <a:avLst/>
          </a:prstGeom>
          <a:noFill/>
        </p:spPr>
        <p:txBody>
          <a:bodyPr wrap="none" lIns="9144" rIns="9144" tIns="9144" bIns="9144" anchor="t">
            <a:spAutoFit/>
          </a:bodyPr>
          <a:lstStyle/>
          <a:p>
            <a:pPr algn="l">
              <a:spcAft>
                <a:spcPts val="0"/>
              </a:spcAft>
              <a:defRPr sz="3400" b="1">
                <a:solidFill>
                  <a:srgbClr val="FFFFFF"/>
                </a:solidFill>
                <a:latin typeface="Inter"/>
              </a:defRPr>
            </a:pPr>
            <a:r>
              <a:t>Macro Briefing</a:t>
            </a:r>
          </a:p>
        </p:txBody>
      </p:sp>
      <p:sp>
        <p:nvSpPr>
          <p:cNvPr id="7" name="TextBox 6"/>
          <p:cNvSpPr txBox="1"/>
          <p:nvPr/>
        </p:nvSpPr>
        <p:spPr>
          <a:xfrm>
            <a:off x="685800" y="3456432"/>
            <a:ext cx="9692640" cy="640080"/>
          </a:xfrm>
          <a:prstGeom prst="rect">
            <a:avLst/>
          </a:prstGeom>
          <a:noFill/>
        </p:spPr>
        <p:txBody>
          <a:bodyPr wrap="none" lIns="9144" rIns="9144" tIns="9144" bIns="9144" anchor="t">
            <a:spAutoFit/>
          </a:bodyPr>
          <a:lstStyle/>
          <a:p>
            <a:pPr algn="l">
              <a:spcAft>
                <a:spcPts val="0"/>
              </a:spcAft>
              <a:defRPr sz="1500" b="0">
                <a:solidFill>
                  <a:srgbClr val="9AA5B1"/>
                </a:solidFill>
                <a:latin typeface="Inter"/>
              </a:defRPr>
            </a:pPr>
            <a:r>
              <a:t>Gradient investment committee · data to 2026-10-02</a:t>
            </a:r>
          </a:p>
        </p:txBody>
      </p:sp>
      <p:sp>
        <p:nvSpPr>
          <p:cNvPr id="8" name="Rectangle 7"/>
          <p:cNvSpPr/>
          <p:nvPr/>
        </p:nvSpPr>
        <p:spPr>
          <a:xfrm>
            <a:off x="685800" y="4251960"/>
            <a:ext cx="1005840" cy="54864"/>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t>AS OF</a:t>
            </a:r>
          </a:p>
        </p:txBody>
      </p:sp>
      <p:sp>
        <p:nvSpPr>
          <p:cNvPr id="10" name="TextBox 9"/>
          <p:cNvSpPr txBox="1"/>
          <p:nvPr/>
        </p:nvSpPr>
        <p:spPr>
          <a:xfrm>
            <a:off x="68580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t>2026-10-02</a:t>
            </a:r>
          </a:p>
        </p:txBody>
      </p:sp>
      <p:sp>
        <p:nvSpPr>
          <p:cNvPr id="11" name="TextBox 10"/>
          <p:cNvSpPr txBox="1"/>
          <p:nvPr/>
        </p:nvSpPr>
        <p:spPr>
          <a:xfrm>
            <a:off x="416052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t>THE READ</a:t>
            </a:r>
          </a:p>
        </p:txBody>
      </p:sp>
      <p:sp>
        <p:nvSpPr>
          <p:cNvPr id="12" name="TextBox 11"/>
          <p:cNvSpPr txBox="1"/>
          <p:nvPr/>
        </p:nvSpPr>
        <p:spPr>
          <a:xfrm>
            <a:off x="416052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t>AM edition</a:t>
            </a:r>
          </a:p>
        </p:txBody>
      </p:sp>
      <p:sp>
        <p:nvSpPr>
          <p:cNvPr id="13" name="TextBox 12"/>
          <p:cNvSpPr txBox="1"/>
          <p:nvPr/>
        </p:nvSpPr>
        <p:spPr>
          <a:xfrm>
            <a:off x="763524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t>GRIP STANCE</a:t>
            </a:r>
          </a:p>
        </p:txBody>
      </p:sp>
      <p:sp>
        <p:nvSpPr>
          <p:cNvPr id="14" name="TextBox 13"/>
          <p:cNvSpPr txBox="1"/>
          <p:nvPr/>
        </p:nvSpPr>
        <p:spPr>
          <a:xfrm>
            <a:off x="763524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t>Defensive · 78</a:t>
            </a:r>
          </a:p>
        </p:txBody>
      </p:sp>
      <p:sp>
        <p:nvSpPr>
          <p:cNvPr id="15" name="TextBox 14"/>
          <p:cNvSpPr txBox="1"/>
          <p:nvPr/>
        </p:nvSpPr>
        <p:spPr>
          <a:xfrm>
            <a:off x="685800" y="5230368"/>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t>NEXT HIGH-IMPORTANCE EVENT</a:t>
            </a:r>
          </a:p>
        </p:txBody>
      </p:sp>
      <p:sp>
        <p:nvSpPr>
          <p:cNvPr id="16" name="TextBox 15"/>
          <p:cNvSpPr txBox="1"/>
          <p:nvPr/>
        </p:nvSpPr>
        <p:spPr>
          <a:xfrm>
            <a:off x="685800" y="5431536"/>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t>ISM Services · 2026-10-05</a:t>
            </a:r>
          </a:p>
        </p:txBody>
      </p:sp>
      <p:sp>
        <p:nvSpPr>
          <p:cNvPr id="17" name="TextBox 16"/>
          <p:cNvSpPr txBox="1"/>
          <p:nvPr/>
        </p:nvSpPr>
        <p:spPr>
          <a:xfrm>
            <a:off x="685800" y="6473952"/>
            <a:ext cx="8046720" cy="182880"/>
          </a:xfrm>
          <a:prstGeom prst="rect">
            <a:avLst/>
          </a:prstGeom>
          <a:noFill/>
        </p:spPr>
        <p:txBody>
          <a:bodyPr wrap="none" lIns="9144" rIns="9144" tIns="9144" bIns="9144" anchor="t">
            <a:spAutoFit/>
          </a:bodyPr>
          <a:lstStyle/>
          <a:p>
            <a:pPr algn="l">
              <a:spcAft>
                <a:spcPts val="0"/>
              </a:spcAft>
              <a:defRPr sz="700" b="0">
                <a:solidFill>
                  <a:srgbClr val="8A94A1"/>
                </a:solidFill>
                <a:latin typeface="Inter"/>
              </a:defRPr>
            </a:pPr>
            <a:r>
              <a:t>Confidential — prepared for internal investment use</a:t>
            </a:r>
          </a:p>
        </p:txBody>
      </p:sp>
      <p:sp>
        <p:nvSpPr>
          <p:cNvPr id="18" name="TextBox 17"/>
          <p:cNvSpPr txBox="1"/>
          <p:nvPr/>
        </p:nvSpPr>
        <p:spPr>
          <a:xfrm>
            <a:off x="9875520" y="6473952"/>
            <a:ext cx="1645920" cy="182880"/>
          </a:xfrm>
          <a:prstGeom prst="rect">
            <a:avLst/>
          </a:prstGeom>
          <a:noFill/>
        </p:spPr>
        <p:txBody>
          <a:bodyPr wrap="none" lIns="9144" rIns="9144" tIns="9144" bIns="9144" anchor="t">
            <a:spAutoFit/>
          </a:bodyPr>
          <a:lstStyle/>
          <a:p>
            <a:pPr algn="r">
              <a:spcAft>
                <a:spcPts val="0"/>
              </a:spcAft>
              <a:defRPr sz="700" b="0">
                <a:solidFill>
                  <a:srgbClr val="8A94A1"/>
                </a:solidFill>
                <a:latin typeface="Inter"/>
              </a:defRPr>
            </a:pPr>
            <a:r>
              <a:t>GradientCIO.com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THE READ · 2026-10-02 [S1]</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Diesel carries the Gulf premium</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01</a:t>
            </a:r>
          </a:p>
        </p:txBody>
      </p:sp>
      <p:sp>
        <p:nvSpPr>
          <p:cNvPr id="8" name="Rectangle 7"/>
          <p:cNvSpPr/>
          <p:nvPr/>
        </p:nvSpPr>
        <p:spPr>
          <a:xfrm>
            <a:off x="640080" y="1399032"/>
            <a:ext cx="73152" cy="1719964"/>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371600"/>
            <a:ext cx="10588752" cy="1005840"/>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t>Before the carrier report, the Gulf energy premium sat in Gulf Coast diesel margins rather than Brent — and no crude or diesel price since has tested whether that split holds.</a:t>
            </a:r>
          </a:p>
        </p:txBody>
      </p:sp>
      <p:sp>
        <p:nvSpPr>
          <p:cNvPr id="10" name="TextBox 9"/>
          <p:cNvSpPr txBox="1"/>
          <p:nvPr/>
        </p:nvSpPr>
        <p:spPr>
          <a:xfrm>
            <a:off x="896112" y="2423160"/>
            <a:ext cx="10588752" cy="559880"/>
          </a:xfrm>
          <a:prstGeom prst="rect">
            <a:avLst/>
          </a:prstGeom>
          <a:noFill/>
        </p:spPr>
        <p:txBody>
          <a:bodyPr wrap="none" lIns="9144" rIns="9144" tIns="9144" bIns="9144" anchor="t">
            <a:spAutoFit/>
          </a:bodyPr>
          <a:lstStyle/>
          <a:p>
            <a:pPr algn="l">
              <a:spcAft>
                <a:spcPts val="0"/>
              </a:spcAft>
              <a:defRPr sz="900" b="0">
                <a:solidFill>
                  <a:srgbClr val="4A5563"/>
                </a:solidFill>
                <a:latin typeface="Inter"/>
              </a:defRPr>
            </a:pPr>
            <a:r>
              <a:t>Governing thesis of The Read, 2026-10-02 AM edition [S1]</a:t>
            </a:r>
          </a:p>
        </p:txBody>
      </p:sp>
      <p:sp>
        <p:nvSpPr>
          <p:cNvPr id="11" name="Rectangle 10"/>
          <p:cNvSpPr/>
          <p:nvPr/>
        </p:nvSpPr>
        <p:spPr>
          <a:xfrm>
            <a:off x="640080" y="3301876"/>
            <a:ext cx="264490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 y="3301876"/>
            <a:ext cx="2644902" cy="4572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3429892"/>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t>GULF DIESEL CRACK VS BRENT</a:t>
            </a:r>
          </a:p>
        </p:txBody>
      </p:sp>
      <p:sp>
        <p:nvSpPr>
          <p:cNvPr id="14" name="TextBox 13"/>
          <p:cNvSpPr txBox="1"/>
          <p:nvPr/>
        </p:nvSpPr>
        <p:spPr>
          <a:xfrm>
            <a:off x="749808" y="3685924"/>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t>+$9.29/bbl</a:t>
            </a:r>
          </a:p>
        </p:txBody>
      </p:sp>
      <p:sp>
        <p:nvSpPr>
          <p:cNvPr id="15" name="TextBox 14"/>
          <p:cNvSpPr txBox="1"/>
          <p:nvPr/>
        </p:nvSpPr>
        <p:spPr>
          <a:xfrm>
            <a:off x="749808" y="5888736"/>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t>One session to 2026-09-29 [S1]</a:t>
            </a:r>
          </a:p>
        </p:txBody>
      </p:sp>
      <p:sp>
        <p:nvSpPr>
          <p:cNvPr id="16" name="Rectangle 15"/>
          <p:cNvSpPr/>
          <p:nvPr/>
        </p:nvSpPr>
        <p:spPr>
          <a:xfrm>
            <a:off x="3394710" y="3301876"/>
            <a:ext cx="264490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94710" y="3301876"/>
            <a:ext cx="2644902" cy="4572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04438" y="3429892"/>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t>5Y5Y INFLATION EXPECTATION</a:t>
            </a:r>
          </a:p>
        </p:txBody>
      </p:sp>
      <p:sp>
        <p:nvSpPr>
          <p:cNvPr id="19" name="TextBox 18"/>
          <p:cNvSpPr txBox="1"/>
          <p:nvPr/>
        </p:nvSpPr>
        <p:spPr>
          <a:xfrm>
            <a:off x="3504438" y="3685924"/>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t>2.36%</a:t>
            </a:r>
          </a:p>
        </p:txBody>
      </p:sp>
      <p:sp>
        <p:nvSpPr>
          <p:cNvPr id="20" name="TextBox 19"/>
          <p:cNvSpPr txBox="1"/>
          <p:nvPr/>
        </p:nvSpPr>
        <p:spPr>
          <a:xfrm>
            <a:off x="3504438" y="5888736"/>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t>2026-09-30; top of 12-week range [S1]</a:t>
            </a:r>
          </a:p>
        </p:txBody>
      </p:sp>
      <p:sp>
        <p:nvSpPr>
          <p:cNvPr id="21" name="Rectangle 20"/>
          <p:cNvSpPr/>
          <p:nvPr/>
        </p:nvSpPr>
        <p:spPr>
          <a:xfrm>
            <a:off x="6149340" y="3301876"/>
            <a:ext cx="264490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49340" y="3301876"/>
            <a:ext cx="2644902" cy="45720"/>
          </a:xfrm>
          <a:prstGeom prst="rect">
            <a:avLst/>
          </a:prstGeom>
          <a:solidFill>
            <a:srgbClr val="FF6B5E"/>
          </a:solidFill>
          <a:ln>
            <a:solidFill>
              <a:srgbClr val="FF6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9068" y="3429892"/>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t>5-YEAR TREASURY</a:t>
            </a:r>
          </a:p>
        </p:txBody>
      </p:sp>
      <p:sp>
        <p:nvSpPr>
          <p:cNvPr id="24" name="TextBox 23"/>
          <p:cNvSpPr txBox="1"/>
          <p:nvPr/>
        </p:nvSpPr>
        <p:spPr>
          <a:xfrm>
            <a:off x="6259068" y="3685924"/>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t>+58 bps</a:t>
            </a:r>
          </a:p>
        </p:txBody>
      </p:sp>
      <p:sp>
        <p:nvSpPr>
          <p:cNvPr id="25" name="TextBox 24"/>
          <p:cNvSpPr txBox="1"/>
          <p:nvPr/>
        </p:nvSpPr>
        <p:spPr>
          <a:xfrm>
            <a:off x="6259068" y="5888736"/>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t>Month-over-month to 2026-09-29 [S1]</a:t>
            </a:r>
          </a:p>
        </p:txBody>
      </p:sp>
      <p:sp>
        <p:nvSpPr>
          <p:cNvPr id="26" name="Rectangle 25"/>
          <p:cNvSpPr/>
          <p:nvPr/>
        </p:nvSpPr>
        <p:spPr>
          <a:xfrm>
            <a:off x="8903970" y="3301876"/>
            <a:ext cx="264490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03970" y="3301876"/>
            <a:ext cx="2644902" cy="45720"/>
          </a:xfrm>
          <a:prstGeom prst="rect">
            <a:avLst/>
          </a:prstGeom>
          <a:solidFill>
            <a:srgbClr val="FF6B5E"/>
          </a:solidFill>
          <a:ln>
            <a:solidFill>
              <a:srgbClr val="FF6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13698" y="3429892"/>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t>CRUDE TANKER FREIGHT</a:t>
            </a:r>
          </a:p>
        </p:txBody>
      </p:sp>
      <p:sp>
        <p:nvSpPr>
          <p:cNvPr id="29" name="TextBox 28"/>
          <p:cNvSpPr txBox="1"/>
          <p:nvPr/>
        </p:nvSpPr>
        <p:spPr>
          <a:xfrm>
            <a:off x="9013698" y="3685924"/>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t>+318.5%</a:t>
            </a:r>
          </a:p>
        </p:txBody>
      </p:sp>
      <p:sp>
        <p:nvSpPr>
          <p:cNvPr id="30" name="TextBox 29"/>
          <p:cNvSpPr txBox="1"/>
          <p:nvPr/>
        </p:nvSpPr>
        <p:spPr>
          <a:xfrm>
            <a:off x="9013698" y="5888736"/>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t>Quarter-over-quarter to 2026-09-30 [S1]</a:t>
            </a:r>
          </a:p>
        </p:txBody>
      </p:sp>
      <p:sp>
        <p:nvSpPr>
          <p:cNvPr id="31" name="Rectangle 30"/>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t>Takeaway</a:t>
            </a:r>
          </a:p>
        </p:txBody>
      </p:sp>
      <p:sp>
        <p:nvSpPr>
          <p:cNvPr id="34" name="TextBox 33"/>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The energy shock is showing up in refined products, not crude — The Read holds this lean with low confidence until new prices print.</a:t>
            </a:r>
          </a:p>
        </p:txBody>
      </p:sp>
      <p:sp>
        <p:nvSpPr>
          <p:cNvPr id="35" name="Rectangle 34"/>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S1</a:t>
            </a:r>
          </a:p>
        </p:txBody>
      </p:sp>
      <p:sp>
        <p:nvSpPr>
          <p:cNvPr id="37" name="TextBox 36"/>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38" name="TextBox 37"/>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RATES [S2]</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Rates are doing the tightening: front end up 26–39 bps in a month</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02</a:t>
            </a:r>
          </a:p>
        </p:txBody>
      </p:sp>
      <p:sp>
        <p:nvSpPr>
          <p:cNvPr id="8" name="TextBox 7"/>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t>ONE-MONTH CHANGE TO 2026-10-01/02 (BPS)</a:t>
            </a:r>
          </a:p>
        </p:txBody>
      </p:sp>
      <p:graphicFrame>
        <p:nvGraphicFramePr>
          <p:cNvPr id="9" name="Chart 8"/>
          <p:cNvGraphicFramePr>
            <a:graphicFrameLocks noGrp="1"/>
          </p:cNvGraphicFramePr>
          <p:nvPr/>
        </p:nvGraphicFramePr>
        <p:xfrm>
          <a:off x="640080" y="1600200"/>
          <a:ext cx="5239512" cy="4617720"/>
        </p:xfrm>
        <a:graphic>
          <a:graphicData uri="http://schemas.openxmlformats.org/drawingml/2006/chart">
            <c:chart xmlns:c="http://schemas.openxmlformats.org/drawingml/2006/chart" r:id="rId2"/>
          </a:graphicData>
        </a:graphic>
      </p:graphicFrame>
      <p:sp>
        <p:nvSpPr>
          <p:cNvPr id="10" name="Rectangle 9"/>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t>WHERE LEVELS SIT</a:t>
            </a:r>
          </a:p>
        </p:txBody>
      </p:sp>
      <p:graphicFrame>
        <p:nvGraphicFramePr>
          <p:cNvPr id="12" name="Table 11"/>
          <p:cNvGraphicFramePr>
            <a:graphicFrameLocks noGrp="1"/>
          </p:cNvGraphicFramePr>
          <p:nvPr/>
        </p:nvGraphicFramePr>
        <p:xfrm>
          <a:off x="6309360" y="1600200"/>
          <a:ext cx="5239512" cy="4416552"/>
        </p:xfrm>
        <a:graphic>
          <a:graphicData uri="http://schemas.openxmlformats.org/drawingml/2006/table">
            <a:tbl>
              <a:tblPr firstRow="1" bandRow="1">
                <a:tableStyleId>{5C22544A-7EE6-4342-B048-85BDC9FD1C3A}</a:tableStyleId>
              </a:tblPr>
              <a:tblGrid>
                <a:gridCol w="1746504"/>
                <a:gridCol w="1746504"/>
                <a:gridCol w="1746504"/>
              </a:tblGrid>
              <a:tr h="736092">
                <a:tc>
                  <a:txBody>
                    <a:bodyPr/>
                    <a:lstStyle/>
                    <a:p>
                      <a:pPr>
                        <a:defRPr sz="750" b="1">
                          <a:solidFill>
                            <a:srgbClr val="FFFFFF"/>
                          </a:solidFill>
                          <a:latin typeface="Inter"/>
                        </a:defRPr>
                      </a:pPr>
                      <a:r>
                        <a:t>Series</a:t>
                      </a:r>
                    </a:p>
                  </a:txBody>
                  <a:tcPr marL="54864" marR="54864" marT="27432" marB="27432" anchor="ctr">
                    <a:solidFill>
                      <a:srgbClr val="0D1117"/>
                    </a:solidFill>
                  </a:tcPr>
                </a:tc>
                <a:tc>
                  <a:txBody>
                    <a:bodyPr/>
                    <a:lstStyle/>
                    <a:p>
                      <a:pPr>
                        <a:defRPr sz="750" b="1">
                          <a:solidFill>
                            <a:srgbClr val="FFFFFF"/>
                          </a:solidFill>
                          <a:latin typeface="Inter"/>
                        </a:defRPr>
                      </a:pPr>
                      <a:r>
                        <a:t>1y pct</a:t>
                      </a:r>
                    </a:p>
                  </a:txBody>
                  <a:tcPr marL="54864" marR="54864" marT="27432" marB="27432" anchor="ctr">
                    <a:solidFill>
                      <a:srgbClr val="0D1117"/>
                    </a:solidFill>
                  </a:tcPr>
                </a:tc>
                <a:tc>
                  <a:txBody>
                    <a:bodyPr/>
                    <a:lstStyle/>
                    <a:p>
                      <a:pPr>
                        <a:defRPr sz="750" b="1">
                          <a:solidFill>
                            <a:srgbClr val="FFFFFF"/>
                          </a:solidFill>
                          <a:latin typeface="Inter"/>
                        </a:defRPr>
                      </a:pPr>
                      <a:r>
                        <a:t>5y pct</a:t>
                      </a:r>
                    </a:p>
                  </a:txBody>
                  <a:tcPr marL="54864" marR="54864" marT="27432" marB="27432" anchor="ctr">
                    <a:solidFill>
                      <a:srgbClr val="0D1117"/>
                    </a:solidFill>
                  </a:tcPr>
                </a:tc>
              </a:tr>
              <a:tr h="736092">
                <a:tc>
                  <a:txBody>
                    <a:bodyPr/>
                    <a:lstStyle/>
                    <a:p>
                      <a:pPr>
                        <a:defRPr sz="800" b="1">
                          <a:solidFill>
                            <a:srgbClr val="0D1117"/>
                          </a:solidFill>
                          <a:latin typeface="Inter"/>
                        </a:defRPr>
                      </a:pPr>
                      <a:r>
                        <a:t>2-Year Treasury</a:t>
                      </a:r>
                    </a:p>
                  </a:txBody>
                  <a:tcPr marL="54864" marR="54864" marT="27432" marB="27432" anchor="ctr">
                    <a:solidFill>
                      <a:srgbClr val="FFFFFF"/>
                    </a:solidFill>
                  </a:tcPr>
                </a:tc>
                <a:tc>
                  <a:txBody>
                    <a:bodyPr/>
                    <a:lstStyle/>
                    <a:p>
                      <a:pPr>
                        <a:defRPr sz="800" b="0">
                          <a:solidFill>
                            <a:srgbClr val="0D1117"/>
                          </a:solidFill>
                          <a:latin typeface="Inter"/>
                        </a:defRPr>
                      </a:pPr>
                      <a:r>
                        <a:t>97.6</a:t>
                      </a:r>
                    </a:p>
                  </a:txBody>
                  <a:tcPr marL="54864" marR="54864" marT="27432" marB="27432" anchor="ctr">
                    <a:solidFill>
                      <a:srgbClr val="FFFFFF"/>
                    </a:solidFill>
                  </a:tcPr>
                </a:tc>
                <a:tc>
                  <a:txBody>
                    <a:bodyPr/>
                    <a:lstStyle/>
                    <a:p>
                      <a:pPr>
                        <a:defRPr sz="800" b="0">
                          <a:solidFill>
                            <a:srgbClr val="0D1117"/>
                          </a:solidFill>
                          <a:latin typeface="Inter"/>
                        </a:defRPr>
                      </a:pPr>
                      <a:r>
                        <a:t>88.2</a:t>
                      </a:r>
                    </a:p>
                  </a:txBody>
                  <a:tcPr marL="54864" marR="54864" marT="27432" marB="27432" anchor="ctr">
                    <a:solidFill>
                      <a:srgbClr val="FFFFFF"/>
                    </a:solidFill>
                  </a:tcPr>
                </a:tc>
              </a:tr>
              <a:tr h="736092">
                <a:tc>
                  <a:txBody>
                    <a:bodyPr/>
                    <a:lstStyle/>
                    <a:p>
                      <a:pPr>
                        <a:defRPr sz="800" b="1">
                          <a:solidFill>
                            <a:srgbClr val="0D1117"/>
                          </a:solidFill>
                          <a:latin typeface="Inter"/>
                        </a:defRPr>
                      </a:pPr>
                      <a:r>
                        <a:t>3-Month Treasury</a:t>
                      </a:r>
                    </a:p>
                  </a:txBody>
                  <a:tcPr marL="54864" marR="54864" marT="27432" marB="27432" anchor="ctr">
                    <a:solidFill>
                      <a:srgbClr val="F5F7F9"/>
                    </a:solidFill>
                  </a:tcPr>
                </a:tc>
                <a:tc>
                  <a:txBody>
                    <a:bodyPr/>
                    <a:lstStyle/>
                    <a:p>
                      <a:pPr>
                        <a:defRPr sz="800" b="0">
                          <a:solidFill>
                            <a:srgbClr val="0D1117"/>
                          </a:solidFill>
                          <a:latin typeface="Inter"/>
                        </a:defRPr>
                      </a:pPr>
                      <a:r>
                        <a:t>97.6</a:t>
                      </a:r>
                    </a:p>
                  </a:txBody>
                  <a:tcPr marL="54864" marR="54864" marT="27432" marB="27432" anchor="ctr">
                    <a:solidFill>
                      <a:srgbClr val="F5F7F9"/>
                    </a:solidFill>
                  </a:tcPr>
                </a:tc>
                <a:tc>
                  <a:txBody>
                    <a:bodyPr/>
                    <a:lstStyle/>
                    <a:p>
                      <a:pPr>
                        <a:defRPr sz="800" b="0">
                          <a:solidFill>
                            <a:srgbClr val="0D1117"/>
                          </a:solidFill>
                          <a:latin typeface="Inter"/>
                        </a:defRPr>
                      </a:pPr>
                      <a:r>
                        <a:t>42.6</a:t>
                      </a:r>
                    </a:p>
                  </a:txBody>
                  <a:tcPr marL="54864" marR="54864" marT="27432" marB="27432" anchor="ctr">
                    <a:solidFill>
                      <a:srgbClr val="F5F7F9"/>
                    </a:solidFill>
                  </a:tcPr>
                </a:tc>
              </a:tr>
              <a:tr h="736092">
                <a:tc>
                  <a:txBody>
                    <a:bodyPr/>
                    <a:lstStyle/>
                    <a:p>
                      <a:pPr>
                        <a:defRPr sz="800" b="1">
                          <a:solidFill>
                            <a:srgbClr val="0D1117"/>
                          </a:solidFill>
                          <a:latin typeface="Inter"/>
                        </a:defRPr>
                      </a:pPr>
                      <a:r>
                        <a:t>10Y term premium</a:t>
                      </a:r>
                    </a:p>
                  </a:txBody>
                  <a:tcPr marL="54864" marR="54864" marT="27432" marB="27432" anchor="ctr">
                    <a:solidFill>
                      <a:srgbClr val="FFFFFF"/>
                    </a:solidFill>
                  </a:tcPr>
                </a:tc>
                <a:tc>
                  <a:txBody>
                    <a:bodyPr/>
                    <a:lstStyle/>
                    <a:p>
                      <a:pPr>
                        <a:defRPr sz="800" b="0">
                          <a:solidFill>
                            <a:srgbClr val="0D1117"/>
                          </a:solidFill>
                          <a:latin typeface="Inter"/>
                        </a:defRPr>
                      </a:pPr>
                      <a:r>
                        <a:t>99.6</a:t>
                      </a:r>
                    </a:p>
                  </a:txBody>
                  <a:tcPr marL="54864" marR="54864" marT="27432" marB="27432" anchor="ctr">
                    <a:solidFill>
                      <a:srgbClr val="FFFFFF"/>
                    </a:solidFill>
                  </a:tcPr>
                </a:tc>
                <a:tc>
                  <a:txBody>
                    <a:bodyPr/>
                    <a:lstStyle/>
                    <a:p>
                      <a:pPr>
                        <a:defRPr sz="800" b="0">
                          <a:solidFill>
                            <a:srgbClr val="0D1117"/>
                          </a:solidFill>
                          <a:latin typeface="Inter"/>
                        </a:defRPr>
                      </a:pPr>
                      <a:r>
                        <a:t>99.9</a:t>
                      </a:r>
                    </a:p>
                  </a:txBody>
                  <a:tcPr marL="54864" marR="54864" marT="27432" marB="27432" anchor="ctr">
                    <a:solidFill>
                      <a:srgbClr val="FFFFFF"/>
                    </a:solidFill>
                  </a:tcPr>
                </a:tc>
              </a:tr>
              <a:tr h="736092">
                <a:tc>
                  <a:txBody>
                    <a:bodyPr/>
                    <a:lstStyle/>
                    <a:p>
                      <a:pPr>
                        <a:defRPr sz="800" b="1">
                          <a:solidFill>
                            <a:srgbClr val="0D1117"/>
                          </a:solidFill>
                          <a:latin typeface="Inter"/>
                        </a:defRPr>
                      </a:pPr>
                      <a:r>
                        <a:t>10Y–3M spread</a:t>
                      </a:r>
                    </a:p>
                  </a:txBody>
                  <a:tcPr marL="54864" marR="54864" marT="27432" marB="27432" anchor="ctr">
                    <a:solidFill>
                      <a:srgbClr val="F5F7F9"/>
                    </a:solidFill>
                  </a:tcPr>
                </a:tc>
                <a:tc>
                  <a:txBody>
                    <a:bodyPr/>
                    <a:lstStyle/>
                    <a:p>
                      <a:pPr>
                        <a:defRPr sz="800" b="0">
                          <a:solidFill>
                            <a:srgbClr val="0D1117"/>
                          </a:solidFill>
                          <a:latin typeface="Inter"/>
                        </a:defRPr>
                      </a:pPr>
                      <a:r>
                        <a:t>100.0</a:t>
                      </a:r>
                    </a:p>
                  </a:txBody>
                  <a:tcPr marL="54864" marR="54864" marT="27432" marB="27432" anchor="ctr">
                    <a:solidFill>
                      <a:srgbClr val="F5F7F9"/>
                    </a:solidFill>
                  </a:tcPr>
                </a:tc>
                <a:tc>
                  <a:txBody>
                    <a:bodyPr/>
                    <a:lstStyle/>
                    <a:p>
                      <a:pPr>
                        <a:defRPr sz="800" b="0">
                          <a:solidFill>
                            <a:srgbClr val="0D1117"/>
                          </a:solidFill>
                          <a:latin typeface="Inter"/>
                        </a:defRPr>
                      </a:pPr>
                      <a:r>
                        <a:t>85.0</a:t>
                      </a:r>
                    </a:p>
                  </a:txBody>
                  <a:tcPr marL="54864" marR="54864" marT="27432" marB="27432" anchor="ctr">
                    <a:solidFill>
                      <a:srgbClr val="F5F7F9"/>
                    </a:solidFill>
                  </a:tcPr>
                </a:tc>
              </a:tr>
              <a:tr h="736092">
                <a:tc>
                  <a:txBody>
                    <a:bodyPr/>
                    <a:lstStyle/>
                    <a:p>
                      <a:pPr>
                        <a:defRPr sz="800" b="1">
                          <a:solidFill>
                            <a:srgbClr val="0D1117"/>
                          </a:solidFill>
                          <a:latin typeface="Inter"/>
                        </a:defRPr>
                      </a:pPr>
                      <a:r>
                        <a:t>10Y–2Y spread</a:t>
                      </a:r>
                    </a:p>
                  </a:txBody>
                  <a:tcPr marL="54864" marR="54864" marT="27432" marB="27432" anchor="ctr">
                    <a:solidFill>
                      <a:srgbClr val="FFFFFF"/>
                    </a:solidFill>
                  </a:tcPr>
                </a:tc>
                <a:tc>
                  <a:txBody>
                    <a:bodyPr/>
                    <a:lstStyle/>
                    <a:p>
                      <a:pPr>
                        <a:defRPr sz="800" b="0">
                          <a:solidFill>
                            <a:srgbClr val="0D1117"/>
                          </a:solidFill>
                          <a:latin typeface="Inter"/>
                        </a:defRPr>
                      </a:pPr>
                      <a:r>
                        <a:t>28.2</a:t>
                      </a:r>
                    </a:p>
                  </a:txBody>
                  <a:tcPr marL="54864" marR="54864" marT="27432" marB="27432" anchor="ctr">
                    <a:solidFill>
                      <a:srgbClr val="FFFFFF"/>
                    </a:solidFill>
                  </a:tcPr>
                </a:tc>
                <a:tc>
                  <a:txBody>
                    <a:bodyPr/>
                    <a:lstStyle/>
                    <a:p>
                      <a:pPr>
                        <a:defRPr sz="800" b="0">
                          <a:solidFill>
                            <a:srgbClr val="0D1117"/>
                          </a:solidFill>
                          <a:latin typeface="Inter"/>
                        </a:defRPr>
                      </a:pPr>
                      <a:r>
                        <a:t>69.0</a:t>
                      </a:r>
                    </a:p>
                  </a:txBody>
                  <a:tcPr marL="54864" marR="54864" marT="27432" marB="27432" anchor="ctr">
                    <a:solidFill>
                      <a:srgbClr val="FFFFFF"/>
                    </a:solidFill>
                  </a:tcPr>
                </a:tc>
              </a:tr>
            </a:tbl>
          </a:graphicData>
        </a:graphic>
      </p:graphicFrame>
      <p:sp>
        <p:nvSpPr>
          <p:cNvPr id="13" name="TextBox 12"/>
          <p:cNvSpPr txBox="1"/>
          <p:nvPr/>
        </p:nvSpPr>
        <p:spPr>
          <a:xfrm>
            <a:off x="6309360" y="6035040"/>
            <a:ext cx="523951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t>Percentile rank of the level over 1 and 5 years [S2]. Context, not fair value.</a:t>
            </a:r>
          </a:p>
        </p:txBody>
      </p:sp>
      <p:sp>
        <p:nvSpPr>
          <p:cNvPr id="14" name="Rectangle 13"/>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t>Takeaway</a:t>
            </a:r>
          </a:p>
        </p:txBody>
      </p:sp>
      <p:sp>
        <p:nvSpPr>
          <p:cNvPr id="17" name="TextBox 16"/>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The front end and the term premium are both near one-year highs: financial conditions are tightening through rates, not credit.</a:t>
            </a:r>
          </a:p>
        </p:txBody>
      </p:sp>
      <p:sp>
        <p:nvSpPr>
          <p:cNvPr id="18" name="Rectangle 1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S2</a:t>
            </a:r>
          </a:p>
        </p:txBody>
      </p:sp>
      <p:sp>
        <p:nvSpPr>
          <p:cNvPr id="20" name="TextBox 1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21" name="TextBox 2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GRADIENT SIGNAL · 2026-10-02 [S3]</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Risk posture: neutral composite, defensive GRIP, rates pressing</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03</a:t>
            </a:r>
          </a:p>
        </p:txBody>
      </p:sp>
      <p:sp>
        <p:nvSpPr>
          <p:cNvPr id="8" name="TextBox 7"/>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t>DRIVER SCORES (0–100; HIGHER = MORE RISK PRESSURE)</a:t>
            </a:r>
          </a:p>
        </p:txBody>
      </p:sp>
      <p:graphicFrame>
        <p:nvGraphicFramePr>
          <p:cNvPr id="9" name="Chart 8"/>
          <p:cNvGraphicFramePr>
            <a:graphicFrameLocks noGrp="1"/>
          </p:cNvGraphicFramePr>
          <p:nvPr/>
        </p:nvGraphicFramePr>
        <p:xfrm>
          <a:off x="640080" y="1600200"/>
          <a:ext cx="5239512" cy="4617720"/>
        </p:xfrm>
        <a:graphic>
          <a:graphicData uri="http://schemas.openxmlformats.org/drawingml/2006/chart">
            <c:chart xmlns:c="http://schemas.openxmlformats.org/drawingml/2006/chart" r:id="rId2"/>
          </a:graphicData>
        </a:graphic>
      </p:graphicFrame>
      <p:sp>
        <p:nvSpPr>
          <p:cNvPr id="10" name="Rectangle 9"/>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325880"/>
            <a:ext cx="256489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325880"/>
            <a:ext cx="2564892" cy="4572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453895"/>
            <a:ext cx="234543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t>COMPOSITE SCORE</a:t>
            </a:r>
          </a:p>
        </p:txBody>
      </p:sp>
      <p:sp>
        <p:nvSpPr>
          <p:cNvPr id="14" name="TextBox 13"/>
          <p:cNvSpPr txBox="1"/>
          <p:nvPr/>
        </p:nvSpPr>
        <p:spPr>
          <a:xfrm>
            <a:off x="6419088" y="1709928"/>
            <a:ext cx="234543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t>57.2</a:t>
            </a:r>
          </a:p>
        </p:txBody>
      </p:sp>
      <p:sp>
        <p:nvSpPr>
          <p:cNvPr id="15" name="TextBox 14"/>
          <p:cNvSpPr txBox="1"/>
          <p:nvPr/>
        </p:nvSpPr>
        <p:spPr>
          <a:xfrm>
            <a:off x="6419088" y="3912739"/>
            <a:ext cx="234543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t>Regime neutral · confidence 0.35 [S3]</a:t>
            </a:r>
          </a:p>
        </p:txBody>
      </p:sp>
      <p:sp>
        <p:nvSpPr>
          <p:cNvPr id="16" name="Rectangle 15"/>
          <p:cNvSpPr/>
          <p:nvPr/>
        </p:nvSpPr>
        <p:spPr>
          <a:xfrm>
            <a:off x="8983980" y="1325880"/>
            <a:ext cx="2564892" cy="291604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983980" y="1325880"/>
            <a:ext cx="2564892" cy="45720"/>
          </a:xfrm>
          <a:prstGeom prst="rect">
            <a:avLst/>
          </a:prstGeom>
          <a:solidFill>
            <a:srgbClr val="FF6B5E"/>
          </a:solidFill>
          <a:ln>
            <a:solidFill>
              <a:srgbClr val="FF6B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3708" y="1453895"/>
            <a:ext cx="234543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t>GRIP INDEX</a:t>
            </a:r>
          </a:p>
        </p:txBody>
      </p:sp>
      <p:sp>
        <p:nvSpPr>
          <p:cNvPr id="19" name="TextBox 18"/>
          <p:cNvSpPr txBox="1"/>
          <p:nvPr/>
        </p:nvSpPr>
        <p:spPr>
          <a:xfrm>
            <a:off x="9093708" y="1709928"/>
            <a:ext cx="234543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t>78</a:t>
            </a:r>
          </a:p>
        </p:txBody>
      </p:sp>
      <p:sp>
        <p:nvSpPr>
          <p:cNvPr id="20" name="TextBox 19"/>
          <p:cNvSpPr txBox="1"/>
          <p:nvPr/>
        </p:nvSpPr>
        <p:spPr>
          <a:xfrm>
            <a:off x="9093708" y="3912739"/>
            <a:ext cx="234543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t>Defensive · above average · coverage 95% [S3]</a:t>
            </a:r>
          </a:p>
        </p:txBody>
      </p:sp>
      <p:sp>
        <p:nvSpPr>
          <p:cNvPr id="21" name="Rectangle 20"/>
          <p:cNvSpPr/>
          <p:nvPr/>
        </p:nvSpPr>
        <p:spPr>
          <a:xfrm>
            <a:off x="6309360" y="4351651"/>
            <a:ext cx="5239512" cy="186626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0" y="4351651"/>
            <a:ext cx="54864" cy="1866268"/>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73952" y="4488811"/>
            <a:ext cx="4946904" cy="163766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GRIP is degraded: one stale input (GEBP, 93 days) was excluded and the GRIP Outlook calibration is missing [S3]. Signals describe modeled context; they are not return forecasts.</a:t>
            </a:r>
          </a:p>
        </p:txBody>
      </p:sp>
      <p:sp>
        <p:nvSpPr>
          <p:cNvPr id="24" name="Rectangle 23"/>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t>Takeaway</a:t>
            </a:r>
          </a:p>
        </p:txBody>
      </p:sp>
      <p:sp>
        <p:nvSpPr>
          <p:cNvPr id="27" name="TextBox 26"/>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Rates are the main source of pressure; credit and inflation drivers are not adding to it.</a:t>
            </a:r>
          </a:p>
        </p:txBody>
      </p:sp>
      <p:sp>
        <p:nvSpPr>
          <p:cNvPr id="28" name="Rectangle 2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S3</a:t>
            </a:r>
          </a:p>
        </p:txBody>
      </p:sp>
      <p:sp>
        <p:nvSpPr>
          <p:cNvPr id="30" name="TextBox 2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31" name="TextBox 3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POSITIONING · CFTC REPORT 2026-09-29 [S6]</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Positioning: crowded short gold dealers, long duration asset managers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04</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t>MOST CROWDED FUTURES POSITIONS (TEST DATA)</a:t>
            </a:r>
          </a:p>
        </p:txBody>
      </p:sp>
      <p:graphicFrame>
        <p:nvGraphicFramePr>
          <p:cNvPr id="9" name="Table 8"/>
          <p:cNvGraphicFramePr>
            <a:graphicFrameLocks noGrp="1"/>
          </p:cNvGraphicFramePr>
          <p:nvPr/>
        </p:nvGraphicFramePr>
        <p:xfrm>
          <a:off x="640080" y="1600200"/>
          <a:ext cx="10908792" cy="3096239"/>
        </p:xfrm>
        <a:graphic>
          <a:graphicData uri="http://schemas.openxmlformats.org/drawingml/2006/table">
            <a:tbl>
              <a:tblPr firstRow="1" bandRow="1">
                <a:tableStyleId>{5C22544A-7EE6-4342-B048-85BDC9FD1C3A}</a:tableStyleId>
              </a:tblPr>
              <a:tblGrid>
                <a:gridCol w="2011680"/>
                <a:gridCol w="2224278"/>
                <a:gridCol w="2224278"/>
                <a:gridCol w="2224278"/>
                <a:gridCol w="2224278"/>
              </a:tblGrid>
              <a:tr h="619247">
                <a:tc>
                  <a:txBody>
                    <a:bodyPr/>
                    <a:lstStyle/>
                    <a:p>
                      <a:pPr>
                        <a:defRPr sz="750" b="1">
                          <a:solidFill>
                            <a:srgbClr val="FFFFFF"/>
                          </a:solidFill>
                          <a:latin typeface="Inter"/>
                        </a:defRPr>
                      </a:pPr>
                      <a:r>
                        <a:t>Market</a:t>
                      </a:r>
                    </a:p>
                  </a:txBody>
                  <a:tcPr marL="54864" marR="54864" marT="27432" marB="27432" anchor="ctr">
                    <a:solidFill>
                      <a:srgbClr val="0D1117"/>
                    </a:solidFill>
                  </a:tcPr>
                </a:tc>
                <a:tc>
                  <a:txBody>
                    <a:bodyPr/>
                    <a:lstStyle/>
                    <a:p>
                      <a:pPr>
                        <a:defRPr sz="750" b="1">
                          <a:solidFill>
                            <a:srgbClr val="FFFFFF"/>
                          </a:solidFill>
                          <a:latin typeface="Inter"/>
                        </a:defRPr>
                      </a:pPr>
                      <a:r>
                        <a:t>Trader category</a:t>
                      </a:r>
                    </a:p>
                  </a:txBody>
                  <a:tcPr marL="54864" marR="54864" marT="27432" marB="27432" anchor="ctr">
                    <a:solidFill>
                      <a:srgbClr val="0D1117"/>
                    </a:solidFill>
                  </a:tcPr>
                </a:tc>
                <a:tc>
                  <a:txBody>
                    <a:bodyPr/>
                    <a:lstStyle/>
                    <a:p>
                      <a:pPr>
                        <a:defRPr sz="750" b="1">
                          <a:solidFill>
                            <a:srgbClr val="FFFFFF"/>
                          </a:solidFill>
                          <a:latin typeface="Inter"/>
                        </a:defRPr>
                      </a:pPr>
                      <a:r>
                        <a:t>Side</a:t>
                      </a:r>
                    </a:p>
                  </a:txBody>
                  <a:tcPr marL="54864" marR="54864" marT="27432" marB="27432" anchor="ctr">
                    <a:solidFill>
                      <a:srgbClr val="0D1117"/>
                    </a:solidFill>
                  </a:tcPr>
                </a:tc>
                <a:tc>
                  <a:txBody>
                    <a:bodyPr/>
                    <a:lstStyle/>
                    <a:p>
                      <a:pPr>
                        <a:defRPr sz="750" b="1">
                          <a:solidFill>
                            <a:srgbClr val="FFFFFF"/>
                          </a:solidFill>
                          <a:latin typeface="Inter"/>
                        </a:defRPr>
                      </a:pPr>
                      <a:r>
                        <a:t>Percentile (156w)</a:t>
                      </a:r>
                    </a:p>
                  </a:txBody>
                  <a:tcPr marL="54864" marR="54864" marT="27432" marB="27432" anchor="ctr">
                    <a:solidFill>
                      <a:srgbClr val="0D1117"/>
                    </a:solidFill>
                  </a:tcPr>
                </a:tc>
                <a:tc>
                  <a:txBody>
                    <a:bodyPr/>
                    <a:lstStyle/>
                    <a:p>
                      <a:pPr>
                        <a:defRPr sz="750" b="1">
                          <a:solidFill>
                            <a:srgbClr val="FFFFFF"/>
                          </a:solidFill>
                          <a:latin typeface="Inter"/>
                        </a:defRPr>
                      </a:pPr>
                      <a:r>
                        <a:t>Direction</a:t>
                      </a:r>
                    </a:p>
                  </a:txBody>
                  <a:tcPr marL="54864" marR="54864" marT="27432" marB="27432" anchor="ctr">
                    <a:solidFill>
                      <a:srgbClr val="0D1117"/>
                    </a:solidFill>
                  </a:tcPr>
                </a:tc>
              </a:tr>
              <a:tr h="619247">
                <a:tc>
                  <a:txBody>
                    <a:bodyPr/>
                    <a:lstStyle/>
                    <a:p>
                      <a:pPr>
                        <a:defRPr sz="720" b="1">
                          <a:solidFill>
                            <a:srgbClr val="0D1117"/>
                          </a:solidFill>
                          <a:latin typeface="Inter"/>
                        </a:defRPr>
                      </a:pPr>
                      <a:r>
                        <a:t>Gold</a:t>
                      </a:r>
                    </a:p>
                  </a:txBody>
                  <a:tcPr marL="54864" marR="54864" marT="27432" marB="27432" anchor="ctr">
                    <a:solidFill>
                      <a:srgbClr val="FFFFFF"/>
                    </a:solidFill>
                  </a:tcPr>
                </a:tc>
                <a:tc>
                  <a:txBody>
                    <a:bodyPr/>
                    <a:lstStyle/>
                    <a:p>
                      <a:pPr>
                        <a:defRPr sz="720" b="0">
                          <a:solidFill>
                            <a:srgbClr val="0D1117"/>
                          </a:solidFill>
                          <a:latin typeface="Inter"/>
                        </a:defRPr>
                      </a:pPr>
                      <a:r>
                        <a:t>Swap dealers</a:t>
                      </a:r>
                    </a:p>
                  </a:txBody>
                  <a:tcPr marL="54864" marR="54864" marT="27432" marB="27432" anchor="ctr">
                    <a:solidFill>
                      <a:srgbClr val="FFFFFF"/>
                    </a:solidFill>
                  </a:tcPr>
                </a:tc>
                <a:tc>
                  <a:txBody>
                    <a:bodyPr/>
                    <a:lstStyle/>
                    <a:p>
                      <a:pPr>
                        <a:defRPr sz="720" b="0">
                          <a:solidFill>
                            <a:srgbClr val="0D1117"/>
                          </a:solidFill>
                          <a:latin typeface="Inter"/>
                        </a:defRPr>
                      </a:pPr>
                      <a:r>
                        <a:t>Short</a:t>
                      </a:r>
                    </a:p>
                  </a:txBody>
                  <a:tcPr marL="54864" marR="54864" marT="27432" marB="27432" anchor="ctr">
                    <a:solidFill>
                      <a:srgbClr val="FFFFFF"/>
                    </a:solidFill>
                  </a:tcPr>
                </a:tc>
                <a:tc>
                  <a:txBody>
                    <a:bodyPr/>
                    <a:lstStyle/>
                    <a:p>
                      <a:pPr>
                        <a:defRPr sz="720" b="0">
                          <a:solidFill>
                            <a:srgbClr val="0D1117"/>
                          </a:solidFill>
                          <a:latin typeface="Inter"/>
                        </a:defRPr>
                      </a:pPr>
                      <a:r>
                        <a:t>4th</a:t>
                      </a:r>
                    </a:p>
                  </a:txBody>
                  <a:tcPr marL="54864" marR="54864" marT="27432" marB="27432" anchor="ctr">
                    <a:solidFill>
                      <a:srgbClr val="FFFFFF"/>
                    </a:solidFill>
                  </a:tcPr>
                </a:tc>
                <a:tc>
                  <a:txBody>
                    <a:bodyPr/>
                    <a:lstStyle/>
                    <a:p>
                      <a:pPr>
                        <a:defRPr sz="720" b="0">
                          <a:solidFill>
                            <a:srgbClr val="0D1117"/>
                          </a:solidFill>
                          <a:latin typeface="Inter"/>
                        </a:defRPr>
                      </a:pPr>
                      <a:r>
                        <a:t>Building</a:t>
                      </a:r>
                    </a:p>
                  </a:txBody>
                  <a:tcPr marL="54864" marR="54864" marT="27432" marB="27432" anchor="ctr">
                    <a:solidFill>
                      <a:srgbClr val="FFFFFF"/>
                    </a:solidFill>
                  </a:tcPr>
                </a:tc>
              </a:tr>
              <a:tr h="619247">
                <a:tc>
                  <a:txBody>
                    <a:bodyPr/>
                    <a:lstStyle/>
                    <a:p>
                      <a:pPr>
                        <a:defRPr sz="720" b="1">
                          <a:solidFill>
                            <a:srgbClr val="0D1117"/>
                          </a:solidFill>
                          <a:latin typeface="Inter"/>
                        </a:defRPr>
                      </a:pPr>
                      <a:r>
                        <a:t>British pound</a:t>
                      </a:r>
                    </a:p>
                  </a:txBody>
                  <a:tcPr marL="54864" marR="54864" marT="27432" marB="27432" anchor="ctr">
                    <a:solidFill>
                      <a:srgbClr val="F5F7F9"/>
                    </a:solidFill>
                  </a:tcPr>
                </a:tc>
                <a:tc>
                  <a:txBody>
                    <a:bodyPr/>
                    <a:lstStyle/>
                    <a:p>
                      <a:pPr>
                        <a:defRPr sz="720" b="0">
                          <a:solidFill>
                            <a:srgbClr val="0D1117"/>
                          </a:solidFill>
                          <a:latin typeface="Inter"/>
                        </a:defRPr>
                      </a:pPr>
                      <a:r>
                        <a:t>Asset managers</a:t>
                      </a:r>
                    </a:p>
                  </a:txBody>
                  <a:tcPr marL="54864" marR="54864" marT="27432" marB="27432" anchor="ctr">
                    <a:solidFill>
                      <a:srgbClr val="F5F7F9"/>
                    </a:solidFill>
                  </a:tcPr>
                </a:tc>
                <a:tc>
                  <a:txBody>
                    <a:bodyPr/>
                    <a:lstStyle/>
                    <a:p>
                      <a:pPr>
                        <a:defRPr sz="720" b="0">
                          <a:solidFill>
                            <a:srgbClr val="0D1117"/>
                          </a:solidFill>
                          <a:latin typeface="Inter"/>
                        </a:defRPr>
                      </a:pPr>
                      <a:r>
                        <a:t>Short</a:t>
                      </a:r>
                    </a:p>
                  </a:txBody>
                  <a:tcPr marL="54864" marR="54864" marT="27432" marB="27432" anchor="ctr">
                    <a:solidFill>
                      <a:srgbClr val="F5F7F9"/>
                    </a:solidFill>
                  </a:tcPr>
                </a:tc>
                <a:tc>
                  <a:txBody>
                    <a:bodyPr/>
                    <a:lstStyle/>
                    <a:p>
                      <a:pPr>
                        <a:defRPr sz="720" b="0">
                          <a:solidFill>
                            <a:srgbClr val="0D1117"/>
                          </a:solidFill>
                          <a:latin typeface="Inter"/>
                        </a:defRPr>
                      </a:pPr>
                      <a:r>
                        <a:t>2nd</a:t>
                      </a:r>
                    </a:p>
                  </a:txBody>
                  <a:tcPr marL="54864" marR="54864" marT="27432" marB="27432" anchor="ctr">
                    <a:solidFill>
                      <a:srgbClr val="F5F7F9"/>
                    </a:solidFill>
                  </a:tcPr>
                </a:tc>
                <a:tc>
                  <a:txBody>
                    <a:bodyPr/>
                    <a:lstStyle/>
                    <a:p>
                      <a:pPr>
                        <a:defRPr sz="720" b="0">
                          <a:solidFill>
                            <a:srgbClr val="0D1117"/>
                          </a:solidFill>
                          <a:latin typeface="Inter"/>
                        </a:defRPr>
                      </a:pPr>
                      <a:r>
                        <a:t>Building</a:t>
                      </a:r>
                    </a:p>
                  </a:txBody>
                  <a:tcPr marL="54864" marR="54864" marT="27432" marB="27432" anchor="ctr">
                    <a:solidFill>
                      <a:srgbClr val="F5F7F9"/>
                    </a:solidFill>
                  </a:tcPr>
                </a:tc>
              </a:tr>
              <a:tr h="619247">
                <a:tc>
                  <a:txBody>
                    <a:bodyPr/>
                    <a:lstStyle/>
                    <a:p>
                      <a:pPr>
                        <a:defRPr sz="720" b="1">
                          <a:solidFill>
                            <a:srgbClr val="0D1117"/>
                          </a:solidFill>
                          <a:latin typeface="Inter"/>
                        </a:defRPr>
                      </a:pPr>
                      <a:r>
                        <a:t>10-Year UST notes</a:t>
                      </a:r>
                    </a:p>
                  </a:txBody>
                  <a:tcPr marL="54864" marR="54864" marT="27432" marB="27432" anchor="ctr">
                    <a:solidFill>
                      <a:srgbClr val="FFFFFF"/>
                    </a:solidFill>
                  </a:tcPr>
                </a:tc>
                <a:tc>
                  <a:txBody>
                    <a:bodyPr/>
                    <a:lstStyle/>
                    <a:p>
                      <a:pPr>
                        <a:defRPr sz="720" b="0">
                          <a:solidFill>
                            <a:srgbClr val="0D1117"/>
                          </a:solidFill>
                          <a:latin typeface="Inter"/>
                        </a:defRPr>
                      </a:pPr>
                      <a:r>
                        <a:t>Asset managers</a:t>
                      </a:r>
                    </a:p>
                  </a:txBody>
                  <a:tcPr marL="54864" marR="54864" marT="27432" marB="27432" anchor="ctr">
                    <a:solidFill>
                      <a:srgbClr val="FFFFFF"/>
                    </a:solidFill>
                  </a:tcPr>
                </a:tc>
                <a:tc>
                  <a:txBody>
                    <a:bodyPr/>
                    <a:lstStyle/>
                    <a:p>
                      <a:pPr>
                        <a:defRPr sz="720" b="0">
                          <a:solidFill>
                            <a:srgbClr val="0D1117"/>
                          </a:solidFill>
                          <a:latin typeface="Inter"/>
                        </a:defRPr>
                      </a:pPr>
                      <a:r>
                        <a:t>Long</a:t>
                      </a:r>
                    </a:p>
                  </a:txBody>
                  <a:tcPr marL="54864" marR="54864" marT="27432" marB="27432" anchor="ctr">
                    <a:solidFill>
                      <a:srgbClr val="FFFFFF"/>
                    </a:solidFill>
                  </a:tcPr>
                </a:tc>
                <a:tc>
                  <a:txBody>
                    <a:bodyPr/>
                    <a:lstStyle/>
                    <a:p>
                      <a:pPr>
                        <a:defRPr sz="720" b="0">
                          <a:solidFill>
                            <a:srgbClr val="0D1117"/>
                          </a:solidFill>
                          <a:latin typeface="Inter"/>
                        </a:defRPr>
                      </a:pPr>
                      <a:r>
                        <a:t>97th</a:t>
                      </a:r>
                    </a:p>
                  </a:txBody>
                  <a:tcPr marL="54864" marR="54864" marT="27432" marB="27432" anchor="ctr">
                    <a:solidFill>
                      <a:srgbClr val="FFFFFF"/>
                    </a:solidFill>
                  </a:tcPr>
                </a:tc>
                <a:tc>
                  <a:txBody>
                    <a:bodyPr/>
                    <a:lstStyle/>
                    <a:p>
                      <a:pPr>
                        <a:defRPr sz="720" b="0">
                          <a:solidFill>
                            <a:srgbClr val="0D1117"/>
                          </a:solidFill>
                          <a:latin typeface="Inter"/>
                        </a:defRPr>
                      </a:pPr>
                      <a:r>
                        <a:t>Unwinding</a:t>
                      </a:r>
                    </a:p>
                  </a:txBody>
                  <a:tcPr marL="54864" marR="54864" marT="27432" marB="27432" anchor="ctr">
                    <a:solidFill>
                      <a:srgbClr val="FFFFFF"/>
                    </a:solidFill>
                  </a:tcPr>
                </a:tc>
              </a:tr>
              <a:tr h="619251">
                <a:tc>
                  <a:txBody>
                    <a:bodyPr/>
                    <a:lstStyle/>
                    <a:p>
                      <a:pPr>
                        <a:defRPr sz="720" b="1">
                          <a:solidFill>
                            <a:srgbClr val="0D1117"/>
                          </a:solidFill>
                          <a:latin typeface="Inter"/>
                        </a:defRPr>
                      </a:pPr>
                      <a:r>
                        <a:t>2-Year UST notes</a:t>
                      </a:r>
                    </a:p>
                  </a:txBody>
                  <a:tcPr marL="54864" marR="54864" marT="27432" marB="27432" anchor="ctr">
                    <a:solidFill>
                      <a:srgbClr val="F5F7F9"/>
                    </a:solidFill>
                  </a:tcPr>
                </a:tc>
                <a:tc>
                  <a:txBody>
                    <a:bodyPr/>
                    <a:lstStyle/>
                    <a:p>
                      <a:pPr>
                        <a:defRPr sz="720" b="0">
                          <a:solidFill>
                            <a:srgbClr val="0D1117"/>
                          </a:solidFill>
                          <a:latin typeface="Inter"/>
                        </a:defRPr>
                      </a:pPr>
                      <a:r>
                        <a:t>Leveraged funds</a:t>
                      </a:r>
                    </a:p>
                  </a:txBody>
                  <a:tcPr marL="54864" marR="54864" marT="27432" marB="27432" anchor="ctr">
                    <a:solidFill>
                      <a:srgbClr val="F5F7F9"/>
                    </a:solidFill>
                  </a:tcPr>
                </a:tc>
                <a:tc>
                  <a:txBody>
                    <a:bodyPr/>
                    <a:lstStyle/>
                    <a:p>
                      <a:pPr>
                        <a:defRPr sz="720" b="0">
                          <a:solidFill>
                            <a:srgbClr val="0D1117"/>
                          </a:solidFill>
                          <a:latin typeface="Inter"/>
                        </a:defRPr>
                      </a:pPr>
                      <a:r>
                        <a:t>Short</a:t>
                      </a:r>
                    </a:p>
                  </a:txBody>
                  <a:tcPr marL="54864" marR="54864" marT="27432" marB="27432" anchor="ctr">
                    <a:solidFill>
                      <a:srgbClr val="F5F7F9"/>
                    </a:solidFill>
                  </a:tcPr>
                </a:tc>
                <a:tc>
                  <a:txBody>
                    <a:bodyPr/>
                    <a:lstStyle/>
                    <a:p>
                      <a:pPr>
                        <a:defRPr sz="720" b="0">
                          <a:solidFill>
                            <a:srgbClr val="0D1117"/>
                          </a:solidFill>
                          <a:latin typeface="Inter"/>
                        </a:defRPr>
                      </a:pPr>
                      <a:r>
                        <a:t>100th</a:t>
                      </a:r>
                    </a:p>
                  </a:txBody>
                  <a:tcPr marL="54864" marR="54864" marT="27432" marB="27432" anchor="ctr">
                    <a:solidFill>
                      <a:srgbClr val="F5F7F9"/>
                    </a:solidFill>
                  </a:tcPr>
                </a:tc>
                <a:tc>
                  <a:txBody>
                    <a:bodyPr/>
                    <a:lstStyle/>
                    <a:p>
                      <a:pPr>
                        <a:defRPr sz="720" b="0">
                          <a:solidFill>
                            <a:srgbClr val="0D1117"/>
                          </a:solidFill>
                          <a:latin typeface="Inter"/>
                        </a:defRPr>
                      </a:pPr>
                      <a:r>
                        <a:t>Unwinding</a:t>
                      </a:r>
                    </a:p>
                  </a:txBody>
                  <a:tcPr marL="54864" marR="54864" marT="27432" marB="27432" anchor="ctr">
                    <a:solidFill>
                      <a:srgbClr val="F5F7F9"/>
                    </a:solidFill>
                  </a:tcPr>
                </a:tc>
              </a:tr>
            </a:tbl>
          </a:graphicData>
        </a:graphic>
      </p:graphicFrame>
      <p:sp>
        <p:nvSpPr>
          <p:cNvPr id="10" name="Rectangle 9"/>
          <p:cNvSpPr/>
          <p:nvPr/>
        </p:nvSpPr>
        <p:spPr>
          <a:xfrm>
            <a:off x="640080" y="4806167"/>
            <a:ext cx="10908792" cy="141175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4806167"/>
            <a:ext cx="54864" cy="141175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4915895"/>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t>How to read this</a:t>
            </a:r>
          </a:p>
        </p:txBody>
      </p:sp>
      <p:sp>
        <p:nvSpPr>
          <p:cNvPr id="13" name="TextBox 12"/>
          <p:cNvSpPr txBox="1"/>
          <p:nvPr/>
        </p:nvSpPr>
        <p:spPr>
          <a:xfrm>
            <a:off x="804671" y="5199359"/>
            <a:ext cx="10616184" cy="92712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Positioning is disclosed exposure, not intent or a forecast. Hedge-fund 13F consensus covers 29 of 30 cohort managers for 2026-06-30 and lags by up to 45 days [S7].</a:t>
            </a:r>
          </a:p>
        </p:txBody>
      </p:sp>
      <p:sp>
        <p:nvSpPr>
          <p:cNvPr id="14" name="Rectangle 13"/>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S6 · S7</a:t>
            </a:r>
          </a:p>
        </p:txBody>
      </p:sp>
      <p:sp>
        <p:nvSpPr>
          <p:cNvPr id="16" name="TextBox 15"/>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17" name="TextBox 16"/>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SIGNAL DETAIL [S3]</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What supports risk and what detracts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05</a:t>
            </a:r>
          </a:p>
        </p:txBody>
      </p:sp>
      <p:sp>
        <p:nvSpPr>
          <p:cNvPr id="8" name="TextBox 7"/>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t>DETRACTING (STRESS)</a:t>
            </a:r>
          </a:p>
        </p:txBody>
      </p:sp>
      <p:graphicFrame>
        <p:nvGraphicFramePr>
          <p:cNvPr id="9" name="Table 8"/>
          <p:cNvGraphicFramePr>
            <a:graphicFrameLocks noGrp="1"/>
          </p:cNvGraphicFramePr>
          <p:nvPr/>
        </p:nvGraphicFramePr>
        <p:xfrm>
          <a:off x="640080" y="1600200"/>
          <a:ext cx="5239512" cy="4617720"/>
        </p:xfrm>
        <a:graphic>
          <a:graphicData uri="http://schemas.openxmlformats.org/drawingml/2006/table">
            <a:tbl>
              <a:tblPr firstRow="1" bandRow="1">
                <a:tableStyleId>{5C22544A-7EE6-4342-B048-85BDC9FD1C3A}</a:tableStyleId>
              </a:tblPr>
              <a:tblGrid>
                <a:gridCol w="1746504"/>
                <a:gridCol w="1746504"/>
                <a:gridCol w="1746504"/>
              </a:tblGrid>
              <a:tr h="769620">
                <a:tc>
                  <a:txBody>
                    <a:bodyPr/>
                    <a:lstStyle/>
                    <a:p>
                      <a:pPr>
                        <a:defRPr sz="750" b="1">
                          <a:solidFill>
                            <a:srgbClr val="FFFFFF"/>
                          </a:solidFill>
                          <a:latin typeface="Inter"/>
                        </a:defRPr>
                      </a:pPr>
                      <a:r>
                        <a:t>Signal</a:t>
                      </a:r>
                    </a:p>
                  </a:txBody>
                  <a:tcPr marL="54864" marR="54864" marT="27432" marB="27432" anchor="ctr">
                    <a:solidFill>
                      <a:srgbClr val="0D1117"/>
                    </a:solidFill>
                  </a:tcPr>
                </a:tc>
                <a:tc>
                  <a:txBody>
                    <a:bodyPr/>
                    <a:lstStyle/>
                    <a:p>
                      <a:pPr>
                        <a:defRPr sz="750" b="1">
                          <a:solidFill>
                            <a:srgbClr val="FFFFFF"/>
                          </a:solidFill>
                          <a:latin typeface="Inter"/>
                        </a:defRPr>
                      </a:pPr>
                      <a:r>
                        <a:t>Driver</a:t>
                      </a:r>
                    </a:p>
                  </a:txBody>
                  <a:tcPr marL="54864" marR="54864" marT="27432" marB="27432" anchor="ctr">
                    <a:solidFill>
                      <a:srgbClr val="0D1117"/>
                    </a:solidFill>
                  </a:tcPr>
                </a:tc>
                <a:tc>
                  <a:txBody>
                    <a:bodyPr/>
                    <a:lstStyle/>
                    <a:p>
                      <a:pPr>
                        <a:defRPr sz="750" b="1">
                          <a:solidFill>
                            <a:srgbClr val="FFFFFF"/>
                          </a:solidFill>
                          <a:latin typeface="Inter"/>
                        </a:defRPr>
                      </a:pPr>
                      <a:r>
                        <a:t>z</a:t>
                      </a:r>
                    </a:p>
                  </a:txBody>
                  <a:tcPr marL="54864" marR="54864" marT="27432" marB="27432" anchor="ctr">
                    <a:solidFill>
                      <a:srgbClr val="0D1117"/>
                    </a:solidFill>
                  </a:tcPr>
                </a:tc>
              </a:tr>
              <a:tr h="769620">
                <a:tc>
                  <a:txBody>
                    <a:bodyPr/>
                    <a:lstStyle/>
                    <a:p>
                      <a:pPr>
                        <a:defRPr sz="800" b="1">
                          <a:solidFill>
                            <a:srgbClr val="0D1117"/>
                          </a:solidFill>
                          <a:latin typeface="Inter"/>
                        </a:defRPr>
                      </a:pPr>
                      <a:r>
                        <a:t>Gradient Term Premium Proxy</a:t>
                      </a:r>
                    </a:p>
                  </a:txBody>
                  <a:tcPr marL="54864" marR="54864" marT="27432" marB="27432" anchor="ctr">
                    <a:solidFill>
                      <a:srgbClr val="FFFFFF"/>
                    </a:solidFill>
                  </a:tcPr>
                </a:tc>
                <a:tc>
                  <a:txBody>
                    <a:bodyPr/>
                    <a:lstStyle/>
                    <a:p>
                      <a:pPr>
                        <a:defRPr sz="800" b="0">
                          <a:solidFill>
                            <a:srgbClr val="0D1117"/>
                          </a:solidFill>
                          <a:latin typeface="Inter"/>
                        </a:defRPr>
                      </a:pPr>
                      <a:r>
                        <a:t>Rates</a:t>
                      </a:r>
                    </a:p>
                  </a:txBody>
                  <a:tcPr marL="54864" marR="54864" marT="27432" marB="27432" anchor="ctr">
                    <a:solidFill>
                      <a:srgbClr val="FFFFFF"/>
                    </a:solidFill>
                  </a:tcPr>
                </a:tc>
                <a:tc>
                  <a:txBody>
                    <a:bodyPr/>
                    <a:lstStyle/>
                    <a:p>
                      <a:pPr>
                        <a:defRPr sz="800" b="0">
                          <a:solidFill>
                            <a:srgbClr val="0D1117"/>
                          </a:solidFill>
                          <a:latin typeface="Inter"/>
                        </a:defRPr>
                      </a:pPr>
                      <a:r>
                        <a:t>+2.48</a:t>
                      </a:r>
                    </a:p>
                  </a:txBody>
                  <a:tcPr marL="54864" marR="54864" marT="27432" marB="27432" anchor="ctr">
                    <a:solidFill>
                      <a:srgbClr val="FFFFFF"/>
                    </a:solidFill>
                  </a:tcPr>
                </a:tc>
              </a:tr>
              <a:tr h="769620">
                <a:tc>
                  <a:txBody>
                    <a:bodyPr/>
                    <a:lstStyle/>
                    <a:p>
                      <a:pPr>
                        <a:defRPr sz="800" b="1">
                          <a:solidFill>
                            <a:srgbClr val="0D1117"/>
                          </a:solidFill>
                          <a:latin typeface="Inter"/>
                        </a:defRPr>
                      </a:pPr>
                      <a:r>
                        <a:t>10-Year TIPS real yield</a:t>
                      </a:r>
                    </a:p>
                  </a:txBody>
                  <a:tcPr marL="54864" marR="54864" marT="27432" marB="27432" anchor="ctr">
                    <a:solidFill>
                      <a:srgbClr val="F5F7F9"/>
                    </a:solidFill>
                  </a:tcPr>
                </a:tc>
                <a:tc>
                  <a:txBody>
                    <a:bodyPr/>
                    <a:lstStyle/>
                    <a:p>
                      <a:pPr>
                        <a:defRPr sz="800" b="0">
                          <a:solidFill>
                            <a:srgbClr val="0D1117"/>
                          </a:solidFill>
                          <a:latin typeface="Inter"/>
                        </a:defRPr>
                      </a:pPr>
                      <a:r>
                        <a:t>Rates</a:t>
                      </a:r>
                    </a:p>
                  </a:txBody>
                  <a:tcPr marL="54864" marR="54864" marT="27432" marB="27432" anchor="ctr">
                    <a:solidFill>
                      <a:srgbClr val="F5F7F9"/>
                    </a:solidFill>
                  </a:tcPr>
                </a:tc>
                <a:tc>
                  <a:txBody>
                    <a:bodyPr/>
                    <a:lstStyle/>
                    <a:p>
                      <a:pPr>
                        <a:defRPr sz="800" b="0">
                          <a:solidFill>
                            <a:srgbClr val="0D1117"/>
                          </a:solidFill>
                          <a:latin typeface="Inter"/>
                        </a:defRPr>
                      </a:pPr>
                      <a:r>
                        <a:t>+2.91</a:t>
                      </a:r>
                    </a:p>
                  </a:txBody>
                  <a:tcPr marL="54864" marR="54864" marT="27432" marB="27432" anchor="ctr">
                    <a:solidFill>
                      <a:srgbClr val="F5F7F9"/>
                    </a:solidFill>
                  </a:tcPr>
                </a:tc>
              </a:tr>
              <a:tr h="769620">
                <a:tc>
                  <a:txBody>
                    <a:bodyPr/>
                    <a:lstStyle/>
                    <a:p>
                      <a:pPr>
                        <a:defRPr sz="800" b="1">
                          <a:solidFill>
                            <a:srgbClr val="0D1117"/>
                          </a:solidFill>
                          <a:latin typeface="Inter"/>
                        </a:defRPr>
                      </a:pPr>
                      <a:r>
                        <a:t>5-Year Treasury yield</a:t>
                      </a:r>
                    </a:p>
                  </a:txBody>
                  <a:tcPr marL="54864" marR="54864" marT="27432" marB="27432" anchor="ctr">
                    <a:solidFill>
                      <a:srgbClr val="FFFFFF"/>
                    </a:solidFill>
                  </a:tcPr>
                </a:tc>
                <a:tc>
                  <a:txBody>
                    <a:bodyPr/>
                    <a:lstStyle/>
                    <a:p>
                      <a:pPr>
                        <a:defRPr sz="800" b="0">
                          <a:solidFill>
                            <a:srgbClr val="0D1117"/>
                          </a:solidFill>
                          <a:latin typeface="Inter"/>
                        </a:defRPr>
                      </a:pPr>
                      <a:r>
                        <a:t>Rates</a:t>
                      </a:r>
                    </a:p>
                  </a:txBody>
                  <a:tcPr marL="54864" marR="54864" marT="27432" marB="27432" anchor="ctr">
                    <a:solidFill>
                      <a:srgbClr val="FFFFFF"/>
                    </a:solidFill>
                  </a:tcPr>
                </a:tc>
                <a:tc>
                  <a:txBody>
                    <a:bodyPr/>
                    <a:lstStyle/>
                    <a:p>
                      <a:pPr>
                        <a:defRPr sz="800" b="0">
                          <a:solidFill>
                            <a:srgbClr val="0D1117"/>
                          </a:solidFill>
                          <a:latin typeface="Inter"/>
                        </a:defRPr>
                      </a:pPr>
                      <a:r>
                        <a:t>+2.76</a:t>
                      </a:r>
                    </a:p>
                  </a:txBody>
                  <a:tcPr marL="54864" marR="54864" marT="27432" marB="27432" anchor="ctr">
                    <a:solidFill>
                      <a:srgbClr val="FFFFFF"/>
                    </a:solidFill>
                  </a:tcPr>
                </a:tc>
              </a:tr>
              <a:tr h="769620">
                <a:tc>
                  <a:txBody>
                    <a:bodyPr/>
                    <a:lstStyle/>
                    <a:p>
                      <a:pPr>
                        <a:defRPr sz="800" b="1">
                          <a:solidFill>
                            <a:srgbClr val="0D1117"/>
                          </a:solidFill>
                          <a:latin typeface="Inter"/>
                        </a:defRPr>
                      </a:pPr>
                      <a:r>
                        <a:t>Private markets carrying-mark pressure</a:t>
                      </a:r>
                    </a:p>
                  </a:txBody>
                  <a:tcPr marL="54864" marR="54864" marT="27432" marB="27432" anchor="ctr">
                    <a:solidFill>
                      <a:srgbClr val="F5F7F9"/>
                    </a:solidFill>
                  </a:tcPr>
                </a:tc>
                <a:tc>
                  <a:txBody>
                    <a:bodyPr/>
                    <a:lstStyle/>
                    <a:p>
                      <a:pPr>
                        <a:defRPr sz="800" b="0">
                          <a:solidFill>
                            <a:srgbClr val="0D1117"/>
                          </a:solidFill>
                          <a:latin typeface="Inter"/>
                        </a:defRPr>
                      </a:pPr>
                      <a:r>
                        <a:t>Growth</a:t>
                      </a:r>
                    </a:p>
                  </a:txBody>
                  <a:tcPr marL="54864" marR="54864" marT="27432" marB="27432" anchor="ctr">
                    <a:solidFill>
                      <a:srgbClr val="F5F7F9"/>
                    </a:solidFill>
                  </a:tcPr>
                </a:tc>
                <a:tc>
                  <a:txBody>
                    <a:bodyPr/>
                    <a:lstStyle/>
                    <a:p>
                      <a:pPr>
                        <a:defRPr sz="800" b="0">
                          <a:solidFill>
                            <a:srgbClr val="0D1117"/>
                          </a:solidFill>
                          <a:latin typeface="Inter"/>
                        </a:defRPr>
                      </a:pPr>
                      <a:r>
                        <a:t>+2.18</a:t>
                      </a:r>
                    </a:p>
                  </a:txBody>
                  <a:tcPr marL="54864" marR="54864" marT="27432" marB="27432" anchor="ctr">
                    <a:solidFill>
                      <a:srgbClr val="F5F7F9"/>
                    </a:solidFill>
                  </a:tcPr>
                </a:tc>
              </a:tr>
              <a:tr h="769620">
                <a:tc>
                  <a:txBody>
                    <a:bodyPr/>
                    <a:lstStyle/>
                    <a:p>
                      <a:pPr>
                        <a:defRPr sz="800" b="1">
                          <a:solidFill>
                            <a:srgbClr val="0D1117"/>
                          </a:solidFill>
                          <a:latin typeface="Inter"/>
                        </a:defRPr>
                      </a:pPr>
                      <a:r>
                        <a:t>Private markets alt-manager pressure</a:t>
                      </a:r>
                    </a:p>
                  </a:txBody>
                  <a:tcPr marL="54864" marR="54864" marT="27432" marB="27432" anchor="ctr">
                    <a:solidFill>
                      <a:srgbClr val="FFFFFF"/>
                    </a:solidFill>
                  </a:tcPr>
                </a:tc>
                <a:tc>
                  <a:txBody>
                    <a:bodyPr/>
                    <a:lstStyle/>
                    <a:p>
                      <a:pPr>
                        <a:defRPr sz="800" b="0">
                          <a:solidFill>
                            <a:srgbClr val="0D1117"/>
                          </a:solidFill>
                          <a:latin typeface="Inter"/>
                        </a:defRPr>
                      </a:pPr>
                      <a:r>
                        <a:t>Risk appetite</a:t>
                      </a:r>
                    </a:p>
                  </a:txBody>
                  <a:tcPr marL="54864" marR="54864" marT="27432" marB="27432" anchor="ctr">
                    <a:solidFill>
                      <a:srgbClr val="FFFFFF"/>
                    </a:solidFill>
                  </a:tcPr>
                </a:tc>
                <a:tc>
                  <a:txBody>
                    <a:bodyPr/>
                    <a:lstStyle/>
                    <a:p>
                      <a:pPr>
                        <a:defRPr sz="800" b="0">
                          <a:solidFill>
                            <a:srgbClr val="0D1117"/>
                          </a:solidFill>
                          <a:latin typeface="Inter"/>
                        </a:defRPr>
                      </a:pPr>
                      <a:r>
                        <a:t>+2.04</a:t>
                      </a:r>
                    </a:p>
                  </a:txBody>
                  <a:tcPr marL="54864" marR="54864" marT="27432" marB="27432" anchor="ctr">
                    <a:solidFill>
                      <a:srgbClr val="FFFFFF"/>
                    </a:solidFill>
                  </a:tcPr>
                </a:tc>
              </a:tr>
            </a:tbl>
          </a:graphicData>
        </a:graphic>
      </p:graphicFrame>
      <p:sp>
        <p:nvSpPr>
          <p:cNvPr id="10" name="Rectangle 9"/>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t>SUPPORTIVE (RISK-ON)</a:t>
            </a:r>
          </a:p>
        </p:txBody>
      </p:sp>
      <p:graphicFrame>
        <p:nvGraphicFramePr>
          <p:cNvPr id="12" name="Table 11"/>
          <p:cNvGraphicFramePr>
            <a:graphicFrameLocks noGrp="1"/>
          </p:cNvGraphicFramePr>
          <p:nvPr/>
        </p:nvGraphicFramePr>
        <p:xfrm>
          <a:off x="6309360" y="1600200"/>
          <a:ext cx="5239512" cy="4416552"/>
        </p:xfrm>
        <a:graphic>
          <a:graphicData uri="http://schemas.openxmlformats.org/drawingml/2006/table">
            <a:tbl>
              <a:tblPr firstRow="1" bandRow="1">
                <a:tableStyleId>{5C22544A-7EE6-4342-B048-85BDC9FD1C3A}</a:tableStyleId>
              </a:tblPr>
              <a:tblGrid>
                <a:gridCol w="1746504"/>
                <a:gridCol w="1746504"/>
                <a:gridCol w="1746504"/>
              </a:tblGrid>
              <a:tr h="883310">
                <a:tc>
                  <a:txBody>
                    <a:bodyPr/>
                    <a:lstStyle/>
                    <a:p>
                      <a:pPr>
                        <a:defRPr sz="750" b="1">
                          <a:solidFill>
                            <a:srgbClr val="FFFFFF"/>
                          </a:solidFill>
                          <a:latin typeface="Inter"/>
                        </a:defRPr>
                      </a:pPr>
                      <a:r>
                        <a:t>Signal</a:t>
                      </a:r>
                    </a:p>
                  </a:txBody>
                  <a:tcPr marL="54864" marR="54864" marT="27432" marB="27432" anchor="ctr">
                    <a:solidFill>
                      <a:srgbClr val="0D1117"/>
                    </a:solidFill>
                  </a:tcPr>
                </a:tc>
                <a:tc>
                  <a:txBody>
                    <a:bodyPr/>
                    <a:lstStyle/>
                    <a:p>
                      <a:pPr>
                        <a:defRPr sz="750" b="1">
                          <a:solidFill>
                            <a:srgbClr val="FFFFFF"/>
                          </a:solidFill>
                          <a:latin typeface="Inter"/>
                        </a:defRPr>
                      </a:pPr>
                      <a:r>
                        <a:t>Driver</a:t>
                      </a:r>
                    </a:p>
                  </a:txBody>
                  <a:tcPr marL="54864" marR="54864" marT="27432" marB="27432" anchor="ctr">
                    <a:solidFill>
                      <a:srgbClr val="0D1117"/>
                    </a:solidFill>
                  </a:tcPr>
                </a:tc>
                <a:tc>
                  <a:txBody>
                    <a:bodyPr/>
                    <a:lstStyle/>
                    <a:p>
                      <a:pPr>
                        <a:defRPr sz="750" b="1">
                          <a:solidFill>
                            <a:srgbClr val="FFFFFF"/>
                          </a:solidFill>
                          <a:latin typeface="Inter"/>
                        </a:defRPr>
                      </a:pPr>
                      <a:r>
                        <a:t>z</a:t>
                      </a:r>
                    </a:p>
                  </a:txBody>
                  <a:tcPr marL="54864" marR="54864" marT="27432" marB="27432" anchor="ctr">
                    <a:solidFill>
                      <a:srgbClr val="0D1117"/>
                    </a:solidFill>
                  </a:tcPr>
                </a:tc>
              </a:tr>
              <a:tr h="883310">
                <a:tc>
                  <a:txBody>
                    <a:bodyPr/>
                    <a:lstStyle/>
                    <a:p>
                      <a:pPr>
                        <a:defRPr sz="800" b="1">
                          <a:solidFill>
                            <a:srgbClr val="0D1117"/>
                          </a:solidFill>
                          <a:latin typeface="Inter"/>
                        </a:defRPr>
                      </a:pPr>
                      <a:r>
                        <a:t>Gradient High Yield Proxy</a:t>
                      </a:r>
                    </a:p>
                  </a:txBody>
                  <a:tcPr marL="54864" marR="54864" marT="27432" marB="27432" anchor="ctr">
                    <a:solidFill>
                      <a:srgbClr val="FFFFFF"/>
                    </a:solidFill>
                  </a:tcPr>
                </a:tc>
                <a:tc>
                  <a:txBody>
                    <a:bodyPr/>
                    <a:lstStyle/>
                    <a:p>
                      <a:pPr>
                        <a:defRPr sz="800" b="0">
                          <a:solidFill>
                            <a:srgbClr val="0D1117"/>
                          </a:solidFill>
                          <a:latin typeface="Inter"/>
                        </a:defRPr>
                      </a:pPr>
                      <a:r>
                        <a:t>Credit</a:t>
                      </a:r>
                    </a:p>
                  </a:txBody>
                  <a:tcPr marL="54864" marR="54864" marT="27432" marB="27432" anchor="ctr">
                    <a:solidFill>
                      <a:srgbClr val="FFFFFF"/>
                    </a:solidFill>
                  </a:tcPr>
                </a:tc>
                <a:tc>
                  <a:txBody>
                    <a:bodyPr/>
                    <a:lstStyle/>
                    <a:p>
                      <a:pPr>
                        <a:defRPr sz="800" b="0">
                          <a:solidFill>
                            <a:srgbClr val="0D1117"/>
                          </a:solidFill>
                          <a:latin typeface="Inter"/>
                        </a:defRPr>
                      </a:pPr>
                      <a:r>
                        <a:t>−1.28</a:t>
                      </a:r>
                    </a:p>
                  </a:txBody>
                  <a:tcPr marL="54864" marR="54864" marT="27432" marB="27432" anchor="ctr">
                    <a:solidFill>
                      <a:srgbClr val="FFFFFF"/>
                    </a:solidFill>
                  </a:tcPr>
                </a:tc>
              </a:tr>
              <a:tr h="883310">
                <a:tc>
                  <a:txBody>
                    <a:bodyPr/>
                    <a:lstStyle/>
                    <a:p>
                      <a:pPr>
                        <a:defRPr sz="800" b="1">
                          <a:solidFill>
                            <a:srgbClr val="0D1117"/>
                          </a:solidFill>
                          <a:latin typeface="Inter"/>
                        </a:defRPr>
                      </a:pPr>
                      <a:r>
                        <a:t>Commodity Cycle Composite</a:t>
                      </a:r>
                    </a:p>
                  </a:txBody>
                  <a:tcPr marL="54864" marR="54864" marT="27432" marB="27432" anchor="ctr">
                    <a:solidFill>
                      <a:srgbClr val="F5F7F9"/>
                    </a:solidFill>
                  </a:tcPr>
                </a:tc>
                <a:tc>
                  <a:txBody>
                    <a:bodyPr/>
                    <a:lstStyle/>
                    <a:p>
                      <a:pPr>
                        <a:defRPr sz="800" b="0">
                          <a:solidFill>
                            <a:srgbClr val="0D1117"/>
                          </a:solidFill>
                          <a:latin typeface="Inter"/>
                        </a:defRPr>
                      </a:pPr>
                      <a:r>
                        <a:t>Inflation</a:t>
                      </a:r>
                    </a:p>
                  </a:txBody>
                  <a:tcPr marL="54864" marR="54864" marT="27432" marB="27432" anchor="ctr">
                    <a:solidFill>
                      <a:srgbClr val="F5F7F9"/>
                    </a:solidFill>
                  </a:tcPr>
                </a:tc>
                <a:tc>
                  <a:txBody>
                    <a:bodyPr/>
                    <a:lstStyle/>
                    <a:p>
                      <a:pPr>
                        <a:defRPr sz="800" b="0">
                          <a:solidFill>
                            <a:srgbClr val="0D1117"/>
                          </a:solidFill>
                          <a:latin typeface="Inter"/>
                        </a:defRPr>
                      </a:pPr>
                      <a:r>
                        <a:t>+1.36</a:t>
                      </a:r>
                    </a:p>
                  </a:txBody>
                  <a:tcPr marL="54864" marR="54864" marT="27432" marB="27432" anchor="ctr">
                    <a:solidFill>
                      <a:srgbClr val="F5F7F9"/>
                    </a:solidFill>
                  </a:tcPr>
                </a:tc>
              </a:tr>
              <a:tr h="883310">
                <a:tc>
                  <a:txBody>
                    <a:bodyPr/>
                    <a:lstStyle/>
                    <a:p>
                      <a:pPr>
                        <a:defRPr sz="800" b="1">
                          <a:solidFill>
                            <a:srgbClr val="0D1117"/>
                          </a:solidFill>
                          <a:latin typeface="Inter"/>
                        </a:defRPr>
                      </a:pPr>
                      <a:r>
                        <a:t>Gold Conditions Proxy</a:t>
                      </a:r>
                    </a:p>
                  </a:txBody>
                  <a:tcPr marL="54864" marR="54864" marT="27432" marB="27432" anchor="ctr">
                    <a:solidFill>
                      <a:srgbClr val="FFFFFF"/>
                    </a:solidFill>
                  </a:tcPr>
                </a:tc>
                <a:tc>
                  <a:txBody>
                    <a:bodyPr/>
                    <a:lstStyle/>
                    <a:p>
                      <a:pPr>
                        <a:defRPr sz="800" b="0">
                          <a:solidFill>
                            <a:srgbClr val="0D1117"/>
                          </a:solidFill>
                          <a:latin typeface="Inter"/>
                        </a:defRPr>
                      </a:pPr>
                      <a:r>
                        <a:t>Inflation</a:t>
                      </a:r>
                    </a:p>
                  </a:txBody>
                  <a:tcPr marL="54864" marR="54864" marT="27432" marB="27432" anchor="ctr">
                    <a:solidFill>
                      <a:srgbClr val="FFFFFF"/>
                    </a:solidFill>
                  </a:tcPr>
                </a:tc>
                <a:tc>
                  <a:txBody>
                    <a:bodyPr/>
                    <a:lstStyle/>
                    <a:p>
                      <a:pPr>
                        <a:defRPr sz="800" b="0">
                          <a:solidFill>
                            <a:srgbClr val="0D1117"/>
                          </a:solidFill>
                          <a:latin typeface="Inter"/>
                        </a:defRPr>
                      </a:pPr>
                      <a:r>
                        <a:t>−3.65</a:t>
                      </a:r>
                    </a:p>
                  </a:txBody>
                  <a:tcPr marL="54864" marR="54864" marT="27432" marB="27432" anchor="ctr">
                    <a:solidFill>
                      <a:srgbClr val="FFFFFF"/>
                    </a:solidFill>
                  </a:tcPr>
                </a:tc>
              </a:tr>
              <a:tr h="883312">
                <a:tc>
                  <a:txBody>
                    <a:bodyPr/>
                    <a:lstStyle/>
                    <a:p>
                      <a:pPr>
                        <a:defRPr sz="800" b="1">
                          <a:solidFill>
                            <a:srgbClr val="0D1117"/>
                          </a:solidFill>
                          <a:latin typeface="Inter"/>
                        </a:defRPr>
                      </a:pPr>
                      <a:r>
                        <a:t>Livestock Proxy</a:t>
                      </a:r>
                    </a:p>
                  </a:txBody>
                  <a:tcPr marL="54864" marR="54864" marT="27432" marB="27432" anchor="ctr">
                    <a:solidFill>
                      <a:srgbClr val="F5F7F9"/>
                    </a:solidFill>
                  </a:tcPr>
                </a:tc>
                <a:tc>
                  <a:txBody>
                    <a:bodyPr/>
                    <a:lstStyle/>
                    <a:p>
                      <a:pPr>
                        <a:defRPr sz="800" b="0">
                          <a:solidFill>
                            <a:srgbClr val="0D1117"/>
                          </a:solidFill>
                          <a:latin typeface="Inter"/>
                        </a:defRPr>
                      </a:pPr>
                      <a:r>
                        <a:t>Inflation</a:t>
                      </a:r>
                    </a:p>
                  </a:txBody>
                  <a:tcPr marL="54864" marR="54864" marT="27432" marB="27432" anchor="ctr">
                    <a:solidFill>
                      <a:srgbClr val="F5F7F9"/>
                    </a:solidFill>
                  </a:tcPr>
                </a:tc>
                <a:tc>
                  <a:txBody>
                    <a:bodyPr/>
                    <a:lstStyle/>
                    <a:p>
                      <a:pPr>
                        <a:defRPr sz="800" b="0">
                          <a:solidFill>
                            <a:srgbClr val="0D1117"/>
                          </a:solidFill>
                          <a:latin typeface="Inter"/>
                        </a:defRPr>
                      </a:pPr>
                      <a:r>
                        <a:t>−3.83</a:t>
                      </a:r>
                    </a:p>
                  </a:txBody>
                  <a:tcPr marL="54864" marR="54864" marT="27432" marB="27432" anchor="ctr">
                    <a:solidFill>
                      <a:srgbClr val="F5F7F9"/>
                    </a:solidFill>
                  </a:tcPr>
                </a:tc>
              </a:tr>
            </a:tbl>
          </a:graphicData>
        </a:graphic>
      </p:graphicFrame>
      <p:sp>
        <p:nvSpPr>
          <p:cNvPr id="13" name="TextBox 12"/>
          <p:cNvSpPr txBox="1"/>
          <p:nvPr/>
        </p:nvSpPr>
        <p:spPr>
          <a:xfrm>
            <a:off x="6309360" y="6035040"/>
            <a:ext cx="523951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t>z-scores as reported for each signal's own basis [S3].</a:t>
            </a:r>
          </a:p>
        </p:txBody>
      </p:sp>
      <p:sp>
        <p:nvSpPr>
          <p:cNvPr id="14" name="Rectangle 13"/>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t>Takeaway</a:t>
            </a:r>
          </a:p>
        </p:txBody>
      </p:sp>
      <p:sp>
        <p:nvSpPr>
          <p:cNvPr id="17" name="TextBox 16"/>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Stress is concentrated in real yields and private-markets marks; credit spreads remain supportive.</a:t>
            </a:r>
          </a:p>
        </p:txBody>
      </p:sp>
      <p:sp>
        <p:nvSpPr>
          <p:cNvPr id="18" name="Rectangle 17"/>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S3</a:t>
            </a:r>
          </a:p>
        </p:txBody>
      </p:sp>
      <p:sp>
        <p:nvSpPr>
          <p:cNvPr id="20" name="TextBox 19"/>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21" name="TextBox 20"/>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THE OTHER SIDE [S1]</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What would confirm or break the thesis by CPI on 2026-10-14</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06</a:t>
            </a:r>
          </a:p>
        </p:txBody>
      </p:sp>
      <p:sp>
        <p:nvSpPr>
          <p:cNvPr id="8" name="Rectangle 7"/>
          <p:cNvSpPr/>
          <p:nvPr/>
        </p:nvSpPr>
        <p:spPr>
          <a:xfrm>
            <a:off x="640080" y="1325880"/>
            <a:ext cx="5239512" cy="2406194"/>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1325880"/>
            <a:ext cx="54864" cy="2406194"/>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1" y="1435607"/>
            <a:ext cx="494690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t>The rival view (The Read)</a:t>
            </a:r>
          </a:p>
        </p:txBody>
      </p:sp>
      <p:sp>
        <p:nvSpPr>
          <p:cNvPr id="11" name="TextBox 10"/>
          <p:cNvSpPr txBox="1"/>
          <p:nvPr/>
        </p:nvSpPr>
        <p:spPr>
          <a:xfrm>
            <a:off x="804671" y="1719072"/>
            <a:ext cx="4946904" cy="1921562"/>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“The Gulf premium already lives in crude and has been fading … A domestic refinery or distillate-inventory squeeze could explain the margin spike just as well.” [S1]</a:t>
            </a:r>
          </a:p>
        </p:txBody>
      </p:sp>
      <p:sp>
        <p:nvSpPr>
          <p:cNvPr id="12" name="TextBox 11"/>
          <p:cNvSpPr txBox="1"/>
          <p:nvPr/>
        </p:nvSpPr>
        <p:spPr>
          <a:xfrm>
            <a:off x="640080" y="3841802"/>
            <a:ext cx="5239512" cy="2376117"/>
          </a:xfrm>
          <a:prstGeom prst="rect">
            <a:avLst/>
          </a:prstGeom>
          <a:noFill/>
        </p:spPr>
        <p:txBody>
          <a:bodyPr wrap="none" lIns="9144" rIns="9144" tIns="9144" bIns="9144" anchor="t">
            <a:spAutoFit/>
          </a:bodyPr>
          <a:lstStyle/>
          <a:p>
            <a:pPr algn="l">
              <a:spcAft>
                <a:spcPts val="0"/>
              </a:spcAft>
              <a:defRPr sz="1050" b="0">
                <a:solidFill>
                  <a:srgbClr val="0D1117"/>
                </a:solidFill>
                <a:latin typeface="Inter"/>
              </a:defRPr>
            </a:pPr>
            <a:r>
              <a:t>•  No post-report reading of tanker transits, war-risk premia or Brent backwardation yet separates the two explanations [S1].</a:t>
            </a:r>
          </a:p>
        </p:txBody>
      </p:sp>
      <p:sp>
        <p:nvSpPr>
          <p:cNvPr id="13" name="Rectangle 12"/>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t>LEVELS THE READ IS WATCHING</a:t>
            </a:r>
          </a:p>
        </p:txBody>
      </p:sp>
      <p:graphicFrame>
        <p:nvGraphicFramePr>
          <p:cNvPr id="15" name="Table 14"/>
          <p:cNvGraphicFramePr>
            <a:graphicFrameLocks noGrp="1"/>
          </p:cNvGraphicFramePr>
          <p:nvPr/>
        </p:nvGraphicFramePr>
        <p:xfrm>
          <a:off x="6309360" y="1600200"/>
          <a:ext cx="5239512" cy="4416552"/>
        </p:xfrm>
        <a:graphic>
          <a:graphicData uri="http://schemas.openxmlformats.org/drawingml/2006/table">
            <a:tbl>
              <a:tblPr firstRow="1" bandRow="1">
                <a:tableStyleId>{5C22544A-7EE6-4342-B048-85BDC9FD1C3A}</a:tableStyleId>
              </a:tblPr>
              <a:tblGrid>
                <a:gridCol w="2619756"/>
                <a:gridCol w="2619756"/>
              </a:tblGrid>
              <a:tr h="1472184">
                <a:tc>
                  <a:txBody>
                    <a:bodyPr/>
                    <a:lstStyle/>
                    <a:p>
                      <a:pPr>
                        <a:defRPr sz="750" b="1">
                          <a:solidFill>
                            <a:srgbClr val="FFFFFF"/>
                          </a:solidFill>
                          <a:latin typeface="Inter"/>
                        </a:defRPr>
                      </a:pPr>
                      <a:r>
                        <a:t>Gulf diesel crack vs Brent</a:t>
                      </a:r>
                    </a:p>
                  </a:txBody>
                  <a:tcPr marL="54864" marR="54864" marT="27432" marB="27432" anchor="ctr">
                    <a:solidFill>
                      <a:srgbClr val="0D1117"/>
                    </a:solidFill>
                  </a:tcPr>
                </a:tc>
                <a:tc>
                  <a:txBody>
                    <a:bodyPr/>
                    <a:lstStyle/>
                    <a:p>
                      <a:pPr>
                        <a:defRPr sz="750" b="1">
                          <a:solidFill>
                            <a:srgbClr val="FFFFFF"/>
                          </a:solidFill>
                          <a:latin typeface="Inter"/>
                        </a:defRPr>
                      </a:pPr>
                      <a:r>
                        <a:t>Reading</a:t>
                      </a:r>
                    </a:p>
                  </a:txBody>
                  <a:tcPr marL="54864" marR="54864" marT="27432" marB="27432" anchor="ctr">
                    <a:solidFill>
                      <a:srgbClr val="0D1117"/>
                    </a:solidFill>
                  </a:tcPr>
                </a:tc>
              </a:tr>
              <a:tr h="1472184">
                <a:tc>
                  <a:txBody>
                    <a:bodyPr/>
                    <a:lstStyle/>
                    <a:p>
                      <a:pPr>
                        <a:defRPr sz="800" b="1">
                          <a:solidFill>
                            <a:srgbClr val="0D1117"/>
                          </a:solidFill>
                          <a:latin typeface="Inter"/>
                        </a:defRPr>
                      </a:pPr>
                      <a:r>
                        <a:t>$102/bbl or higher by 2026-10-14</a:t>
                      </a:r>
                    </a:p>
                  </a:txBody>
                  <a:tcPr marL="54864" marR="54864" marT="27432" marB="27432" anchor="ctr">
                    <a:solidFill>
                      <a:srgbClr val="FFFFFF"/>
                    </a:solidFill>
                  </a:tcPr>
                </a:tc>
                <a:tc>
                  <a:txBody>
                    <a:bodyPr/>
                    <a:lstStyle/>
                    <a:p>
                      <a:pPr>
                        <a:defRPr sz="800" b="0">
                          <a:solidFill>
                            <a:srgbClr val="0D1117"/>
                          </a:solidFill>
                          <a:latin typeface="Inter"/>
                        </a:defRPr>
                      </a:pPr>
                      <a:r>
                        <a:t>Refined products carry the Gulf premium</a:t>
                      </a:r>
                    </a:p>
                  </a:txBody>
                  <a:tcPr marL="54864" marR="54864" marT="27432" marB="27432" anchor="ctr">
                    <a:solidFill>
                      <a:srgbClr val="FFFFFF"/>
                    </a:solidFill>
                  </a:tcPr>
                </a:tc>
              </a:tr>
              <a:tr h="1472184">
                <a:tc>
                  <a:txBody>
                    <a:bodyPr/>
                    <a:lstStyle/>
                    <a:p>
                      <a:pPr>
                        <a:defRPr sz="800" b="1">
                          <a:solidFill>
                            <a:srgbClr val="0D1117"/>
                          </a:solidFill>
                          <a:latin typeface="Inter"/>
                        </a:defRPr>
                      </a:pPr>
                      <a:r>
                        <a:t>$78/bbl or lower by 2026-10-14</a:t>
                      </a:r>
                    </a:p>
                  </a:txBody>
                  <a:tcPr marL="54864" marR="54864" marT="27432" marB="27432" anchor="ctr">
                    <a:solidFill>
                      <a:srgbClr val="F5F7F9"/>
                    </a:solidFill>
                  </a:tcPr>
                </a:tc>
                <a:tc>
                  <a:txBody>
                    <a:bodyPr/>
                    <a:lstStyle/>
                    <a:p>
                      <a:pPr>
                        <a:defRPr sz="800" b="0">
                          <a:solidFill>
                            <a:srgbClr val="0D1117"/>
                          </a:solidFill>
                          <a:latin typeface="Inter"/>
                        </a:defRPr>
                      </a:pPr>
                      <a:r>
                        <a:t>Spike transitory; favours crude-or-fading view</a:t>
                      </a:r>
                    </a:p>
                  </a:txBody>
                  <a:tcPr marL="54864" marR="54864" marT="27432" marB="27432" anchor="ctr">
                    <a:solidFill>
                      <a:srgbClr val="F5F7F9"/>
                    </a:solidFill>
                  </a:tcPr>
                </a:tc>
              </a:tr>
            </a:tbl>
          </a:graphicData>
        </a:graphic>
      </p:graphicFrame>
      <p:sp>
        <p:nvSpPr>
          <p:cNvPr id="16" name="TextBox 15"/>
          <p:cNvSpPr txBox="1"/>
          <p:nvPr/>
        </p:nvSpPr>
        <p:spPr>
          <a:xfrm>
            <a:off x="6309360" y="6035040"/>
            <a:ext cx="523951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t>Levels from The Read's monitoring unit [S1]; current level not restated here because it appears only in prose.</a:t>
            </a:r>
          </a:p>
        </p:txBody>
      </p:sp>
      <p:sp>
        <p:nvSpPr>
          <p:cNvPr id="17" name="Rectangle 16"/>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t>Takeaway</a:t>
            </a:r>
          </a:p>
        </p:txBody>
      </p:sp>
      <p:sp>
        <p:nvSpPr>
          <p:cNvPr id="20" name="TextBox 19"/>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Treat the diesel thesis as a hypothesis with explicit tests, not a call.</a:t>
            </a:r>
          </a:p>
        </p:txBody>
      </p:sp>
      <p:sp>
        <p:nvSpPr>
          <p:cNvPr id="21" name="Rectangle 20"/>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S1</a:t>
            </a:r>
          </a:p>
        </p:txBody>
      </p:sp>
      <p:sp>
        <p:nvSpPr>
          <p:cNvPr id="23" name="TextBox 22"/>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24" name="TextBox 23"/>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CALENDAR · NEXT 30 DAYS [S4]</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A crowded window: CPI, FOMC, ECB and BOJ inside two weeks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07</a:t>
            </a:r>
          </a:p>
        </p:txBody>
      </p:sp>
      <p:graphicFrame>
        <p:nvGraphicFramePr>
          <p:cNvPr id="8" name="Table 7"/>
          <p:cNvGraphicFramePr>
            <a:graphicFrameLocks noGrp="1"/>
          </p:cNvGraphicFramePr>
          <p:nvPr/>
        </p:nvGraphicFramePr>
        <p:xfrm>
          <a:off x="640080" y="1325880"/>
          <a:ext cx="10908792" cy="4690872"/>
        </p:xfrm>
        <a:graphic>
          <a:graphicData uri="http://schemas.openxmlformats.org/drawingml/2006/table">
            <a:tbl>
              <a:tblPr firstRow="1" bandRow="1">
                <a:tableStyleId>{5C22544A-7EE6-4342-B048-85BDC9FD1C3A}</a:tableStyleId>
              </a:tblPr>
              <a:tblGrid>
                <a:gridCol w="2011680"/>
                <a:gridCol w="2965704"/>
                <a:gridCol w="2965704"/>
                <a:gridCol w="2965704"/>
              </a:tblGrid>
              <a:tr h="586359">
                <a:tc>
                  <a:txBody>
                    <a:bodyPr/>
                    <a:lstStyle/>
                    <a:p>
                      <a:pPr>
                        <a:defRPr sz="750" b="1">
                          <a:solidFill>
                            <a:srgbClr val="FFFFFF"/>
                          </a:solidFill>
                          <a:latin typeface="Inter"/>
                        </a:defRPr>
                      </a:pPr>
                      <a:r>
                        <a:t>Date</a:t>
                      </a:r>
                    </a:p>
                  </a:txBody>
                  <a:tcPr marL="54864" marR="54864" marT="27432" marB="27432" anchor="ctr">
                    <a:solidFill>
                      <a:srgbClr val="0D1117"/>
                    </a:solidFill>
                  </a:tcPr>
                </a:tc>
                <a:tc>
                  <a:txBody>
                    <a:bodyPr/>
                    <a:lstStyle/>
                    <a:p>
                      <a:pPr>
                        <a:defRPr sz="750" b="1">
                          <a:solidFill>
                            <a:srgbClr val="FFFFFF"/>
                          </a:solidFill>
                          <a:latin typeface="Inter"/>
                        </a:defRPr>
                      </a:pPr>
                      <a:r>
                        <a:t>Event</a:t>
                      </a:r>
                    </a:p>
                  </a:txBody>
                  <a:tcPr marL="54864" marR="54864" marT="27432" marB="27432" anchor="ctr">
                    <a:solidFill>
                      <a:srgbClr val="0D1117"/>
                    </a:solidFill>
                  </a:tcPr>
                </a:tc>
                <a:tc>
                  <a:txBody>
                    <a:bodyPr/>
                    <a:lstStyle/>
                    <a:p>
                      <a:pPr>
                        <a:defRPr sz="750" b="1">
                          <a:solidFill>
                            <a:srgbClr val="FFFFFF"/>
                          </a:solidFill>
                          <a:latin typeface="Inter"/>
                        </a:defRPr>
                      </a:pPr>
                      <a:r>
                        <a:t>Importance</a:t>
                      </a:r>
                    </a:p>
                  </a:txBody>
                  <a:tcPr marL="54864" marR="54864" marT="27432" marB="27432" anchor="ctr">
                    <a:solidFill>
                      <a:srgbClr val="0D1117"/>
                    </a:solidFill>
                  </a:tcPr>
                </a:tc>
                <a:tc>
                  <a:txBody>
                    <a:bodyPr/>
                    <a:lstStyle/>
                    <a:p>
                      <a:pPr>
                        <a:defRPr sz="750" b="1">
                          <a:solidFill>
                            <a:srgbClr val="FFFFFF"/>
                          </a:solidFill>
                          <a:latin typeface="Inter"/>
                        </a:defRPr>
                      </a:pPr>
                      <a:r>
                        <a:t>What to watch</a:t>
                      </a:r>
                    </a:p>
                  </a:txBody>
                  <a:tcPr marL="54864" marR="54864" marT="27432" marB="27432" anchor="ctr">
                    <a:solidFill>
                      <a:srgbClr val="0D1117"/>
                    </a:solidFill>
                  </a:tcPr>
                </a:tc>
              </a:tr>
              <a:tr h="586359">
                <a:tc>
                  <a:txBody>
                    <a:bodyPr/>
                    <a:lstStyle/>
                    <a:p>
                      <a:pPr>
                        <a:defRPr sz="800" b="1">
                          <a:solidFill>
                            <a:srgbClr val="0D1117"/>
                          </a:solidFill>
                          <a:latin typeface="Inter"/>
                        </a:defRPr>
                      </a:pPr>
                      <a:r>
                        <a:t>2026-10-05</a:t>
                      </a:r>
                    </a:p>
                  </a:txBody>
                  <a:tcPr marL="54864" marR="54864" marT="27432" marB="27432" anchor="ctr">
                    <a:solidFill>
                      <a:srgbClr val="FFFFFF"/>
                    </a:solidFill>
                  </a:tcPr>
                </a:tc>
                <a:tc>
                  <a:txBody>
                    <a:bodyPr/>
                    <a:lstStyle/>
                    <a:p>
                      <a:pPr>
                        <a:defRPr sz="800" b="0">
                          <a:solidFill>
                            <a:srgbClr val="0D1117"/>
                          </a:solidFill>
                          <a:latin typeface="Inter"/>
                        </a:defRPr>
                      </a:pPr>
                      <a:r>
                        <a:t>U.S. ISM Services PMI</a:t>
                      </a:r>
                    </a:p>
                  </a:txBody>
                  <a:tcPr marL="54864" marR="54864" marT="27432" marB="27432" anchor="ctr">
                    <a:solidFill>
                      <a:srgbClr val="FFFFFF"/>
                    </a:solidFill>
                  </a:tcPr>
                </a:tc>
                <a:tc>
                  <a:txBody>
                    <a:bodyPr/>
                    <a:lstStyle/>
                    <a:p>
                      <a:pPr>
                        <a:defRPr sz="800" b="1">
                          <a:solidFill>
                            <a:srgbClr val="F2A93B"/>
                          </a:solidFill>
                          <a:latin typeface="Inter"/>
                        </a:defRPr>
                      </a:pPr>
                      <a:r>
                        <a:t>● High</a:t>
                      </a:r>
                    </a:p>
                  </a:txBody>
                  <a:tcPr marL="54864" marR="54864" marT="27432" marB="27432" anchor="ctr">
                    <a:solidFill>
                      <a:srgbClr val="F5F7F9"/>
                    </a:solidFill>
                  </a:tcPr>
                </a:tc>
                <a:tc>
                  <a:txBody>
                    <a:bodyPr/>
                    <a:lstStyle/>
                    <a:p>
                      <a:pPr>
                        <a:defRPr sz="800" b="0">
                          <a:solidFill>
                            <a:srgbClr val="0D1117"/>
                          </a:solidFill>
                          <a:latin typeface="Inter"/>
                        </a:defRPr>
                      </a:pPr>
                      <a:r>
                        <a:t>Sub-50 activity with rising prices would break the cooling path</a:t>
                      </a:r>
                    </a:p>
                  </a:txBody>
                  <a:tcPr marL="54864" marR="54864" marT="27432" marB="27432" anchor="ctr">
                    <a:solidFill>
                      <a:srgbClr val="FFFFFF"/>
                    </a:solidFill>
                  </a:tcPr>
                </a:tc>
              </a:tr>
              <a:tr h="586359">
                <a:tc>
                  <a:txBody>
                    <a:bodyPr/>
                    <a:lstStyle/>
                    <a:p>
                      <a:pPr>
                        <a:defRPr sz="800" b="1">
                          <a:solidFill>
                            <a:srgbClr val="0D1117"/>
                          </a:solidFill>
                          <a:latin typeface="Inter"/>
                        </a:defRPr>
                      </a:pPr>
                      <a:r>
                        <a:t>2026-10-14</a:t>
                      </a:r>
                    </a:p>
                  </a:txBody>
                  <a:tcPr marL="54864" marR="54864" marT="27432" marB="27432" anchor="ctr">
                    <a:solidFill>
                      <a:srgbClr val="F5F7F9"/>
                    </a:solidFill>
                  </a:tcPr>
                </a:tc>
                <a:tc>
                  <a:txBody>
                    <a:bodyPr/>
                    <a:lstStyle/>
                    <a:p>
                      <a:pPr>
                        <a:defRPr sz="800" b="0">
                          <a:solidFill>
                            <a:srgbClr val="0D1117"/>
                          </a:solidFill>
                          <a:latin typeface="Inter"/>
                        </a:defRPr>
                      </a:pPr>
                      <a:r>
                        <a:t>U.S. CPI</a:t>
                      </a:r>
                    </a:p>
                  </a:txBody>
                  <a:tcPr marL="54864" marR="54864" marT="27432" marB="27432" anchor="ctr">
                    <a:solidFill>
                      <a:srgbClr val="F5F7F9"/>
                    </a:solidFill>
                  </a:tcPr>
                </a:tc>
                <a:tc>
                  <a:txBody>
                    <a:bodyPr/>
                    <a:lstStyle/>
                    <a:p>
                      <a:pPr>
                        <a:defRPr sz="800" b="1">
                          <a:solidFill>
                            <a:srgbClr val="F2A93B"/>
                          </a:solidFill>
                          <a:latin typeface="Inter"/>
                        </a:defRPr>
                      </a:pPr>
                      <a:r>
                        <a:t>● High</a:t>
                      </a:r>
                    </a:p>
                  </a:txBody>
                  <a:tcPr marL="54864" marR="54864" marT="27432" marB="27432" anchor="ctr">
                    <a:solidFill>
                      <a:srgbClr val="F5F7F9"/>
                    </a:solidFill>
                  </a:tcPr>
                </a:tc>
                <a:tc>
                  <a:txBody>
                    <a:bodyPr/>
                    <a:lstStyle/>
                    <a:p>
                      <a:pPr>
                        <a:defRPr sz="800" b="0">
                          <a:solidFill>
                            <a:srgbClr val="0D1117"/>
                          </a:solidFill>
                          <a:latin typeface="Inter"/>
                        </a:defRPr>
                      </a:pPr>
                      <a:r>
                        <a:t>Breadth of core: services re-acceleration lifts front-end yields</a:t>
                      </a:r>
                    </a:p>
                  </a:txBody>
                  <a:tcPr marL="54864" marR="54864" marT="27432" marB="27432" anchor="ctr">
                    <a:solidFill>
                      <a:srgbClr val="F5F7F9"/>
                    </a:solidFill>
                  </a:tcPr>
                </a:tc>
              </a:tr>
              <a:tr h="586359">
                <a:tc>
                  <a:txBody>
                    <a:bodyPr/>
                    <a:lstStyle/>
                    <a:p>
                      <a:pPr>
                        <a:defRPr sz="800" b="1">
                          <a:solidFill>
                            <a:srgbClr val="0D1117"/>
                          </a:solidFill>
                          <a:latin typeface="Inter"/>
                        </a:defRPr>
                      </a:pPr>
                      <a:r>
                        <a:t>2026-10-15</a:t>
                      </a:r>
                    </a:p>
                  </a:txBody>
                  <a:tcPr marL="54864" marR="54864" marT="27432" marB="27432" anchor="ctr">
                    <a:solidFill>
                      <a:srgbClr val="FFFFFF"/>
                    </a:solidFill>
                  </a:tcPr>
                </a:tc>
                <a:tc>
                  <a:txBody>
                    <a:bodyPr/>
                    <a:lstStyle/>
                    <a:p>
                      <a:pPr>
                        <a:defRPr sz="800" b="0">
                          <a:solidFill>
                            <a:srgbClr val="0D1117"/>
                          </a:solidFill>
                          <a:latin typeface="Inter"/>
                        </a:defRPr>
                      </a:pPr>
                      <a:r>
                        <a:t>U.S. retail sales; PPI</a:t>
                      </a:r>
                    </a:p>
                  </a:txBody>
                  <a:tcPr marL="54864" marR="54864" marT="27432" marB="27432" anchor="ctr">
                    <a:solidFill>
                      <a:srgbClr val="FFFFFF"/>
                    </a:solidFill>
                  </a:tcPr>
                </a:tc>
                <a:tc>
                  <a:txBody>
                    <a:bodyPr/>
                    <a:lstStyle/>
                    <a:p>
                      <a:pPr>
                        <a:defRPr sz="800" b="1">
                          <a:solidFill>
                            <a:srgbClr val="F2A93B"/>
                          </a:solidFill>
                          <a:latin typeface="Inter"/>
                        </a:defRPr>
                      </a:pPr>
                      <a:r>
                        <a:t>● High</a:t>
                      </a:r>
                    </a:p>
                  </a:txBody>
                  <a:tcPr marL="54864" marR="54864" marT="27432" marB="27432" anchor="ctr">
                    <a:solidFill>
                      <a:srgbClr val="F5F7F9"/>
                    </a:solidFill>
                  </a:tcPr>
                </a:tc>
                <a:tc>
                  <a:txBody>
                    <a:bodyPr/>
                    <a:lstStyle/>
                    <a:p>
                      <a:pPr>
                        <a:defRPr sz="800" b="0">
                          <a:solidFill>
                            <a:srgbClr val="0D1117"/>
                          </a:solidFill>
                          <a:latin typeface="Inter"/>
                        </a:defRPr>
                      </a:pPr>
                      <a:r>
                        <a:t>Control group = real consumption; PPI margins = pass-through</a:t>
                      </a:r>
                    </a:p>
                  </a:txBody>
                  <a:tcPr marL="54864" marR="54864" marT="27432" marB="27432" anchor="ctr">
                    <a:solidFill>
                      <a:srgbClr val="FFFFFF"/>
                    </a:solidFill>
                  </a:tcPr>
                </a:tc>
              </a:tr>
              <a:tr h="586359">
                <a:tc>
                  <a:txBody>
                    <a:bodyPr/>
                    <a:lstStyle/>
                    <a:p>
                      <a:pPr>
                        <a:defRPr sz="800" b="1">
                          <a:solidFill>
                            <a:srgbClr val="0D1117"/>
                          </a:solidFill>
                          <a:latin typeface="Inter"/>
                        </a:defRPr>
                      </a:pPr>
                      <a:r>
                        <a:t>2026-10-28</a:t>
                      </a:r>
                    </a:p>
                  </a:txBody>
                  <a:tcPr marL="54864" marR="54864" marT="27432" marB="27432" anchor="ctr">
                    <a:solidFill>
                      <a:srgbClr val="F5F7F9"/>
                    </a:solidFill>
                  </a:tcPr>
                </a:tc>
                <a:tc>
                  <a:txBody>
                    <a:bodyPr/>
                    <a:lstStyle/>
                    <a:p>
                      <a:pPr>
                        <a:defRPr sz="800" b="0">
                          <a:solidFill>
                            <a:srgbClr val="0D1117"/>
                          </a:solidFill>
                          <a:latin typeface="Inter"/>
                        </a:defRPr>
                      </a:pPr>
                      <a:r>
                        <a:t>FOMC decision</a:t>
                      </a:r>
                    </a:p>
                  </a:txBody>
                  <a:tcPr marL="54864" marR="54864" marT="27432" marB="27432" anchor="ctr">
                    <a:solidFill>
                      <a:srgbClr val="F5F7F9"/>
                    </a:solidFill>
                  </a:tcPr>
                </a:tc>
                <a:tc>
                  <a:txBody>
                    <a:bodyPr/>
                    <a:lstStyle/>
                    <a:p>
                      <a:pPr>
                        <a:defRPr sz="800" b="1">
                          <a:solidFill>
                            <a:srgbClr val="F2A93B"/>
                          </a:solidFill>
                          <a:latin typeface="Inter"/>
                        </a:defRPr>
                      </a:pPr>
                      <a:r>
                        <a:t>● High</a:t>
                      </a:r>
                    </a:p>
                  </a:txBody>
                  <a:tcPr marL="54864" marR="54864" marT="27432" marB="27432" anchor="ctr">
                    <a:solidFill>
                      <a:srgbClr val="F5F7F9"/>
                    </a:solidFill>
                  </a:tcPr>
                </a:tc>
                <a:tc>
                  <a:txBody>
                    <a:bodyPr/>
                    <a:lstStyle/>
                    <a:p>
                      <a:pPr>
                        <a:defRPr sz="800" b="0">
                          <a:solidFill>
                            <a:srgbClr val="0D1117"/>
                          </a:solidFill>
                          <a:latin typeface="Inter"/>
                        </a:defRPr>
                      </a:pPr>
                      <a:r>
                        <a:t>Projections and press conference set the front-end path</a:t>
                      </a:r>
                    </a:p>
                  </a:txBody>
                  <a:tcPr marL="54864" marR="54864" marT="27432" marB="27432" anchor="ctr">
                    <a:solidFill>
                      <a:srgbClr val="F5F7F9"/>
                    </a:solidFill>
                  </a:tcPr>
                </a:tc>
              </a:tr>
              <a:tr h="586359">
                <a:tc>
                  <a:txBody>
                    <a:bodyPr/>
                    <a:lstStyle/>
                    <a:p>
                      <a:pPr>
                        <a:defRPr sz="800" b="1">
                          <a:solidFill>
                            <a:srgbClr val="0D1117"/>
                          </a:solidFill>
                          <a:latin typeface="Inter"/>
                        </a:defRPr>
                      </a:pPr>
                      <a:r>
                        <a:t>2026-10-29</a:t>
                      </a:r>
                    </a:p>
                  </a:txBody>
                  <a:tcPr marL="54864" marR="54864" marT="27432" marB="27432" anchor="ctr">
                    <a:solidFill>
                      <a:srgbClr val="FFFFFF"/>
                    </a:solidFill>
                  </a:tcPr>
                </a:tc>
                <a:tc>
                  <a:txBody>
                    <a:bodyPr/>
                    <a:lstStyle/>
                    <a:p>
                      <a:pPr>
                        <a:defRPr sz="800" b="0">
                          <a:solidFill>
                            <a:srgbClr val="0D1117"/>
                          </a:solidFill>
                          <a:latin typeface="Inter"/>
                        </a:defRPr>
                      </a:pPr>
                      <a:r>
                        <a:t>U.S. GDP; PCE; ECB decision</a:t>
                      </a:r>
                    </a:p>
                  </a:txBody>
                  <a:tcPr marL="54864" marR="54864" marT="27432" marB="27432" anchor="ctr">
                    <a:solidFill>
                      <a:srgbClr val="FFFFFF"/>
                    </a:solidFill>
                  </a:tcPr>
                </a:tc>
                <a:tc>
                  <a:txBody>
                    <a:bodyPr/>
                    <a:lstStyle/>
                    <a:p>
                      <a:pPr>
                        <a:defRPr sz="800" b="1">
                          <a:solidFill>
                            <a:srgbClr val="F2A93B"/>
                          </a:solidFill>
                          <a:latin typeface="Inter"/>
                        </a:defRPr>
                      </a:pPr>
                      <a:r>
                        <a:t>● High</a:t>
                      </a:r>
                    </a:p>
                  </a:txBody>
                  <a:tcPr marL="54864" marR="54864" marT="27432" marB="27432" anchor="ctr">
                    <a:solidFill>
                      <a:srgbClr val="F5F7F9"/>
                    </a:solidFill>
                  </a:tcPr>
                </a:tc>
                <a:tc>
                  <a:txBody>
                    <a:bodyPr/>
                    <a:lstStyle/>
                    <a:p>
                      <a:pPr>
                        <a:defRPr sz="800" b="0">
                          <a:solidFill>
                            <a:srgbClr val="0D1117"/>
                          </a:solidFill>
                          <a:latin typeface="Inter"/>
                        </a:defRPr>
                      </a:pPr>
                      <a:r>
                        <a:t>Core PCE vs spending; ECB persistence vs growth</a:t>
                      </a:r>
                    </a:p>
                  </a:txBody>
                  <a:tcPr marL="54864" marR="54864" marT="27432" marB="27432" anchor="ctr">
                    <a:solidFill>
                      <a:srgbClr val="FFFFFF"/>
                    </a:solidFill>
                  </a:tcPr>
                </a:tc>
              </a:tr>
              <a:tr h="586359">
                <a:tc>
                  <a:txBody>
                    <a:bodyPr/>
                    <a:lstStyle/>
                    <a:p>
                      <a:pPr>
                        <a:defRPr sz="800" b="1">
                          <a:solidFill>
                            <a:srgbClr val="0D1117"/>
                          </a:solidFill>
                          <a:latin typeface="Inter"/>
                        </a:defRPr>
                      </a:pPr>
                      <a:r>
                        <a:t>2026-10-30</a:t>
                      </a:r>
                    </a:p>
                  </a:txBody>
                  <a:tcPr marL="54864" marR="54864" marT="27432" marB="27432" anchor="ctr">
                    <a:solidFill>
                      <a:srgbClr val="F5F7F9"/>
                    </a:solidFill>
                  </a:tcPr>
                </a:tc>
                <a:tc>
                  <a:txBody>
                    <a:bodyPr/>
                    <a:lstStyle/>
                    <a:p>
                      <a:pPr>
                        <a:defRPr sz="800" b="0">
                          <a:solidFill>
                            <a:srgbClr val="0D1117"/>
                          </a:solidFill>
                          <a:latin typeface="Inter"/>
                        </a:defRPr>
                      </a:pPr>
                      <a:r>
                        <a:t>BOJ decision</a:t>
                      </a:r>
                    </a:p>
                  </a:txBody>
                  <a:tcPr marL="54864" marR="54864" marT="27432" marB="27432" anchor="ctr">
                    <a:solidFill>
                      <a:srgbClr val="F5F7F9"/>
                    </a:solidFill>
                  </a:tcPr>
                </a:tc>
                <a:tc>
                  <a:txBody>
                    <a:bodyPr/>
                    <a:lstStyle/>
                    <a:p>
                      <a:pPr>
                        <a:defRPr sz="800" b="1">
                          <a:solidFill>
                            <a:srgbClr val="F2A93B"/>
                          </a:solidFill>
                          <a:latin typeface="Inter"/>
                        </a:defRPr>
                      </a:pPr>
                      <a:r>
                        <a:t>● High</a:t>
                      </a:r>
                    </a:p>
                  </a:txBody>
                  <a:tcPr marL="54864" marR="54864" marT="27432" marB="27432" anchor="ctr">
                    <a:solidFill>
                      <a:srgbClr val="F5F7F9"/>
                    </a:solidFill>
                  </a:tcPr>
                </a:tc>
                <a:tc>
                  <a:txBody>
                    <a:bodyPr/>
                    <a:lstStyle/>
                    <a:p>
                      <a:pPr>
                        <a:defRPr sz="800" b="0">
                          <a:solidFill>
                            <a:srgbClr val="0D1117"/>
                          </a:solidFill>
                          <a:latin typeface="Inter"/>
                        </a:defRPr>
                      </a:pPr>
                      <a:r>
                        <a:t>Earlier hike signal lifts JGB yields and the yen</a:t>
                      </a:r>
                    </a:p>
                  </a:txBody>
                  <a:tcPr marL="54864" marR="54864" marT="27432" marB="27432" anchor="ctr">
                    <a:solidFill>
                      <a:srgbClr val="F5F7F9"/>
                    </a:solidFill>
                  </a:tcPr>
                </a:tc>
              </a:tr>
              <a:tr h="586359">
                <a:tc>
                  <a:txBody>
                    <a:bodyPr/>
                    <a:lstStyle/>
                    <a:p>
                      <a:pPr>
                        <a:defRPr sz="800" b="1">
                          <a:solidFill>
                            <a:srgbClr val="0D1117"/>
                          </a:solidFill>
                          <a:latin typeface="Inter"/>
                        </a:defRPr>
                      </a:pPr>
                      <a:r>
                        <a:t>2026-10-31</a:t>
                      </a:r>
                    </a:p>
                  </a:txBody>
                  <a:tcPr marL="54864" marR="54864" marT="27432" marB="27432" anchor="ctr">
                    <a:solidFill>
                      <a:srgbClr val="FFFFFF"/>
                    </a:solidFill>
                  </a:tcPr>
                </a:tc>
                <a:tc>
                  <a:txBody>
                    <a:bodyPr/>
                    <a:lstStyle/>
                    <a:p>
                      <a:pPr>
                        <a:defRPr sz="800" b="0">
                          <a:solidFill>
                            <a:srgbClr val="0D1117"/>
                          </a:solidFill>
                          <a:latin typeface="Inter"/>
                        </a:defRPr>
                      </a:pPr>
                      <a:r>
                        <a:t>China NBS PMIs</a:t>
                      </a:r>
                    </a:p>
                  </a:txBody>
                  <a:tcPr marL="54864" marR="54864" marT="27432" marB="27432" anchor="ctr">
                    <a:solidFill>
                      <a:srgbClr val="FFFFFF"/>
                    </a:solidFill>
                  </a:tcPr>
                </a:tc>
                <a:tc>
                  <a:txBody>
                    <a:bodyPr/>
                    <a:lstStyle/>
                    <a:p>
                      <a:pPr>
                        <a:defRPr sz="800" b="1">
                          <a:solidFill>
                            <a:srgbClr val="F2A93B"/>
                          </a:solidFill>
                          <a:latin typeface="Inter"/>
                        </a:defRPr>
                      </a:pPr>
                      <a:r>
                        <a:t>● Medium</a:t>
                      </a:r>
                    </a:p>
                  </a:txBody>
                  <a:tcPr marL="54864" marR="54864" marT="27432" marB="27432" anchor="ctr">
                    <a:solidFill>
                      <a:srgbClr val="F5F7F9"/>
                    </a:solidFill>
                  </a:tcPr>
                </a:tc>
                <a:tc>
                  <a:txBody>
                    <a:bodyPr/>
                    <a:lstStyle/>
                    <a:p>
                      <a:pPr>
                        <a:defRPr sz="800" b="0">
                          <a:solidFill>
                            <a:srgbClr val="0D1117"/>
                          </a:solidFill>
                          <a:latin typeface="Inter"/>
                        </a:defRPr>
                      </a:pPr>
                      <a:r>
                        <a:t>New orders below 50 would pressure commodities</a:t>
                      </a:r>
                    </a:p>
                  </a:txBody>
                  <a:tcPr marL="54864" marR="54864" marT="27432" marB="27432" anchor="ctr">
                    <a:solidFill>
                      <a:srgbClr val="FFFFFF"/>
                    </a:solidFill>
                  </a:tcPr>
                </a:tc>
              </a:tr>
            </a:tbl>
          </a:graphicData>
        </a:graphic>
      </p:graphicFrame>
      <p:sp>
        <p:nvSpPr>
          <p:cNvPr id="9" name="TextBox 8"/>
          <p:cNvSpPr txBox="1"/>
          <p:nvPr/>
        </p:nvSpPr>
        <p:spPr>
          <a:xfrm>
            <a:off x="640080" y="6035040"/>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t>Scheduled dates are known calendar events, not forecasts; 14 events in the window, 12 retrieved [S4].</a:t>
            </a:r>
          </a:p>
        </p:txBody>
      </p:sp>
      <p:sp>
        <p:nvSpPr>
          <p:cNvPr id="10" name="Rectangle 9"/>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t>Takeaway</a:t>
            </a:r>
          </a:p>
        </p:txBody>
      </p:sp>
      <p:sp>
        <p:nvSpPr>
          <p:cNvPr id="13" name="TextBox 12"/>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The thesis test (CPI, 2026-10-14) lands two weeks before the FOMC.</a:t>
            </a:r>
          </a:p>
        </p:txBody>
      </p:sp>
      <p:sp>
        <p:nvSpPr>
          <p:cNvPr id="14" name="Rectangle 13"/>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S4</a:t>
            </a:r>
          </a:p>
        </p:txBody>
      </p:sp>
      <p:sp>
        <p:nvSpPr>
          <p:cNvPr id="16" name="TextBox 15"/>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17" name="TextBox 16"/>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LONG-RUN ASSUMPTIONS · Q3-2026 POLICY V2.1 [S5]</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10-year assumptions: equities ~4–6% over cash, bonds ≈ cash</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08</a:t>
            </a:r>
          </a:p>
        </p:txBody>
      </p:sp>
      <p:sp>
        <p:nvSpPr>
          <p:cNvPr id="8" name="TextBox 7"/>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t>EXPECTED EXCESS RETURN OVER USD CASH, 10 YEARS, ARITHMETIC</a:t>
            </a:r>
          </a:p>
        </p:txBody>
      </p:sp>
      <p:graphicFrame>
        <p:nvGraphicFramePr>
          <p:cNvPr id="9" name="Chart 8"/>
          <p:cNvGraphicFramePr>
            <a:graphicFrameLocks noGrp="1"/>
          </p:cNvGraphicFramePr>
          <p:nvPr/>
        </p:nvGraphicFramePr>
        <p:xfrm>
          <a:off x="640080" y="1600200"/>
          <a:ext cx="5239512" cy="4617720"/>
        </p:xfrm>
        <a:graphic>
          <a:graphicData uri="http://schemas.openxmlformats.org/drawingml/2006/chart">
            <c:chart xmlns:c="http://schemas.openxmlformats.org/drawingml/2006/chart" r:id="rId2"/>
          </a:graphicData>
        </a:graphic>
      </p:graphicFrame>
      <p:sp>
        <p:nvSpPr>
          <p:cNvPr id="10" name="Rectangle 9"/>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Table 10"/>
          <p:cNvGraphicFramePr>
            <a:graphicFrameLocks noGrp="1"/>
          </p:cNvGraphicFramePr>
          <p:nvPr/>
        </p:nvGraphicFramePr>
        <p:xfrm>
          <a:off x="6309360" y="1325880"/>
          <a:ext cx="5239512" cy="3370559"/>
        </p:xfrm>
        <a:graphic>
          <a:graphicData uri="http://schemas.openxmlformats.org/drawingml/2006/table">
            <a:tbl>
              <a:tblPr firstRow="1" bandRow="1">
                <a:tableStyleId>{5C22544A-7EE6-4342-B048-85BDC9FD1C3A}</a:tableStyleId>
              </a:tblPr>
              <a:tblGrid>
                <a:gridCol w="2619756"/>
                <a:gridCol w="2619756"/>
              </a:tblGrid>
              <a:tr h="842639">
                <a:tc>
                  <a:txBody>
                    <a:bodyPr/>
                    <a:lstStyle/>
                    <a:p>
                      <a:pPr>
                        <a:defRPr sz="800" b="1">
                          <a:solidFill>
                            <a:srgbClr val="0D1117"/>
                          </a:solidFill>
                          <a:latin typeface="Inter"/>
                        </a:defRPr>
                      </a:pPr>
                      <a:r>
                        <a:t>Risk-free rate</a:t>
                      </a:r>
                    </a:p>
                  </a:txBody>
                  <a:tcPr marL="54864" marR="54864" marT="27432" marB="27432" anchor="ctr">
                    <a:solidFill>
                      <a:srgbClr val="FFFFFF"/>
                    </a:solidFill>
                  </a:tcPr>
                </a:tc>
                <a:tc>
                  <a:txBody>
                    <a:bodyPr/>
                    <a:lstStyle/>
                    <a:p>
                      <a:pPr>
                        <a:defRPr sz="800" b="0">
                          <a:solidFill>
                            <a:srgbClr val="0D1117"/>
                          </a:solidFill>
                          <a:latin typeface="Inter"/>
                        </a:defRPr>
                      </a:pPr>
                      <a:r>
                        <a:t>3.81% (3-month T-bill, 2026-10-01; fresh) [S5]</a:t>
                      </a:r>
                    </a:p>
                  </a:txBody>
                  <a:tcPr marL="54864" marR="54864" marT="27432" marB="27432" anchor="ctr">
                    <a:solidFill>
                      <a:srgbClr val="FFFFFF"/>
                    </a:solidFill>
                  </a:tcPr>
                </a:tc>
              </a:tr>
              <a:tr h="842639">
                <a:tc>
                  <a:txBody>
                    <a:bodyPr/>
                    <a:lstStyle/>
                    <a:p>
                      <a:pPr>
                        <a:defRPr sz="800" b="1">
                          <a:solidFill>
                            <a:srgbClr val="0D1117"/>
                          </a:solidFill>
                          <a:latin typeface="Inter"/>
                        </a:defRPr>
                      </a:pPr>
                      <a:r>
                        <a:t>Base currency</a:t>
                      </a:r>
                    </a:p>
                  </a:txBody>
                  <a:tcPr marL="54864" marR="54864" marT="27432" marB="27432" anchor="ctr">
                    <a:solidFill>
                      <a:srgbClr val="F5F7F9"/>
                    </a:solidFill>
                  </a:tcPr>
                </a:tc>
                <a:tc>
                  <a:txBody>
                    <a:bodyPr/>
                    <a:lstStyle/>
                    <a:p>
                      <a:pPr>
                        <a:defRPr sz="800" b="0">
                          <a:solidFill>
                            <a:srgbClr val="0D1117"/>
                          </a:solidFill>
                          <a:latin typeface="Inter"/>
                        </a:defRPr>
                      </a:pPr>
                      <a:r>
                        <a:t>USD, unhedged [S5]</a:t>
                      </a:r>
                    </a:p>
                  </a:txBody>
                  <a:tcPr marL="54864" marR="54864" marT="27432" marB="27432" anchor="ctr">
                    <a:solidFill>
                      <a:srgbClr val="F5F7F9"/>
                    </a:solidFill>
                  </a:tcPr>
                </a:tc>
              </a:tr>
              <a:tr h="842639">
                <a:tc>
                  <a:txBody>
                    <a:bodyPr/>
                    <a:lstStyle/>
                    <a:p>
                      <a:pPr>
                        <a:defRPr sz="800" b="1">
                          <a:solidFill>
                            <a:srgbClr val="0D1117"/>
                          </a:solidFill>
                          <a:latin typeface="Inter"/>
                        </a:defRPr>
                      </a:pPr>
                      <a:r>
                        <a:t>Horizon / basis</a:t>
                      </a:r>
                    </a:p>
                  </a:txBody>
                  <a:tcPr marL="54864" marR="54864" marT="27432" marB="27432" anchor="ctr">
                    <a:solidFill>
                      <a:srgbClr val="FFFFFF"/>
                    </a:solidFill>
                  </a:tcPr>
                </a:tc>
                <a:tc>
                  <a:txBody>
                    <a:bodyPr/>
                    <a:lstStyle/>
                    <a:p>
                      <a:pPr>
                        <a:defRPr sz="800" b="0">
                          <a:solidFill>
                            <a:srgbClr val="0D1117"/>
                          </a:solidFill>
                          <a:latin typeface="Inter"/>
                        </a:defRPr>
                      </a:pPr>
                      <a:r>
                        <a:t>10 years · excess over local cash · arithmetic [S5]</a:t>
                      </a:r>
                    </a:p>
                  </a:txBody>
                  <a:tcPr marL="54864" marR="54864" marT="27432" marB="27432" anchor="ctr">
                    <a:solidFill>
                      <a:srgbClr val="FFFFFF"/>
                    </a:solidFill>
                  </a:tcPr>
                </a:tc>
              </a:tr>
              <a:tr h="842642">
                <a:tc>
                  <a:txBody>
                    <a:bodyPr/>
                    <a:lstStyle/>
                    <a:p>
                      <a:pPr>
                        <a:defRPr sz="800" b="1">
                          <a:solidFill>
                            <a:srgbClr val="0D1117"/>
                          </a:solidFill>
                          <a:latin typeface="Inter"/>
                        </a:defRPr>
                      </a:pPr>
                      <a:r>
                        <a:t>Quality receipt</a:t>
                      </a:r>
                    </a:p>
                  </a:txBody>
                  <a:tcPr marL="54864" marR="54864" marT="27432" marB="27432" anchor="ctr">
                    <a:solidFill>
                      <a:srgbClr val="F5F7F9"/>
                    </a:solidFill>
                  </a:tcPr>
                </a:tc>
                <a:tc>
                  <a:txBody>
                    <a:bodyPr/>
                    <a:lstStyle/>
                    <a:p>
                      <a:pPr>
                        <a:defRPr sz="800" b="0">
                          <a:solidFill>
                            <a:srgbClr val="0D1117"/>
                          </a:solidFill>
                          <a:latin typeface="Inter"/>
                        </a:defRPr>
                      </a:pPr>
                      <a:r>
                        <a:t>Unvalidated [S5]</a:t>
                      </a:r>
                    </a:p>
                  </a:txBody>
                  <a:tcPr marL="54864" marR="54864" marT="27432" marB="27432" anchor="ctr">
                    <a:solidFill>
                      <a:srgbClr val="F5F7F9"/>
                    </a:solidFill>
                  </a:tcPr>
                </a:tc>
              </a:tr>
            </a:tbl>
          </a:graphicData>
        </a:graphic>
      </p:graphicFrame>
      <p:sp>
        <p:nvSpPr>
          <p:cNvPr id="12" name="Rectangle 11"/>
          <p:cNvSpPr/>
          <p:nvPr/>
        </p:nvSpPr>
        <p:spPr>
          <a:xfrm>
            <a:off x="6309360" y="4806167"/>
            <a:ext cx="5239512" cy="141175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4806167"/>
            <a:ext cx="54864" cy="1411752"/>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4943327"/>
            <a:ext cx="4946904" cy="1183152"/>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Bond excess returns near zero rest on a policy value shared by both bond factors; Gradient flags these rows and raw kurtosis below 3 for review [S5]. Use for context, not comparison.</a:t>
            </a:r>
          </a:p>
        </p:txBody>
      </p:sp>
      <p:sp>
        <p:nvSpPr>
          <p:cNvPr id="15" name="Rectangle 14"/>
          <p:cNvSpPr/>
          <p:nvPr/>
        </p:nvSpPr>
        <p:spPr>
          <a:xfrm>
            <a:off x="640080" y="5806440"/>
            <a:ext cx="10908792" cy="50292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806440"/>
            <a:ext cx="54864" cy="50292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1" y="591616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t>Takeaway</a:t>
            </a:r>
          </a:p>
        </p:txBody>
      </p:sp>
      <p:sp>
        <p:nvSpPr>
          <p:cNvPr id="18" name="TextBox 17"/>
          <p:cNvSpPr txBox="1"/>
          <p:nvPr/>
        </p:nvSpPr>
        <p:spPr>
          <a:xfrm>
            <a:off x="804671" y="6199631"/>
            <a:ext cx="10616184" cy="22860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t>House assumptions favour equity risk premia; the fixed-income rows need methodology review before use in sizing.</a:t>
            </a:r>
          </a:p>
        </p:txBody>
      </p:sp>
      <p:sp>
        <p:nvSpPr>
          <p:cNvPr id="19" name="Rectangle 1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S5</a:t>
            </a:r>
          </a:p>
        </p:txBody>
      </p:sp>
      <p:sp>
        <p:nvSpPr>
          <p:cNvPr id="21" name="TextBox 2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22" name="TextBox 2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FOR DISCUSSION [S1]</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Questions for the committee</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09</a:t>
            </a:r>
          </a:p>
        </p:txBody>
      </p:sp>
      <p:sp>
        <p:nvSpPr>
          <p:cNvPr id="8" name="TextBox 7"/>
          <p:cNvSpPr txBox="1"/>
          <p:nvPr/>
        </p:nvSpPr>
        <p:spPr>
          <a:xfrm>
            <a:off x="640080" y="1325880"/>
            <a:ext cx="10908792" cy="4892040"/>
          </a:xfrm>
          <a:prstGeom prst="rect">
            <a:avLst/>
          </a:prstGeom>
          <a:noFill/>
        </p:spPr>
        <p:txBody>
          <a:bodyPr wrap="none" lIns="9144" rIns="9144" tIns="9144" bIns="9144" anchor="t">
            <a:spAutoFit/>
          </a:bodyPr>
          <a:lstStyle/>
          <a:p>
            <a:pPr algn="l">
              <a:spcAft>
                <a:spcPts val="500"/>
              </a:spcAft>
              <a:defRPr sz="1000" b="0">
                <a:solidFill>
                  <a:srgbClr val="0D1117"/>
                </a:solidFill>
                <a:latin typeface="Inter"/>
              </a:defRPr>
            </a:pPr>
            <a:r>
              <a:t>01  How did real yields and credit spreads reprice around jumbo issuance and the FOMC run-up — and what does that imply for risk appetite?</a:t>
            </a:r>
            <a:br/>
            <a:r>
              <a:t>      Rates are the dominant pressure in the Gradient signal; credit has not confirmed it.</a:t>
            </a:r>
          </a:p>
          <a:p>
            <a:pPr algn="l">
              <a:spcAft>
                <a:spcPts val="500"/>
              </a:spcAft>
              <a:defRPr sz="1000" b="0">
                <a:solidFill>
                  <a:srgbClr val="0D1117"/>
                </a:solidFill>
                <a:latin typeface="Inter"/>
              </a:defRPr>
            </a:pPr>
            <a:r>
              <a:t>02  How likely is escalation to disrupt Gulf crude flows, and where are we exposed if it does?</a:t>
            </a:r>
            <a:br/>
            <a:r>
              <a:t>      The Read's thesis depends on whether the premium moves from diesel into crude.</a:t>
            </a:r>
          </a:p>
          <a:p>
            <a:pPr algn="l">
              <a:spcAft>
                <a:spcPts val="500"/>
              </a:spcAft>
              <a:defRPr sz="1000" b="0">
                <a:solidFill>
                  <a:srgbClr val="0D1117"/>
                </a:solidFill>
                <a:latin typeface="Inter"/>
              </a:defRPr>
            </a:pPr>
            <a:r>
              <a:t>03  What must the 2026-10-28 FOMC resolve about long-end real yields for the risk-off lean to hold?</a:t>
            </a:r>
            <a:br/>
            <a:r>
              <a:t>      10-year TIPS real yield is a +2.9 z-score detractor.</a:t>
            </a:r>
          </a:p>
          <a:p>
            <a:pPr algn="l">
              <a:spcAft>
                <a:spcPts val="500"/>
              </a:spcAft>
              <a:defRPr sz="1000" b="0">
                <a:solidFill>
                  <a:srgbClr val="0D1117"/>
                </a:solidFill>
                <a:latin typeface="Inter"/>
              </a:defRPr>
            </a:pPr>
            <a:r>
              <a:t>04  How would the Fed weigh a diesel squeeze against rising real yields?</a:t>
            </a:r>
            <a:br/>
            <a:r>
              <a:t>      Determines whether energy is an inflation or a growth risk for the portfolio.</a:t>
            </a:r>
          </a:p>
        </p:txBody>
      </p:sp>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S1</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t>SOURCES AND METHOD</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t>Sources, data quality and limits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t>10</a:t>
            </a:r>
          </a:p>
        </p:txBody>
      </p:sp>
      <p:graphicFrame>
        <p:nvGraphicFramePr>
          <p:cNvPr id="8" name="Table 7"/>
          <p:cNvGraphicFramePr>
            <a:graphicFrameLocks noGrp="1"/>
          </p:cNvGraphicFramePr>
          <p:nvPr/>
        </p:nvGraphicFramePr>
        <p:xfrm>
          <a:off x="640080" y="1325880"/>
          <a:ext cx="10908792" cy="3610133"/>
        </p:xfrm>
        <a:graphic>
          <a:graphicData uri="http://schemas.openxmlformats.org/drawingml/2006/table">
            <a:tbl>
              <a:tblPr firstRow="1" bandRow="1">
                <a:tableStyleId>{5C22544A-7EE6-4342-B048-85BDC9FD1C3A}</a:tableStyleId>
              </a:tblPr>
              <a:tblGrid>
                <a:gridCol w="2011680"/>
                <a:gridCol w="2224278"/>
                <a:gridCol w="2224278"/>
                <a:gridCol w="2224278"/>
                <a:gridCol w="2224278"/>
              </a:tblGrid>
              <a:tr h="601688">
                <a:tc>
                  <a:txBody>
                    <a:bodyPr/>
                    <a:lstStyle/>
                    <a:p>
                      <a:pPr>
                        <a:defRPr sz="750" b="1">
                          <a:solidFill>
                            <a:srgbClr val="FFFFFF"/>
                          </a:solidFill>
                          <a:latin typeface="Inter"/>
                        </a:defRPr>
                      </a:pPr>
                      <a:r>
                        <a:t>Tag</a:t>
                      </a:r>
                    </a:p>
                  </a:txBody>
                  <a:tcPr marL="54864" marR="54864" marT="27432" marB="27432" anchor="ctr">
                    <a:solidFill>
                      <a:srgbClr val="0D1117"/>
                    </a:solidFill>
                  </a:tcPr>
                </a:tc>
                <a:tc>
                  <a:txBody>
                    <a:bodyPr/>
                    <a:lstStyle/>
                    <a:p>
                      <a:pPr>
                        <a:defRPr sz="750" b="1">
                          <a:solidFill>
                            <a:srgbClr val="FFFFFF"/>
                          </a:solidFill>
                          <a:latin typeface="Inter"/>
                        </a:defRPr>
                      </a:pPr>
                      <a:r>
                        <a:t>Source</a:t>
                      </a:r>
                    </a:p>
                  </a:txBody>
                  <a:tcPr marL="54864" marR="54864" marT="27432" marB="27432" anchor="ctr">
                    <a:solidFill>
                      <a:srgbClr val="0D1117"/>
                    </a:solidFill>
                  </a:tcPr>
                </a:tc>
                <a:tc>
                  <a:txBody>
                    <a:bodyPr/>
                    <a:lstStyle/>
                    <a:p>
                      <a:pPr>
                        <a:defRPr sz="750" b="1">
                          <a:solidFill>
                            <a:srgbClr val="FFFFFF"/>
                          </a:solidFill>
                          <a:latin typeface="Inter"/>
                        </a:defRPr>
                      </a:pPr>
                      <a:r>
                        <a:t>As of</a:t>
                      </a:r>
                    </a:p>
                  </a:txBody>
                  <a:tcPr marL="54864" marR="54864" marT="27432" marB="27432" anchor="ctr">
                    <a:solidFill>
                      <a:srgbClr val="0D1117"/>
                    </a:solidFill>
                  </a:tcPr>
                </a:tc>
                <a:tc>
                  <a:txBody>
                    <a:bodyPr/>
                    <a:lstStyle/>
                    <a:p>
                      <a:pPr>
                        <a:defRPr sz="750" b="1">
                          <a:solidFill>
                            <a:srgbClr val="FFFFFF"/>
                          </a:solidFill>
                          <a:latin typeface="Inter"/>
                        </a:defRPr>
                      </a:pPr>
                      <a:r>
                        <a:t>Validation</a:t>
                      </a:r>
                    </a:p>
                  </a:txBody>
                  <a:tcPr marL="54864" marR="54864" marT="27432" marB="27432" anchor="ctr">
                    <a:solidFill>
                      <a:srgbClr val="0D1117"/>
                    </a:solidFill>
                  </a:tcPr>
                </a:tc>
                <a:tc>
                  <a:txBody>
                    <a:bodyPr/>
                    <a:lstStyle/>
                    <a:p>
                      <a:pPr>
                        <a:defRPr sz="750" b="1">
                          <a:solidFill>
                            <a:srgbClr val="FFFFFF"/>
                          </a:solidFill>
                          <a:latin typeface="Inter"/>
                        </a:defRPr>
                      </a:pPr>
                      <a:r>
                        <a:t>Notes</a:t>
                      </a:r>
                    </a:p>
                  </a:txBody>
                  <a:tcPr marL="54864" marR="54864" marT="27432" marB="27432" anchor="ctr">
                    <a:solidFill>
                      <a:srgbClr val="0D1117"/>
                    </a:solidFill>
                  </a:tcPr>
                </a:tc>
              </a:tr>
              <a:tr h="601688">
                <a:tc>
                  <a:txBody>
                    <a:bodyPr/>
                    <a:lstStyle/>
                    <a:p>
                      <a:pPr>
                        <a:defRPr sz="720" b="1">
                          <a:solidFill>
                            <a:srgbClr val="0D1117"/>
                          </a:solidFill>
                          <a:latin typeface="Inter"/>
                        </a:defRPr>
                      </a:pPr>
                      <a:r>
                        <a:t>S1</a:t>
                      </a:r>
                    </a:p>
                  </a:txBody>
                  <a:tcPr marL="54864" marR="54864" marT="27432" marB="27432" anchor="ctr">
                    <a:solidFill>
                      <a:srgbClr val="FFFFFF"/>
                    </a:solidFill>
                  </a:tcPr>
                </a:tc>
                <a:tc>
                  <a:txBody>
                    <a:bodyPr/>
                    <a:lstStyle/>
                    <a:p>
                      <a:pPr>
                        <a:defRPr sz="720" b="0">
                          <a:solidFill>
                            <a:srgbClr val="0D1117"/>
                          </a:solidFill>
                          <a:latin typeface="Inter"/>
                        </a:defRPr>
                      </a:pPr>
                      <a:r>
                        <a:t>The Read (get_the_read, AM)</a:t>
                      </a:r>
                    </a:p>
                  </a:txBody>
                  <a:tcPr marL="54864" marR="54864" marT="27432" marB="27432" anchor="ctr">
                    <a:solidFill>
                      <a:srgbClr val="FFFFFF"/>
                    </a:solidFill>
                  </a:tcPr>
                </a:tc>
                <a:tc>
                  <a:txBody>
                    <a:bodyPr/>
                    <a:lstStyle/>
                    <a:p>
                      <a:pPr>
                        <a:defRPr sz="720" b="0">
                          <a:solidFill>
                            <a:srgbClr val="0D1117"/>
                          </a:solidFill>
                          <a:latin typeface="Inter"/>
                        </a:defRPr>
                      </a:pPr>
                      <a:r>
                        <a:t>2026-10-02</a:t>
                      </a:r>
                    </a:p>
                  </a:txBody>
                  <a:tcPr marL="54864" marR="54864" marT="27432" marB="27432" anchor="ctr">
                    <a:solidFill>
                      <a:srgbClr val="FFFFFF"/>
                    </a:solidFill>
                  </a:tcPr>
                </a:tc>
                <a:tc>
                  <a:txBody>
                    <a:bodyPr/>
                    <a:lstStyle/>
                    <a:p>
                      <a:pPr>
                        <a:defRPr sz="720" b="1">
                          <a:solidFill>
                            <a:srgbClr val="C6F432"/>
                          </a:solidFill>
                          <a:latin typeface="Inter"/>
                        </a:defRPr>
                      </a:pPr>
                      <a:r>
                        <a:t>● passed</a:t>
                      </a:r>
                    </a:p>
                  </a:txBody>
                  <a:tcPr marL="54864" marR="54864" marT="27432" marB="27432" anchor="ctr">
                    <a:solidFill>
                      <a:srgbClr val="F5F7F9"/>
                    </a:solidFill>
                  </a:tcPr>
                </a:tc>
                <a:tc>
                  <a:txBody>
                    <a:bodyPr/>
                    <a:lstStyle/>
                    <a:p>
                      <a:pPr>
                        <a:defRPr sz="720" b="0">
                          <a:solidFill>
                            <a:srgbClr val="0D1117"/>
                          </a:solidFill>
                          <a:latin typeface="Inter"/>
                        </a:defRPr>
                      </a:pPr>
                      <a:r>
                        <a:t>Coverage partial: analysis and chart history unavailable</a:t>
                      </a:r>
                    </a:p>
                  </a:txBody>
                  <a:tcPr marL="54864" marR="54864" marT="27432" marB="27432" anchor="ctr">
                    <a:solidFill>
                      <a:srgbClr val="FFFFFF"/>
                    </a:solidFill>
                  </a:tcPr>
                </a:tc>
              </a:tr>
              <a:tr h="601688">
                <a:tc>
                  <a:txBody>
                    <a:bodyPr/>
                    <a:lstStyle/>
                    <a:p>
                      <a:pPr>
                        <a:defRPr sz="720" b="1">
                          <a:solidFill>
                            <a:srgbClr val="0D1117"/>
                          </a:solidFill>
                          <a:latin typeface="Inter"/>
                        </a:defRPr>
                      </a:pPr>
                      <a:r>
                        <a:t>S2</a:t>
                      </a:r>
                    </a:p>
                  </a:txBody>
                  <a:tcPr marL="54864" marR="54864" marT="27432" marB="27432" anchor="ctr">
                    <a:solidFill>
                      <a:srgbClr val="F5F7F9"/>
                    </a:solidFill>
                  </a:tcPr>
                </a:tc>
                <a:tc>
                  <a:txBody>
                    <a:bodyPr/>
                    <a:lstStyle/>
                    <a:p>
                      <a:pPr>
                        <a:defRPr sz="720" b="0">
                          <a:solidFill>
                            <a:srgbClr val="0D1117"/>
                          </a:solidFill>
                          <a:latin typeface="Inter"/>
                        </a:defRPr>
                      </a:pPr>
                      <a:r>
                        <a:t>Rate indicators (get_macro_conditions)</a:t>
                      </a:r>
                    </a:p>
                  </a:txBody>
                  <a:tcPr marL="54864" marR="54864" marT="27432" marB="27432" anchor="ctr">
                    <a:solidFill>
                      <a:srgbClr val="F5F7F9"/>
                    </a:solidFill>
                  </a:tcPr>
                </a:tc>
                <a:tc>
                  <a:txBody>
                    <a:bodyPr/>
                    <a:lstStyle/>
                    <a:p>
                      <a:pPr>
                        <a:defRPr sz="720" b="0">
                          <a:solidFill>
                            <a:srgbClr val="0D1117"/>
                          </a:solidFill>
                          <a:latin typeface="Inter"/>
                        </a:defRPr>
                      </a:pPr>
                      <a:r>
                        <a:t>2026-10-02</a:t>
                      </a:r>
                    </a:p>
                  </a:txBody>
                  <a:tcPr marL="54864" marR="54864" marT="27432" marB="27432" anchor="ctr">
                    <a:solidFill>
                      <a:srgbClr val="F5F7F9"/>
                    </a:solidFill>
                  </a:tcPr>
                </a:tc>
                <a:tc>
                  <a:txBody>
                    <a:bodyPr/>
                    <a:lstStyle/>
                    <a:p>
                      <a:pPr>
                        <a:defRPr sz="720" b="1">
                          <a:solidFill>
                            <a:srgbClr val="C6F432"/>
                          </a:solidFill>
                          <a:latin typeface="Inter"/>
                        </a:defRPr>
                      </a:pPr>
                      <a:r>
                        <a:t>● passed</a:t>
                      </a:r>
                    </a:p>
                  </a:txBody>
                  <a:tcPr marL="54864" marR="54864" marT="27432" marB="27432" anchor="ctr">
                    <a:solidFill>
                      <a:srgbClr val="F5F7F9"/>
                    </a:solidFill>
                  </a:tcPr>
                </a:tc>
                <a:tc>
                  <a:txBody>
                    <a:bodyPr/>
                    <a:lstStyle/>
                    <a:p>
                      <a:pPr>
                        <a:defRPr sz="720" b="0">
                          <a:solidFill>
                            <a:srgbClr val="0D1117"/>
                          </a:solidFill>
                          <a:latin typeface="Inter"/>
                        </a:defRPr>
                      </a:pPr>
                      <a:r>
                        <a:t>FRED via Gradient; 8 series</a:t>
                      </a:r>
                    </a:p>
                  </a:txBody>
                  <a:tcPr marL="54864" marR="54864" marT="27432" marB="27432" anchor="ctr">
                    <a:solidFill>
                      <a:srgbClr val="F5F7F9"/>
                    </a:solidFill>
                  </a:tcPr>
                </a:tc>
              </a:tr>
              <a:tr h="601688">
                <a:tc>
                  <a:txBody>
                    <a:bodyPr/>
                    <a:lstStyle/>
                    <a:p>
                      <a:pPr>
                        <a:defRPr sz="720" b="1">
                          <a:solidFill>
                            <a:srgbClr val="0D1117"/>
                          </a:solidFill>
                          <a:latin typeface="Inter"/>
                        </a:defRPr>
                      </a:pPr>
                      <a:r>
                        <a:t>S3</a:t>
                      </a:r>
                    </a:p>
                  </a:txBody>
                  <a:tcPr marL="54864" marR="54864" marT="27432" marB="27432" anchor="ctr">
                    <a:solidFill>
                      <a:srgbClr val="FFFFFF"/>
                    </a:solidFill>
                  </a:tcPr>
                </a:tc>
                <a:tc>
                  <a:txBody>
                    <a:bodyPr/>
                    <a:lstStyle/>
                    <a:p>
                      <a:pPr>
                        <a:defRPr sz="720" b="0">
                          <a:solidFill>
                            <a:srgbClr val="0D1117"/>
                          </a:solidFill>
                          <a:latin typeface="Inter"/>
                        </a:defRPr>
                      </a:pPr>
                      <a:r>
                        <a:t>Gradient signal and GRIP (get_macro_signals)</a:t>
                      </a:r>
                    </a:p>
                  </a:txBody>
                  <a:tcPr marL="54864" marR="54864" marT="27432" marB="27432" anchor="ctr">
                    <a:solidFill>
                      <a:srgbClr val="FFFFFF"/>
                    </a:solidFill>
                  </a:tcPr>
                </a:tc>
                <a:tc>
                  <a:txBody>
                    <a:bodyPr/>
                    <a:lstStyle/>
                    <a:p>
                      <a:pPr>
                        <a:defRPr sz="720" b="0">
                          <a:solidFill>
                            <a:srgbClr val="0D1117"/>
                          </a:solidFill>
                          <a:latin typeface="Inter"/>
                        </a:defRPr>
                      </a:pPr>
                      <a:r>
                        <a:t>2026-10-02</a:t>
                      </a:r>
                    </a:p>
                  </a:txBody>
                  <a:tcPr marL="54864" marR="54864" marT="27432" marB="27432" anchor="ctr">
                    <a:solidFill>
                      <a:srgbClr val="FFFFFF"/>
                    </a:solidFill>
                  </a:tcPr>
                </a:tc>
                <a:tc>
                  <a:txBody>
                    <a:bodyPr/>
                    <a:lstStyle/>
                    <a:p>
                      <a:pPr>
                        <a:defRPr sz="720" b="1">
                          <a:solidFill>
                            <a:srgbClr val="C6F432"/>
                          </a:solidFill>
                          <a:latin typeface="Inter"/>
                        </a:defRPr>
                      </a:pPr>
                      <a:r>
                        <a:t>● passed</a:t>
                      </a:r>
                    </a:p>
                  </a:txBody>
                  <a:tcPr marL="54864" marR="54864" marT="27432" marB="27432" anchor="ctr">
                    <a:solidFill>
                      <a:srgbClr val="F5F7F9"/>
                    </a:solidFill>
                  </a:tcPr>
                </a:tc>
                <a:tc>
                  <a:txBody>
                    <a:bodyPr/>
                    <a:lstStyle/>
                    <a:p>
                      <a:pPr>
                        <a:defRPr sz="720" b="0">
                          <a:solidFill>
                            <a:srgbClr val="0D1117"/>
                          </a:solidFill>
                          <a:latin typeface="Inter"/>
                        </a:defRPr>
                      </a:pPr>
                      <a:r>
                        <a:t>GRIP degraded; regime-state view unavailable (500)</a:t>
                      </a:r>
                    </a:p>
                  </a:txBody>
                  <a:tcPr marL="54864" marR="54864" marT="27432" marB="27432" anchor="ctr">
                    <a:solidFill>
                      <a:srgbClr val="FFFFFF"/>
                    </a:solidFill>
                  </a:tcPr>
                </a:tc>
              </a:tr>
              <a:tr h="601688">
                <a:tc>
                  <a:txBody>
                    <a:bodyPr/>
                    <a:lstStyle/>
                    <a:p>
                      <a:pPr>
                        <a:defRPr sz="720" b="1">
                          <a:solidFill>
                            <a:srgbClr val="0D1117"/>
                          </a:solidFill>
                          <a:latin typeface="Inter"/>
                        </a:defRPr>
                      </a:pPr>
                      <a:r>
                        <a:t>S4</a:t>
                      </a:r>
                    </a:p>
                  </a:txBody>
                  <a:tcPr marL="54864" marR="54864" marT="27432" marB="27432" anchor="ctr">
                    <a:solidFill>
                      <a:srgbClr val="F5F7F9"/>
                    </a:solidFill>
                  </a:tcPr>
                </a:tc>
                <a:tc>
                  <a:txBody>
                    <a:bodyPr/>
                    <a:lstStyle/>
                    <a:p>
                      <a:pPr>
                        <a:defRPr sz="720" b="0">
                          <a:solidFill>
                            <a:srgbClr val="0D1117"/>
                          </a:solidFill>
                          <a:latin typeface="Inter"/>
                        </a:defRPr>
                      </a:pPr>
                      <a:r>
                        <a:t>Scheduled events (get_macro_calendar)</a:t>
                      </a:r>
                    </a:p>
                  </a:txBody>
                  <a:tcPr marL="54864" marR="54864" marT="27432" marB="27432" anchor="ctr">
                    <a:solidFill>
                      <a:srgbClr val="F5F7F9"/>
                    </a:solidFill>
                  </a:tcPr>
                </a:tc>
                <a:tc>
                  <a:txBody>
                    <a:bodyPr/>
                    <a:lstStyle/>
                    <a:p>
                      <a:pPr>
                        <a:defRPr sz="720" b="0">
                          <a:solidFill>
                            <a:srgbClr val="0D1117"/>
                          </a:solidFill>
                          <a:latin typeface="Inter"/>
                        </a:defRPr>
                      </a:pPr>
                      <a:r>
                        <a:t>2026-10-04</a:t>
                      </a:r>
                    </a:p>
                  </a:txBody>
                  <a:tcPr marL="54864" marR="54864" marT="27432" marB="27432" anchor="ctr">
                    <a:solidFill>
                      <a:srgbClr val="F5F7F9"/>
                    </a:solidFill>
                  </a:tcPr>
                </a:tc>
                <a:tc>
                  <a:txBody>
                    <a:bodyPr/>
                    <a:lstStyle/>
                    <a:p>
                      <a:pPr>
                        <a:defRPr sz="720" b="1">
                          <a:solidFill>
                            <a:srgbClr val="C6F432"/>
                          </a:solidFill>
                          <a:latin typeface="Inter"/>
                        </a:defRPr>
                      </a:pPr>
                      <a:r>
                        <a:t>● passed</a:t>
                      </a:r>
                    </a:p>
                  </a:txBody>
                  <a:tcPr marL="54864" marR="54864" marT="27432" marB="27432" anchor="ctr">
                    <a:solidFill>
                      <a:srgbClr val="F5F7F9"/>
                    </a:solidFill>
                  </a:tcPr>
                </a:tc>
                <a:tc>
                  <a:txBody>
                    <a:bodyPr/>
                    <a:lstStyle/>
                    <a:p>
                      <a:pPr>
                        <a:defRPr sz="720" b="0">
                          <a:solidFill>
                            <a:srgbClr val="0D1117"/>
                          </a:solidFill>
                          <a:latin typeface="Inter"/>
                        </a:defRPr>
                      </a:pPr>
                      <a:r>
                        <a:t>12 of 14 events retrieved</a:t>
                      </a:r>
                    </a:p>
                  </a:txBody>
                  <a:tcPr marL="54864" marR="54864" marT="27432" marB="27432" anchor="ctr">
                    <a:solidFill>
                      <a:srgbClr val="F5F7F9"/>
                    </a:solidFill>
                  </a:tcPr>
                </a:tc>
              </a:tr>
              <a:tr h="601693">
                <a:tc>
                  <a:txBody>
                    <a:bodyPr/>
                    <a:lstStyle/>
                    <a:p>
                      <a:pPr>
                        <a:defRPr sz="720" b="1">
                          <a:solidFill>
                            <a:srgbClr val="0D1117"/>
                          </a:solidFill>
                          <a:latin typeface="Inter"/>
                        </a:defRPr>
                      </a:pPr>
                      <a:r>
                        <a:t>S5</a:t>
                      </a:r>
                    </a:p>
                  </a:txBody>
                  <a:tcPr marL="54864" marR="54864" marT="27432" marB="27432" anchor="ctr">
                    <a:solidFill>
                      <a:srgbClr val="FFFFFF"/>
                    </a:solidFill>
                  </a:tcPr>
                </a:tc>
                <a:tc>
                  <a:txBody>
                    <a:bodyPr/>
                    <a:lstStyle/>
                    <a:p>
                      <a:pPr>
                        <a:defRPr sz="720" b="0">
                          <a:solidFill>
                            <a:srgbClr val="0D1117"/>
                          </a:solidFill>
                          <a:latin typeface="Inter"/>
                        </a:defRPr>
                      </a:pPr>
                      <a:r>
                        <a:t>CMA baseline (get_capital_market_assumptions)</a:t>
                      </a:r>
                    </a:p>
                  </a:txBody>
                  <a:tcPr marL="54864" marR="54864" marT="27432" marB="27432" anchor="ctr">
                    <a:solidFill>
                      <a:srgbClr val="FFFFFF"/>
                    </a:solidFill>
                  </a:tcPr>
                </a:tc>
                <a:tc>
                  <a:txBody>
                    <a:bodyPr/>
                    <a:lstStyle/>
                    <a:p>
                      <a:pPr>
                        <a:defRPr sz="720" b="0">
                          <a:solidFill>
                            <a:srgbClr val="0D1117"/>
                          </a:solidFill>
                          <a:latin typeface="Inter"/>
                        </a:defRPr>
                      </a:pPr>
                      <a:r>
                        <a:t>2026-10-04</a:t>
                      </a:r>
                    </a:p>
                  </a:txBody>
                  <a:tcPr marL="54864" marR="54864" marT="27432" marB="27432" anchor="ctr">
                    <a:solidFill>
                      <a:srgbClr val="FFFFFF"/>
                    </a:solidFill>
                  </a:tcPr>
                </a:tc>
                <a:tc>
                  <a:txBody>
                    <a:bodyPr/>
                    <a:lstStyle/>
                    <a:p>
                      <a:pPr>
                        <a:defRPr sz="720" b="1">
                          <a:solidFill>
                            <a:srgbClr val="F2A93B"/>
                          </a:solidFill>
                          <a:latin typeface="Inter"/>
                        </a:defRPr>
                      </a:pPr>
                      <a:r>
                        <a:t>● advisory</a:t>
                      </a:r>
                    </a:p>
                  </a:txBody>
                  <a:tcPr marL="54864" marR="54864" marT="27432" marB="27432" anchor="ctr">
                    <a:solidFill>
                      <a:srgbClr val="F5F7F9"/>
                    </a:solidFill>
                  </a:tcPr>
                </a:tc>
                <a:tc>
                  <a:txBody>
                    <a:bodyPr/>
                    <a:lstStyle/>
                    <a:p>
                      <a:pPr>
                        <a:defRPr sz="720" b="0">
                          <a:solidFill>
                            <a:srgbClr val="0D1117"/>
                          </a:solidFill>
                          <a:latin typeface="Inter"/>
                        </a:defRPr>
                      </a:pPr>
                      <a:r>
                        <a:t>Quality receipt unvalidated; 15 quality flags</a:t>
                      </a:r>
                    </a:p>
                  </a:txBody>
                  <a:tcPr marL="54864" marR="54864" marT="27432" marB="27432" anchor="ctr">
                    <a:solidFill>
                      <a:srgbClr val="FFFFFF"/>
                    </a:solidFill>
                  </a:tcPr>
                </a:tc>
              </a:tr>
            </a:tbl>
          </a:graphicData>
        </a:graphic>
      </p:graphicFrame>
      <p:sp>
        <p:nvSpPr>
          <p:cNvPr id="9" name="TextBox 8"/>
          <p:cNvSpPr txBox="1"/>
          <p:nvPr/>
        </p:nvSpPr>
        <p:spPr>
          <a:xfrm>
            <a:off x="640080" y="5045741"/>
            <a:ext cx="10908792" cy="1172178"/>
          </a:xfrm>
          <a:prstGeom prst="rect">
            <a:avLst/>
          </a:prstGeom>
          <a:noFill/>
        </p:spPr>
        <p:txBody>
          <a:bodyPr wrap="none" lIns="9144" rIns="9144" tIns="9144" bIns="9144" anchor="t">
            <a:spAutoFit/>
          </a:bodyPr>
          <a:lstStyle/>
          <a:p>
            <a:pPr algn="l">
              <a:spcAft>
                <a:spcPts val="0"/>
              </a:spcAft>
              <a:defRPr sz="1100" b="0">
                <a:solidFill>
                  <a:srgbClr val="4A5563"/>
                </a:solidFill>
                <a:latin typeface="Inter"/>
              </a:defRPr>
            </a:pPr>
            <a:r>
              <a:t>Numbers come only from structured fields; The Read's prose is quoted, not mined for figures. Signals, percentiles and GRIP describe historical or modeled context, not forecasts. CMAs are Gradient house assumptions, not realized performance. Not investment advice.</a:t>
            </a:r>
          </a:p>
        </p:txBody>
      </p:sp>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t>Sources: S1 · S2 · S3 · S4 · S5</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t>Confidential — internal investment use</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Macro Briefing</dc:title>
  <dc:subject>Macro Briefing</dc:subject>
  <dc:creator>GradientCIO</dc:creator>
  <cp:keywords/>
  <dc:description>generated using python-pptx</dc:description>
  <cp:lastModifiedBy>GradientCIO</cp:lastModifiedBy>
  <cp:revision>1</cp:revision>
  <dcterms:created xsi:type="dcterms:W3CDTF">2020-01-01T00:00:00Z</dcterms:created>
  <dcterms:modified xsi:type="dcterms:W3CDTF">2020-01-01T00:00:00Z</dcterms:modified>
  <cp:category/>
</cp:coreProperties>
</file>