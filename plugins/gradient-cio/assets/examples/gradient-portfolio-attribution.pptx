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100.0</c:v>
                </c:pt>
                <c:pt idx="1">
                  <c:v>100.8</c:v>
                </c:pt>
                <c:pt idx="2">
                  <c:v>101.5</c:v>
                </c:pt>
                <c:pt idx="3">
                  <c:v>102.4</c:v>
                </c:pt>
                <c:pt idx="4">
                  <c:v>103.2</c:v>
                </c:pt>
                <c:pt idx="5">
                  <c:v>103.8</c:v>
                </c:pt>
                <c:pt idx="6">
                  <c:v>104.6</c:v>
                </c:pt>
                <c:pt idx="7">
                  <c:v>105.1</c:v>
                </c:pt>
                <c:pt idx="8">
                  <c:v>105.7</c:v>
                </c:pt>
                <c:pt idx="9">
                  <c:v>106.3</c:v>
                </c:pt>
                <c:pt idx="10">
                  <c:v>107.1</c:v>
                </c:pt>
                <c:pt idx="11">
                  <c:v>108.4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Sheet1!$A$2:$A$13</c:f>
              <c:strCache>
                <c:ptCount val="12"/>
                <c:pt idx="0">
                  <c:v>2025-07-31</c:v>
                </c:pt>
                <c:pt idx="1">
                  <c:v>2025-08-31</c:v>
                </c:pt>
                <c:pt idx="2">
                  <c:v>2025-09-30</c:v>
                </c:pt>
                <c:pt idx="3">
                  <c:v>2025-10-31</c:v>
                </c:pt>
                <c:pt idx="4">
                  <c:v>2025-11-30</c:v>
                </c:pt>
                <c:pt idx="5">
                  <c:v>2025-12-31</c:v>
                </c:pt>
                <c:pt idx="6">
                  <c:v>2026-01-31</c:v>
                </c:pt>
                <c:pt idx="7">
                  <c:v>2026-02-28</c:v>
                </c:pt>
                <c:pt idx="8">
                  <c:v>2026-03-31</c:v>
                </c:pt>
                <c:pt idx="9">
                  <c:v>2026-04-30</c:v>
                </c:pt>
                <c:pt idx="10">
                  <c:v>2026-05-31</c:v>
                </c:pt>
                <c:pt idx="11">
                  <c:v>2026-06-30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100.0</c:v>
                </c:pt>
                <c:pt idx="1">
                  <c:v>100.9</c:v>
                </c:pt>
                <c:pt idx="2">
                  <c:v>101.7</c:v>
                </c:pt>
                <c:pt idx="3">
                  <c:v>102.7</c:v>
                </c:pt>
                <c:pt idx="4">
                  <c:v>103.5</c:v>
                </c:pt>
                <c:pt idx="5">
                  <c:v>104.1</c:v>
                </c:pt>
                <c:pt idx="6">
                  <c:v>105.0</c:v>
                </c:pt>
                <c:pt idx="7">
                  <c:v>105.5</c:v>
                </c:pt>
                <c:pt idx="8">
                  <c:v>106.1</c:v>
                </c:pt>
                <c:pt idx="9">
                  <c:v>106.8</c:v>
                </c:pt>
                <c:pt idx="10">
                  <c:v>107.7</c:v>
                </c:pt>
                <c:pt idx="11">
                  <c:v>109.0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0.0"/>
          <c:min val="10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2.5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Excess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2026-01-31</c:v>
                </c:pt>
                <c:pt idx="1">
                  <c:v>2026-02-28</c:v>
                </c:pt>
                <c:pt idx="2">
                  <c:v>2026-03-31</c:v>
                </c:pt>
                <c:pt idx="3">
                  <c:v>2026-04-30</c:v>
                </c:pt>
                <c:pt idx="4">
                  <c:v>2026-05-31</c:v>
                </c:pt>
                <c:pt idx="5">
                  <c:v>2026-06-30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-0.2</c:v>
                </c:pt>
                <c:pt idx="1">
                  <c:v>-0.3</c:v>
                </c:pt>
                <c:pt idx="2">
                  <c:v>-0.3</c:v>
                </c:pt>
                <c:pt idx="3">
                  <c:v>-0.4</c:v>
                </c:pt>
                <c:pt idx="4">
                  <c:v>-0.5</c:v>
                </c:pt>
                <c:pt idx="5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-0.2"/>
          <c:min val="-0.6000000000000001"/>
        </c:scaling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1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-0.8</c:v>
                </c:pt>
                <c:pt idx="2">
                  <c:v>-1.2</c:v>
                </c:pt>
                <c:pt idx="3">
                  <c:v>-0.4</c:v>
                </c:pt>
                <c:pt idx="4">
                  <c:v>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-0.6</c:v>
                </c:pt>
                <c:pt idx="2">
                  <c:v>-0.9</c:v>
                </c:pt>
                <c:pt idx="3">
                  <c:v>-0.3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0.0</c:v>
                </c:pt>
                <c:pt idx="2">
                  <c:v>0.1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0.3</c:v>
                </c:pt>
                <c:pt idx="2">
                  <c:v>-0.3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-0.1</c:v>
                </c:pt>
                <c:pt idx="1">
                  <c:v>-0.3</c:v>
                </c:pt>
                <c:pt idx="2">
                  <c:v>-0.6</c:v>
                </c:pt>
                <c:pt idx="3">
                  <c:v>-0.8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0.1</c:v>
                </c:pt>
                <c:pt idx="3">
                  <c:v>0.1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-0.4</c:v>
                </c:pt>
                <c:pt idx="3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26%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44%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26.0</c:v>
                </c:pt>
                <c:pt idx="1">
                  <c:v>30.0</c:v>
                </c:pt>
                <c:pt idx="2">
                  <c:v>44.0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-50%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-25%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-50.0</c:v>
                </c:pt>
                <c:pt idx="1">
                  <c:v>25.0</c:v>
                </c:pt>
                <c:pt idx="2">
                  <c:v>-25.0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2025-07-31</c:v>
                </c:pt>
                <c:pt idx="1">
                  <c:v>2026-01-31</c:v>
                </c:pt>
                <c:pt idx="2">
                  <c:v>2026-05-31</c:v>
                </c:pt>
                <c:pt idx="3">
                  <c:v>2026-06-30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</c:v>
                </c:pt>
                <c:pt idx="1">
                  <c:v>-0.2</c:v>
                </c:pt>
                <c:pt idx="2">
                  <c:v>-0.3</c:v>
                </c:pt>
                <c:pt idx="3">
                  <c:v>-0.4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-0.6pp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-0.3pp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Public equity · Historical</c:v>
                </c:pt>
                <c:pt idx="1">
                  <c:v>Public equity · Ex ante</c:v>
                </c:pt>
                <c:pt idx="2">
                  <c:v>Fixed income · Historical</c:v>
                </c:pt>
                <c:pt idx="3">
                  <c:v>Fixed income · Ex ante</c:v>
                </c:pt>
                <c:pt idx="4">
                  <c:v>Private assets · Historical</c:v>
                </c:pt>
                <c:pt idx="5">
                  <c:v>Private assets · Ex ante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-0.6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-0.3</c:v>
                </c:pt>
                <c:pt idx="5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returns trailed recently</a:t>
            </a:r>
          </a:p>
          <a:p>
            <a:r>
              <a:t>Observation: The portfolio trailed over all three periods: QTD, YTD and 1Y [S3]. Why it matters: The pattern establishes context for attribution results. Uncertainty: Aggregate return coverage does not identify causal effects. What would change the view: A later full-period report showing sustained positive excess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Equity selection drove detractor</a:t>
            </a:r>
          </a:p>
          <a:p>
            <a:r>
              <a:t>Observation: Public-equity selection is the largest detractor, and resolved managers have one open finding [S4][S6]. Why it matters: Effect and diligence evidence concentrate oversight there. Uncertainty: The balanced-regime model is contextual and not causal [S7]. What would change the view: Closed findings or refreshed results identifying another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lineage remains incomplete</a:t>
            </a:r>
          </a:p>
          <a:p>
            <a:r>
              <a:t>Observation: Ex ante active return is +0.4pp, but no assumption set or regime is linked [S5]. Why it matters: Persisted inputs cannot be tied to a named release. Uncertainty: Input dates may differ by segment. What would change the view: A named release and regime record linked to every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Public equity changes sign</a:t>
            </a:r>
          </a:p>
          <a:p>
            <a:r>
              <a:t>Observation: Public equity is -0.6pp historically and +0.3pp ex ante [S4][S5]. Why it matters: The sign change separates experience from expectations. Uncertainty: The lanes use different periods and weight bases. What would change the view: Refreshed persisted results on the intended policy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governed ex ante attribution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HISTORICAL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2025-07-31 to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FORWARD VIEW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Both lanes reconcile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2639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2639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Attribution 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7793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portfolio's realized active return was -0.6pp, led by a -0.8pp public-equity selection effect [S4]. Governed ex ante attribution is +0.4pp on persisted one-year expected returns, with fixed-income selection the largest positive effect [S5]. Both lanes reconcile within their returned tolerance, but their realized linked and single-period expected bases are not interchangeable [S4][S5].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ACTIVE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12 months to 2026-06-30 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HISTORICAL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-0.8pp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 selection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ACTIVE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One-year expected basis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SUB-ALLOCATION EFFECT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-0.4pp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equity cumulative selection [S4]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758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931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31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 was -0.6pp; public-equity selection was the largest negative effect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31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 is +0.4pp; fixed-income selection is the largest positive effect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31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Both total effects reconcile to their returned active return within tolerance 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31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effects use persisted base-currency expected returns and current cohort weights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Assumption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313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required sample sources are available [S1][S2][S3][S4][S5].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68731"/>
            <a:ext cx="10908792" cy="677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68731"/>
            <a:ext cx="54864" cy="67770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7845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619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is a monitoring analysis, not an investment recommendation or forecast. Ex ante expected returns and effects are assumptions, not guarantees.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56167"/>
            <a:ext cx="10908792" cy="10154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256167"/>
            <a:ext cx="54864" cy="101543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36589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649359"/>
            <a:ext cx="10616184" cy="5308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reconciled-lanes signal versus the prior unresolved status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81327"/>
            <a:ext cx="10908792" cy="8365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5381327"/>
            <a:ext cx="54864" cy="83659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5491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774519"/>
            <a:ext cx="10616184" cy="3519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active return is -0.6pp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Attribution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US equity cumulative selection is the largest sub-allocation effect at -0.4pp [S4]. Why it matters: The depth-1 result identifies where the root detractor is concentrated. Uncertainty: The rerun covers only returned child allocations. What would change the view: A refreshed depth-1 result identifying another leading sub-allocation.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TWO ATTRIBUTION LANES USE DIFFERENT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Data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34751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2025-07-31 to 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Parent cohort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returns; beginning-of-period weights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returns; current normalized cohort weights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91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185074"/>
          <a:ext cx="10908790" cy="103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442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Weights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2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Beginning of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total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 /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realized_brinson_fachler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428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actual and persisted policy weights, normalized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expected period / no linker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12-MONTH EXCESS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DRAWDOWN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Context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745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491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91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91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91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91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6399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labels, annualization and coverage are preserved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56606"/>
            <a:ext cx="10908792" cy="156131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656606"/>
            <a:ext cx="54864" cy="156131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7663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returns trailed recently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049798"/>
            <a:ext cx="10616184" cy="10766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trailed over all three periods: QTD, YTD and 1Y [S3]. Why it matters: The pattern establishes context for attribution results. Uncertainty: Aggregate return coverage does…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 → SELECTION → INTERACTION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TOTAL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× MONTH LINKED TOTAL EFFECT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Jul 2025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May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9F6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2F564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CONTRIBUTION TO TRACKING ERROR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EFFECT SHARE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SELECTION INSIDE US EQUITY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TOTAL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75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026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02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2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02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2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4612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SEGMENT EFFECTS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735568"/>
          <a:ext cx="10908792" cy="1189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9739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739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739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73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9434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returned effects and are not recalculated [S4].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36032"/>
            <a:ext cx="10908792" cy="9818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36032"/>
            <a:ext cx="54864" cy="98188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457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Equity selection drove detractor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29224"/>
            <a:ext cx="10616184" cy="4972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detractor, and resolved managers have one open finding [S4][S6]. Why it matters: Effect and diligence evidence concentrate oversight there. Uncertainty: The balanced-regime…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S6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EX ANTE SEGMENT TOTAL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BY SEGMENT</a:t>
            </a:r>
          </a:p>
        </p:txBody>
      </p:sp>
      <p:sp>
        <p:nvSpPr>
          <p:cNvPr id="10" name="Oval 9"/>
          <p:cNvSpPr/>
          <p:nvPr/>
        </p:nvSpPr>
        <p:spPr>
          <a:xfrm>
            <a:off x="2194560" y="1636776"/>
            <a:ext cx="91440" cy="91440"/>
          </a:xfrm>
          <a:prstGeom prst="ellipse">
            <a:avLst/>
          </a:prstGeom>
          <a:solidFill>
            <a:srgbClr val="52606D"/>
          </a:solidFill>
          <a:ln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322576" y="1600200"/>
            <a:ext cx="5943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</a:t>
            </a:r>
          </a:p>
        </p:txBody>
      </p:sp>
      <p:sp>
        <p:nvSpPr>
          <p:cNvPr id="12" name="Oval 11"/>
          <p:cNvSpPr/>
          <p:nvPr/>
        </p:nvSpPr>
        <p:spPr>
          <a:xfrm>
            <a:off x="3035808" y="1636776"/>
            <a:ext cx="91440" cy="91440"/>
          </a:xfrm>
          <a:prstGeom prst="ellipse">
            <a:avLst/>
          </a:prstGeom>
          <a:solidFill>
            <a:srgbClr val="A8D830"/>
          </a:solidFill>
          <a:ln>
            <a:solidFill>
              <a:srgbClr val="A8D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3163824" y="1600200"/>
            <a:ext cx="950976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92807"/>
            <a:ext cx="1463039" cy="8875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2392070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8816585" y="2382926"/>
            <a:ext cx="264881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Oval 16"/>
          <p:cNvSpPr/>
          <p:nvPr/>
        </p:nvSpPr>
        <p:spPr>
          <a:xfrm>
            <a:off x="9031174" y="2341778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Oval 17"/>
          <p:cNvSpPr/>
          <p:nvPr/>
        </p:nvSpPr>
        <p:spPr>
          <a:xfrm>
            <a:off x="8766293" y="2341778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10479024" y="1892807"/>
            <a:ext cx="1069848" cy="8875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-0.3%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002280"/>
            <a:ext cx="1463039" cy="8875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3501542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5814600" y="3492398"/>
            <a:ext cx="618055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6382364" y="3451250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5764308" y="3451250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10479024" y="3002280"/>
            <a:ext cx="1069848" cy="8875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-0.7%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111751"/>
            <a:ext cx="1463039" cy="8875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4611014"/>
            <a:ext cx="821131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9258054" y="4601870"/>
            <a:ext cx="1147817" cy="18288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Oval 28"/>
          <p:cNvSpPr/>
          <p:nvPr/>
        </p:nvSpPr>
        <p:spPr>
          <a:xfrm>
            <a:off x="9207762" y="4560722"/>
            <a:ext cx="100584" cy="100584"/>
          </a:xfrm>
          <a:prstGeom prst="ellipse">
            <a:avLst/>
          </a:prstGeom>
          <a:solidFill>
            <a:srgbClr val="52606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Oval 29"/>
          <p:cNvSpPr/>
          <p:nvPr/>
        </p:nvSpPr>
        <p:spPr>
          <a:xfrm>
            <a:off x="10355580" y="4560722"/>
            <a:ext cx="100584" cy="100584"/>
          </a:xfrm>
          <a:prstGeom prst="ellipse">
            <a:avLst/>
          </a:prstGeom>
          <a:solidFill>
            <a:srgbClr val="A8D83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10479024" y="4111751"/>
            <a:ext cx="1069848" cy="8875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expected return +1.3%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221223"/>
            <a:ext cx="54864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5221223"/>
            <a:ext cx="54864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32120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Rectangle 34"/>
          <p:cNvSpPr/>
          <p:nvPr/>
        </p:nvSpPr>
        <p:spPr>
          <a:xfrm>
            <a:off x="640080" y="5532120"/>
            <a:ext cx="54864" cy="6858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804671" y="56418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Assumptions, not forecasts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1" y="592531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one-year expected returns and resulting effects are assumptions, not forecasts or guarantees [S5].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TOTAL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Brinson-Fachler / 1.0.0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year / none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benchmark expected return base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linked / Not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SEGMENT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760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6902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0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0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02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7930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Inputs and effects are returned by the governed ex ante contract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lineage remains incomplete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active return is +0.4pp, but no assumption set or regime is linked [S5]. Why it matters: Persisted inputs cannot be tied to a named release…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Basis difference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use realized monthly observations and symmetric-Carino linking; ex ante effects use current normalized cohort weights and one expected period. The values are not directly interchangeable [S4][S5].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219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VS EX ANTE SEGMENT EFFECTS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40080" y="2556510"/>
          <a:ext cx="10908792" cy="366141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Historical-versus-Ex-Ante Scope and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12849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3343655" cy="449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Changed 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555956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+ [S4][S5]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12849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1984248"/>
            <a:ext cx="3343655" cy="449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648" y="2555956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+ · ex ante + [S4][S5]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12849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1984248"/>
            <a:ext cx="3343655" cy="449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Same 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5487" y="2555956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− · ex ante − [S4][S5]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99486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DIRECTIONAL COMPARISON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40080" y="3269188"/>
          <a:ext cx="10908792" cy="1684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10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10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Changed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103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40080" y="5063027"/>
            <a:ext cx="10908792" cy="11548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640080" y="5063027"/>
            <a:ext cx="54864" cy="11548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804671" y="51727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Public equity changes 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" y="5456219"/>
            <a:ext cx="10616184" cy="6702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 equity is -0.6pp historically and +0.3pp ex ante [S4][S5]. Why it matters: The sign change separates experience from expectations. Uncertainty: The lanes use different periods and…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Diagnostics and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RESIDUAL TOLERANCE CHECKS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5399532" cy="12152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84248"/>
            <a:ext cx="5180076" cy="425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486308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[S4]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9340" y="1600200"/>
            <a:ext cx="5399532" cy="12152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149340" y="1600200"/>
            <a:ext cx="539953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259068" y="1728216"/>
            <a:ext cx="518007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1984248"/>
            <a:ext cx="5180076" cy="425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9068" y="2486308"/>
            <a:ext cx="518007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Tolerance 0.000001 bp · ✓ [S5]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2522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DIAGNOSTICS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" y="3199540"/>
          <a:ext cx="10908790" cy="11914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971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715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715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and regime IDs are null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4500727"/>
            <a:ext cx="10908792" cy="17171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effects cover 12 complete monthly observations and use returned symmetric-Carino linking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effects use current actual and persisted policy benchmark weights normalized within the root sibling cohort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Persisted expected returns are in USD; currency effects are not separately included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Assumption-set and regime identities are not attached to the persisted expectations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would remain unavailable rather than being treated as zero.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 OF EVERY EXPECTED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Analytics live sample access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Root cohort; three segments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through 2026-06-30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monthly periods; governed result available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One-year expected basis; governed result available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finding for resolved public-equity managers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regime context for the historical period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gradient_tool_metadata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detail=full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not_applicable_metadata_response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root cohort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public-equity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view=gradient_signal; regime_state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130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with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total return; decimal fraction; 1e-10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Single-period expected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decimal fraction; 1e-10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Growth, rolling excess,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indexed growth, rolling-window excess and peak-to-trough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index / percentage / percentage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segment contribution to total active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tracking error; contribution share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 and segment-month linked effects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symmetric-Carino effects from periods and period segments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and cumulative percentage-point effects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drill-down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sub-allocation cumulative 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depth-1 period selection effects without local reconstruction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 percentage-point selection effect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benchmark expected return by segment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expected returns applied to actual and policy segment weights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expected return; percentage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effect pairing and sign agreement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presentation of server-returned historical and ex ante segment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Percentage-point effects; no cross-lane rebasing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 ante expected returns and effects are assumptions, not forecasts or guarantees.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is realized and linked as returned.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and ex ante bases are not directly interchangeable.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Missing evidence is not zero.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AI-assisted monitoring analysis; not investment, legal or compliance advice.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historical; 2026-10-08 ex 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Portfolio Attribution Report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