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100.0</c:v>
                </c:pt>
                <c:pt idx="1">
                  <c:v>102.4</c:v>
                </c:pt>
                <c:pt idx="2">
                  <c:v>104.6</c:v>
                </c:pt>
                <c:pt idx="3">
                  <c:v>106.3</c:v>
                </c:pt>
                <c:pt idx="4">
                  <c:v>108.4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100.0</c:v>
                </c:pt>
                <c:pt idx="1">
                  <c:v>102.7</c:v>
                </c:pt>
                <c:pt idx="2">
                  <c:v>105.0</c:v>
                </c:pt>
                <c:pt idx="3">
                  <c:v>106.8</c:v>
                </c:pt>
                <c:pt idx="4">
                  <c:v>109.0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0.0</c:v>
                </c:pt>
                <c:pt idx="2">
                  <c:v>0.1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0.3</c:v>
                </c:pt>
                <c:pt idx="2">
                  <c:v>-0.3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Historical</c:v>
                </c:pt>
                <c:pt idx="1">
                  <c:v>Ex ante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returns trailed recently</a:t>
            </a:r>
          </a:p>
          <a:p>
            <a:r>
              <a:t>Observation: The portfolio trailed over all three periods: QTD, YTD and 1Y [S3]. Why it matters: The pattern establishes context for attribution results. Uncertainty: Aggregate return coverage does not identify causal effects. What would change the view: A later full-period report showing sustained positive excess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Equity selection drove detractor</a:t>
            </a:r>
          </a:p>
          <a:p>
            <a:r>
              <a:t>Observation: Public-equity selection is the largest detractor, and resolved managers have one open finding [S4][S6]. Why it matters: Effect and diligence evidence concentrate oversight there. Uncertainty: The balanced-regime model is contextual and not causal [S7]. What would change the view: Closed findings or refreshed results identifying another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lineage remains incomplete</a:t>
            </a:r>
          </a:p>
          <a:p>
            <a:r>
              <a:t>Observation: Ex ante active return is +0.4pp, but no assumption set or regime is linked [S5]. Why it matters: Persisted inputs cannot be tied to a named release. Uncertainty: Input dates may differ by segment. What would change the view: A named release and regime record linked to every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Public equity changes sign</a:t>
            </a:r>
          </a:p>
          <a:p>
            <a:r>
              <a:t>Observation: Public equity is -0.6pp historically and +0.3pp ex ante [S4][S5]. Why it matters: The sign change separates experience from expectations. Uncertainty: The lanes use different periods and weight bases. What would change the view: Refreshed persisted results on the intended policy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Attribution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 and governed ex ante attribution · period to 2026-06-30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HISTORICAL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2025-07-31 to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EX ANTE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PARENT COHORT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Both lanes reconcile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6115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6115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Attribution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1269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portfolio's realized active return was -0.6pp, led by a -0.8pp public-equity selection effect [S4]. Governed ex ante attribution is +0.4pp on persisted one-year expected returns, with fixed-income selection the largest positive effect [S5]. Both lanes reconcile within their returned tolerance, but their realized linked and single-period expected bases are not interchangeable [S4][S5].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ACTIVE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12 months to 2026-06-30 [S4]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HISTORICAL EFFECT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-0.8pp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 selection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ACTIVE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One-year expected basis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RESIDUAL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0.0bp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Within tolerance [S5]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0441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068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06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 was -0.6pp; public-equity selection was the largest negative effect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06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 is +0.4pp; fixed-income selection is the largest positive effect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06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Both total effects reconcile to their returned active return within tolerance 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06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effects use persisted base-currency expected returns and current cohort weights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Assumption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06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required fictional TEST sources are available [S1][S2][S3][S4][S5].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754065"/>
            <a:ext cx="10908792" cy="8243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754065"/>
            <a:ext cx="54864" cy="8243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86379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147257"/>
            <a:ext cx="10616184" cy="3397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is a monitoring analysis, not an investment recommendation or forecast. Ex ante expected returns and effects are assumptions, not guarantees.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688134"/>
            <a:ext cx="10908792" cy="15297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688134"/>
            <a:ext cx="54864" cy="152978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7978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081326"/>
            <a:ext cx="10616184" cy="10451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reconciled-lanes signal versus the prior unresolved status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480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480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63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Historical active return is -0.6pp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83680"/>
            <a:ext cx="10908792" cy="24342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83680"/>
            <a:ext cx="54864" cy="24342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934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76872"/>
            <a:ext cx="10616184" cy="19496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residual is 0.0bp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TWO ATTRIBUTION LANES USE DIFFERENT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4751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Attribution Portfolio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2025-07-31 to 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Parent cohort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returns; beginning-of-period weights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returns; current normalized cohort weights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107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185074"/>
          <a:ext cx="10908790" cy="103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442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Weights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2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Beginning of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total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 /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realized_brinson_fachler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428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actual and persisted policy weights, normalized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expected period / no linker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42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44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04062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labels, annualization and coverage are preserved 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33236"/>
            <a:ext cx="10908792" cy="1884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333236"/>
            <a:ext cx="54864" cy="18846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4429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returns trailed recently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726428"/>
            <a:ext cx="10616184" cy="1400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trailed over all three periods: QTD, YTD and 1Y [S3]. Why it matters: The pattern establishes context for attribution results. Uncertainty: Aggregate return coverage does…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 → SELECTION → INTERACTION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RECONCILIATION AND METHOD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TOTAL EFFECTS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TOTAL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51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103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615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35868"/>
          <a:ext cx="10908792" cy="1025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6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35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7957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returned effects and are not recalculated [S4].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72180"/>
            <a:ext cx="10908792" cy="13457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872180"/>
            <a:ext cx="54864" cy="134573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9819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Equity selection drove detractor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265372"/>
            <a:ext cx="10616184" cy="8611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detractor, and resolved managers have one open finding [S4][S6]. Why it matters: Effect and diligence evidence concentrate oversight there. Uncertainty: The balanced-regime…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EX ANTE SEGMENT TOTAL EFFECTS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7185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71855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Assumptions, not forecasts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339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one-year expected returns and resulting effects are assumptions, not forecasts or guarantees [S5].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5416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TOTAL EFFECTS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428488"/>
          <a:ext cx="10908792" cy="14412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8824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82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82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882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82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397945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SEGMENT EFFECTS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253778"/>
          <a:ext cx="10908792" cy="934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23367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367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367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336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0080" y="520675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Inputs and effects are returned by the governed ex ante contract [S5].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99359"/>
            <a:ext cx="10908792" cy="7185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5499359"/>
            <a:ext cx="54864" cy="71855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60908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Reconciliation basis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892551"/>
            <a:ext cx="10616184" cy="2339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reconciliation below preserves the returned expected-active-return, residual, method, horizon, source, and currency fields [S5].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RECONCILIATION AND METHOD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272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09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version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Brinson-Fachler / 1.0.0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year / none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benchmark expected return base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linked / Not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1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982913"/>
            <a:ext cx="10908792" cy="1235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982913"/>
            <a:ext cx="54864" cy="1235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092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lineage remains incomplete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376105"/>
            <a:ext cx="10616184" cy="750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active return is +0.4pp, but no assumption set or regime is linked [S5]. Why it matters: Persisted inputs cannot be tied to a named release…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EFFECTS BY ATTRIBUTION LANE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</a:t>
                      </a:r>
                    </a:p>
                  </a:txBody>
                  <a:tcPr marL="54864" marR="54864" marT="27432" marB="27432" anchor="ctr">
                    <a:solidFill>
                      <a:srgbClr val="E5F6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0893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08935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Basis difference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6047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use realized monthly observations and symmetric-Carino linking; ex ante effects use current normalized cohort weights and one expected period. The values are not directly interchangeable [S4][S5].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49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DIRECTIONAL COMPARISON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799285"/>
          <a:ext cx="10908792" cy="17939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4848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848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Changed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48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84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702952"/>
            <a:ext cx="10908792" cy="15149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702952"/>
            <a:ext cx="54864" cy="151496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8126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Public equity changes 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096144"/>
            <a:ext cx="10616184" cy="10303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 equity is -0.6pp historically and +0.3pp ex ante [S4][S5]. Why it matters: The sign change separates experience from expectations. Uncertainty: The lanes use different periods and…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RECONCILIATION, COVERAGE AND MODEL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Diagnostics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RESIDUAL VS TOLERANCE (BP)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RECONCILIATION, COVERAGE AND MODEL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Diagnostics and Limitations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DIAGNOSTICS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2818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72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Warnings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727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7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and regime IDs are null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91757"/>
            <a:ext cx="10908792" cy="32261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effects cover 12 complete monthly observations and use returned symmetric-Carino linking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effects use current actual and persisted policy benchmark weights normalized within the root sibling cohort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Persisted expected returns are in USD; currency effects are not separately included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Assumption-set and regime identities are not attached to the persisted expectations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would remain unavailable rather than being treated as zero.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 OF EVERY EXPECTED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Analytics live fictional TEST access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cohort; three segments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through 2026-06-30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periods; residual within tolerance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basis; residual within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finding for resolved public-equity managers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regime context for the historical period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detail=full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root cohort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public-equity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view=gradient_signal; regime_state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818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72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72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with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return; decimal fraction; 1e-10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7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Single-period expected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decimal fraction; 1e-10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91757"/>
            <a:ext cx="10908792" cy="32261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expected returns and effects are assumptions, not forecasts or guarantees.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is realized and linked as returned.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and ex ante bases are not directly interchangeable.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is not zero.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AI-assisted monitoring analysis;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Attribution Portfolio (TEST)</dc:title>
  <dc:subject>Portfolio Attribution Report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