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Sheet1!$A$2:$A$13</c:f>
              <c:strCache>
                <c:ptCount val="12"/>
                <c:pt idx="0">
                  <c:v>2025-07-31</c:v>
                </c:pt>
                <c:pt idx="1">
                  <c:v>2025-08-31</c:v>
                </c:pt>
                <c:pt idx="2">
                  <c:v>2025-09-30</c:v>
                </c:pt>
                <c:pt idx="3">
                  <c:v>2025-10-31</c:v>
                </c:pt>
                <c:pt idx="4">
                  <c:v>2025-11-30</c:v>
                </c:pt>
                <c:pt idx="5">
                  <c:v>2025-12-31</c:v>
                </c:pt>
                <c:pt idx="6">
                  <c:v>2026-01-31</c:v>
                </c:pt>
                <c:pt idx="7">
                  <c:v>2026-02-28</c:v>
                </c:pt>
                <c:pt idx="8">
                  <c:v>2026-03-31</c:v>
                </c:pt>
                <c:pt idx="9">
                  <c:v>2026-04-30</c:v>
                </c:pt>
                <c:pt idx="10">
                  <c:v>2026-05-31</c:v>
                </c:pt>
                <c:pt idx="11">
                  <c:v>2026-06-30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100.8</c:v>
                </c:pt>
                <c:pt idx="2">
                  <c:v>101.5</c:v>
                </c:pt>
                <c:pt idx="3">
                  <c:v>102.4</c:v>
                </c:pt>
                <c:pt idx="4">
                  <c:v>103.2</c:v>
                </c:pt>
                <c:pt idx="5">
                  <c:v>103.8</c:v>
                </c:pt>
                <c:pt idx="6">
                  <c:v>104.6</c:v>
                </c:pt>
                <c:pt idx="7">
                  <c:v>105.1</c:v>
                </c:pt>
                <c:pt idx="8">
                  <c:v>105.7</c:v>
                </c:pt>
                <c:pt idx="9">
                  <c:v>106.3</c:v>
                </c:pt>
                <c:pt idx="10">
                  <c:v>107.1</c:v>
                </c:pt>
                <c:pt idx="11">
                  <c:v>108.4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benchmark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Sheet1!$A$2:$A$13</c:f>
              <c:strCache>
                <c:ptCount val="12"/>
                <c:pt idx="0">
                  <c:v>2025-07-31</c:v>
                </c:pt>
                <c:pt idx="1">
                  <c:v>2025-08-31</c:v>
                </c:pt>
                <c:pt idx="2">
                  <c:v>2025-09-30</c:v>
                </c:pt>
                <c:pt idx="3">
                  <c:v>2025-10-31</c:v>
                </c:pt>
                <c:pt idx="4">
                  <c:v>2025-11-30</c:v>
                </c:pt>
                <c:pt idx="5">
                  <c:v>2025-12-31</c:v>
                </c:pt>
                <c:pt idx="6">
                  <c:v>2026-01-31</c:v>
                </c:pt>
                <c:pt idx="7">
                  <c:v>2026-02-28</c:v>
                </c:pt>
                <c:pt idx="8">
                  <c:v>2026-03-31</c:v>
                </c:pt>
                <c:pt idx="9">
                  <c:v>2026-04-30</c:v>
                </c:pt>
                <c:pt idx="10">
                  <c:v>2026-05-31</c:v>
                </c:pt>
                <c:pt idx="11">
                  <c:v>2026-06-30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100.0</c:v>
                </c:pt>
                <c:pt idx="1">
                  <c:v>100.9</c:v>
                </c:pt>
                <c:pt idx="2">
                  <c:v>101.7</c:v>
                </c:pt>
                <c:pt idx="3">
                  <c:v>102.7</c:v>
                </c:pt>
                <c:pt idx="4">
                  <c:v>103.5</c:v>
                </c:pt>
                <c:pt idx="5">
                  <c:v>104.1</c:v>
                </c:pt>
                <c:pt idx="6">
                  <c:v>105.0</c:v>
                </c:pt>
                <c:pt idx="7">
                  <c:v>105.5</c:v>
                </c:pt>
                <c:pt idx="8">
                  <c:v>106.1</c:v>
                </c:pt>
                <c:pt idx="9">
                  <c:v>106.8</c:v>
                </c:pt>
                <c:pt idx="10">
                  <c:v>107.7</c:v>
                </c:pt>
                <c:pt idx="11">
                  <c:v>109.0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0.0"/>
          <c:min val="10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  <c:majorUnit val="2.5"/>
      </c:valAx>
    </c:plotArea>
    <c:legend>
      <c:legendPos val="b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Sheet1!$A$2:$A$7</c:f>
              <c:strCache>
                <c:ptCount val="6"/>
                <c:pt idx="0">
                  <c:v>2026-01-31</c:v>
                </c:pt>
                <c:pt idx="1">
                  <c:v>2026-02-28</c:v>
                </c:pt>
                <c:pt idx="2">
                  <c:v>2026-03-31</c:v>
                </c:pt>
                <c:pt idx="3">
                  <c:v>2026-04-30</c:v>
                </c:pt>
                <c:pt idx="4">
                  <c:v>2026-05-31</c:v>
                </c:pt>
                <c:pt idx="5">
                  <c:v>2026-06-30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-0.2</c:v>
                </c:pt>
                <c:pt idx="1">
                  <c:v>-0.3</c:v>
                </c:pt>
                <c:pt idx="2">
                  <c:v>-0.3</c:v>
                </c:pt>
                <c:pt idx="3">
                  <c:v>-0.4</c:v>
                </c:pt>
                <c:pt idx="4">
                  <c:v>-0.5</c:v>
                </c:pt>
                <c:pt idx="5">
                  <c:v>-0.6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-0.2"/>
          <c:min val="-0.6000000000000001"/>
        </c:scaling>
        <c:delete val="0"/>
        <c:axPos val="l"/>
        <c:majorGridlines/>
        <c:numFmt formatCode="0.0&quot;pp&quot;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  <c:majorUnit val="0.1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Sheet1!$A$2:$A$6</c:f>
              <c:strCache>
                <c:ptCount val="5"/>
                <c:pt idx="0">
                  <c:v>2025-07-31</c:v>
                </c:pt>
                <c:pt idx="1">
                  <c:v>2025-10-31</c:v>
                </c:pt>
                <c:pt idx="2">
                  <c:v>2026-01-31</c:v>
                </c:pt>
                <c:pt idx="3">
                  <c:v>2026-04-30</c:v>
                </c:pt>
                <c:pt idx="4">
                  <c:v>2026-06-30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-0.8</c:v>
                </c:pt>
                <c:pt idx="2">
                  <c:v>-1.2</c:v>
                </c:pt>
                <c:pt idx="3">
                  <c:v>-0.4</c:v>
                </c:pt>
                <c:pt idx="4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benchmark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Sheet1!$A$2:$A$6</c:f>
              <c:strCache>
                <c:ptCount val="5"/>
                <c:pt idx="0">
                  <c:v>2025-07-31</c:v>
                </c:pt>
                <c:pt idx="1">
                  <c:v>2025-10-31</c:v>
                </c:pt>
                <c:pt idx="2">
                  <c:v>2026-01-31</c:v>
                </c:pt>
                <c:pt idx="3">
                  <c:v>2026-04-30</c:v>
                </c:pt>
                <c:pt idx="4">
                  <c:v>2026-06-30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-0.6</c:v>
                </c:pt>
                <c:pt idx="2">
                  <c:v>-0.9</c:v>
                </c:pt>
                <c:pt idx="3">
                  <c:v>-0.3</c:v>
                </c:pt>
                <c:pt idx="4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Sheet1!$A$2:$A$4</c:f>
              <c:strCache>
                <c:ptCount val="3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</c:v>
                </c:pt>
                <c:pt idx="1">
                  <c:v>0.0</c:v>
                </c:pt>
                <c:pt idx="2">
                  <c:v>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Sheet1!$A$2:$A$4</c:f>
              <c:strCache>
                <c:ptCount val="3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</c:v>
                </c:pt>
                <c:pt idx="1">
                  <c:v>0.8</c:v>
                </c:pt>
                <c:pt idx="2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FF6B5E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FF6B5E"/>
              </a:solidFill>
            </c:spPr>
          </c:dPt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Private assets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-0.6</c:v>
                </c:pt>
                <c:pt idx="1">
                  <c:v>0.3</c:v>
                </c:pt>
                <c:pt idx="2">
                  <c:v>-0.3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2025-07-31</c:v>
                </c:pt>
                <c:pt idx="1">
                  <c:v>2026-01-31</c:v>
                </c:pt>
                <c:pt idx="2">
                  <c:v>2026-05-31</c:v>
                </c:pt>
                <c:pt idx="3">
                  <c:v>2026-06-30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Selection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2025-07-31</c:v>
                </c:pt>
                <c:pt idx="1">
                  <c:v>2026-01-31</c:v>
                </c:pt>
                <c:pt idx="2">
                  <c:v>2026-05-31</c:v>
                </c:pt>
                <c:pt idx="3">
                  <c:v>2026-06-30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-0.1</c:v>
                </c:pt>
                <c:pt idx="1">
                  <c:v>-0.3</c:v>
                </c:pt>
                <c:pt idx="2">
                  <c:v>-0.6</c:v>
                </c:pt>
                <c:pt idx="3">
                  <c:v>-0.8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Interaction</c:v>
                </c:pt>
              </c:strCache>
            </c:strRef>
          </c:tx>
          <c:spPr>
            <a:ln w="22860">
              <a:solidFill>
                <a:srgbClr val="F2A93B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2025-07-31</c:v>
                </c:pt>
                <c:pt idx="1">
                  <c:v>2026-01-31</c:v>
                </c:pt>
                <c:pt idx="2">
                  <c:v>2026-05-31</c:v>
                </c:pt>
                <c:pt idx="3">
                  <c:v>2026-06-30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0.1</c:v>
                </c:pt>
                <c:pt idx="3">
                  <c:v>0.1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2860">
              <a:solidFill>
                <a:srgbClr val="5B8DEF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2025-07-31</c:v>
                </c:pt>
                <c:pt idx="1">
                  <c:v>2026-01-31</c:v>
                </c:pt>
                <c:pt idx="2">
                  <c:v>2026-05-31</c:v>
                </c:pt>
                <c:pt idx="3">
                  <c:v>2026-06-30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-0.1</c:v>
                </c:pt>
                <c:pt idx="1">
                  <c:v>-0.2</c:v>
                </c:pt>
                <c:pt idx="2">
                  <c:v>-0.4</c:v>
                </c:pt>
                <c:pt idx="3">
                  <c:v>-0.6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&quot;pp&quot;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26%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30%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44%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Private assets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26.0</c:v>
                </c:pt>
                <c:pt idx="1">
                  <c:v>30.0</c:v>
                </c:pt>
                <c:pt idx="2">
                  <c:v>44.0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FF6B5E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FF6B5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-50%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+25%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-25%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Private assets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-50.0</c:v>
                </c:pt>
                <c:pt idx="1">
                  <c:v>25.0</c:v>
                </c:pt>
                <c:pt idx="2">
                  <c:v>-25.0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Selection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2025-07-31</c:v>
                </c:pt>
                <c:pt idx="1">
                  <c:v>2026-01-31</c:v>
                </c:pt>
                <c:pt idx="2">
                  <c:v>2026-05-31</c:v>
                </c:pt>
                <c:pt idx="3">
                  <c:v>2026-06-30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-0.1</c:v>
                </c:pt>
                <c:pt idx="1">
                  <c:v>-0.2</c:v>
                </c:pt>
                <c:pt idx="2">
                  <c:v>-0.3</c:v>
                </c:pt>
                <c:pt idx="3">
                  <c:v>-0.4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&quot;pp&quot;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FF6B5E"/>
              </a:solidFill>
            </c:spPr>
          </c:dPt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Private assets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-0.2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FF6B5E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FF6B5E"/>
              </a:solidFill>
            </c:spPr>
          </c:dPt>
          <c:dPt>
            <c:idx val="5"/>
            <c:spPr>
              <a:solidFill>
                <a:srgbClr val="FF6B5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-0.6pp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+0.3pp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+0.3pp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/>
                      <a:t>+0.3pp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/>
                      <a:t>-0.3pp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800"/>
                      <a:t>-0.2pp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Public equity · Historical</c:v>
                </c:pt>
                <c:pt idx="1">
                  <c:v>Public equity · Ex ante</c:v>
                </c:pt>
                <c:pt idx="2">
                  <c:v>Fixed income · Historical</c:v>
                </c:pt>
                <c:pt idx="3">
                  <c:v>Fixed income · Ex ante</c:v>
                </c:pt>
                <c:pt idx="4">
                  <c:v>Private assets · Historical</c:v>
                </c:pt>
                <c:pt idx="5">
                  <c:v>Private assets · Ex ante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-0.6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-0.3</c:v>
                </c:pt>
                <c:pt idx="5">
                  <c:v>-0.2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Relative returns trailed recently</a:t>
            </a:r>
          </a:p>
          <a:p>
            <a:r>
              <a:t>Observation: The portfolio trailed over all three periods: QTD, YTD and 1Y [S3]. Why it matters: The pattern establishes context for attribution results. Uncertainty: Aggregate return coverage does not identify causal effects. What would change the view: A later full-period report showing sustained positive excess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Equity selection drove detractor</a:t>
            </a:r>
          </a:p>
          <a:p>
            <a:r>
              <a:t>Observation: Public-equity selection is the largest detractor, and resolved managers have one open finding [S4][S6]. Why it matters: Effect and diligence evidence concentrate oversight there. Uncertainty: The balanced-regime model is contextual and not causal [S7]. What would change the view: Closed findings or refreshed results identifying another leading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Assumption lineage remains incomplete</a:t>
            </a:r>
          </a:p>
          <a:p>
            <a:r>
              <a:t>Observation: Ex ante active return is +0.4pp, but no assumption set or regime is linked [S5]. Why it matters: Persisted inputs cannot be tied to a named release. Uncertainty: Input dates may differ by segment. What would change the view: A named release and regime record linked to every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Public equity changes sign</a:t>
            </a:r>
          </a:p>
          <a:p>
            <a:r>
              <a:t>Observation: Public equity is -0.6pp historically and +0.3pp ex ante [S4][S5]. Why it matters: The sign change separates experience from expectations. Uncertainty: The lanes use different periods and weight bases. What would change the view: Refreshed persisted results on the intended policy basis.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PORTFOLIO ATTRIBUTION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Total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Historical and forward-looking attribution · prepared for the Investment Committee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HISTORICAL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2025-07-31 to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FORWARD VIEW AS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BASE CURRENCY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USD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BENCHMARK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AND ASSUMPTION-BASED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Attribution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99032"/>
            <a:ext cx="73152" cy="1031503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96112" y="1371600"/>
            <a:ext cx="10588752" cy="68312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and forward views reconcile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3415"/>
            <a:ext cx="10908792" cy="16544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2613415"/>
            <a:ext cx="54864" cy="165445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272314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Attribution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006607"/>
            <a:ext cx="10616184" cy="11698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portfolio's realized active return was -0.6pp, led by a -0.8pp public-equity selection effect [S4]. Governed ex ante attribution is +0.4pp on persisted one-year expected returns, with fixed-income selection the largest positive effect [S5]. Both lanes reconcile within their returned tolerance, but their realized linked and single-period expected bases are not interchangeable [S4][S5].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77595"/>
            <a:ext cx="2644902" cy="184032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4377595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49808" y="4505611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ACTIVE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761643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-0.6pp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12 months to 2026-06-30 [S4]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4710" y="4377595"/>
            <a:ext cx="2644902" cy="184032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3394710" y="4377595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504438" y="4505611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LARGEST HISTORICAL 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438" y="4761643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-0.8pp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443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Public equity selection [S4]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4377595"/>
            <a:ext cx="2644902" cy="184032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6149340" y="4377595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259068" y="4505611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 ANTE ACTIVE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068" y="4761643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+0.4pp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906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One-year expected basis [S5]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03970" y="4377595"/>
            <a:ext cx="2644902" cy="184032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Rectangle 29"/>
          <p:cNvSpPr/>
          <p:nvPr/>
        </p:nvSpPr>
        <p:spPr>
          <a:xfrm>
            <a:off x="8903970" y="4377595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9013698" y="4505611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LARGEST SUB-ALLOCATION EFFECT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3698" y="4761643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-0.4pp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369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US equity cumulative selection [S4]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AND ASSUMPTION-BASED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Attribution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AT A GLANCE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841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0695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Evidence-based 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069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result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 return was -0.6pp; public-equity selection was the largest negative effect [S4].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69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 ante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active return is +0.4pp; fixed-income selection is the largest positive effect [S5].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69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Reconciliation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Both total effects reconcile to their returned active return within tolerance [S4][S5].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69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 ante effects use persisted base-currency expected returns and current cohort weights [S5].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Assumption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696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required sample sources are available [S1][S2][S3][S4][S5].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551669"/>
            <a:ext cx="10908792" cy="70535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551669"/>
            <a:ext cx="54864" cy="70535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66139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94486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This is a monitoring analysis, not an investment recommendation or forecast. Ex ante expected returns and effects are assumptions, not guarantees.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66751"/>
            <a:ext cx="10908792" cy="87072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4366751"/>
            <a:ext cx="54864" cy="870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447647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Reconciliation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759943"/>
            <a:ext cx="10616184" cy="3860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two attribution lanes, historical and ex ante, both reconcile [S1]. Why it matters: Both lanes give one consistent explanation of active return. Uncertainty: Ex ante effects depend on capital market assumptions. What would change the view: A refreshed assumption set that moves either lane by 0.1pp.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47199"/>
            <a:ext cx="10908792" cy="87072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40080" y="5347199"/>
            <a:ext cx="54864" cy="870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04671" y="545692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Active 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740391"/>
            <a:ext cx="10616184" cy="3860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Historical active return was -0.6pp over the period [S2]. Why it matters: It is the shortfall that the attribution effects explain. Uncertainty: Benchmark returns use the policy weights in force each month. What would change the view: A restated benchmark history that moves active return by 0.1pp or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AND ASSUMPTION-BASED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Attribution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US equity cumulative selection is the largest sub-allocation effect at -0.4pp [S4]. Why it matters: The depth-1 result identifies where the root detractor is concentrated. Uncertainty: The rerun covers only returned child allocations. What would change the view: A refreshed depth-1 result identifying another leading sub-allocation.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TWO ATTRIBUTION LANES USE DIFFERENT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Benchmark and Data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3475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Total Fund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2025-07-31 to 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Parent cohort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Root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role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 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basis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 total returns; beginning-of-period weights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3439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 ante 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One-year expected returns; current normalized cohort weights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9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910754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METHOD BOUNDARY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5185074"/>
          <a:ext cx="10908790" cy="1032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4428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Lane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Weights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 / linking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4428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Beginning of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Realized total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 monthly periods / symmetric Carino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realized_brinson_fachler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428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 ante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actual and persisted policy weights, normalized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Annualized expected return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One expected period / no linker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1.0.0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S4 · S5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OBSERVED PERFORMANCE PROVIDES CONTEXT, NOT CAUSAL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Returns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GROWTH OF 100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ROLLING 12-MONTH EXCESS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OBSERVED PERFORMANCE PROVIDES CONTEXT, NOT CAUSAL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Returns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DRAWDOWN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OBSERVED PERFORMANCE PROVIDES CONTEXT, NOT CAUSAL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Returns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STANDARD PERIODS TO 2026-06-30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745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4910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4910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QTD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910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YTD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4.6%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910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910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3Y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363998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Returned labels, annualization and coverage are preserved [S3].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56606"/>
            <a:ext cx="10908792" cy="156131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4656606"/>
            <a:ext cx="54864" cy="156131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476633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Relative returns trailed recently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049798"/>
            <a:ext cx="10616184" cy="107668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portfolio trailed over all three periods: QTD, YTD and 1Y [S3]. Why it matters: The pattern establishes context for attribution results. Uncertainty: Aggregate return coverage does…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ALLOCATION → SELECTION → INTERACTION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RECONCILIATION AND METHOD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756"/>
                <a:gridCol w="2619756"/>
              </a:tblGrid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Active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-0.6pp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effects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-0.6pp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Realized Brinson-Fachler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Symmetric Carino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SEGMENT TOTAL EFFECTS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CUMULATIVE LINKED EFFECTS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SEGMENT × MONTH LINKED TOTAL EFFECT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58"/>
                <a:gridCol w="2181758"/>
                <a:gridCol w="2181758"/>
                <a:gridCol w="2181758"/>
                <a:gridCol w="2181760"/>
              </a:tblGrid>
              <a:tr h="115443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Jul 2025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Jan 2026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May 2026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Jun 2026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-0.2</a:t>
                      </a:r>
                    </a:p>
                  </a:txBody>
                  <a:tcPr marL="54864" marR="54864" marT="27432" marB="27432" anchor="ctr">
                    <a:solidFill>
                      <a:srgbClr val="E9F6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-0.2</a:t>
                      </a:r>
                    </a:p>
                  </a:txBody>
                  <a:tcPr marL="54864" marR="54864" marT="27432" marB="27432" anchor="ctr">
                    <a:solidFill>
                      <a:srgbClr val="E9F6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D2F5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D2F5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D2F56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CONTRIBUTION TO TRACKING ERROR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RETURN EFFECT SHARE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CUMULATIVE SELECTION INSIDE US EQUITY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REALIZED BRINSON-FACHLER EFFECTS WITH SYMMETRIC-CARINO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TOTAL EFFECTS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75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5026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502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02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-0.8pp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02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02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461248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SEGMENT EFFECTS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735568"/>
          <a:ext cx="10908792" cy="1189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29739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9739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-0.8pp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739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739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4943424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Rows are returned effects and are not recalculated [S4].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236032"/>
            <a:ext cx="10908792" cy="98188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5236032"/>
            <a:ext cx="54864" cy="98188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534576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Equity selection drove detractor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5629224"/>
            <a:ext cx="10616184" cy="49725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Public-equity selection is the largest detractor, and resolved managers have one open finding [S4][S6]. Why it matters: Effect and diligence evidence concentrate oversight there. Uncertainty: The balanced-regime…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S6 · S7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SINGLE-PERIOD EXPECTED EFFECTS FROM PERSISTED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Governed Ex Ante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EX ANTE SEGMENT TOTAL EFFECTS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SINGLE-PERIOD EXPECTED EFFECTS FROM PERSISTED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Governed Ex Ante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EXPECTED RETURN BY SEGMENT</a:t>
            </a:r>
          </a:p>
        </p:txBody>
      </p:sp>
      <p:sp>
        <p:nvSpPr>
          <p:cNvPr id="9" name="Oval 8"/>
          <p:cNvSpPr/>
          <p:nvPr/>
        </p:nvSpPr>
        <p:spPr>
          <a:xfrm>
            <a:off x="2194560" y="1636776"/>
            <a:ext cx="91440" cy="91440"/>
          </a:xfrm>
          <a:prstGeom prst="ellipse">
            <a:avLst/>
          </a:prstGeom>
          <a:solidFill>
            <a:srgbClr val="52606D"/>
          </a:solidFill>
          <a:ln>
            <a:solidFill>
              <a:srgbClr val="52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322576" y="1600200"/>
            <a:ext cx="5943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Portfolio</a:t>
            </a:r>
          </a:p>
        </p:txBody>
      </p:sp>
      <p:sp>
        <p:nvSpPr>
          <p:cNvPr id="11" name="Oval 10"/>
          <p:cNvSpPr/>
          <p:nvPr/>
        </p:nvSpPr>
        <p:spPr>
          <a:xfrm>
            <a:off x="3035808" y="1636776"/>
            <a:ext cx="91440" cy="91440"/>
          </a:xfrm>
          <a:prstGeom prst="ellipse">
            <a:avLst/>
          </a:prstGeom>
          <a:solidFill>
            <a:srgbClr val="A8D830"/>
          </a:solidFill>
          <a:ln>
            <a:solidFill>
              <a:srgbClr val="A8D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163824" y="1600200"/>
            <a:ext cx="950976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92807"/>
            <a:ext cx="1463039" cy="8875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Public equity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392070"/>
            <a:ext cx="821131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8816585" y="2382926"/>
            <a:ext cx="264881" cy="18288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Oval 15"/>
          <p:cNvSpPr/>
          <p:nvPr/>
        </p:nvSpPr>
        <p:spPr>
          <a:xfrm>
            <a:off x="9031174" y="2341778"/>
            <a:ext cx="100584" cy="100584"/>
          </a:xfrm>
          <a:prstGeom prst="ellipse">
            <a:avLst/>
          </a:prstGeom>
          <a:solidFill>
            <a:srgbClr val="5260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8766293" y="2341778"/>
            <a:ext cx="100584" cy="100584"/>
          </a:xfrm>
          <a:prstGeom prst="ellipse">
            <a:avLst/>
          </a:prstGeom>
          <a:solidFill>
            <a:srgbClr val="A8D8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479024" y="1892807"/>
            <a:ext cx="1069848" cy="8875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Active expected return -0.3%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02280"/>
            <a:ext cx="1463039" cy="8875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Fixed income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501542"/>
            <a:ext cx="821131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5814600" y="3492398"/>
            <a:ext cx="618055" cy="18288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Oval 21"/>
          <p:cNvSpPr/>
          <p:nvPr/>
        </p:nvSpPr>
        <p:spPr>
          <a:xfrm>
            <a:off x="6382364" y="3451250"/>
            <a:ext cx="100584" cy="100584"/>
          </a:xfrm>
          <a:prstGeom prst="ellipse">
            <a:avLst/>
          </a:prstGeom>
          <a:solidFill>
            <a:srgbClr val="5260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5764308" y="3451250"/>
            <a:ext cx="100584" cy="100584"/>
          </a:xfrm>
          <a:prstGeom prst="ellipse">
            <a:avLst/>
          </a:prstGeom>
          <a:solidFill>
            <a:srgbClr val="A8D8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479024" y="3002280"/>
            <a:ext cx="1069848" cy="8875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Active expected return -0.7%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1751"/>
            <a:ext cx="1463039" cy="8875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Private assets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4611014"/>
            <a:ext cx="821131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9258054" y="4601870"/>
            <a:ext cx="1147817" cy="18288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Oval 27"/>
          <p:cNvSpPr/>
          <p:nvPr/>
        </p:nvSpPr>
        <p:spPr>
          <a:xfrm>
            <a:off x="9207762" y="4560722"/>
            <a:ext cx="100584" cy="100584"/>
          </a:xfrm>
          <a:prstGeom prst="ellipse">
            <a:avLst/>
          </a:prstGeom>
          <a:solidFill>
            <a:srgbClr val="5260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10355580" y="4560722"/>
            <a:ext cx="100584" cy="100584"/>
          </a:xfrm>
          <a:prstGeom prst="ellipse">
            <a:avLst/>
          </a:prstGeom>
          <a:solidFill>
            <a:srgbClr val="A8D8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479024" y="4111751"/>
            <a:ext cx="1069848" cy="8875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Active expected return +1.3%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221223"/>
            <a:ext cx="54864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5221223"/>
            <a:ext cx="54864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532120"/>
            <a:ext cx="10908792" cy="68580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640080" y="5532120"/>
            <a:ext cx="54864" cy="68580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804671" y="564184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Assumptions, not forecasts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" y="592531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one-year expected returns and resulting effects are assumptions, not forecasts or guarantees [S5].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SINGLE-PERIOD EXPECTED EFFECTS FROM PERSISTED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Governed Ex Ante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 ANTE TOTAL EFFECTS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 ANTE RECONCILIATION AND METHOD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756"/>
                <a:gridCol w="2619756"/>
              </a:tblGrid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active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+0.4pp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effects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+0.4pp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/ 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Brinson-Fachler / 1.0.0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 / 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One year / none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 and benchmark expected return base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 set / 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linked / Not linked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SINGLE-PERIOD EXPECTED EFFECTS FROM PERSISTED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Governed Ex Ante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 ANTE SEGMENT EFFECTS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760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69020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wt.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wt.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exp.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exp.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90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020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9020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379305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Inputs and effects are returned by the governed ex ante contract [S5].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71913"/>
            <a:ext cx="10908792" cy="154600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4671913"/>
            <a:ext cx="54864" cy="154600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478164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Assumption lineage remains incomplete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065105"/>
            <a:ext cx="10616184" cy="106137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Ex ante active return is +0.4pp, but no assumption set or regime is linked [S5]. Why it matters: Persisted inputs cannot be tied to a named release…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DIRECTIONAL COMPARISON WITH EXPLICIT BASIS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Historical-versus-Ex-Ante Scope and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8465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84658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Basis 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3619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effects use realized monthly observations and symmetric-Carino linking; ex ante effects use current normalized cohort weights and one expected period. The values are not directly interchangeable [S4][S5].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219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VS EX ANTE SEGMENT EFFECTS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" y="2556510"/>
          <a:ext cx="10908792" cy="366141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DIRECTIONAL COMPARISON WITH EXPLICIT BASIS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Historical-versus-Ex-Ante Scope and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SIGN AGREEMENT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3563112" cy="12849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356311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49808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PUBLIC EQUITY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984248"/>
            <a:ext cx="3343655" cy="44972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Changed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55956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− · ex ante + [S4][S5]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920" y="1600200"/>
            <a:ext cx="3563112" cy="12849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4312920" y="1600200"/>
            <a:ext cx="356311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422648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FIXED INCOME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648" y="1984248"/>
            <a:ext cx="3343655" cy="44972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Same 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648" y="2555956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+ · ex ante + [S4][S5]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59" y="1600200"/>
            <a:ext cx="3563112" cy="12849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7985759" y="1600200"/>
            <a:ext cx="356311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095487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PRIVATE 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5487" y="1984248"/>
            <a:ext cx="3343655" cy="44972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Same 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5487" y="2555956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 − · ex ante − [S4][S5]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994868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DIRECTIONAL COMPARISON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" y="3269188"/>
          <a:ext cx="10908792" cy="1684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210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total 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 ante total 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Direction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10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Public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Changed sign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Realized linked vs expected single period [S4][S5]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10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Same sign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Realized linked vs expected single period [S4][S5]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103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Same sign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Realized linked vs expected single period [S4][S5]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640080" y="5063027"/>
            <a:ext cx="10908792" cy="115489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640080" y="5063027"/>
            <a:ext cx="54864" cy="115489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804671" y="517275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Public equity changes 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5456219"/>
            <a:ext cx="10616184" cy="6702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Public equity is -0.6pp historically and +0.3pp ex ante [S4][S5]. Why it matters: The sign change separates experience from expectations. Uncertainty: The lanes use different periods and…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RECONCILIATION, COVERAGE AND MODEL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Diagnostics and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RESIDUAL TOLERANCE 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399532" cy="121529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539953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49808" y="1728216"/>
            <a:ext cx="518007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HISTORICAL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984248"/>
            <a:ext cx="5180076" cy="425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0.0 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86308"/>
            <a:ext cx="518007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Tolerance 0.000001 bp · ✓ [S4]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9340" y="1600200"/>
            <a:ext cx="5399532" cy="121529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149340" y="1600200"/>
            <a:ext cx="539953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259068" y="1728216"/>
            <a:ext cx="518007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 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9068" y="1984248"/>
            <a:ext cx="5180076" cy="425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0.0 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2486308"/>
            <a:ext cx="518007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Tolerance 0.000001 bp · ✓ [S5]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2522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RECONCILIATION DIAGNOSTICS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" y="3199540"/>
          <a:ext cx="10908790" cy="1191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9715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Lane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Within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Warnings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715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0.0bp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0.00000001pp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Yes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None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715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 ante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0.0bp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0.00000001pp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Yes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 set and regime IDs are null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4500727"/>
            <a:ext cx="10908792" cy="17171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Historical effects cover 12 complete monthly observations and use returned symmetric-Carino linking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Ex ante effects use current actual and persisted policy benchmark weights normalized within the root sibling cohort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Persisted expected returns are in USD; currency effects are not separately included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Assumption-set and regime identities are not attached to the persisted expectations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Missing evidence would remain unavailable rather than being treated as zero.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AVAILABILITY OF EVERY EXPECTED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115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Analytics live sample access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Root cohort; three segments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returns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through 2026-06-30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 monthly periods; governed result available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ex ante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One-year expected basis; governed result available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Largest-detractor manager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One open finding for resolved public-equity managers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 regime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Balanced regime context for the historical period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8635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 (tool metadata)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root cohort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returns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get_portfolio_historical_returns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ex ante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get_portfolio_ex_ante_attribution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Largest-detractor manager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get_manager_diligence_findings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35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 regime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get_macro_signals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 AUDIT TRAIL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5206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detail=full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applicable — tool metadata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view=allocation_tree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sha256:2222222222222222222222222222222222222222222222222222222222222222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five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sha256:3333333333333333333333333333333333333333333333333333333333333333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policy; root; all sections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sha256:4444444444444444444444444444444444444444444444444444444444444444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policy; root; 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sha256:5555555555555555555555555555555555555555555555555555555555555555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view=open; public-equity managers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sha256:6666666666666666666666666666666666666666666666666666666666666666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520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view=gradient_signal; regime_state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sha256:7777777777777777777777777777777777777777777777777777777777777777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scope for every source: Illustrative sample data. Each digest is the SHA-256 fingerprint of the exact data the report used.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Server Metric Methods and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1308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Lane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Allocation, selection, 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Realized Brinson-Fachler, Carino-linked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governed-portfolio-attribution-v1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Monthly; decimal; 1e-10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 ante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Allocation, selection, interaction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Brinson-Fachler, one period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1.0.0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Annualized; decimal; 1e-10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returns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Growth, rolling excess, 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Indexed growth, rolling excess, peak-to-trough 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governed-historical-returns-v1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Monthly; index and percent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active risk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Tracking-error contribution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 share of total active risk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governed-portfolio-attribution-v1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Annualized; share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periods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Linked monthly and cumulative effects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Carino-linked period and segment effects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governed-portfolio-attribution-v1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Percentage points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drill-down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 sub-allocation 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Depth-1 period selection effects, as returned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governed-portfolio-attribution-v1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Cumulative percentage points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 ante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 by segment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returns on actual and policy weights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Annualized; percent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 effects and sign agreement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Historical and ex ante effects side by side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report-contract-v1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Percentage points; not rebased [S4][S5]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Server Metric Methods and Disclosures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Ex ante returns and effects are assumptions, not forecasts or guarantees; historical attribution is realized, so the two bases are not interchangeable.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Missing evidence is not zero.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AI-assisted monitoring analysis; not investment, legal or compliance advice.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 historical; 2026-10-08 ex 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Total Fund</dc:title>
  <dc:subject>Portfolio Attribution Report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