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Sheet1!$A$2:$A$13</c:f>
              <c:strCache>
                <c:ptCount val="12"/>
                <c:pt idx="0">
                  <c:v>2025-07-31</c:v>
                </c:pt>
                <c:pt idx="1">
                  <c:v>2025-08-31</c:v>
                </c:pt>
                <c:pt idx="2">
                  <c:v>2025-09-30</c:v>
                </c:pt>
                <c:pt idx="3">
                  <c:v>2025-10-31</c:v>
                </c:pt>
                <c:pt idx="4">
                  <c:v>2025-11-30</c:v>
                </c:pt>
                <c:pt idx="5">
                  <c:v>2025-12-31</c:v>
                </c:pt>
                <c:pt idx="6">
                  <c:v>2026-01-31</c:v>
                </c:pt>
                <c:pt idx="7">
                  <c:v>2026-02-28</c:v>
                </c:pt>
                <c:pt idx="8">
                  <c:v>2026-03-31</c:v>
                </c:pt>
                <c:pt idx="9">
                  <c:v>2026-04-30</c:v>
                </c:pt>
                <c:pt idx="10">
                  <c:v>2026-05-31</c:v>
                </c:pt>
                <c:pt idx="11">
                  <c:v>2026-06-30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100.8</c:v>
                </c:pt>
                <c:pt idx="2">
                  <c:v>101.5</c:v>
                </c:pt>
                <c:pt idx="3">
                  <c:v>102.4</c:v>
                </c:pt>
                <c:pt idx="4">
                  <c:v>103.2</c:v>
                </c:pt>
                <c:pt idx="5">
                  <c:v>103.8</c:v>
                </c:pt>
                <c:pt idx="6">
                  <c:v>104.6</c:v>
                </c:pt>
                <c:pt idx="7">
                  <c:v>105.1</c:v>
                </c:pt>
                <c:pt idx="8">
                  <c:v>105.7</c:v>
                </c:pt>
                <c:pt idx="9">
                  <c:v>106.3</c:v>
                </c:pt>
                <c:pt idx="10">
                  <c:v>107.1</c:v>
                </c:pt>
                <c:pt idx="11">
                  <c:v>108.4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Sheet1!$A$2:$A$13</c:f>
              <c:strCache>
                <c:ptCount val="12"/>
                <c:pt idx="0">
                  <c:v>2025-07-31</c:v>
                </c:pt>
                <c:pt idx="1">
                  <c:v>2025-08-31</c:v>
                </c:pt>
                <c:pt idx="2">
                  <c:v>2025-09-30</c:v>
                </c:pt>
                <c:pt idx="3">
                  <c:v>2025-10-31</c:v>
                </c:pt>
                <c:pt idx="4">
                  <c:v>2025-11-30</c:v>
                </c:pt>
                <c:pt idx="5">
                  <c:v>2025-12-31</c:v>
                </c:pt>
                <c:pt idx="6">
                  <c:v>2026-01-31</c:v>
                </c:pt>
                <c:pt idx="7">
                  <c:v>2026-02-28</c:v>
                </c:pt>
                <c:pt idx="8">
                  <c:v>2026-03-31</c:v>
                </c:pt>
                <c:pt idx="9">
                  <c:v>2026-04-30</c:v>
                </c:pt>
                <c:pt idx="10">
                  <c:v>2026-05-31</c:v>
                </c:pt>
                <c:pt idx="11">
                  <c:v>2026-06-30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100.0</c:v>
                </c:pt>
                <c:pt idx="1">
                  <c:v>100.9</c:v>
                </c:pt>
                <c:pt idx="2">
                  <c:v>101.7</c:v>
                </c:pt>
                <c:pt idx="3">
                  <c:v>102.7</c:v>
                </c:pt>
                <c:pt idx="4">
                  <c:v>103.5</c:v>
                </c:pt>
                <c:pt idx="5">
                  <c:v>104.1</c:v>
                </c:pt>
                <c:pt idx="6">
                  <c:v>105.0</c:v>
                </c:pt>
                <c:pt idx="7">
                  <c:v>105.5</c:v>
                </c:pt>
                <c:pt idx="8">
                  <c:v>106.1</c:v>
                </c:pt>
                <c:pt idx="9">
                  <c:v>106.8</c:v>
                </c:pt>
                <c:pt idx="10">
                  <c:v>107.7</c:v>
                </c:pt>
                <c:pt idx="11">
                  <c:v>109.0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Excess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2026-01-31</c:v>
                </c:pt>
                <c:pt idx="1">
                  <c:v>2026-02-28</c:v>
                </c:pt>
                <c:pt idx="2">
                  <c:v>2026-03-31</c:v>
                </c:pt>
                <c:pt idx="3">
                  <c:v>2026-04-30</c:v>
                </c:pt>
                <c:pt idx="4">
                  <c:v>2026-05-31</c:v>
                </c:pt>
                <c:pt idx="5">
                  <c:v>2026-06-30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-0.2</c:v>
                </c:pt>
                <c:pt idx="1">
                  <c:v>-0.3</c:v>
                </c:pt>
                <c:pt idx="2">
                  <c:v>-0.3</c:v>
                </c:pt>
                <c:pt idx="3">
                  <c:v>-0.4</c:v>
                </c:pt>
                <c:pt idx="4">
                  <c:v>-0.5</c:v>
                </c:pt>
                <c:pt idx="5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-0.8</c:v>
                </c:pt>
                <c:pt idx="2">
                  <c:v>-1.2</c:v>
                </c:pt>
                <c:pt idx="3">
                  <c:v>-0.4</c:v>
                </c:pt>
                <c:pt idx="4">
                  <c:v>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-0.6</c:v>
                </c:pt>
                <c:pt idx="2">
                  <c:v>-0.9</c:v>
                </c:pt>
                <c:pt idx="3">
                  <c:v>-0.3</c:v>
                </c:pt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</c:v>
                </c:pt>
                <c:pt idx="1">
                  <c:v>0.0</c:v>
                </c:pt>
                <c:pt idx="2">
                  <c:v>0.1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0.8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0.3</c:v>
                </c:pt>
                <c:pt idx="2">
                  <c:v>-0.3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-0.1</c:v>
                </c:pt>
                <c:pt idx="1">
                  <c:v>-0.3</c:v>
                </c:pt>
                <c:pt idx="2">
                  <c:v>-0.6</c:v>
                </c:pt>
                <c:pt idx="3">
                  <c:v>-0.8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0.1</c:v>
                </c:pt>
                <c:pt idx="3">
                  <c:v>0.1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2860">
              <a:solidFill>
                <a:srgbClr val="5B8DEF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-0.1</c:v>
                </c:pt>
                <c:pt idx="1">
                  <c:v>-0.2</c:v>
                </c:pt>
                <c:pt idx="2">
                  <c:v>-0.4</c:v>
                </c:pt>
                <c:pt idx="3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26%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30%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44%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26.0</c:v>
                </c:pt>
                <c:pt idx="1">
                  <c:v>30.0</c:v>
                </c:pt>
                <c:pt idx="2">
                  <c:v>44.0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-50%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+25%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-25%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-50.0</c:v>
                </c:pt>
                <c:pt idx="1">
                  <c:v>25.0</c:v>
                </c:pt>
                <c:pt idx="2">
                  <c:v>-25.0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-0.1</c:v>
                </c:pt>
                <c:pt idx="1">
                  <c:v>-0.2</c:v>
                </c:pt>
                <c:pt idx="2">
                  <c:v>-0.3</c:v>
                </c:pt>
                <c:pt idx="3">
                  <c:v>-0.4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Pt>
            <c:idx val="5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-0.6pp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-0.2pp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Public equity · Historical</c:v>
                </c:pt>
                <c:pt idx="1">
                  <c:v>Public equity · Ex ante</c:v>
                </c:pt>
                <c:pt idx="2">
                  <c:v>Fixed income · Historical</c:v>
                </c:pt>
                <c:pt idx="3">
                  <c:v>Fixed income · Ex ante</c:v>
                </c:pt>
                <c:pt idx="4">
                  <c:v>Private assets · Historical</c:v>
                </c:pt>
                <c:pt idx="5">
                  <c:v>Private assets · Ex ante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-0.6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-0.3</c:v>
                </c:pt>
                <c:pt idx="5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returns trailed recently</a:t>
            </a:r>
          </a:p>
          <a:p>
            <a:r>
              <a:t>Observation: The portfolio trailed over all three periods: QTD, YTD and 1Y [S3]. Why it matters: The pattern establishes context for attribution results. Uncertainty: Aggregate return coverage does not identify causal effects. What would change the view: A later full-period report showing sustained positive excess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Equity selection drove detractor</a:t>
            </a:r>
          </a:p>
          <a:p>
            <a:r>
              <a:t>Observation: Public-equity selection is the largest detractor, and resolved managers have one open finding [S4][S6]. Why it matters: Effect and diligence evidence concentrate oversight there. Uncertainty: The balanced-regime model is contextual and not causal [S7]. What would change the view: Closed findings or refreshed results identifying another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lineage remains incomplete</a:t>
            </a:r>
          </a:p>
          <a:p>
            <a:r>
              <a:t>Observation: Ex ante active return is +0.4pp, but no assumption set or regime is linked [S5]. Why it matters: Persisted inputs cannot be tied to a named release. Uncertainty: Input dates may differ by segment. What would change the view: A named release and regime record linked to every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Public equity changes sign</a:t>
            </a:r>
          </a:p>
          <a:p>
            <a:r>
              <a:t>Observation: Public equity is -0.6pp historically and +0.3pp ex ante [S4][S5]. Why it matters: The sign change separates experience from expectations. Uncertainty: The lanes use different periods and weight bases. What would change the view: Refreshed persisted results on the intended policy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PORTFOLIO ATTRIBUTION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Historical and forward-looking attribution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HISTORICAL PERIOD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2025-07-31 to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FORWARD VIEW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905533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6100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and forward views reconcile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87445"/>
            <a:ext cx="10908792" cy="19772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487445"/>
            <a:ext cx="54864" cy="19772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59717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Attribution conclusion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880637"/>
            <a:ext cx="10616184" cy="14926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portfolio's realized active return was -0.6pp, led by a -0.8pp public-equity selection effect [S4]. Governed ex ante attribution is +0.4pp on persisted one-year expected returns, with fixed-income selection the largest positive effect [S5]. Both lanes reconcile within their returned tolerance, but their realized linked and single-period expected bases are not interchangeable [S4][S5].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74424"/>
            <a:ext cx="2644902" cy="16434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574424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70244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ACTIVE 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95847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12 months to 2026-06-30 [S4]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574424"/>
            <a:ext cx="2644902" cy="16434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574424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70244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HISTORICAL EFFECT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495847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-0.8pp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 equity selection [S4]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574424"/>
            <a:ext cx="2644902" cy="16434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57442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70244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ACTIVE RETURN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495847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+0.4pp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One-year expected basis [S5]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574424"/>
            <a:ext cx="2644902" cy="16434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574424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70244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SUB-ALLOCATION EFFECT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495847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-0.4pp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equity cumulative selection [S4]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904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6507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507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 was -0.6pp; public-equity selection was the largest negative effect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507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 is +0.4pp; fixed-income selection is the largest positive effect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507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Both total effects reconcile to their returned active return within tolerance 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507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effects use persisted base-currency expected returns and current cohort weights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Assumption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508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required sample sources are available [S1][S2][S3][S4][S5].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900406"/>
            <a:ext cx="10908792" cy="8763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900406"/>
            <a:ext cx="54864" cy="8763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01013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293598"/>
            <a:ext cx="10616184" cy="3917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is a monitoring analysis, not an investment recommendation or forecast. Ex ante expected returns and effects are assumptions, not guarantees.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86507"/>
            <a:ext cx="10908792" cy="13314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886507"/>
            <a:ext cx="54864" cy="133141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99623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Reconciliation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279699"/>
            <a:ext cx="10616184" cy="8467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two attribution lanes, historical and ex ante, both reconcile [S1]. Why it matters: Both lanes give one consistent explanation of active return. Uncertainty: Ex ante effects depend on capital market assumptions. What would change the view: A refreshed assumption set that moves either lane by 0.1pp.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29407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29407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Active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0943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Historical active return was -0.6pp over the period [S2]. Why it matters: It is the shortfall that the attribution effects explain. Uncertainty: Benchmark returns use the policy weights in force each month. What would change the view: A restated benchmark history that moves active return by 0.1pp or more.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29679"/>
            <a:ext cx="10908792" cy="24882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29679"/>
            <a:ext cx="54864" cy="24882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394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22871"/>
            <a:ext cx="10616184" cy="20036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US equity cumulative selection is the largest sub-allocation effect at -0.4pp [S4]. Why it matters: The depth-1 result identifies where the root detractor is concentrated. Uncertainty: The rerun covers only returned child allocations. What would change the view: A refreshed depth-1 result identifying another leading sub-allocation.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TWO ATTRIBUTION LANES USE DIFFERENT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34751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2025-07-31 to 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Parent cohort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total returns; beginning-of-period weights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returns; current normalized cohort weights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91075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185074"/>
          <a:ext cx="10908790" cy="103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442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Weights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2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Beginning of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total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 /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realized_brinson_fachler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428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actual and persisted policy weights, normalized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expected period / no linker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12-MONTH EXCESS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DRAWDOWN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42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844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4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04062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labels, annualization and coverage are preserved 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33236"/>
            <a:ext cx="10908792" cy="18846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333236"/>
            <a:ext cx="54864" cy="188468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4429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returns trailed recently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726428"/>
            <a:ext cx="10616184" cy="14000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trailed over all three periods: QTD, YTD and 1Y [S3]. Why it matters: The pattern establishes context for attribution results. Uncertainty: Aggregate return coverage does…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 → SELECTION → INTERACTION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RECONCILIATION AND METHOD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TOTAL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LINKED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× MONTH LINKED TOTAL EFFECT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Jul 2025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May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9F6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9F6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CONTRIBUTION TO TRACKING ERROR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EFFECT SHARE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SELECTION INSIDE US EQUITY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TOTAL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551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103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3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615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35868"/>
          <a:ext cx="10908792" cy="1025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563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6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6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35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57957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returned effects and are not recalculated [S4].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72180"/>
            <a:ext cx="10908792" cy="13457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872180"/>
            <a:ext cx="54864" cy="134573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9819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Equity selection drove detractor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265372"/>
            <a:ext cx="10616184" cy="8611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detractor, and resolved managers have one open finding [S4][S6]. Why it matters: Effect and diligence evidence concentrate oversight there. Uncertainty: The balanced-regime…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S6 · S7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EX ANTE SEGMENT TOTAL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 BY SEGMENT</a:t>
            </a:r>
          </a:p>
        </p:txBody>
      </p:sp>
      <p:sp>
        <p:nvSpPr>
          <p:cNvPr id="9" name="Oval 8"/>
          <p:cNvSpPr/>
          <p:nvPr/>
        </p:nvSpPr>
        <p:spPr>
          <a:xfrm>
            <a:off x="2194560" y="1636776"/>
            <a:ext cx="91440" cy="91440"/>
          </a:xfrm>
          <a:prstGeom prst="ellipse">
            <a:avLst/>
          </a:prstGeom>
          <a:solidFill>
            <a:srgbClr val="52606D"/>
          </a:solidFill>
          <a:ln>
            <a:solidFill>
              <a:srgbClr val="526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322576" y="1600200"/>
            <a:ext cx="5943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Portfolio</a:t>
            </a:r>
          </a:p>
        </p:txBody>
      </p:sp>
      <p:sp>
        <p:nvSpPr>
          <p:cNvPr id="11" name="Oval 10"/>
          <p:cNvSpPr/>
          <p:nvPr/>
        </p:nvSpPr>
        <p:spPr>
          <a:xfrm>
            <a:off x="3035808" y="1636776"/>
            <a:ext cx="91440" cy="91440"/>
          </a:xfrm>
          <a:prstGeom prst="ellipse">
            <a:avLst/>
          </a:prstGeom>
          <a:solidFill>
            <a:srgbClr val="A8D830"/>
          </a:solidFill>
          <a:ln>
            <a:solidFill>
              <a:srgbClr val="A8D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3163824" y="1600200"/>
            <a:ext cx="950976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892807"/>
            <a:ext cx="1463039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511399"/>
            <a:ext cx="821131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8816585" y="2502255"/>
            <a:ext cx="264881" cy="18288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9031174" y="2461107"/>
            <a:ext cx="100584" cy="100584"/>
          </a:xfrm>
          <a:prstGeom prst="ellipse">
            <a:avLst/>
          </a:prstGeom>
          <a:solidFill>
            <a:srgbClr val="52606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Oval 16"/>
          <p:cNvSpPr/>
          <p:nvPr/>
        </p:nvSpPr>
        <p:spPr>
          <a:xfrm>
            <a:off x="8766293" y="2461107"/>
            <a:ext cx="100584" cy="100584"/>
          </a:xfrm>
          <a:prstGeom prst="ellipse">
            <a:avLst/>
          </a:prstGeom>
          <a:solidFill>
            <a:srgbClr val="A8D83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10479024" y="1892807"/>
            <a:ext cx="1069848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expected return -0.3%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67456"/>
            <a:ext cx="1463039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3886047"/>
            <a:ext cx="821131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5814600" y="3876903"/>
            <a:ext cx="618055" cy="18288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Oval 21"/>
          <p:cNvSpPr/>
          <p:nvPr/>
        </p:nvSpPr>
        <p:spPr>
          <a:xfrm>
            <a:off x="6382364" y="3835755"/>
            <a:ext cx="100584" cy="100584"/>
          </a:xfrm>
          <a:prstGeom prst="ellipse">
            <a:avLst/>
          </a:prstGeom>
          <a:solidFill>
            <a:srgbClr val="52606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5764308" y="3835755"/>
            <a:ext cx="100584" cy="100584"/>
          </a:xfrm>
          <a:prstGeom prst="ellipse">
            <a:avLst/>
          </a:prstGeom>
          <a:solidFill>
            <a:srgbClr val="A8D83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10479024" y="3267456"/>
            <a:ext cx="1069848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expected return -0.7%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42104"/>
            <a:ext cx="1463039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94560" y="5260695"/>
            <a:ext cx="821131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9258054" y="5251551"/>
            <a:ext cx="1147817" cy="18288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Oval 27"/>
          <p:cNvSpPr/>
          <p:nvPr/>
        </p:nvSpPr>
        <p:spPr>
          <a:xfrm>
            <a:off x="9207762" y="5210403"/>
            <a:ext cx="100584" cy="100584"/>
          </a:xfrm>
          <a:prstGeom prst="ellipse">
            <a:avLst/>
          </a:prstGeom>
          <a:solidFill>
            <a:srgbClr val="52606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Oval 28"/>
          <p:cNvSpPr/>
          <p:nvPr/>
        </p:nvSpPr>
        <p:spPr>
          <a:xfrm>
            <a:off x="10355580" y="5210403"/>
            <a:ext cx="100584" cy="100584"/>
          </a:xfrm>
          <a:prstGeom prst="ellipse">
            <a:avLst/>
          </a:prstGeom>
          <a:solidFill>
            <a:srgbClr val="A8D83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10479024" y="4642104"/>
            <a:ext cx="1069848" cy="10997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expected return +1.3%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6016752"/>
            <a:ext cx="54864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016752"/>
            <a:ext cx="54864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9.3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Assumptions, not forecasts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one-year expected returns and resulting effects are assumptions, not forecasts or guarantees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TOTAL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RECONCILIATION AND METHOD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Brinson-Fachler / 1.0.0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year / none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benchmark expected return base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linked / Not linked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SEGMENT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96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741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4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4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416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91513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Inputs and effects are returned by the governed ex ante contract [S5].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07746"/>
            <a:ext cx="10908792" cy="20101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207746"/>
            <a:ext cx="54864" cy="201017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31747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lineage remains incomplete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600938"/>
            <a:ext cx="10616184" cy="15255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 ante active return is +0.4pp, but no assumption set or regime is linked [S5]. Why it matters: Persisted inputs cannot be tied to a named release…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Basis difference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effects use realized monthly observations and symmetric-Carino linking; ex ante effects use current normalized cohort weights and one expected period. The values are not directly interchangeable [S4][S5].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VS EX ANTE SEGMENT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SIGN AGREEMENT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11968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84248"/>
            <a:ext cx="3343655" cy="4189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Changed 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46791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− · ex ante + [S4][S5]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11968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1984248"/>
            <a:ext cx="3343655" cy="4189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Same 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246791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+ · ex ante + [S4][S5]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11968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1984248"/>
            <a:ext cx="3343655" cy="4189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Same 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246791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− · ex ante − [S4][S5]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90682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DIRECTIONAL COMPARISON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0080" y="3181144"/>
          <a:ext cx="10908792" cy="1573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933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33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Changed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3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33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640080" y="4864400"/>
            <a:ext cx="10908792" cy="13535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640080" y="4864400"/>
            <a:ext cx="54864" cy="135351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804671" y="497412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Public equity changes 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" y="5257592"/>
            <a:ext cx="10616184" cy="8688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 equity is -0.6pp historically and +0.3pp ex ante [S4][S5]. Why it matters: The sign change separates experience from expectations. Uncertainty: The lanes use different periods and…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RECONCILIATION, COVERAGE AND MODEL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Diagnostics and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RESIDUAL TOLERANCE CHECKS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5399532" cy="8868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539953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728216"/>
            <a:ext cx="518007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84248"/>
            <a:ext cx="5180076" cy="3104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 bp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157874"/>
            <a:ext cx="518007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Tolerance 0.000001 bp · ✓ [S4]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1600200"/>
            <a:ext cx="5399532" cy="8868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149340" y="1600200"/>
            <a:ext cx="539953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259068" y="1728216"/>
            <a:ext cx="518007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9068" y="1984248"/>
            <a:ext cx="5180076" cy="3104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 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2157874"/>
            <a:ext cx="518007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Tolerance 0.000001 bp · ✓ [S5]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59678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DIAGNOSTICS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" y="2871106"/>
          <a:ext cx="10908790" cy="86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894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Warnings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94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9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and regime IDs are null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080" y="3849114"/>
            <a:ext cx="10908792" cy="23688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effects cover 12 complete monthly observations and use returned symmetric-Carino linking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effects use current actual and persisted policy benchmark weights normalized within the root sibling cohort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Persisted expected returns are in USD; currency effects are not separately included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Assumption-set and regime identities are not attached to the persisted expectations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would remain unavailable rather than being treated as zero.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 OF EVERY EXPECTED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Analytics live sample access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cohort; three segments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through 2026-06-30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periods; governed result available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basis; governed result available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finding for resolved public-equity managers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regime context for the historical period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8635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 (tool metadata)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root cohort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get_portfolio_ex_ante_attribution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5206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detail=full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applicable — tool metadata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sha256:4444444444444444444444444444444444444444444444444444444444444444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sha256:5555555555555555555555555555555555555555555555555555555555555555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public-equity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sha256:6666666666666666666666666666666666666666666666666666666666666666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view=gradient_signal; regime_state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sha256:7777777777777777777777777777777777777777777777777777777777777777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1308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Brinson-Fachler, Carino-linked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Monthly; decimal; 1e-10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Brinson-Fachler, one period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Annualized; decimal; 1e-10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Growth, rolling excess,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Indexed growth, rolling excess, peak-to-trough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Monthly; index and percent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active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Tracking-error contribution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 share of total active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Annualized; share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monthly and cumulative effects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Carino-linked period and segment effects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 points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drill-down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sub-allocation 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Depth-1 period selection effects, as returned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Cumulative percentage points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 by segment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returns on actual and policy weights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Annualized; percent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 effects and sign agreement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and ex ante effects side by side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 points; not rebased [S4][S5]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returns and effects are assumptions, not forecasts or guarantees; historical attribution is realized, so the two bases are not interchangeable.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is not zero.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AI-assisted monitoring analysis; not investment, legal or compliance advice.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Total Fund</dc:title>
  <dc:subject>Portfolio Attribution Report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