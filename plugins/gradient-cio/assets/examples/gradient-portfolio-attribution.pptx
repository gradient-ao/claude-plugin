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100.8</c:v>
                </c:pt>
                <c:pt idx="2">
                  <c:v>101.5</c:v>
                </c:pt>
                <c:pt idx="3">
                  <c:v>102.4</c:v>
                </c:pt>
                <c:pt idx="4">
                  <c:v>103.2</c:v>
                </c:pt>
                <c:pt idx="5">
                  <c:v>103.8</c:v>
                </c:pt>
                <c:pt idx="6">
                  <c:v>104.6</c:v>
                </c:pt>
                <c:pt idx="7">
                  <c:v>105.1</c:v>
                </c:pt>
                <c:pt idx="8">
                  <c:v>105.7</c:v>
                </c:pt>
                <c:pt idx="9">
                  <c:v>106.3</c:v>
                </c:pt>
                <c:pt idx="10">
                  <c:v>107.1</c:v>
                </c:pt>
                <c:pt idx="11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100.9</c:v>
                </c:pt>
                <c:pt idx="2">
                  <c:v>101.7</c:v>
                </c:pt>
                <c:pt idx="3">
                  <c:v>102.7</c:v>
                </c:pt>
                <c:pt idx="4">
                  <c:v>103.5</c:v>
                </c:pt>
                <c:pt idx="5">
                  <c:v>104.1</c:v>
                </c:pt>
                <c:pt idx="6">
                  <c:v>105.0</c:v>
                </c:pt>
                <c:pt idx="7">
                  <c:v>105.5</c:v>
                </c:pt>
                <c:pt idx="8">
                  <c:v>106.1</c:v>
                </c:pt>
                <c:pt idx="9">
                  <c:v>106.8</c:v>
                </c:pt>
                <c:pt idx="10">
                  <c:v>107.7</c:v>
                </c:pt>
                <c:pt idx="11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2026-01-31</c:v>
                </c:pt>
                <c:pt idx="1">
                  <c:v>2026-02-28</c:v>
                </c:pt>
                <c:pt idx="2">
                  <c:v>2026-03-31</c:v>
                </c:pt>
                <c:pt idx="3">
                  <c:v>2026-04-30</c:v>
                </c:pt>
                <c:pt idx="4">
                  <c:v>2026-05-31</c:v>
                </c:pt>
                <c:pt idx="5">
                  <c:v>2026-06-30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-0.2</c:v>
                </c:pt>
                <c:pt idx="1">
                  <c:v>-0.3</c:v>
                </c:pt>
                <c:pt idx="2">
                  <c:v>-0.3</c:v>
                </c:pt>
                <c:pt idx="3">
                  <c:v>-0.4</c:v>
                </c:pt>
                <c:pt idx="4">
                  <c:v>-0.5</c:v>
                </c:pt>
                <c:pt idx="5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-0.2"/>
          <c:min val="-0.6000000000000001"/>
        </c:scaling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1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-0.8</c:v>
                </c:pt>
                <c:pt idx="2">
                  <c:v>-1.2</c:v>
                </c:pt>
                <c:pt idx="3">
                  <c:v>-0.4</c:v>
                </c:pt>
                <c:pt idx="4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-0.6</c:v>
                </c:pt>
                <c:pt idx="2">
                  <c:v>-0.9</c:v>
                </c:pt>
                <c:pt idx="3">
                  <c:v>-0.3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5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-0.1</c:v>
                </c:pt>
                <c:pt idx="1">
                  <c:v>-0.3</c:v>
                </c:pt>
                <c:pt idx="2">
                  <c:v>-0.6</c:v>
                </c:pt>
                <c:pt idx="3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-0.4</c:v>
                </c:pt>
                <c:pt idx="3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26%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44%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26.0</c:v>
                </c:pt>
                <c:pt idx="1">
                  <c:v>30.0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-50.0</c:v>
                </c:pt>
                <c:pt idx="1">
                  <c:v>25.0</c:v>
                </c:pt>
                <c:pt idx="2">
                  <c:v>-25.0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US equity</c:v>
                </c:pt>
                <c:pt idx="1">
                  <c:v>International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-0.4</c:v>
                </c:pt>
                <c:pt idx="1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7.8%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4.8%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4.1%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9.3%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Fixed income · Portfolio</c:v>
                </c:pt>
                <c:pt idx="3">
                  <c:v>Fixed income · Benchmark</c:v>
                </c:pt>
                <c:pt idx="4">
                  <c:v>Private assets · Portfolio</c:v>
                </c:pt>
                <c:pt idx="5">
                  <c:v>Private assets · Benchmark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</c:v>
                </c:pt>
                <c:pt idx="1">
                  <c:v>7.5</c:v>
                </c:pt>
                <c:pt idx="2">
                  <c:v>4.8</c:v>
                </c:pt>
                <c:pt idx="3">
                  <c:v>4.1</c:v>
                </c:pt>
                <c:pt idx="4">
                  <c:v>8.0</c:v>
                </c:pt>
                <c:pt idx="5">
                  <c:v>9.3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-0.6pp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Public equity · Historical</c:v>
                </c:pt>
                <c:pt idx="1">
                  <c:v>Public equity · Ex ante</c:v>
                </c:pt>
                <c:pt idx="2">
                  <c:v>Fixed income · Historical</c:v>
                </c:pt>
                <c:pt idx="3">
                  <c:v>Fixed income · Ex ante</c:v>
                </c:pt>
                <c:pt idx="4">
                  <c:v>Private assets · Historical</c:v>
                </c:pt>
                <c:pt idx="5">
                  <c:v>Private assets · Ex ante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-0.6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-0.3</c:v>
                </c:pt>
                <c:pt idx="5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governed ex ante attribution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FORWARD VIEW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Both lanes reconcile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611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611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126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RESIDUAL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0.0bp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Within tolerance [S5]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059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33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sample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769904"/>
            <a:ext cx="10908792" cy="8299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69904"/>
            <a:ext cx="54864" cy="8299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7963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3096"/>
            <a:ext cx="10616184" cy="3453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09605"/>
            <a:ext cx="10908792" cy="15083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709605"/>
            <a:ext cx="54864" cy="150831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81933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102797"/>
            <a:ext cx="10616184" cy="10236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reconciled-lanes signal versus the prior unresolved status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8059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8059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959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is -0.6pp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16199"/>
            <a:ext cx="10908792" cy="2401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16199"/>
            <a:ext cx="54864" cy="2401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2592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09391"/>
            <a:ext cx="10616184" cy="19170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residual is 0.0bp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12-MONTH EXCESS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42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44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0406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× MONTH LINKED TOTAL EFFECT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Jul 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May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CONTRIBUTION TO TRACKING ERROR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EFFECT SHARE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INSIDE PUBLIC EQUITY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55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103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2615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35868"/>
          <a:ext cx="10908792" cy="1025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6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35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57957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72180"/>
            <a:ext cx="10908792" cy="13457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72180"/>
            <a:ext cx="54864" cy="13457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9819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265372"/>
            <a:ext cx="10616184" cy="8611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BY SEGMENT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96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74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1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91513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07746"/>
            <a:ext cx="10908792" cy="2010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207746"/>
            <a:ext cx="54864" cy="201017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3174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600938"/>
            <a:ext cx="10616184" cy="1525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VS EX ANTE SEGMENT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Changed 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+ [S4][S5]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+ · ex ante + [S4][S5]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− [S4][S5]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624613"/>
            <a:ext cx="10908792" cy="7865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2624613"/>
            <a:ext cx="54864" cy="7865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27343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3017805"/>
            <a:ext cx="10616184" cy="3019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52091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795235"/>
          <a:ext cx="10908792" cy="12190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47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47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47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640080" y="5124034"/>
            <a:ext cx="10908792" cy="10938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Rectangle 31"/>
          <p:cNvSpPr/>
          <p:nvPr/>
        </p:nvSpPr>
        <p:spPr>
          <a:xfrm>
            <a:off x="640080" y="5124034"/>
            <a:ext cx="54864" cy="10938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804671" y="52337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" y="5517226"/>
            <a:ext cx="10616184" cy="609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TOLERANCE CHECKS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[S4]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14934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25906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906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[S5]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59678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2871106"/>
          <a:ext cx="10908790" cy="86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3849114"/>
            <a:ext cx="10908792" cy="2368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sample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residual within tolerance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residual within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gradient_tool_metadata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not_applicable_metadata_response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772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Growth, rolling excess,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indexed growth, rolling-window excess and peak-to-trough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index / percentage / percentage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segment contribution to total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tracking error; contribution share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and segment-month linked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symmetric-Carino effects from periods and period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and cumulative percentage-point effects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benchmark expected return by segment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expected returns applied to actual and policy segment weights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percentage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effect pairing and sign agreement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presentation of server-returned historical and ex ante segment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Percentage-point effects; no cross-lane rebasing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Portfolio Attribution Report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