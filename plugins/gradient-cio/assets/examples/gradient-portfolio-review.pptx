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  <ns0:sldId id="287" ns1:id="rId38"/>
    <ns0:sldId id="288" ns1:id="rId39"/>
    <ns0:sldId id="289" ns1:id="rId40"/>
    <ns0:sldId id="290" ns1:id="rId41"/>
    <ns0:sldId id="291" ns1:id="rId42"/>
    <ns0:sldId id="292" ns1:id="rId43"/>
    <ns0:sldId id="293" ns1:id="rId44"/>
    <ns0:sldId id="294" ns1:id="rId45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Global equity</c:v>
                </c:pt>
                <c:pt idx="1">
                  <c:v>Core bonds</c:v>
                </c:pt>
                <c:pt idx="2">
                  <c:v>Real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4.1000000000000005</c:v>
                </c:pt>
                <c:pt idx="1">
                  <c:v>1.2</c:v>
                </c:pt>
                <c:pt idx="2">
                  <c:v>2.3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Sheet1!$A$2:$A$10</c:f>
              <c:strCache>
                <c:ptCount val="9"/>
                <c:pt idx="0">
                  <c:v>2022-06-30</c:v>
                </c:pt>
                <c:pt idx="1">
                  <c:v>2022-12-31</c:v>
                </c:pt>
                <c:pt idx="2">
                  <c:v>2023-06-30</c:v>
                </c:pt>
                <c:pt idx="3">
                  <c:v>2023-12-31</c:v>
                </c:pt>
                <c:pt idx="4">
                  <c:v>2024-06-30</c:v>
                </c:pt>
                <c:pt idx="5">
                  <c:v>2024-12-31</c:v>
                </c:pt>
                <c:pt idx="6">
                  <c:v>2025-06-30</c:v>
                </c:pt>
                <c:pt idx="7">
                  <c:v>2025-12-31</c:v>
                </c:pt>
                <c:pt idx="8">
                  <c:v>2026-06-30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100.0</c:v>
                </c:pt>
                <c:pt idx="1">
                  <c:v>96.0</c:v>
                </c:pt>
                <c:pt idx="2">
                  <c:v>100.1</c:v>
                </c:pt>
                <c:pt idx="3">
                  <c:v>104.7</c:v>
                </c:pt>
                <c:pt idx="4">
                  <c:v>108.0</c:v>
                </c:pt>
                <c:pt idx="5">
                  <c:v>112.6</c:v>
                </c:pt>
                <c:pt idx="6">
                  <c:v>116.0</c:v>
                </c:pt>
                <c:pt idx="7">
                  <c:v>120.4</c:v>
                </c:pt>
                <c:pt idx="8">
                  <c:v>125.9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Sheet1!$A$2:$A$10</c:f>
              <c:strCache>
                <c:ptCount val="9"/>
                <c:pt idx="0">
                  <c:v>2022-06-30</c:v>
                </c:pt>
                <c:pt idx="1">
                  <c:v>2022-12-31</c:v>
                </c:pt>
                <c:pt idx="2">
                  <c:v>2023-06-30</c:v>
                </c:pt>
                <c:pt idx="3">
                  <c:v>2023-12-31</c:v>
                </c:pt>
                <c:pt idx="4">
                  <c:v>2024-06-30</c:v>
                </c:pt>
                <c:pt idx="5">
                  <c:v>2024-12-31</c:v>
                </c:pt>
                <c:pt idx="6">
                  <c:v>2025-06-30</c:v>
                </c:pt>
                <c:pt idx="7">
                  <c:v>2025-12-31</c:v>
                </c:pt>
                <c:pt idx="8">
                  <c:v>2026-06-30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100.0</c:v>
                </c:pt>
                <c:pt idx="1">
                  <c:v>95.5</c:v>
                </c:pt>
                <c:pt idx="2">
                  <c:v>99.9</c:v>
                </c:pt>
                <c:pt idx="3">
                  <c:v>103.8</c:v>
                </c:pt>
                <c:pt idx="4">
                  <c:v>107.8</c:v>
                </c:pt>
                <c:pt idx="5">
                  <c:v>112.3</c:v>
                </c:pt>
                <c:pt idx="6">
                  <c:v>116.2</c:v>
                </c:pt>
                <c:pt idx="7">
                  <c:v>119.6</c:v>
                </c:pt>
                <c:pt idx="8">
                  <c:v>125.7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FF6B5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+0.8pp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+0.4pp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-0.7pp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+0.4pp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-0.5pp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 partial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</c:v>
                </c:pt>
                <c:pt idx="1">
                  <c:v>0.4</c:v>
                </c:pt>
                <c:pt idx="2">
                  <c:v>-0.7</c:v>
                </c:pt>
                <c:pt idx="3">
                  <c:v>0.4</c:v>
                </c:pt>
                <c:pt idx="4">
                  <c:v>-0.5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0.18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0.51</c:v>
                </c:pt>
                <c:pt idx="2">
                  <c:v>0.05</c:v>
                </c:pt>
                <c:pt idx="3">
                  <c:v>0.02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Private Assets</c:v>
                </c:pt>
                <c:pt idx="2">
                  <c:v>Fixed Income</c:v>
                </c:pt>
                <c:pt idx="3">
                  <c:v>Real Assets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43.5</c:v>
                </c:pt>
                <c:pt idx="1">
                  <c:v>28.199999999999996</c:v>
                </c:pt>
                <c:pt idx="2">
                  <c:v>23.1</c:v>
                </c:pt>
                <c:pt idx="3">
                  <c:v>3.6999999999999997</c:v>
                </c:pt>
                <c:pt idx="4">
                  <c:v>1.5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$652.5M · 43.5%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$423.0M · 28.2%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$346.5M · 23.1%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$55.5M · 3.7%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$22.5M · 1.5%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Private assets</c:v>
                </c:pt>
                <c:pt idx="2">
                  <c:v>Fixed income</c:v>
                </c:pt>
                <c:pt idx="3">
                  <c:v>Real assets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652.5</c:v>
                </c:pt>
                <c:pt idx="1">
                  <c:v>423.0</c:v>
                </c:pt>
                <c:pt idx="2">
                  <c:v>346.5</c:v>
                </c:pt>
                <c:pt idx="3">
                  <c:v>55.5</c:v>
                </c:pt>
                <c:pt idx="4">
                  <c:v>22.5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Private Assets</c:v>
                </c:pt>
                <c:pt idx="2">
                  <c:v>Fixed Income</c:v>
                </c:pt>
                <c:pt idx="3">
                  <c:v>Real Assets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46.0</c:v>
                </c:pt>
                <c:pt idx="1">
                  <c:v>31.0</c:v>
                </c:pt>
                <c:pt idx="2">
                  <c:v>12.0</c:v>
                </c:pt>
                <c:pt idx="3">
                  <c:v>8.0</c:v>
                </c:pt>
                <c:pt idx="4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Daily to weekly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Monthly to quarterly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Semi-annual to 2 years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12.0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Over 2 years / locked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25.0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2026-Q3</c:v>
                </c:pt>
                <c:pt idx="1">
                  <c:v>2026-Q4</c:v>
                </c:pt>
                <c:pt idx="2">
                  <c:v>2027-Q1</c:v>
                </c:pt>
                <c:pt idx="3">
                  <c:v>2027-Q2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28000000.0</c:v>
                </c:pt>
                <c:pt idx="1">
                  <c:v>24000000.0</c:v>
                </c:pt>
                <c:pt idx="2">
                  <c:v>21000000.0</c:v>
                </c:pt>
                <c:pt idx="3">
                  <c:v>18000000.0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Recent relative returns weakened</a:t>
            </a:r>
          </a:p>
          <a:p>
            <a:r>
              <a:t>Observation: The strongest full year is +0.8pp in 2022 and the weakest is -0.7pp in 2024 [S4]. Why it matters: Recent QTD, YTD and 1Y periods also trail. Uncertainty: Overlapping-period coverage reuses some underlying observations. What would change the view: A full-year report showing sustained relative improvement.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Selection drove the shortfall</a:t>
            </a:r>
          </a:p>
          <a:p>
            <a:r>
              <a:t>Observation: Public-equity selection is the largest negative segment effect at -0.31pp [S5]. Why it matters: One segment explains most active shortfall. Uncertainty: The unexplained -0.02pp residual remains outside reconciliation coverage. What would change the view: Manager records showing no single source exceeds half the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Private-assets headroom is narrow</a:t>
            </a:r>
          </a:p>
          <a:p>
            <a:r>
              <a:t>Observation: Private Assets has 1.8pp upper-band headroom and Real Assets sits 1.7pp above its lower band [S3]. Why it matters: Valuation changes can alter status without policy changes. Uncertainty: Private valuations lag current public-market records. What would change the view: Refreshed valuations widening headroom above 3.0pp.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Exposure amplifies open findings</a:t>
            </a:r>
          </a:p>
          <a:p>
            <a:r>
              <a:t>Observation: Example Manager A represents 12.8% of NAV and has one open medium finding [S6][S11]. Why it matters: High exposure can transmit operational concern. Uncertainty: Completed closure evidence for the open finding remains unavailable. What would change the view: Closure records or refreshed exposure below 10.0%.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Observed risk remains compliant</a:t>
            </a:r>
          </a:p>
          <a:p>
            <a:r>
              <a:t>Observation: Realized volatility and drawdown are compliant, while CVaR is not assessed [S3][S4]. Why it matters: Observed risk and an unavailable measure require separate treatment. Uncertainty: Modeled-contribution assumptions do not establish governed policy status. What would change the view: A returned CVaR observation or governed risk-limit breach.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Forward context supports monitoring</a:t>
            </a:r>
          </a:p>
          <a:p>
            <a:r>
              <a:t>Observation: Expected return is 0.7pp above the policy objective while GRIP is balanced [S3][S8][S12]. Why it matters: The evidence frames monitoring without forecasting. Uncertainty: Saved-portfolio volatility, drawdown and CVaR are unavailable. What would change the view: A governed refresh below the objective or a materially different GRIP 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Liquidity covers near-term calls</a:t>
            </a:r>
          </a:p>
          <a:p>
            <a:r>
              <a:t>Observation: Daily-to-quarterly assets are 63.0% of NAV and unfunded commitments are 9.3% [S3][S6]. Why it matters: Liquid coverage remains compliant as calls exceed distributions. Uncertainty: Pacing results are assumptions, not confirmed call schedules. What would change the view: Calls above projections or liquid assets below policy [S3][S7].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COMPREHENSIVE PORTFOLIO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Total Fund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Quarterly portfolio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PERIOD 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$1,500.0M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Policy Benchmark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Comprehensive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 policy items on watch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10 of 12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EVIDENCE-BASED MONITORING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77423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77423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Review conclusion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228960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portfolio returned 8.4% over the year to 2026-06-30, 0.6pp behind the policy benchmark [S4]. Historical attribution identifies public-equity selection as the largest negative effect for the review period [S5]. All allocation bands remain compliant, while private assets and manager concentration are on watch [S3]. Realized volatility was 9.1%, and the forward assumptions indicate a 6.2% expected return with 10.4% expected volatility [S4][S8].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209843"/>
            <a:ext cx="2644902" cy="20080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209843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433785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59389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8.4%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Benchmark 9.0% [S4]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4209843"/>
            <a:ext cx="2644902" cy="20080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4209843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433785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RETURN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59389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-0.6pp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1Y to 2026-06-30 [S4]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4209843"/>
            <a:ext cx="2644902" cy="20080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4209843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433785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VOLATILITY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59389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9.1%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Benchmark 10.0% [S4]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4209843"/>
            <a:ext cx="2644902" cy="20080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4209843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433785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SHARE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59389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63.0%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Daily to quarterly [S3]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EVIDENCE-BASED MONITORING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Review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 A GLANCE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280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2584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Evidence-based 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584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Trailing 1Y return is 0.6pp below the policy benchmark [S4].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584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Public-equity selection is the largest negative effect for the review period 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584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 / 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allocation bands remain inside their governed ranges 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584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volatility is below the benchmark; the private-assets risk contribution is the largest [S4][S7].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584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Daily-to-quarterly assets cover 63.0% of NAV; unfunded commitments equal 9.3% 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58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 /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largest manager is 12.8% of NAV against a 15.0% policy limit [S3][S6].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990844"/>
            <a:ext cx="10908792" cy="78926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990844"/>
            <a:ext cx="54864" cy="78926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10057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Scope of this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84036"/>
            <a:ext cx="10616184" cy="30463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This monitoring report provides sourced analysis and considerations for discussion. It does not contain investment recommendations, trades, allocation changes, manager actions or proposed votes.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889834"/>
            <a:ext cx="10908792" cy="132808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4889834"/>
            <a:ext cx="54864" cy="132808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499956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283026"/>
            <a:ext cx="10616184" cy="84345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a 2 policy items on watch signal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S5 · S6 · S7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EVIDENCE-BASED MONITORING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Review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34043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34043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85580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Trailing 1Y is 8.4%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76042"/>
            <a:ext cx="10908792" cy="244187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776042"/>
            <a:ext cx="54864" cy="244187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88577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169234"/>
            <a:ext cx="10616184" cy="19572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Liquid share is 63.0% in the review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FRAMEWORK AGAINST WHICH RESULTS ARE MONITORED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Policy and Data Basis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Institution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Review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2026-04-01 to 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Policy Benchmark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of investment-management fees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 /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2026 CMA / Baseline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S4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FRAMEWORK AGAINST WHICH RESULTS ARE MONITORED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Policy and Data Basis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FRAMEWORK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objective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5.5% nominal over 10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at -18.0%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 to 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CONTEXT IS SEPARATE FROM PORTFOLIO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Period and Market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returned market context describes positive global-equity returns and modestly wider credit spreads during the quarter ended 2026-06-30 [S9]. These facts provide background only; historical attribution, not market narrative, identifies the portfolio's active-return effects [S5].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CONTEXT IS SEPARATE FROM PORTFOLIO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Period and Market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SELECTED MARKET RETURNS FOR CONTEXT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CONTEXT IS SEPARATE FROM PORTFOLIO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Period and Market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regime and capital-market figures used later are assumptions, not forecasts [S8][S9].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 · S9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GROWTH OF 100 SINCE 2022-06-30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 TO 2026-06-30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5206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QTD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YTD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4.6%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5Y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10Y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Insufficient history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Since inception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Returned period labels, annualization and coverage are preserved [S4].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CALENDAR-YEAR EXCESS RETURNS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 YEARS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6226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3711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Year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711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-7.2%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711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711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-0.7pp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711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711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partial (Jan–Jun)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24117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The 2026 partial year is cumulative and is not annualized [S4].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533783"/>
            <a:ext cx="10908792" cy="168413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533783"/>
            <a:ext cx="54864" cy="168413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464351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Recent relative returns weakened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926975"/>
            <a:ext cx="10616184" cy="11995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strongest full year is +0.8pp in 2022 and the weakest is -0.7pp in 2024 [S4]. Why it matters: Recent QTD, YTD and 1Y periods also trail…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ALLOCATION, SELECTION AND INTERACTION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 ATTRIBUTION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5280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SEGMENT ATTRIBUTION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4101083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+0.06pp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-0.07pp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Rows are sorted by absolute returned total effect [S5].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94001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94001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Reconciliation diagnostic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553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returned residual is -0.02pp against a 1 bp tolerance; the method details below preserve the server basis and version [S5].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7562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RECONCILIATION AND METHOD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2649940"/>
          <a:ext cx="10908792" cy="35679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-0.40pp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Sum of linked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-0.38pp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60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Formula version /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 / 1 bp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Selection drove the shortfall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Public-equity selection is the largest negative segment effect at -0.31pp [S5]. Why it matters: One segment explains most active shortfall. Uncertainty: The unexplained -0.02pp residual remains outside…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36776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94788" y="1951146"/>
            <a:ext cx="3334043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Oval 11"/>
          <p:cNvSpPr/>
          <p:nvPr/>
        </p:nvSpPr>
        <p:spPr>
          <a:xfrm>
            <a:off x="9775287" y="1877263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9548094" y="178490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2560320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Fixed Income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60852" y="2874690"/>
            <a:ext cx="3334043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Oval 15"/>
          <p:cNvSpPr/>
          <p:nvPr/>
        </p:nvSpPr>
        <p:spPr>
          <a:xfrm>
            <a:off x="6374563" y="2800807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714157" y="270845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3483864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Assets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60852" y="3798234"/>
            <a:ext cx="250053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Oval 19"/>
          <p:cNvSpPr/>
          <p:nvPr/>
        </p:nvSpPr>
        <p:spPr>
          <a:xfrm>
            <a:off x="7224744" y="3724351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6714157" y="363199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4407408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 Assets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93724" y="4721778"/>
            <a:ext cx="133361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Oval 23"/>
          <p:cNvSpPr/>
          <p:nvPr/>
        </p:nvSpPr>
        <p:spPr>
          <a:xfrm>
            <a:off x="3140541" y="4647895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3380114" y="4555540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40080" y="5330952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60320" y="5645322"/>
            <a:ext cx="133361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Oval 27"/>
          <p:cNvSpPr/>
          <p:nvPr/>
        </p:nvSpPr>
        <p:spPr>
          <a:xfrm>
            <a:off x="2773797" y="557143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3046710" y="5479084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ACTUAL ALLOCATION BY ASSET CLASS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ASSET CLASS VERSUS POLICY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Asset 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Actual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Headroom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43.5%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32–52%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-1.9pp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15–35%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+3.2pp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15–30%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2–10%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1.7pp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0–8%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53415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Governed status and headroom are preserved from the policy result [S3].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SUB-ALLOCATION VERSUS POLICY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4101083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Asset 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Actual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Headroom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18–30%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Non-US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12–24%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Bonds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10–20%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5–14%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8–18%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Total-portfolio targets are returned directly; parent and child targets are not multiplied [S2][S3].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83867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83867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Peer allocation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35403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licensed — Peer allocation context was skipped because peerIntelligence is not available for this organization. This review uses portfolio evidence only.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74278"/>
            <a:ext cx="10908792" cy="294364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274278"/>
            <a:ext cx="54864" cy="2943641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38400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Private-assets headroom is narrow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667470"/>
            <a:ext cx="10616184" cy="245900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Private Assets has 1.8pp upper-band headroom and Real Assets sits 1.7pp above its lower band [S3]. Why it matters: Valuation changes can alter status without policy changes…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HOLDINGS, MANAGER AND LOOK-THROUGH CONCENTRATIONS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Exposures and Concentration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VALUE BY EXPOSURE CLASSIFICATION ($M)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HOLDINGS, MANAGER AND LOOK-THROUGH CONCENTRATIONS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Exposures and Concentration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EXPOSURE-WEIGHTED DILIGENCE FINDINGS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7703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8518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51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A review is due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manager represents 12.8% of NAV and has an open key-person review item [S6][S11].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248029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MANAGER AND HOLDING EXPOSURES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754611"/>
          <a:ext cx="10908790" cy="1539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079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Classification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$192.0M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$171.0M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Lagged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$157.5M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Issuer 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$28.5M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Partial 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4403969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CONCENTRATION CHECKS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4678289"/>
          <a:ext cx="10908792" cy="1539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079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43.5%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Top five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issuer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S10 · S11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HOLDINGS, MANAGER AND LOOK-THROUGH CONCENTRATIONS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Exposures and Concentration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93063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93063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44600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Form 13F can lag quarter end by up to 45 days and covers long US-listed equity positions only. It excludes shorts, cash, non-US listings and private holdings; reported USD values are not FX-converted against NAV [S10].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66245"/>
            <a:ext cx="10908792" cy="285167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366245"/>
            <a:ext cx="54864" cy="285167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47597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Exposure amplifies open findings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759437"/>
            <a:ext cx="10616184" cy="236704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Example Manager A represents 12.8% of NAV and has one open medium finding [S6][S11]. Why it matters: High exposure can transmit operational concern. Uncertainty: Completed closure evidence…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S10 · S11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RISK AND RETURNED CONTRIBUTION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Realized Risk and Decomposition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RISK CONTRIBUTION BY ASSET CLASS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RISK AND RETURNED CONTRIBUTION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Realized Risk and Decomposition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RISK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95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 (benchmark 10.0%)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-12.4%: peak 2022-08, trough 2023-03, recovered 2024-02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Best / worst month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4.1% / -4.8%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Positive months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31 of 48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Beta to 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0.88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Tracking error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2.4%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Information ratio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-0.17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95% CVaR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historical contract did not return CVaR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66663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RISK LIMITS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4940952"/>
          <a:ext cx="10908792" cy="12769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1924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4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 months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4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-18.0%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 months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95% CVaR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Observation missing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RISK AND RETURNED CONTRIBUTION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Realized Risk and Decomposition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Observed risk remains compliant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Realized volatility and drawdown are compliant, while CVaR is not assessed [S3][S4]. Why it matters: Observed risk and an unavailable measure require separate treatment. Uncertainty: Modeled-contribution assumptions…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Available history [S12]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 STANCE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Balanced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context [S12]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EXPECTED RETURN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basis [S3][S8]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 OBJECTIVE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5.5%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objective [S3]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S8 · S12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ASSUMPTION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36776"/>
            <a:ext cx="1828800" cy="22631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2477566"/>
            <a:ext cx="1977029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Oval 11"/>
          <p:cNvSpPr/>
          <p:nvPr/>
        </p:nvSpPr>
        <p:spPr>
          <a:xfrm>
            <a:off x="3588298" y="2292858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3611158" y="206197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3945636"/>
            <a:ext cx="1828800" cy="22631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volatility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95565" y="4786426"/>
            <a:ext cx="243326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Oval 15"/>
          <p:cNvSpPr/>
          <p:nvPr/>
        </p:nvSpPr>
        <p:spPr>
          <a:xfrm>
            <a:off x="9975622" y="4601718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9998482" y="437083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ASSUMPTION CONTEXT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2848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2026 CMA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CMA release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2026.2 (2026-06-15)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8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policy and CMA evidence [S3,S8]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99473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ASSUMPTIONS AND DECOMPOSITION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4269057"/>
          <a:ext cx="10908792" cy="1948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248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/ reference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nominal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governed saved-portfolio statistic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max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governed saved-portfolio statistic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95% CVaR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governed saved-portfolio statistic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48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risk contribution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 46.0%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S7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77628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77628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29165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selected. Saved-portfolio forward evidence is limited to governed policy and CMA assumptions [S3][S8].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11895"/>
            <a:ext cx="10908792" cy="30060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211895"/>
            <a:ext cx="54864" cy="300602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32162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Forward context supports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605087"/>
            <a:ext cx="10616184" cy="25213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Expected return is 0.7pp above the policy objective while GRIP is balanced [S3][S8][S12]. Why it matters: The evidence frames monitoring without forecasting. Uncertainty: Saved-portfolio volatility, drawdown and…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S8 · S12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Commitments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TIERS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Commitments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PROJECTED CALLS AND DISTRIBUTIONS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Commitments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7202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4404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404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 to weekly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404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to quarterly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Included in liquid share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404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Semi-annual to 2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404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Over 2 years / locked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$375.0M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338724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Buckets and governed statuses are returned by the policy contract [S3].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631332"/>
          <a:ext cx="10908792" cy="25865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517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Locked share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7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commitment ratio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9.3%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7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$945.0M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7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$139.5M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73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for 31 commitments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Commitments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Liquidity covers near-term calls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Daily-to-quarterly assets are 63.0% of NAV and unfunded commitments are 9.3% [S3][S6]. Why it matters: Liquid coverage remains compliant as calls exceed distributions. Uncertainty: Pacing results are…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AVAILABILITY, BASIS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261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Live sample scope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record and allocation 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asset classes; as of 2026-06-30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risk, liquidity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 months; net basis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 -2 bps vs 1 bp tolerance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31 commitments; all pages retrieved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exposure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factor/currency, risk, pacing and liquidity includes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Capital-market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2026 CMA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 2026-06-30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Long-only US-listed equity; as of 2026-05-15 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 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open medium finding for a resolved manager [S11]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GRIP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Balanced stance with available history [S12]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intelligence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licensed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licensed — peerIntelligence is not available for this organization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Lab supplement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selected return-series session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 · S12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3608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organization_id=test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record and allocation 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 and realized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six sections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summary, segments, diagnostics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'partial', 'status': 'partial'}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exposure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include=factor_currency_exposure, risk_contribution, commitment_pacing, liquidity_scorecard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Capital-market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get_the_read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visuals=none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include=lookthrough_13f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'partial', 'status': 'partial'}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 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view=open; resolved portfolio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4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GRIP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get_macro_signals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view=gradient_signal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 · S12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65967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Geometrically linked server periods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historical-returns-v1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Net; decimal fraction; returned annualization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Historical-return risk bundle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historical-risk-v1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observations; annualized where labelled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Brinson-Fachler; symmetric-Carino linking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Percentage points; 1 bp tolerance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portfolio-policy assessment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limits, headroom and status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base currency; unfunded excluded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policy/CMA evidence and exposure includes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assumptions; context fingerprint retained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Forward-looking values are assumptions, not forecasts or guarantees [S7][S8].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Performance is net of investment-management fees as returned; periods over one year are annualized only where labelled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Historical attribution uses realized Brinson-Fachler effects and symmetric-Carino linking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Private-market values and Form 13F filings may lag the report date [S6][S10].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Portfolio Analytics and Strategy Lab are separate analytical scopes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AI-assisted monitoring analysis is not investment, legal or compliance advice.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 · S6 · S7 · S8 · S10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Total Fund</dc:title>
  <dc:subject>Comprehensive Portfolio Review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