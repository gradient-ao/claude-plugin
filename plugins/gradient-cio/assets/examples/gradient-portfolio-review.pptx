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  <ns0:sldId id="264" ns1:id="rId15"/>
    <ns0:sldId id="265" ns1:id="rId16"/>
    <ns0:sldId id="266" ns1:id="rId17"/>
    <ns0:sldId id="267" ns1:id="rId18"/>
    <ns0:sldId id="268" ns1:id="rId19"/>
    <ns0:sldId id="269" ns1:id="rId20"/>
    <ns0:sldId id="270" ns1:id="rId21"/>
    <ns0:sldId id="271" ns1:id="rId22"/>
    <ns0:sldId id="272" ns1:id="rId23"/>
    <ns0:sldId id="273" ns1:id="rId24"/>
    <ns0:sldId id="274" ns1:id="rId25"/>
    <ns0:sldId id="275" ns1:id="rId26"/>
    <ns0:sldId id="276" ns1:id="rId27"/>
    <ns0:sldId id="277" ns1:id="rId28"/>
    <ns0:sldId id="278" ns1:id="rId29"/>
    <ns0:sldId id="279" ns1:id="rId30"/>
    <ns0:sldId id="280" ns1:id="rId31"/>
    <ns0:sldId id="281" ns1:id="rId32"/>
    <ns0:sldId id="282" ns1:id="rId33"/>
    <ns0:sldId id="283" ns1:id="rId34"/>
    <ns0:sldId id="284" ns1:id="rId35"/>
    <ns0:sldId id="285" ns1:id="rId36"/>
    <ns0:sldId id="286" ns1:id="rId37"/>
    <ns0:sldId id="287" ns1:id="rId38"/>
    <ns0:sldId id="288" ns1:id="rId39"/>
    <ns0:sldId id="289" ns1:id="rId40"/>
    <ns0:sldId id="290" ns1:id="rId41"/>
    <ns0:sldId id="291" ns1:id="rId42"/>
    <ns0:sldId id="292" ns1:id="rId43"/>
    <ns0:sldId id="293" ns1:id="rId44"/>
    <ns0:sldId id="294" ns1:id="rId45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cat>
            <c:strRef>
              <c:f>Sheet1!$A$2:$A$4</c:f>
              <c:strCache>
                <c:ptCount val="3"/>
                <c:pt idx="0">
                  <c:v>Global equity</c:v>
                </c:pt>
                <c:pt idx="1">
                  <c:v>Core bonds</c:v>
                </c:pt>
                <c:pt idx="2">
                  <c:v>Real assets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4.1000000000000005</c:v>
                </c:pt>
                <c:pt idx="1">
                  <c:v>1.2</c:v>
                </c:pt>
                <c:pt idx="2">
                  <c:v>2.3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Portfolio</c:v>
                </c:pt>
              </c:strCache>
            </c:strRef>
          </c:tx>
          <c:spPr>
            <a:ln w="22860">
              <a:solidFill>
                <a:srgbClr val="0D1117"/>
              </a:solidFill>
            </a:ln>
          </c:spPr>
          <c:cat>
            <c:strRef>
              <c:f>Sheet1!$A$2:$A$10</c:f>
              <c:strCache>
                <c:ptCount val="9"/>
                <c:pt idx="0">
                  <c:v>2022-06-30</c:v>
                </c:pt>
                <c:pt idx="1">
                  <c:v>2022-12-31</c:v>
                </c:pt>
                <c:pt idx="2">
                  <c:v>2023-06-30</c:v>
                </c:pt>
                <c:pt idx="3">
                  <c:v>2023-12-31</c:v>
                </c:pt>
                <c:pt idx="4">
                  <c:v>2024-06-30</c:v>
                </c:pt>
                <c:pt idx="5">
                  <c:v>2024-12-31</c:v>
                </c:pt>
                <c:pt idx="6">
                  <c:v>2025-06-30</c:v>
                </c:pt>
                <c:pt idx="7">
                  <c:v>2025-12-31</c:v>
                </c:pt>
                <c:pt idx="8">
                  <c:v>2026-06-30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100.0</c:v>
                </c:pt>
                <c:pt idx="1">
                  <c:v>96.0</c:v>
                </c:pt>
                <c:pt idx="2">
                  <c:v>100.1</c:v>
                </c:pt>
                <c:pt idx="3">
                  <c:v>104.7</c:v>
                </c:pt>
                <c:pt idx="4">
                  <c:v>108.0</c:v>
                </c:pt>
                <c:pt idx="5">
                  <c:v>112.6</c:v>
                </c:pt>
                <c:pt idx="6">
                  <c:v>116.0</c:v>
                </c:pt>
                <c:pt idx="7">
                  <c:v>120.4</c:v>
                </c:pt>
                <c:pt idx="8">
                  <c:v>125.9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Benchmark</c:v>
                </c:pt>
              </c:strCache>
            </c:strRef>
          </c:tx>
          <c:spPr>
            <a:ln w="22860">
              <a:solidFill>
                <a:srgbClr val="7FA600"/>
              </a:solidFill>
            </a:ln>
          </c:spPr>
          <c:cat>
            <c:strRef>
              <c:f>Sheet1!$A$2:$A$10</c:f>
              <c:strCache>
                <c:ptCount val="9"/>
                <c:pt idx="0">
                  <c:v>2022-06-30</c:v>
                </c:pt>
                <c:pt idx="1">
                  <c:v>2022-12-31</c:v>
                </c:pt>
                <c:pt idx="2">
                  <c:v>2023-06-30</c:v>
                </c:pt>
                <c:pt idx="3">
                  <c:v>2023-12-31</c:v>
                </c:pt>
                <c:pt idx="4">
                  <c:v>2024-06-30</c:v>
                </c:pt>
                <c:pt idx="5">
                  <c:v>2024-12-31</c:v>
                </c:pt>
                <c:pt idx="6">
                  <c:v>2025-06-30</c:v>
                </c:pt>
                <c:pt idx="7">
                  <c:v>2025-12-31</c:v>
                </c:pt>
                <c:pt idx="8">
                  <c:v>2026-06-30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100.0</c:v>
                </c:pt>
                <c:pt idx="1">
                  <c:v>95.5</c:v>
                </c:pt>
                <c:pt idx="2">
                  <c:v>99.9</c:v>
                </c:pt>
                <c:pt idx="3">
                  <c:v>103.8</c:v>
                </c:pt>
                <c:pt idx="4">
                  <c:v>107.8</c:v>
                </c:pt>
                <c:pt idx="5">
                  <c:v>112.3</c:v>
                </c:pt>
                <c:pt idx="6">
                  <c:v>116.2</c:v>
                </c:pt>
                <c:pt idx="7">
                  <c:v>119.6</c:v>
                </c:pt>
                <c:pt idx="8">
                  <c:v>125.7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7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FF6B5E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dPt>
            <c:idx val="4"/>
            <c:spPr>
              <a:solidFill>
                <a:srgbClr val="FF6B5E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+0.8pp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+0.4pp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-0.7pp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800"/>
                      <a:t>+0.4pp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en-US" sz="800"/>
                      <a:t>-0.5pp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Sheet1!$A$2:$A$6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 partial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0.8</c:v>
                </c:pt>
                <c:pt idx="1">
                  <c:v>0.4</c:v>
                </c:pt>
                <c:pt idx="2">
                  <c:v>-0.7</c:v>
                </c:pt>
                <c:pt idx="3">
                  <c:v>0.4</c:v>
                </c:pt>
                <c:pt idx="4">
                  <c:v>-0.5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  <c:pt idx="3">
                  <c:v>Residual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C6F432"/>
            </a:solidFill>
          </c:spPr>
          <c:cat>
            <c:strRef>
              <c:f>Sheet1!$A$2:$A$5</c:f>
              <c:strCache>
                <c:ptCount val="4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  <c:pt idx="3">
                  <c:v>Residual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0.18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Sheet1!$A$2:$A$5</c:f>
              <c:strCache>
                <c:ptCount val="4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  <c:pt idx="3">
                  <c:v>Residual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0.0</c:v>
                </c:pt>
                <c:pt idx="1">
                  <c:v>0.51</c:v>
                </c:pt>
                <c:pt idx="2">
                  <c:v>0.05</c:v>
                </c:pt>
                <c:pt idx="3">
                  <c:v>0.02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dPt>
            <c:idx val="4"/>
            <c:spPr>
              <a:solidFill>
                <a:srgbClr val="C6F432"/>
              </a:solidFill>
            </c:spPr>
          </c:dPt>
          <c:cat>
            <c:strRef>
              <c:f>Sheet1!$A$2:$A$6</c:f>
              <c:strCache>
                <c:ptCount val="5"/>
                <c:pt idx="0">
                  <c:v>Public Equity</c:v>
                </c:pt>
                <c:pt idx="1">
                  <c:v>Private Assets</c:v>
                </c:pt>
                <c:pt idx="2">
                  <c:v>Fixed Income</c:v>
                </c:pt>
                <c:pt idx="3">
                  <c:v>Real Assets</c:v>
                </c:pt>
                <c:pt idx="4">
                  <c:v>Cash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43.5</c:v>
                </c:pt>
                <c:pt idx="1">
                  <c:v>28.199999999999996</c:v>
                </c:pt>
                <c:pt idx="2">
                  <c:v>23.1</c:v>
                </c:pt>
                <c:pt idx="3">
                  <c:v>3.6999999999999997</c:v>
                </c:pt>
                <c:pt idx="4">
                  <c:v>1.5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dPt>
            <c:idx val="4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$652.5M · 43.5%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$423.0M · 28.2%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$346.5M · 23.1%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800"/>
                      <a:t>$55.5M · 3.7%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en-US" sz="800"/>
                      <a:t>$22.5M · 1.5%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Sheet1!$A$2:$A$6</c:f>
              <c:strCache>
                <c:ptCount val="5"/>
                <c:pt idx="0">
                  <c:v>Public equity</c:v>
                </c:pt>
                <c:pt idx="1">
                  <c:v>Private assets</c:v>
                </c:pt>
                <c:pt idx="2">
                  <c:v>Fixed income</c:v>
                </c:pt>
                <c:pt idx="3">
                  <c:v>Real assets</c:v>
                </c:pt>
                <c:pt idx="4">
                  <c:v>Cash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652.5</c:v>
                </c:pt>
                <c:pt idx="1">
                  <c:v>423.0</c:v>
                </c:pt>
                <c:pt idx="2">
                  <c:v>346.5</c:v>
                </c:pt>
                <c:pt idx="3">
                  <c:v>55.5</c:v>
                </c:pt>
                <c:pt idx="4">
                  <c:v>22.5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dPt>
            <c:idx val="4"/>
            <c:spPr>
              <a:solidFill>
                <a:srgbClr val="C6F432"/>
              </a:solidFill>
            </c:spPr>
          </c:dPt>
          <c:cat>
            <c:strRef>
              <c:f>Sheet1!$A$2:$A$6</c:f>
              <c:strCache>
                <c:ptCount val="5"/>
                <c:pt idx="0">
                  <c:v>Public Equity</c:v>
                </c:pt>
                <c:pt idx="1">
                  <c:v>Private Assets</c:v>
                </c:pt>
                <c:pt idx="2">
                  <c:v>Fixed Income</c:v>
                </c:pt>
                <c:pt idx="3">
                  <c:v>Real Assets</c:v>
                </c:pt>
                <c:pt idx="4">
                  <c:v>Cash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46.0</c:v>
                </c:pt>
                <c:pt idx="1">
                  <c:v>31.0</c:v>
                </c:pt>
                <c:pt idx="2">
                  <c:v>12.0</c:v>
                </c:pt>
                <c:pt idx="3">
                  <c:v>8.0</c:v>
                </c:pt>
                <c:pt idx="4">
                  <c:v>3.0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Daily to weekly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Sheet1!$A$2:$A$2</c:f>
              <c:strCache>
                <c:ptCount val="1"/>
                <c:pt idx="0">
                  <c:v>Portfolio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48.0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Monthly to quarterly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Sheet1!$A$2:$A$2</c:f>
              <c:strCache>
                <c:ptCount val="1"/>
                <c:pt idx="0">
                  <c:v>Portfolio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15.0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Semi-annual to 2 years</c:v>
                </c:pt>
              </c:strCache>
            </c:strRef>
          </c:tx>
          <c:spPr>
            <a:solidFill>
              <a:srgbClr val="F2A93B"/>
            </a:solidFill>
          </c:spPr>
          <c:cat>
            <c:strRef>
              <c:f>Sheet1!$A$2:$A$2</c:f>
              <c:strCache>
                <c:ptCount val="1"/>
                <c:pt idx="0">
                  <c:v>Portfolio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12.0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Over 2 years / locked</c:v>
                </c:pt>
              </c:strCache>
            </c:strRef>
          </c:tx>
          <c:spPr>
            <a:solidFill>
              <a:srgbClr val="5B8DEF"/>
            </a:solidFill>
          </c:spPr>
          <c:cat>
            <c:strRef>
              <c:f>Sheet1!$A$2:$A$2</c:f>
              <c:strCache>
                <c:ptCount val="1"/>
                <c:pt idx="0">
                  <c:v>Portfolio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25.0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cat>
            <c:strRef>
              <c:f>Sheet1!$A$2:$A$5</c:f>
              <c:strCache>
                <c:ptCount val="4"/>
                <c:pt idx="0">
                  <c:v>2026-Q3</c:v>
                </c:pt>
                <c:pt idx="1">
                  <c:v>2026-Q4</c:v>
                </c:pt>
                <c:pt idx="2">
                  <c:v>2027-Q1</c:v>
                </c:pt>
                <c:pt idx="3">
                  <c:v>2027-Q2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28000000.0</c:v>
                </c:pt>
                <c:pt idx="1">
                  <c:v>24000000.0</c:v>
                </c:pt>
                <c:pt idx="2">
                  <c:v>21000000.0</c:v>
                </c:pt>
                <c:pt idx="3">
                  <c:v>18000000.0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Recent relative returns weakened</a:t>
            </a:r>
          </a:p>
          <a:p>
            <a:r>
              <a:t>Observation: The strongest full year is +0.8pp in 2022 and the weakest is -0.7pp in 2024 [S4]. Why it matters: Recent QTD, YTD and 1Y periods also trail. Uncertainty: Overlapping-period coverage reuses some underlying observations. What would change the view: A full-year report showing sustained relative improvement.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Selection drove the shortfall</a:t>
            </a:r>
          </a:p>
          <a:p>
            <a:r>
              <a:t>Observation: Public-equity selection is the largest negative segment effect at -0.31pp [S5]. Why it matters: One segment explains most active shortfall. Uncertainty: The unexplained -0.02pp residual remains outside reconciliation coverage. What would change the view: Manager records showing no single source exceeds half the effect.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Private-assets headroom is narrow</a:t>
            </a:r>
          </a:p>
          <a:p>
            <a:r>
              <a:t>Observation: Private Assets has 1.8pp upper-band headroom and Real Assets sits 1.7pp above its lower band [S3]. Why it matters: Valuation changes can alter status without policy changes. Uncertainty: Private valuations lag current public-market records. What would change the view: Refreshed valuations widening headroom above 3.0pp.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Exposure amplifies open findings</a:t>
            </a:r>
          </a:p>
          <a:p>
            <a:r>
              <a:t>Observation: Example Manager A represents 12.8% of NAV and has one open medium finding [S6][S11]. Why it matters: High exposure can transmit operational concern. Uncertainty: Completed closure evidence for the open finding remains unavailable. What would change the view: Closure records or refreshed exposure below 10.0%.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Observed risk remains compliant</a:t>
            </a:r>
          </a:p>
          <a:p>
            <a:r>
              <a:t>Observation: Realized volatility and drawdown are compliant, while CVaR is not assessed [S3][S4]. Why it matters: Observed risk and an unavailable measure require separate treatment. Uncertainty: Modeled-contribution assumptions do not establish governed policy status. What would change the view: A returned CVaR observation or governed risk-limit breach.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Forward context supports monitoring</a:t>
            </a:r>
          </a:p>
          <a:p>
            <a:r>
              <a:t>Observation: Expected return is 0.7pp above the policy objective while GRIP is balanced [S3][S8][S12]. Why it matters: The evidence frames monitoring without forecasting. Uncertainty: Saved-portfolio volatility, drawdown and CVaR are unavailable. What would change the view: A governed refresh below the objective or a materially different GRIP stance.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Liquidity covers near-term calls</a:t>
            </a:r>
          </a:p>
          <a:p>
            <a:r>
              <a:t>Observation: Daily-to-quarterly assets are 63.0% of NAV and unfunded commitments are 9.3% [S3][S6]. Why it matters: Liquid coverage remains compliant as calls exceed distributions. Uncertainty: Pacing results are assumptions, not confirmed call schedules. What would change the view: Calls above projections or liquid assets below policy [S3][S7].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COMPREHENSIVE PORTFOLIO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3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Total Fund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73552"/>
            <a:ext cx="9692640" cy="5943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Quarterly portfolio review · prepared for the Investment Committee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005072"/>
            <a:ext cx="822960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PERIOD 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2026-06-30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TOTAL NAV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$1,500.0M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POLICY BENCHMARK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Policy Benchmark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Comprehensive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5687568"/>
            <a:ext cx="3337560" cy="530352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822960" y="5760720"/>
            <a:ext cx="306324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2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OVERALL 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9161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2 policy items on watch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5733288"/>
            <a:ext cx="3108960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SCOPE REVIEWED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5934456"/>
            <a:ext cx="3108960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10 of 12 · Partial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00800"/>
            <a:ext cx="80467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556248"/>
            <a:ext cx="804672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 sample · not client 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EVIDENCE-BASED MONITORING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277423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2774235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Review conclusion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228960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portfolio returned 8.4% over the year to 2026-06-30, 0.6pp behind the policy benchmark [S4]. Historical attribution identifies public-equity selection as the largest negative effect for the review period [S5]. All allocation bands remain compliant, while private assets and manager concentration are on watch [S3]. Realized volatility was 9.1%, and the forward assumptions indicate a 6.2% expected return with 10.4% expected volatility [S4][S8].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209843"/>
            <a:ext cx="2644902" cy="200807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4209843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749808" y="4337859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TRAILING 1Y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4593891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8.4%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Benchmark 9.0% [S4]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94710" y="4209843"/>
            <a:ext cx="2644902" cy="200807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Rectangle 18"/>
          <p:cNvSpPr/>
          <p:nvPr/>
        </p:nvSpPr>
        <p:spPr>
          <a:xfrm>
            <a:off x="3394710" y="4209843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3504438" y="4337859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ACTIVE RETURN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04438" y="4593891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-0.6pp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0443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1Y to 2026-06-30 [S4]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9340" y="4209843"/>
            <a:ext cx="2644902" cy="200807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Rectangle 23"/>
          <p:cNvSpPr/>
          <p:nvPr/>
        </p:nvSpPr>
        <p:spPr>
          <a:xfrm>
            <a:off x="6149340" y="4209843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259068" y="4337859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REALIZED VOLATILITY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59068" y="4593891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9.1%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906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Benchmark 10.0% [S4]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03970" y="4209843"/>
            <a:ext cx="2644902" cy="200807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9" name="Rectangle 28"/>
          <p:cNvSpPr/>
          <p:nvPr/>
        </p:nvSpPr>
        <p:spPr>
          <a:xfrm>
            <a:off x="8903970" y="4209843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0" name="TextBox 29"/>
          <p:cNvSpPr txBox="1"/>
          <p:nvPr/>
        </p:nvSpPr>
        <p:spPr>
          <a:xfrm>
            <a:off x="9013698" y="4337859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LIQUID SHARE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13698" y="4593891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63.0%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1369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Daily to quarterly [S3]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4" name="TextBox 3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S5 · S8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EVIDENCE-BASED MONITORING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Review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AT A GLANCE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22809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32584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Area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Evidence-based finding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2584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Performance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Trailing 1Y return is 0.6pp below the policy benchmark [S4].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2584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Public-equity selection is the largest negative effect for the review period [S5].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2584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 / policy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 allocation bands remain inside their governed ranges [S3].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2584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Risk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Realized volatility is below the benchmark; the private-assets risk contribution is the largest [S4][S7].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2584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Liquidity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Daily-to-quarterly assets cover 63.0% of NAV; unfunded commitments equal 9.3% [S3].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2584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Exposure / concentration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The largest manager is 12.8% of NAV against a 15.0% policy limit [S3][S6].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3990844"/>
            <a:ext cx="10908792" cy="78926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3990844"/>
            <a:ext cx="54864" cy="78926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4100572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Scope of this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4384036"/>
            <a:ext cx="10616184" cy="30463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This monitoring report provides sourced analysis and considerations for discussion. It does not contain investment recommendations, trades, allocation changes, manager actions or proposed votes.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889834"/>
            <a:ext cx="10908792" cy="132808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Rectangle 15"/>
          <p:cNvSpPr/>
          <p:nvPr/>
        </p:nvSpPr>
        <p:spPr>
          <a:xfrm>
            <a:off x="640080" y="4889834"/>
            <a:ext cx="54864" cy="1328085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804671" y="4999562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headline signal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1" y="5283026"/>
            <a:ext cx="10616184" cy="84345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sample report carries a 2 policy items on watch signal [S1]. Why it matters: This signal focuses oversight on the report's most decision-relevant condition. Uncertainty: Evidence coverage may exclude newer or more detailed observations. What would change the view: A governed refresh showing a different signal or breached threshold.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S3 · S4 · S5 · S6 · S7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EVIDENCE-BASED MONITORING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Review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234043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2340434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primary measure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185580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Trailing 1Y is 8.4% in the review evidence [S2]. Why it matters: This measure establishes the baseline for comparing later governed results. Uncertainty: The source basis may omit newer observations outside the reviewed evidence. What would change the view: A refreshed source report showing a change above 1%.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776042"/>
            <a:ext cx="10908792" cy="244187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3776042"/>
            <a:ext cx="54864" cy="2441877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04671" y="388577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monitoring priority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4169234"/>
            <a:ext cx="10616184" cy="195724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Liquid share is 63.0% in the review evidence [S3]. Why it matters: This result determines which item receives priority in the next monitoring cycle. Uncertainty: Supporting coverage may omit later filings or corroborating detail. What would change the view: A new filing or report that resolves the item or changes it by 1%.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FRAMEWORK AGAINST WHICH RESULTS ARE MONITORED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Mandate, Policy and Data Basis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Northstar Total Fund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Organization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Institution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Review period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2026-04-01 to 2026-06-30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 currency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benchmark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Northstar Policy Benchmark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 basis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Net of investment-management fees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Assumption set / regime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2026 CMA / Baseline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S4 · S8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FRAMEWORK AGAINST WHICH RESULTS ARE MONITORED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Mandate, Policy and Data Basis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POLICY FRAMEWORK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76962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Area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Objective or limit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Observed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 objective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5.5% nominal over 10 years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6.2% expected return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Realized volatility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or below 12.0%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Maximum drawdown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Monitor at -18.0%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-12.4%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assets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15.0% to 30.0%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28.2%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Single manager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or below 15.0%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S6 · S8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CONTEXT IS SEPARATE FROM PORTFOLIO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Period and Market Context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returned market context describes positive global-equity returns and modestly wider credit spreads during the quarter ended 2026-06-30 [S9]. These facts provide background only; historical attribution, not market narrative, identifies the portfolio's active-return effects [S5].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 · S9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CONTEXT IS SEPARATE FROM PORTFOLIO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Period and Market Context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SELECTED MARKET RETURNS FOR CONTEXT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CONTEXT IS SEPARATE FROM PORTFOLIO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Period and Market Context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context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regime and capital-market figures used later are assumptions, not forecasts [S8][S9].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S8 · S9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OBSERVED PERFORMANCE VERSUS THE POLICY BENCHMARK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Returns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GROWTH OF 100 SINCE 2022-06-30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OBSERVED PERFORMANCE VERSUS THE POLICY BENCHMARK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Returns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STANDARD PERIODS TO 2026-06-30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4416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55206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Excess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5206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QTD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-0.4pp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5206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YTD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4.6%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-0.5pp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5206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-0.6pp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5206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3Y (ann.)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-0.4pp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5206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5Y (ann.)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6.3%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6.1%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+0.2pp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5206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10Y (ann.)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Insufficient history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5206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Since inception (ann.)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6.6%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+0.2pp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603504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Returned period labels, annualization and coverage are preserved [S4].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OBSERVED PERFORMANCE VERSUS THE POLICY BENCHMARK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Returns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CALENDAR-YEAR EXCESS RETURNS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OBSERVED PERFORMANCE VERSUS THE POLICY BENCHMARK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Returns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CALENDAR YEARS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26226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3711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Year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Excess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3711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-7.2%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-8.0%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+0.8pp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Full year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3711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2023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8.7%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+0.4pp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Full year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3711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-0.7pp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Full year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3711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2025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6.9%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+0.4pp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Full year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3711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partial (Jan–Jun)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4.6%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5.1%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-0.5pp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Partial year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4241175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The 2026 partial year is cumulative and is not annualized [S4].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533783"/>
            <a:ext cx="10908792" cy="168413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4533783"/>
            <a:ext cx="54864" cy="1684136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464351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Recent relative returns weakened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4926975"/>
            <a:ext cx="10616184" cy="11995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strongest full year is +0.8pp in 2022 and the weakest is -0.7pp in 2024 [S4]. Why it matters: Recent QTD, YTD and 1Y periods also trail…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REALIZED BRINSON-FACHLER EFFECTS FOR THE REVIEW PERIOD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Attribution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ALLOCATION, SELECTION AND INTERACTION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REALIZED BRINSON-FACHLER EFFECTS FOR THE REVIEW PERIOD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Attribution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TOTAL ATTRIBUTION EFFECTS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21168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35280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Effect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Contribution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5280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+0.18pp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280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Selection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-0.51pp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5280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Interaction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-0.05pp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280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Residual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-0.02pp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5280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Total active return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-0.40pp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3826763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SEGMENT ATTRIBUTION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" y="4101083"/>
          <a:ext cx="10908792" cy="19156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1927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Selection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Interaction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Total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1927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Public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+0.04pp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-0.31pp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-0.03pp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-0.30pp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1927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Assets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+0.06pp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-0.12pp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-0.01pp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-0.07pp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927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Fixed Income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+0.05pp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-0.05pp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1927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 Assets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+0.02pp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-0.02pp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-0.01pp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-0.01pp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9282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Cash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+0.01pp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-0.01pp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40080" y="6035039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Rows are sorted by absolute returned total effect [S5].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REALIZED BRINSON-FACHLER EFFECTS FOR THE REVIEW PERIOD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Attribution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94001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94001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Reconciliation diagnostic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4553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returned residual is -0.02pp against a 1 bp tolerance; the method details below preserve the server basis and version [S5].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37562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RECONCILIATION AND METHOD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40080" y="2649940"/>
          <a:ext cx="10908792" cy="35679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44599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active return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-0.40pp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599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Sum of linked effects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-0.38pp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4599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Residual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-0.02pp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599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Method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Realized Brinson-Fachler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4599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Linking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Symmetric Carino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599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Net, monthly linked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4599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600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Formula version / tolerance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portfolio-attribution-v1 / 1 bp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REALIZED BRINSON-FACHLER EFFECTS FOR THE REVIEW PERIOD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Attribution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Selection drove the shortfall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Public-equity selection is the largest negative segment effect at -0.31pp [S5]. Why it matters: One segment explains most active shortfall. Uncertainty: The unexplained -0.02pp residual remains outside…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CURRENT WEIGHTS, POLICY RANGES AND HEADROOM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Allocation and Policy Compliance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WEIGHT VERSUS POLICY RANGE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36776"/>
            <a:ext cx="1828800" cy="87782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Public Equity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94788" y="1951146"/>
            <a:ext cx="3334043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Oval 11"/>
          <p:cNvSpPr/>
          <p:nvPr/>
        </p:nvSpPr>
        <p:spPr>
          <a:xfrm>
            <a:off x="9775287" y="1877263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9548094" y="1784908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2560320"/>
            <a:ext cx="1828800" cy="87782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Fixed Income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60852" y="2874690"/>
            <a:ext cx="3334043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Oval 15"/>
          <p:cNvSpPr/>
          <p:nvPr/>
        </p:nvSpPr>
        <p:spPr>
          <a:xfrm>
            <a:off x="6374563" y="2800807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Rectangle 16"/>
          <p:cNvSpPr/>
          <p:nvPr/>
        </p:nvSpPr>
        <p:spPr>
          <a:xfrm>
            <a:off x="6714157" y="2708452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40080" y="3483864"/>
            <a:ext cx="1828800" cy="87782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Private Assets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60852" y="3798234"/>
            <a:ext cx="2500532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Oval 19"/>
          <p:cNvSpPr/>
          <p:nvPr/>
        </p:nvSpPr>
        <p:spPr>
          <a:xfrm>
            <a:off x="7224744" y="3724351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Rectangle 20"/>
          <p:cNvSpPr/>
          <p:nvPr/>
        </p:nvSpPr>
        <p:spPr>
          <a:xfrm>
            <a:off x="6714157" y="3631996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640080" y="4407408"/>
            <a:ext cx="1828800" cy="87782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Real Assets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893724" y="4721778"/>
            <a:ext cx="1333617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Oval 23"/>
          <p:cNvSpPr/>
          <p:nvPr/>
        </p:nvSpPr>
        <p:spPr>
          <a:xfrm>
            <a:off x="3140541" y="4647895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Rectangle 24"/>
          <p:cNvSpPr/>
          <p:nvPr/>
        </p:nvSpPr>
        <p:spPr>
          <a:xfrm>
            <a:off x="3380114" y="4555540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640080" y="5330952"/>
            <a:ext cx="1828800" cy="87782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Cash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560320" y="5645322"/>
            <a:ext cx="1333617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8" name="Oval 27"/>
          <p:cNvSpPr/>
          <p:nvPr/>
        </p:nvSpPr>
        <p:spPr>
          <a:xfrm>
            <a:off x="2773797" y="5571439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9" name="Rectangle 28"/>
          <p:cNvSpPr/>
          <p:nvPr/>
        </p:nvSpPr>
        <p:spPr>
          <a:xfrm>
            <a:off x="3046710" y="5479084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0" name="Rectangle 2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1" name="TextBox 3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CURRENT WEIGHTS, POLICY RANGES AND HEADROOM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Allocation and Policy Compliance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ACTUAL ALLOCATION BY ASSET CLASS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CURRENT WEIGHTS, POLICY RANGES AND HEADROOM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Allocation and Policy Compliance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ASSET CLASS VERSUS POLICY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19156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482852"/>
                <a:gridCol w="1482852"/>
                <a:gridCol w="1482852"/>
                <a:gridCol w="1482852"/>
                <a:gridCol w="1482852"/>
                <a:gridCol w="1482852"/>
              </a:tblGrid>
              <a:tr h="31927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Asset class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Target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Actual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Range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Headroom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1927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Public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43.5%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+1.5pp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32–52%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8.5pp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927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Fixed Income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25.0%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23.1%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-1.9pp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15–35%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8.1pp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927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Assets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28.2%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+3.2pp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15–30%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1.8pp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927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 Assets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3.7%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-1.3pp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2–10%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1.7pp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928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Cash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-1.5pp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0–8%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1.5pp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3534155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Governed status and headroom are preserved from the policy result [S3].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26763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SUB-ALLOCATION VERSUS POLICY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0080" y="4101083"/>
          <a:ext cx="10908792" cy="19156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482852"/>
                <a:gridCol w="1482852"/>
                <a:gridCol w="1482852"/>
                <a:gridCol w="1482852"/>
                <a:gridCol w="1482852"/>
                <a:gridCol w="1482852"/>
              </a:tblGrid>
              <a:tr h="31927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Asset class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Target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Actual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Range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Headroom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1927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24.0%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18–30%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927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Non-US Equity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18.0%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18.5%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+0.5pp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12–24%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5.5pp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927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Core Bonds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13.6%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-1.4pp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10–20%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3.6pp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927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Credit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11.8%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+1.8pp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5–14%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2.2pp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928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16.4%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+1.4pp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8–18%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1.6pp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40080" y="6035039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Total-portfolio targets are returned directly; parent and child targets are not multiplied [S2][S3].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CURRENT WEIGHTS, POLICY RANGES AND HEADROOM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Allocation and Policy Compliance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183867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183867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Peer allocation context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135403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licensed — Peer allocation context was skipped because peerIntelligence is not available for this organization. This review uses portfolio evidence only.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274278"/>
            <a:ext cx="10908792" cy="294364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3274278"/>
            <a:ext cx="54864" cy="2943641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04671" y="3384006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Private-assets headroom is narrow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3667470"/>
            <a:ext cx="10616184" cy="245900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Private Assets has 1.8pp upper-band headroom and Real Assets sits 1.7pp above its lower band [S3]. Why it matters: Valuation changes can alter status without policy changes…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HOLDINGS, MANAGER AND LOOK-THROUGH CONCENTRATIONS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Exposures and Concentration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VALUE BY EXPOSURE CLASSIFICATION ($M)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HOLDINGS, MANAGER AND LOOK-THROUGH CONCENTRATIONS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Exposures and Concentration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EXPOSURE-WEIGHTED DILIGENCE FINDINGS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7703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385181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Severity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Finding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Detail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8518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Manager A review is due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The manager represents 12.8% of NAV and has an open key-person review item [S6][S11].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2480291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LARGEST MANAGER AND HOLDING EXPOSURES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" y="2754611"/>
          <a:ext cx="10908790" cy="15396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30792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Exposure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Classification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Value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% NAV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0792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Manager 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Public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$192.0M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792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Manager B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equity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$171.0M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11.4%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2026-03-31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Lagged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0792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Manager 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Fixed income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$157.5M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792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Issuer 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13F look-through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$28.5M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1.9%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2026-05-15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Partial [S10]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40080" y="4403969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CONCENTRATION CHECKS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40080" y="4678289"/>
          <a:ext cx="10908792" cy="15396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0792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Axis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Observed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Limit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0792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Largest 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43.5%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792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Largest manager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12.8%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0792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Top five managers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46.9%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792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Largest issuer look-through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1.9%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assessed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[S10]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S6 · S10 · S11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HOLDINGS, MANAGER AND LOOK-THROUGH CONCENTRATIONS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Exposures and Concentration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193063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1930637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Form 13F coverage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144600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Form 13F can lag quarter end by up to 45 days and covers long US-listed equity positions only. It excludes shorts, cash, non-US listings and private holdings; reported USD values are not FX-converted against NAV [S10].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366245"/>
            <a:ext cx="10908792" cy="285167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3366245"/>
            <a:ext cx="54864" cy="2851674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04671" y="3475973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Exposure amplifies open findings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3759437"/>
            <a:ext cx="10616184" cy="236704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Example Manager A represents 12.8% of NAV and has one open medium finding [S6][S11]. Why it matters: High exposure can transmit operational concern. Uncertainty: Completed closure evidence…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 · S10 · S11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OBSERVED RISK AND RETURNED CONTRIBUTION MEASURES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Realized Risk and Decomposition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RISK CONTRIBUTION BY ASSET CLASS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OBSERVED RISK AND RETURNED CONTRIBUTION MEASURES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Realized Risk and Decomposition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REALIZED RISK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2956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36958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Annualized volatility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9.1% (benchmark 10.0%)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958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Maximum drawdown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-12.4%: peak 2022-08, trough 2023-03, recovered 2024-02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958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Best / worst month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4.1% / -4.8%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958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Positive months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31 of 48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958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Beta to benchmark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0.88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958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Tracking error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2.4%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958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Information ratio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-0.17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958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95% CVaR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 — historical contract did not return CVaR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4666632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POLICY RISK LIMITS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" y="4940952"/>
          <a:ext cx="10908792" cy="12769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19241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Metric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Observed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Limit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19241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Volatility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9.1%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48 months [S3][S4]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19241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Maximum drawdown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-12.4%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-18.0%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48 months [S3][S4]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924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95% CVaR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assessed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Observation missing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S3 · S4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OBSERVED RISK AND RETURNED CONTRIBUTION MEASURES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Realized Risk and Decomposition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Observed risk remains compliant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Realized volatility and drawdown are compliant, while CVaR is not assessed [S3][S4]. Why it matters: Observed risk and an unavailable measure require separate treatment. Uncertainty: Modeled-contribution assumptions…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FORWARD ASSUMPTIONS, NOT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Projected Return and Risk Decomposition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264490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2644902" cy="4572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749808" y="145389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GRIP SCORE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70992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63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Available history [S12]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94710" y="1325880"/>
            <a:ext cx="264490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3394710" y="1325880"/>
            <a:ext cx="2644902" cy="4572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3504438" y="145389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GRIP STANCE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4438" y="170992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Balanced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443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context [S12]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49340" y="1325880"/>
            <a:ext cx="264490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Rectangle 19"/>
          <p:cNvSpPr/>
          <p:nvPr/>
        </p:nvSpPr>
        <p:spPr>
          <a:xfrm>
            <a:off x="6149340" y="1325880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259068" y="145389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POLICY EXPECTED RETURN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9068" y="170992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6.2%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5906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basis [S3][S8]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03970" y="1325880"/>
            <a:ext cx="264490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Rectangle 24"/>
          <p:cNvSpPr/>
          <p:nvPr/>
        </p:nvSpPr>
        <p:spPr>
          <a:xfrm>
            <a:off x="8903970" y="1325880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9013698" y="145389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RETURN OBJECTIVE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13698" y="170992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5.5%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1369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Policy objective [S3]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0" name="TextBox 2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S8 · S12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FORWARD ASSUMPTIONS, NOT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Projected Return and Risk Decomposition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FORWARD ASSUMPTION RANGE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36776"/>
            <a:ext cx="1828800" cy="22631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Expected return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60320" y="2477566"/>
            <a:ext cx="1977029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Oval 11"/>
          <p:cNvSpPr/>
          <p:nvPr/>
        </p:nvSpPr>
        <p:spPr>
          <a:xfrm>
            <a:off x="3588298" y="2292858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3611158" y="2061972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3945636"/>
            <a:ext cx="1828800" cy="22631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Expected volatility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95565" y="4786426"/>
            <a:ext cx="2433266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Oval 15"/>
          <p:cNvSpPr/>
          <p:nvPr/>
        </p:nvSpPr>
        <p:spPr>
          <a:xfrm>
            <a:off x="9975622" y="4601718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Rectangle 16"/>
          <p:cNvSpPr/>
          <p:nvPr/>
        </p:nvSpPr>
        <p:spPr>
          <a:xfrm>
            <a:off x="9998482" y="4370832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Rectangle 1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FORWARD ASSUMPTIONS, NOT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Projected Return and Risk Decomposition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ASSUMPTION CONTEXT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22848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38080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Assumption set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2026 CMA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080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CMA release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2026.2 (2026-06-15)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080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Regime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Baseline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080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Horizon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 years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080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080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 basis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policy and CMA evidence [S3,S8]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3994737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FORWARD ASSUMPTIONS AND DECOMPOSITION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" y="4269057"/>
          <a:ext cx="10908792" cy="19488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2481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Measure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/ reference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2481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return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6.1%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10-year nominal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481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volatility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governed saved-portfolio statistic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2481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max drawdown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governed saved-portfolio statistic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481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95% CVaR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governed saved-portfolio statistic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24812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Largest risk contribution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Public Equity 46.0%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n/a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Forward assumptions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S3 · S7 · S8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FORWARD ASSUMPTIONS, NOT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Projected Return and Risk Decomposition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177628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1776287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Selected-series sandbox — not saved-portfolio analytics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129165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no Strategy Lab return series selected. Saved-portfolio forward evidence is limited to governed policy and CMA assumptions [S3][S8].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211895"/>
            <a:ext cx="10908792" cy="300602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3211895"/>
            <a:ext cx="54864" cy="3006024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04671" y="3321623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Forward context supports monitoring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3605087"/>
            <a:ext cx="10616184" cy="25213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Expected return is 0.7pp above the policy objective while GRIP is balanced [S3][S8][S12]. Why it matters: The evidence frames monitoring without forecasting. Uncertainty: Saved-portfolio volatility, drawdown and…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S8 · S12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LIQUIDITY PROFILE, UNFUNDED COMMITMENTS AND PACING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 and Commitments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LIQUIDITY TIERS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LIQUIDITY PROFILE, UNFUNDED COMMITMENTS AND PACING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 and Commitments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PROJECTED CALLS AND DISTRIBUTIONS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LIQUIDITY PROFILE, UNFUNDED COMMITMENTS AND PACING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 and Commitments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LIQUIDITY PROFILE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17202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4404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Bucket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% NAV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Amount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requirement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4404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Daily to weekly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48.0%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$720.0M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least 25.0%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404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Monthly to quarterly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$225.0M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Included in liquid share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404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Semi-annual to 2 years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$180.0M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Monitor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404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Over 2 years / locked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25.0%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$375.0M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or below 30.0%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3338724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Buckets and governed statuses are returned by the policy contract [S3].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" y="3631332"/>
          <a:ext cx="10908792" cy="25865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51731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Locked share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25.0%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1731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Unfunded commitment ratio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9.3% 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1731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Liquid assets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$945.0M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1731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Unfunded commitments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$139.5M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1731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for 31 commitments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S3 · S6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LIQUIDITY PROFILE, UNFUNDED COMMITMENTS AND PACING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 and Commitments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Liquidity covers near-term calls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Daily-to-quarterly assets are 63.0% of NAV and unfunded commitments are 9.3% [S3][S6]. Why it matters: Liquid coverage remains compliant as calls exceed distributions. Uncertainty: Pacing results are…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S6 · S7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AVAILABILITY, BASIS AND 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Coverage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32613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Organization and 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Live sample scope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record and allocation tree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 asset classes; as of 2026-06-30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assessment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Allocation, risk, liquidity and concentration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returns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48 months; net basis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degraded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Residual -2 bps vs 1 bp tolerance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Holdings 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31 commitments; all pages retrieved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chart packs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allocations and commitments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Capital-market assumptions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2026 CMA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Market context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 2026-06-30 [S9]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13F look-through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degraded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Long-only US-listed equity; as of 2026-05-15 [S10]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diligence findings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One open medium finding for a resolved manager [S11]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GRIP context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Balanced stance with available history [S12]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Peer allocation intelligence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licensed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licensed — peerIntelligence is not available for this organization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Strategy Lab supplement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selected return-series session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 · S8 · S9 · S10 · S11 · S12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6908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112139"/>
                <a:gridCol w="1112139"/>
                <a:gridCol w="1112139"/>
                <a:gridCol w="1112139"/>
                <a:gridCol w="1112139"/>
                <a:gridCol w="1112139"/>
                <a:gridCol w="1112139"/>
                <a:gridCol w="1112139"/>
              </a:tblGrid>
              <a:tr h="36083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Tool / 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Key parameters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Validation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Organization and 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list_organizations; get_gradient_capabilities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organization_id=test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{'chip': 'passed', 'status': 'passed'}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record and allocation tree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list_portfolios; get_portfolio_structure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view=allocation_tree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{'chip': 'passed', 'status': 'passed'}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assessment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check_portfolio_policy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portfolio_id=test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{'chip': 'passed', 'status': 'passed'}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returns and realized risk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get_portfolio_historical_returns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 six sections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{'chip': 'passed', 'status': 'passed'}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summary, segments, diagnostics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{'chip': 'partial', 'status': 'partial'}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Holdings 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 pages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{'chip': 'passed', 'status': 'passed'}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chart packs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get_chart_data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allocations, commitments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{'chip': 'passed', 'status': 'passed'}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Capital-market assumptions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get_capital_market_assumptions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view=baseline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2026-06-15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{'chip': 'passed', 'status': 'passed'}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Market context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get_the_read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visuals=none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{'chip': 'passed', 'status': 'passed'}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13F look-through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get_cross_domain_research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portfolio_13f_lookthrough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2026-05-15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{'chip': 'partial', 'status': 'partial'}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diligence findings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get_manager_diligence_findings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view=open; resolved portfolio managers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{'chip': 'passed', 'status': 'passed'}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084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GRIP context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get_macro_signals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view=gradient_signal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{'chip': 'passed', 'status': 'passed'}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603504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managers. All organizations, portfolios, managers and results in this public example are illustrative.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 · S8 · S9 · S10 · S11 · S12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Server Metric Methods and Disclosures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SERVER METRIC METHODS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65967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Quantity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Method / formula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Version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 / units / tolerance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Geometrically linked server periods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historical-returns-v1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Net; decimal fraction; returned annualization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Realized risk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Historical-return risk bundle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historical-risk-v1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Monthly observations; annualized where labelled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Realized Brinson-Fachler; symmetric-Carino linking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portfolio-attribution-v1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Percentage points; 1 bp tolerance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status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portfolio-policy assessment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portfolio-policy-v1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Returned limits, headroom and status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Exposure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Server exposure aggregates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portfolio-exposure-v1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base currency; unfunded excluded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5967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Forward statistics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Expected-statistics and allocation chart packs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chart-contract-v1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10-year assumptions; context fingerprint retained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S5 · S6 · S7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Server Metric Methods and Disclosures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Forward-looking values are assumptions, not forecasts or guarantees [S7][S8].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Performance is net of investment-management fees as returned; periods over one year are annualized only where labelled [S4].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Historical attribution uses realized Brinson-Fachler effects and symmetric-Carino linking [S5].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Private-market values and Form 13F filings may lag the report date [S6][S10].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Portfolio Analytics and Strategy Lab are separate analytical scopes [S7].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This AI-assisted monitoring analysis is not investment, legal or compliance advice.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 · S5 · S6 · S7 · S8 · S10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Northstar Total Fund</dc:title>
  <dc:subject>Comprehensive Portfolio Review</dc:subject>
  <dc:creator>GradientCIO</dc:creator>
  <cp:keywords>Gradient report theme 2.3.0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