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 periods are not independent. What would change the view: A full-year result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of the active shortfall. Uncertainty: The -0.02pp residual exceeds tolerance. What would change the view: Manager-level evidence showing the effect is broad rather than concentrated.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of upper-band headroom and Real Assets has 1.7pp above its lower band [S3]. Why it matters: Valuation changes can alter status without policy changes. Uncertainty: Private valuations lag. What would change the view: Updated valuations or pacing that materially changes headroom.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an open medium finding [S6][S11]. Why it matters: A high-exposure manager can transmit an operational concern to portfolio oversight. Uncertainty: The finding remains open. What would change the view: Closure evidence or materially lower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 contribution is not policy status. What would change the view: A returned CVaR observation or a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Governed liquid coverage remains compliant as calls exceed distributions. Uncertainty: Pacing is a returned projection. What would change the view: Higher calls, lower liquid assets or a policy-status change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Example Comprehensive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Quarterly comprehensive review · period to 2026-06-30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$1,500.0M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Example Policy Benchmark (TEST)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Comprehensive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7742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7742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Review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96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are on watch [S3]. Realized volatility was 9.1%, and the forward assumptions indicate a 6.2% expected return with 10.4% expected volatility [S4][S8].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TRAILING 1Y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8.4%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Benchmark 9.0% [S4]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420984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ACTIVE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-0.6pp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1Y to 2026-06-30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REALIZED VOLATILITY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9.1%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Benchmark 10.0%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209843"/>
            <a:ext cx="2644902" cy="20080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420984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433785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LIQUID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59389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63.0%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Daily to quarterly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509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84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84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84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84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84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84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84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219151"/>
            <a:ext cx="10908792" cy="8597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19151"/>
            <a:ext cx="54864" cy="85978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32887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Scope of this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612343"/>
            <a:ext cx="10616184" cy="3751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188661"/>
            <a:ext cx="10908792" cy="10292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188661"/>
            <a:ext cx="54864" cy="102925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29838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581853"/>
            <a:ext cx="10616184" cy="5446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2 policy items on watch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 · S5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4155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41550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308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Trailing 1Y is 8.4%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51113"/>
            <a:ext cx="10908792" cy="23668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51113"/>
            <a:ext cx="54864" cy="23668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9608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44305"/>
            <a:ext cx="10616184" cy="18821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Liquid share is 63.0%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Mandate, Policy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Comprehensive Portfolio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Institution (TEST)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Policy Benchmark (TEST)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2026 CMA (TEST)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S4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Mandate, Policy and Data Basis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POLICY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Period and 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Period and Market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SELECTED MARKET RETURNS FOR CONTEXT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Period and Market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Forward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regime and capital-market figures used later are assumptions, not forecasts [S8][S9].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Returns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GROWTH OF 100 SINCE 2022-06-30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Returned period labels, annualization and coverage are preserved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CALENDAR-YEAR EXCESS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CALENDAR YEARS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707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121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12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12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12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121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12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32576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The 2026 partial year is cumulative and is not annualized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618375"/>
            <a:ext cx="10908792" cy="159954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8375"/>
            <a:ext cx="54864" cy="159954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72810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Recent relative returns weakened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011567"/>
            <a:ext cx="10616184" cy="11149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ALLOCATION, SELECTION AND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TOTAL ATTRIBUTION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SEGMENT ATTRIBUTION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Rows are sorted by absolute returned total effect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RECONCILIATION AND 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209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1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1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919091"/>
            <a:ext cx="10908792" cy="12988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919091"/>
            <a:ext cx="54864" cy="12988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502881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Selection drove the shortfall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312283"/>
            <a:ext cx="10616184" cy="8141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Public-equity selection is the largest negative segment effect at -0.31pp [S5]. Why it matters: One segment explains most of the active shortfall. Uncertainty: The -0.02pp residual exceeds…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Allocation and Policy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Public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Fixed Income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Private Assets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Real Assets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Cash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ACTUAL ALLOCATION BY ASSET CLASS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ASSET CLASS VERSUS POLICY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Governed status and headroom are preserved from the policy result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SUB-ALLOCATION VERSUS POLICY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Total-portfolio targets are returned directly; parent and child targets are not multiplied [S2][S3].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983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9832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Peer allocation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4136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licensed — Peer allocation context was skipped because peerIntelligence is not available for this organization. This review uses portfolio evidence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33930"/>
            <a:ext cx="10908792" cy="28839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33930"/>
            <a:ext cx="54864" cy="28839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4436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Private-assets headroom is narrow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727122"/>
            <a:ext cx="10616184" cy="23993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Private Assets has 1.8pp of upper-band headroom and Real Assets has 1.7pp above its lower band [S3]. Why it matters: Valuation changes can alter status without policy…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VALUE BY EXPOSURE CLASSIFICATION ($M)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95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4799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799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0591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LARGEST MANAGER AND HOLDING EXPOSURES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80239"/>
          <a:ext cx="10908790" cy="293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961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61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61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Manager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61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Manager C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61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Fund 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61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Issuer E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Partial [S10]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 · S10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CONCENTRATION CHECKS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90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80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80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80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80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80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700301"/>
            <a:ext cx="10908792" cy="9941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700301"/>
            <a:ext cx="54864" cy="9941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81002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Form 13F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93493"/>
            <a:ext cx="10616184" cy="5095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4196"/>
            <a:ext cx="10908792" cy="14137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04196"/>
            <a:ext cx="54864" cy="141372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491392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Exposure amplifies open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197388"/>
            <a:ext cx="10616184" cy="9290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Example Manager A represents 12.8% of NAV and has an open medium finding [S6][S11]. Why it matters: A high-exposure manager can transmit an operational concern to portfolio…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 · S10 · S11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Realized Risk and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RISK CONTRIBUTION BY ASSET CLASS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REALIZED RISK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POLICY RISK LIMITS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Observed risk remains compliant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Realized volatility and drawdown are compliant, while CVaR is not assessed [S3][S4]. Why it matters: Observed risk and an unavailable measure require separate treatment. Uncertainty: Modeled contribution…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Projected Return and Risk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GRIP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Available history [S12]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GRIP 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Balanced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Current context [S12]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POLICY EXPECTED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Governed basis [S3][S8]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RETURN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5.5%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Policy objective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S8 · S12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FORWARD ASSUMPTION RANGE (TEST)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Expected return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Expected volatility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ASSUMPTION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2026 CMA (TEST)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FORWARD ASSUMPTIONS AND DECOMPOSITION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762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762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Selected-series sandbox — not saved-portfolio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916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11895"/>
            <a:ext cx="10908792" cy="3006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11895"/>
            <a:ext cx="54864" cy="3006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3216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Forward context supports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05087"/>
            <a:ext cx="10616184" cy="2521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S8 · 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Commitments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TIERS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PROJECTED CALLS AND DISTRIBUTIONS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Quarter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2026-Q3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2026-Q4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24,000,000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2027-Q1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21,000,000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2027-Q2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0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40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3387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Buckets and governed statuses are returned by the policy contract [S3].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631332"/>
          <a:ext cx="10908792" cy="2586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Liquidity covers near-term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Daily-to-quarterly assets are 63.0% of NAV and unfunded commitments are 9.3% [S3][S6]. Why it matters: Governed liquid coverage remains compliant as calls exceed distributions. Uncertainty: Pacing is…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Live fictional TEST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chart packs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allocations and commitments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2026 CMA (TEST)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licensed — peerIntelligence is not available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 · S10 · S11 · S12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3763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chart packs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get_chart_data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allocations,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portfolio_13f_lookthrough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63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 · S10 · S11 · S12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Expected-statistics and allocation chart packs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AI-assisted monitoring analysis is not investment, legal or compliance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S5 · S6 · S7 · S8 · 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Comprehensive Portfolio (TEST)</dc:title>
  <dc:subject>Comprehensive Portfolio Review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