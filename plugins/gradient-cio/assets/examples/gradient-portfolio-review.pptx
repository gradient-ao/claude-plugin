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Global equity</c:v>
                </c:pt>
                <c:pt idx="1">
                  <c:v>Core bonds</c:v>
                </c:pt>
                <c:pt idx="2">
                  <c:v>Real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4.1000000000000005</c:v>
                </c:pt>
                <c:pt idx="1">
                  <c:v>1.2</c:v>
                </c:pt>
                <c:pt idx="2">
                  <c:v>2.3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96.0</c:v>
                </c:pt>
                <c:pt idx="2">
                  <c:v>100.1</c:v>
                </c:pt>
                <c:pt idx="3">
                  <c:v>104.7</c:v>
                </c:pt>
                <c:pt idx="4">
                  <c:v>108.0</c:v>
                </c:pt>
                <c:pt idx="5">
                  <c:v>112.6</c:v>
                </c:pt>
                <c:pt idx="6">
                  <c:v>116.0</c:v>
                </c:pt>
                <c:pt idx="7">
                  <c:v>120.4</c:v>
                </c:pt>
                <c:pt idx="8">
                  <c:v>125.9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95.5</c:v>
                </c:pt>
                <c:pt idx="2">
                  <c:v>99.9</c:v>
                </c:pt>
                <c:pt idx="3">
                  <c:v>103.8</c:v>
                </c:pt>
                <c:pt idx="4">
                  <c:v>107.8</c:v>
                </c:pt>
                <c:pt idx="5">
                  <c:v>112.3</c:v>
                </c:pt>
                <c:pt idx="6">
                  <c:v>116.2</c:v>
                </c:pt>
                <c:pt idx="7">
                  <c:v>119.6</c:v>
                </c:pt>
                <c:pt idx="8">
                  <c:v>125.7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-0.7pp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 partial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0.4</c:v>
                </c:pt>
                <c:pt idx="2">
                  <c:v>-0.7</c:v>
                </c:pt>
                <c:pt idx="3">
                  <c:v>0.4</c:v>
                </c:pt>
                <c:pt idx="4">
                  <c:v>-0.5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0.18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0.51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28.199999999999996</c:v>
                </c:pt>
                <c:pt idx="2">
                  <c:v>23.1</c:v>
                </c:pt>
                <c:pt idx="3">
                  <c:v>3.6999999999999997</c:v>
                </c:pt>
                <c:pt idx="4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$652.5M · 43.5%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$423.0M · 28.2%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$346.5M · 23.1%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$55.5M · 3.7%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$22.5M · 1.5%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652.5</c:v>
                </c:pt>
                <c:pt idx="1">
                  <c:v>423.0</c:v>
                </c:pt>
                <c:pt idx="2">
                  <c:v>346.5</c:v>
                </c:pt>
                <c:pt idx="3">
                  <c:v>55.5</c:v>
                </c:pt>
                <c:pt idx="4">
                  <c:v>22.5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46.0</c:v>
                </c:pt>
                <c:pt idx="1">
                  <c:v>31.0</c:v>
                </c:pt>
                <c:pt idx="2">
                  <c:v>12.0</c:v>
                </c:pt>
                <c:pt idx="3">
                  <c:v>8.0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to weekly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to quarterly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Semi-annual to 2 years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 2 years / locked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2026-Q3</c:v>
                </c:pt>
                <c:pt idx="1">
                  <c:v>2026-Q4</c:v>
                </c:pt>
                <c:pt idx="2">
                  <c:v>2027-Q1</c:v>
                </c:pt>
                <c:pt idx="3">
                  <c:v>2027-Q2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28000000.0</c:v>
                </c:pt>
                <c:pt idx="1">
                  <c:v>24000000.0</c:v>
                </c:pt>
                <c:pt idx="2">
                  <c:v>21000000.0</c:v>
                </c:pt>
                <c:pt idx="3">
                  <c:v>18000000.0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Recent relative returns weakened</a:t>
            </a:r>
          </a:p>
          <a:p>
            <a:r>
              <a:t>Observation: The strongest full year is +0.8pp in 2022 and the weakest is -0.7pp in 2024 [S4]. Why it matters: Recent QTD, YTD and 1Y periods also trail. Uncertainty: Overlapping-period coverage reuses some underlying observations. What would change the view: A full-year report showing sustained relative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drove the shortfall</a:t>
            </a:r>
          </a:p>
          <a:p>
            <a:r>
              <a:t>Observation: Public-equity selection is the largest negative segment effect at -0.31pp [S5]. Why it matters: One segment explains most active shortfall. Uncertainty: The unexplained -0.02pp residual remains outside reconciliation coverage. What would change the view: Manager records showing no single source exceeds half the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Private-assets headroom is narrow</a:t>
            </a:r>
          </a:p>
          <a:p>
            <a:r>
              <a:t>Observation: Private Assets has 1.8pp upper-band headroom and Real Assets sits 1.7pp above its lower band [S3]. Why it matters: Valuation changes can alter status without policy changes. Uncertainty: Private valuations lag current public-market records. What would change the view: Refreshed valuations widening headroom above 3.0pp.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Exposure amplifies open findings</a:t>
            </a:r>
          </a:p>
          <a:p>
            <a:r>
              <a:t>Observation: Example Manager A represents 12.8% of NAV and has one open medium finding [S6][S11]. Why it matters: High exposure can transmit operational concern. Uncertainty: Completed closure evidence for the open finding remains unavailable. What would change the view: Closure records or refreshed exposure below 10.0%.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Observed risk remains compliant</a:t>
            </a:r>
          </a:p>
          <a:p>
            <a:r>
              <a:t>Observation: Realized volatility and drawdown are compliant, while CVaR is not assessed [S3][S4]. Why it matters: Observed risk and an unavailable measure require separate treatment. Uncertainty: Modeled-contribution assumptions do not establish governed policy status. What would change the view: A returned CVaR observation or governed risk-limit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Forward context supports monitoring</a:t>
            </a:r>
          </a:p>
          <a:p>
            <a:r>
              <a:t>Observation: Expected return is 0.7pp above the policy objective while GRIP is balanced [S3][S8][S12]. Why it matters: The evidence frames monitoring without forecasting. Uncertainty: Saved-portfolio volatility, drawdown and CVaR are unavailable. What would change the view: A governed refresh below the objective or a materially different GRIP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covers near-term calls</a:t>
            </a:r>
          </a:p>
          <a:p>
            <a:r>
              <a:t>Observation: Daily-to-quarterly assets are 63.0% of NAV and unfunded commitments are 9.3% [S3][S6]. Why it matters: Liquid coverage remains compliant as calls exceed distributions. Uncertainty: Pacing results are assumptions, not confirmed call schedules. What would change the view: Calls above projections or liquid assets below policy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COMPREHENSIVE PORTFOLIO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Quarterly portfolio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PERIOD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$1,500.0M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Policy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Comprehensive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policy items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10 of 12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2639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2639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conclusion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7793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 returned 8.4% over the year to 2026-06-30, 0.6pp behind the policy benchmark [S4]. Historical attribution identifies public-equity selection as the largest negative effect for the review period [S5]. All allocation bands remain compliant, while private assets and manager concentration are on watch [S3]. Realized volatility was 9.1%, and the forward assumptions indicate a 6.2% expected return with 10.4% expected volatility [S4][S8].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9.0% 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69958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1Y to 2026-06-30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VOLATILITY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10.0% [S4]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699588"/>
            <a:ext cx="2644902" cy="25183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69958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382760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08363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quarterly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3341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3344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34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Trailing 1Y return is 0.6pp below the policy benchmark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34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selection is the largest negative effect for the review period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34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/ 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allocation bands remain inside their governed ranges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34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 is below the benchmark; the private-assets risk contribution is the largest [S4][S7].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34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Daily-to-quarterly assets cover 63.0% of NAV; unfunded commitments equal 9.3%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34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 /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largest manager is 12.8% of NAV against a 15.0% policy limit [S3][S6].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044030"/>
            <a:ext cx="10908792" cy="93241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044030"/>
            <a:ext cx="54864" cy="93241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1537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of this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437222"/>
            <a:ext cx="10616184" cy="4477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monitoring report provides sourced analysis and considerations for discussion. It does not contain investment recommendations, trades, allocation changes, manager actions or proposed votes.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86176"/>
            <a:ext cx="10908792" cy="11317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086176"/>
            <a:ext cx="54864" cy="113174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1959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479368"/>
            <a:ext cx="10616184" cy="6471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2 policy items on watch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S5 · S6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Trailing 1Y is 8.4%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63.0%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Institution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2026-04-01 to 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Policy Benchmark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of investment-management fees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/ 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 nominal over 10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at -18.0%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to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market context describes positive global-equity returns and modestly wider credit spreads during the quarter ended 2026-06-30 [S9]. These facts provide background only; historical attribution, not market narrative, identifies the portfolio's active-return effects [S5].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9280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MARKET RETURNS FOR CONTEXT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0080" y="2167127"/>
          <a:ext cx="10908792" cy="32552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532119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5532119"/>
            <a:ext cx="54864" cy="6858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56418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9253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regime and capital-market figures used later are assumptions, not forecasts [S8][S9].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S5 · S8 · S9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 SINCE 2022-06-30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Insufficient history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Since inception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period labels, annualization and coverage are preserved [S4].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EXCESS RETURNS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 YEARS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111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18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854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partial (Jan–Jun)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72973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The 2026 partial year is cumulative and is not annualized [S4].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22342"/>
            <a:ext cx="10908792" cy="11955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5022342"/>
            <a:ext cx="54864" cy="119557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513207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Recent relative returns weakened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415533"/>
            <a:ext cx="10616184" cy="7109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strongest full year is +0.8pp in 2022 and the weakest is -0.7pp in 2024 [S4]. Why it matters: Recent QTD, YTD and 1Y periods also trail…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ALLOCATION, SELECTION AND INTERACTION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 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ATTRIBUTION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sorted by absolute returned total effect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7085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70856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Reconciliation diagnostic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residual is -0.02pp against a 1 bp tolerance; the method details below preserve the server basis and version 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4417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AND METHOD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2418491"/>
          <a:ext cx="10908792" cy="281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 of linked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-0.38pp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18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87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Formula version /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 / 1 bp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5343237"/>
            <a:ext cx="10908792" cy="8746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343237"/>
            <a:ext cx="54864" cy="8746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4529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drove the shortfall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736429"/>
            <a:ext cx="10616184" cy="3900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negative segment effect at -0.31pp [S5]. Why it matters: One segment explains most active shortfall. Uncertainty: The unexplained -0.02pp residual remains outside…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94788" y="1951146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775287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9548094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0852" y="2874690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6374563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714157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0852" y="3798234"/>
            <a:ext cx="250053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7224744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714157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 Assets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93724" y="4721778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3140541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3380114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5645322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Oval 27"/>
          <p:cNvSpPr/>
          <p:nvPr/>
        </p:nvSpPr>
        <p:spPr>
          <a:xfrm>
            <a:off x="2773797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3046710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ACTUAL ALLOCATION BY ASSET CLASS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ASSET CLASS VERSUS POLICY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32–52%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-1.9pp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2–10%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0–8%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Governed status and headroom are preserved from the policy result [S3].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SUB-ALLOCATION VERSUS POLICY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Non-US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12–24%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Bonds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10–20%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5–14%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8–18%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Total-portfolio targets are returned directly; parent and child targets are not multiplied [S2][S3].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allocation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licensed — Peer allocation context was skipped because peerIntelligence is not available for this organization. This review uses portfolio evidence 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Private-assets headroom is narrow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Assets has 1.8pp upper-band headroom and Real Assets sits 1.7pp above its lower band [S3]. Why it matters: Valuation changes can alter status without policy changes…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VALUE BY EXPOSURE CLASSIFICATION ($M)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770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5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5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 review is 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manager represents 12.8% of NAV and has an open key-person review item [S6][S11].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48029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MANAGER AND HOLDING EXPOSURES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754611"/>
          <a:ext cx="10908790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$171.0M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$157.5M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Issuer 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$28.5M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40396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 CHECKS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678289"/>
          <a:ext cx="10908792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Top five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S10 · S11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can lag quarter end by up to 45 days and covers long US-listed equity positions only. It excludes shorts, cash, non-US listings and private holdings; reported USD values are not FX-converted against NAV [S10].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Exposure amplifies open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Example Manager A represents 12.8% of NAV and has one open medium finding [S6][S11]. Why it matters: High exposure can transmit operational concern. Uncertainty: Completed closure evidence…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CONTRIBUTION BY ASSET CLASS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RISK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95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 (benchmark 10.0%)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-12.4%: peak 2022-08, trough 2023-03, recovered 2024-02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Best / worst month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 / -4.8%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 months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of 48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Beta to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0.88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2.4%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-0.17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historical contract did not return CVaR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6666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 LIMITS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940952"/>
          <a:ext cx="10908792" cy="127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Observed risk remains compliant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Realized volatility and drawdown are compliant, while CVaR is not assessed [S3][S4]. Why it matters: Observed risk and an unavailable measure require separate treatment. Uncertainty: Modeled-contribution assumptions…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Available history [S12]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Balanced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context [S12]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basis [S3][S8]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objective [S3]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477566"/>
            <a:ext cx="197702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3588298" y="229285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611158" y="206197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394563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volatility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95565" y="4786426"/>
            <a:ext cx="24332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9975622" y="460171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9998482" y="437083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ASSUMPTION CONTEXT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84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2026.2 (2026-06-15)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 and CMA evidence [S3,S8]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9947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 AND DECOMPOSITION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269057"/>
          <a:ext cx="10908792" cy="1948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/ reference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nominal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risk contribution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 46.0%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S7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selected. Saved-portfolio forward evidence is limited to governed policy and CMA assumptions [S3][S8].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Forward context supports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Expected return is 0.7pp above the policy objective while GRIP is balanced [S3][S8][S12]. Why it matters: The evidence frames monitoring without forecasting. Uncertainty: Saved-portfolio volatility, drawdown and…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279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5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586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586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 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Included in liquid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586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Semi-annual to 2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586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2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$375.0M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89780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Buckets and governed statuses are returned by the policy contract [S3].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190410"/>
          <a:ext cx="10908792" cy="2067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 ratio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$945.0M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34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$139.5M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34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for 31 commitments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367315"/>
            <a:ext cx="10908792" cy="8506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5367315"/>
            <a:ext cx="54864" cy="85060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4770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covers near-term calls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760507"/>
            <a:ext cx="10616184" cy="3659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Daily-to-quarterly assets are 63.0% of NAV and unfunded commitments are 9.3% [S3][S6]. Why it matters: Liquid coverage remains compliant as calls exceed distributions. Uncertainty: Pacing results are…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AVAILABILITY, BASIS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61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Live sample scope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asset classes; as of 2026-06-30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months; net basis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-2 bps vs 1 bp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commitments; all pages retrieved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factor/currency, risk, pacing and liquidity includes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 2026-06-30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Long-only US-listed equity; as of 2026-05-15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medium finding for a resolved manager 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stance with available history [S12]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— peerIntelligence is not available for this organization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 supplement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return-series session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and 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six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summary, segments, diagnostics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'partial', 'status': 'partial'}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include=factor_currency_exposure, risk_contribution, commitment_pacing, liquidity_scorecard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get_the_read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visuals=none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'partial', 'status': 'partial'}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resolved portfolio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581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68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Geometrically linked server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decimal fraction; returned annualization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 risk bundle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historical-risk-v1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annualized where labelled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Brinson-Fachler; symmetric-Carino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portfolio-policy assessment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limits, headroom and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8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base currency; unfunded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84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policy/CMA evidence and exposure includes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assumptions; context fingerprint retained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291853"/>
            <a:ext cx="10908792" cy="192606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Forward-looking values are assumptions, not forecasts or guarantees [S7][S8].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net of investment-management fees as returned; periods over one year are annualized only where labelled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uses realized Brinson-Fachler effects and symmetric-Carino linking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 values and Form 13F filings may lag the report date [S6][S10].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monitoring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 · S8 · S10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Comprehensive Portfolio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