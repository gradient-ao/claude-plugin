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Global equity</c:v>
                </c:pt>
                <c:pt idx="1">
                  <c:v>Core bonds</c:v>
                </c:pt>
                <c:pt idx="2">
                  <c:v>Real assets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4.1000000000000005</c:v>
                </c:pt>
                <c:pt idx="1">
                  <c:v>1.2</c:v>
                </c:pt>
                <c:pt idx="2">
                  <c:v>2.3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Sheet1!$A$2:$A$10</c:f>
              <c:strCache>
                <c:ptCount val="9"/>
                <c:pt idx="0">
                  <c:v>2022-06-30</c:v>
                </c:pt>
                <c:pt idx="1">
                  <c:v>2022-12-31</c:v>
                </c:pt>
                <c:pt idx="2">
                  <c:v>2023-06-30</c:v>
                </c:pt>
                <c:pt idx="3">
                  <c:v>2023-12-31</c:v>
                </c:pt>
                <c:pt idx="4">
                  <c:v>2024-06-30</c:v>
                </c:pt>
                <c:pt idx="5">
                  <c:v>2024-12-31</c:v>
                </c:pt>
                <c:pt idx="6">
                  <c:v>2025-06-30</c:v>
                </c:pt>
                <c:pt idx="7">
                  <c:v>2025-12-31</c:v>
                </c:pt>
                <c:pt idx="8">
                  <c:v>2026-06-30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100.0</c:v>
                </c:pt>
                <c:pt idx="1">
                  <c:v>96.0</c:v>
                </c:pt>
                <c:pt idx="2">
                  <c:v>100.1</c:v>
                </c:pt>
                <c:pt idx="3">
                  <c:v>104.7</c:v>
                </c:pt>
                <c:pt idx="4">
                  <c:v>108.0</c:v>
                </c:pt>
                <c:pt idx="5">
                  <c:v>112.6</c:v>
                </c:pt>
                <c:pt idx="6">
                  <c:v>116.0</c:v>
                </c:pt>
                <c:pt idx="7">
                  <c:v>120.4</c:v>
                </c:pt>
                <c:pt idx="8">
                  <c:v>125.9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Sheet1!$A$2:$A$10</c:f>
              <c:strCache>
                <c:ptCount val="9"/>
                <c:pt idx="0">
                  <c:v>2022-06-30</c:v>
                </c:pt>
                <c:pt idx="1">
                  <c:v>2022-12-31</c:v>
                </c:pt>
                <c:pt idx="2">
                  <c:v>2023-06-30</c:v>
                </c:pt>
                <c:pt idx="3">
                  <c:v>2023-12-31</c:v>
                </c:pt>
                <c:pt idx="4">
                  <c:v>2024-06-30</c:v>
                </c:pt>
                <c:pt idx="5">
                  <c:v>2024-12-31</c:v>
                </c:pt>
                <c:pt idx="6">
                  <c:v>2025-06-30</c:v>
                </c:pt>
                <c:pt idx="7">
                  <c:v>2025-12-31</c:v>
                </c:pt>
                <c:pt idx="8">
                  <c:v>2026-06-30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100.0</c:v>
                </c:pt>
                <c:pt idx="1">
                  <c:v>95.5</c:v>
                </c:pt>
                <c:pt idx="2">
                  <c:v>99.9</c:v>
                </c:pt>
                <c:pt idx="3">
                  <c:v>103.8</c:v>
                </c:pt>
                <c:pt idx="4">
                  <c:v>107.8</c:v>
                </c:pt>
                <c:pt idx="5">
                  <c:v>112.3</c:v>
                </c:pt>
                <c:pt idx="6">
                  <c:v>116.2</c:v>
                </c:pt>
                <c:pt idx="7">
                  <c:v>119.6</c:v>
                </c:pt>
                <c:pt idx="8">
                  <c:v>125.7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FF6B5E"/>
              </a:solidFill>
            </c:spPr>
          </c:dPt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partial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0.4</c:v>
                </c:pt>
                <c:pt idx="2">
                  <c:v>-0.7</c:v>
                </c:pt>
                <c:pt idx="3">
                  <c:v>0.4</c:v>
                </c:pt>
                <c:pt idx="4">
                  <c:v>-0.5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0.18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0.51</c:v>
                </c:pt>
                <c:pt idx="2">
                  <c:v>0.05</c:v>
                </c:pt>
                <c:pt idx="3">
                  <c:v>0.02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cat>
            <c:strRef>
              <c:f>Sheet1!$A$2:$A$6</c:f>
              <c:strCache>
                <c:ptCount val="5"/>
                <c:pt idx="0">
                  <c:v>Public Equity</c:v>
                </c:pt>
                <c:pt idx="1">
                  <c:v>Private Assets</c:v>
                </c:pt>
                <c:pt idx="2">
                  <c:v>Fixed Income</c:v>
                </c:pt>
                <c:pt idx="3">
                  <c:v>Real Assets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43.5</c:v>
                </c:pt>
                <c:pt idx="1">
                  <c:v>28.199999999999996</c:v>
                </c:pt>
                <c:pt idx="2">
                  <c:v>23.1</c:v>
                </c:pt>
                <c:pt idx="3">
                  <c:v>3.6999999999999997</c:v>
                </c:pt>
                <c:pt idx="4">
                  <c:v>1.5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cat>
            <c:strRef>
              <c:f>Sheet1!$A$2:$A$6</c:f>
              <c:strCache>
                <c:ptCount val="5"/>
                <c:pt idx="0">
                  <c:v>Public equity</c:v>
                </c:pt>
                <c:pt idx="1">
                  <c:v>Private assets</c:v>
                </c:pt>
                <c:pt idx="2">
                  <c:v>Fixed income</c:v>
                </c:pt>
                <c:pt idx="3">
                  <c:v>Real assets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652.5</c:v>
                </c:pt>
                <c:pt idx="1">
                  <c:v>423.0</c:v>
                </c:pt>
                <c:pt idx="2">
                  <c:v>346.5</c:v>
                </c:pt>
                <c:pt idx="3">
                  <c:v>55.5</c:v>
                </c:pt>
                <c:pt idx="4">
                  <c:v>22.5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cat>
            <c:strRef>
              <c:f>Sheet1!$A$2:$A$6</c:f>
              <c:strCache>
                <c:ptCount val="5"/>
                <c:pt idx="0">
                  <c:v>Public Equity</c:v>
                </c:pt>
                <c:pt idx="1">
                  <c:v>Private Assets</c:v>
                </c:pt>
                <c:pt idx="2">
                  <c:v>Fixed Income</c:v>
                </c:pt>
                <c:pt idx="3">
                  <c:v>Real Assets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46.0</c:v>
                </c:pt>
                <c:pt idx="1">
                  <c:v>31.0</c:v>
                </c:pt>
                <c:pt idx="2">
                  <c:v>12.0</c:v>
                </c:pt>
                <c:pt idx="3">
                  <c:v>8.0</c:v>
                </c:pt>
                <c:pt idx="4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Daily to weekly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to quarterly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Semi-annual to 2 years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Over 2 years / locked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25.0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Recent relative returns weakened</a:t>
            </a:r>
          </a:p>
          <a:p>
            <a:r>
              <a:t>Observation: The strongest full year is +0.8pp in 2022 and the weakest is -0.7pp in 2024 [S4]. Why it matters: Recent QTD, YTD and 1Y periods also trail. Uncertainty: Overlapping periods are not independent. What would change the view: A full-year result showing sustained relative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Selection drove the shortfall</a:t>
            </a:r>
          </a:p>
          <a:p>
            <a:r>
              <a:t>Observation: Public-equity selection is the largest negative segment effect at -0.31pp [S5]. Why it matters: One segment explains most of the active shortfall. Uncertainty: The -0.02pp residual exceeds tolerance. What would change the view: Manager-level evidence showing the effect is broad rather than concentrated.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Private-assets headroom is narrow</a:t>
            </a:r>
          </a:p>
          <a:p>
            <a:r>
              <a:t>Observation: Private Assets has 1.8pp of upper-band headroom and Real Assets has 1.7pp above its lower band [S3]. Why it matters: Valuation changes can alter status without policy changes. Uncertainty: Private valuations lag. What would change the view: Updated valuations or pacing that materially changes headroom.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Exposure amplifies open findings</a:t>
            </a:r>
          </a:p>
          <a:p>
            <a:r>
              <a:t>Observation: Example Manager A represents 12.8% of NAV and has an open medium finding [S6][S11]. Why it matters: A high-exposure manager can transmit an operational concern to portfolio oversight. Uncertainty: The finding remains open. What would change the view: Closure evidence or materially lower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Observed risk remains compliant</a:t>
            </a:r>
          </a:p>
          <a:p>
            <a:r>
              <a:t>Observation: Realized volatility and drawdown are compliant, while CVaR is not assessed [S3][S4]. Why it matters: Observed risk and an unavailable measure require separate treatment. Uncertainty: Modeled contribution is not policy status. What would change the view: A returned CVaR observation or a governed risk-limit breach.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Forward context supports monitoring</a:t>
            </a:r>
          </a:p>
          <a:p>
            <a:r>
              <a:t>Observation: Expected return is 0.7pp above the policy objective while GRIP is balanced [S3][S8][S12]. Why it matters: The evidence frames monitoring without forecasting. Uncertainty: Saved-portfolio volatility, drawdown and CVaR are unavailable. What would change the view: A governed refresh below the objective or a materially different GRIP 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Liquidity covers near-term calls</a:t>
            </a:r>
          </a:p>
          <a:p>
            <a:r>
              <a:t>Observation: Daily-to-quarterly assets are 63.0% of NAV and unfunded commitments are 9.3% [S3][S6]. Why it matters: Governed liquid coverage remains compliant as calls exceed distributions. Uncertainty: Pacing is a returned projection. What would change the view: Higher calls, lower liquid assets or a policy-status change [S3][S7].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COMPREHENSIVE PORTFOLIO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Example Comprehensive Portfolio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Quarterly comprehensive review · period to 2026-06-30 · prepared for the Investment Committee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PERIOD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BASE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TOTAL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$1,500.0M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POLICY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Example Policy Benchmark (TEST)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REVIEW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Comprehensive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Fictional TEST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EVIDENCE-BASED MONITORING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77423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77423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Review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28960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The portfolio returned 8.4% over the year to 2026-06-30, 0.6pp behind the policy benchmark [S4]. Historical attribution identifies public-equity selection as the largest negative effect for the review period [S5]. All allocation bands remain compliant, while private assets and manager concentration are on watch [S3]. Realized volatility was 9.1%, and the forward assumptions indicate a 6.2% expected return with 10.4% expected volatility [S4][S8].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9843"/>
            <a:ext cx="2644902" cy="20080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09843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3785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TRAILING 1Y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9389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Benchmark 9.0% [S4]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4209843"/>
            <a:ext cx="2644902" cy="20080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4710" y="4209843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4438" y="433785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ACTIVE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59389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-0.6pp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1Y to 2026-06-30 [S4]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4209843"/>
            <a:ext cx="2644902" cy="20080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9340" y="4209843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433785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REALIZED VOLATILITY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59389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9.1%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Benchmark 10.0% [S4]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4209843"/>
            <a:ext cx="2644902" cy="20080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3970" y="4209843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3698" y="433785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LIQUID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59389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63.0%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Daily to quarterly [S3]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S5 · S8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EVIDENCE-BASED MONITORING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Review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AT A GLANCE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509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584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Evidence-based 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584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Performance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Trailing 1Y return is 0.6pp below the policy benchmark [S4].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84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Public-equity selection is the largest negative effect for the review period [S5].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84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 / 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allocation bands remain inside their governed ranges [S3].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84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volatility is below the benchmark; the private-assets risk contribution is the largest [S4][S7].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84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Liquidity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Daily-to-quarterly assets cover 63.0% of NAV; unfunded commitments equal 9.3% [S3].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846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Exposure / concentration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The largest manager is 12.8% of NAV against a 15.0% policy limit [S3][S6].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219151"/>
            <a:ext cx="10908792" cy="85978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19151"/>
            <a:ext cx="54864" cy="85978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32887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Scope of this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612343"/>
            <a:ext cx="10616184" cy="37514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This monitoring report provides sourced analysis and considerations for discussion. It does not contain investment recommendations, trades, allocation changes, manager actions or proposed votes.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188661"/>
            <a:ext cx="10908792" cy="102925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88661"/>
            <a:ext cx="54864" cy="102925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529838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581853"/>
            <a:ext cx="10616184" cy="54462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2 policy items on watch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S4 · S5 · S6 · S7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EVIDENCE-BASED MONITORING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Review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41550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41550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9308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Trailing 1Y is 8.4%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51113"/>
            <a:ext cx="10908792" cy="23668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51113"/>
            <a:ext cx="54864" cy="236680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96084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44305"/>
            <a:ext cx="10616184" cy="188217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Liquid share is 63.0%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FRAMEWORK AGAINST WHICH RESULTS ARE MONITORED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Mandate, Policy and Data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Comprehensive Portfolio (TEST)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Institution (TEST)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Review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2026-04-01 to 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 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Policy Benchmark (TEST)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 of investment-management fees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 set / regime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2026 CMA (TEST) / Baseline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S4 ·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FRAMEWORK AGAINST WHICH RESULTS ARE MONITORED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Mandate, Policy and Data Basis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POLICY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 objective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5.5% nominal over 10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6.2%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volatility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Maximum 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Monitor at -18.0%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-12.4%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 to 30.0%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28.2%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Single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S6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CONTEXT IS SEPARATE FROM 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Period and 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The returned market context describes positive global-equity returns and modestly wider credit spreads during the quarter ended 2026-06-30 [S9]. These facts provide background only; historical attribution, not market narrative, identifies the portfolio's active-return effects [S5].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 ·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CONTEXT IS SEPARATE FROM 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Period and Market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SELECTED MARKET RETURNS FOR CONTEXT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CONTEXT IS SEPARATE FROM 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Period and Market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Forward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The regime and capital-market figures used later are assumptions, not forecasts [S8][S9].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S8 · S9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PERFORMANCE VERSUS THE POLICY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GROWTH OF 100 SINCE 2022-06-30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PERFORMANCE VERSUS THE POLICY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Returns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STANDARD PERIODS TO 2026-06-30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5206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QTD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YTD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4.6%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3Y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5Y (ann.)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10Y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Insufficient history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Since inception (ann.)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Returned period labels, annualization and coverage are preserved [S4].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PERFORMANCE VERSUS THE POLICY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Returns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CALENDAR-YEAR EXCESS RETURNS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PERFORMANCE VERSUS THE POLICY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Returns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CALENDAR YEARS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707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5121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5121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-7.2%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+0.8pp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Full year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121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8.7%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Full year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121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-0.7pp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Full year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121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6.9%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Full year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121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partial (Jan–Jun)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 year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325767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The 2026 partial year is cumulative and is not annualized [S4].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8375"/>
            <a:ext cx="10908792" cy="159954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18375"/>
            <a:ext cx="54864" cy="159954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72810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Recent relative returns weakened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011567"/>
            <a:ext cx="10616184" cy="11149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strongest full year is +0.8pp in 2022 and the weakest is -0.7pp in 2024 [S4]. Why it matters: Recent QTD, YTD and 1Y periods also trail…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BRINSON-FACHLER EFFECTS FOR THE REVIEW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ALLOCATION, SELECTION AND INTERACTION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BRINSON-FACHLER EFFECTS FOR THE REVIEW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TOTAL ATTRIBUTION EFFECTS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5280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+0.18pp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-0.51pp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active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SEGMENT ATTRIBUTION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101083"/>
          <a:ext cx="10908792" cy="1915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1927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+0.04pp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+0.06pp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-0.12pp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-0.07pp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+0.05pp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+0.02pp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8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+0.01pp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35039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Rows are sorted by absolute returned total effect [S5].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REALIZED BRINSON-FACHLER EFFECTS FOR THE REVIEW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RECONCILIATION AND METHOD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3209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011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active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-0.40pp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1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Sum of linked effects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-0.38pp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11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-0.02pp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1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Brinson-Fachler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11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1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11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1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Formula version /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portfolio-attribution-v1 / 1 bp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919091"/>
            <a:ext cx="10908792" cy="129882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919091"/>
            <a:ext cx="54864" cy="129882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502881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Selection drove the shortfall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312283"/>
            <a:ext cx="10616184" cy="8141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Public-equity selection is the largest negative segment effect at -0.31pp [S5]. Why it matters: One segment explains most of the active shortfall. Uncertainty: The -0.02pp residual exceeds…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CURRENT WEIGHTS, POLICY RANGES AND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Allocation and Policy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WEIGHT VERSUS POLICY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Public Equity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94788" y="1951146"/>
            <a:ext cx="3334043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75287" y="1877263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48094" y="178490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Fixed Income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0852" y="2874690"/>
            <a:ext cx="3334043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4563" y="2800807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14157" y="2708452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Private Assets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0852" y="3798234"/>
            <a:ext cx="250053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24744" y="3724351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14157" y="363199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07408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Real Assets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93724" y="4721778"/>
            <a:ext cx="1333617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40541" y="4647895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0114" y="4555540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30952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Cash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5645322"/>
            <a:ext cx="1333617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73797" y="557143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6710" y="5479084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CURRENT WEIGHTS, POLICY RANGES AND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Allocation and Policy Compliance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ACTUAL ALLOCATION BY ASSET CLASS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CURRENT WEIGHTS, POLICY RANGES AND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Allocation and Policy Compliance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ASSET CLASS VERSUS POLICY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915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31927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Asset class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Actual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Active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Headroom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43.5%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+1.5pp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32–52%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23.1%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-1.9pp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15–35%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28.2%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+3.2pp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15–30%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1.8pp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3.7%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2–10%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1.7pp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8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0–8%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53415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Governed status and headroom are preserved from the policy result [S3].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SUB-ALLOCATION VERSUS POLICY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101083"/>
          <a:ext cx="10908792" cy="1915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31927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Asset class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Actual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Active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Headroom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18–30%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Non-US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12–24%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Core Bonds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10–20%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7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+1.8pp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5–14%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8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+1.4pp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8–18%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6035039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Total-portfolio targets are returned directly; parent and child targets are not multiplied [S2][S3].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CURRENT WEIGHTS, POLICY RANGES AND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Allocation and Policy Compliance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89832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89832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Peer allocation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4136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licensed — Peer allocation context was skipped because peerIntelligence is not available for this organization. This review uses portfolio evidence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33930"/>
            <a:ext cx="10908792" cy="288398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33930"/>
            <a:ext cx="54864" cy="288398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44365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Private-assets headroom is narrow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727122"/>
            <a:ext cx="10616184" cy="23993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Private Assets has 1.8pp of upper-band headroom and Real Assets has 1.7pp above its lower band [S3]. Why it matters: Valuation changes can alter status without policy…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HOLDINGS, MANAGER AND LOOK-THROUGH CONCENTRATIONS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Exposures and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VALUE BY EXPOSURE CLASSIFICATION ($M)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HOLDINGS, MANAGER AND LOOK-THROUGH CONCENTRATIONS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Exposures and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EXPOSURE-WEIGHTED DILIGENCE FINDINGS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29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4799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4799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Manager A review is due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The manager represents 12.8% of NAV and has an open key-person review item [S6][S11].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005919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LARGEST MANAGER AND HOLDING EXPOSURES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280239"/>
          <a:ext cx="10908790" cy="293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8961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961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Manager A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$192.0M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961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Manager B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$171.0M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Lagged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961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Manager C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$157.5M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961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Fund D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$126.0M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Lagged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961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Issuer E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$28.5M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Partial [S10]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 · S10 · 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HOLDINGS, MANAGER AND LOOK-THROUGH CONCENTRATIONS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Exposures and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CONCENTRATION CHECKS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990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980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Axis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80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43.5%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80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980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Top five managers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80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 issuer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1.9%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[S10]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700301"/>
            <a:ext cx="10908792" cy="99416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0301"/>
            <a:ext cx="54864" cy="99416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81002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Form 13F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093493"/>
            <a:ext cx="10616184" cy="50953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Form 13F can lag quarter end by up to 45 days and covers long US-listed equity positions only. It excludes shorts, cash, non-US listings and private holdings; reported USD values are not FX-converted against NAV [S10].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4196"/>
            <a:ext cx="10908792" cy="141372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4196"/>
            <a:ext cx="54864" cy="141372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91392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Exposure amplifies open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197388"/>
            <a:ext cx="10616184" cy="92909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Example Manager A represents 12.8% of NAV and has an open medium finding [S6][S11]. Why it matters: A high-exposure manager can transmit an operational concern to portfolio…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S6 · S10 · S11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RISK AND RETURNED CONTRIBUTION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Realized Risk and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RISK CONTRIBUTION BY ASSET CLASS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RISK AND RETURNED CONTRIBUTION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Realized Risk and Decomposition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REALIZED RISK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95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Annualized 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9.1% (benchmark 10.0%)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Maximum 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-12.4%: peak 2022-08, trough 2023-03, recovered 2024-02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Best / worst month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4.1% / -4.8%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Positive months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31 of 48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Beta to 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0.88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Tracking error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2.4%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Information ratio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-0.17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5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95% CVaR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historical contract did not return CVaR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666632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POLICY RISK LIMITS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940952"/>
          <a:ext cx="10908792" cy="127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1924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924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48 months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924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Maximum 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-12.4%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-18.0%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48 months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2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95% CVaR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Observation missing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OBSERVED RISK AND RETURNED CONTRIBUTION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Realized Risk and Decomposition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Observed risk remains compliant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Realized volatility and drawdown are compliant, while CVaR is not assessed [S3][S4]. Why it matters: Observed risk and an unavailable measure require separate treatment. Uncertainty: Modeled contribution…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FORWARD ASSUMPTIONS, NOT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Projected Return and Risk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64490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GRIP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Available history [S12]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471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325880"/>
            <a:ext cx="264490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443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GRIP 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43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Balanced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Current context [S12]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934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POLICY EXPECTED 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Governed basis [S3][S8]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397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397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369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RETURN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5.5%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Policy objective [S3]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S8 · S12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FORWARD ASSUMPTIONS, NOT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Projected Return and Risk Decomposition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FORWARD ASSUMPTION RANGE (TEST)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22631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Expected return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477566"/>
            <a:ext cx="1977029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8298" y="2292858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158" y="2061972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45636"/>
            <a:ext cx="1828800" cy="22631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Expected volatility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5565" y="4786426"/>
            <a:ext cx="243326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75622" y="4601718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98482" y="4370832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FORWARD ASSUMPTIONS, NOT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Projected Return and Risk Decomposition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ASSUMPTION CONTEXT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284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38080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2026 CMA (TEST)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080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CMA release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2026.2 (2026-06-15)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080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080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 years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080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080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Evidence basis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policy and CMA evidence [S3,S8]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99473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FORWARD ASSUMPTIONS AND DECOMPOSITION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269057"/>
          <a:ext cx="10908792" cy="1948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248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Policy / reference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481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10-year nominal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481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governed saved-portfolio statistic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481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max 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governed saved-portfolio statistic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481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95% CVaR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governed saved-portfolio statistic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48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 risk contribution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 46.0%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S7 ·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FORWARD ASSUMPTIONS, NOT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Projected Return and Risk Decomposition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77628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77628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Selected-series sandbox — not saved-portfolio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29165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available — no Strategy Lab return series selected. Saved-portfolio forward evidence is limited to governed policy and CMA assumptions [S3][S8].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11895"/>
            <a:ext cx="10908792" cy="300602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11895"/>
            <a:ext cx="54864" cy="300602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32162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Forward context supports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605087"/>
            <a:ext cx="10616184" cy="25213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Expected return is 0.7pp above the policy objective while GRIP is balanced [S3][S8][S12]. Why it matters: The evidence frames monitoring without forecasting. Uncertainty: Saved-portfolio volatility, drawdown and…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S8 · S12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LIQUIDITY PROFILE, UNFUNDED COMMITMENTS AND 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LIQUIDITY TIERS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LIQUIDITY PROFILE, UNFUNDED COMMITMENTS AND 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Commitments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PROJECTED CALLS AND DISTRIBUTIONS (TEST)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Quarter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2026-Q3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28,000,000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16,000,000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2026-Q4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24,000,000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18,000,000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2027-Q1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21,000,000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19,000,000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2027-Q2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18,000,000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20,000,000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LIQUIDITY PROFILE, UNFUNDED COMMITMENTS AND 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Commitments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LIQUIDITY PROFILE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720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4404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Bucket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Policy requirement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404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Daily to weekly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$720.0M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least 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404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Monthly to quarterly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Included in liquid share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404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Semi-annual to 2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$180.0M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Monitor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404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Over 2 years / locked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$375.0M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30.0%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338724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Buckets and governed statuses are returned by the policy contract [S3].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631332"/>
          <a:ext cx="10908792" cy="2586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51731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Locked share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25.0%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31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Unfunded commitment ratio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9.3%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731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Liquid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$945.0M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31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Unfunded commitments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$139.5M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7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for 31 commitments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LIQUIDITY PROFILE, UNFUNDED COMMITMENTS AND 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and Commitments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Liquidity covers near-term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Daily-to-quarterly assets are 63.0% of NAV and unfunded commitments are 9.3% [S3][S6]. Why it matters: Governed liquid coverage remains compliant as calls exceed distributions. Uncertainty: Pacing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S6 · 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AVAILABILITY, BASIS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261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Live fictional TEST scope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record and allocation 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 asset classes; as of 2026-06-30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Allocation, risk, liquidity and concentration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returns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48 months; net basis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 -2 bps vs 1 bp tolerance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Holdings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31 commitments; all pages retrieved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chart packs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allocations and commitments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Capital-market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2026 CMA (TEST)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 of 2026-06-30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Long-only US-listed equity; as of 2026-05-15 [S10]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diligence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One open medium finding for a resolved manager [S11]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GRIP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Balanced stance with available history [S12]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Peer allocation intelligence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licensed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licensed — peerIntelligence is not available for this organization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Strategy Lab supplement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selected return-series session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 · S9 · S10 · S11 · S12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3763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organization_id=test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record and allocation 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view=allocation_tree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portfolio_id=test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returns and realized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get_portfolio_historical_returns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six sections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summary, segments, diagnostics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Holdings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pages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chart packs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get_chart_data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allocations, commitments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Capital-market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view=baseline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get_the_read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visuals=none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get_cross_domain_research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portfolio_13f_lookthrough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test-s10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diligence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get_manager_diligence_findings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view=open; resolved portfolio managers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2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GRIP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get_macro_signals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view=gradient_signal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test-s12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 · S9 · S10 · S11 · S12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B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6596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Geometrically linked server periods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historical-returns-v1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Net; decimal fraction; returned annualization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Historical-return risk bundle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historical-risk-v1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Monthly observations; annualized where labelled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Historical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Realized Brinson-Fachler; symmetric-Carino linking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Percentage points; 1 bp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portfolio-policy assessment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limits, headroom and status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Server exposure aggregates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portfolio-exposure-v1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base currency; unfunded excluded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statistics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Expected-statistics and allocation chart packs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10-year assumptions; context fingerprint retained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S5 · S6 · 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B — Server Metric Methods and Disclosures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Forward-looking values are assumptions, not forecasts or guarantees [S7][S8].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Performance is net of investment-management fees as returned; periods over one year are annualized only where labelled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Historical attribution uses realized Brinson-Fachler effects and symmetric-Carino linking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Private-market values and Form 13F filings may lag the report date [S6][S10].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Portfolio Analytics and Strategy Lab are separate analytical scopes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This AI-assisted monitoring analysis is not investment, legal or compliance advice.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S5 · S6 · S7 · S8 · S10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Comprehensive Portfolio (TEST)</dc:title>
  <dc:subject>Comprehensive Portfolio Review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