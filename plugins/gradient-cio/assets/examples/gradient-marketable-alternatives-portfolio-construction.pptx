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a="http://schemas.openxmlformats.org/drawingml/2006/main" xmlns:ns0="http://schemas.openxmlformats.org/presentationml/2006/main" xmlns:ns1="http://schemas.openxmlformats.org/officeDocument/2006/relationships" saveSubsetFonts="1" autoCompressPictures="0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</ns0:sldIdLst>
  <ns0:sldSz cx="12191695" cy="6858000" type="screen16x9"/>
  <ns0:notesSz cx="6858000" cy="9144000"/>
  <ns0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41.699999999999996</c:v>
                </c:pt>
                <c:pt idx="1">
                  <c:v>20.8</c:v>
                </c:pt>
                <c:pt idx="2">
                  <c:v>12.5</c:v>
                </c:pt>
                <c:pt idx="3">
                  <c:v>25.0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Equity long/short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5.0</c:v>
                </c:pt>
                <c:pt idx="1">
                  <c:v>3.0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2.5</c:v>
                </c:pt>
                <c:pt idx="1">
                  <c:v>3.5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Relative value</c:v>
                </c:pt>
              </c:strCache>
            </c:strRef>
          </c:tx>
          <c:spPr>
            <a:solidFill>
              <a:srgbClr val="F2A93B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1.5</c:v>
                </c:pt>
                <c:pt idx="1">
                  <c:v>2.5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Multi-strategy</c:v>
                </c:pt>
              </c:strCache>
            </c:strRef>
          </c:tx>
          <c:spPr>
            <a:solidFill>
              <a:srgbClr val="5B8DEF"/>
            </a:solidFill>
          </c:spPr>
          <c:cat>
            <c:strRef>
              <c:f>Sheet1!$A$2:$A$3</c:f>
              <c:strCache>
                <c:ptCount val="2"/>
                <c:pt idx="0">
                  <c:v>Current</c:v>
                </c:pt>
                <c:pt idx="1">
                  <c:v>Target</c:v>
                </c:pt>
              </c:strCache>
            </c:strRef>
          </c:cat>
          <c:val>
            <c:numRef>
              <c:f>Sheet1!$E$2:$E$3</c:f>
              <c:numCache>
                <c:formatCode>General</c:formatCode>
                <c:ptCount val="2"/>
                <c:pt idx="0">
                  <c:v>3.0</c:v>
                </c:pt>
                <c:pt idx="1">
                  <c:v>3.0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0.0</c:v>
                </c:pt>
                <c:pt idx="1">
                  <c:v>1.0</c:v>
                </c:pt>
                <c:pt idx="2">
                  <c:v>1.0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Equity long/short</c:v>
                </c:pt>
                <c:pt idx="1">
                  <c:v>Macro</c:v>
                </c:pt>
                <c:pt idx="2">
                  <c:v>Relative value</c:v>
                </c:pt>
                <c:pt idx="3">
                  <c:v>Multi-strategy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noFill/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</c:v>
                </c:pt>
                <c:pt idx="1">
                  <c:v>0.1</c:v>
                </c:pt>
                <c:pt idx="2">
                  <c:v>0.58</c:v>
                </c:pt>
                <c:pt idx="3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C6F432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</c:v>
                </c:pt>
                <c:pt idx="1">
                  <c:v>0.48</c:v>
                </c:pt>
                <c:pt idx="2">
                  <c:v>0.02</c:v>
                </c:pt>
                <c:pt idx="3">
                  <c:v>0.0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Decrease</c:v>
                </c:pt>
              </c:strCache>
            </c:strRef>
          </c:tx>
          <c:spPr>
            <a:solidFill>
              <a:srgbClr val="FF6B5E"/>
            </a:solidFill>
          </c:spPr>
          <c:cat>
            <c:strRef>
              <c:f>Sheet1!$A$2:$A$5</c:f>
              <c:strCache>
                <c:ptCount val="4"/>
                <c:pt idx="0">
                  <c:v>Allocation</c:v>
                </c:pt>
                <c:pt idx="1">
                  <c:v>Selection</c:v>
                </c:pt>
                <c:pt idx="2">
                  <c:v>Interaction</c:v>
                </c:pt>
                <c:pt idx="3">
                  <c:v>Residual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FF6B5E"/>
              </a:solidFill>
            </c:spPr>
          </c:dPt>
          <c:dPt>
            <c:idx val="2"/>
            <c:spPr>
              <a:solidFill>
                <a:srgbClr val="C6F432"/>
              </a:solidFill>
            </c:spPr>
          </c:dPt>
          <c:dPt>
            <c:idx val="3"/>
            <c:spPr>
              <a:solidFill>
                <a:srgbClr val="C6F432"/>
              </a:solidFill>
            </c:spPr>
          </c:dPt>
          <c:cat>
            <c:strRef>
              <c:f>Sheet1!$A$2:$A$5</c:f>
              <c:strCache>
                <c:ptCount val="4"/>
                <c:pt idx="0">
                  <c:v>Equity</c:v>
                </c:pt>
                <c:pt idx="1">
                  <c:v>Rates</c:v>
                </c:pt>
                <c:pt idx="2">
                  <c:v>Credit</c:v>
                </c:pt>
                <c:pt idx="3">
                  <c:v>USD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0.31</c:v>
                </c:pt>
                <c:pt idx="1">
                  <c:v>-0.08</c:v>
                </c:pt>
                <c:pt idx="2">
                  <c:v>0.14</c:v>
                </c:pt>
                <c:pt idx="3">
                  <c:v>0.09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dPt>
            <c:idx val="1"/>
            <c:spPr>
              <a:solidFill>
                <a:srgbClr val="C6F432"/>
              </a:solidFill>
            </c:spPr>
          </c:dPt>
          <c:cat>
            <c:strRef>
              <c:f>Sheet1!$A$2:$A$3</c:f>
              <c:strCache>
                <c:ptCount val="2"/>
                <c:pt idx="0">
                  <c:v>Current ? Hedge funds</c:v>
                </c:pt>
                <c:pt idx="1">
                  <c:v>Proposed ? Hedge funds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6.1</c:v>
                </c:pt>
                <c:pt idx="1">
                  <c:v>8.9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Liquid / marketable</c:v>
                </c:pt>
              </c:strCache>
            </c:strRef>
          </c:tx>
          <c:spPr>
            <a:solidFill>
              <a:srgbClr val="0D1117"/>
            </a:solidFill>
          </c:spPr>
          <c:cat>
            <c:strRef>
              <c:f>Sheet1!$A$2:$A$2</c:f>
              <c:strCache>
                <c:ptCount val="1"/>
                <c:pt idx="0">
                  <c:v>Portfolio (TEST)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68.3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Illiquid / restricted</c:v>
                </c:pt>
              </c:strCache>
            </c:strRef>
          </c:tx>
          <c:spPr>
            <a:solidFill>
              <a:srgbClr val="7FA600"/>
            </a:solidFill>
          </c:spPr>
          <c:cat>
            <c:strRef>
              <c:f>Sheet1!$A$2:$A$2</c:f>
              <c:strCache>
                <c:ptCount val="1"/>
                <c:pt idx="0">
                  <c:v>Portfolio (TEST)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31.7</c:v>
                </c:pt>
              </c:numCache>
            </c:numRef>
          </c:val>
        </c:ser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D1117"/>
            </a:solidFill>
          </c:spPr>
          <c:dPt>
            <c:idx val="0"/>
            <c:spPr>
              <a:solidFill>
                <a:srgbClr val="C6F432"/>
              </a:solidFill>
            </c:spPr>
          </c:dPt>
          <c:cat>
            <c:strRef>
              <c:f>Sheet1!$A$2:$A$2</c:f>
              <c:strCache>
                <c:ptCount val="1"/>
                <c:pt idx="0">
                  <c:v>Baseline expected return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5.9</c:v>
                </c:pt>
              </c:numCache>
            </c:numRef>
          </c:val>
        </c:ser>
        <c:dLbls>
          <c:txPr>
            <a:bodyPr/>
            <a:lstStyle/>
            <a:p>
              <a:pPr>
                <a:defRPr sz="8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Why this target</a:t>
            </a:r>
          </a:p>
          <a:p>
            <a:r>
              <a:t>Observation: The target reallocates 2.0 percentage points from equity long/short to macro and relative value [S3][S4]. Why it matters: The largest strategy concentration declines under the target. Uncertainty: CMA, regime, findings and term coverage remain incomplete [S7][S8]. What would change the view: Completed records contradicting either proposed strategy role [S7][S8].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Manager limit is binding</a:t>
            </a:r>
          </a:p>
          <a:p>
            <a:r>
              <a:t>Observation: The largest manager is at the 4.0% policy limit [S3][S4]. Why it matters: New funding should not increase that concentration. Uncertainty: Model factors and incomplete look-through omit the full hedge-fund book [S7]. What would change the view: Complete exposure records showing concentration below the 4.0% threshold [S4][S7].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Analysis — Assumptions show tradeoff</a:t>
            </a:r>
          </a:p>
          <a:p>
            <a:r>
              <a:t>Observation: Hedge funds carry higher expected return and volatility than absolute return in the selected assumptions [S6]. Why it matters: The target should preserve role diversification, not maximize one measure. Uncertainty: Class assumptions are not manager-level forecasts. What would change the view: Refreshed assumptions reversing the relative return or volatility results [S6].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xhib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ppendi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Oval 2"/>
          <p:cNvSpPr/>
          <p:nvPr/>
        </p:nvSpPr>
        <p:spPr>
          <a:xfrm>
            <a:off x="9372600" y="164592"/>
            <a:ext cx="2514600" cy="2514600"/>
          </a:xfrm>
          <a:prstGeom prst="ellipse">
            <a:avLst/>
          </a:prstGeom>
          <a:solidFill>
            <a:srgbClr val="161C24"/>
          </a:solidFill>
          <a:ln>
            <a:solidFill>
              <a:srgbClr val="161C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475488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GradientCIO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828800"/>
            <a:ext cx="9966960" cy="27432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00" b="1">
                <a:solidFill>
                  <a:srgbClr val="C6F432"/>
                </a:solidFill>
                <a:latin typeface="Inter"/>
              </a:defRPr>
            </a:pPr>
            <a:r>
              <a:rPr>
                <a:latin typeface="Inter"/>
              </a:rPr>
              <a:t>MARKETABLE ALTERNATIVES PORTFOLIO CONSTRUCTION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176272"/>
            <a:ext cx="9966960" cy="12344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34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Northstar Hedge Fund Portfolio (TEST)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56432"/>
            <a:ext cx="9692640" cy="6400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500" b="0">
                <a:solidFill>
                  <a:srgbClr val="9AA5B1"/>
                </a:solidFill>
                <a:latin typeface="Inter"/>
              </a:defRPr>
            </a:pPr>
            <a:r>
              <a:rPr>
                <a:latin typeface="Inter"/>
              </a:rPr>
              <a:t>Decision pack · prepared for the Investment Committee (TEST)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4251960"/>
            <a:ext cx="1005840" cy="54864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8580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AS OF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BASE CURRENCY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USD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4572000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TOTAL NAV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73168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$1,000.0M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MARKETABLE-ALTERNATIVES WEIGHT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12.0%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POLICY BENCHMARK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Example Absolute Return Index (TEST)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5230368"/>
            <a:ext cx="306324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DATA 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5431536"/>
            <a:ext cx="3063240" cy="32004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Fictional TEST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5833872"/>
            <a:ext cx="3063240" cy="384048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822960" y="5934456"/>
            <a:ext cx="278892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 terms require confirmation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77639" y="5824728"/>
            <a:ext cx="3108960" cy="16459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EVIDENCE COMPLETENESS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5998464"/>
            <a:ext cx="3108960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800" b="1">
                <a:solidFill>
                  <a:srgbClr val="FFFFFF"/>
                </a:solidFill>
                <a:latin typeface="Inter"/>
              </a:defRPr>
            </a:pPr>
            <a:r>
              <a:rPr>
                <a:latin typeface="Inter"/>
              </a:rPr>
              <a:t>8 of 9 · Partial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6473952"/>
            <a:ext cx="80467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40" y="6473952"/>
            <a:ext cx="274320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70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GradientCIO.com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40940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40940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92477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retaining the 12.0% marketable-alternatives allocation while shifting 2.0 percentage points from equity long/short to macro and relative-value roles [S3][S4]. Committee action requested: approve the target structure and staged manager review, subject to verified redemption terms and completed diligence [S3][S7][S8].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4501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4980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MARKETABLE-ALTERNATIVES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Policy target 12.0% [S3]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9471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Rectangle 16"/>
          <p:cNvSpPr/>
          <p:nvPr/>
        </p:nvSpPr>
        <p:spPr>
          <a:xfrm>
            <a:off x="3394710" y="384501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TextBox 17"/>
          <p:cNvSpPr txBox="1"/>
          <p:nvPr/>
        </p:nvSpPr>
        <p:spPr>
          <a:xfrm>
            <a:off x="350443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ACTIVE WEIGHT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0443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0.0pp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443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Total-fund target [S3]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4934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Rectangle 21"/>
          <p:cNvSpPr/>
          <p:nvPr/>
        </p:nvSpPr>
        <p:spPr>
          <a:xfrm>
            <a:off x="6149340" y="3845017"/>
            <a:ext cx="2644902" cy="45720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25906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RELATIVE RETURN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906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+0.6pp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906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Trailing 1Y versus benchmark [S5]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03970" y="3845017"/>
            <a:ext cx="2644902" cy="237290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7" name="Rectangle 26"/>
          <p:cNvSpPr/>
          <p:nvPr/>
        </p:nvSpPr>
        <p:spPr>
          <a:xfrm>
            <a:off x="8903970" y="3845017"/>
            <a:ext cx="2644902" cy="45720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8" name="TextBox 27"/>
          <p:cNvSpPr txBox="1"/>
          <p:nvPr/>
        </p:nvSpPr>
        <p:spPr>
          <a:xfrm>
            <a:off x="9013698" y="3973033"/>
            <a:ext cx="2425446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 SHARE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13698" y="4229065"/>
            <a:ext cx="2425446" cy="47548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8.0%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13698" y="5888736"/>
            <a:ext cx="2425446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Monthly or better as % NAV [S3]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2" name="TextBox 3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S7 · S8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93341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933410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Recommendation and action requested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44877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We recommend a 2.0 percentage-point strategy shift within the existing 12.0% allocation. Committee action requested: approve the target mix and authorize manager review, with no funding until redemption and diligence conditions are complete [S3][S4][S7][S8].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36901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SUMMARY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" y="2643338"/>
          <a:ext cx="10908792" cy="1202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30062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Decision element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0062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Total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Hold at 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062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from 5.0% to 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0062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 and 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from 4.0% to 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Proposed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640080" y="3955560"/>
            <a:ext cx="10908792" cy="7525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640080" y="3955560"/>
            <a:ext cx="54864" cy="752516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04671" y="4065288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Conditions and limits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1" y="4348752"/>
            <a:ext cx="10616184" cy="2678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Confirm notice periods, gates and side-pocket terms for each affected fund and complete ODD before implementation [S7][S8].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4817804"/>
            <a:ext cx="10908792" cy="140011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8" name="Rectangle 17"/>
          <p:cNvSpPr/>
          <p:nvPr/>
        </p:nvSpPr>
        <p:spPr>
          <a:xfrm>
            <a:off x="640080" y="4817804"/>
            <a:ext cx="54864" cy="1400115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804671" y="492753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headline signal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1" y="5210996"/>
            <a:ext cx="10616184" cy="91548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fictional TEST report carries a liquidity-terms signal above the clear monitoring threshold [S1]. Why it matters: This signal focuses oversight on the report's most decision-relevant condition. Uncertainty: Evidence coverage may exclude newer or more detailed observations. What would change the view: A governed refresh showing a different signal or breached threshold.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S3 · S4 · S7 · S8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Executive Decision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325880"/>
            <a:ext cx="10908792" cy="2383975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54864" cy="2383975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primary 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1" y="1719072"/>
            <a:ext cx="10616184" cy="189934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Marketable-alternatives weight is 12.0% in the TEST evidence [S2]. Why it matters: This measure establishes the baseline for comparing later governed results. Uncertainty: The source basis may omit newer observations outside this fixture. What would change the view: A refreshed source report showing a change above 1%.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19583"/>
            <a:ext cx="10908792" cy="239833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40080" y="3819583"/>
            <a:ext cx="54864" cy="239833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804671" y="392931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Key judgment — monitoring priority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1" y="4212775"/>
            <a:ext cx="10616184" cy="19137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Liquid share is 8.0% in the TEST evidence [S3]. Why it matters: This result determines which item receives priority in the next monitoring cycle. Uncertainty: Supporting coverage may omit later filings or corroborating detail. What would change the view: A new filing or report that resolves the item or changes it by 1%.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Mandate, Benchmark and Data Basis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297744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Northstar Total Fund (TEST)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Diversifying hedge-fund portfolio 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Absolute Return Index (TEST)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96241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96244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 [S1] [S1]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4413057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FRAMEWORK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4687377"/>
          <a:ext cx="10908792" cy="15305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263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Area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Objective or 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Marketable alternatives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8.0%–16.0%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263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Single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or below 4.0% of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263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Monthly-or-better liquidity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7.0% of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Hedge Fund Portfolio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HEDGE-FUND STRATEGY ALLOCATION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Current Hedge Fund Portfolio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SLEEVE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3225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4507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/ 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portfolio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Alpha Partners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41.7%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Macro Fund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20.8%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45075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Relative Value Fund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$15.0M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12.5%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4507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Multi-Strategy Fund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$30.0M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 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935307"/>
            <a:ext cx="10908792" cy="128261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Strategy and role labels are shown as returned; they do not establish leverage, liquidity or underlying positions [S4].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WEIGHT VERSUS POLICY RANGE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3677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Equity long/short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4022" y="2038883"/>
            <a:ext cx="6934809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Oval 10"/>
          <p:cNvSpPr/>
          <p:nvPr/>
        </p:nvSpPr>
        <p:spPr>
          <a:xfrm>
            <a:off x="9458553" y="194652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Rectangle 11"/>
          <p:cNvSpPr/>
          <p:nvPr/>
        </p:nvSpPr>
        <p:spPr>
          <a:xfrm>
            <a:off x="6014008" y="183108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279120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Macro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4022" y="3193313"/>
            <a:ext cx="5201107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Oval 14"/>
          <p:cNvSpPr/>
          <p:nvPr/>
        </p:nvSpPr>
        <p:spPr>
          <a:xfrm>
            <a:off x="5124297" y="310095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Rectangle 15"/>
          <p:cNvSpPr/>
          <p:nvPr/>
        </p:nvSpPr>
        <p:spPr>
          <a:xfrm>
            <a:off x="6880860" y="298551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40080" y="394563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Relative value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60320" y="4347743"/>
            <a:ext cx="5201107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Oval 18"/>
          <p:cNvSpPr/>
          <p:nvPr/>
        </p:nvSpPr>
        <p:spPr>
          <a:xfrm>
            <a:off x="3390595" y="425538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0" name="Rectangle 19"/>
          <p:cNvSpPr/>
          <p:nvPr/>
        </p:nvSpPr>
        <p:spPr>
          <a:xfrm>
            <a:off x="5147157" y="413994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640080" y="5100066"/>
            <a:ext cx="1828800" cy="110871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8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Multi-strategy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4022" y="5502173"/>
            <a:ext cx="3467404" cy="10058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3" name="Oval 22"/>
          <p:cNvSpPr/>
          <p:nvPr/>
        </p:nvSpPr>
        <p:spPr>
          <a:xfrm>
            <a:off x="5991148" y="5409819"/>
            <a:ext cx="73152" cy="219456"/>
          </a:xfrm>
          <a:prstGeom prst="ellipse">
            <a:avLst/>
          </a:prstGeom>
          <a:solidFill>
            <a:srgbClr val="4F6B00"/>
          </a:solidFill>
          <a:ln>
            <a:solidFill>
              <a:srgbClr val="4F6B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4" name="Rectangle 23"/>
          <p:cNvSpPr/>
          <p:nvPr/>
        </p:nvSpPr>
        <p:spPr>
          <a:xfrm>
            <a:off x="6014008" y="5294376"/>
            <a:ext cx="27432" cy="347472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5" name="Rectangle 2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TARGET STRATEGY MIX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TARGET ALLOCATION CHANGES (PERCENTAGE POINTS)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A BROADER STRATEGY MIX LOWERS SINGLE-ROLE CONCENTRATION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Target Strategy and Manager Structure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VERSUS TARGET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0" cy="1923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384773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/ 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Target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Change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Range / constraint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Rationale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47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-2.0pp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2.0%–6.0%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Reduce largest strategy concentration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7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2.0%–5.0%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Increase diversifying role subject to diligence [S7][S8]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4773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2.5%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1.0%–4.0%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Broaden strategy mix subject to terms [S7][S8]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4774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2.0%–4.0%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Maintain current role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633794"/>
            <a:ext cx="10908792" cy="1668779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633794"/>
            <a:ext cx="54864" cy="1668779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743522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Why this target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4026986"/>
            <a:ext cx="10616184" cy="118414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target reallocates 2.0 percentage points from equity long/short to macro and relative value [S3][S4]. Why it matters: The largest strategy concentration declines under the target. Uncertainty…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412302"/>
            <a:ext cx="10908792" cy="805617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 target is a committee proposal and is not a saved portfolio change [S3][S8].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EFFECTS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STANDARD PERIODS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22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74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Period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/ sleeve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Benchmark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Excess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Coverage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745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1Y hedge-fund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6.4%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5.8%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+0.6pp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745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3Y hedge-fund sleeve (ann.)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5.9%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322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ATTRIBUTION EFFECTS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06615"/>
          <a:ext cx="10908792" cy="2049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4099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Effect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Contribution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+0.10pp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+0.48pp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Interaction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+0.02pp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3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Residual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0.00pp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366146"/>
            <a:ext cx="10908792" cy="8517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attribution method and reconciliation metadata follow [S5].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Historical Performance and Attribution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Brinson-Fachler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Linking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Symmetric Carino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Net, monthly linked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22301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Tolerance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 bp; reconciled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EXPOSURES SHOW WHERE DIVERSIFICATION REMAINS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Factor, Currency and Concentration 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STRATEGY-CORRELATION MATRIX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1758"/>
                <a:gridCol w="2181758"/>
                <a:gridCol w="2181758"/>
                <a:gridCol w="2181758"/>
                <a:gridCol w="2181760"/>
              </a:tblGrid>
              <a:tr h="923544"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L/S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L/S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0.18</a:t>
                      </a:r>
                    </a:p>
                  </a:txBody>
                  <a:tcPr marL="54864" marR="54864" marT="27432" marB="27432" anchor="ctr"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0.42</a:t>
                      </a:r>
                    </a:p>
                  </a:txBody>
                  <a:tcPr marL="54864" marR="54864" marT="27432" marB="27432" anchor="ctr">
                    <a:solidFill>
                      <a:srgbClr val="E5F6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0.51</a:t>
                      </a:r>
                    </a:p>
                  </a:txBody>
                  <a:tcPr marL="54864" marR="54864" marT="27432" marB="27432" anchor="ctr">
                    <a:solidFill>
                      <a:srgbClr val="E0F6A1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0.18</a:t>
                      </a:r>
                    </a:p>
                  </a:txBody>
                  <a:tcPr marL="54864" marR="54864" marT="27432" marB="27432" anchor="ctr">
                    <a:solidFill>
                      <a:srgbClr val="F2F7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0.24</a:t>
                      </a:r>
                    </a:p>
                  </a:txBody>
                  <a:tcPr marL="54864" marR="54864" marT="27432" marB="27432" anchor="ctr">
                    <a:solidFill>
                      <a:srgbClr val="EFF7DE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0.42</a:t>
                      </a:r>
                    </a:p>
                  </a:txBody>
                  <a:tcPr marL="54864" marR="54864" marT="27432" marB="27432" anchor="ctr">
                    <a:solidFill>
                      <a:srgbClr val="E5F6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0.12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E2F6AA"/>
                    </a:solidFill>
                  </a:tcPr>
                </a:tc>
              </a:tr>
              <a:tr h="923544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Multi-strategy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0.51</a:t>
                      </a:r>
                    </a:p>
                  </a:txBody>
                  <a:tcPr marL="54864" marR="54864" marT="27432" marB="27432" anchor="ctr">
                    <a:solidFill>
                      <a:srgbClr val="E0F6A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0.24</a:t>
                      </a:r>
                    </a:p>
                  </a:txBody>
                  <a:tcPr marL="54864" marR="54864" marT="27432" marB="27432" anchor="ctr">
                    <a:solidFill>
                      <a:srgbClr val="EFF7D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0.47</a:t>
                      </a:r>
                    </a:p>
                  </a:txBody>
                  <a:tcPr marL="54864" marR="54864" marT="27432" marB="27432" anchor="ctr">
                    <a:solidFill>
                      <a:srgbClr val="E2F6A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</a:t>
                      </a:r>
                    </a:p>
                  </a:txBody>
                  <a:tcPr marL="54864" marR="54864" marT="27432" marB="27432" anchor="ctr">
                    <a:solidFill>
                      <a:srgbClr val="C6F43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EXPOSURES SHOW WHERE DIVERSIFICATION REMAINS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Factor, Currency and Concentration Evidence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MODEL-IMPLIED FACTOR EXPOSURES (TEST)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RETURNED EXPOSURES SHOW WHERE DIVERSIFICATION REMAINS INCOMPLETE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Factor, Currency and Concentration Evidence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CONCENTRATION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1720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3009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Axis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Observed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Limit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3009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manager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 of NAV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Watch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3009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Largest strategy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5.0% of NAV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3010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13F equity subset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manager identifiers incomplete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9AA5B1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Not assessed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3430325"/>
            <a:ext cx="10908792" cy="1661450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Rectangle 10"/>
          <p:cNvSpPr/>
          <p:nvPr/>
        </p:nvSpPr>
        <p:spPr>
          <a:xfrm>
            <a:off x="640080" y="3430325"/>
            <a:ext cx="54864" cy="1661450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804671" y="354005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Manager limit is binding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1" y="3823517"/>
            <a:ext cx="10616184" cy="117681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The largest manager is at the 4.0% policy limit [S3][S4]. Why it matters: New funding should not increase that concentration. Uncertainty: Model factors and incomplete look-through omit…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5201503"/>
            <a:ext cx="10908792" cy="1016416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5" name="Rectangle 14"/>
          <p:cNvSpPr/>
          <p:nvPr/>
        </p:nvSpPr>
        <p:spPr>
          <a:xfrm>
            <a:off x="640080" y="5201503"/>
            <a:ext cx="54864" cy="1016416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804671" y="5311231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Look-through limitation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1" y="5594695"/>
            <a:ext cx="10616184" cy="53178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Any Form 13F evidence is lagged, long-only US-listed equity, excludes shorts, derivatives, cash and non-US listings, and is not a complete hedge-fund exposure view [S7].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FORWARD EXPECTED-RETURN COMPARISON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8897112"/>
              </a:tblGrid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Assumption set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Strategic CMA (TEST)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Regime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Horizon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 years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[S6]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978408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Context fingerprint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test-ma-forward-2026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MARKETABLE-ALTERNATIVES FORWARD ASSUMPTIONS (TEST)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153924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Class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return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Expected volatility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 funds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6.1%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8.9%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153924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Absolute return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5.5%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7.1%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329184"/>
            <a:ext cx="9875520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50" b="1">
                <a:solidFill>
                  <a:srgbClr val="4F6B00"/>
                </a:solidFill>
                <a:latin typeface="Inter"/>
              </a:defRPr>
            </a:pPr>
            <a:r>
              <a:rPr>
                <a:latin typeface="Inter"/>
              </a:rPr>
              <a:t>GOVERNED ASSUMPTIONS FRAME TRADEOFFS RATHER THAN FORECASTS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Forward Return and Risk — continued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Rectangle 5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1325880"/>
            <a:ext cx="10908792" cy="3249951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Rectangle 8"/>
          <p:cNvSpPr/>
          <p:nvPr/>
        </p:nvSpPr>
        <p:spPr>
          <a:xfrm>
            <a:off x="640080" y="1325880"/>
            <a:ext cx="54864" cy="3249951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804671" y="1435607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Analysis — Assumptions show tradeoff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1" y="1719072"/>
            <a:ext cx="10616184" cy="2765319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Observation: Hedge funds carry higher expected return and volatility than absolute return in the selected assumptions [S6]. Why it matters: The target should preserve role diversification, not maximize…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685559"/>
            <a:ext cx="10908792" cy="153236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These figures are assumptions under the selected context, not forecasts or guarantees [S6].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Liquidity, Redemption and Operational Terms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COMPOSITION (TEST)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none cited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Liquidity, Redemption and Operational Terms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LIQUIDITY PROFILE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2223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745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Bucket / term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% NAV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Amount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Requirement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745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 or better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$80.0M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At least 7.0%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Compliant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745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$40.0M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Monitor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2932295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REDEMPTION EVIDENCE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3206615"/>
          <a:ext cx="10908792" cy="204980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4099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/ fund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Frequency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Notice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Gate / side pocket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Alpha Partners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60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terms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Macro Fund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gate reported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409960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Relative Value Fund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Monthly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45 days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terms not returned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409963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Multi-Strategy Fund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Quarterly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90 days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terms not returned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40080" y="5366146"/>
            <a:ext cx="10908792" cy="851773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10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Redemption frequency and notice are user-document evidence; missing gates, side pockets and leverage remain open items [S8].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Manager Lineup and Diligence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CURRENT AND PROPOSED ROLES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2893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7234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Strategy / role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step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Alpha Partners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Equity long/short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$50.0M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Current; 1 Medium finding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Redeem $20.0M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notice and gate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72342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Example Macro Fund (TEST)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Macro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$25.0M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Current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Add $10.0M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723428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Relative Value Manager (TEST)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Relative value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funded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Consider $10.0M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Run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603637"/>
            <a:ext cx="10908792" cy="1614282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4603637"/>
            <a:ext cx="54864" cy="1614282"/>
          </a:xfrm>
          <a:prstGeom prst="rect">
            <a:avLst/>
          </a:prstGeom>
          <a:solidFill>
            <a:srgbClr val="F2A93B"/>
          </a:solidFill>
          <a:ln>
            <a:solidFill>
              <a:srgbClr val="F2A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4713365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Diligence condition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996829"/>
            <a:ext cx="10616184" cy="112965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 proposed manager may be funded until comparison, operational diligence and performance-integrity review are complete [S7].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GOVERNED SCENARIO RESULTS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40080" y="1600200"/>
          <a:ext cx="10908792" cy="4617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Scenarios and Robustness — continued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SUPPORTED SCENARIOS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6233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87444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Scenario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 / loss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 measure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874445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5.9% expected return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8.1% volatility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87444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Saved-portfolio stress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 — no governed saved-portfolio stress result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640080" y="4333265"/>
            <a:ext cx="10908792" cy="1884654"/>
          </a:xfrm>
          <a:prstGeom prst="rect">
            <a:avLst/>
          </a:prstGeom>
          <a:solidFill>
            <a:srgbClr val="F5F7F9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0" name="Rectangle 9"/>
          <p:cNvSpPr/>
          <p:nvPr/>
        </p:nvSpPr>
        <p:spPr>
          <a:xfrm>
            <a:off x="640080" y="4333265"/>
            <a:ext cx="54864" cy="1884654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804671" y="4442993"/>
            <a:ext cx="10616184" cy="22860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Selected-series sandbox — not saved-portfolio analytics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1" y="4726457"/>
            <a:ext cx="10616184" cy="140002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950" b="0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Not available — no Strategy Lab return series selected [S8].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4" name="TextBox 13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S6 · S8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Implementation Plan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IMPLEMENTATION STEPS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0" cy="24071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779422"/>
                <a:gridCol w="1779422"/>
                <a:gridCol w="1779422"/>
                <a:gridCol w="1779422"/>
                <a:gridCol w="1779422"/>
              </a:tblGrid>
              <a:tr h="60179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Phase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Action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Size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Funding 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179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Submit conditional equity long/short redemption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Existing sleeve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Terms confirmed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1797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macro role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1.0pp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proceeds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ODD refresh complete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01799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Fund relative-value role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1.0pp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proceeds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approved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Committee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4117118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ALTERNATIVES CONSIDERED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391438"/>
          <a:ext cx="10908792" cy="182648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65704"/>
                <a:gridCol w="2965704"/>
                <a:gridCol w="2965704"/>
              </a:tblGrid>
              <a:tr h="608827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Alternative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Benefit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Cost / 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Reason not selected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088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change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 transition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Concentration remains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Does not address watch item [S3][S4]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08827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Immediate full rebalance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Faster target alignment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Terms and costs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Conditions incomplete [S7][S8]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S7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Risks, Open Items and Approvals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DECISION RISKS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Priority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Risk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Mitigation / condition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High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restrictions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Gate terms unavailable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Verify legal terms before notice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concentration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4.0% policy watch [S3][S4]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Stage redemption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CIO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Medium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diligence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 assessed [S7]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Complete comparison and ODD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826763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OPEN ITEMS AND APPROVALS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40080" y="4101083"/>
          <a:ext cx="10908792" cy="21168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529209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Timing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Item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Required 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Owner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Confirm redemption terms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documents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Operations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Before approval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Select relative-value manager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Comparison and ODD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Investment staff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29209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Next review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Refresh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return period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Performance team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Open [S5]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S7 · S8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Coverage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C6F432"/>
          </a:solidFill>
          <a:ln>
            <a:solidFill>
              <a:srgbClr val="C6F4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48556"/>
                <a:gridCol w="4448556"/>
              </a:tblGrid>
              <a:tr h="611505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Status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Note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 [S2]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Allocation, liquidity and concentration [S3]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Manager market values [S4]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Five-year sleeve period unavailable [S5]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C6F432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 CMA [S6]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and look-through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2A93B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degraded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Proposed manager and 13F subset incomplete [S7]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611505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Redemption terms and scenarios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6B5E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● unavailable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Gate terms and saved-portfolio stress not returned [S8]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A — Sources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40080" y="1325880"/>
          <a:ext cx="10908792" cy="4892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271016"/>
                <a:gridCol w="1271016"/>
                <a:gridCol w="1271016"/>
                <a:gridCol w="1271016"/>
                <a:gridCol w="1271016"/>
                <a:gridCol w="1271016"/>
                <a:gridCol w="1271016"/>
              </a:tblGrid>
              <a:tr h="543560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Tag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Evidence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Tool / view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Key parameters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As of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Data scope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Validation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Digest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 and 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list_organizations; get_gradient_capabilities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organization=test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 and allocation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list_portfolios; get_portfolio_structure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allocation_tree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ma-s2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check_portfolio_policy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portfolio=test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Hedge-fund 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pages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get_portfolio_historical_returns; get_portfolio_attribution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all sections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Forward 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get_capital_market_assumptions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baseline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2026-06-15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passed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ma-s6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and look-through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Diligence tools; get_cross_domain_research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degraded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ma-s7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543560">
                <a:tc>
                  <a:txBody>
                    <a:bodyPr/>
                    <a:lstStyle/>
                    <a:p>
                      <a:pPr>
                        <a:defRPr sz="65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Mandate, redemption terms and gaps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User document; coverage record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2026-06-30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Fictional TEST data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advisory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65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ma-s8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S1 · S2 · S3 · S4 · S5 · S6 · S7 · S8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3" name="TextBox 2"/>
          <p:cNvSpPr txBox="1"/>
          <p:nvPr/>
        </p:nvSpPr>
        <p:spPr>
          <a:xfrm>
            <a:off x="640080" y="566928"/>
            <a:ext cx="10058400" cy="530352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23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Appendix B — Server Metric Methods and Disclosures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115568"/>
            <a:ext cx="10908792" cy="18288"/>
          </a:xfrm>
          <a:prstGeom prst="rect">
            <a:avLst/>
          </a:prstGeom>
          <a:solidFill>
            <a:srgbClr val="0D1117"/>
          </a:solidFill>
          <a:ln>
            <a:solidFill>
              <a:srgbClr val="0D11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11018520" y="502920"/>
            <a:ext cx="530352" cy="393192"/>
          </a:xfrm>
          <a:prstGeom prst="rect">
            <a:avLst/>
          </a:prstGeom>
          <a:solidFill>
            <a:srgbClr val="9AA5B1"/>
          </a:solidFill>
          <a:ln>
            <a:solidFill>
              <a:srgbClr val="9AA5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11045952" y="557784"/>
            <a:ext cx="475488" cy="182880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1000" b="1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25880"/>
            <a:ext cx="10908792" cy="201168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720" b="1">
                <a:solidFill>
                  <a:srgbClr val="4A5563"/>
                </a:solidFill>
                <a:latin typeface="Inter"/>
              </a:defRPr>
            </a:pPr>
            <a:r>
              <a:rPr>
                <a:latin typeface="Inter"/>
              </a:rPr>
              <a:t>SERVER METRIC METHODS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600200"/>
          <a:ext cx="10908792" cy="15480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224278"/>
                <a:gridCol w="2224278"/>
                <a:gridCol w="2224278"/>
                <a:gridCol w="2224278"/>
              </a:tblGrid>
              <a:tr h="387016"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Source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Quantity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Method / formula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Version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50" b="1">
                          <a:solidFill>
                            <a:srgbClr val="FFFFFF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Basis / units / tolerance</a:t>
                      </a:r>
                    </a:p>
                  </a:txBody>
                  <a:tcPr marL="54864" marR="54864" marT="27432" marB="27432" anchor="ctr">
                    <a:solidFill>
                      <a:srgbClr val="0D1117"/>
                    </a:solidFill>
                  </a:tcPr>
                </a:tc>
              </a:tr>
              <a:tr h="3870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S3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Policy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Governed assessment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portfolio-policy-v1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Returned status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  <a:tr h="387016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S4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Exposure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Server exposure aggregation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portfolio-exposure-v1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USD market value</a:t>
                      </a:r>
                    </a:p>
                  </a:txBody>
                  <a:tcPr marL="54864" marR="54864" marT="27432" marB="27432" anchor="ctr">
                    <a:solidFill>
                      <a:srgbClr val="F5F7F9"/>
                    </a:solidFill>
                  </a:tcPr>
                </a:tc>
              </a:tr>
              <a:tr h="387017">
                <a:tc>
                  <a:txBody>
                    <a:bodyPr/>
                    <a:lstStyle/>
                    <a:p>
                      <a:pPr>
                        <a:defRPr sz="720" b="1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S5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Returns and attribution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Linked returns; Brinson-Fachler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portfolio-attribution-v1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20" b="0">
                          <a:solidFill>
                            <a:srgbClr val="0D1117"/>
                          </a:solidFill>
                          <a:latin typeface="Inter"/>
                        </a:defRPr>
                      </a:pPr>
                      <a:r>
                        <a:rPr>
                          <a:latin typeface="Inter"/>
                        </a:rPr>
                        <a:t>Net; 1 bp tolerance</a:t>
                      </a:r>
                    </a:p>
                  </a:txBody>
                  <a:tcPr marL="54864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257993"/>
            <a:ext cx="10908792" cy="2959926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Forward values are assumptions, not forecasts or guarantees [S6].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Form 13F is lagged, long-only and incomplete for hedge funds [S7].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Redemption, gate and side-pocket terms require source documents [S8].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Portfolio Analytics and Strategy Lab are separate analytical scopes.</a:t>
            </a:r>
          </a:p>
          <a:p>
            <a:pPr algn="l">
              <a:spcAft>
                <a:spcPts val="500"/>
              </a:spcAft>
              <a:defRPr sz="1050" b="0">
                <a:solidFill>
                  <a:srgbClr val="0D1117"/>
                </a:solidFill>
                <a:latin typeface="Inter"/>
              </a:defRPr>
            </a:pPr>
            <a:r>
              <a:rPr>
                <a:latin typeface="Inter"/>
              </a:rPr>
              <a:t>•  This AI-assisted construction analysis is not investment, legal or compliance advice.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6446520"/>
            <a:ext cx="10908792" cy="9144"/>
          </a:xfrm>
          <a:prstGeom prst="rect">
            <a:avLst/>
          </a:prstGeom>
          <a:solidFill>
            <a:srgbClr val="E3E7EC"/>
          </a:solidFill>
          <a:ln>
            <a:solidFill>
              <a:srgbClr val="E3E7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Inter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640080" y="6501384"/>
            <a:ext cx="429768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l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Sources: S3 · S4 · S5 · S6 · S7 · S8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6501384"/>
            <a:ext cx="5303520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ct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TEST DATA — fictional portfolio for rendering tests only · Data as of 2026-06-30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87000" y="6501384"/>
            <a:ext cx="1261872" cy="146304"/>
          </a:xfrm>
          <a:prstGeom prst="rect">
            <a:avLst/>
          </a:prstGeom>
          <a:noFill/>
        </p:spPr>
        <p:txBody>
          <a:bodyPr wrap="none" lIns="9144" rIns="9144" tIns="9144" bIns="9144" anchor="t">
            <a:spAutoFit/>
          </a:bodyPr>
          <a:lstStyle/>
          <a:p>
            <a:pPr algn="r">
              <a:spcAft>
                <a:spcPts val="0"/>
              </a:spcAft>
              <a:defRPr sz="650" b="0">
                <a:solidFill>
                  <a:srgbClr val="8A94A1"/>
                </a:solidFill>
                <a:latin typeface="Inter"/>
              </a:defRPr>
            </a:pPr>
            <a:r>
              <a:rPr>
                <a:latin typeface="Inter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D1117"/>
      </a:dk1>
      <a:lt1>
        <a:srgbClr val="FFFFFF"/>
      </a:lt1>
      <a:dk2>
        <a:srgbClr val="161C24"/>
      </a:dk2>
      <a:lt2>
        <a:srgbClr val="F5F7F9"/>
      </a:lt2>
      <a:accent1>
        <a:srgbClr val="C6F432"/>
      </a:accent1>
      <a:accent2>
        <a:srgbClr val="4F6B00"/>
      </a:accent2>
      <a:accent3>
        <a:srgbClr val="F2A93B"/>
      </a:accent3>
      <a:accent4>
        <a:srgbClr val="5B8DEF"/>
      </a:accent4>
      <a:accent5>
        <a:srgbClr val="FF6B5E"/>
      </a:accent5>
      <a:accent6>
        <a:srgbClr val="3FB8AF"/>
      </a:accent6>
      <a:hlink>
        <a:srgbClr val="0000FF"/>
      </a:hlink>
      <a:folHlink>
        <a:srgbClr val="800080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Northstar Hedge Fund Portfolio (TEST)</dc:title>
  <dc:subject>Marketable Alternatives Portfolio Construction</dc:subject>
  <dc:creator>GradientCIO</dc:creator>
  <cp:keywords>Gradient report theme 2.1.0</cp:keywords>
  <dc:description>generated using python-pptx</dc:description>
  <cp:lastModifiedBy>GradientCIO</cp:lastModifiedBy>
  <cp:revision>1</cp:revision>
  <dcterms:created xsi:type="dcterms:W3CDTF">2020-01-01T00:00:00Z</dcterms:created>
  <dcterms:modified xsi:type="dcterms:W3CDTF">2020-01-01T00:00:00Z</dcterms:modified>
  <cp:category/>
</cp:coreProperties>
</file>