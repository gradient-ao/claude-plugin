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cat>
            <c:strRef>
              <c:f>Sheet1!$A$2:$A$5</c:f>
              <c:strCache>
                <c:ptCount val="4"/>
                <c:pt idx="0">
                  <c:v>Equity long/short</c:v>
                </c:pt>
                <c:pt idx="1">
                  <c:v>Macro</c:v>
                </c:pt>
                <c:pt idx="2">
                  <c:v>Relative value</c:v>
                </c:pt>
                <c:pt idx="3">
                  <c:v>Multi-strategy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41.699999999999996</c:v>
                </c:pt>
                <c:pt idx="1">
                  <c:v>20.8</c:v>
                </c:pt>
                <c:pt idx="2">
                  <c:v>12.5</c:v>
                </c:pt>
                <c:pt idx="3">
                  <c:v>25.0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Equity long/short</c:v>
                </c:pt>
              </c:strCache>
            </c:strRef>
          </c:tx>
          <c:spPr>
            <a:solidFill>
              <a:srgbClr val="0D1117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5.0</c:v>
                </c:pt>
                <c:pt idx="1">
                  <c:v>3.0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Macro</c:v>
                </c:pt>
              </c:strCache>
            </c:strRef>
          </c:tx>
          <c:spPr>
            <a:solidFill>
              <a:srgbClr val="7FA600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2.5</c:v>
                </c:pt>
                <c:pt idx="1">
                  <c:v>3.5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Relative value</c:v>
                </c:pt>
              </c:strCache>
            </c:strRef>
          </c:tx>
          <c:spPr>
            <a:solidFill>
              <a:srgbClr val="F2A93B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1.5</c:v>
                </c:pt>
                <c:pt idx="1">
                  <c:v>2.5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Multi-strategy</c:v>
                </c:pt>
              </c:strCache>
            </c:strRef>
          </c:tx>
          <c:spPr>
            <a:solidFill>
              <a:srgbClr val="5B8DEF"/>
            </a:solidFill>
          </c:spPr>
          <c:cat>
            <c:strRef>
              <c:f>Sheet1!$A$2:$A$3</c:f>
              <c:strCache>
                <c:ptCount val="2"/>
                <c:pt idx="0">
                  <c:v>Current</c:v>
                </c:pt>
                <c:pt idx="1">
                  <c:v>Target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3.0</c:v>
                </c:pt>
                <c:pt idx="1">
                  <c:v>3.0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Equity long/short</c:v>
                </c:pt>
                <c:pt idx="1">
                  <c:v>Macro</c:v>
                </c:pt>
                <c:pt idx="2">
                  <c:v>Relative value</c:v>
                </c:pt>
                <c:pt idx="3">
                  <c:v>Multi-strategy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C6F432"/>
            </a:solidFill>
          </c:spPr>
          <c:cat>
            <c:strRef>
              <c:f>Sheet1!$A$2:$A$5</c:f>
              <c:strCache>
                <c:ptCount val="4"/>
                <c:pt idx="0">
                  <c:v>Equity long/short</c:v>
                </c:pt>
                <c:pt idx="1">
                  <c:v>Macro</c:v>
                </c:pt>
                <c:pt idx="2">
                  <c:v>Relative value</c:v>
                </c:pt>
                <c:pt idx="3">
                  <c:v>Multi-strategy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0.0</c:v>
                </c:pt>
                <c:pt idx="1">
                  <c:v>1.0</c:v>
                </c:pt>
                <c:pt idx="2">
                  <c:v>1.0</c:v>
                </c:pt>
                <c:pt idx="3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FF6B5E"/>
            </a:solidFill>
          </c:spPr>
          <c:cat>
            <c:strRef>
              <c:f>Sheet1!$A$2:$A$5</c:f>
              <c:strCache>
                <c:ptCount val="4"/>
                <c:pt idx="0">
                  <c:v>Equity long/short</c:v>
                </c:pt>
                <c:pt idx="1">
                  <c:v>Macro</c:v>
                </c:pt>
                <c:pt idx="2">
                  <c:v>Relative value</c:v>
                </c:pt>
                <c:pt idx="3">
                  <c:v>Multi-strategy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FF6B5E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cat>
            <c:strRef>
              <c:f>Sheet1!$A$2:$A$5</c:f>
              <c:strCache>
                <c:ptCount val="4"/>
                <c:pt idx="0">
                  <c:v>Equity</c:v>
                </c:pt>
                <c:pt idx="1">
                  <c:v>Rates</c:v>
                </c:pt>
                <c:pt idx="2">
                  <c:v>Credit</c:v>
                </c:pt>
                <c:pt idx="3">
                  <c:v>USD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0.31</c:v>
                </c:pt>
                <c:pt idx="1">
                  <c:v>-0.08</c:v>
                </c:pt>
                <c:pt idx="2">
                  <c:v>0.14</c:v>
                </c:pt>
                <c:pt idx="3">
                  <c:v>0.09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Liquid / marketable</c:v>
                </c:pt>
              </c:strCache>
            </c:strRef>
          </c:tx>
          <c:spPr>
            <a:solidFill>
              <a:srgbClr val="0D1117"/>
            </a:solidFill>
          </c:spPr>
          <c:cat>
            <c:strRef>
              <c:f>Sheet1!$A$2:$A$2</c:f>
              <c:strCache>
                <c:ptCount val="1"/>
                <c:pt idx="0">
                  <c:v>Portfolio (TEST)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68.3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Illiquid / restricted</c:v>
                </c:pt>
              </c:strCache>
            </c:strRef>
          </c:tx>
          <c:spPr>
            <a:solidFill>
              <a:srgbClr val="7FA600"/>
            </a:solidFill>
          </c:spPr>
          <c:cat>
            <c:strRef>
              <c:f>Sheet1!$A$2:$A$2</c:f>
              <c:strCache>
                <c:ptCount val="1"/>
                <c:pt idx="0">
                  <c:v>Portfolio (TEST)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31.7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cat>
            <c:strRef>
              <c:f>Sheet1!$A$2:$A$2</c:f>
              <c:strCache>
                <c:ptCount val="1"/>
                <c:pt idx="0">
                  <c:v>Baseline expected return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5.9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Why this target</a:t>
            </a:r>
          </a:p>
          <a:p>
            <a:r>
              <a:t>Observation: The target reallocates 2.0 percentage points from equity long/short to macro and relative value [S3][S4]. Why it matters: The largest strategy concentration declines. Uncertainty: CMA consensus, macro regime, manager findings and terms remain incomplete [S7][S8]. What would change the view: Completed context that does not support the new roles [S7][S8].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Manager limit is binding</a:t>
            </a:r>
          </a:p>
          <a:p>
            <a:r>
              <a:t>Observation: The largest manager is at the 4.0% policy limit [S3][S4]. Why it matters: New funding should not increase that concentration. Uncertainty: Model-implied factors and incomplete look-through do not reveal the full hedge-fund book [S7]. What would change the view: Complete exposure evidence showing lower aggregate concentration [S4][S7].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Assumptions show tradeoff</a:t>
            </a:r>
          </a:p>
          <a:p>
            <a:r>
              <a:t>Observation: Hedge funds carry higher expected return and volatility than absolute return in the selected assumptions [S6]. Why it matters: The target mix should preserve role diversification rather than maximize one measure. Uncertainty: These are class assumptions, not manager forecasts. What would change the view: A refreshed governed context with materially different relative measures [S6].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274320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C6F432"/>
                </a:solidFill>
                <a:latin typeface="Inter"/>
              </a:defRPr>
            </a:pPr>
            <a:r>
              <a:t>MARKETABLE ALTERNATIVES PORTFOLIO CONSTRUCTION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76272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FFFFFF"/>
                </a:solidFill>
                <a:latin typeface="Inter"/>
              </a:defRPr>
            </a:pPr>
            <a:r>
              <a:t>Northstar Hedge Fund Portfolio (TEST)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456432"/>
            <a:ext cx="9692640" cy="6400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9AA5B1"/>
                </a:solidFill>
                <a:latin typeface="Inter"/>
              </a:defRPr>
            </a:pPr>
            <a:r>
              <a:t>Decision pack · prepared for the Investment Committee (TEST)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251960"/>
            <a:ext cx="1005840" cy="54864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t>AS OF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2026-06-30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052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t>BASE CURRENCY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052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USD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t>TOTAL NAV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$1,000.0M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2303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t>MARKETABLE-ALTERNATIVES WEIGHT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431536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12.0%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60520" y="52303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t>POLICY BENCHMARK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60520" y="5431536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Example Absolute Return Index (TEST)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35240" y="52303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t>DATA 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5240" y="5431536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Fictional TEST data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473952"/>
            <a:ext cx="80467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75520" y="6473952"/>
            <a:ext cx="16459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Executive Decision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08792" cy="240940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2409409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Recommendation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719072"/>
            <a:ext cx="10616184" cy="192477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We recommend retaining the 12.0% marketable-alternatives allocation while shifting 2.0 percentage points from equity long/short to macro and relative-value roles [S3][S4]. Committee action requested: approve the target structure and staged manager review, subject to verified redemption terms and completed diligence [S3][S7][S8].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845017"/>
            <a:ext cx="2644902" cy="237290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845017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3973033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t>MARKETABLE-ALTERNATIVES WEIGHT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4229065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t>12.0%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t>Policy target 12.0% [S3]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94710" y="3845017"/>
            <a:ext cx="2644902" cy="237290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94710" y="3845017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04438" y="3973033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t>ACTIVE WEIGHT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04438" y="4229065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t>0.0pp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0443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t>Total-fund target [S3]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49340" y="3845017"/>
            <a:ext cx="2644902" cy="237290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49340" y="3845017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59068" y="3973033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t>RELATIVE RETURN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59068" y="4229065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t>+0.6pp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5906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t>Trailing 1Y versus benchmark [S5]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03970" y="3845017"/>
            <a:ext cx="2644902" cy="237290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03970" y="3845017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13698" y="3973033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t>LIQUID SHARE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13698" y="4229065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t>8.0%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1369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t>Monthly or better as % NAV [S3]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S3 · S4 · S5 · S7 · S8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Executive Decision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08792" cy="103610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1036100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Recommendation and action requested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719072"/>
            <a:ext cx="10616184" cy="5514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We recommend a 2.0 percentage-point strategy shift within the existing 12.0% allocation. Committee action requested: approve the target mix and authorize manager review, with no funding until redemption and diligence conditions are complete [S3][S4][S7][S8].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471708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DECISION SUMMARY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0080" y="2746028"/>
          <a:ext cx="10908792" cy="13649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341241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Decision element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Proposed action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41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Total allocation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Hold at 12.0%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41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Equity long/short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Reduce from 5.0% to 3.0%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[S3][S4]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t>● Proposed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4124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Macro and relative value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Increase from 4.0% to 6.0%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[S3][S4]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t>● Proposed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640080" y="4220722"/>
            <a:ext cx="10908792" cy="83530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220722"/>
            <a:ext cx="54864" cy="835305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1" y="4330450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Conditions and limits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" y="4613914"/>
            <a:ext cx="10616184" cy="35067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Confirm notice periods, gates and side-pocket terms for each affected fund and complete ODD before implementation [S7][S8].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5165756"/>
            <a:ext cx="10908792" cy="105216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5165756"/>
            <a:ext cx="54864" cy="1052163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1" y="527548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Key judgment — headline signal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1" y="5558948"/>
            <a:ext cx="10616184" cy="56753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Observation: The fictional TEST report carries a Liquidity terms require confirmation signal [S1]. Why it matters: The signal frames the review. Uncertainty: Evidence coverage is bounded. What would change the view: New governed evidence that changes the signal.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 · S3 · S4 · S7 · S8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Executive Decision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08792" cy="251305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251305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Key judgment — primary measure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719072"/>
            <a:ext cx="10616184" cy="202842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Observation: Marketable-alternatives weight is 12.0% in the TEST evidence [S2]. Why it matters: This measure anchors the executive view. Uncertainty: The fixture is deliberately compact. What would change the view: A refreshed source with a materially different value.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948666"/>
            <a:ext cx="10908792" cy="226925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948666"/>
            <a:ext cx="54864" cy="2269253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405839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Key judgment — monitoring priority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4341858"/>
            <a:ext cx="10616184" cy="178462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Observation: Liquid share is 8.0% in the TEST evidence [S3]. Why it matters: It identifies a monitoring priority. Uncertainty: Supporting detail is limited. What would change the view: Corroborated evidence that resolves or reverses the item.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S2 · S3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Mandate, Benchmark and Data Basis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08792" cy="297744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Portfolio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Northstar Total Fund (TEST)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Mandate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Diversifying hedge-fund portfolio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Benchmark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Example Absolute Return Index (TEST)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Horizon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5 years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9624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Return basis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Net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62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Data scope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Fictional TEST data [S1]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413057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GOVERNED FRAMEWORK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4687377"/>
          <a:ext cx="10908792" cy="15305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8263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Area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Objective or limit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Observed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8263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Marketable alternatives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8.0%–16.0%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12.0%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263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Single manager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At or below 4.0% of NAV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4.0%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[S3][S4]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8263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Monthly-or-better liquidity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At least 7.0% of NAV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8.0%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 · S2 · S3 · S4 · S5 · S6 · S8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Current Hedge Fund Portfolio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HEDGE-FUND STRATEGY ALLOCATION (TEST)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none cited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Current Hedge Fund Portfolio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CURRENT SLEEVE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0" cy="32253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64507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Strategy / manager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Role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Value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% portfolio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% sleeve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645075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Example Alpha Partners (TEST)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Equity long/short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$50.0M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41.7%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2026-06-30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45075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Example Macro Fund (TEST)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Macro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$25.0M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2.5%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20.8%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2026-06-30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45075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Example Relative Value Fund (TEST)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Relative value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$15.0M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12.5%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2026-06-30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45079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Example Multi-Strategy Fund (TEST)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Multi-strategy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$30.0M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3.0%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25.0%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2026-06-30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4935307"/>
            <a:ext cx="10908792" cy="128261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t>Strategy and role labels are shown as returned; they do not establish leverage, liquidity or underlying positions [S4].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A BROADER STRATEGY MIX LOWERS SINGLE-ROLE CONCENTRATION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Target Strategy and Manager Structure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CURRENT WEIGHT VERSUS POLICY RANGE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36776"/>
            <a:ext cx="1828800" cy="110871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t>Equity long/short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4022" y="2038883"/>
            <a:ext cx="6934809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458553" y="1946529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14008" y="1831086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791206"/>
            <a:ext cx="1828800" cy="110871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t>Macro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94022" y="3193313"/>
            <a:ext cx="5201107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124297" y="3100959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80860" y="2985516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945636"/>
            <a:ext cx="1828800" cy="110871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t>Relative value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60320" y="4347743"/>
            <a:ext cx="5201107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390595" y="4255389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47157" y="4139946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5100066"/>
            <a:ext cx="1828800" cy="110871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t>Multi-strategy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94022" y="5502173"/>
            <a:ext cx="3467404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991148" y="5409819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014008" y="5294376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none cited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A BROADER STRATEGY MIX LOWERS SINGLE-ROLE CONCENTRATION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Target Strategy and Manager Structure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CURRENT AND TARGET STRATEGY MIX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none cited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A BROADER STRATEGY MIX LOWERS SINGLE-ROLE CONCENTRATION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Target Strategy and Manager Structure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TARGET ALLOCATION CHANGES (PERCENTAGE POINTS)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none cited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A BROADER STRATEGY MIX LOWERS SINGLE-ROLE CONCENTRATION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Target Strategy and Manager Structure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CURRENT VERSUS TARGET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0" cy="194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388553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Strategy / role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Current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Target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Change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Range / constraint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Rationale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88553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Equity long/short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3.0%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-2.0pp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2.0%–6.0%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Reduce largest strategy concentration [S3][S4]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8553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Macro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2.5%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3.5%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+1.0pp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2.0%–5.0%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Increase diversifying role subject to diligence [S7][S8]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88553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Relative value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+1.0pp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1.0%–4.0%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Broaden strategy mix subject to terms [S7][S8]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855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Multi-strategy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3.0%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3.0%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0.0pp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2.0%–4.0%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Maintain current role [S3][S4]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3652696"/>
            <a:ext cx="10908792" cy="164294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652696"/>
            <a:ext cx="54864" cy="1642949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1" y="376242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Analysis — Why this target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4045888"/>
            <a:ext cx="10616184" cy="115831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Observation: The target reallocates 2.0 percentage points from equity long/short to macro and relative value [S3][S4]. Why it matters: The largest strategy concentration declines. Uncertainty: CMA consensus, macro…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405374"/>
            <a:ext cx="10908792" cy="81254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t>The target is a committee proposal and is not a saved portfolio change [S3][S8].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S3 · S4 · S7 · S8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Historical Performance and Attribution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STANDARD PERIODS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18832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7080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Period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Portfolio / sleeve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Benchmark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Excess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Coverage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7080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1Y hedge-fund sleeve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6.4%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5.8%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+0.6pp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Complete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080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3Y hedge-fund sleeve (ann.)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5.9%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5.5%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+0.4pp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Complete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7080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5Y hedge-fund sleeve (ann.)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Not available — sleeve history insufficient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Unavailable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593145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ATTRIBUTION EFFECTS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3867465"/>
          <a:ext cx="10908792" cy="23504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47009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Effect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Contribution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7009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Allocation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+0.10pp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009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Selection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+0.48pp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7009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Interaction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+0.02pp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7009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Residual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0.00pp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Historical Performance and Attribution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12230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Method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Brinson-Fachler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2230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Linking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Symmetric Carino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12230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Net, monthly linked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2230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Tolerance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 bp; reconciled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RETURNED EXPOSURES SHOW WHERE DIVERSIFICATION REMAINS INCOMPLETE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Factor, Currency and Concentration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MODEL-IMPLIED FACTOR EXPOSURES (TEST)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none cited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RETURNED EXPOSURES SHOW WHERE DIVERSIFICATION REMAINS INCOMPLETE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Factor, Currency and Concentration Evidence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GOVERNED CONCENTRATION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170179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2544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Axis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Observed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Limit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2544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Largest manager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4.0% of NAV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4.0%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[S3][S4]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544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Largest strategy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5.0% of NAV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6.0%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[S3][S4]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2545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13F equity subset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Not available — manager identifiers incomplete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Not assessed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t>● Not assessed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3411725"/>
            <a:ext cx="10908792" cy="168952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411725"/>
            <a:ext cx="54864" cy="1689527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1" y="3521453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Analysis — Manager limit is binding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3804917"/>
            <a:ext cx="10616184" cy="120489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Observation: The largest manager is at the 4.0% policy limit [S3][S4]. Why it matters: New funding should not increase that concentration. Uncertainty: Model-implied factors and incomplete look-through do…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5210981"/>
            <a:ext cx="10908792" cy="100693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5210981"/>
            <a:ext cx="54864" cy="100693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1" y="5320709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Look-through limitation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" y="5604173"/>
            <a:ext cx="10616184" cy="52230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Any Form 13F evidence is lagged, long-only US-listed equity, excludes shorts, derivatives, cash and non-US listings, and is not a complete hedge-fund exposure view [S7].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S3 · S4 · S7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Forward Return and Risk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Assumption set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 Strategic CMA (TEST)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Regime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Baseline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Horizon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5 years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Currency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USD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7840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Context fingerprint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test-ma-forward-2026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Forward Return and Risk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MARKETABLE-ALTERNATIVES FORWARD ASSUMPTIONS (TEST)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153924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Class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Expected return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Expected volatility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153924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Hedge funds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6.1%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8.9%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53924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Absolute return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5.5%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7.1%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none cited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GOVERNED ASSUMPTIONS FRAME TRADEOFFS RATHER THAN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Forward Return and Risk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07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327906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3279063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Analysis — Assumptions show tradeoff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279443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Observation: Hedge funds carry higher expected return and volatility than absolute return in the selected assumptions [S6]. Why it matters: The target mix should preserve role diversification rather…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714671"/>
            <a:ext cx="10908792" cy="150324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t>These figures are assumptions under the selected context, not forecasts or guarantees [S6].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Liquidity, Redemption and Operational Terms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LIQUIDITY COMPOSITION (TEST)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none cited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Liquidity, Redemption and Operational Terms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LIQUIDITY PROFILE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12223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0745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Bucket / term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% NAV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Amount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Requirement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0745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Monthly or better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8.0%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$80.0M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At least 7.0%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0745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Quarterly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4.0%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$40.0M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Monitor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2932295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REDEMPTION EVIDENCE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3206615"/>
          <a:ext cx="10908792" cy="20498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0996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Manager / fund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Frequency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Notice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Gate / side pocket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0996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Example Alpha Partners (TEST)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Quarterly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60 days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Not available — terms not returned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996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Example Macro Fund (TEST)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Monthly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30 days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 gate reported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0996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Example Relative Value Fund (TEST)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Monthly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45 days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Not available — terms not returned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9963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Example Multi-Strategy Fund (TEST)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Quarterly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90 days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Not available — terms not returned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5366146"/>
            <a:ext cx="10908792" cy="85177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t>Redemption frequency and notice are user-document evidence; missing gates, side pockets and leverage remain open items [S8].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Manager Lineup and Diligence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CURRENT AND PROPOSED ROLES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0" cy="28937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72342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Manager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Strategy / role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Exposure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Diligence 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Proposed action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Next step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72342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Example Alpha Partners (TEST)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Equity long/short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$50.0M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Current; 1 Medium finding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Redeem $20.0M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Confirm notice and gate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2342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Example Macro Fund (TEST)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Macro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$25.0M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Current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Add $10.0M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Refresh ODD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723428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Proposed Relative Value Manager (TEST)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Relative value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Not funded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Not assessed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Consider $10.0M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Run comparison and ODD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4603637"/>
            <a:ext cx="10908792" cy="161428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4603637"/>
            <a:ext cx="54864" cy="1614282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1" y="4713365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Diligence condition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4996829"/>
            <a:ext cx="10616184" cy="112965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No proposed manager may be funded until comparison, operational diligence and performance-integrity review are complete [S7].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Scenarios and Robustness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GOVERNED SCENARIO RESULTS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Scenarios and Robustness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SUPPORTED SCENARIOS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26233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87444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Scenario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Return / loss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Risk measure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874445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Baseline assumptions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5.9% expected return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8.1% volatility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Proposed sleeve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87444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Saved-portfolio stress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Not available — no governed saved-portfolio stress result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4333265"/>
            <a:ext cx="10908792" cy="188465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4333265"/>
            <a:ext cx="54864" cy="1884654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1" y="4442993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Selected-series sandbox — not saved-portfolio analytics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4726457"/>
            <a:ext cx="10616184" cy="140002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Not available — no Strategy Lab return series selected [S8].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S6 · S8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Implementation Plan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IMPLEMENTATION STEPS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0" cy="24071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60179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Phase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Action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Size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Funding 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Condition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Owner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60179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Submit conditional equity long/short redemption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Existing sleeve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Terms confirmed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Investment staff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0179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Fund macro role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1.0pp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Redemption proceeds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ODD refresh 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CIO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01799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Fund relative-value role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Redemption proceeds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Manager approved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Committee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4117118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ALTERNATIVES CONSIDERED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4391438"/>
          <a:ext cx="10908792" cy="182648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60882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Alternative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Benefit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Cost / risk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Reason not selected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60882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 change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 transition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Concentration remains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Does not address watch item [S3][S4]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0882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Immediate full rebalance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Faster target alignment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Terms and costs 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Conditions incomplete [S7][S8]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S3 · S4 · S7 · S8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Risks, Open Items and Approvals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DECISION RISKS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21168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52920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Priority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Risk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Mitigation / condition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Owner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High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Redemption restrictions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Gate terms unavailable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Verify legal terms before notice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Operations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Manager concentration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4.0% policy watch [S3][S4]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Stage redemption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CIO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Medium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Proposed manager diligence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Not assessed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Complete comparison and ODD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Investment staff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826763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OPEN ITEMS AND APPROVALS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4101083"/>
          <a:ext cx="10908792" cy="21168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52920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Timing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Item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Required 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Owner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Before approval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Confirm redemption terms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Manager documents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Operations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Open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Before approval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Select relative-value manager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Comparison and ODD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Investment staff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Open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920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Next review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Refresh 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Governed return period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Performance team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Open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S3 · S4 · S5 · S7 · S8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Coverage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13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61150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Portfolio and allocation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Fictional TEST data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Policy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Allocation, liquidity and concentration 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Exposure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Manager market values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Returns and 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t>● degraded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Five-year sleeve period unavailable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Forward assumptions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 CMA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Diligence and look-through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t>● degraded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Proposed manager and 13F subset incomplete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Redemption terms and scenarios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t>● 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Gate terms and saved-portfolio stress not returned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S2 · S3 · S4 · S5 · S6 · S7 · S8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Appendix A — Sources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271016"/>
                <a:gridCol w="1271016"/>
                <a:gridCol w="1271016"/>
                <a:gridCol w="1271016"/>
                <a:gridCol w="1271016"/>
                <a:gridCol w="1271016"/>
                <a:gridCol w="1271016"/>
              </a:tblGrid>
              <a:tr h="54356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Tool / view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Key parameters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Data scope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Validation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Digest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Organization and 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list_organizations; get_gradient_capabilities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organization=test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ma-s1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Portfolio and allocation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list_portfolios; get_portfolio_structure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allocation_tree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ma-s2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Policy assessment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check_portfolio_policy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portfolio=test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ma-s3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Hedge-fund 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get_portfolio_exposure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all pages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ma-s4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Returns and 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get_portfolio_historical_returns; get_portfolio_attribution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all sections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degraded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ma-s5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Forward assumptions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get_capital_market_assumptions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baseline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2026-06-15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ma-s6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Diligence and look-through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Diligence tools; get_cross_domain_research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fictional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degraded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ma-s7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356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Mandate, redemption terms and gaps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User document; coverage record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fictional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Fictional TEST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advisory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ma-s8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 · S2 · S3 · S4 · S5 · S6 · S7 · S8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Appendix B — Server Metric Methods and Disclosures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SERVER METRIC METHODS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17737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54742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Quantity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Method / formula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Version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Basis / units / tolerance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54742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Policy status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Governed assessment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portfolio-policy-v1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Returned status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4742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Server exposure aggregation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portfolio-exposure-v1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USD market value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54742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Returns and 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Linked returns; Brinson-Fachler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portfolio-attribution-v1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Net; 1 bp tolerance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4742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Forward statistics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Expected-statistics chart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chart-contract-v1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5-year assumptions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483638"/>
            <a:ext cx="10908792" cy="273428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Forward values are assumptions, not forecasts or guarantees [S6].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Form 13F is lagged, long-only and incomplete for hedge funds [S7].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Redemption, gate and side-pocket terms require source documents [S8].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Portfolio Analytics and Strategy Lab are separate analytical scopes.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This AI-assisted construction analysis is not investment, legal or compliance advice.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S3 · S4 · S5 · S6 · S7 · S8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TEST DATA — fictional portfolio for rendering tests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Northstar Hedge Fund Portfolio (TEST)</dc:title>
  <dc:subject>Marketable Alternatives Portfolio Construction</dc:subject>
  <dc:creator>GradientCIO</dc:creator>
  <cp:keywords/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