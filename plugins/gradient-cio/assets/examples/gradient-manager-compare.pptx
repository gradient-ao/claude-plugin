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Ridgeview</c:v>
                </c:pt>
                <c:pt idx="1">
                  <c:v>Harbor</c:v>
                </c:pt>
                <c:pt idx="2">
                  <c:v>Northfield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12.4</c:v>
                </c:pt>
                <c:pt idx="1">
                  <c:v>4.85</c:v>
                </c:pt>
                <c:pt idx="2">
                  <c:v>1.92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Ridgeview</c:v>
                </c:pt>
                <c:pt idx="1">
                  <c:v>Harbor</c:v>
                </c:pt>
                <c:pt idx="2">
                  <c:v>Northfield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41.0</c:v>
                </c:pt>
                <c:pt idx="1">
                  <c:v>28.0</c:v>
                </c:pt>
                <c:pt idx="2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Ridgeview</c:v>
                </c:pt>
                <c:pt idx="1">
                  <c:v>Harbor</c:v>
                </c:pt>
                <c:pt idx="2">
                  <c:v>Northfield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Ridgeview (n=214)</c:v>
                </c:pt>
                <c:pt idx="1">
                  <c:v>Harbor (n=187)</c:v>
                </c:pt>
                <c:pt idx="2">
                  <c:v>Northfield (n=96)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78.0</c:v>
                </c:pt>
                <c:pt idx="1">
                  <c:v>59.0</c:v>
                </c:pt>
                <c:pt idx="2">
                  <c:v>42.0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2.0</c:v>
                </c:pt>
                <c:pt idx="2">
                  <c:v>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Scale differs without deciding mandate fit</a:t>
            </a:r>
          </a:p>
          <a:p>
            <a:r>
              <a:t>Observation: Ridgeview reports the most RAUM and clients; all three report zero Item 11 disclosures [S1][S2][S3]. Why it matters: Scale affects operating context, not quality. Uncertainty: Cohorts differ. What would change the view: User criteria that privilege a specific operating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Evidence gaps differ</a:t>
            </a:r>
          </a:p>
          <a:p>
            <a:r>
              <a:t>Observation: The fictional TEST evidence supports the evidence gaps differ finding [S2][S3]. Why it matters: It focuses review on the principal evidence gap. Uncertainty: The compact fixture omits some corroborating detail. What would change the view: Updated governed evidence that contradicts the finding.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Reported overlap is limited</a:t>
            </a:r>
          </a:p>
          <a:p>
            <a:r>
              <a:t>Observation: Ridgeview and Harbor have 18.4% weighted overlap across 31 positions [S6]. Why it matters: Their reported long books are not interchangeable. Uncertainty: Northfield lacks usable 13F identity. What would change the view: Complete same-period filings showing materially different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Identity and coverage gaps govern interpretation</a:t>
            </a:r>
          </a:p>
          <a:p>
            <a:r>
              <a:t>Observation: Ridgeview and Harbor have usable consistency checks, while Northfield is outside the catalog [S8][S11][S3]. Why it matters: Evidence depth differs by manager. Uncertainty: Events are unpublished. What would change the view: Catalog resolution and published event coverage for Northfield.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274320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t>MANAGER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t>Global Macro Mandate (TEST)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t>3 managers · named by user · RENDER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MANAGERS COMPARED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SCREEN BASIS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Named by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IN DILIGENCE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 of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FORM ADV AS 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2026-10-01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LATEST 13F PERIOD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2026-06-30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t>REPORT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t>2026-10-04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6473952"/>
            <a:ext cx="16459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WHAT DIFFERS, WHAT NEEDS FOLLOW-UP, WHAT IS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309839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3098399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Bottom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261376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Three advisers were compared for the global macro mandate: Ridgeview reports $12.40B regulatory AUM, Harbor $4.85B and Northfield $1.92B [S1][S2][S3]. None reports an Item 11 disciplinary disclosure [S1][S2][S3]. Harbor has 2 of 9 private funds with no administrator named and Northfield reports custody through a related person, so both carry medium flags [S2][S3]. Weighted 13F overlap between Ridgeview and Harbor is 18.4% for the 2026-06-30 period [S6]; Northfield is not in the diligence catalog, so it has no 13F, consistency or events evidence. This is an evidence comparison, not a ranking.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534007"/>
            <a:ext cx="2644902" cy="168391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534007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66202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MANAGERS COMPARED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1805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Named by user [S1]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4710" y="4534007"/>
            <a:ext cx="2644902" cy="168391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94710" y="4534007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4438" y="466202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MANAGERS WITH FLAGS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491805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Medium only [S2][S3]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9340" y="4534007"/>
            <a:ext cx="2644902" cy="168391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49340" y="4534007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466202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13F OVERLAP PAIRS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491805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1 of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Same-period filings [S6]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3970" y="4534007"/>
            <a:ext cx="2644902" cy="168391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03970" y="4534007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13698" y="466202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t>ITEM 11 DISCLOSURES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491805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t>All three advisers [S1–S3] [S4]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WHAT DIFFERS, WHAT NEEDS FOLLOW-UP, WHAT IS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Executive summary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SHORTLIST AT A GLANCE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134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28351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CRD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RAUM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Flags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Next step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28351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Ridgeview Example Advisors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999901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$12.40B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No flags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Run ODD report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83512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Harbor Example Capital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999902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$4.85B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Reconcile DDQ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283514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Northfield Example Capital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999903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$1.92B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Run ODD report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2752538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Order follows the user's list. Flags are evidence for follow-up, not a verdict on the manager.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45146"/>
            <a:ext cx="10908792" cy="99363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045146"/>
            <a:ext cx="54864" cy="993639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315487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headline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438338"/>
            <a:ext cx="10616184" cy="50900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fictional TEST report carries a 2 of 3 managers with flags signal [S1]. Why it matters: The signal frames the review. Uncertainty: Evidence coverage is bounded. What would change the view: New governed evidence that changes the signal.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48513"/>
            <a:ext cx="10908792" cy="98969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148513"/>
            <a:ext cx="54864" cy="98969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425824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primary 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541705"/>
            <a:ext cx="10616184" cy="50506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Managers compared is 3 in the TEST evidence [S2]. Why it matters: This measure anchors the executive view. Uncertainty: The fixture is deliberately compact. What would change the view: A refreshed source with a materially different value.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47938"/>
            <a:ext cx="10908792" cy="96998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247938"/>
            <a:ext cx="54864" cy="96998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1" y="5357666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Key judgment — monitoring 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" y="5641130"/>
            <a:ext cx="10616184" cy="48534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Item 11 disclosures is 0 in the TEST evidence [S3]. Why it matters: It identifies a monitoring priority. Uncertainty: Supporting detail is limited. What would change the view: Corroborated evidence that resolves or reverses the item.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FORM ADV PART 1A AND SCHEDULE D, REPORT 2026-10-01; FORM 13F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Side-by-side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REGULATORY ASSETS UNDER MANAGEMENT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FORM ADV PART 1A AND SCHEDULE D, REPORT 2026-10-01; FORM 13F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Side-by-side comparison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CLIENT COUNT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FORM ADV PART 1A AND SCHEDULE D, REPORT 2026-10-01; FORM 13F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Side-by-side comparison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ITEM 11 DISCLOSURES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FORM ADV PART 1A AND SCHEDULE D, REPORT 2026-10-01; FORM 13F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Side-by-side comparison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RAUM COHORT PERCENTILE STRIPS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FORM ADV PART 1A AND SCHEDULE D, REPORT 2026-10-01; FORM 13F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Side-by-side comparison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690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6083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Ridgeview (TEST)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Harbor (TEST)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Northfield (TEST)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CRD / SEC no.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999901 / 801-00001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999902 / 801-00002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999903 / 801-00003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Registration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Registered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Registered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Registered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State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RAUM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$12.40B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$4.85B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$1.92B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Discretionary share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100.0%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96.2%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100.0%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Clients / main type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41 / pooled vehicles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28 / pooled vehicles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12 / pension plans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Employees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64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Private funds / gross assets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11 / $10.86B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 / $4.10B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 / $1.15B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Custody (Item 9)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Yes, $10.86B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Yes, $4.10B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Related person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Auditor named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11 of 11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 of 9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 of 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6083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Administrator named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11 of 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7 of 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 of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08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Custodian named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11 of 11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 of 9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3 of 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35040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Auditor, administrator and custodian counts are private funds with a provider named in Schedule D 7.B.1, out of funds returned. 'Yes' responses count affirmative Form ADV answers, not disciplinary events.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FORM ADV PART 1A AND SCHEDULE D, REPORT 2026-10-01; FORM 13F 2026-06-30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Side-by-side comparison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TABLE — CONTINUED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205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41802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Ridgeview (TEST)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Harbor (TEST)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Northfield (TEST)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4180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Item 11 disclosures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180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Form ADV 'yes' responses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180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13F total / positions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$3.21B / 184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$1.07B / 96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n/a — not in catalog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180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Latest ADV filing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2026-09-12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2026-08-28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2026-03-30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4180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Latest 13F period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669304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Auditor, administrator and custodian counts are private funds with a provider named in Schedule D 7.B.1, out of funds returned. 'Yes' responses count affirmative Form ADV answers, not disciplinary events.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61912"/>
            <a:ext cx="10908792" cy="89824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961912"/>
            <a:ext cx="54864" cy="89824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407164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Cohort percentiles are not comparable across managers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355104"/>
            <a:ext cx="10616184" cy="41360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Each adviser is positioned within its own Gradient-selected cohort (Ridgeview: 214 advisers; Harbor: 187; Northfield: 96) [S7]. Percentiles are positioning, not a quality ranking.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69882"/>
            <a:ext cx="10908792" cy="124803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969882"/>
            <a:ext cx="54864" cy="1248037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507961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Scale differs without deciding mandate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5363074"/>
            <a:ext cx="10616184" cy="76340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Ridgeview reports the most RAUM and clients; all three report zero Item 11 disclosures [S1][S2][S3]. Why it matters: Scale affects operating context, not quality. Uncertainty: Cohorts differ…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S5 · S7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EVIDENCE THAT NEEDS FOLLOW-UP, PER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Operational flags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OPEN FLAGS BY SEVERITY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EVIDENCE THAT NEEDS FOLLOW-UP, PER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Operational flags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9884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9884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Ridgeview Example Advisors (TEST): no flags identified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Checked: Form ADV profile, Schedule D service providers, 13F, ADV–13F consistency, open findings [S1][S4][S8][S9]. Events not published [S10].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1934452"/>
          <a:ext cx="10908792" cy="1496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988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988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Harbor Example Capital (TEST): 2 of 9 private funds name no administrator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Schedule D 7.B.1 rows for Harbor Example Opportunities Fund (TEST) and Harbor Example Credit Fund (TEST) leave the administrator blank [S2]. Ask who prepares investor statements.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884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LOW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Harbor Example Capital (TEST): PCAOB registry check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Auditor Example Audit LLP is named on all funds; Gradient's PCAOB registry evidence was unavailable (advisory) [S2].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3540713"/>
          <a:ext cx="10908792" cy="1496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988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988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Northfield Example Capital (TEST): custody through a related person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Item 9 reports a related person with custody of client assets; independent verification answer not found in the returned data [S3].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884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LOW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Northfield Example Capital (TEST): not in diligence catalog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 catalog firm ID, so 13F, consistency, events and findings are not available [S3].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40080" y="5146974"/>
            <a:ext cx="10908792" cy="107094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146974"/>
            <a:ext cx="54864" cy="1070945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5256702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Evidence gaps differ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5540166"/>
            <a:ext cx="10616184" cy="58631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The fictional TEST evidence supports the evidence gaps differ finding [S2][S3]. Why it matters: It focuses review on the principal evidence gap. Uncertainty: The compact fixture omits…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S8 · S9 · S10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SAME-PERIOD, COMPLETE FORM 13F FILINGS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Form 13F overlap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WEIGHTED 13F OVERLAP MATRIX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6264"/>
                <a:gridCol w="3636264"/>
                <a:gridCol w="3636264"/>
              </a:tblGrid>
              <a:tr h="153924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18.4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18.4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100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SAME-PERIOD, COMPLETE FORM 13F FILINGS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Form 13F overlap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WEIGHTED OVERLAP (PERIOD 2026-06-30)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291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2288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Ridgeview (TEST)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Harbor (TEST)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Northfield (TEST)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2288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Ridgeview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18.4%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n/a — cik_missing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288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Harbor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18.4%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n/a — cik_missing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2289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Northfield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n/a — cik_missing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n/a — cik_missing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2910045"/>
            <a:ext cx="10908792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80" b="0">
                <a:solidFill>
                  <a:srgbClr val="8A94A1"/>
                </a:solidFill>
                <a:latin typeface="Inter"/>
              </a:defRPr>
            </a:pPr>
            <a:r>
              <a:t>Ridgeview–Harbor: 31 common positions [S6].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265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TOP SHARED POSITIONS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476973"/>
          <a:ext cx="10908792" cy="149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7318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Issuer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CUSIP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Ridgeview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Harbor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7318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Index ETF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000000AA1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$412.5M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$138.2M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18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Semiconductor Corp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000000BB2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$96.1M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$41.7M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7318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Example Software Inc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000000CC3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$71.8M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$22.9M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5079426"/>
            <a:ext cx="10908792" cy="113849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079426"/>
            <a:ext cx="54864" cy="1138493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5189154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How to read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5472618"/>
            <a:ext cx="10616184" cy="65386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Overlap uses same-period, complete SEC Form 13F reported long positions. It excludes shorts, cash, many non-US securities and confidential-treatment holdings, and does not imply manager intent [S6]. 13F is firm-level and lagged; it is not the mandate's portfolio.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SAME-PERIOD, COMPLETE FORM 13F FILINGS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Form 13F overlap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Reported overlap is limited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Ridgeview and Harbor have 18.4% weighted overlap across 31 positions [S6]. Why it matters: Their reported long books are not interchangeable. Uncertainty: Northfield lacks usable 13F identity…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IDENTITY, RECENCY AND SCOPE FLAGS — NOT A DILIGENCE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ADV–13F consistency and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84422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84422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Visual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35958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Not available — No governed visual was returned for this fictional TEST fixture.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2279829"/>
          <a:ext cx="10908792" cy="1656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82852"/>
                <a:gridCol w="1482852"/>
                <a:gridCol w="1482852"/>
                <a:gridCol w="1482852"/>
                <a:gridCol w="1482852"/>
                <a:gridCol w="1482852"/>
              </a:tblGrid>
              <a:tr h="41419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ADV RAUM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13F total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13F / RAUM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13F 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Identity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Flags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1419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Ridgeview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$12.40B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$3.21B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25.9%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96 days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Unconfirmed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13F subset of RAUM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4196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Harbor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$4.85B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$1.07B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22.1% [S11]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96 days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Unconfirmed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13F subset of RAUM [S11]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1419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Northfield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$1.92B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n/a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Not in catalog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4046342"/>
            <a:ext cx="10908792" cy="84422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046342"/>
            <a:ext cx="54864" cy="84422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415607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439534"/>
            <a:ext cx="10616184" cy="35958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No published events are available for Ridgeview or Harbor because event publication is not ready [S10]. Absence is not evidence of no events.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000292"/>
            <a:ext cx="10908792" cy="121762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000292"/>
            <a:ext cx="54864" cy="121762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5110020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Analysis — Identity and coverage gaps govern 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5393484"/>
            <a:ext cx="10616184" cy="73299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Observation: Ridgeview and Harbor have usable consistency checks, while Northfield is outside the catalog [S8][S11][S3]. Why it matters: Evidence depth differs by manager. Uncertainty: Events are unpublished. What…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S3 · S8 · S10 · S11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WHAT EACH SOURCE RETURNED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1150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Form ADV profiles (3)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Report 2026-10-01 [S1][S2][S3]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Cohort comparison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Each adviser in its own cohort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Form 13F (2 of 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partial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Northfield not in catalog [S4][S5]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13F overlap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partial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 of 3 pairs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ADV–13F consistency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partial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Identity unconfirmed [S8][S11]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Firm events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event_publication_not_ready [S10]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Open findings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Ridgeview only (rostered): none [S9]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S5 · S6 · S7 · S8 · S9 · S10 · S11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t>RECOMMENDED PER MANAGER — OFFERS, NOT ACTIONS TAKEN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3307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82689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Next step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Why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Skill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82689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Ridgeview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Run ODD report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Under consideration; no flags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gradient-odd-report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82689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Harbor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Reconcile DDQ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Administrator gap on 2 funds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gradient-ddq-reconcile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82689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Northfield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Run ODD report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Related-person custody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gradient-odd-report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743198"/>
            <a:ext cx="10908792" cy="1474721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t>Optional, only on request and after a previewed dry run: add managers to the research watchlist or start Form ADV monitoring.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A — Sources and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t>SOURCES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38481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Form ADV profile — Ridgeview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get_manager_odd_profile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not_run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a1b2c3d4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Form ADV profile — Harbor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get_manager_odd_profile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advisory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b2c3d4e5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Form ADV profile — Northfield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get_manager_odd_profile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not_run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c3d4e5f6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13F snapshot — Ridgeview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get_firm_13f_portfolio_review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2026-08-14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d4e5f6a7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13F snapshot — Harbor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get_firm_13f_portfolio_review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2026-08-13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e5f6a7b8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13F overlap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get_multi_manager_13f_overlap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2026-08-14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f6a7b8c9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Cohort comparison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get_manager_odd_profile (comparison)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t>● not_run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a7b8c9d0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ADV–13F consistency — Ridgeview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get_cross_domain_research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b8c9d0e1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Open findings — Ridgeview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get_manager_diligence_findings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t>● advisory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c9d0e1f2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Firm events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get_firm_fund_events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d0e1f2a3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S11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ADV–13F consistency — Harbor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get_cross_domain_research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2026-10-01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t>● 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t>e1f2a3b4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S4 · S5 · S6 · S7 · S8 · S9 · S10 · S11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A — Sources and method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Unsupported 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Block type 'two_col' is not available in PowerPoint.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S1 · S2 · S3 · S8 · S11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t>Appendix A — Sources and method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t>Disclaimer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t>Not investment, legal or compliance advice. No manager is ranked or recommended. Form ADV is adviser-reported, not SEC-verified. Form 13F is lagged, long-only reportable exposure. Percentiles are Gradient cohort positioning, not a quality ranking. All names and figures in this render test are fictional.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Sources: none cited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RENDER TEST — fictional managers, not a real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Macro Mandate (TEST)</dc:title>
  <dc:subject>Manager Comparison</dc:subject>
  <dc:creator>GradientCIO</dc:creator>
  <cp:keywords/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