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  <ns0:sldId id="294" ns1:id="rId45"/>
    <ns0:sldId id="295" ns1:id="rId46"/>
    <ns0:sldId id="296" ns1:id="rId47"/>
    <ns0:sldId id="297" ns1:id="rId48"/>
    <ns0:sldId id="298" ns1:id="rId49"/>
    <ns0:sldId id="299" ns1:id="rId50"/>
    <ns0:sldId id="300" ns1:id="rId51"/>
    <ns0:sldId id="301" ns1:id="rId52"/>
    <ns0:sldId id="302" ns1:id="rId53"/>
    <ns0:sldId id="303" ns1:id="rId54"/>
    <ns0:sldId id="304" ns1:id="rId55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52.0%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19.0%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17.0%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/>
                      <a:t>11.0%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/>
                      <a:t>1.0%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Public equity</c:v>
                </c:pt>
                <c:pt idx="1">
                  <c:v>Fixed income</c:v>
                </c:pt>
                <c:pt idx="2">
                  <c:v>Private equity</c:v>
                </c:pt>
                <c:pt idx="3">
                  <c:v>Real estate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52.0</c:v>
                </c:pt>
                <c:pt idx="1">
                  <c:v>19.0</c:v>
                </c:pt>
                <c:pt idx="2">
                  <c:v>17.0</c:v>
                </c:pt>
                <c:pt idx="3">
                  <c:v>11.0</c:v>
                </c:pt>
                <c:pt idx="4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B5E52A"/>
              </a:solidFill>
            </c:spPr>
          </c:dPt>
          <c:dPt>
            <c:idx val="1"/>
            <c:spPr>
              <a:solidFill>
                <a:srgbClr val="E8735A"/>
              </a:solidFill>
            </c:spPr>
          </c:dPt>
          <c:dPt>
            <c:idx val="2"/>
            <c:spPr>
              <a:solidFill>
                <a:srgbClr val="B5E52A"/>
              </a:solidFill>
            </c:spPr>
          </c:dPt>
          <c:dPt>
            <c:idx val="3"/>
            <c:spPr>
              <a:solidFill>
                <a:srgbClr val="B5E52A"/>
              </a:solidFill>
            </c:spPr>
          </c:dPt>
          <c:dPt>
            <c:idx val="4"/>
            <c:spPr>
              <a:solidFill>
                <a:srgbClr val="E8735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+700 bps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−600 bps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+200 bps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/>
                      <a:t>+100 bps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/>
                      <a:t>−400 bps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Public equity</c:v>
                </c:pt>
                <c:pt idx="1">
                  <c:v>Fixed income</c:v>
                </c:pt>
                <c:pt idx="2">
                  <c:v>Private equity</c:v>
                </c:pt>
                <c:pt idx="3">
                  <c:v>Real estate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700.0</c:v>
                </c:pt>
                <c:pt idx="1">
                  <c:v>-600.0</c:v>
                </c:pt>
                <c:pt idx="2">
                  <c:v>200.0</c:v>
                </c:pt>
                <c:pt idx="3">
                  <c:v>100.0</c:v>
                </c:pt>
                <c:pt idx="4">
                  <c:v>-400.0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8.5%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Largest manager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8.5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Sheet1!$A$2:$A$4</c:f>
              <c:strCache>
                <c:ptCount val="3"/>
                <c:pt idx="0">
                  <c:v>2025-09-30</c:v>
                </c:pt>
                <c:pt idx="1">
                  <c:v>2026-03-31</c:v>
                </c:pt>
                <c:pt idx="2">
                  <c:v>2026-09-30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103.1</c:v>
                </c:pt>
                <c:pt idx="2">
                  <c:v>106.9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benchmark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Sheet1!$A$2:$A$4</c:f>
              <c:strCache>
                <c:ptCount val="3"/>
                <c:pt idx="0">
                  <c:v>2025-09-30</c:v>
                </c:pt>
                <c:pt idx="1">
                  <c:v>2026-03-31</c:v>
                </c:pt>
                <c:pt idx="2">
                  <c:v>2026-09-30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100.0</c:v>
                </c:pt>
                <c:pt idx="1">
                  <c:v>102.8</c:v>
                </c:pt>
                <c:pt idx="2">
                  <c:v>106.4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B5E52A"/>
              </a:solidFill>
            </c:spPr>
          </c:dPt>
          <c:dPt>
            <c:idx val="1"/>
            <c:spPr>
              <a:solidFill>
                <a:srgbClr val="B5E52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+6.2%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+5.2%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 (9 mo)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6.2</c:v>
                </c:pt>
                <c:pt idx="1">
                  <c:v>5.2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cat>
            <c:strRef>
              <c:f>Sheet1!$A$2:$A$3</c:f>
              <c:strCache>
                <c:ptCount val="2"/>
                <c:pt idx="0">
                  <c:v>Equity market</c:v>
                </c:pt>
                <c:pt idx="1">
                  <c:v>Duration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0.78</c:v>
                </c:pt>
                <c:pt idx="1">
                  <c:v>1.9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E8735A"/>
              </a:solidFill>
            </c:spPr>
          </c:dPt>
          <c:dPt>
            <c:idx val="1"/>
            <c:spPr>
              <a:solidFill>
                <a:srgbClr val="B5E52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−34 bps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+499 bps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Public equity</c:v>
                </c:pt>
                <c:pt idx="1">
                  <c:v>Real estate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-34.0</c:v>
                </c:pt>
                <c:pt idx="1">
                  <c:v>499.0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E8735A"/>
              </a:solidFill>
            </c:spPr>
          </c:dPt>
          <c:dPt>
            <c:idx val="1"/>
            <c:spPr>
              <a:solidFill>
                <a:srgbClr val="E8735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−24.0%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−14.0%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2008 global financial crisis</c:v>
                </c:pt>
                <c:pt idx="1">
                  <c:v>5th percentile, 1 year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-24.0</c:v>
                </c:pt>
                <c:pt idx="1">
                  <c:v>-14.0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44.6%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11.9%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11.9%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/>
                      <a:t>31.7%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44.6</c:v>
                </c:pt>
                <c:pt idx="1">
                  <c:v>11.9</c:v>
                </c:pt>
                <c:pt idx="2">
                  <c:v>11.9</c:v>
                </c:pt>
                <c:pt idx="3">
                  <c:v>31.7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T1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T2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T3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11.9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T4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31.7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52.0%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19.0%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1.0%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Cash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52.0</c:v>
                </c:pt>
                <c:pt idx="1">
                  <c:v>19.0</c:v>
                </c:pt>
                <c:pt idx="2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48.0%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21.0%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3.0%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Cash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48.0</c:v>
                </c:pt>
                <c:pt idx="1">
                  <c:v>21.0</c:v>
                </c:pt>
                <c:pt idx="2">
                  <c:v>3.0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Two sleeves need correction</a:t>
            </a:r>
          </a:p>
          <a:p>
            <a:r>
              <a:t>Observation: Fixed income and cash are both below policy minimums [S1]. Why it matters: Those two breaches determine the required trade sizing. Uncertainty: Current valuation dates may omit subsequent weight movements. What would change the view: Refreshed valuations restoring both sleeves above minimum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Compliance evidence is mixed</a:t>
            </a:r>
          </a:p>
          <a:p>
            <a:r>
              <a:t>Observation: Allocation has two Breaches while risk is Not assessed [S1]. Why it matters: Allocation can be corrected before risk evidence arrives. Uncertainty: Governed risk observations remain unavailable for aligned assessment. What would change the view: Returned risk results that create or remove a policy breach.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Relative return stayed positive</a:t>
            </a:r>
          </a:p>
          <a:p>
            <a:r>
              <a:t>Observation: The portfolio exceeded policy by 49 bps over one year [S2]. Why it matters: Positive excess return supplies context but not causal attribution. Uncertainty: Effect-level attribution results remain unavailable for this period. What would change the view: Reconciled attribution records identifying a negative leading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Concentration remains within limit</a:t>
            </a:r>
          </a:p>
          <a:p>
            <a:r>
              <a:t>Observation: The largest manager is 8.5% versus a 10.0% limit [S1]. Why it matters: The returned concentration measure remains policy compliant. Uncertainty: Incomplete look-through holdings may omit indirect manager exposure. What would change the view: Completed holdings showing concentration above the 10.0%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Assumption gap needs review</a:t>
            </a:r>
          </a:p>
          <a:p>
            <a:r>
              <a:t>Observation: Real estate is 499 bps above consensus [S4]. Why it matters: That gap materially affects the forward portfolio case. Uncertainty: Source dates and model bases are not aligned. What would change the view: Comparable refreshed assumptions narrowing the gap below 100 bps.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Stress losses remain material</a:t>
            </a:r>
          </a:p>
          <a:p>
            <a:r>
              <a:t>Observation: The historical stress impact is −24.0% [S8]. Why it matters: It frames the loss accepted alongside the proposed breach cure. Uncertainty: Scenario assumptions are illustrative rather than probability estimates. What would change the view: Governed scenario results showing materially lower portfolio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Liquidity clears the minimum</a:t>
            </a:r>
          </a:p>
          <a:p>
            <a:r>
              <a:t>Observation: Stress coverage is 2.61 versus a 1.50 minimum [S1][S11]. Why it matters: The 1.11 cushion supports near-term implementation capacity. Uncertainty: Commitment-call assumptions are projected and not yet confirmed. What would change the view: An updated schedule reducing coverage below the 1.50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No high findings returned</a:t>
            </a:r>
          </a:p>
          <a:p>
            <a:r>
              <a:t>Observation: No active High findings were returned [S5]. Why it matters: Immediate operational escalation is not evidenced today. Uncertainty: Verification remains open and may reveal missing findings. What would change the view: New High findings or completed verification records identifying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Macro context is defensive</a:t>
            </a:r>
          </a:p>
          <a:p>
            <a:r>
              <a:t>Observation: GRIP is 76 and Defensive [S7]. Why it matters: The signal informs implementation pacing, not breach correction. Uncertainty: One macro input is stale within current coverage. What would change the view: Refreshed signal results crossing into a different named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Proposal cures both breaches</a:t>
            </a:r>
          </a:p>
          <a:p>
            <a:r>
              <a:t>Observation: Proposed weights reduce IPS breaches from two to zero [S11]. Why it matters: The change resolves both identified allocation exceptions. Uncertainty: Transaction costs and market movement remain unknown. What would change the view: An implementation estimate showing either breach remains after trades.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Basis gaps remain actionable</a:t>
            </a:r>
          </a:p>
          <a:p>
            <a:r>
              <a:t>Observation: Two Medium risks concern unaligned policy-risk evidence and the 499 bps real-estate assumption gap [S1][S4]. Why it matters: Both limit confidence without changing the requested vote. Uncertainty: Comparable risk and assumption records remain unavailable. What would change the view: Refreshed records resolving either named Medium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INVESTMENT COMMITTEE MEMO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Rebalance: Northstar Global Growth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Northstar Foundation · Investment Committee meeting 2026-10-15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Rebalance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MEETING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AS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2026-09-30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BASE CURRENCY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USD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3337560" cy="530352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306324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2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POLICY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161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 breaches · 1 watch · 3 not assessed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 and Decision Requested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00848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00848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52385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Reduce public equity by 400 bps to 48.0% and add 400 bps to cash (200 bps) and fixed income (200 bps) to cure two IPS band breaches [S1]. The Committee is asked to approve the rebalance in Section 13.1, executed over 30 days.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44097"/>
            <a:ext cx="2644902" cy="14567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244409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49808" y="257211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TRAILING 1Y VS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82814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+49 bps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571621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6.9% net return [S2]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2444097"/>
            <a:ext cx="2644902" cy="14567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3394710" y="2444097"/>
            <a:ext cx="264490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504438" y="257211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IPS BREACHES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282814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3571621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1 additional Watch [S1]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2444097"/>
            <a:ext cx="2644902" cy="14567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6149340" y="244409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259068" y="257211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EXPECTED RETURN VS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282814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−28 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3571621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6.7% vs 7.0% [S3]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2444097"/>
            <a:ext cx="2644902" cy="14567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8903970" y="244409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013698" y="257211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T1 LIQUIDITY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282814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44.6%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3571621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15.0% minimum [S1]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010533"/>
            <a:ext cx="10908792" cy="116536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&gt; ILLUSTRATIVE DATA — Figures marked [S#] use the scope</a:t>
            </a:r>
            <a:br/>
            <a:br/>
            <a:r>
              <a:rPr>
                <a:latin typeface="Inter"/>
              </a:rPr>
              <a:t>&gt; "Illustrative, Gradient Maintained — demo data, not the client's holdings or managers."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58779"/>
            <a:ext cx="73152" cy="785988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896112" y="5331347"/>
            <a:ext cx="10588752" cy="54072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Reduce public equity by 400 bps and fund fixed income and cash.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845002"/>
            <a:ext cx="10588752" cy="27968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requested: approve the 30-day rebalance [S1]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 and Decision Requested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Recommendation:** Reduce public equity by 400 bps to 48.0% and add 400 bps to cash (200 bps) and fixed income (200 bps) to cure two IPS band breaches.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Decision requested:** The Committee is asked to approve the rebalance in Section 13.1, executed over 30 days.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Rationale (three points, most important first):**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Fixed income (19.0%) and cash (1.0%) are below their IPS minimums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Cash at 1.0% leaves no operating buffer for 12-month calls of USD 180.0m [S1] [S9].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The change lowers expected volatility by 60 bps with a 15 bps reduction in expected return 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Key risks (three points, most material first):**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Risk-limit compliance is not assessed because the persisted thresholds do not specify a governed observation horizon and return basis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Expected return remains 28 bps below the CPI + 4.5% objective [S1] 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Gradient's real estate assumption is 499 bps above consensus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Conditions to approval:**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Confirm the inflation assumption used for the real return objective (Section 15, item 1).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 · S9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Positioning:** Public equity is 700 bps overweight and fixed income 600 bps underweight versus policy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IPS:** 6 constraints Compliant, 1 Watch, 2 Breach, 3 Not assessed. Breaches: fixed income band and cash band.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Performance:** 1Y return 6.9% versus 6.4% for the policy benchmark (+49 bps). Governed attribution is unavailable for the selected period [S2].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Outlook:** Expected return 6.7% versus a 7.0% objective, volatility 13.1%, 44.0% probability of meeting the objective 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Liquidity &amp; diligence:** Stress coverage 2.61 on the liquidity model; zero High diligence findings [S1] [S5] [S9].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S5 · S9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RANGES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Public equity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9328" y="2185111"/>
            <a:ext cx="2549562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11192256" y="206197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11215116" y="190804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317601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Fixed income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89765" y="3724351"/>
            <a:ext cx="2549562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5583218" y="360121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5606078" y="344728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471525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30290" y="5263591"/>
            <a:ext cx="101982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Oval 18"/>
          <p:cNvSpPr/>
          <p:nvPr/>
        </p:nvSpPr>
        <p:spPr>
          <a:xfrm>
            <a:off x="2523744" y="514045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2546603" y="498652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57546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575468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Policy drives the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09083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Two allocation bands are in Breach [S1]. Why it matters: The proposed rebalance directly cures both policy exceptions. Uncertainty: Governed risk-limit observations remain unavailable for the decision. What would change the view: Aligned risk results showing another breach or reduced implementation capacity.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1076"/>
            <a:ext cx="10908792" cy="15656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011076"/>
            <a:ext cx="54864" cy="156568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12080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Liquidity supports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404268"/>
            <a:ext cx="10616184" cy="10810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T1 liquidity is 44.6% versus a 15.0% minimum [S1]. Why it matters: The 29.6-point cushion provides meaningful implementation capacity. Uncertainty: Private valuations lag the liquid-asset measurement date. What would change the view: An updated liquidity schedule reducing coverage below the policy minimum.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86486"/>
            <a:ext cx="10908792" cy="153143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686486"/>
            <a:ext cx="54864" cy="153143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79621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Return tradeoff is modest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079678"/>
            <a:ext cx="10616184" cy="104680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proposed case lowers return 15 bps and volatility 60 bps [S3]. Why it matters: That tradeoff accompanies correction of both policy breaches. Uncertainty: Long-horizon CMA assumptions are not realized outcomes. What would change the view: A refreshed CMA reversing the 45-bps risk-return tradeoff.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Portfolio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WEIGHT BY ASSET CLASS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ACTIVE WEIGHT VS POLICY (BPS)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Portfolio Snapshot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325088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Item  ·  Value  ·  Source  · </a:t>
            </a:r>
            <a:br/>
            <a:br/>
            <a:r>
              <a:rPr>
                <a:latin typeface="Inter"/>
              </a:rPr>
              <a:t> ·  Total NAV  ·  USD 3375.0m  ·  [S1]  · </a:t>
            </a:r>
            <a:br/>
            <a:br/>
            <a:r>
              <a:rPr>
                <a:latin typeface="Inter"/>
              </a:rPr>
              <a:t> ·  Unfunded commitments  ·  USD 420.0m  ·  [S1]  · </a:t>
            </a:r>
            <a:br/>
            <a:br/>
            <a:r>
              <a:rPr>
                <a:latin typeface="Inter"/>
              </a:rPr>
              <a:t> ·  Number of holdings / commitments  ·  56  ·  [S1]  · </a:t>
            </a:r>
            <a:br/>
            <a:br/>
            <a:r>
              <a:rPr>
                <a:latin typeface="Inter"/>
              </a:rPr>
              <a:t> ·  Number of managers  ·  18  ·  [S1]  · </a:t>
            </a:r>
            <a:br/>
            <a:br/>
            <a:r>
              <a:rPr>
                <a:latin typeface="Inter"/>
              </a:rPr>
              <a:t> ·  Valuation date(s)  ·  2026-09-30; private funds 2026-06-30 (one quarter lag)  ·  [S1]  · </a:t>
            </a:r>
            <a:br/>
            <a:br/>
            <a:r>
              <a:rPr>
                <a:latin typeface="Inter"/>
              </a:rPr>
              <a:t> ·  Asset class  ·  Current weight  ·  Policy target  ·  Range (min–max)  ·  Active (bps)  ·  Status  · </a:t>
            </a:r>
            <a:br/>
            <a:br/>
            <a:r>
              <a:rPr>
                <a:latin typeface="Inter"/>
              </a:rPr>
              <a:t> ·  public_equity  ·  52.0%  ·  45.0%  ·  35.0%–55.0%  ·  +700 bps  ·  Compliant  · </a:t>
            </a:r>
            <a:br/>
            <a:br/>
            <a:r>
              <a:rPr>
                <a:latin typeface="Inter"/>
              </a:rPr>
              <a:t> ·  fixed_income  ·  19.0%  ·  25.0%  ·  20.0%–30.0%  ·  −600 bps  ·  Breach  · </a:t>
            </a:r>
            <a:br/>
            <a:br/>
            <a:r>
              <a:rPr>
                <a:latin typeface="Inter"/>
              </a:rPr>
              <a:t> ·  private_equity  ·  17.0%  ·  15.0%  ·  10.0%–20.0%  ·  +200 bps  ·  Compliant  · </a:t>
            </a:r>
            <a:br/>
            <a:br/>
            <a:r>
              <a:rPr>
                <a:latin typeface="Inter"/>
              </a:rPr>
              <a:t> ·  real_estate  ·  11.0%  ·  10.0%  ·  5.0%–12.0%  ·  +100 bps  ·  Compliant  · </a:t>
            </a:r>
            <a:br/>
            <a:br/>
            <a:r>
              <a:rPr>
                <a:latin typeface="Inter"/>
              </a:rPr>
              <a:t> ·  cash  ·  1.0%  ·  5.0%  ·  2.0%–8.0%  ·  −400 bps  ·  Breach  · </a:t>
            </a:r>
            <a:br/>
            <a:br/>
            <a:r>
              <a:rPr>
                <a:latin typeface="Inter"/>
              </a:rPr>
              <a:t> ·  Total  ·  100.0%  ·  100.0%  ·   ·   ·   ·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86494"/>
            <a:ext cx="10908792" cy="153142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4686494"/>
            <a:ext cx="54864" cy="1531425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479622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Two sleeves need 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5079686"/>
            <a:ext cx="10616184" cy="104679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Fixed income and cash are both below policy minimums [S1]. Why it matters: Those two breaches determine the required trade sizing. Uncertainty: Current valuation dates may omit…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IPS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CONSTRAINT STATUS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769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breach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Two breached bands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Objective gap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Observation basis unavailable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Liquidity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Minimum met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Concentration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cap met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IPS Compliance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STATUS MATRIX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396"/>
                <a:gridCol w="5454396"/>
              </a:tblGrid>
              <a:tr h="923544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 score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-1.0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Liquidity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Concentration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IPS Compliance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Summary:** 6 Compliant, 1 Watch, 2 Breach, 3 Not assessed.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Breaches and required actions:** Fixed income and cash bands — cured by the Section 13 rebalance.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IPS Compliance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CONCENTRATION VS LIMIT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IPS Compliance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Compliance evidence is mixed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Allocation has two Breaches while risk is Not assessed [S1]. Why it matters: Allocation can be corrected before risk evidence arrives. Uncertainty: Governed risk observations remain unavailable…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Performance &amp;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5.1 Returns**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Performance &amp;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GROWTH OF 100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Performance &amp;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5.2 Attribution — 1Y**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5.3 Top contributors and detractors**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Performance &amp;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CALENDAR-YEAR RETURNS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Performance &amp;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82853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828531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1Y attribution — total effect by asset class (bps)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34389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the governed attribution result returned no weight cohorts [S2]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64139"/>
            <a:ext cx="10908792" cy="295378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264139"/>
            <a:ext cx="54864" cy="295378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37386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Relative return stayed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657331"/>
            <a:ext cx="10616184" cy="246914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portfolio exceeded policy by 49 bps over one year [S2]. Why it matters: Positive excess return supplies context but not causal attribution. Uncertainty: Effect-level attribution results…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 Exposures &amp;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6.1 Factor exposures**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 Exposures &amp; Concentration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FACTOR AND CURRENCY EXPOSURE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 Exposures &amp; Concentration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317946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6.2 Concentration and diversification**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15077"/>
            <a:ext cx="10908792" cy="160284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4615077"/>
            <a:ext cx="54864" cy="160284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472480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Concentration remains within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5008269"/>
            <a:ext cx="10616184" cy="11182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largest manager is 8.5% versus a 10.0% limit [S1]. Why it matters: The returned concentration measure remains policy compliant. Uncertainty: Incomplete look-through holdings may omit indirect…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Expected Return &amp;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Assumptions:** Gradient ICAPM Global Baseline Q3 2026, CMA release Q3-2026-policy-v2.1, 10-year horizon, USD, unhedged.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Expected Return &amp;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GRADIENT VS CONSENSUS GAP (BPS)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Expected Return &amp;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7.1 Portfolio expected statistics**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7.2 Consensus check**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Allocation-implied return:** Gradient 8.2% vs consensus 6.7% (Example consultant CMA survey, 2025-12-31)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Assumption quality:** quality receipt unvalidated; repeated higher moments flagged for two equity factors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7.3 Regime overlay**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Current regime:** GRIP 76 (Defensive), as of 2026-10-01, coverage 0.95, degraded (one lagging input)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Effect on expectations:** Regime adjustment not available — baseline shown.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Expected Return &amp;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FORWARD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3563112" cy="228622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356311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49808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984248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57241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Defensive [S7]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920" y="1600200"/>
            <a:ext cx="3563112" cy="228622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4312920" y="1600200"/>
            <a:ext cx="356311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422648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EXPECTED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2648" y="1984248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6.5%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2648" y="3557241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Baseline [S3]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59" y="1600200"/>
            <a:ext cx="3563112" cy="228622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7985759" y="1600200"/>
            <a:ext cx="356311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095487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RETURN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5487" y="1984248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7.0%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5487" y="3557241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IPS [S1]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96153"/>
            <a:ext cx="10908792" cy="222176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640080" y="3996153"/>
            <a:ext cx="54864" cy="222176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04671" y="410588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Assumption gap needs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4389345"/>
            <a:ext cx="10616184" cy="173713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Real estate is 499 bps above consensus [S4]. Why it matters: That gap materially affects the forward portfolio case. Uncertainty: Source dates and model bases are not…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 · S7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Stress Tests &amp;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SCENARIO IMPACTS (%)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Stress Tests &amp; Scenarios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3839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Robustness:** Results are stable across start dates within ±80 bps of expected return [S8].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19518"/>
            <a:ext cx="10908792" cy="239840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3819518"/>
            <a:ext cx="54864" cy="2398401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392924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Stress losses remain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212710"/>
            <a:ext cx="10616184" cy="191376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historical stress impact is −24.0% [S8]. Why it matters: It frames the loss accepted alongside the proposed breach cure. Uncertainty: Scenario assumptions are illustrative rather than…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9.1 Liquidity tiers**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TIERS (% NAV)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TIER MIX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9.2 Coverage**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HF B placed in T4 (gated).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Pacing:** Projected 12-month calls USD 180.0m against distributions of USD 95.0m [S9].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S9 · S11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COMMITMENTS LIQUIDITY SCORECARD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23088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3088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Stress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2.61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COMMITMENT PACING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23088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Calls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3088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12 months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180,000,000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Commitment flow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Projected calls and distributions are shown separately so the returned pacing and cash-flow evidence remains readable [S9].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COMMITMENT CASH FLOW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23088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3088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12 months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95,000,000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Liquidity clears the minimum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Stress coverage is 2.61 versus a 1.50 minimum [S1][S11]. Why it matters: The 1.11 cushion supports near-term implementation capacity. Uncertainty: Commitment-call assumptions are projected and not yet…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Manager &amp; Operational Diligence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EXPOSURE-WEIGHTED DILIGENCE FINDINGS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111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5563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5563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Verification follow-up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A verification report remains open at 8.5% exposure [S5].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821201"/>
            <a:ext cx="10908792" cy="184325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Exposure-weighted findings:** No active High findings [S5].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Attention queue:** None overdue [S5].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74189"/>
            <a:ext cx="10908792" cy="144373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4774189"/>
            <a:ext cx="54864" cy="144373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488391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No high findings returned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167381"/>
            <a:ext cx="10616184" cy="95909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No active High findings were returned [S5]. Why it matters: Immediate operational escalation is not evidenced today. Uncertainty: Verification remains open and may reveal missing findings. What…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Performance Integrity &amp; GIPS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GIPS REVIEW COVERAGE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960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5346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5346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fund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Asset Owner Report not provided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346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Assessment complete; latest verification report open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670322"/>
            <a:ext cx="10908792" cy="108349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670322"/>
            <a:ext cx="54864" cy="108349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78005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GIPS follow-ups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063514"/>
            <a:ext cx="10616184" cy="59886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Obtain Manager A's latest verification report within 30 days and provide the total-fund GIPS Asset Owner Report at the next review [S5].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63547"/>
            <a:ext cx="10908792" cy="13543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Overall assessment:** Satisfactory with follow-ups. Verification report for the latest year not yet received.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149365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Regime:** GRIP 76, Defensive; rates and cross-asset pillars are the main pressure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Key indicators:** Core PCE index rose 0.3% over three months [S10].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Current thesis:** Diesel margins carry the Gulf energy premium; confirm above USD 102/bbl crack [S10].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Upcoming catalysts:** US CPI on 2026-10-14; FOMC on 2026-10-28 [S10].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926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MACRO READINGS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3585"/>
            <a:ext cx="3563112" cy="143336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203585"/>
            <a:ext cx="356311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3331601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GRIP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87633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07769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2026-10-01 [S7]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2920" y="3203585"/>
            <a:ext cx="3563112" cy="143336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4312920" y="3203585"/>
            <a:ext cx="356311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422648" y="3331601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CORE PCE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2648" y="3587633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+0.3%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2648" y="4307769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3 months [S10]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59" y="3203585"/>
            <a:ext cx="3563112" cy="143336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985759" y="3203585"/>
            <a:ext cx="356311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095487" y="3331601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NEXT CPI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5487" y="3587633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Oct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5487" y="4307769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2026 [S10]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46681"/>
            <a:ext cx="10908792" cy="147123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640080" y="4746681"/>
            <a:ext cx="54864" cy="147123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04671" y="485640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Macro context is defensive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5139873"/>
            <a:ext cx="10616184" cy="98660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GRIP is 76 and Defensive [S7]. Why it matters: The signal informs implementation pacing, not breach correction. Uncertainty: One macro input is stale within current coverage. What…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 · S10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Proposed Changes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13.1 Allocation change**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Proposed Changes &amp; Impact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WEIGHTS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PROPOSED WEIGHTS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Proposed Changes &amp; Impact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83777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83777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Decision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35314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proposed case exchanges 15 bps of expected return for 60 bps lower expected volatility, 200 bps more T1 liquidity, and correction of both IPS breaches [S3][S11].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73385"/>
            <a:ext cx="10908792" cy="394453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13.2 Impact summary**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Implementation:** Sell the index fund in two tranches over 30 days; buy core bonds and Treasury bills [S11].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Alternatives considered:** No change — rejected because two band breaches and the coverage breach would remain. Full rebalance to policy — rejected because it would sell 700 bps of equity into a Defensive regime in one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Proposed Changes &amp; Impact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Proposal cures both breaches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Proposed weights reduce IPS breaches from two to zero [S11]. Why it matters: The change resolves both identified allocation exceptions. Uncertainty: Transaction costs and market movement remain…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Risks &amp; Mitigants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RISK COUNT BY RATING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3563112" cy="101422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356311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49808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984248"/>
            <a:ext cx="3343655" cy="3549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85238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 High risks [S1]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920" y="1600200"/>
            <a:ext cx="3563112" cy="101422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4312920" y="1600200"/>
            <a:ext cx="356311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422648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2648" y="1984248"/>
            <a:ext cx="3343655" cy="3549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2648" y="2285238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Basis and CMA [S1][S4]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59" y="1600200"/>
            <a:ext cx="3563112" cy="101422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7985759" y="1600200"/>
            <a:ext cx="356311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095487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5487" y="1984248"/>
            <a:ext cx="3343655" cy="3549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5487" y="2285238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Objective gap [S3]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724150"/>
            <a:ext cx="10908792" cy="199638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#  ·  Risk  ·  Rating  ·  Evidence  ·  Mitigant  ·  Owner  · </a:t>
            </a:r>
            <a:br/>
            <a:br/>
            <a:r>
              <a:rPr>
                <a:latin typeface="Inter"/>
              </a:rPr>
              <a:t> ·  1  ·  Risk-limit compliance not assessed  ·  Medium  ·  Persisted thresholds lack a governed observation horizon and return basis [S1]  ·  Approve an observation basis before evaluating volatility, drawdown or CVaR compliance  ·  CIO  · </a:t>
            </a:r>
            <a:br/>
            <a:br/>
            <a:r>
              <a:rPr>
                <a:latin typeface="Inter"/>
              </a:rPr>
              <a:t> ·  2  ·  Real estate CMA well above consensus  ·  Medium  ·  +499 bps gap [S4]  ·  Run Section 7 with consensus real estate assumption before the next review  ·  Analyst  · </a:t>
            </a:r>
            <a:br/>
            <a:br/>
            <a:r>
              <a:rPr>
                <a:latin typeface="Inter"/>
              </a:rPr>
              <a:t> ·  3  ·  Return objective shortfall  ·  Low  ·  −28 bps [S3]  ·  Revisit spending policy at the annual review  ·  Committee  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30259"/>
            <a:ext cx="10908792" cy="138766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640080" y="4830259"/>
            <a:ext cx="54864" cy="138766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04671" y="493998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Basis gaps remain actionable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5223451"/>
            <a:ext cx="10616184" cy="90302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Two Medium risks concern unaligned policy-risk evidence and the 499 bps real-estate assumption gap [S1][S4]. Why it matters: Both limit confidence without changing the requested vote. Uncertainty…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Open Items &amp;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#  ·  Item  ·  Reason  ·  Timing  ·  Owner  · </a:t>
            </a:r>
            <a:br/>
            <a:br/>
            <a:r>
              <a:rPr>
                <a:latin typeface="Inter"/>
              </a:rPr>
              <a:t> ·  1  ·  Set real-return inflation assumption  ·  IPS omission  ·  Before approval  ·  CIO  · </a:t>
            </a:r>
            <a:br/>
            <a:br/>
            <a:r>
              <a:rPr>
                <a:latin typeface="Inter"/>
              </a:rPr>
              <a:t> ·  2  ·  Provide look-through holdings  ·  Coverage gap  ·  Next review  ·  Operations  · </a:t>
            </a:r>
            <a:br/>
            <a:br/>
            <a:r>
              <a:rPr>
                <a:latin typeface="Inter"/>
              </a:rPr>
              <a:t> ·  3  ·  Obtain Manager A verification report  ·  GIPS follow-up  ·  Within 30 days  ·  Analyst  · </a:t>
            </a:r>
            <a:br/>
            <a:br/>
            <a:r>
              <a:rPr>
                <a:latin typeface="Inter"/>
              </a:rPr>
              <a:t> ·  4  ·  Provide GIPS Asset Owner Report  ·  Evidence gap  ·  Next review  ·  Operations  · </a:t>
            </a:r>
            <a:br/>
            <a:br/>
            <a:r>
              <a:rPr>
                <a:latin typeface="Inter"/>
              </a:rPr>
              <a:t> ·  5  ·  Set policy-risk horizon and basis  ·  Risk tests unassessed  ·  Next review  ·  CIO  ·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Approvals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Resolution:** Approve the Section 13 rebalance, subject to confirming the inflation assumption before the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Post-decision record:** Operations records the final weights, implementation date and transaction-cost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</a:t>
            </a:r>
            <a:br/>
            <a:br/>
            <a:r>
              <a:rPr>
                <a:latin typeface="Inter"/>
              </a:rPr>
              <a:t>portfolios, managers and results in this public example are illustrative.</a:t>
            </a:r>
            <a:br/>
            <a:br/>
            <a:r>
              <a:rPr>
                <a:latin typeface="Inter"/>
              </a:rPr>
              <a:t> ·  Ref  ·  Evidence  ·  Basis  ·  Tool / view  ·  Key parameters  ·  As of  ·  Data scope  ·  Validation  ·  Digest  · </a:t>
            </a:r>
            <a:br/>
            <a:br/>
            <a:r>
              <a:rPr>
                <a:latin typeface="Inter"/>
              </a:rPr>
              <a:t> ·  S1  ·  get_portfolio_exposure; get_portfolio_structure; check_portfolio_policy  ·  gradient_tool  ·  get_portfolio_exposure; get_portfolio_structure; check_portfolio_policy  ·  portfolio_id=example; governed policy and exposure views  ·  2026-09-30  ·  Illustrative, Gradient Maintained — demo data, not the client's holdings or managers  ·  passed  ·  sha256:test-s1  · </a:t>
            </a:r>
            <a:br/>
            <a:br/>
            <a:r>
              <a:rPr>
                <a:latin typeface="Inter"/>
              </a:rPr>
              <a:t> ·  S2  ·  get_portfolio_historical_returns; get_portfolio_attribution  ·  gradient_tool  ·  get_portfolio_historical_returns; get_portfolio_attribution  ·  portfolio_id=example; policy benchmark; performance available; attribution unavailable (no_weight_cohorts)  ·  2026-09-30  ·  Illustrative, Gradient Maintained — demo data, not the client's holdings or managers  ·  partial  ·  sha256:test-s2  · </a:t>
            </a:r>
            <a:br/>
            <a:br/>
            <a:r>
              <a:rPr>
                <a:latin typeface="Inter"/>
              </a:rPr>
              <a:t> ·  S3  ·  check_portfolio_policy; user document  ·  gradient_tool  ·  check_portfolio_policy  ·  return_objective; forward-analysis.pdf  ·  2026-09-11  ·  Illustrative, Gradient Maintained — demo data, not the client's holdings or managers  ·  passed  ·  sha256:test-s3  · </a:t>
            </a:r>
            <a:br/>
            <a:br/>
            <a:r>
              <a:rPr>
                <a:latin typeface="Inter"/>
              </a:rPr>
              <a:t> ·  S4  ·  get_cma_consensus_check  ·  gradient_tool  ·  get_cma_consensus_check  ·  mode=allocation  ·  2026-06-30  ·  Mixed — Illustrative, Gradient Maintained — demo data, not the client's holdings or managers + User-Authorized Live  ·  passed  ·  sha256:test-s4  · </a:t>
            </a:r>
            <a:br/>
            <a:br/>
            <a:r>
              <a:rPr>
                <a:latin typeface="Inter"/>
              </a:rPr>
              <a:t> ·  S5  ·  get_manager_diligence_findings  ·  gradient_tool  ·  get_manager_diligence_findings  ·  view=exposure_weighted  ·  2026-10-02  ·  Illustrative, Gradient Maintained — demo data, not the client's holdings or managers  ·  advisory  ·  sha256:test-s5  · </a:t>
            </a:r>
            <a:br/>
            <a:br/>
            <a:r>
              <a:rPr>
                <a:latin typeface="Inter"/>
              </a:rPr>
              <a:t> ·  S6  ·  get_portfolio_exposure  ·  gradient_tool  ·  get_portfolio_exposure  ·  portfolio_id=example; include=factor_currency_exposure,risk_contribution  ·  2026-09-30  ·  Illustrative, Gradient Maintained — demo data, not the client's holdings or managers  ·  passed  ·  sha256:test-s6  · </a:t>
            </a:r>
            <a:br/>
            <a:br/>
            <a:r>
              <a:rPr>
                <a:latin typeface="Inter"/>
              </a:rPr>
              <a:t> ·  S7  ·  get_macro_signals  ·  gradient_tool  ·  get_macro_signals  ·  view=gradient_signal (sources.grip)  ·  2026-10-01  ·  User-Authorized Live  ·  passed  ·  sha256:test-s7  · </a:t>
            </a:r>
            <a:br/>
            <a:br/>
            <a:r>
              <a:rPr>
                <a:latin typeface="Inter"/>
              </a:rPr>
              <a:t> ·  S8  ·  Illustrative scenario assumptions  ·  user_document  ·  User-supplied assumptions  ·  2008 historical; 5th percentile  ·  2026-09-30  ·  Illustrative, Gradient Maintained — demo data, not the client's holdings or managers  ·  not applicable  ·  sha256:test-s8  · </a:t>
            </a:r>
            <a:br/>
            <a:br/>
            <a:r>
              <a:rPr>
                <a:latin typeface="Inter"/>
              </a:rPr>
              <a:t> ·  S9  ·  get_portfolio_exposure  ·  gradient_tool  ·  get_portfolio_exposure  ·  portfolio_id=example; include=commitment_pacing,liquidity_scorecard  ·  2026-06-30  ·  Illustrative, Gradient Maintained — demo data, not the client's holdings or managers  ·  passed  ·  sha256:test-s9  · </a:t>
            </a:r>
            <a:br/>
            <a:br/>
            <a:r>
              <a:rPr>
                <a:latin typeface="Inter"/>
              </a:rPr>
              <a:t> ·  S10  ·  get_macro_conditions; get_the_read; get_macro_calendar  ·  gradient_tool  ·  get_macro_conditions; get_the_read; get_macro_calendar  ·  theme=inflation; am edition; 30 days  ·  2026-10-02  ·  User-Authorized Live  ·  passed  ·  sha256:test-s10  · </a:t>
            </a:r>
            <a:br/>
            <a:br/>
            <a:r>
              <a:rPr>
                <a:latin typeface="Inter"/>
              </a:rPr>
              <a:t> ·  S11  ·  Server-returned illustrative proposed-case analysis  ·  user_document  ·  User-supplied assumptions  ·  target weights and implementation estimate per Section 13.1  ·  2026-09-30  ·  Illustrative, Gradient Maintained — demo data, not the client's holdings or managers  ·  passed  ·  sha256:test-s11  ·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 · S9 · S10 · S11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Server Metric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Source  ·  Quantity  ·  Method / formula ID  ·  Version  ·  Basis and tolerance  · </a:t>
            </a:r>
            <a:br/>
            <a:br/>
            <a:r>
              <a:rPr>
                <a:latin typeface="Inter"/>
              </a:rPr>
              <a:t> ·  S1  ·  IPS status, active weights, liquidity and concentration  ·  check_portfolio_policy  ·  2026-10-05.v1  ·  Governed inputs only; preserve returned thresholds and coverage  · </a:t>
            </a:r>
            <a:br/>
            <a:br/>
            <a:r>
              <a:rPr>
                <a:latin typeface="Inter"/>
              </a:rPr>
              <a:t> ·  S2  ·  Realized returns and risk  ·  get_portfolio_historical_returns  ·  as returned  ·  Preserve period labels, annualization, benchmark basis, units and coverage  · </a:t>
            </a:r>
            <a:br/>
            <a:br/>
            <a:r>
              <a:rPr>
                <a:latin typeface="Inter"/>
              </a:rPr>
              <a:t> ·  S2  ·  Realized attribution  ·  Not available  ·  n/a  ·  no_weight_cohorts; no formula or result asserted  · </a:t>
            </a:r>
            <a:br/>
            <a:br/>
            <a:r>
              <a:rPr>
                <a:latin typeface="Inter"/>
              </a:rPr>
              <a:t> ·  S6  ·  Effective number of positions  ·  Portfolio Analytics allocations metric  ·  as returned  ·  Preserve chart-pack basis and fingerprint  · </a:t>
            </a:r>
            <a:br/>
            <a:br/>
            <a:r>
              <a:rPr>
                <a:latin typeface="Inter"/>
              </a:rPr>
              <a:t> ·  S11  ·  Proposed-case impacts  ·  Portfolio Analytics proposed-case analysis  ·  as returned  ·  Same basis as current case  ·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S6 · S11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Methodology &amp; Disclosures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Expected returns and risk are forward-looking assumptions from Gradient ICAPM Global Baseline Q3 2026, not forecasts or guarantees. Actual results will differ.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Performance is shown net of manager fees. Periods over one year are annualized.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Attribution is unavailable for this example because no governed segment-weight cohort was returned; no local fallback is used. Factor model: Portfolio Analytics factor/currency exposure.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Private-markets valuations may lag by 3 months; values as of 2026-06-30.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Data sources and retrieval dates are listed in Appendix A. Sections using illustrative data are marked; they do not describe the organization's holdings.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GIPS assessments are diligence reviews against the 2020 GIPS standards, not verifications or legal opinions.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This memo was prepared with AI assistance from structured data and reviewed by the preparer.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Scenario results are conditional estimates under the named shocks, not probabilities or predictions; no local replacement series is used when governed results are unavailable.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Consensus comparisons preserve the returned peer universe, dates and basis. They are context for assumption review, not an independent recommendation.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Committee approval does not remove fiduciary review, legal review, manager-document review or implementation controls required by the organization's governing documents.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Rebalance: Northstar Global Growth Fund</dc:title>
  <dc:subject>Investment Committee Memo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