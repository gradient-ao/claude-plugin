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  <ns0:sldId id="295" ns1:id="rId46"/>
    <ns0:sldId id="296" ns1:id="rId47"/>
    <ns0:sldId id="297" ns1:id="rId48"/>
    <ns0:sldId id="298" ns1:id="rId49"/>
    <ns0:sldId id="299" ns1:id="rId50"/>
    <ns0:sldId id="300" ns1:id="rId51"/>
    <ns0:sldId id="301" ns1:id="rId52"/>
    <ns0:sldId id="302" ns1:id="rId53"/>
    <ns0:sldId id="303" ns1:id="rId54"/>
    <ns0:sldId id="304" ns1:id="rId5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Gradient Global Growth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Example Foundation · Prepared for the Investment Committee ·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MEMO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ASSUMPTION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ICAPM Q3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Draft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breaches · 1 watch · 3 not assessed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008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00848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523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2444097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additional Watch [S1]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244409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10533"/>
            <a:ext cx="10908792" cy="1165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358779"/>
            <a:ext cx="73152" cy="78598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896112" y="5331347"/>
            <a:ext cx="10588752" cy="540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845002"/>
            <a:ext cx="10588752" cy="2796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Watch,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 (TEST)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218511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1192256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11215116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9765" y="372435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Oval 13"/>
          <p:cNvSpPr/>
          <p:nvPr/>
        </p:nvSpPr>
        <p:spPr>
          <a:xfrm>
            <a:off x="558321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5606078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0290" y="5263591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Oval 17"/>
          <p:cNvSpPr/>
          <p:nvPr/>
        </p:nvSpPr>
        <p:spPr>
          <a:xfrm>
            <a:off x="2523744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2546603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754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7546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90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1076"/>
            <a:ext cx="10908792" cy="1565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011076"/>
            <a:ext cx="54864" cy="15656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208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04268"/>
            <a:ext cx="10616184" cy="1081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86486"/>
            <a:ext cx="10908792" cy="15314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86486"/>
            <a:ext cx="54864" cy="15314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962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79678"/>
            <a:ext cx="10616184" cy="10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2508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86494"/>
            <a:ext cx="10908792" cy="15314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86494"/>
            <a:ext cx="54864" cy="1531425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962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79686"/>
            <a:ext cx="10616184" cy="10467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Watch,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285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2853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4389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64139"/>
            <a:ext cx="10908792" cy="29537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264139"/>
            <a:ext cx="54864" cy="29537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3738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657331"/>
            <a:ext cx="10616184" cy="24691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179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15077"/>
            <a:ext cx="10908792" cy="1602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4615077"/>
            <a:ext cx="54864" cy="160284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47248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008269"/>
            <a:ext cx="10616184" cy="1118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96153"/>
            <a:ext cx="10908792" cy="22217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40080" y="3996153"/>
            <a:ext cx="54864" cy="22217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804671" y="41058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389345"/>
            <a:ext cx="10616184" cy="17371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3839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19518"/>
            <a:ext cx="10908792" cy="23984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3819518"/>
            <a:ext cx="54864" cy="23984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39292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4212710"/>
            <a:ext cx="10616184" cy="19137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11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56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56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1201"/>
            <a:ext cx="10908792" cy="18432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74189"/>
            <a:ext cx="10908792" cy="14437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774189"/>
            <a:ext cx="54864" cy="14437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8839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67381"/>
            <a:ext cx="10616184" cy="9590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60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534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34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34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670322"/>
            <a:ext cx="10908792" cy="10834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670322"/>
            <a:ext cx="54864" cy="10834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37800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063514"/>
            <a:ext cx="10616184" cy="5988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63547"/>
            <a:ext cx="10908792" cy="13543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4936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92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203585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46681"/>
            <a:ext cx="10908792" cy="14712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746681"/>
            <a:ext cx="54864" cy="147123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8564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139873"/>
            <a:ext cx="10616184" cy="9866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8377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8377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531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73385"/>
            <a:ext cx="10908792" cy="39445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724150"/>
            <a:ext cx="10908792" cy="19963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830259"/>
            <a:ext cx="10908792" cy="13876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830259"/>
            <a:ext cx="54864" cy="13876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9399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223451"/>
            <a:ext cx="10616184" cy="903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Ref  ·  Source  ·  Parameters  ·  As of  ·  Data scope  ·  Validation  ·  Digest  · </a:t>
            </a:r>
            <a:br/>
            <a:br/>
            <a:r>
              <a:rPr>
                <a:latin typeface="Inter"/>
              </a:rPr>
              <a:t> ·  S1  ·  get_portfolio_exposure; get_portfolio_structure; check_portfolio_policy  ·  portfolio_id=example; governed policy and exposure views  ·  2026-09-30  ·  Illustrative, Gradient Maintained — demo data, not the client's holdings or managers  ·  passed  ·  n/a  · </a:t>
            </a:r>
            <a:br/>
            <a:br/>
            <a:r>
              <a:rPr>
                <a:latin typeface="Inter"/>
              </a:rPr>
              <a:t> ·  S2  ·  get_portfolio_historical_returns; get_portfolio_attribution  ·  portfolio_id=example; policy benchmark; performance available; attribution unavailable (no_weight_cohorts)  ·  2026-09-30  ·  Illustrative, Gradient Maintained — demo data, not the client's holdings or managers  ·  partial  ·  n/a  · </a:t>
            </a:r>
            <a:br/>
            <a:br/>
            <a:r>
              <a:rPr>
                <a:latin typeface="Inter"/>
              </a:rPr>
              <a:t> ·  S3  ·  check_portfolio_policy; user document  ·  return_objective; forward-analysis.pdf  ·  2026-09-11  ·  Illustrative, Gradient Maintained — demo data, not the client's holdings or managers  ·  passed  ·  n/a  · </a:t>
            </a:r>
            <a:br/>
            <a:br/>
            <a:r>
              <a:rPr>
                <a:latin typeface="Inter"/>
              </a:rPr>
              <a:t> ·  S4  ·  get_cma_consensus_check  ·  mode=allocation  ·  2026-06-30  ·  Mixed — Illustrative, Gradient Maintained — demo data, not the client's holdings or managers + User-Authorized Live  ·  passed  ·  n/a  · </a:t>
            </a:r>
            <a:br/>
            <a:br/>
            <a:r>
              <a:rPr>
                <a:latin typeface="Inter"/>
              </a:rPr>
              <a:t> ·  S5  ·  get_manager_diligence_findings  ·  view=exposure_weighted  ·  2026-10-02  ·  Illustrative, Gradient Maintained — demo data, not the client's holdings or managers  ·  advisory  ·  n/a  · </a:t>
            </a:r>
            <a:br/>
            <a:br/>
            <a:r>
              <a:rPr>
                <a:latin typeface="Inter"/>
              </a:rPr>
              <a:t> ·  S6  ·  get_chart_data  ·  portfolio_id=example; analysis_type=allocations  ·  2026-09-30  ·  Illustrative, Gradient Maintained — demo data, not the client's holdings or managers  ·  passed  ·  n/a  · </a:t>
            </a:r>
            <a:br/>
            <a:br/>
            <a:r>
              <a:rPr>
                <a:latin typeface="Inter"/>
              </a:rPr>
              <a:t> ·  S7  ·  get_macro_signals  ·  view=gradient_signal (sources.grip)  ·  2026-10-01  ·  User-Authorized Live  ·  passed  ·  n/a  · </a:t>
            </a:r>
            <a:br/>
            <a:br/>
            <a:r>
              <a:rPr>
                <a:latin typeface="Inter"/>
              </a:rPr>
              <a:t> ·  S8  ·  Illustrative scenario assumptions  ·  2008 historical; 5th percentile  ·  2026-09-30  ·  Illustrative, Gradient Maintained — demo data, not the client's holdings or managers  ·  not applicable  ·  n/a  · </a:t>
            </a:r>
            <a:br/>
            <a:br/>
            <a:r>
              <a:rPr>
                <a:latin typeface="Inter"/>
              </a:rPr>
              <a:t> ·  S9  ·  get_chart_data  ·  portfolio_id=example; analysis_type=commitments  ·  2026-06-30  ·  Illustrative, Gradient Maintained — demo data, not the client's holdings or managers  ·  passed  ·  n/a  · </a:t>
            </a:r>
            <a:br/>
            <a:br/>
            <a:r>
              <a:rPr>
                <a:latin typeface="Inter"/>
              </a:rPr>
              <a:t> ·  S10  ·  get_macro_conditions; get_the_read; get_macro_calendar  ·  theme=inflation; am edition; 30 days  ·  2026-10-02  ·  User-Authorized Live  ·  passed  ·  n/a  · </a:t>
            </a:r>
            <a:br/>
            <a:br/>
            <a:r>
              <a:rPr>
                <a:latin typeface="Inter"/>
              </a:rPr>
              <a:t> ·  S11  ·  Server-returned illustrative proposed-case analysis  ·  target weights and implementation estimate per Section 13.1  ·  2026-09-30  ·  Illustrative, Gradient Maintained — demo data, not the client's holdings or managers  ·  passed  ·  n/a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DRAFT — for committee review · Illustrative data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Gradient Global Growth III</dc:title>
  <dc:subject>Investment Committee Memo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