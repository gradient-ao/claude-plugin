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  <ns0:sldId id="295" ns1:id="rId46"/>
    <ns0:sldId id="296" ns1:id="rId47"/>
    <ns0:sldId id="297" ns1:id="rId48"/>
    <ns0:sldId id="298" ns1:id="rId49"/>
    <ns0:sldId id="299" ns1:id="rId50"/>
    <ns0:sldId id="300" ns1:id="rId51"/>
    <ns0:sldId id="301" ns1:id="rId52"/>
    <ns0:sldId id="302" ns1:id="rId53"/>
    <ns0:sldId id="303" ns1:id="rId54"/>
    <ns0:sldId id="304" ns1:id="rId55"/>
    <ns0:sldId id="305" ns1:id="rId56"/>
    <ns0:sldId id="306" ns1:id="rId5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−600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+200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+100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−400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−34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+499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−24.0%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2008 global financial crisis</c:v>
                </c:pt>
                <c:pt idx="1">
                  <c:v>5th percentile, 1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-24.0</c:v>
                </c:pt>
                <c:pt idx="1">
                  <c:v>-14.0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44.6%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31.7%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both below policy minimums [S1]. Why it matters: Those two breaches determine the required trade sizing. Uncertainty: Current valuation dates may omit subsequent weight movements. What would change the view: Refreshed valuations restoring both sleeves above minimum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corrected before risk evidence arrives. Uncertainty: Governed risk observations remain unavailable for aligned assessment. What would change the view: Returned risk results that create or remove a policy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Positive excess return supplies context but not causal attribution. Uncertainty: Effect-level attribution results remain unavailable for this period. What would change the view: Reconciled attribution records identifying a negative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concentration measure remains policy compliant. Uncertainty: Incomplete look-through holdings may omit indirect manager exposure. What would change the view: Completed holdings showing concentration above the 10.0%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That gap materially affects the forward portfolio case. Uncertainty: Source dates and model bases are not aligned. What would change the view: Comparable refreshed assumptions narrowing the gap below 100 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Stress losses remain material</a:t>
            </a:r>
          </a:p>
          <a:p>
            <a:r>
              <a:t>Observation: The historical stress impact is −24.0% [S8]. Why it matters: It frames the loss accepted alongside the proposed breach cure. Uncertainty: Scenario assumptions are illustrative rather than probability estimates. What would change the view: Governed scenario results showing materially lower portfolio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The 1.11 cushion supports near-term implementation capacity. Uncertainty: Commitment-call assumptions are projected and not yet confirmed. What would change the view: An updated schedule reducing coverage below the 1.50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escalation is not evidenced today. Uncertainty: Verification remains open and may reveal missing findings. What would change the view: New High findings or completed verification records identifying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The signal informs implementation pacing, not breach correction. Uncertainty: One macro input is stale within current coverage. What would change the view: Refreshed signal results crossing into a different named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resolves both identified allocation exceptions. Uncertainty: Transaction costs and market movement remain unknown. What would change the view: An implementation estimate showing either breach remains after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Basis gaps remain actionable</a:t>
            </a:r>
          </a:p>
          <a:p>
            <a:r>
              <a:t>Observation: Two Medium risks concern unaligned policy-risk evidence and the 499 bps real-estate assumption gap [S1][S4]. Why it matters: Both limit confidence without changing the requested vote. Uncertainty: Comparable risk and assumption records remain unavailable. What would change the view: Refreshed records resolving either named Medium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Rebalance: Northstar Global Growth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Northstar Foundation · Investment Committee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60920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4381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band breaches, one near its limit, three not assessed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1114"/>
            <a:ext cx="10908792" cy="8172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191114"/>
            <a:ext cx="54864" cy="8172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30084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584306"/>
            <a:ext cx="10616184" cy="3326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11809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VS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+49 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6.9% net return [S2]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11809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BREACHES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 additional Watch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11809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VS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−28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6.7% vs 7.0%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11809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T1 LIQUIDITY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44.6%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15.0% minimum [S1]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408303"/>
            <a:ext cx="10908792" cy="9443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&gt; ILLUSTRATIVE DATA — Figures marked [S#] use the scope</a:t>
            </a:r>
            <a:br/>
            <a:br/>
            <a:r>
              <a:rPr>
                <a:latin typeface="Inter"/>
              </a:rPr>
              <a:t>&gt; "Illustrative, Gradient Maintained — demo data, not the client's holdings or managers."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35565"/>
            <a:ext cx="73152" cy="60920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96112" y="5508133"/>
            <a:ext cx="10588752" cy="4381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and fund fixed income and cash.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915717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requested: approve the 30-day rebalance [S1]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the inflation assumption used for the real return objective (Section 15, item 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IPS:** 6 constraints Compliant, 1 Watch,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Liquidity &amp; diligence:** Stress coverage 2.61 on the liquidity model; zero High diligence findings [S1] [S5]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218511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1192256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11215116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9765" y="372435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Oval 13"/>
          <p:cNvSpPr/>
          <p:nvPr/>
        </p:nvSpPr>
        <p:spPr>
          <a:xfrm>
            <a:off x="558321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5606078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30290" y="5263591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Oval 17"/>
          <p:cNvSpPr/>
          <p:nvPr/>
        </p:nvSpPr>
        <p:spPr>
          <a:xfrm>
            <a:off x="2523744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2546603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754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7546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drives the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908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 bands are in Breach [S1]. Why it matters: The proposed rebalance directly cures both policy exceptions. Uncertainty: Governed risk-limit observations remain unavailable for the decision. What would change the view: Aligned risk results showing another breach or reduced implementation capacity.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11076"/>
            <a:ext cx="10908792" cy="1565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011076"/>
            <a:ext cx="54864" cy="156568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208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 supports 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404268"/>
            <a:ext cx="10616184" cy="1081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T1 liquidity is 44.6% versus a 15.0% minimum [S1]. Why it matters: The 29.6-point cushion provides meaningful implementation capacity. Uncertainty: Private valuations lag the liquid-asset measurement date. What would change the view: An updated liquidity schedule reducing coverage below the policy minimum.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86486"/>
            <a:ext cx="10908792" cy="15314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686486"/>
            <a:ext cx="54864" cy="15314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7962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tradeoff is modest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79678"/>
            <a:ext cx="10616184" cy="1046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case lowers return 15 bps and volatility 60 bps [S3]. Why it matters: That tradeoff accompanies correction of both policy breaches. Uncertainty: Long-horizon CMA assumptions are not realized outcomes. What would change the view: A refreshed CMA reversing the 45-bps risk-return tradeoff.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BY ASSET CLASS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 VS POLICY (BPS)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2508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Item  ·  Value  ·  Source  · </a:t>
            </a:r>
            <a:br/>
            <a:br/>
            <a:r>
              <a:rPr>
                <a:latin typeface="Inter"/>
              </a:rPr>
              <a:t> ·  Total NAV  ·  USD 3375.0m  ·  [S1]  · </a:t>
            </a:r>
            <a:br/>
            <a:br/>
            <a:r>
              <a:rPr>
                <a:latin typeface="Inter"/>
              </a:rPr>
              <a:t> ·  Unfunded commitments  ·  USD 420.0m  ·  [S1]  · </a:t>
            </a:r>
            <a:br/>
            <a:br/>
            <a:r>
              <a:rPr>
                <a:latin typeface="Inter"/>
              </a:rPr>
              <a:t> ·  Number of holdings / commitments  ·  56  ·  [S1]  · </a:t>
            </a:r>
            <a:br/>
            <a:br/>
            <a:r>
              <a:rPr>
                <a:latin typeface="Inter"/>
              </a:rPr>
              <a:t> ·  Number of managers  ·  18  ·  [S1]  · </a:t>
            </a:r>
            <a:br/>
            <a:br/>
            <a:r>
              <a:rPr>
                <a:latin typeface="Inter"/>
              </a:rPr>
              <a:t> ·  Valuation date(s)  ·  2026-09-30; private funds 2026-06-30 (one quarter lag)  ·  [S1]  · </a:t>
            </a:r>
            <a:br/>
            <a:br/>
            <a:r>
              <a:rPr>
                <a:latin typeface="Inter"/>
              </a:rPr>
              <a:t> ·  Asset class  ·  Current weight  ·  Policy target  ·  Range (min–max)  ·  Active (bps)  ·  Status  · </a:t>
            </a:r>
            <a:br/>
            <a:br/>
            <a:r>
              <a:rPr>
                <a:latin typeface="Inter"/>
              </a:rPr>
              <a:t> ·  public_equity  ·  52.0%  ·  45.0%  ·  35.0%–55.0%  ·  +700 bps  ·  Compliant  · </a:t>
            </a:r>
            <a:br/>
            <a:br/>
            <a:r>
              <a:rPr>
                <a:latin typeface="Inter"/>
              </a:rPr>
              <a:t> ·  fixed_income  ·  19.0%  ·  25.0%  ·  20.0%–30.0%  ·  −600 bps  ·  Breach  · </a:t>
            </a:r>
            <a:br/>
            <a:br/>
            <a:r>
              <a:rPr>
                <a:latin typeface="Inter"/>
              </a:rPr>
              <a:t> ·  private_equity  ·  17.0%  ·  15.0%  ·  10.0%–20.0%  ·  +200 bps  ·  Compliant  · </a:t>
            </a:r>
            <a:br/>
            <a:br/>
            <a:r>
              <a:rPr>
                <a:latin typeface="Inter"/>
              </a:rPr>
              <a:t> ·  real_estate  ·  11.0%  ·  10.0%  ·  5.0%–12.0%  ·  +100 bps  ·  Compliant  · </a:t>
            </a:r>
            <a:br/>
            <a:br/>
            <a:r>
              <a:rPr>
                <a:latin typeface="Inter"/>
              </a:rPr>
              <a:t> ·  cash  ·  1.0%  ·  5.0%  ·  2.0%–8.0%  ·  −400 bps  ·  Breach  · </a:t>
            </a:r>
            <a:br/>
            <a:br/>
            <a:r>
              <a:rPr>
                <a:latin typeface="Inter"/>
              </a:rPr>
              <a:t> ·  Total  ·  100.0%  ·  100.0%  ·   ·   · 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86494"/>
            <a:ext cx="10908792" cy="15314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4686494"/>
            <a:ext cx="54864" cy="1531425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47962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Two sleeves need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079686"/>
            <a:ext cx="10616184" cy="10467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and cash are both below policy minimums [S1]. Why it matters: Those two breaches determine the required trade sizing. Uncertainty: Current valuation dates may omit…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CONSTRAINT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Summary:** 6 Compliant, 1 Watch,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Breaches and required actions:** Fixed income and cash bands — cured by the Section 13 rebalance.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CONCENTRATION VS LIMIT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Compliance evidence is mixed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Allocation has two Breaches while risk is Not assessed [S1]. Why it matters: Allocation can be corrected before risk evidence arrives. Uncertainty: Governed risk observations remain unavailable…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5.1 Returns**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5.3 Top contributors and detractors**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285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2853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1Y attribution — total effect by asset class (bps)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4389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attribution result returned no weight cohorts [S2]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64139"/>
            <a:ext cx="10908792" cy="29537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264139"/>
            <a:ext cx="54864" cy="29537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3738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 stayed positive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657331"/>
            <a:ext cx="10616184" cy="24691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exceeded policy by 49 bps over one year [S2]. Why it matters: Positive excess return supplies context but not causal attribution. Uncertainty: Effect-level attribution results…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6.1 Factor exposures**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FACTOR AND CURRENCY EXPOSURE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1794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6.2 Concentration and diversification**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15077"/>
            <a:ext cx="10908792" cy="16028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4615077"/>
            <a:ext cx="54864" cy="160284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47248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within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008269"/>
            <a:ext cx="10616184" cy="11182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8.5% versus a 10.0% limit [S1]. Why it matters: The returned concentration measure remains policy compliant. Uncertainty: Incomplete look-through holdings may omit indirect…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Assumptions:** Gradient ICAPM Global Baseline Q3 2026, CMA release Q3-2026-policy-v2.1, 10-year horizon, USD, unhedged.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VS CONSENSUS GAP (BPS)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Effect on expectations:** Regime adjustment not available — baseline shown.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Defensive [S7]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Baseline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96153"/>
            <a:ext cx="10908792" cy="22217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40080" y="3996153"/>
            <a:ext cx="54864" cy="22217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804671" y="41058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gap needs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4389345"/>
            <a:ext cx="10616184" cy="17371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estate is 499 bps above consensus [S4]. Why it matters: That gap materially affects the forward portfolio case. Uncertainty: Source dates and model bases are not…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IMPACTS (%)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3839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Robustness:** Results are stable across start dates within ±80 bps of expected return [S8].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19518"/>
            <a:ext cx="10908792" cy="23984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3819518"/>
            <a:ext cx="54864" cy="23984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39292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Stress losses remain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4212710"/>
            <a:ext cx="10616184" cy="19137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historical stress impact is −24.0% [S8]. Why it matters: It frames the loss accepted alongside the proposed breach cure. Uncertainty: Scenario assumptions are illustrative rather than…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9.1 Liquidity tiers**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 (% NAV)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 MIX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Pacing:** Projected 12-month calls USD 180.0m against distributions of USD 95.0m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S9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COMMITMENTS LIQUIDITY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 flow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are shown separately so the returned pacing and cash-flow evidence remains readable [S9].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CASH FLOW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clears the minimum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Stress coverage is 2.61 versus a 1.50 minimum [S1][S11]. Why it matters: The 1.11 cushion supports near-term implementation capacity. Uncertainty: Commitment-call assumptions are projected and not yet…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&amp; Operational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11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556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56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1201"/>
            <a:ext cx="10908792" cy="18432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Attention queue:** None overdue [S5].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74189"/>
            <a:ext cx="10908792" cy="14437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774189"/>
            <a:ext cx="54864" cy="144373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88391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high findings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67381"/>
            <a:ext cx="10616184" cy="9590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active High findings were returned [S5]. Why it matters: Immediate operational escalation is not evidenced today. Uncertainty: Verification remains open and may reveal missing findings. What…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GIPS REVIEW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60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534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34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Owner Report not provided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34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Assessment complete; latest verification report open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670322"/>
            <a:ext cx="10908792" cy="10834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670322"/>
            <a:ext cx="54864" cy="10834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37800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GIPS follow-ups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063514"/>
            <a:ext cx="10616184" cy="5988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Obtain Manager A's latest verification report within 30 days and provide the total-fund GIPS Asset Owner Report at the next review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63547"/>
            <a:ext cx="10908792" cy="13543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Verification report for the latest year not yet received.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4936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Upcoming catalysts:** US CPI on 2026-10-14; FOMC on 2026-10-28 [S10].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92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READINGS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203585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PCE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3 months [S10]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CPI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Oct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 [S10]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746681"/>
            <a:ext cx="10908792" cy="14712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746681"/>
            <a:ext cx="54864" cy="147123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8564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Macro context is defensive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139873"/>
            <a:ext cx="10616184" cy="9866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GRIP is 76 and Defensive [S7]. Why it matters: The signal informs implementation pacing, not breach correction. Uncertainty: One macro input is stale within current coverage. What…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13.1 Allocation change**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PROPOSED WEIGHTS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377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3777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 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531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case exchanges 15 bps of expected return for 60 bps lower expected volatility, 200 bps more T1 liquidity, and correction of both IPS breaches [S3][S11].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73385"/>
            <a:ext cx="10908792" cy="39445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Proposal cures both breaches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Proposed weights reduce IPS breaches from two to zero [S11]. Why it matters: The change resolves both identified allocation exceptions. Uncertainty: Transaction costs and market movement remain…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 &amp; Mitigants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COUNT BY 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High risks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Basis and CMA [S1][S4]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Objective gap [S3]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24150"/>
            <a:ext cx="10908792" cy="19963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Risk  ·  Rating  ·  Evidence  ·  Mitigant  ·  Owner  · </a:t>
            </a:r>
            <a:br/>
            <a:br/>
            <a:r>
              <a:rPr>
                <a:latin typeface="Inter"/>
              </a:rP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rPr>
                <a:latin typeface="Inter"/>
              </a:rP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rPr>
                <a:latin typeface="Inter"/>
              </a:rP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830259"/>
            <a:ext cx="10908792" cy="13876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830259"/>
            <a:ext cx="54864" cy="13876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9399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Basis gaps remain actionable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223451"/>
            <a:ext cx="10616184" cy="903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Medium risks concern unaligned policy-risk evidence and the 499 bps real-estate assumption gap [S1][S4]. Why it matters: Both limit confidence without changing the requested vote. Uncertainty…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Open Items &amp;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Item  ·  Reason  ·  Timing  ·  Owner  · </a:t>
            </a:r>
            <a:br/>
            <a:br/>
            <a:r>
              <a:rPr>
                <a:latin typeface="Inter"/>
              </a:rPr>
              <a:t> ·  1  ·  Set real-return inflation assumption  ·  IPS omission  ·  Before approval  ·  CIO  · </a:t>
            </a:r>
            <a:br/>
            <a:br/>
            <a:r>
              <a:rPr>
                <a:latin typeface="Inter"/>
              </a:rPr>
              <a:t> ·  2  ·  Provide look-through holdings  ·  Coverage gap  ·  Next review  ·  Operations  · </a:t>
            </a:r>
            <a:br/>
            <a:br/>
            <a:r>
              <a:rPr>
                <a:latin typeface="Inter"/>
              </a:rPr>
              <a:t> ·  3  ·  Obtain Manager A verification report  ·  GIPS follow-up  ·  Within 30 days  ·  Analyst  · </a:t>
            </a:r>
            <a:br/>
            <a:br/>
            <a:r>
              <a:rPr>
                <a:latin typeface="Inter"/>
              </a:rPr>
              <a:t> ·  4  ·  Provide GIPS Asset Owner Report  ·  Evidence gap  ·  Next review  ·  Operations  · </a:t>
            </a:r>
            <a:br/>
            <a:br/>
            <a:r>
              <a:rPr>
                <a:latin typeface="Inter"/>
              </a:rPr>
              <a:t> ·  5  ·  Set policy-risk horizon and basis  ·  Risk tests unassessed  ·  Next review  ·  CIO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Resolution:** Approve the Section 13 rebalance, subject to confirming the inflation assumption before the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Post-decision record:** Operations records the final weights, implementation date and transaction-cost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6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get_portfolio_structure; 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get_portfolio_structure; 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check_portfolio_policy; user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get_cma_consensus_check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get_cma_consensus_check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scenario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applicable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get_the_read; get_macro_calendar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get_the_read; get_macro_calendar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illustrative proposed-case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governed policy and exposure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policy benchmark; performance available; attribution unavailable (no_weight_cohorts)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return_objective; forward-analysis.pdf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mode=allocation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 — Illustrative, Gradient Maintained — demo data, not the client's holdings or managers + User-Authorized Live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view=exposure_weighted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include=factor_currency_exposure,risk_contribution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 (sources.grip)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User-Authorized Live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2008 historical; 5th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include=commitment_pacing,liquidity_scorecard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theme=inflation; am edition;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User-Authorized Live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weights and implementation estimate per Section 13.1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Source  ·  Quantity  ·  Method / formula ID  ·  Version  ·  Basis and tolerance  · </a:t>
            </a:r>
            <a:br/>
            <a:br/>
            <a:r>
              <a:rPr>
                <a:latin typeface="Inter"/>
              </a:rP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rPr>
                <a:latin typeface="Inter"/>
              </a:rP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rPr>
                <a:latin typeface="Inter"/>
              </a:rPr>
              <a:t> ·  S2  ·  Realized attribution  ·  Not available  ·  n/a  ·  no_weight_cohorts; no formula or result asserted  · </a:t>
            </a:r>
            <a:br/>
            <a:br/>
            <a:r>
              <a:rPr>
                <a:latin typeface="Inter"/>
              </a:rPr>
              <a:t> ·  S6  ·  Effective number of positions  ·  Portfolio Analytics allocations metric  ·  as returned  ·  Preserve chart-pack basis and fingerprint  · </a:t>
            </a:r>
            <a:br/>
            <a:br/>
            <a:r>
              <a:rPr>
                <a:latin typeface="Inter"/>
              </a:rP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S6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Methodology &amp;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memo was prepared with AI assistance from structured data and reviewed by the preparer.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Scenario results are conditional estimates under the named shocks, not probabilities or predictions; no local replacement series is used when governed results are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Consensus comparisons preserve the returned peer universe, dates and basis. They are context for assumption review, not an independent recommendation.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Committee approval does not remove fiduciary review, legal review, manager-document review or implementation controls required by the organization's governing documents.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Northstar Global Growth Fund</dc:title>
  <dc:subject>Investment Committee Memo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