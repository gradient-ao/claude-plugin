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FF6B5E"/>
              </a:solidFill>
            </c:spPr>
          </c:dPt>
          <c:dPt>
            <c:idx val="1"/>
            <c:spPr>
              <a:solidFill>
                <a:srgbClr val="C6F432"/>
              </a:solidFill>
            </c:spPr>
          </c:dPt>
          <c:cat>
            <c:strRef>
              <c:f>Sheet1!$A$2:$A$3</c:f>
              <c:strCache>
                <c:ptCount val="2"/>
                <c:pt idx="0">
                  <c:v>Selection</c:v>
                </c:pt>
                <c:pt idx="1">
                  <c:v>Allocation</c:v>
                </c:pt>
              </c:strCache>
            </c:strRef>
          </c:cat>
          <c:val>
            <c:numRef>
              <c:f>Sheet1!$B$2:$B$3</c:f>
              <c:numCache>
                <c:formatCode>General</c:formatCode>
                <c:ptCount val="2"/>
                <c:pt idx="0">
                  <c:v>-0.8</c:v>
                </c:pt>
                <c:pt idx="1">
                  <c:v>0.2</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cat>
            <c:strRef>
              <c:f>Sheet1!$A$2:$A$3</c:f>
              <c:strCache>
                <c:ptCount val="2"/>
                <c:pt idx="0">
                  <c:v>Allocation</c:v>
                </c:pt>
                <c:pt idx="1">
                  <c:v>Selection</c:v>
                </c:pt>
              </c:strCache>
            </c:strRef>
          </c:cat>
          <c:val>
            <c:numRef>
              <c:f>Sheet1!$B$2:$B$3</c:f>
              <c:numCache>
                <c:formatCode>General</c:formatCode>
                <c:ptCount val="2"/>
                <c:pt idx="0">
                  <c:v>0.4</c:v>
                </c:pt>
                <c:pt idx="1">
                  <c:v>-0.1</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cat>
            <c:strRef>
              <c:f>Sheet1!$A$2:$A$3</c:f>
              <c:strCache>
                <c:ptCount val="2"/>
                <c:pt idx="0">
                  <c:v>Allocation</c:v>
                </c:pt>
                <c:pt idx="1">
                  <c:v>Selection</c:v>
                </c:pt>
              </c:strCache>
            </c:strRef>
          </c:cat>
          <c:val>
            <c:numRef>
              <c:f>Sheet1!$B$2:$B$3</c:f>
              <c:numCache>
                <c:formatCode>General</c:formatCode>
                <c:ptCount val="2"/>
                <c:pt idx="0">
                  <c:v>0.3</c:v>
                </c:pt>
                <c:pt idx="1">
                  <c:v>-0.2</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FF6B5E"/>
              </a:solidFill>
            </c:spPr>
          </c:dPt>
          <c:dPt>
            <c:idx val="1"/>
            <c:spPr>
              <a:solidFill>
                <a:srgbClr val="C6F432"/>
              </a:solidFill>
            </c:spPr>
          </c:dPt>
          <c:dPt>
            <c:idx val="2"/>
            <c:spPr>
              <a:solidFill>
                <a:srgbClr val="C6F432"/>
              </a:solidFill>
            </c:spPr>
          </c:dPt>
          <c:cat>
            <c:strRef>
              <c:f>Sheet1!$A$2:$A$4</c:f>
              <c:strCache>
                <c:ptCount val="3"/>
                <c:pt idx="0">
                  <c:v>Historical</c:v>
                </c:pt>
                <c:pt idx="1">
                  <c:v>Ex ante</c:v>
                </c:pt>
                <c:pt idx="2">
                  <c:v>Simulated</c:v>
                </c:pt>
              </c:strCache>
            </c:strRef>
          </c:cat>
          <c:val>
            <c:numRef>
              <c:f>Sheet1!$B$2:$B$4</c:f>
              <c:numCache>
                <c:formatCode>General</c:formatCode>
                <c:ptCount val="3"/>
                <c:pt idx="0">
                  <c:v>-0.6</c:v>
                </c:pt>
                <c:pt idx="1">
                  <c:v>0.3</c:v>
                </c:pt>
                <c:pt idx="2">
                  <c:v>0.1</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Selection leads detractors</a:t>
            </a:r>
          </a:p>
          <a:p>
            <a:r>
              <a:t>Observation: Returned selection is negative [S2]. Why it matters: Selection leads realized detractors. Uncertainty: The evidence covers one linked period. What would change the view: A later historical result.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Allocation leads expectations</a:t>
            </a:r>
          </a:p>
          <a:p>
            <a:r>
              <a:t>Observation: Returned allocation is positive [S3]. Why it matters: Allocation leads expected effects. Uncertainty: Inputs are assumptions. What would change the view: A refreshed ex ante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Scenario effects returned</a:t>
            </a:r>
          </a:p>
          <a:p>
            <a:r>
              <a:t>Observation: Simulated allocation is positive [S4]. Why it matters: Scenario attribution is available. Uncertainty: Results depend on governed scenario inputs. What would change the view: A revised simulation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Lanes differ in sign</a:t>
            </a:r>
          </a:p>
          <a:p>
            <a:r>
              <a:t>Observation: Returned lane signs differ [S5]. Why it matters: Realized and expected sources are not interchangeable. Uncertainty: Each lane uses a distinct governed basis. What would change the view: A refreshed comparison receipt.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828800"/>
            <a:ext cx="9966960" cy="274320"/>
          </a:xfrm>
          <a:prstGeom prst="rect">
            <a:avLst/>
          </a:prstGeom>
          <a:noFill/>
        </p:spPr>
        <p:txBody>
          <a:bodyPr wrap="none" lIns="9144" rIns="9144" tIns="9144" bIns="9144" anchor="t">
            <a:spAutoFit/>
          </a:bodyPr>
          <a:lstStyle/>
          <a:p>
            <a:pPr algn="l">
              <a:spcAft>
                <a:spcPts val="0"/>
              </a:spcAft>
              <a:defRPr sz="900" b="1">
                <a:solidFill>
                  <a:srgbClr val="C6F432"/>
                </a:solidFill>
                <a:latin typeface="Inter"/>
              </a:defRPr>
            </a:pPr>
            <a:r>
              <a:rPr>
                <a:latin typeface="Inter"/>
              </a:rPr>
              <a:t>PORTFOLIO ATTRIBUTION COMPARISON</a:t>
            </a:r>
          </a:p>
        </p:txBody>
      </p:sp>
      <p:sp>
        <p:nvSpPr>
          <p:cNvPr id="6" name="TextBox 5"/>
          <p:cNvSpPr txBox="1"/>
          <p:nvPr/>
        </p:nvSpPr>
        <p:spPr>
          <a:xfrm>
            <a:off x="685800" y="2176272"/>
            <a:ext cx="9966960" cy="1234440"/>
          </a:xfrm>
          <a:prstGeom prst="rect">
            <a:avLst/>
          </a:prstGeom>
          <a:noFill/>
        </p:spPr>
        <p:txBody>
          <a:bodyPr wrap="none" lIns="9144" rIns="9144" tIns="9144" bIns="9144" anchor="t">
            <a:spAutoFit/>
          </a:bodyPr>
          <a:lstStyle/>
          <a:p>
            <a:pPr algn="l">
              <a:spcAft>
                <a:spcPts val="0"/>
              </a:spcAft>
              <a:defRPr sz="3400" b="1">
                <a:solidFill>
                  <a:srgbClr val="FFFFFF"/>
                </a:solidFill>
                <a:latin typeface="Inter"/>
              </a:defRPr>
            </a:pPr>
            <a:r>
              <a:rPr>
                <a:latin typeface="Inter"/>
              </a:rPr>
              <a:t>Northstar Attribution Comparison (TEST)</a:t>
            </a:r>
          </a:p>
        </p:txBody>
      </p:sp>
      <p:sp>
        <p:nvSpPr>
          <p:cNvPr id="7" name="TextBox 6"/>
          <p:cNvSpPr txBox="1"/>
          <p:nvPr/>
        </p:nvSpPr>
        <p:spPr>
          <a:xfrm>
            <a:off x="685800" y="3456432"/>
            <a:ext cx="9692640" cy="640080"/>
          </a:xfrm>
          <a:prstGeom prst="rect">
            <a:avLst/>
          </a:prstGeom>
          <a:noFill/>
        </p:spPr>
        <p:txBody>
          <a:bodyPr wrap="none" lIns="9144" rIns="9144" tIns="9144" bIns="9144" anchor="t">
            <a:spAutoFit/>
          </a:bodyPr>
          <a:lstStyle/>
          <a:p>
            <a:pPr algn="l">
              <a:spcAft>
                <a:spcPts val="0"/>
              </a:spcAft>
              <a:defRPr sz="1500" b="0">
                <a:solidFill>
                  <a:srgbClr val="9AA5B1"/>
                </a:solidFill>
                <a:latin typeface="Inter"/>
              </a:defRPr>
            </a:pPr>
            <a:r>
              <a:rPr>
                <a:latin typeface="Inter"/>
              </a:rPr>
              <a:t>Historical, ex ante and simulated lanes ? governed server comparison</a:t>
            </a:r>
          </a:p>
        </p:txBody>
      </p:sp>
      <p:sp>
        <p:nvSpPr>
          <p:cNvPr id="8" name="Rectangle 7"/>
          <p:cNvSpPr/>
          <p:nvPr/>
        </p:nvSpPr>
        <p:spPr>
          <a:xfrm>
            <a:off x="685800" y="4251960"/>
            <a:ext cx="1005840" cy="54864"/>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PORTFOLIO</a:t>
            </a:r>
          </a:p>
        </p:txBody>
      </p:sp>
      <p:sp>
        <p:nvSpPr>
          <p:cNvPr id="10" name="TextBox 9"/>
          <p:cNvSpPr txBox="1"/>
          <p:nvPr/>
        </p:nvSpPr>
        <p:spPr>
          <a:xfrm>
            <a:off x="68580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Northstar (TEST)</a:t>
            </a:r>
          </a:p>
        </p:txBody>
      </p:sp>
      <p:sp>
        <p:nvSpPr>
          <p:cNvPr id="11" name="TextBox 10"/>
          <p:cNvSpPr txBox="1"/>
          <p:nvPr/>
        </p:nvSpPr>
        <p:spPr>
          <a:xfrm>
            <a:off x="416052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MODE</a:t>
            </a:r>
          </a:p>
        </p:txBody>
      </p:sp>
      <p:sp>
        <p:nvSpPr>
          <p:cNvPr id="12" name="TextBox 11"/>
          <p:cNvSpPr txBox="1"/>
          <p:nvPr/>
        </p:nvSpPr>
        <p:spPr>
          <a:xfrm>
            <a:off x="416052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Three lane</a:t>
            </a:r>
          </a:p>
        </p:txBody>
      </p:sp>
      <p:sp>
        <p:nvSpPr>
          <p:cNvPr id="13" name="Rectangle 12"/>
          <p:cNvSpPr/>
          <p:nvPr/>
        </p:nvSpPr>
        <p:spPr>
          <a:xfrm>
            <a:off x="685800" y="5833872"/>
            <a:ext cx="3063240" cy="384048"/>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22960" y="5934456"/>
            <a:ext cx="2788920" cy="164592"/>
          </a:xfrm>
          <a:prstGeom prst="rect">
            <a:avLst/>
          </a:prstGeom>
          <a:noFill/>
        </p:spPr>
        <p:txBody>
          <a:bodyPr wrap="none" lIns="9144" rIns="9144" tIns="9144" bIns="9144" anchor="t">
            <a:spAutoFit/>
          </a:bodyPr>
          <a:lstStyle/>
          <a:p>
            <a:pPr algn="l">
              <a:spcAft>
                <a:spcPts val="0"/>
              </a:spcAft>
              <a:defRPr sz="800" b="1">
                <a:solidFill>
                  <a:srgbClr val="0D1117"/>
                </a:solidFill>
                <a:latin typeface="Inter"/>
              </a:defRPr>
            </a:pPr>
            <a:r>
              <a:rPr>
                <a:latin typeface="Inter"/>
              </a:rPr>
              <a:t>Three compatible lanes compared</a:t>
            </a:r>
          </a:p>
        </p:txBody>
      </p:sp>
      <p:sp>
        <p:nvSpPr>
          <p:cNvPr id="15" name="TextBox 14"/>
          <p:cNvSpPr txBox="1"/>
          <p:nvPr/>
        </p:nvSpPr>
        <p:spPr>
          <a:xfrm>
            <a:off x="3977639" y="5824728"/>
            <a:ext cx="3108960" cy="164592"/>
          </a:xfrm>
          <a:prstGeom prst="rect">
            <a:avLst/>
          </a:prstGeom>
          <a:noFill/>
        </p:spPr>
        <p:txBody>
          <a:bodyPr wrap="none" lIns="9144" rIns="9144" tIns="9144" bIns="9144" anchor="t">
            <a:spAutoFit/>
          </a:bodyPr>
          <a:lstStyle/>
          <a:p>
            <a:pPr algn="l">
              <a:spcAft>
                <a:spcPts val="0"/>
              </a:spcAft>
              <a:defRPr sz="650" b="1">
                <a:solidFill>
                  <a:srgbClr val="8A94A1"/>
                </a:solidFill>
                <a:latin typeface="Inter"/>
              </a:defRPr>
            </a:pPr>
            <a:r>
              <a:rPr>
                <a:latin typeface="Inter"/>
              </a:rPr>
              <a:t>EVIDENCE COMPLETENESS</a:t>
            </a:r>
          </a:p>
        </p:txBody>
      </p:sp>
      <p:sp>
        <p:nvSpPr>
          <p:cNvPr id="16" name="TextBox 15"/>
          <p:cNvSpPr txBox="1"/>
          <p:nvPr/>
        </p:nvSpPr>
        <p:spPr>
          <a:xfrm>
            <a:off x="3977639" y="5998464"/>
            <a:ext cx="3108960" cy="201168"/>
          </a:xfrm>
          <a:prstGeom prst="rect">
            <a:avLst/>
          </a:prstGeom>
          <a:noFill/>
        </p:spPr>
        <p:txBody>
          <a:bodyPr wrap="none" lIns="9144" rIns="9144" tIns="9144" bIns="9144" anchor="t">
            <a:spAutoFit/>
          </a:bodyPr>
          <a:lstStyle/>
          <a:p>
            <a:pPr algn="l">
              <a:spcAft>
                <a:spcPts val="0"/>
              </a:spcAft>
              <a:defRPr sz="800" b="1">
                <a:solidFill>
                  <a:srgbClr val="FFFFFF"/>
                </a:solidFill>
                <a:latin typeface="Inter"/>
              </a:defRPr>
            </a:pPr>
            <a:r>
              <a:rPr>
                <a:latin typeface="Inter"/>
              </a:rPr>
              <a:t>4 of 4 · Complete</a:t>
            </a:r>
          </a:p>
        </p:txBody>
      </p:sp>
      <p:sp>
        <p:nvSpPr>
          <p:cNvPr id="17" name="TextBox 16"/>
          <p:cNvSpPr txBox="1"/>
          <p:nvPr/>
        </p:nvSpPr>
        <p:spPr>
          <a:xfrm>
            <a:off x="685800" y="6473952"/>
            <a:ext cx="8046720" cy="182880"/>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prepared for internal investment use</a:t>
            </a:r>
          </a:p>
        </p:txBody>
      </p:sp>
      <p:sp>
        <p:nvSpPr>
          <p:cNvPr id="18" name="TextBox 17"/>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Rectangle 7"/>
          <p:cNvSpPr/>
          <p:nvPr/>
        </p:nvSpPr>
        <p:spPr>
          <a:xfrm>
            <a:off x="640080" y="1325880"/>
            <a:ext cx="10908792" cy="80056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80056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Bottom line</a:t>
            </a:r>
          </a:p>
        </p:txBody>
      </p:sp>
      <p:sp>
        <p:nvSpPr>
          <p:cNvPr id="11" name="TextBox 10"/>
          <p:cNvSpPr txBox="1"/>
          <p:nvPr/>
        </p:nvSpPr>
        <p:spPr>
          <a:xfrm>
            <a:off x="804671" y="1719072"/>
            <a:ext cx="10616184" cy="31593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Historical, ex ante, and simulated effects are compatible, and governed comparison metrics are available [S2][S3][S4][S5].</a:t>
            </a:r>
          </a:p>
        </p:txBody>
      </p:sp>
      <p:sp>
        <p:nvSpPr>
          <p:cNvPr id="12" name="Rectangle 11"/>
          <p:cNvSpPr/>
          <p:nvPr/>
        </p:nvSpPr>
        <p:spPr>
          <a:xfrm>
            <a:off x="640080" y="2236170"/>
            <a:ext cx="2644902" cy="12508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223617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749808" y="236418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HISTORICAL LANE</a:t>
            </a:r>
          </a:p>
        </p:txBody>
      </p:sp>
      <p:sp>
        <p:nvSpPr>
          <p:cNvPr id="15" name="TextBox 14"/>
          <p:cNvSpPr txBox="1"/>
          <p:nvPr/>
        </p:nvSpPr>
        <p:spPr>
          <a:xfrm>
            <a:off x="749808" y="2620218"/>
            <a:ext cx="2425446" cy="437807"/>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16" name="TextBox 15"/>
          <p:cNvSpPr txBox="1"/>
          <p:nvPr/>
        </p:nvSpPr>
        <p:spPr>
          <a:xfrm>
            <a:off x="749808" y="3157864"/>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Realized effects [S2]</a:t>
            </a:r>
          </a:p>
        </p:txBody>
      </p:sp>
      <p:sp>
        <p:nvSpPr>
          <p:cNvPr id="17" name="Rectangle 16"/>
          <p:cNvSpPr/>
          <p:nvPr/>
        </p:nvSpPr>
        <p:spPr>
          <a:xfrm>
            <a:off x="3394710" y="2236170"/>
            <a:ext cx="2644902" cy="12508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3394710" y="223617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3504438" y="236418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EX ANTE LANE</a:t>
            </a:r>
          </a:p>
        </p:txBody>
      </p:sp>
      <p:sp>
        <p:nvSpPr>
          <p:cNvPr id="20" name="TextBox 19"/>
          <p:cNvSpPr txBox="1"/>
          <p:nvPr/>
        </p:nvSpPr>
        <p:spPr>
          <a:xfrm>
            <a:off x="3504438" y="2620218"/>
            <a:ext cx="2425446" cy="437807"/>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21" name="TextBox 20"/>
          <p:cNvSpPr txBox="1"/>
          <p:nvPr/>
        </p:nvSpPr>
        <p:spPr>
          <a:xfrm>
            <a:off x="3504438" y="3157864"/>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Expected effects [S3]</a:t>
            </a:r>
          </a:p>
        </p:txBody>
      </p:sp>
      <p:sp>
        <p:nvSpPr>
          <p:cNvPr id="22" name="Rectangle 21"/>
          <p:cNvSpPr/>
          <p:nvPr/>
        </p:nvSpPr>
        <p:spPr>
          <a:xfrm>
            <a:off x="6149340" y="2236170"/>
            <a:ext cx="2644902" cy="12508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3" name="Rectangle 22"/>
          <p:cNvSpPr/>
          <p:nvPr/>
        </p:nvSpPr>
        <p:spPr>
          <a:xfrm>
            <a:off x="6149340" y="223617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4" name="TextBox 23"/>
          <p:cNvSpPr txBox="1"/>
          <p:nvPr/>
        </p:nvSpPr>
        <p:spPr>
          <a:xfrm>
            <a:off x="6259068" y="236418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SIMULATED LANE</a:t>
            </a:r>
          </a:p>
        </p:txBody>
      </p:sp>
      <p:sp>
        <p:nvSpPr>
          <p:cNvPr id="25" name="TextBox 24"/>
          <p:cNvSpPr txBox="1"/>
          <p:nvPr/>
        </p:nvSpPr>
        <p:spPr>
          <a:xfrm>
            <a:off x="6259068" y="2620218"/>
            <a:ext cx="2425446" cy="437807"/>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26" name="TextBox 25"/>
          <p:cNvSpPr txBox="1"/>
          <p:nvPr/>
        </p:nvSpPr>
        <p:spPr>
          <a:xfrm>
            <a:off x="6259068" y="3157864"/>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Governed scenario [S4]</a:t>
            </a:r>
          </a:p>
        </p:txBody>
      </p:sp>
      <p:sp>
        <p:nvSpPr>
          <p:cNvPr id="27" name="Rectangle 26"/>
          <p:cNvSpPr/>
          <p:nvPr/>
        </p:nvSpPr>
        <p:spPr>
          <a:xfrm>
            <a:off x="8903970" y="2236170"/>
            <a:ext cx="2644902" cy="12508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8" name="Rectangle 27"/>
          <p:cNvSpPr/>
          <p:nvPr/>
        </p:nvSpPr>
        <p:spPr>
          <a:xfrm>
            <a:off x="8903970" y="223617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9" name="TextBox 28"/>
          <p:cNvSpPr txBox="1"/>
          <p:nvPr/>
        </p:nvSpPr>
        <p:spPr>
          <a:xfrm>
            <a:off x="9013698" y="236418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COMPARISON COVERAGE</a:t>
            </a:r>
          </a:p>
        </p:txBody>
      </p:sp>
      <p:sp>
        <p:nvSpPr>
          <p:cNvPr id="30" name="TextBox 29"/>
          <p:cNvSpPr txBox="1"/>
          <p:nvPr/>
        </p:nvSpPr>
        <p:spPr>
          <a:xfrm>
            <a:off x="9013698" y="2620218"/>
            <a:ext cx="2425446" cy="437807"/>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Complete</a:t>
            </a:r>
          </a:p>
        </p:txBody>
      </p:sp>
      <p:sp>
        <p:nvSpPr>
          <p:cNvPr id="31" name="TextBox 30"/>
          <p:cNvSpPr txBox="1"/>
          <p:nvPr/>
        </p:nvSpPr>
        <p:spPr>
          <a:xfrm>
            <a:off x="9013698" y="3157864"/>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Server comparison [S5]</a:t>
            </a:r>
          </a:p>
        </p:txBody>
      </p:sp>
      <p:sp>
        <p:nvSpPr>
          <p:cNvPr id="32" name="Rectangle 31"/>
          <p:cNvSpPr/>
          <p:nvPr/>
        </p:nvSpPr>
        <p:spPr>
          <a:xfrm>
            <a:off x="640080" y="3596776"/>
            <a:ext cx="10908792" cy="80056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3" name="Rectangle 32"/>
          <p:cNvSpPr/>
          <p:nvPr/>
        </p:nvSpPr>
        <p:spPr>
          <a:xfrm>
            <a:off x="640080" y="3596776"/>
            <a:ext cx="54864" cy="80056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4" name="TextBox 33"/>
          <p:cNvSpPr txBox="1"/>
          <p:nvPr/>
        </p:nvSpPr>
        <p:spPr>
          <a:xfrm>
            <a:off x="804671" y="3706504"/>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Historical</a:t>
            </a:r>
          </a:p>
        </p:txBody>
      </p:sp>
      <p:sp>
        <p:nvSpPr>
          <p:cNvPr id="35" name="TextBox 34"/>
          <p:cNvSpPr txBox="1"/>
          <p:nvPr/>
        </p:nvSpPr>
        <p:spPr>
          <a:xfrm>
            <a:off x="804671" y="3989968"/>
            <a:ext cx="10616184" cy="31593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Historical effects are returned [S2]. Why it matters: Realized sources can be described. Uncertainty: One period may not persist. What would change the view: A later governed period.</a:t>
            </a:r>
          </a:p>
        </p:txBody>
      </p:sp>
      <p:sp>
        <p:nvSpPr>
          <p:cNvPr id="36" name="Rectangle 35"/>
          <p:cNvSpPr/>
          <p:nvPr/>
        </p:nvSpPr>
        <p:spPr>
          <a:xfrm>
            <a:off x="640080" y="4507067"/>
            <a:ext cx="10908792" cy="80056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7" name="Rectangle 36"/>
          <p:cNvSpPr/>
          <p:nvPr/>
        </p:nvSpPr>
        <p:spPr>
          <a:xfrm>
            <a:off x="640080" y="4507067"/>
            <a:ext cx="54864" cy="80056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8" name="TextBox 37"/>
          <p:cNvSpPr txBox="1"/>
          <p:nvPr/>
        </p:nvSpPr>
        <p:spPr>
          <a:xfrm>
            <a:off x="804671" y="461679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Ex ante</a:t>
            </a:r>
          </a:p>
        </p:txBody>
      </p:sp>
      <p:sp>
        <p:nvSpPr>
          <p:cNvPr id="39" name="TextBox 38"/>
          <p:cNvSpPr txBox="1"/>
          <p:nvPr/>
        </p:nvSpPr>
        <p:spPr>
          <a:xfrm>
            <a:off x="804671" y="4900259"/>
            <a:ext cx="10616184" cy="31593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Ex ante effects are returned [S3]. Why it matters: Expected sources can be described. Uncertainty: Inputs are assumptions. What would change the view: Refreshed governed inputs.</a:t>
            </a:r>
          </a:p>
        </p:txBody>
      </p:sp>
      <p:sp>
        <p:nvSpPr>
          <p:cNvPr id="40" name="Rectangle 39"/>
          <p:cNvSpPr/>
          <p:nvPr/>
        </p:nvSpPr>
        <p:spPr>
          <a:xfrm>
            <a:off x="640080" y="5417357"/>
            <a:ext cx="10908792" cy="80056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1" name="Rectangle 40"/>
          <p:cNvSpPr/>
          <p:nvPr/>
        </p:nvSpPr>
        <p:spPr>
          <a:xfrm>
            <a:off x="640080" y="5417357"/>
            <a:ext cx="54864" cy="80056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2" name="TextBox 41"/>
          <p:cNvSpPr txBox="1"/>
          <p:nvPr/>
        </p:nvSpPr>
        <p:spPr>
          <a:xfrm>
            <a:off x="804671" y="552708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Comparison</a:t>
            </a:r>
          </a:p>
        </p:txBody>
      </p:sp>
      <p:sp>
        <p:nvSpPr>
          <p:cNvPr id="43" name="TextBox 42"/>
          <p:cNvSpPr txBox="1"/>
          <p:nvPr/>
        </p:nvSpPr>
        <p:spPr>
          <a:xfrm>
            <a:off x="804671" y="5810549"/>
            <a:ext cx="10616184" cy="31593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Comparison capability is unavailable [S1]. Why it matters: Persistence cannot be assessed. Uncertainty: A future tool may return metrics. What would change the view: Published capability.</a:t>
            </a:r>
          </a:p>
        </p:txBody>
      </p:sp>
      <p:sp>
        <p:nvSpPr>
          <p:cNvPr id="44" name="Rectangle 4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5" name="TextBox 4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 · S4 · S5</a:t>
            </a:r>
          </a:p>
        </p:txBody>
      </p:sp>
      <p:sp>
        <p:nvSpPr>
          <p:cNvPr id="46" name="TextBox 4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47" name="TextBox 4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PORTFOLIO, BENCHMARK, COHORT AND CURRENCY IDENTIFIERS MATCH</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Scope and Compatibility</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graphicFrame>
        <p:nvGraphicFramePr>
          <p:cNvPr id="8" name="Table 7"/>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4448556"/>
                <a:gridCol w="4448556"/>
              </a:tblGrid>
              <a:tr h="2446020">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2446020">
                <a:tc>
                  <a:txBody>
                    <a:bodyPr/>
                    <a:lstStyle/>
                    <a:p>
                      <a:pPr>
                        <a:defRPr sz="800" b="1">
                          <a:solidFill>
                            <a:srgbClr val="0D1117"/>
                          </a:solidFill>
                          <a:latin typeface="Inter"/>
                        </a:defRPr>
                      </a:pPr>
                      <a:r>
                        <a:rPr>
                          <a:latin typeface="Inter"/>
                        </a:rPr>
                        <a:t>Compatibility gate</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Four identifiers match [S2][S3]</a:t>
                      </a:r>
                    </a:p>
                  </a:txBody>
                  <a:tcPr marL="54864" marR="54864" marT="27432" marB="27432" anchor="ctr">
                    <a:solidFill>
                      <a:srgbClr val="FFFFFF"/>
                    </a:solidFill>
                  </a:tcPr>
                </a:tc>
              </a:tr>
            </a:tbl>
          </a:graphicData>
        </a:graphic>
      </p:graphicFrame>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EFFECTS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Selection leads detractors</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selection is negative [S2]. Why it matters: Selection leads realized detractors. Uncertainty: The evidence covers one linked period. What would change the view: A later historical…</a:t>
            </a:r>
          </a:p>
        </p:txBody>
      </p:sp>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 ANTE EFFECTS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Allocation leads expectations</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allocation is positive [S3]. Why it matters: Allocation leads expected effects. Uncertainty: Inputs are assumptions. What would change the view: A refreshed ex ante result.</a:t>
            </a:r>
          </a:p>
        </p:txBody>
      </p:sp>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SIMULATION RETURNS SCENARIO EFFECTS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Simulated Attribution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SIMULATED EFFECTS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SIMULATION RETURNS SCENARIO EFFECTS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Simulated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graphicFrame>
        <p:nvGraphicFramePr>
          <p:cNvPr id="8" name="Table 7"/>
          <p:cNvGraphicFramePr>
            <a:graphicFrameLocks noGrp="1"/>
          </p:cNvGraphicFramePr>
          <p:nvPr/>
        </p:nvGraphicFramePr>
        <p:xfrm>
          <a:off x="640080" y="1325880"/>
          <a:ext cx="10908792" cy="3672774"/>
        </p:xfrm>
        <a:graphic>
          <a:graphicData uri="http://schemas.openxmlformats.org/drawingml/2006/table">
            <a:tbl>
              <a:tblPr firstRow="1" bandRow="1">
                <a:tableStyleId>{5C22544A-7EE6-4342-B048-85BDC9FD1C3A}</a:tableStyleId>
              </a:tblPr>
              <a:tblGrid>
                <a:gridCol w="2011680"/>
                <a:gridCol w="4448556"/>
                <a:gridCol w="4448556"/>
              </a:tblGrid>
              <a:tr h="734554">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734554">
                <a:tc>
                  <a:txBody>
                    <a:bodyPr/>
                    <a:lstStyle/>
                    <a:p>
                      <a:pPr>
                        <a:defRPr sz="800" b="1">
                          <a:solidFill>
                            <a:srgbClr val="0D1117"/>
                          </a:solidFill>
                          <a:latin typeface="Inter"/>
                        </a:defRPr>
                      </a:pPr>
                      <a:r>
                        <a:rPr>
                          <a:latin typeface="Inter"/>
                        </a:rPr>
                        <a:t>Capability</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Capability-gated before invocation [S1]</a:t>
                      </a:r>
                    </a:p>
                  </a:txBody>
                  <a:tcPr marL="54864" marR="54864" marT="27432" marB="27432" anchor="ctr">
                    <a:solidFill>
                      <a:srgbClr val="FFFFFF"/>
                    </a:solidFill>
                  </a:tcPr>
                </a:tc>
              </a:tr>
              <a:tr h="734554">
                <a:tc>
                  <a:txBody>
                    <a:bodyPr/>
                    <a:lstStyle/>
                    <a:p>
                      <a:pPr>
                        <a:defRPr sz="800" b="1">
                          <a:solidFill>
                            <a:srgbClr val="0D1117"/>
                          </a:solidFill>
                          <a:latin typeface="Inter"/>
                        </a:defRPr>
                      </a:pPr>
                      <a:r>
                        <a:rPr>
                          <a:latin typeface="Inter"/>
                        </a:rPr>
                        <a:t>Invocation</a:t>
                      </a:r>
                    </a:p>
                  </a:txBody>
                  <a:tcPr marL="54864" marR="54864" marT="27432" marB="27432" anchor="ctr">
                    <a:solidFill>
                      <a:srgbClr val="F5F7F9"/>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Called only after exact availability [S1][S4]</a:t>
                      </a:r>
                    </a:p>
                  </a:txBody>
                  <a:tcPr marL="54864" marR="54864" marT="27432" marB="27432" anchor="ctr">
                    <a:solidFill>
                      <a:srgbClr val="F5F7F9"/>
                    </a:solidFill>
                  </a:tcPr>
                </a:tc>
              </a:tr>
              <a:tr h="734554">
                <a:tc>
                  <a:txBody>
                    <a:bodyPr/>
                    <a:lstStyle/>
                    <a:p>
                      <a:pPr>
                        <a:defRPr sz="800" b="1">
                          <a:solidFill>
                            <a:srgbClr val="0D1117"/>
                          </a:solidFill>
                          <a:latin typeface="Inter"/>
                        </a:defRPr>
                      </a:pPr>
                      <a:r>
                        <a:rPr>
                          <a:latin typeface="Inter"/>
                        </a:rPr>
                        <a:t>Lane identity</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Portfolio, cohort, currency and basis preserved [S4]</a:t>
                      </a:r>
                    </a:p>
                  </a:txBody>
                  <a:tcPr marL="54864" marR="54864" marT="27432" marB="27432" anchor="ctr">
                    <a:solidFill>
                      <a:srgbClr val="FFFFFF"/>
                    </a:solidFill>
                  </a:tcPr>
                </a:tc>
              </a:tr>
              <a:tr h="734558">
                <a:tc>
                  <a:txBody>
                    <a:bodyPr/>
                    <a:lstStyle/>
                    <a:p>
                      <a:pPr>
                        <a:defRPr sz="800" b="1">
                          <a:solidFill>
                            <a:srgbClr val="0D1117"/>
                          </a:solidFill>
                          <a:latin typeface="Inter"/>
                        </a:defRPr>
                      </a:pPr>
                      <a:r>
                        <a:rPr>
                          <a:latin typeface="Inter"/>
                        </a:rPr>
                        <a:t>Uncertainty</a:t>
                      </a:r>
                    </a:p>
                  </a:txBody>
                  <a:tcPr marL="54864" marR="54864" marT="27432" marB="27432" anchor="ctr">
                    <a:solidFill>
                      <a:srgbClr val="F5F7F9"/>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Returned simulation method retained [S4]</a:t>
                      </a:r>
                    </a:p>
                  </a:txBody>
                  <a:tcPr marL="54864" marR="54864" marT="27432" marB="27432" anchor="ctr">
                    <a:solidFill>
                      <a:srgbClr val="F5F7F9"/>
                    </a:solidFill>
                  </a:tcPr>
                </a:tc>
              </a:tr>
            </a:tbl>
          </a:graphicData>
        </a:graphic>
      </p:graphicFrame>
      <p:sp>
        <p:nvSpPr>
          <p:cNvPr id="9" name="Rectangle 8"/>
          <p:cNvSpPr/>
          <p:nvPr/>
        </p:nvSpPr>
        <p:spPr>
          <a:xfrm>
            <a:off x="640080" y="5108382"/>
            <a:ext cx="10908792" cy="110953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5108382"/>
            <a:ext cx="54864" cy="1109537"/>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5218110"/>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Scenario effects returned</a:t>
            </a:r>
          </a:p>
        </p:txBody>
      </p:sp>
      <p:sp>
        <p:nvSpPr>
          <p:cNvPr id="12" name="TextBox 11"/>
          <p:cNvSpPr txBox="1"/>
          <p:nvPr/>
        </p:nvSpPr>
        <p:spPr>
          <a:xfrm>
            <a:off x="804671" y="5501574"/>
            <a:ext cx="10616184" cy="62490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Simulated allocation is positive [S4]. Why it matters: Scenario attribution is available. Uncertainty: Results depend on governed scenario inputs. What would change the view: A revised simulation…</a:t>
            </a:r>
          </a:p>
        </p:txBody>
      </p:sp>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S4</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LANE COMPARISON</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none cited</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Lanes differ in sign</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lane signs differ [S5]. Why it matters: Realized and expected sources are not interchangeable. Uncertainty: Each lane uses a distinct governed basis. What would change the…</a:t>
            </a:r>
          </a:p>
        </p:txBody>
      </p:sp>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S5</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LIVE LANES AND TWO CAPABILITY GAPS DEFINE COVERAGE</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Coverage and Limitations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07</a:t>
            </a:r>
          </a:p>
        </p:txBody>
      </p:sp>
      <p:graphicFrame>
        <p:nvGraphicFramePr>
          <p:cNvPr id="8" name="Table 7"/>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4448556"/>
                <a:gridCol w="4448556"/>
              </a:tblGrid>
              <a:tr h="1223010">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223010">
                <a:tc>
                  <a:txBody>
                    <a:bodyPr/>
                    <a:lstStyle/>
                    <a:p>
                      <a:pPr>
                        <a:defRPr sz="80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[S2]</a:t>
                      </a:r>
                    </a:p>
                  </a:txBody>
                  <a:tcPr marL="54864" marR="54864" marT="27432" marB="27432" anchor="ctr">
                    <a:solidFill>
                      <a:srgbClr val="FFFFFF"/>
                    </a:solidFill>
                  </a:tcPr>
                </a:tc>
              </a:tr>
              <a:tr h="1223010">
                <a:tc>
                  <a:txBody>
                    <a:bodyPr/>
                    <a:lstStyle/>
                    <a:p>
                      <a:pPr>
                        <a:defRPr sz="800" b="1">
                          <a:solidFill>
                            <a:srgbClr val="0D1117"/>
                          </a:solidFill>
                          <a:latin typeface="Inter"/>
                        </a:defRPr>
                      </a:pPr>
                      <a:r>
                        <a:rPr>
                          <a:latin typeface="Inter"/>
                        </a:rPr>
                        <a:t>Ex ante</a:t>
                      </a:r>
                    </a:p>
                  </a:txBody>
                  <a:tcPr marL="54864" marR="54864" marT="27432" marB="27432" anchor="ctr">
                    <a:solidFill>
                      <a:srgbClr val="F5F7F9"/>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[S3]</a:t>
                      </a:r>
                    </a:p>
                  </a:txBody>
                  <a:tcPr marL="54864" marR="54864" marT="27432" marB="27432" anchor="ctr">
                    <a:solidFill>
                      <a:srgbClr val="F5F7F9"/>
                    </a:solidFill>
                  </a:tcPr>
                </a:tc>
              </a:tr>
              <a:tr h="1223010">
                <a:tc>
                  <a:txBody>
                    <a:bodyPr/>
                    <a:lstStyle/>
                    <a:p>
                      <a:pPr>
                        <a:defRPr sz="800" b="1">
                          <a:solidFill>
                            <a:srgbClr val="0D1117"/>
                          </a:solidFill>
                          <a:latin typeface="Inter"/>
                        </a:defRPr>
                      </a:pPr>
                      <a:r>
                        <a:rPr>
                          <a:latin typeface="Inter"/>
                        </a:rPr>
                        <a:t>Planned tools</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Capability-gated results [S4][S5]</a:t>
                      </a:r>
                    </a:p>
                  </a:txBody>
                  <a:tcPr marL="54864" marR="54864" marT="27432" marB="27432" anchor="ctr">
                    <a:solidFill>
                      <a:srgbClr val="FFFFFF"/>
                    </a:solidFill>
                  </a:tcPr>
                </a:tc>
              </a:tr>
            </a:tbl>
          </a:graphicData>
        </a:graphic>
      </p:graphicFrame>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 · S4 · S5</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A — Sources and Methods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08</a:t>
            </a:r>
          </a:p>
        </p:txBody>
      </p:sp>
      <p:graphicFrame>
        <p:nvGraphicFramePr>
          <p:cNvPr id="8" name="Table 7"/>
          <p:cNvGraphicFramePr>
            <a:graphicFrameLocks noGrp="1"/>
          </p:cNvGraphicFramePr>
          <p:nvPr/>
        </p:nvGraphicFramePr>
        <p:xfrm>
          <a:off x="640080" y="1325880"/>
          <a:ext cx="10908792" cy="2207965"/>
        </p:xfrm>
        <a:graphic>
          <a:graphicData uri="http://schemas.openxmlformats.org/drawingml/2006/table">
            <a:tbl>
              <a:tblPr firstRow="1" bandRow="1">
                <a:tableStyleId>{5C22544A-7EE6-4342-B048-85BDC9FD1C3A}</a:tableStyleId>
              </a:tblPr>
              <a:tblGrid>
                <a:gridCol w="2011680"/>
                <a:gridCol w="4448556"/>
                <a:gridCol w="4448556"/>
              </a:tblGrid>
              <a:tr h="367994">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Evidence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a:t>
                      </a:r>
                    </a:p>
                  </a:txBody>
                  <a:tcPr marL="54864" marR="54864" marT="27432" marB="27432" anchor="ctr">
                    <a:solidFill>
                      <a:srgbClr val="0D1117"/>
                    </a:solidFill>
                  </a:tcPr>
                </a:tc>
              </a:tr>
              <a:tr h="367994">
                <a:tc>
                  <a:txBody>
                    <a:bodyPr/>
                    <a:lstStyle/>
                    <a:p>
                      <a:pPr>
                        <a:defRPr sz="80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Capability gate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get_gradient_capabilities</a:t>
                      </a:r>
                    </a:p>
                  </a:txBody>
                  <a:tcPr marL="54864" marR="54864" marT="27432" marB="27432" anchor="ctr">
                    <a:solidFill>
                      <a:srgbClr val="FFFFFF"/>
                    </a:solidFill>
                  </a:tcPr>
                </a:tc>
              </a:tr>
              <a:tr h="367994">
                <a:tc>
                  <a:txBody>
                    <a:bodyPr/>
                    <a:lstStyle/>
                    <a:p>
                      <a:pPr>
                        <a:defRPr sz="800" b="1">
                          <a:solidFill>
                            <a:srgbClr val="0D1117"/>
                          </a:solidFill>
                          <a:latin typeface="Inter"/>
                        </a:defRPr>
                      </a:pPr>
                      <a:r>
                        <a:rPr>
                          <a:latin typeface="Inter"/>
                        </a:rPr>
                        <a:t>S2</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Historical attribution</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get_portfolio_attribution</a:t>
                      </a:r>
                    </a:p>
                  </a:txBody>
                  <a:tcPr marL="54864" marR="54864" marT="27432" marB="27432" anchor="ctr">
                    <a:solidFill>
                      <a:srgbClr val="F5F7F9"/>
                    </a:solidFill>
                  </a:tcPr>
                </a:tc>
              </a:tr>
              <a:tr h="367994">
                <a:tc>
                  <a:txBody>
                    <a:bodyPr/>
                    <a:lstStyle/>
                    <a:p>
                      <a:pPr>
                        <a:defRPr sz="800" b="1">
                          <a:solidFill>
                            <a:srgbClr val="0D1117"/>
                          </a:solidFill>
                          <a:latin typeface="Inter"/>
                        </a:defRPr>
                      </a:pPr>
                      <a:r>
                        <a:rPr>
                          <a:latin typeface="Inter"/>
                        </a:rPr>
                        <a:t>S3</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Ex ante attribution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get_portfolio_ex_ante_attribution</a:t>
                      </a:r>
                    </a:p>
                  </a:txBody>
                  <a:tcPr marL="54864" marR="54864" marT="27432" marB="27432" anchor="ctr">
                    <a:solidFill>
                      <a:srgbClr val="FFFFFF"/>
                    </a:solidFill>
                  </a:tcPr>
                </a:tc>
              </a:tr>
              <a:tr h="367994">
                <a:tc>
                  <a:txBody>
                    <a:bodyPr/>
                    <a:lstStyle/>
                    <a:p>
                      <a:pPr>
                        <a:defRPr sz="800" b="1">
                          <a:solidFill>
                            <a:srgbClr val="0D1117"/>
                          </a:solidFill>
                          <a:latin typeface="Inter"/>
                        </a:defRPr>
                      </a:pPr>
                      <a:r>
                        <a:rPr>
                          <a:latin typeface="Inter"/>
                        </a:rPr>
                        <a:t>S4</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Simulated attribution</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simulate_portfolio_attribution</a:t>
                      </a:r>
                    </a:p>
                  </a:txBody>
                  <a:tcPr marL="54864" marR="54864" marT="27432" marB="27432" anchor="ctr">
                    <a:solidFill>
                      <a:srgbClr val="F5F7F9"/>
                    </a:solidFill>
                  </a:tcPr>
                </a:tc>
              </a:tr>
              <a:tr h="367995">
                <a:tc>
                  <a:txBody>
                    <a:bodyPr/>
                    <a:lstStyle/>
                    <a:p>
                      <a:pPr>
                        <a:defRPr sz="800" b="1">
                          <a:solidFill>
                            <a:srgbClr val="0D1117"/>
                          </a:solidFill>
                          <a:latin typeface="Inter"/>
                        </a:defRPr>
                      </a:pPr>
                      <a:r>
                        <a:rPr>
                          <a:latin typeface="Inter"/>
                        </a:rPr>
                        <a:t>S5</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Cross-lane comparison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compare_portfolio_attribution</a:t>
                      </a:r>
                    </a:p>
                  </a:txBody>
                  <a:tcPr marL="54864" marR="54864" marT="27432" marB="27432" anchor="ctr">
                    <a:solidFill>
                      <a:srgbClr val="FFFFFF"/>
                    </a:solidFill>
                  </a:tcPr>
                </a:tc>
              </a:tr>
            </a:tbl>
          </a:graphicData>
        </a:graphic>
      </p:graphicFrame>
      <p:sp>
        <p:nvSpPr>
          <p:cNvPr id="9" name="Rectangle 8"/>
          <p:cNvSpPr/>
          <p:nvPr/>
        </p:nvSpPr>
        <p:spPr>
          <a:xfrm>
            <a:off x="640080" y="3643573"/>
            <a:ext cx="10908792" cy="1230421"/>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3643573"/>
            <a:ext cx="54864" cy="1230421"/>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375330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Method boundary</a:t>
            </a:r>
          </a:p>
        </p:txBody>
      </p:sp>
      <p:sp>
        <p:nvSpPr>
          <p:cNvPr id="12" name="TextBox 11"/>
          <p:cNvSpPr txBox="1"/>
          <p:nvPr/>
        </p:nvSpPr>
        <p:spPr>
          <a:xfrm>
            <a:off x="804671" y="4036765"/>
            <a:ext cx="10616184" cy="745789"/>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Each lane remains on its returned method, period or horizon, benchmark role, parent cohort and calculation currency. Historical evidence is realized, ex ante evidence is expected, and simulated evidence is scenario-based. Values are displayed without local reconciliation, attribution arithmetic or substitutions [S1][S2][S3].</a:t>
            </a:r>
          </a:p>
        </p:txBody>
      </p:sp>
      <p:sp>
        <p:nvSpPr>
          <p:cNvPr id="13" name="Rectangle 12"/>
          <p:cNvSpPr/>
          <p:nvPr/>
        </p:nvSpPr>
        <p:spPr>
          <a:xfrm>
            <a:off x="640080" y="4983723"/>
            <a:ext cx="10908792" cy="123419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4983723"/>
            <a:ext cx="54864" cy="1234196"/>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509345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Comparison boundary</a:t>
            </a:r>
          </a:p>
        </p:txBody>
      </p:sp>
      <p:sp>
        <p:nvSpPr>
          <p:cNvPr id="16" name="TextBox 15"/>
          <p:cNvSpPr txBox="1"/>
          <p:nvPr/>
        </p:nvSpPr>
        <p:spPr>
          <a:xfrm>
            <a:off x="804671" y="5376915"/>
            <a:ext cx="10616184" cy="74956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Cross-lane differences, concentration, overlap, reconciliation and persistence are reported only when the governed comparison capability returns them. Capability absence is an evidence limitation, not a zero value or a failed lane. Request IDs, diagnostics, residuals and coverage remain attached to their source payloads [S1].</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 · S4 · S5</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2026-06-30</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13</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Attribution Comparison (TEST)</dc:title>
  <dc:subject>Attribution Comparison</dc:subject>
  <dc:creator>GradientCIO</dc:creator>
  <cp:keywords>Gradient report theme 2.1.0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