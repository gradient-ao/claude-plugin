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 id="266" ns1:id="rId17"/>
    <ns0:sldId id="267" ns1:id="rId18"/>
    <ns0:sldId id="268" ns1:id="rId19"/>
    <ns0:sldId id="269" ns1:id="rId20"/>
    <ns0:sldId id="270" ns1:id="rId21"/>
    <ns0:sldId id="271" ns1:id="rId22"/>
    <ns0:sldId id="272" ns1:id="rId23"/>
    <ns0:sldId id="273" ns1:id="rId24"/>
    <ns0:sldId id="274" ns1:id="rId25"/>
    <ns0:sldId id="275" ns1:id="rId26"/>
    <ns0:sldId id="276" ns1:id="rId27"/>
    <ns0:sldId id="277" ns1:id="rId28"/>
    <ns0:sldId id="278" ns1:id="rId29"/>
    <ns0:sldId id="279" ns1:id="rId30"/>
    <ns0:sldId id="280" ns1:id="rId31"/>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Base</c:v>
                </c:pt>
              </c:strCache>
            </c:strRef>
          </c:tx>
          <c:spPr>
            <a:noFill/>
            <a:ln>
              <a:noFill/>
            </a:ln>
          </c:spPr>
          <c:cat>
            <c:strRef>
              <c:f>Sheet1!$A$2:$A$5</c:f>
              <c:strCache>
                <c:ptCount val="4"/>
                <c:pt idx="0">
                  <c:v>Allocation</c:v>
                </c:pt>
                <c:pt idx="1">
                  <c:v>Selection</c:v>
                </c:pt>
                <c:pt idx="2">
                  <c:v>Interaction</c:v>
                </c:pt>
                <c:pt idx="3">
                  <c:v>Total</c:v>
                </c:pt>
              </c:strCache>
            </c:strRef>
          </c:cat>
          <c:val>
            <c:numRef>
              <c:f>Sheet1!$B$2:$B$5</c:f>
              <c:numCache>
                <c:formatCode>General</c:formatCode>
                <c:ptCount val="4"/>
                <c:pt idx="0">
                  <c:v>0.0</c:v>
                </c:pt>
                <c:pt idx="1">
                  <c:v>0.0</c:v>
                </c:pt>
                <c:pt idx="2">
                  <c:v>0.0</c:v>
                </c:pt>
                <c:pt idx="3">
                  <c:v>0.0</c:v>
                </c:pt>
              </c:numCache>
            </c:numRef>
          </c:val>
        </c:ser>
        <c:ser>
          <c:idx val="1"/>
          <c:order val="1"/>
          <c:tx>
            <c:strRef>
              <c:f>Sheet1!$C$1</c:f>
              <c:strCache>
                <c:ptCount val="1"/>
                <c:pt idx="0">
                  <c:v>Increase</c:v>
                </c:pt>
              </c:strCache>
            </c:strRef>
          </c:tx>
          <c:spPr>
            <a:solidFill>
              <a:srgbClr val="C6F432"/>
            </a:solidFill>
          </c:spPr>
          <c:cat>
            <c:strRef>
              <c:f>Sheet1!$A$2:$A$5</c:f>
              <c:strCache>
                <c:ptCount val="4"/>
                <c:pt idx="0">
                  <c:v>Allocation</c:v>
                </c:pt>
                <c:pt idx="1">
                  <c:v>Selection</c:v>
                </c:pt>
                <c:pt idx="2">
                  <c:v>Interaction</c:v>
                </c:pt>
                <c:pt idx="3">
                  <c:v>Total</c:v>
                </c:pt>
              </c:strCache>
            </c:strRef>
          </c:cat>
          <c:val>
            <c:numRef>
              <c:f>Sheet1!$C$2:$C$5</c:f>
              <c:numCache>
                <c:formatCode>General</c:formatCode>
                <c:ptCount val="4"/>
                <c:pt idx="0">
                  <c:v>0.2</c:v>
                </c:pt>
                <c:pt idx="1">
                  <c:v>0.0</c:v>
                </c:pt>
                <c:pt idx="2">
                  <c:v>0.0</c:v>
                </c:pt>
                <c:pt idx="3">
                  <c:v>0.0</c:v>
                </c:pt>
              </c:numCache>
            </c:numRef>
          </c:val>
        </c:ser>
        <c:ser>
          <c:idx val="2"/>
          <c:order val="2"/>
          <c:tx>
            <c:strRef>
              <c:f>Sheet1!$D$1</c:f>
              <c:strCache>
                <c:ptCount val="1"/>
                <c:pt idx="0">
                  <c:v>Decrease</c:v>
                </c:pt>
              </c:strCache>
            </c:strRef>
          </c:tx>
          <c:spPr>
            <a:solidFill>
              <a:srgbClr val="FF6B5E"/>
            </a:solidFill>
          </c:spPr>
          <c:cat>
            <c:strRef>
              <c:f>Sheet1!$A$2:$A$5</c:f>
              <c:strCache>
                <c:ptCount val="4"/>
                <c:pt idx="0">
                  <c:v>Allocation</c:v>
                </c:pt>
                <c:pt idx="1">
                  <c:v>Selection</c:v>
                </c:pt>
                <c:pt idx="2">
                  <c:v>Interaction</c:v>
                </c:pt>
                <c:pt idx="3">
                  <c:v>Total</c:v>
                </c:pt>
              </c:strCache>
            </c:strRef>
          </c:cat>
          <c:val>
            <c:numRef>
              <c:f>Sheet1!$D$2:$D$5</c:f>
              <c:numCache>
                <c:formatCode>General</c:formatCode>
                <c:ptCount val="4"/>
                <c:pt idx="0">
                  <c:v>0.0</c:v>
                </c:pt>
                <c:pt idx="1">
                  <c:v>0.8</c:v>
                </c:pt>
                <c:pt idx="2">
                  <c:v>0.0</c:v>
                </c:pt>
                <c:pt idx="3">
                  <c:v>0.6</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Base</c:v>
                </c:pt>
              </c:strCache>
            </c:strRef>
          </c:tx>
          <c:spPr>
            <a:noFill/>
            <a:ln>
              <a:noFill/>
            </a:ln>
          </c:spPr>
          <c:cat>
            <c:strRef>
              <c:f>Sheet1!$A$2:$A$5</c:f>
              <c:strCache>
                <c:ptCount val="4"/>
                <c:pt idx="0">
                  <c:v>Allocation</c:v>
                </c:pt>
                <c:pt idx="1">
                  <c:v>Selection</c:v>
                </c:pt>
                <c:pt idx="2">
                  <c:v>Interaction</c:v>
                </c:pt>
                <c:pt idx="3">
                  <c:v>Total</c:v>
                </c:pt>
              </c:strCache>
            </c:strRef>
          </c:cat>
          <c:val>
            <c:numRef>
              <c:f>Sheet1!$B$2:$B$5</c:f>
              <c:numCache>
                <c:formatCode>General</c:formatCode>
                <c:ptCount val="4"/>
                <c:pt idx="0">
                  <c:v>0.0</c:v>
                </c:pt>
                <c:pt idx="1">
                  <c:v>0.30000000000000004</c:v>
                </c:pt>
                <c:pt idx="2">
                  <c:v>0.30000000000000004</c:v>
                </c:pt>
                <c:pt idx="3">
                  <c:v>0.0</c:v>
                </c:pt>
              </c:numCache>
            </c:numRef>
          </c:val>
        </c:ser>
        <c:ser>
          <c:idx val="1"/>
          <c:order val="1"/>
          <c:tx>
            <c:strRef>
              <c:f>Sheet1!$C$1</c:f>
              <c:strCache>
                <c:ptCount val="1"/>
                <c:pt idx="0">
                  <c:v>Increase</c:v>
                </c:pt>
              </c:strCache>
            </c:strRef>
          </c:tx>
          <c:spPr>
            <a:solidFill>
              <a:srgbClr val="C6F432"/>
            </a:solidFill>
          </c:spPr>
          <c:cat>
            <c:strRef>
              <c:f>Sheet1!$A$2:$A$5</c:f>
              <c:strCache>
                <c:ptCount val="4"/>
                <c:pt idx="0">
                  <c:v>Allocation</c:v>
                </c:pt>
                <c:pt idx="1">
                  <c:v>Selection</c:v>
                </c:pt>
                <c:pt idx="2">
                  <c:v>Interaction</c:v>
                </c:pt>
                <c:pt idx="3">
                  <c:v>Total</c:v>
                </c:pt>
              </c:strCache>
            </c:strRef>
          </c:cat>
          <c:val>
            <c:numRef>
              <c:f>Sheet1!$C$2:$C$5</c:f>
              <c:numCache>
                <c:formatCode>General</c:formatCode>
                <c:ptCount val="4"/>
                <c:pt idx="0">
                  <c:v>0.4</c:v>
                </c:pt>
                <c:pt idx="1">
                  <c:v>0.0</c:v>
                </c:pt>
                <c:pt idx="2">
                  <c:v>0.05</c:v>
                </c:pt>
                <c:pt idx="3">
                  <c:v>0.35</c:v>
                </c:pt>
              </c:numCache>
            </c:numRef>
          </c:val>
        </c:ser>
        <c:ser>
          <c:idx val="2"/>
          <c:order val="2"/>
          <c:tx>
            <c:strRef>
              <c:f>Sheet1!$D$1</c:f>
              <c:strCache>
                <c:ptCount val="1"/>
                <c:pt idx="0">
                  <c:v>Decrease</c:v>
                </c:pt>
              </c:strCache>
            </c:strRef>
          </c:tx>
          <c:spPr>
            <a:solidFill>
              <a:srgbClr val="FF6B5E"/>
            </a:solidFill>
          </c:spPr>
          <c:cat>
            <c:strRef>
              <c:f>Sheet1!$A$2:$A$5</c:f>
              <c:strCache>
                <c:ptCount val="4"/>
                <c:pt idx="0">
                  <c:v>Allocation</c:v>
                </c:pt>
                <c:pt idx="1">
                  <c:v>Selection</c:v>
                </c:pt>
                <c:pt idx="2">
                  <c:v>Interaction</c:v>
                </c:pt>
                <c:pt idx="3">
                  <c:v>Total</c:v>
                </c:pt>
              </c:strCache>
            </c:strRef>
          </c:cat>
          <c:val>
            <c:numRef>
              <c:f>Sheet1!$D$2:$D$5</c:f>
              <c:numCache>
                <c:formatCode>General</c:formatCode>
                <c:ptCount val="4"/>
                <c:pt idx="0">
                  <c:v>0.0</c:v>
                </c:pt>
                <c:pt idx="1">
                  <c:v>0.1</c:v>
                </c:pt>
                <c:pt idx="2">
                  <c:v>0.0</c:v>
                </c:pt>
                <c:pt idx="3">
                  <c:v>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Allocation</c:v>
                </c:pt>
              </c:strCache>
            </c:strRef>
          </c:tx>
          <c:spPr>
            <a:solidFill>
              <a:srgbClr val="0D1117"/>
            </a:solidFill>
          </c:spPr>
          <c:cat>
            <c:strRef>
              <c:f>Sheet1!$A$2:$A$3</c:f>
              <c:strCache>
                <c:ptCount val="2"/>
                <c:pt idx="0">
                  <c:v>Public Equity</c:v>
                </c:pt>
                <c:pt idx="1">
                  <c:v>Alternatives</c:v>
                </c:pt>
              </c:strCache>
            </c:strRef>
          </c:cat>
          <c:val>
            <c:numRef>
              <c:f>Sheet1!$B$2:$B$3</c:f>
              <c:numCache>
                <c:formatCode>General</c:formatCode>
                <c:ptCount val="2"/>
                <c:pt idx="0">
                  <c:v>0.3</c:v>
                </c:pt>
                <c:pt idx="1">
                  <c:v>-0.1</c:v>
                </c:pt>
              </c:numCache>
            </c:numRef>
          </c:val>
        </c:ser>
        <c:ser>
          <c:idx val="1"/>
          <c:order val="1"/>
          <c:tx>
            <c:strRef>
              <c:f>Sheet1!$C$1</c:f>
              <c:strCache>
                <c:ptCount val="1"/>
                <c:pt idx="0">
                  <c:v>Selection</c:v>
                </c:pt>
              </c:strCache>
            </c:strRef>
          </c:tx>
          <c:spPr>
            <a:solidFill>
              <a:srgbClr val="7FA600"/>
            </a:solidFill>
          </c:spPr>
          <c:cat>
            <c:strRef>
              <c:f>Sheet1!$A$2:$A$3</c:f>
              <c:strCache>
                <c:ptCount val="2"/>
                <c:pt idx="0">
                  <c:v>Public Equity</c:v>
                </c:pt>
                <c:pt idx="1">
                  <c:v>Alternatives</c:v>
                </c:pt>
              </c:strCache>
            </c:strRef>
          </c:cat>
          <c:val>
            <c:numRef>
              <c:f>Sheet1!$C$2:$C$3</c:f>
              <c:numCache>
                <c:formatCode>General</c:formatCode>
                <c:ptCount val="2"/>
                <c:pt idx="0">
                  <c:v>-0.2</c:v>
                </c:pt>
                <c:pt idx="1">
                  <c:v>-0.6</c:v>
                </c:pt>
              </c:numCache>
            </c:numRef>
          </c:val>
        </c:ser>
        <c:ser>
          <c:idx val="2"/>
          <c:order val="2"/>
          <c:tx>
            <c:strRef>
              <c:f>Sheet1!$D$1</c:f>
              <c:strCache>
                <c:ptCount val="1"/>
                <c:pt idx="0">
                  <c:v>Interaction</c:v>
                </c:pt>
              </c:strCache>
            </c:strRef>
          </c:tx>
          <c:spPr>
            <a:solidFill>
              <a:srgbClr val="F2A93B"/>
            </a:solidFill>
          </c:spPr>
          <c:cat>
            <c:strRef>
              <c:f>Sheet1!$A$2:$A$3</c:f>
              <c:strCache>
                <c:ptCount val="2"/>
                <c:pt idx="0">
                  <c:v>Public Equity</c:v>
                </c:pt>
                <c:pt idx="1">
                  <c:v>Alternatives</c:v>
                </c:pt>
              </c:strCache>
            </c:strRef>
          </c:cat>
          <c:val>
            <c:numRef>
              <c:f>Sheet1!$D$2:$D$3</c:f>
              <c:numCache>
                <c:formatCode>General</c:formatCode>
                <c:ptCount val="2"/>
                <c:pt idx="0">
                  <c:v>0.1</c:v>
                </c:pt>
                <c:pt idx="1">
                  <c:v>-0.1</c:v>
                </c:pt>
              </c:numCache>
            </c:numRef>
          </c:val>
        </c:ser>
        <c:overlap val="100"/>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cat>
            <c:strRef>
              <c:f>Sheet1!$A$2:$A$5</c:f>
              <c:strCache>
                <c:ptCount val="4"/>
                <c:pt idx="0">
                  <c:v>Public Equity · portfolio</c:v>
                </c:pt>
                <c:pt idx="1">
                  <c:v>Public Equity · benchmark</c:v>
                </c:pt>
                <c:pt idx="2">
                  <c:v>Alternatives · portfolio</c:v>
                </c:pt>
                <c:pt idx="3">
                  <c:v>Alternatives · benchmark</c:v>
                </c:pt>
              </c:strCache>
            </c:strRef>
          </c:cat>
          <c:val>
            <c:numRef>
              <c:f>Sheet1!$B$2:$B$5</c:f>
              <c:numCache>
                <c:formatCode>General</c:formatCode>
                <c:ptCount val="4"/>
                <c:pt idx="0">
                  <c:v>60.0</c:v>
                </c:pt>
                <c:pt idx="1">
                  <c:v>55.0</c:v>
                </c:pt>
                <c:pt idx="2">
                  <c:v>40.0</c:v>
                </c:pt>
                <c:pt idx="3">
                  <c:v>45.0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Allocation</c:v>
                </c:pt>
              </c:strCache>
            </c:strRef>
          </c:tx>
          <c:spPr>
            <a:ln w="22860">
              <a:solidFill>
                <a:srgbClr val="0D1117"/>
              </a:solidFill>
            </a:ln>
          </c:spPr>
          <c:cat>
            <c:strRef>
              <c:f>Sheet1!$A$2:$A$4</c:f>
              <c:strCache>
                <c:ptCount val="3"/>
                <c:pt idx="0">
                  <c:v>2025-09-30</c:v>
                </c:pt>
                <c:pt idx="1">
                  <c:v>2025-12-31</c:v>
                </c:pt>
                <c:pt idx="2">
                  <c:v>2026-06-30</c:v>
                </c:pt>
              </c:strCache>
            </c:strRef>
          </c:cat>
          <c:val>
            <c:numRef>
              <c:f>Sheet1!$B$2:$B$4</c:f>
              <c:numCache>
                <c:formatCode>General</c:formatCode>
                <c:ptCount val="3"/>
                <c:pt idx="0">
                  <c:v>0.05</c:v>
                </c:pt>
                <c:pt idx="1">
                  <c:v>0.11</c:v>
                </c:pt>
                <c:pt idx="2">
                  <c:v>0.2</c:v>
                </c:pt>
              </c:numCache>
            </c:numRef>
          </c:val>
          <c:smooth val="0"/>
        </c:ser>
        <c:ser>
          <c:idx val="1"/>
          <c:order val="1"/>
          <c:tx>
            <c:strRef>
              <c:f>Sheet1!$C$1</c:f>
              <c:strCache>
                <c:ptCount val="1"/>
                <c:pt idx="0">
                  <c:v>Selection</c:v>
                </c:pt>
              </c:strCache>
            </c:strRef>
          </c:tx>
          <c:spPr>
            <a:ln w="22860">
              <a:solidFill>
                <a:srgbClr val="7FA600"/>
              </a:solidFill>
            </a:ln>
          </c:spPr>
          <c:cat>
            <c:strRef>
              <c:f>Sheet1!$A$2:$A$4</c:f>
              <c:strCache>
                <c:ptCount val="3"/>
                <c:pt idx="0">
                  <c:v>2025-09-30</c:v>
                </c:pt>
                <c:pt idx="1">
                  <c:v>2025-12-31</c:v>
                </c:pt>
                <c:pt idx="2">
                  <c:v>2026-06-30</c:v>
                </c:pt>
              </c:strCache>
            </c:strRef>
          </c:cat>
          <c:val>
            <c:numRef>
              <c:f>Sheet1!$C$2:$C$4</c:f>
              <c:numCache>
                <c:formatCode>General</c:formatCode>
                <c:ptCount val="3"/>
                <c:pt idx="0">
                  <c:v>-0.2</c:v>
                </c:pt>
                <c:pt idx="1">
                  <c:v>-0.5</c:v>
                </c:pt>
                <c:pt idx="2">
                  <c:v>-0.8</c:v>
                </c:pt>
              </c:numCache>
            </c:numRef>
          </c:val>
          <c:smooth val="0"/>
        </c:ser>
        <c:ser>
          <c:idx val="2"/>
          <c:order val="2"/>
          <c:tx>
            <c:strRef>
              <c:f>Sheet1!$D$1</c:f>
              <c:strCache>
                <c:ptCount val="1"/>
                <c:pt idx="0">
                  <c:v>Interaction</c:v>
                </c:pt>
              </c:strCache>
            </c:strRef>
          </c:tx>
          <c:spPr>
            <a:ln w="22860">
              <a:solidFill>
                <a:srgbClr val="F2A93B"/>
              </a:solidFill>
            </a:ln>
          </c:spPr>
          <c:cat>
            <c:strRef>
              <c:f>Sheet1!$A$2:$A$4</c:f>
              <c:strCache>
                <c:ptCount val="3"/>
                <c:pt idx="0">
                  <c:v>2025-09-30</c:v>
                </c:pt>
                <c:pt idx="1">
                  <c:v>2025-12-31</c:v>
                </c:pt>
                <c:pt idx="2">
                  <c:v>2026-06-30</c:v>
                </c:pt>
              </c:strCache>
            </c:strRef>
          </c:cat>
          <c:val>
            <c:numRef>
              <c:f>Sheet1!$D$2:$D$4</c:f>
              <c:numCache>
                <c:formatCode>General</c:formatCode>
                <c:ptCount val="3"/>
                <c:pt idx="0">
                  <c:v>0.02</c:v>
                </c:pt>
                <c:pt idx="1">
                  <c:v>0.01</c:v>
                </c:pt>
                <c:pt idx="2">
                  <c:v>0.0</c:v>
                </c:pt>
              </c:numCache>
            </c:numRef>
          </c:val>
          <c:smooth val="0"/>
        </c:ser>
        <c:ser>
          <c:idx val="3"/>
          <c:order val="3"/>
          <c:tx>
            <c:strRef>
              <c:f>Sheet1!$E$1</c:f>
              <c:strCache>
                <c:ptCount val="1"/>
                <c:pt idx="0">
                  <c:v>Total</c:v>
                </c:pt>
              </c:strCache>
            </c:strRef>
          </c:tx>
          <c:spPr>
            <a:ln w="22860">
              <a:solidFill>
                <a:srgbClr val="5B8DEF"/>
              </a:solidFill>
            </a:ln>
          </c:spPr>
          <c:cat>
            <c:strRef>
              <c:f>Sheet1!$A$2:$A$4</c:f>
              <c:strCache>
                <c:ptCount val="3"/>
                <c:pt idx="0">
                  <c:v>2025-09-30</c:v>
                </c:pt>
                <c:pt idx="1">
                  <c:v>2025-12-31</c:v>
                </c:pt>
                <c:pt idx="2">
                  <c:v>2026-06-30</c:v>
                </c:pt>
              </c:strCache>
            </c:strRef>
          </c:cat>
          <c:val>
            <c:numRef>
              <c:f>Sheet1!$E$2:$E$4</c:f>
              <c:numCache>
                <c:formatCode>General</c:formatCode>
                <c:ptCount val="3"/>
                <c:pt idx="0">
                  <c:v>-0.13</c:v>
                </c:pt>
                <c:pt idx="1">
                  <c:v>-0.38</c:v>
                </c:pt>
                <c:pt idx="2">
                  <c:v>-0.6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delete val="0"/>
        <c:axPos val="l"/>
        <c:majorGridlines/>
        <c:numFmt formatCode="0.00&quot;pp&quot;" sourceLinked="0"/>
        <c:majorTickMark val="out"/>
        <c:minorTickMark val="none"/>
        <c:tickLblPos val="nextTo"/>
        <c:txPr>
          <a:bodyPr/>
          <a:lstStyle/>
          <a:p>
            <a:pPr>
              <a:defRPr sz="800"/>
            </a:pPr>
          </a:p>
        </c:txPr>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Alternatives selection</c:v>
                </c:pt>
              </c:strCache>
            </c:strRef>
          </c:tx>
          <c:spPr>
            <a:ln w="22860">
              <a:solidFill>
                <a:srgbClr val="0D1117"/>
              </a:solidFill>
            </a:ln>
          </c:spPr>
          <c:cat>
            <c:strRef>
              <c:f>Sheet1!$A$2:$A$4</c:f>
              <c:strCache>
                <c:ptCount val="3"/>
                <c:pt idx="0">
                  <c:v>2025-09-30</c:v>
                </c:pt>
                <c:pt idx="1">
                  <c:v>2025-12-31</c:v>
                </c:pt>
                <c:pt idx="2">
                  <c:v>2026-06-30</c:v>
                </c:pt>
              </c:strCache>
            </c:strRef>
          </c:cat>
          <c:val>
            <c:numRef>
              <c:f>Sheet1!$B$2:$B$4</c:f>
              <c:numCache>
                <c:formatCode>General</c:formatCode>
                <c:ptCount val="3"/>
                <c:pt idx="0">
                  <c:v>-0.1</c:v>
                </c:pt>
                <c:pt idx="1">
                  <c:v>-0.35</c:v>
                </c:pt>
                <c:pt idx="2">
                  <c:v>-0.6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delete val="0"/>
        <c:axPos val="l"/>
        <c:majorGridlines/>
        <c:numFmt formatCode="0.00&quot;pp&quot;" sourceLinked="0"/>
        <c:majorTickMark val="out"/>
        <c:minorTickMark val="none"/>
        <c:tickLblPos val="nextTo"/>
        <c:txPr>
          <a:bodyPr/>
          <a:lstStyle/>
          <a:p>
            <a:pPr>
              <a:defRPr sz="8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Portfolio cumulative growth</c:v>
                </c:pt>
              </c:strCache>
            </c:strRef>
          </c:tx>
          <c:spPr>
            <a:ln w="22860">
              <a:solidFill>
                <a:srgbClr val="0D1117"/>
              </a:solidFill>
            </a:ln>
          </c:spPr>
          <c:cat>
            <c:strRef>
              <c:f>Sheet1!$A$2:$A$4</c:f>
              <c:strCache>
                <c:ptCount val="3"/>
                <c:pt idx="0">
                  <c:v>2025-07-31</c:v>
                </c:pt>
                <c:pt idx="1">
                  <c:v>2025-12-31</c:v>
                </c:pt>
                <c:pt idx="2">
                  <c:v>2026-06-30</c:v>
                </c:pt>
              </c:strCache>
            </c:strRef>
          </c:cat>
          <c:val>
            <c:numRef>
              <c:f>Sheet1!$B$2:$B$4</c:f>
              <c:numCache>
                <c:formatCode>General</c:formatCode>
                <c:ptCount val="3"/>
                <c:pt idx="0">
                  <c:v>100.8</c:v>
                </c:pt>
                <c:pt idx="1">
                  <c:v>104.2</c:v>
                </c:pt>
                <c:pt idx="2">
                  <c:v>107.1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txPr>
          <a:bodyPr/>
          <a:lstStyle/>
          <a:p>
            <a:pPr>
              <a:defRPr sz="8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Allocation</c:v>
                </c:pt>
              </c:strCache>
            </c:strRef>
          </c:tx>
          <c:spPr>
            <a:solidFill>
              <a:srgbClr val="0D1117"/>
            </a:solidFill>
          </c:spPr>
          <c:cat>
            <c:strRef>
              <c:f>Sheet1!$A$2:$A$3</c:f>
              <c:strCache>
                <c:ptCount val="2"/>
                <c:pt idx="0">
                  <c:v>Public Equity</c:v>
                </c:pt>
                <c:pt idx="1">
                  <c:v>Alternatives</c:v>
                </c:pt>
              </c:strCache>
            </c:strRef>
          </c:cat>
          <c:val>
            <c:numRef>
              <c:f>Sheet1!$B$2:$B$3</c:f>
              <c:numCache>
                <c:formatCode>General</c:formatCode>
                <c:ptCount val="2"/>
                <c:pt idx="0">
                  <c:v>0.3</c:v>
                </c:pt>
                <c:pt idx="1">
                  <c:v>0.1</c:v>
                </c:pt>
              </c:numCache>
            </c:numRef>
          </c:val>
        </c:ser>
        <c:ser>
          <c:idx val="1"/>
          <c:order val="1"/>
          <c:tx>
            <c:strRef>
              <c:f>Sheet1!$C$1</c:f>
              <c:strCache>
                <c:ptCount val="1"/>
                <c:pt idx="0">
                  <c:v>Selection</c:v>
                </c:pt>
              </c:strCache>
            </c:strRef>
          </c:tx>
          <c:spPr>
            <a:solidFill>
              <a:srgbClr val="7FA600"/>
            </a:solidFill>
          </c:spPr>
          <c:cat>
            <c:strRef>
              <c:f>Sheet1!$A$2:$A$3</c:f>
              <c:strCache>
                <c:ptCount val="2"/>
                <c:pt idx="0">
                  <c:v>Public Equity</c:v>
                </c:pt>
                <c:pt idx="1">
                  <c:v>Alternatives</c:v>
                </c:pt>
              </c:strCache>
            </c:strRef>
          </c:cat>
          <c:val>
            <c:numRef>
              <c:f>Sheet1!$C$2:$C$3</c:f>
              <c:numCache>
                <c:formatCode>General</c:formatCode>
                <c:ptCount val="2"/>
                <c:pt idx="0">
                  <c:v>-0.05</c:v>
                </c:pt>
                <c:pt idx="1">
                  <c:v>-0.05</c:v>
                </c:pt>
              </c:numCache>
            </c:numRef>
          </c:val>
        </c:ser>
        <c:ser>
          <c:idx val="2"/>
          <c:order val="2"/>
          <c:tx>
            <c:strRef>
              <c:f>Sheet1!$D$1</c:f>
              <c:strCache>
                <c:ptCount val="1"/>
                <c:pt idx="0">
                  <c:v>Interaction</c:v>
                </c:pt>
              </c:strCache>
            </c:strRef>
          </c:tx>
          <c:spPr>
            <a:solidFill>
              <a:srgbClr val="F2A93B"/>
            </a:solidFill>
          </c:spPr>
          <c:cat>
            <c:strRef>
              <c:f>Sheet1!$A$2:$A$3</c:f>
              <c:strCache>
                <c:ptCount val="2"/>
                <c:pt idx="0">
                  <c:v>Public Equity</c:v>
                </c:pt>
                <c:pt idx="1">
                  <c:v>Alternatives</c:v>
                </c:pt>
              </c:strCache>
            </c:strRef>
          </c:cat>
          <c:val>
            <c:numRef>
              <c:f>Sheet1!$D$2:$D$3</c:f>
              <c:numCache>
                <c:formatCode>General</c:formatCode>
                <c:ptCount val="2"/>
                <c:pt idx="0">
                  <c:v>0.02</c:v>
                </c:pt>
                <c:pt idx="1">
                  <c:v>0.03</c:v>
                </c:pt>
              </c:numCache>
            </c:numRef>
          </c:val>
        </c:ser>
        <c:overlap val="100"/>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cat>
            <c:strRef>
              <c:f>Sheet1!$A$2:$A$5</c:f>
              <c:strCache>
                <c:ptCount val="4"/>
                <c:pt idx="0">
                  <c:v>Public Equity · portfolio</c:v>
                </c:pt>
                <c:pt idx="1">
                  <c:v>Public Equity · benchmark</c:v>
                </c:pt>
                <c:pt idx="2">
                  <c:v>Alternatives · portfolio</c:v>
                </c:pt>
                <c:pt idx="3">
                  <c:v>Alternatives · benchmark</c:v>
                </c:pt>
              </c:strCache>
            </c:strRef>
          </c:cat>
          <c:val>
            <c:numRef>
              <c:f>Sheet1!$B$2:$B$5</c:f>
              <c:numCache>
                <c:formatCode>General</c:formatCode>
                <c:ptCount val="4"/>
                <c:pt idx="0">
                  <c:v>7.5</c:v>
                </c:pt>
                <c:pt idx="1">
                  <c:v>6.8</c:v>
                </c:pt>
                <c:pt idx="2">
                  <c:v>5.5</c:v>
                </c:pt>
                <c:pt idx="3">
                  <c:v>5.9</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FF6B5E"/>
              </a:solidFill>
            </c:spPr>
          </c:dPt>
          <c:dPt>
            <c:idx val="2"/>
            <c:spPr>
              <a:solidFill>
                <a:srgbClr val="C6F432"/>
              </a:solidFill>
            </c:spPr>
          </c:dPt>
          <c:cat>
            <c:strRef>
              <c:f>Sheet1!$A$2:$A$4</c:f>
              <c:strCache>
                <c:ptCount val="3"/>
                <c:pt idx="0">
                  <c:v>Allocation</c:v>
                </c:pt>
                <c:pt idx="1">
                  <c:v>Selection</c:v>
                </c:pt>
                <c:pt idx="2">
                  <c:v>Interaction</c:v>
                </c:pt>
              </c:strCache>
            </c:strRef>
          </c:cat>
          <c:val>
            <c:numRef>
              <c:f>Sheet1!$B$2:$B$4</c:f>
              <c:numCache>
                <c:formatCode>General</c:formatCode>
                <c:ptCount val="3"/>
                <c:pt idx="0">
                  <c:v>0.2</c:v>
                </c:pt>
                <c:pt idx="1">
                  <c:v>-0.8</c:v>
                </c:pt>
                <c:pt idx="2">
                  <c:v>0.0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FF6B5E"/>
              </a:solidFill>
            </c:spPr>
          </c:dPt>
          <c:dPt>
            <c:idx val="2"/>
            <c:spPr>
              <a:solidFill>
                <a:srgbClr val="C6F432"/>
              </a:solidFill>
            </c:spPr>
          </c:dPt>
          <c:cat>
            <c:strRef>
              <c:f>Sheet1!$A$2:$A$4</c:f>
              <c:strCache>
                <c:ptCount val="3"/>
                <c:pt idx="0">
                  <c:v>Allocation</c:v>
                </c:pt>
                <c:pt idx="1">
                  <c:v>Selection</c:v>
                </c:pt>
                <c:pt idx="2">
                  <c:v>Interaction</c:v>
                </c:pt>
              </c:strCache>
            </c:strRef>
          </c:cat>
          <c:val>
            <c:numRef>
              <c:f>Sheet1!$B$2:$B$4</c:f>
              <c:numCache>
                <c:formatCode>General</c:formatCode>
                <c:ptCount val="3"/>
                <c:pt idx="0">
                  <c:v>0.4</c:v>
                </c:pt>
                <c:pt idx="1">
                  <c:v>-0.1</c:v>
                </c:pt>
                <c:pt idx="2">
                  <c:v>0.05</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FF6B5E"/>
              </a:solidFill>
            </c:spPr>
          </c:dPt>
          <c:cat>
            <c:strRef>
              <c:f>Sheet1!$A$2:$A$4</c:f>
              <c:strCache>
                <c:ptCount val="3"/>
                <c:pt idx="0">
                  <c:v>Expected minus realized · allocation</c:v>
                </c:pt>
                <c:pt idx="1">
                  <c:v>Expected minus realized · selection</c:v>
                </c:pt>
                <c:pt idx="2">
                  <c:v>Simulated minus expected · selection</c:v>
                </c:pt>
              </c:strCache>
            </c:strRef>
          </c:cat>
          <c:val>
            <c:numRef>
              <c:f>Sheet1!$B$2:$B$4</c:f>
              <c:numCache>
                <c:formatCode>General</c:formatCode>
                <c:ptCount val="3"/>
                <c:pt idx="0">
                  <c:v>0.2</c:v>
                </c:pt>
                <c:pt idx="1">
                  <c:v>0.7</c:v>
                </c:pt>
                <c:pt idx="2">
                  <c:v>-0.1</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cat>
            <c:strRef>
              <c:f>Sheet1!$A$2:$A$4</c:f>
              <c:strCache>
                <c:ptCount val="3"/>
                <c:pt idx="0">
                  <c:v>Historical</c:v>
                </c:pt>
                <c:pt idx="1">
                  <c:v>Expected</c:v>
                </c:pt>
                <c:pt idx="2">
                  <c:v>Simulated</c:v>
                </c:pt>
              </c:strCache>
            </c:strRef>
          </c:cat>
          <c:val>
            <c:numRef>
              <c:f>Sheet1!$B$2:$B$4</c:f>
              <c:numCache>
                <c:formatCode>General</c:formatCode>
                <c:ptCount val="3"/>
                <c:pt idx="0">
                  <c:v>0.74</c:v>
                </c:pt>
                <c:pt idx="1">
                  <c:v>0.62</c:v>
                </c:pt>
                <c:pt idx="2">
                  <c:v>0.58</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Selection leads detractors</a:t>
            </a:r>
          </a:p>
          <a:p>
            <a:r>
              <a:t>Observation: Returned selection is negative [S2]. Why it matters: Selection leads realized detractors. Uncertainty: The evidence covers one linked period. What would change the view: A later historical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Allocation leads expectations</a:t>
            </a:r>
          </a:p>
          <a:p>
            <a:r>
              <a:t>Observation: Returned allocation is positive [S3]. Why it matters: Allocation leads expected effects. Uncertainty: Inputs are assumptions. What would change the view: A refreshed ex ante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Scenario range returned</a:t>
            </a:r>
          </a:p>
          <a:p>
            <a:r>
              <a:t>Observation: The governed simulation returned effect bands and a selected base scenario [S4]. Why it matters: Scenario context is explicit. Uncertainty: Results depend on governed scenario inputs. What would change the view: A revised simulation receipt.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Governed comparison fields returned</a:t>
            </a:r>
          </a:p>
          <a:p>
            <a:r>
              <a:t>Observation: The server returned differences, concentration and persistence for three compatible lanes [S5]. Why it matters: Cross-lane claims use governed fields. Uncertainty: One receipt limits time-series interpretation. What would change the view: A later comparison receipt returning different statuses.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828800"/>
            <a:ext cx="9966960" cy="274320"/>
          </a:xfrm>
          <a:prstGeom prst="rect">
            <a:avLst/>
          </a:prstGeom>
          <a:noFill/>
        </p:spPr>
        <p:txBody>
          <a:bodyPr wrap="none" lIns="9144" rIns="9144" tIns="9144" bIns="9144" anchor="t">
            <a:spAutoFit/>
          </a:bodyPr>
          <a:lstStyle/>
          <a:p>
            <a:pPr algn="l">
              <a:spcAft>
                <a:spcPts val="0"/>
              </a:spcAft>
              <a:defRPr sz="900" b="1">
                <a:solidFill>
                  <a:srgbClr val="C6F432"/>
                </a:solidFill>
                <a:latin typeface="Inter"/>
              </a:defRPr>
            </a:pPr>
            <a:r>
              <a:rPr>
                <a:latin typeface="Inter"/>
              </a:rPr>
              <a:t>PORTFOLIO ATTRIBUTION COMPARISON</a:t>
            </a:r>
          </a:p>
        </p:txBody>
      </p:sp>
      <p:sp>
        <p:nvSpPr>
          <p:cNvPr id="6" name="TextBox 5"/>
          <p:cNvSpPr txBox="1"/>
          <p:nvPr/>
        </p:nvSpPr>
        <p:spPr>
          <a:xfrm>
            <a:off x="685800" y="2176272"/>
            <a:ext cx="9966960" cy="1234440"/>
          </a:xfrm>
          <a:prstGeom prst="rect">
            <a:avLst/>
          </a:prstGeom>
          <a:noFill/>
        </p:spPr>
        <p:txBody>
          <a:bodyPr wrap="none" lIns="9144" rIns="9144" tIns="9144" bIns="9144" anchor="t">
            <a:spAutoFit/>
          </a:bodyPr>
          <a:lstStyle/>
          <a:p>
            <a:pPr algn="l">
              <a:spcAft>
                <a:spcPts val="0"/>
              </a:spcAft>
              <a:defRPr sz="3400" b="1">
                <a:solidFill>
                  <a:srgbClr val="FFFFFF"/>
                </a:solidFill>
                <a:latin typeface="Inter"/>
              </a:defRPr>
            </a:pPr>
            <a:r>
              <a:rPr>
                <a:latin typeface="Inter"/>
              </a:rPr>
              <a:t>Northstar Attribution Comparison (TEST)</a:t>
            </a:r>
          </a:p>
        </p:txBody>
      </p:sp>
      <p:sp>
        <p:nvSpPr>
          <p:cNvPr id="7" name="TextBox 6"/>
          <p:cNvSpPr txBox="1"/>
          <p:nvPr/>
        </p:nvSpPr>
        <p:spPr>
          <a:xfrm>
            <a:off x="685800" y="3456432"/>
            <a:ext cx="9692640" cy="640080"/>
          </a:xfrm>
          <a:prstGeom prst="rect">
            <a:avLst/>
          </a:prstGeom>
          <a:noFill/>
        </p:spPr>
        <p:txBody>
          <a:bodyPr wrap="none" lIns="9144" rIns="9144" tIns="9144" bIns="9144" anchor="t">
            <a:spAutoFit/>
          </a:bodyPr>
          <a:lstStyle/>
          <a:p>
            <a:pPr algn="l">
              <a:spcAft>
                <a:spcPts val="0"/>
              </a:spcAft>
              <a:defRPr sz="1500" b="0">
                <a:solidFill>
                  <a:srgbClr val="9AA5B1"/>
                </a:solidFill>
                <a:latin typeface="Inter"/>
              </a:defRPr>
            </a:pPr>
            <a:r>
              <a:rPr>
                <a:latin typeface="Inter"/>
              </a:rPr>
              <a:t>Historical, ex ante and simulated lanes ? governed server comparison</a:t>
            </a:r>
          </a:p>
        </p:txBody>
      </p:sp>
      <p:sp>
        <p:nvSpPr>
          <p:cNvPr id="8" name="Rectangle 7"/>
          <p:cNvSpPr/>
          <p:nvPr/>
        </p:nvSpPr>
        <p:spPr>
          <a:xfrm>
            <a:off x="685800" y="4251960"/>
            <a:ext cx="1005840" cy="54864"/>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PORTFOLIO</a:t>
            </a:r>
          </a:p>
        </p:txBody>
      </p:sp>
      <p:sp>
        <p:nvSpPr>
          <p:cNvPr id="10" name="TextBox 9"/>
          <p:cNvSpPr txBox="1"/>
          <p:nvPr/>
        </p:nvSpPr>
        <p:spPr>
          <a:xfrm>
            <a:off x="68580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Northstar (TEST)</a:t>
            </a:r>
          </a:p>
        </p:txBody>
      </p:sp>
      <p:sp>
        <p:nvSpPr>
          <p:cNvPr id="11" name="TextBox 10"/>
          <p:cNvSpPr txBox="1"/>
          <p:nvPr/>
        </p:nvSpPr>
        <p:spPr>
          <a:xfrm>
            <a:off x="4160520" y="4572000"/>
            <a:ext cx="306324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MODE</a:t>
            </a:r>
          </a:p>
        </p:txBody>
      </p:sp>
      <p:sp>
        <p:nvSpPr>
          <p:cNvPr id="12" name="TextBox 11"/>
          <p:cNvSpPr txBox="1"/>
          <p:nvPr/>
        </p:nvSpPr>
        <p:spPr>
          <a:xfrm>
            <a:off x="4160520" y="4773168"/>
            <a:ext cx="3063240" cy="320040"/>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Three lane</a:t>
            </a:r>
          </a:p>
        </p:txBody>
      </p:sp>
      <p:sp>
        <p:nvSpPr>
          <p:cNvPr id="13" name="Rectangle 12"/>
          <p:cNvSpPr/>
          <p:nvPr/>
        </p:nvSpPr>
        <p:spPr>
          <a:xfrm>
            <a:off x="685800" y="5833872"/>
            <a:ext cx="3063240" cy="384048"/>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22960" y="5934456"/>
            <a:ext cx="2788920" cy="164592"/>
          </a:xfrm>
          <a:prstGeom prst="rect">
            <a:avLst/>
          </a:prstGeom>
          <a:noFill/>
        </p:spPr>
        <p:txBody>
          <a:bodyPr wrap="none" lIns="9144" rIns="9144" tIns="9144" bIns="9144" anchor="t">
            <a:spAutoFit/>
          </a:bodyPr>
          <a:lstStyle/>
          <a:p>
            <a:pPr algn="l">
              <a:spcAft>
                <a:spcPts val="0"/>
              </a:spcAft>
              <a:defRPr sz="800" b="1">
                <a:solidFill>
                  <a:srgbClr val="0D1117"/>
                </a:solidFill>
                <a:latin typeface="Inter"/>
              </a:defRPr>
            </a:pPr>
            <a:r>
              <a:rPr>
                <a:latin typeface="Inter"/>
              </a:rPr>
              <a:t>Three compatible lanes compared</a:t>
            </a:r>
          </a:p>
        </p:txBody>
      </p:sp>
      <p:sp>
        <p:nvSpPr>
          <p:cNvPr id="15" name="TextBox 14"/>
          <p:cNvSpPr txBox="1"/>
          <p:nvPr/>
        </p:nvSpPr>
        <p:spPr>
          <a:xfrm>
            <a:off x="3977639" y="582472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EVIDENCE COMPLETENESS</a:t>
            </a:r>
          </a:p>
        </p:txBody>
      </p:sp>
      <p:sp>
        <p:nvSpPr>
          <p:cNvPr id="16" name="TextBox 15"/>
          <p:cNvSpPr txBox="1"/>
          <p:nvPr/>
        </p:nvSpPr>
        <p:spPr>
          <a:xfrm>
            <a:off x="3977639" y="5998464"/>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4 of 4 · Complete</a:t>
            </a:r>
          </a:p>
        </p:txBody>
      </p:sp>
      <p:sp>
        <p:nvSpPr>
          <p:cNvPr id="17" name="TextBox 16"/>
          <p:cNvSpPr txBox="1"/>
          <p:nvPr/>
        </p:nvSpPr>
        <p:spPr>
          <a:xfrm>
            <a:off x="685800" y="6473952"/>
            <a:ext cx="8046720" cy="182880"/>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prepared for internal investment use</a:t>
            </a:r>
          </a:p>
        </p:txBody>
      </p:sp>
      <p:sp>
        <p:nvSpPr>
          <p:cNvPr id="18" name="TextBox 17"/>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THREE COMPATIBLE GOVERNED LANES HAVE SERVER-RETURNED COMPARISON METRICS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Rectangle 7"/>
          <p:cNvSpPr/>
          <p:nvPr/>
        </p:nvSpPr>
        <p:spPr>
          <a:xfrm>
            <a:off x="640080" y="1325880"/>
            <a:ext cx="10908792" cy="131160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131160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Bottom line</a:t>
            </a:r>
          </a:p>
        </p:txBody>
      </p:sp>
      <p:sp>
        <p:nvSpPr>
          <p:cNvPr id="11" name="TextBox 10"/>
          <p:cNvSpPr txBox="1"/>
          <p:nvPr/>
        </p:nvSpPr>
        <p:spPr>
          <a:xfrm>
            <a:off x="804671" y="1719072"/>
            <a:ext cx="10616184" cy="82697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Historical, ex ante, and simulated effects are compatible, and governed comparison metrics are available [S2][S3][S4][S5].</a:t>
            </a:r>
          </a:p>
        </p:txBody>
      </p:sp>
      <p:sp>
        <p:nvSpPr>
          <p:cNvPr id="12" name="Rectangle 11"/>
          <p:cNvSpPr/>
          <p:nvPr/>
        </p:nvSpPr>
        <p:spPr>
          <a:xfrm>
            <a:off x="640080" y="2747210"/>
            <a:ext cx="2644902" cy="20493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274721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749808" y="287522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HISTORICAL LANE</a:t>
            </a:r>
          </a:p>
        </p:txBody>
      </p:sp>
      <p:sp>
        <p:nvSpPr>
          <p:cNvPr id="15" name="TextBox 14"/>
          <p:cNvSpPr txBox="1"/>
          <p:nvPr/>
        </p:nvSpPr>
        <p:spPr>
          <a:xfrm>
            <a:off x="749808" y="3131258"/>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16" name="TextBox 15"/>
          <p:cNvSpPr txBox="1"/>
          <p:nvPr/>
        </p:nvSpPr>
        <p:spPr>
          <a:xfrm>
            <a:off x="749808" y="4467405"/>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Realized 12 months · 2025-07-01 to 2026-06-30 [S2]</a:t>
            </a:r>
          </a:p>
        </p:txBody>
      </p:sp>
      <p:sp>
        <p:nvSpPr>
          <p:cNvPr id="17" name="Rectangle 16"/>
          <p:cNvSpPr/>
          <p:nvPr/>
        </p:nvSpPr>
        <p:spPr>
          <a:xfrm>
            <a:off x="3394710" y="2747210"/>
            <a:ext cx="2644902" cy="20493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Rectangle 17"/>
          <p:cNvSpPr/>
          <p:nvPr/>
        </p:nvSpPr>
        <p:spPr>
          <a:xfrm>
            <a:off x="3394710" y="274721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3504438" y="287522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EX ANTE LANE</a:t>
            </a:r>
          </a:p>
        </p:txBody>
      </p:sp>
      <p:sp>
        <p:nvSpPr>
          <p:cNvPr id="20" name="TextBox 19"/>
          <p:cNvSpPr txBox="1"/>
          <p:nvPr/>
        </p:nvSpPr>
        <p:spPr>
          <a:xfrm>
            <a:off x="3504438" y="3131258"/>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21" name="TextBox 20"/>
          <p:cNvSpPr txBox="1"/>
          <p:nvPr/>
        </p:nvSpPr>
        <p:spPr>
          <a:xfrm>
            <a:off x="3504438" y="4467405"/>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1-year expected [S3]</a:t>
            </a:r>
          </a:p>
        </p:txBody>
      </p:sp>
      <p:sp>
        <p:nvSpPr>
          <p:cNvPr id="22" name="Rectangle 21"/>
          <p:cNvSpPr/>
          <p:nvPr/>
        </p:nvSpPr>
        <p:spPr>
          <a:xfrm>
            <a:off x="6149340" y="2747210"/>
            <a:ext cx="2644902" cy="20493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3" name="Rectangle 22"/>
          <p:cNvSpPr/>
          <p:nvPr/>
        </p:nvSpPr>
        <p:spPr>
          <a:xfrm>
            <a:off x="6149340" y="274721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4" name="TextBox 23"/>
          <p:cNvSpPr txBox="1"/>
          <p:nvPr/>
        </p:nvSpPr>
        <p:spPr>
          <a:xfrm>
            <a:off x="6259068" y="287522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SIMULATED LANE</a:t>
            </a:r>
          </a:p>
        </p:txBody>
      </p:sp>
      <p:sp>
        <p:nvSpPr>
          <p:cNvPr id="25" name="TextBox 24"/>
          <p:cNvSpPr txBox="1"/>
          <p:nvPr/>
        </p:nvSpPr>
        <p:spPr>
          <a:xfrm>
            <a:off x="6259068" y="3131258"/>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26" name="TextBox 25"/>
          <p:cNvSpPr txBox="1"/>
          <p:nvPr/>
        </p:nvSpPr>
        <p:spPr>
          <a:xfrm>
            <a:off x="6259068" y="4467405"/>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1-year simulated · governed scenario [S4]</a:t>
            </a:r>
          </a:p>
        </p:txBody>
      </p:sp>
      <p:sp>
        <p:nvSpPr>
          <p:cNvPr id="27" name="Rectangle 26"/>
          <p:cNvSpPr/>
          <p:nvPr/>
        </p:nvSpPr>
        <p:spPr>
          <a:xfrm>
            <a:off x="8903970" y="2747210"/>
            <a:ext cx="2644902" cy="204937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8" name="Rectangle 27"/>
          <p:cNvSpPr/>
          <p:nvPr/>
        </p:nvSpPr>
        <p:spPr>
          <a:xfrm>
            <a:off x="8903970" y="2747210"/>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9" name="TextBox 28"/>
          <p:cNvSpPr txBox="1"/>
          <p:nvPr/>
        </p:nvSpPr>
        <p:spPr>
          <a:xfrm>
            <a:off x="9013698" y="2875226"/>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COMPARISON COVERAGE</a:t>
            </a:r>
          </a:p>
        </p:txBody>
      </p:sp>
      <p:sp>
        <p:nvSpPr>
          <p:cNvPr id="30" name="TextBox 29"/>
          <p:cNvSpPr txBox="1"/>
          <p:nvPr/>
        </p:nvSpPr>
        <p:spPr>
          <a:xfrm>
            <a:off x="9013698" y="3131258"/>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Complete</a:t>
            </a:r>
          </a:p>
        </p:txBody>
      </p:sp>
      <p:sp>
        <p:nvSpPr>
          <p:cNvPr id="31" name="TextBox 30"/>
          <p:cNvSpPr txBox="1"/>
          <p:nvPr/>
        </p:nvSpPr>
        <p:spPr>
          <a:xfrm>
            <a:off x="9013698" y="4467405"/>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Server-returned comparison · compatible receipts [S5]</a:t>
            </a:r>
          </a:p>
        </p:txBody>
      </p:sp>
      <p:sp>
        <p:nvSpPr>
          <p:cNvPr id="32" name="Rectangle 31"/>
          <p:cNvSpPr/>
          <p:nvPr/>
        </p:nvSpPr>
        <p:spPr>
          <a:xfrm>
            <a:off x="640080" y="4979469"/>
            <a:ext cx="73152" cy="1165298"/>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3" name="TextBox 32"/>
          <p:cNvSpPr txBox="1"/>
          <p:nvPr/>
        </p:nvSpPr>
        <p:spPr>
          <a:xfrm>
            <a:off x="896112" y="4952037"/>
            <a:ext cx="10588752" cy="760729"/>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Three governed returned lanes and comparison metrics are available [S2][S3][S4][S5].</a:t>
            </a:r>
          </a:p>
        </p:txBody>
      </p:sp>
      <p:sp>
        <p:nvSpPr>
          <p:cNvPr id="34" name="TextBox 33"/>
          <p:cNvSpPr txBox="1"/>
          <p:nvPr/>
        </p:nvSpPr>
        <p:spPr>
          <a:xfrm>
            <a:off x="896112" y="5693278"/>
            <a:ext cx="10588752" cy="393480"/>
          </a:xfrm>
          <a:prstGeom prst="rect">
            <a:avLst/>
          </a:prstGeom>
          <a:noFill/>
        </p:spPr>
        <p:txBody>
          <a:bodyPr wrap="none" lIns="9144" rIns="9144" tIns="9144" bIns="9144" anchor="t">
            <a:spAutoFit/>
          </a:bodyPr>
          <a:lstStyle/>
          <a:p>
            <a:pPr algn="l">
              <a:spcAft>
                <a:spcPts val="0"/>
              </a:spcAft>
              <a:defRPr sz="900" b="0">
                <a:solidFill>
                  <a:srgbClr val="4A5563"/>
                </a:solidFill>
                <a:latin typeface="Inter"/>
              </a:defRPr>
            </a:pPr>
            <a:r>
              <a:rPr>
                <a:latin typeface="Inter"/>
              </a:rPr>
              <a:t>Returned evidence only; no local subtraction or accumulation.</a:t>
            </a:r>
          </a:p>
        </p:txBody>
      </p:sp>
      <p:sp>
        <p:nvSpPr>
          <p:cNvPr id="35" name="Rectangle 34"/>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6" name="TextBox 35"/>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 · S4 · S5</a:t>
            </a:r>
          </a:p>
        </p:txBody>
      </p:sp>
      <p:sp>
        <p:nvSpPr>
          <p:cNvPr id="37" name="TextBox 36"/>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38" name="TextBox 37"/>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THREE COMPATIBLE GOVERNED LANES HAVE SERVER-RETURNED COMPARISON METRICS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REALIZED SUMMARY EFFECTS</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THREE COMPATIBLE GOVERNED LANES HAVE SERVER-RETURNED COMPARISON METRICS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SUMMARY EFFECTS</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THREE COMPATIBLE GOVERNED LANES HAVE SERVER-RETURNED COMPARISON METRICS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8" name="Rectangle 7"/>
          <p:cNvSpPr/>
          <p:nvPr/>
        </p:nvSpPr>
        <p:spPr>
          <a:xfrm>
            <a:off x="640080" y="1325880"/>
            <a:ext cx="10908792" cy="140042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1400428"/>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Historical</a:t>
            </a:r>
          </a:p>
        </p:txBody>
      </p:sp>
      <p:sp>
        <p:nvSpPr>
          <p:cNvPr id="11" name="TextBox 10"/>
          <p:cNvSpPr txBox="1"/>
          <p:nvPr/>
        </p:nvSpPr>
        <p:spPr>
          <a:xfrm>
            <a:off x="804671" y="1719072"/>
            <a:ext cx="10616184" cy="91579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Historical effects are returned [S2]. Why it matters: Realized sources can be described. Uncertainty: One period may not persist. What would change the view: A later governed period.</a:t>
            </a:r>
          </a:p>
        </p:txBody>
      </p:sp>
      <p:sp>
        <p:nvSpPr>
          <p:cNvPr id="12" name="Rectangle 11"/>
          <p:cNvSpPr/>
          <p:nvPr/>
        </p:nvSpPr>
        <p:spPr>
          <a:xfrm>
            <a:off x="640080" y="2836036"/>
            <a:ext cx="10908792" cy="140042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2836036"/>
            <a:ext cx="54864" cy="1400428"/>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2945764"/>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Ex ante</a:t>
            </a:r>
          </a:p>
        </p:txBody>
      </p:sp>
      <p:sp>
        <p:nvSpPr>
          <p:cNvPr id="15" name="TextBox 14"/>
          <p:cNvSpPr txBox="1"/>
          <p:nvPr/>
        </p:nvSpPr>
        <p:spPr>
          <a:xfrm>
            <a:off x="804671" y="3229228"/>
            <a:ext cx="10616184" cy="91579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Ex ante effects are returned [S3]. Why it matters: Expected sources can be described. Uncertainty: Inputs are assumptions. What would change the view: Refreshed governed inputs.</a:t>
            </a:r>
          </a:p>
        </p:txBody>
      </p:sp>
      <p:sp>
        <p:nvSpPr>
          <p:cNvPr id="16" name="Rectangle 15"/>
          <p:cNvSpPr/>
          <p:nvPr/>
        </p:nvSpPr>
        <p:spPr>
          <a:xfrm>
            <a:off x="640080" y="4346193"/>
            <a:ext cx="10908792" cy="187172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Rectangle 16"/>
          <p:cNvSpPr/>
          <p:nvPr/>
        </p:nvSpPr>
        <p:spPr>
          <a:xfrm>
            <a:off x="640080" y="4346193"/>
            <a:ext cx="54864" cy="187172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04671" y="445592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Comparison</a:t>
            </a:r>
          </a:p>
        </p:txBody>
      </p:sp>
      <p:sp>
        <p:nvSpPr>
          <p:cNvPr id="19" name="TextBox 18"/>
          <p:cNvSpPr txBox="1"/>
          <p:nvPr/>
        </p:nvSpPr>
        <p:spPr>
          <a:xfrm>
            <a:off x="804671" y="4739385"/>
            <a:ext cx="10616184" cy="138709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Server-returned comparison metrics cover three compatible lanes [S5]. Why it matters: Cross-lane evidence is governed. Uncertainty: One comparison receipt limits time-series interpretation. What would change the view: A later receipt returning different lane signs.</a:t>
            </a:r>
          </a:p>
        </p:txBody>
      </p:sp>
      <p:sp>
        <p:nvSpPr>
          <p:cNvPr id="20" name="Rectangle 1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1" name="TextBox 2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 · S5</a:t>
            </a:r>
          </a:p>
        </p:txBody>
      </p:sp>
      <p:sp>
        <p:nvSpPr>
          <p:cNvPr id="22" name="TextBox 2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23" name="TextBox 2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PORTFOLIO, BENCHMARK, COHORT AND CURRENCY IDENTIFIERS MATCH</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Scope and Compatibility</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sp>
        <p:nvSpPr>
          <p:cNvPr id="8" name="Rectangle 7"/>
          <p:cNvSpPr/>
          <p:nvPr/>
        </p:nvSpPr>
        <p:spPr>
          <a:xfrm>
            <a:off x="640080" y="1399032"/>
            <a:ext cx="73152" cy="1867301"/>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896112" y="1371600"/>
            <a:ext cx="10588752" cy="1005840"/>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Compatible for governed three-lane comparison</a:t>
            </a:r>
          </a:p>
        </p:txBody>
      </p:sp>
      <p:sp>
        <p:nvSpPr>
          <p:cNvPr id="10" name="TextBox 9"/>
          <p:cNvSpPr txBox="1"/>
          <p:nvPr/>
        </p:nvSpPr>
        <p:spPr>
          <a:xfrm>
            <a:off x="896112" y="2423160"/>
            <a:ext cx="10588752" cy="604081"/>
          </a:xfrm>
          <a:prstGeom prst="rect">
            <a:avLst/>
          </a:prstGeom>
          <a:noFill/>
        </p:spPr>
        <p:txBody>
          <a:bodyPr wrap="none" lIns="9144" rIns="9144" tIns="9144" bIns="9144" anchor="t">
            <a:spAutoFit/>
          </a:bodyPr>
          <a:lstStyle/>
          <a:p>
            <a:pPr algn="l">
              <a:spcAft>
                <a:spcPts val="0"/>
              </a:spcAft>
              <a:defRPr sz="900" b="0">
                <a:solidFill>
                  <a:srgbClr val="4A5563"/>
                </a:solidFill>
                <a:latin typeface="Inter"/>
              </a:defRPr>
            </a:pPr>
            <a:r>
              <a:rPr>
                <a:latin typeface="Inter"/>
              </a:rPr>
              <a:t>The returned compatibility receipt matches portfolio, benchmark role, parent cohort and calculation currency [S5].</a:t>
            </a:r>
          </a:p>
        </p:txBody>
      </p:sp>
      <p:graphicFrame>
        <p:nvGraphicFramePr>
          <p:cNvPr id="11" name="Table 10"/>
          <p:cNvGraphicFramePr>
            <a:graphicFrameLocks noGrp="1"/>
          </p:cNvGraphicFramePr>
          <p:nvPr/>
        </p:nvGraphicFramePr>
        <p:xfrm>
          <a:off x="640080" y="3449213"/>
          <a:ext cx="10908792" cy="2768706"/>
        </p:xfrm>
        <a:graphic>
          <a:graphicData uri="http://schemas.openxmlformats.org/drawingml/2006/table">
            <a:tbl>
              <a:tblPr firstRow="1" bandRow="1">
                <a:tableStyleId>{5C22544A-7EE6-4342-B048-85BDC9FD1C3A}</a:tableStyleId>
              </a:tblPr>
              <a:tblGrid>
                <a:gridCol w="2011680"/>
                <a:gridCol w="4448556"/>
                <a:gridCol w="4448556"/>
              </a:tblGrid>
              <a:tr h="1384353">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384353">
                <a:tc>
                  <a:txBody>
                    <a:bodyPr/>
                    <a:lstStyle/>
                    <a:p>
                      <a:pPr>
                        <a:defRPr sz="800" b="1">
                          <a:solidFill>
                            <a:srgbClr val="0D1117"/>
                          </a:solidFill>
                          <a:latin typeface="Inter"/>
                        </a:defRPr>
                      </a:pPr>
                      <a:r>
                        <a:rPr>
                          <a:latin typeface="Inter"/>
                        </a:rPr>
                        <a:t>Compatibility gate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Four identifiers match [S2][S3]</a:t>
                      </a:r>
                    </a:p>
                  </a:txBody>
                  <a:tcPr marL="54864" marR="54864" marT="27432" marB="27432" anchor="ctr">
                    <a:solidFill>
                      <a:srgbClr val="FFFFFF"/>
                    </a:solidFill>
                  </a:tcPr>
                </a:tc>
              </a:tr>
            </a:tbl>
          </a:graphicData>
        </a:graphic>
      </p:graphicFrame>
      <p:sp>
        <p:nvSpPr>
          <p:cNvPr id="12" name="Rectangle 1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 · S5</a:t>
            </a:r>
          </a:p>
        </p:txBody>
      </p:sp>
      <p:sp>
        <p:nvSpPr>
          <p:cNvPr id="14" name="TextBox 1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5" name="TextBox 1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HISTORICAL EFFECTS BY SEGMENT</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HISTORICAL PORTFOLIO AND BENCHMARK AVERAGE WEIGHTS</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CUMULATIVE LINKED EFFECTS</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CUMULATIVE ALTERNATIVES SELECTION</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CUMULATIVE GROWTH CONTEXT</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S6</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8" name="Rectangle 7"/>
          <p:cNvSpPr/>
          <p:nvPr/>
        </p:nvSpPr>
        <p:spPr>
          <a:xfrm>
            <a:off x="640080" y="1325880"/>
            <a:ext cx="10908792" cy="2385449"/>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2385449"/>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Selection leads detractors</a:t>
            </a:r>
          </a:p>
        </p:txBody>
      </p:sp>
      <p:sp>
        <p:nvSpPr>
          <p:cNvPr id="11" name="TextBox 10"/>
          <p:cNvSpPr txBox="1"/>
          <p:nvPr/>
        </p:nvSpPr>
        <p:spPr>
          <a:xfrm>
            <a:off x="804671" y="1719072"/>
            <a:ext cx="10616184" cy="1900817"/>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Returned selection is negative [S2]. Why it matters: Selection leads realized detractors. Uncertainty: The evidence covers one linked period. What would change the view: A later historical…</a:t>
            </a:r>
          </a:p>
        </p:txBody>
      </p:sp>
      <p:sp>
        <p:nvSpPr>
          <p:cNvPr id="12" name="Rectangle 11"/>
          <p:cNvSpPr/>
          <p:nvPr/>
        </p:nvSpPr>
        <p:spPr>
          <a:xfrm>
            <a:off x="640080" y="3821057"/>
            <a:ext cx="10908792" cy="239686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3821057"/>
            <a:ext cx="54864" cy="239686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3930785"/>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Benchmark and excess boundary</a:t>
            </a:r>
          </a:p>
        </p:txBody>
      </p:sp>
      <p:sp>
        <p:nvSpPr>
          <p:cNvPr id="15" name="TextBox 14"/>
          <p:cNvSpPr txBox="1"/>
          <p:nvPr/>
        </p:nvSpPr>
        <p:spPr>
          <a:xfrm>
            <a:off x="804671" y="4214249"/>
            <a:ext cx="10616184" cy="191223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Returned diagnostics.entity_return_reconciliation keeps attribution-summary excess against the linked segment benchmark composite separate from historical-return excess against the policy benchmark entity [S2].</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EFFECTS BY SEGMENT</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 ANTE ASSUMPTIONS</a:t>
            </a:r>
          </a:p>
        </p:txBody>
      </p:sp>
      <p:graphicFrame>
        <p:nvGraphicFramePr>
          <p:cNvPr id="9" name="Table 8"/>
          <p:cNvGraphicFramePr>
            <a:graphicFrameLocks noGrp="1"/>
          </p:cNvGraphicFramePr>
          <p:nvPr/>
        </p:nvGraphicFramePr>
        <p:xfrm>
          <a:off x="640080" y="1600200"/>
          <a:ext cx="5239512" cy="4617720"/>
        </p:xfrm>
        <a:graphic>
          <a:graphicData uri="http://schemas.openxmlformats.org/drawingml/2006/table">
            <a:tbl>
              <a:tblPr firstRow="1" bandRow="1">
                <a:tableStyleId>{5C22544A-7EE6-4342-B048-85BDC9FD1C3A}</a:tableStyleId>
              </a:tblPr>
              <a:tblGrid>
                <a:gridCol w="2619756"/>
                <a:gridCol w="2619756"/>
              </a:tblGrid>
              <a:tr h="923544">
                <a:tc>
                  <a:txBody>
                    <a:bodyPr/>
                    <a:lstStyle/>
                    <a:p>
                      <a:pPr>
                        <a:defRPr sz="800" b="1">
                          <a:solidFill>
                            <a:srgbClr val="0D1117"/>
                          </a:solidFill>
                          <a:latin typeface="Inter"/>
                        </a:defRPr>
                      </a:pPr>
                      <a:r>
                        <a:rPr>
                          <a:latin typeface="Inter"/>
                        </a:rPr>
                        <a:t>assumption_set_name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2026 Strategic CMA (TEST) [S3]</a:t>
                      </a:r>
                    </a:p>
                  </a:txBody>
                  <a:tcPr marL="54864" marR="54864" marT="27432" marB="27432" anchor="ctr">
                    <a:solidFill>
                      <a:srgbClr val="FFFFFF"/>
                    </a:solidFill>
                  </a:tcPr>
                </a:tc>
              </a:tr>
              <a:tr h="923544">
                <a:tc>
                  <a:txBody>
                    <a:bodyPr/>
                    <a:lstStyle/>
                    <a:p>
                      <a:pPr>
                        <a:defRPr sz="800" b="1">
                          <a:solidFill>
                            <a:srgbClr val="0D1117"/>
                          </a:solidFill>
                          <a:latin typeface="Inter"/>
                        </a:defRPr>
                      </a:pPr>
                      <a:r>
                        <a:rPr>
                          <a:latin typeface="Inter"/>
                        </a:rPr>
                        <a:t>regime_name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user-defined regime [S3]</a:t>
                      </a:r>
                    </a:p>
                  </a:txBody>
                  <a:tcPr marL="54864" marR="54864" marT="27432" marB="27432" anchor="ctr">
                    <a:solidFill>
                      <a:srgbClr val="F5F7F9"/>
                    </a:solidFill>
                  </a:tcPr>
                </a:tc>
              </a:tr>
              <a:tr h="923544">
                <a:tc>
                  <a:txBody>
                    <a:bodyPr/>
                    <a:lstStyle/>
                    <a:p>
                      <a:pPr>
                        <a:defRPr sz="800" b="1">
                          <a:solidFill>
                            <a:srgbClr val="0D1117"/>
                          </a:solidFill>
                          <a:latin typeface="Inter"/>
                        </a:defRPr>
                      </a:pPr>
                      <a:r>
                        <a:rPr>
                          <a:latin typeface="Inter"/>
                        </a:rPr>
                        <a:t>horizon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year [S3]</a:t>
                      </a:r>
                    </a:p>
                  </a:txBody>
                  <a:tcPr marL="54864" marR="54864" marT="27432" marB="27432" anchor="ctr">
                    <a:solidFill>
                      <a:srgbClr val="FFFFFF"/>
                    </a:solidFill>
                  </a:tcPr>
                </a:tc>
              </a:tr>
              <a:tr h="923544">
                <a:tc>
                  <a:txBody>
                    <a:bodyPr/>
                    <a:lstStyle/>
                    <a:p>
                      <a:pPr>
                        <a:defRPr sz="800" b="1">
                          <a:solidFill>
                            <a:srgbClr val="0D1117"/>
                          </a:solidFill>
                          <a:latin typeface="Inter"/>
                        </a:defRPr>
                      </a:pPr>
                      <a:r>
                        <a:rPr>
                          <a:latin typeface="Inter"/>
                        </a:rPr>
                        <a:t>portfolio_return_source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allocation_expected_return_base [S3]</a:t>
                      </a:r>
                    </a:p>
                  </a:txBody>
                  <a:tcPr marL="54864" marR="54864" marT="27432" marB="27432" anchor="ctr">
                    <a:solidFill>
                      <a:srgbClr val="F5F7F9"/>
                    </a:solidFill>
                  </a:tcPr>
                </a:tc>
              </a:tr>
              <a:tr h="923544">
                <a:tc>
                  <a:txBody>
                    <a:bodyPr/>
                    <a:lstStyle/>
                    <a:p>
                      <a:pPr>
                        <a:defRPr sz="800" b="1">
                          <a:solidFill>
                            <a:srgbClr val="0D1117"/>
                          </a:solidFill>
                          <a:latin typeface="Inter"/>
                        </a:defRPr>
                      </a:pPr>
                      <a:r>
                        <a:rPr>
                          <a:latin typeface="Inter"/>
                        </a:rPr>
                        <a:t>benchmark_return_source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benchmark_expected_return_base [S3]</a:t>
                      </a:r>
                    </a:p>
                  </a:txBody>
                  <a:tcPr marL="54864" marR="54864" marT="27432" marB="27432" anchor="ctr">
                    <a:solidFill>
                      <a:srgbClr val="FFFFFF"/>
                    </a:solidFill>
                  </a:tcPr>
                </a:tc>
              </a:tr>
            </a:tbl>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PORTFOLIO AND BENCHMARK RETURNS</a:t>
            </a:r>
          </a:p>
        </p:txBody>
      </p:sp>
      <p:graphicFrame>
        <p:nvGraphicFramePr>
          <p:cNvPr id="12" name="Chart 11"/>
          <p:cNvGraphicFramePr>
            <a:graphicFrameLocks noGrp="1"/>
          </p:cNvGraphicFramePr>
          <p:nvPr/>
        </p:nvGraphicFramePr>
        <p:xfrm>
          <a:off x="6309360" y="1600200"/>
          <a:ext cx="5239512" cy="4617720"/>
        </p:xfrm>
        <a:graphic>
          <a:graphicData uri="http://schemas.openxmlformats.org/drawingml/2006/chart">
            <c:chart xmlns:c="http://schemas.openxmlformats.org/drawingml/2006/chart" r:id="rId2"/>
          </a:graphicData>
        </a:graphic>
      </p:graphicFrame>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8" name="Rectangle 7"/>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Rectangle 8"/>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Allocation leads expectations</a:t>
            </a:r>
          </a:p>
        </p:txBody>
      </p:sp>
      <p:sp>
        <p:nvSpPr>
          <p:cNvPr id="11" name="TextBox 10"/>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Returned allocation is positive [S3]. Why it matters: Allocation leads expected effects. Uncertainty: Inputs are assumptions. What would change the view: A refreshed ex ante result.</a:t>
            </a:r>
          </a:p>
        </p:txBody>
      </p:sp>
      <p:sp>
        <p:nvSpPr>
          <p:cNvPr id="12" name="Rectangle 1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4" name="TextBox 1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5" name="TextBox 1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SIMULATION RETURNS SCENARIO EFFECTS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Simulated Attribution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SIMULATED EFFECT BANDS</a:t>
            </a:r>
          </a:p>
        </p:txBody>
      </p:sp>
      <p:sp>
        <p:nvSpPr>
          <p:cNvPr id="9" name="TextBox 8"/>
          <p:cNvSpPr txBox="1"/>
          <p:nvPr/>
        </p:nvSpPr>
        <p:spPr>
          <a:xfrm>
            <a:off x="640080" y="1636776"/>
            <a:ext cx="1828800" cy="1493520"/>
          </a:xfrm>
          <a:prstGeom prst="rect">
            <a:avLst/>
          </a:prstGeom>
          <a:noFill/>
        </p:spPr>
        <p:txBody>
          <a:bodyPr wrap="none" lIns="9144" rIns="9144" tIns="9144" bIns="9144" anchor="t">
            <a:spAutoFit/>
          </a:bodyPr>
          <a:lstStyle/>
          <a:p>
            <a:pPr algn="r">
              <a:spcAft>
                <a:spcPts val="0"/>
              </a:spcAft>
              <a:defRPr sz="800" b="1">
                <a:solidFill>
                  <a:srgbClr val="0D1117"/>
                </a:solidFill>
                <a:latin typeface="Inter"/>
              </a:defRPr>
            </a:pPr>
            <a:r>
              <a:rPr>
                <a:latin typeface="Inter"/>
              </a:rPr>
              <a:t>Allocation</a:t>
            </a:r>
          </a:p>
        </p:txBody>
      </p:sp>
      <p:sp>
        <p:nvSpPr>
          <p:cNvPr id="10" name="Rectangle 9"/>
          <p:cNvSpPr/>
          <p:nvPr/>
        </p:nvSpPr>
        <p:spPr>
          <a:xfrm>
            <a:off x="7761427" y="2185111"/>
            <a:ext cx="3467404" cy="10058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Oval 10"/>
          <p:cNvSpPr/>
          <p:nvPr/>
        </p:nvSpPr>
        <p:spPr>
          <a:xfrm>
            <a:off x="9458553" y="2061972"/>
            <a:ext cx="73152" cy="219456"/>
          </a:xfrm>
          <a:prstGeom prst="ellipse">
            <a:avLst/>
          </a:prstGeom>
          <a:solidFill>
            <a:srgbClr val="4F6B00"/>
          </a:solidFill>
          <a:ln>
            <a:solidFill>
              <a:srgbClr val="4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9481413" y="1908048"/>
            <a:ext cx="27432" cy="34747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640080" y="3176016"/>
            <a:ext cx="1828800" cy="1493520"/>
          </a:xfrm>
          <a:prstGeom prst="rect">
            <a:avLst/>
          </a:prstGeom>
          <a:noFill/>
        </p:spPr>
        <p:txBody>
          <a:bodyPr wrap="none" lIns="9144" rIns="9144" tIns="9144" bIns="9144" anchor="t">
            <a:spAutoFit/>
          </a:bodyPr>
          <a:lstStyle/>
          <a:p>
            <a:pPr algn="r">
              <a:spcAft>
                <a:spcPts val="0"/>
              </a:spcAft>
              <a:defRPr sz="800" b="1">
                <a:solidFill>
                  <a:srgbClr val="0D1117"/>
                </a:solidFill>
                <a:latin typeface="Inter"/>
              </a:defRPr>
            </a:pPr>
            <a:r>
              <a:rPr>
                <a:latin typeface="Inter"/>
              </a:rPr>
              <a:t>Selection</a:t>
            </a:r>
          </a:p>
        </p:txBody>
      </p:sp>
      <p:sp>
        <p:nvSpPr>
          <p:cNvPr id="14" name="Rectangle 13"/>
          <p:cNvSpPr/>
          <p:nvPr/>
        </p:nvSpPr>
        <p:spPr>
          <a:xfrm>
            <a:off x="2560320" y="3724351"/>
            <a:ext cx="5201107" cy="10058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Oval 14"/>
          <p:cNvSpPr/>
          <p:nvPr/>
        </p:nvSpPr>
        <p:spPr>
          <a:xfrm>
            <a:off x="5124297" y="3601212"/>
            <a:ext cx="73152" cy="219456"/>
          </a:xfrm>
          <a:prstGeom prst="ellipse">
            <a:avLst/>
          </a:prstGeom>
          <a:solidFill>
            <a:srgbClr val="4F6B00"/>
          </a:solidFill>
          <a:ln>
            <a:solidFill>
              <a:srgbClr val="4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Rectangle 15"/>
          <p:cNvSpPr/>
          <p:nvPr/>
        </p:nvSpPr>
        <p:spPr>
          <a:xfrm>
            <a:off x="5147157" y="3447288"/>
            <a:ext cx="27432" cy="34747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4715256"/>
            <a:ext cx="1828800" cy="1493520"/>
          </a:xfrm>
          <a:prstGeom prst="rect">
            <a:avLst/>
          </a:prstGeom>
          <a:noFill/>
        </p:spPr>
        <p:txBody>
          <a:bodyPr wrap="none" lIns="9144" rIns="9144" tIns="9144" bIns="9144" anchor="t">
            <a:spAutoFit/>
          </a:bodyPr>
          <a:lstStyle/>
          <a:p>
            <a:pPr algn="r">
              <a:spcAft>
                <a:spcPts val="0"/>
              </a:spcAft>
              <a:defRPr sz="800" b="1">
                <a:solidFill>
                  <a:srgbClr val="0D1117"/>
                </a:solidFill>
                <a:latin typeface="Inter"/>
              </a:defRPr>
            </a:pPr>
            <a:r>
              <a:rPr>
                <a:latin typeface="Inter"/>
              </a:rPr>
              <a:t>Interaction</a:t>
            </a:r>
          </a:p>
        </p:txBody>
      </p:sp>
      <p:sp>
        <p:nvSpPr>
          <p:cNvPr id="18" name="Rectangle 17"/>
          <p:cNvSpPr/>
          <p:nvPr/>
        </p:nvSpPr>
        <p:spPr>
          <a:xfrm>
            <a:off x="6027724" y="5263591"/>
            <a:ext cx="2600553" cy="10058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Oval 18"/>
          <p:cNvSpPr/>
          <p:nvPr/>
        </p:nvSpPr>
        <p:spPr>
          <a:xfrm>
            <a:off x="7204740" y="5140452"/>
            <a:ext cx="73152" cy="219456"/>
          </a:xfrm>
          <a:prstGeom prst="ellipse">
            <a:avLst/>
          </a:prstGeom>
          <a:solidFill>
            <a:srgbClr val="4F6B00"/>
          </a:solidFill>
          <a:ln>
            <a:solidFill>
              <a:srgbClr val="4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Rectangle 19"/>
          <p:cNvSpPr/>
          <p:nvPr/>
        </p:nvSpPr>
        <p:spPr>
          <a:xfrm>
            <a:off x="7227600" y="4986528"/>
            <a:ext cx="27432" cy="34747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1" name="Rectangle 2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TextBox 2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S4</a:t>
            </a:r>
          </a:p>
        </p:txBody>
      </p:sp>
      <p:sp>
        <p:nvSpPr>
          <p:cNvPr id="23" name="TextBox 2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24" name="TextBox 2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SIMULATION RETURNS SCENARIO EFFECTS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Simulated Attribution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SCENARIO SELECTOR</a:t>
            </a:r>
          </a:p>
        </p:txBody>
      </p:sp>
      <p:graphicFrame>
        <p:nvGraphicFramePr>
          <p:cNvPr id="9" name="Table 8"/>
          <p:cNvGraphicFramePr>
            <a:graphicFrameLocks noGrp="1"/>
          </p:cNvGraphicFramePr>
          <p:nvPr/>
        </p:nvGraphicFramePr>
        <p:xfrm>
          <a:off x="640080" y="1600200"/>
          <a:ext cx="10908792" cy="1536058"/>
        </p:xfrm>
        <a:graphic>
          <a:graphicData uri="http://schemas.openxmlformats.org/drawingml/2006/table">
            <a:tbl>
              <a:tblPr firstRow="1" bandRow="1">
                <a:tableStyleId>{5C22544A-7EE6-4342-B048-85BDC9FD1C3A}</a:tableStyleId>
              </a:tblPr>
              <a:tblGrid>
                <a:gridCol w="2011680"/>
                <a:gridCol w="2965704"/>
                <a:gridCol w="2965704"/>
                <a:gridCol w="2965704"/>
              </a:tblGrid>
              <a:tr h="384014">
                <a:tc>
                  <a:txBody>
                    <a:bodyPr/>
                    <a:lstStyle/>
                    <a:p>
                      <a:pPr>
                        <a:defRPr sz="750" b="1">
                          <a:solidFill>
                            <a:srgbClr val="FFFFFF"/>
                          </a:solidFill>
                          <a:latin typeface="Inter"/>
                        </a:defRPr>
                      </a:pPr>
                      <a:r>
                        <a:rPr>
                          <a:latin typeface="Inter"/>
                        </a:rPr>
                        <a:t>Scenario ID</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Scenario</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Selected</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r>
              <a:tr h="384014">
                <a:tc>
                  <a:txBody>
                    <a:bodyPr/>
                    <a:lstStyle/>
                    <a:p>
                      <a:pPr>
                        <a:defRPr sz="800" b="1">
                          <a:solidFill>
                            <a:srgbClr val="0D1117"/>
                          </a:solidFill>
                          <a:latin typeface="Inter"/>
                        </a:defRPr>
                      </a:pPr>
                      <a:r>
                        <a:rPr>
                          <a:latin typeface="Inter"/>
                        </a:rPr>
                        <a:t>scenario-base-test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Base scenario (TEST)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Yes</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1-year simulated</a:t>
                      </a:r>
                    </a:p>
                  </a:txBody>
                  <a:tcPr marL="54864" marR="54864" marT="27432" marB="27432" anchor="ctr">
                    <a:solidFill>
                      <a:srgbClr val="FFFFFF"/>
                    </a:solidFill>
                  </a:tcPr>
                </a:tc>
              </a:tr>
              <a:tr h="384014">
                <a:tc>
                  <a:txBody>
                    <a:bodyPr/>
                    <a:lstStyle/>
                    <a:p>
                      <a:pPr>
                        <a:defRPr sz="800" b="1">
                          <a:solidFill>
                            <a:srgbClr val="0D1117"/>
                          </a:solidFill>
                          <a:latin typeface="Inter"/>
                        </a:defRPr>
                      </a:pPr>
                      <a:r>
                        <a:rPr>
                          <a:latin typeface="Inter"/>
                        </a:rPr>
                        <a:t>scenario-down-test</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Downside scenario (TEST)</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1-year simulated</a:t>
                      </a:r>
                    </a:p>
                  </a:txBody>
                  <a:tcPr marL="54864" marR="54864" marT="27432" marB="27432" anchor="ctr">
                    <a:solidFill>
                      <a:srgbClr val="F5F7F9"/>
                    </a:solidFill>
                  </a:tcPr>
                </a:tc>
              </a:tr>
              <a:tr h="384016">
                <a:tc>
                  <a:txBody>
                    <a:bodyPr/>
                    <a:lstStyle/>
                    <a:p>
                      <a:pPr>
                        <a:defRPr sz="800" b="1">
                          <a:solidFill>
                            <a:srgbClr val="0D1117"/>
                          </a:solidFill>
                          <a:latin typeface="Inter"/>
                        </a:defRPr>
                      </a:pPr>
                      <a:r>
                        <a:rPr>
                          <a:latin typeface="Inter"/>
                        </a:rPr>
                        <a:t>scenario-up-test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Upside scenario (TEST)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No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1-year simulated</a:t>
                      </a:r>
                    </a:p>
                  </a:txBody>
                  <a:tcPr marL="54864" marR="54864" marT="27432" marB="27432" anchor="ctr">
                    <a:solidFill>
                      <a:srgbClr val="FFFFFF"/>
                    </a:solidFill>
                  </a:tcPr>
                </a:tc>
              </a:tr>
            </a:tbl>
          </a:graphicData>
        </a:graphic>
      </p:graphicFrame>
      <p:sp>
        <p:nvSpPr>
          <p:cNvPr id="10" name="TextBox 9"/>
          <p:cNvSpPr txBox="1"/>
          <p:nvPr/>
        </p:nvSpPr>
        <p:spPr>
          <a:xfrm>
            <a:off x="640080" y="3154546"/>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Returned scenario selector; no locally invented scenarios [S4].</a:t>
            </a:r>
          </a:p>
        </p:txBody>
      </p:sp>
      <p:graphicFrame>
        <p:nvGraphicFramePr>
          <p:cNvPr id="11" name="Table 10"/>
          <p:cNvGraphicFramePr>
            <a:graphicFrameLocks noGrp="1"/>
          </p:cNvGraphicFramePr>
          <p:nvPr/>
        </p:nvGraphicFramePr>
        <p:xfrm>
          <a:off x="640080" y="3447154"/>
          <a:ext cx="10908792" cy="1409364"/>
        </p:xfrm>
        <a:graphic>
          <a:graphicData uri="http://schemas.openxmlformats.org/drawingml/2006/table">
            <a:tbl>
              <a:tblPr firstRow="1" bandRow="1">
                <a:tableStyleId>{5C22544A-7EE6-4342-B048-85BDC9FD1C3A}</a:tableStyleId>
              </a:tblPr>
              <a:tblGrid>
                <a:gridCol w="2011680"/>
                <a:gridCol w="4448556"/>
                <a:gridCol w="4448556"/>
              </a:tblGrid>
              <a:tr h="704682">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704682">
                <a:tc>
                  <a:txBody>
                    <a:bodyPr/>
                    <a:lstStyle/>
                    <a:p>
                      <a:pPr>
                        <a:defRPr sz="800" b="1">
                          <a:solidFill>
                            <a:srgbClr val="0D1117"/>
                          </a:solidFill>
                          <a:latin typeface="Inter"/>
                        </a:defRPr>
                      </a:pPr>
                      <a:r>
                        <a:rPr>
                          <a:latin typeface="Inter"/>
                        </a:rPr>
                        <a:t>Capability gate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Exact simulation capability was available before invocation [S1][S4]</a:t>
                      </a:r>
                    </a:p>
                  </a:txBody>
                  <a:tcPr marL="54864" marR="54864" marT="27432" marB="27432" anchor="ctr">
                    <a:solidFill>
                      <a:srgbClr val="FFFFFF"/>
                    </a:solidFill>
                  </a:tcPr>
                </a:tc>
              </a:tr>
            </a:tbl>
          </a:graphicData>
        </a:graphic>
      </p:graphicFrame>
      <p:sp>
        <p:nvSpPr>
          <p:cNvPr id="12" name="Rectangle 11"/>
          <p:cNvSpPr/>
          <p:nvPr/>
        </p:nvSpPr>
        <p:spPr>
          <a:xfrm>
            <a:off x="640080" y="4966247"/>
            <a:ext cx="10908792" cy="125167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4966247"/>
            <a:ext cx="54864" cy="125167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5075975"/>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Scenario range returned</a:t>
            </a:r>
          </a:p>
        </p:txBody>
      </p:sp>
      <p:sp>
        <p:nvSpPr>
          <p:cNvPr id="15" name="TextBox 14"/>
          <p:cNvSpPr txBox="1"/>
          <p:nvPr/>
        </p:nvSpPr>
        <p:spPr>
          <a:xfrm>
            <a:off x="804671" y="5359439"/>
            <a:ext cx="10616184" cy="76704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The governed simulation returned effect bands and a selected base scenario [S4]. Why it matters: Scenario context is explicit. Uncertainty: Results depend on governed scenario inputs. What…</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S4</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CROSS-LANE EFFECT MATRIX</a:t>
            </a:r>
          </a:p>
        </p:txBody>
      </p:sp>
      <p:graphicFrame>
        <p:nvGraphicFramePr>
          <p:cNvPr id="9" name="Table 8"/>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727198"/>
                <a:gridCol w="2727198"/>
                <a:gridCol w="2727198"/>
                <a:gridCol w="2727198"/>
              </a:tblGrid>
              <a:tr h="1154430">
                <a:tc>
                  <a:txBody>
                    <a:bodyPr/>
                    <a:lstStyle/>
                    <a:p>
                      <a:pPr>
                        <a:defRPr sz="700" b="1">
                          <a:solidFill>
                            <a:srgbClr val="FFFFFF"/>
                          </a:solidFill>
                          <a:latin typeface="Inter"/>
                        </a:defRPr>
                      </a:pP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Realized</a:t>
                      </a: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Expected</a:t>
                      </a: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Simulated</a:t>
                      </a:r>
                    </a:p>
                  </a:txBody>
                  <a:tcPr marL="54864" marR="54864" marT="27432" marB="27432" anchor="ctr">
                    <a:solidFill>
                      <a:srgbClr val="0D1117"/>
                    </a:solidFill>
                  </a:tcPr>
                </a:tc>
              </a:tr>
              <a:tr h="1154430">
                <a:tc>
                  <a:txBody>
                    <a:bodyPr/>
                    <a:lstStyle/>
                    <a:p>
                      <a:pPr>
                        <a:defRPr sz="750" b="1">
                          <a:solidFill>
                            <a:srgbClr val="FFFFFF"/>
                          </a:solidFill>
                          <a:latin typeface="Inter"/>
                        </a:defRPr>
                      </a:pPr>
                      <a:r>
                        <a:rPr>
                          <a:latin typeface="Inter"/>
                        </a:rPr>
                        <a:t>Allocation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0.2</a:t>
                      </a:r>
                    </a:p>
                  </a:txBody>
                  <a:tcPr marL="54864" marR="54864" marT="27432" marB="27432" anchor="ctr">
                    <a:solidFill>
                      <a:srgbClr val="CEF453"/>
                    </a:solidFill>
                  </a:tcPr>
                </a:tc>
                <a:tc>
                  <a:txBody>
                    <a:bodyPr/>
                    <a:lstStyle/>
                    <a:p>
                      <a:pPr>
                        <a:defRPr sz="750" b="0">
                          <a:solidFill>
                            <a:srgbClr val="0D1117"/>
                          </a:solidFill>
                          <a:latin typeface="Inter"/>
                        </a:defRPr>
                      </a:pPr>
                      <a:r>
                        <a:rPr>
                          <a:latin typeface="Inter"/>
                        </a:rPr>
                        <a:t>0.4</a:t>
                      </a:r>
                    </a:p>
                  </a:txBody>
                  <a:tcPr marL="54864" marR="54864" marT="27432" marB="27432" anchor="ctr">
                    <a:solidFill>
                      <a:srgbClr val="C6F432"/>
                    </a:solidFill>
                  </a:tcPr>
                </a:tc>
                <a:tc>
                  <a:txBody>
                    <a:bodyPr/>
                    <a:lstStyle/>
                    <a:p>
                      <a:pPr>
                        <a:defRPr sz="750" b="0">
                          <a:solidFill>
                            <a:srgbClr val="0D1117"/>
                          </a:solidFill>
                          <a:latin typeface="Inter"/>
                        </a:defRPr>
                      </a:pPr>
                      <a:r>
                        <a:rPr>
                          <a:latin typeface="Inter"/>
                        </a:rPr>
                        <a:t>0.3</a:t>
                      </a:r>
                    </a:p>
                  </a:txBody>
                  <a:tcPr marL="54864" marR="54864" marT="27432" marB="27432" anchor="ctr">
                    <a:solidFill>
                      <a:srgbClr val="CAF443"/>
                    </a:solidFill>
                  </a:tcPr>
                </a:tc>
              </a:tr>
              <a:tr h="1154430">
                <a:tc>
                  <a:txBody>
                    <a:bodyPr/>
                    <a:lstStyle/>
                    <a:p>
                      <a:pPr>
                        <a:defRPr sz="750" b="1">
                          <a:solidFill>
                            <a:srgbClr val="FFFFFF"/>
                          </a:solidFill>
                          <a:latin typeface="Inter"/>
                        </a:defRPr>
                      </a:pPr>
                      <a:r>
                        <a:rPr>
                          <a:latin typeface="Inter"/>
                        </a:rPr>
                        <a:t>Selection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-0.8</a:t>
                      </a:r>
                    </a:p>
                  </a:txBody>
                  <a:tcPr marL="54864" marR="54864" marT="27432" marB="27432" anchor="ctr">
                    <a:solidFill>
                      <a:srgbClr val="F5F7F9"/>
                    </a:solidFill>
                  </a:tcPr>
                </a:tc>
                <a:tc>
                  <a:txBody>
                    <a:bodyPr/>
                    <a:lstStyle/>
                    <a:p>
                      <a:pPr>
                        <a:defRPr sz="750" b="0">
                          <a:solidFill>
                            <a:srgbClr val="0D1117"/>
                          </a:solidFill>
                          <a:latin typeface="Inter"/>
                        </a:defRPr>
                      </a:pPr>
                      <a:r>
                        <a:rPr>
                          <a:latin typeface="Inter"/>
                        </a:rPr>
                        <a:t>-0.1</a:t>
                      </a:r>
                    </a:p>
                  </a:txBody>
                  <a:tcPr marL="54864" marR="54864" marT="27432" marB="27432" anchor="ctr">
                    <a:solidFill>
                      <a:srgbClr val="DAF585"/>
                    </a:solidFill>
                  </a:tcPr>
                </a:tc>
                <a:tc>
                  <a:txBody>
                    <a:bodyPr/>
                    <a:lstStyle/>
                    <a:p>
                      <a:pPr>
                        <a:defRPr sz="750" b="0">
                          <a:solidFill>
                            <a:srgbClr val="0D1117"/>
                          </a:solidFill>
                          <a:latin typeface="Inter"/>
                        </a:defRPr>
                      </a:pPr>
                      <a:r>
                        <a:rPr>
                          <a:latin typeface="Inter"/>
                        </a:rPr>
                        <a:t>-0.2</a:t>
                      </a:r>
                    </a:p>
                  </a:txBody>
                  <a:tcPr marL="54864" marR="54864" marT="27432" marB="27432" anchor="ctr">
                    <a:solidFill>
                      <a:srgbClr val="DEF696"/>
                    </a:solidFill>
                  </a:tcPr>
                </a:tc>
              </a:tr>
              <a:tr h="1154430">
                <a:tc>
                  <a:txBody>
                    <a:bodyPr/>
                    <a:lstStyle/>
                    <a:p>
                      <a:pPr>
                        <a:defRPr sz="750" b="1">
                          <a:solidFill>
                            <a:srgbClr val="FFFFFF"/>
                          </a:solidFill>
                          <a:latin typeface="Inter"/>
                        </a:defRPr>
                      </a:pPr>
                      <a:r>
                        <a:rPr>
                          <a:latin typeface="Inter"/>
                        </a:rPr>
                        <a:t>Interaction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0.0</a:t>
                      </a:r>
                    </a:p>
                  </a:txBody>
                  <a:tcPr marL="54864" marR="54864" marT="27432" marB="27432" anchor="ctr">
                    <a:solidFill>
                      <a:srgbClr val="D6F574"/>
                    </a:solidFill>
                  </a:tcPr>
                </a:tc>
                <a:tc>
                  <a:txBody>
                    <a:bodyPr/>
                    <a:lstStyle/>
                    <a:p>
                      <a:pPr>
                        <a:defRPr sz="750" b="0">
                          <a:solidFill>
                            <a:srgbClr val="0D1117"/>
                          </a:solidFill>
                          <a:latin typeface="Inter"/>
                        </a:defRPr>
                      </a:pPr>
                      <a:r>
                        <a:rPr>
                          <a:latin typeface="Inter"/>
                        </a:rPr>
                        <a:t>0.05</a:t>
                      </a:r>
                    </a:p>
                  </a:txBody>
                  <a:tcPr marL="54864" marR="54864" marT="27432" marB="27432" anchor="ctr">
                    <a:solidFill>
                      <a:srgbClr val="D4F56C"/>
                    </a:solidFill>
                  </a:tcPr>
                </a:tc>
                <a:tc>
                  <a:txBody>
                    <a:bodyPr/>
                    <a:lstStyle/>
                    <a:p>
                      <a:pPr>
                        <a:defRPr sz="750" b="0">
                          <a:solidFill>
                            <a:srgbClr val="0D1117"/>
                          </a:solidFill>
                          <a:latin typeface="Inter"/>
                        </a:defRPr>
                      </a:pPr>
                      <a:r>
                        <a:rPr>
                          <a:latin typeface="Inter"/>
                        </a:rPr>
                        <a:t>0.04</a:t>
                      </a:r>
                    </a:p>
                  </a:txBody>
                  <a:tcPr marL="54864" marR="54864" marT="27432" marB="27432" anchor="ctr">
                    <a:solidFill>
                      <a:srgbClr val="D4F56E"/>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8" name="TextBox 7"/>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REALIZED RETURNED EFFECTS</a:t>
            </a:r>
          </a:p>
        </p:txBody>
      </p:sp>
      <p:graphicFrame>
        <p:nvGraphicFramePr>
          <p:cNvPr id="9" name="Chart 8"/>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0" name="Rectangle 9"/>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RETURNED EFFECTS</a:t>
            </a:r>
          </a:p>
        </p:txBody>
      </p:sp>
      <p:graphicFrame>
        <p:nvGraphicFramePr>
          <p:cNvPr id="12" name="Chart 11"/>
          <p:cNvGraphicFramePr>
            <a:graphicFrameLocks noGrp="1"/>
          </p:cNvGraphicFramePr>
          <p:nvPr/>
        </p:nvGraphicFramePr>
        <p:xfrm>
          <a:off x="6309360" y="1600200"/>
          <a:ext cx="5239512" cy="4617720"/>
        </p:xfrm>
        <a:graphic>
          <a:graphicData uri="http://schemas.openxmlformats.org/drawingml/2006/chart">
            <c:chart xmlns:c="http://schemas.openxmlformats.org/drawingml/2006/chart" r:id="rId3"/>
          </a:graphicData>
        </a:graphic>
      </p:graphicFrame>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LANE DIFFERENCES</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CONCENTRATION</a:t>
            </a:r>
          </a:p>
        </p:txBody>
      </p:sp>
      <p:graphicFrame>
        <p:nvGraphicFramePr>
          <p:cNvPr id="9" name="Chart 8"/>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PERSISTENCE</a:t>
            </a:r>
          </a:p>
        </p:txBody>
      </p:sp>
      <p:graphicFrame>
        <p:nvGraphicFramePr>
          <p:cNvPr id="9" name="Table 8"/>
          <p:cNvGraphicFramePr>
            <a:graphicFrameLocks noGrp="1"/>
          </p:cNvGraphicFramePr>
          <p:nvPr/>
        </p:nvGraphicFramePr>
        <p:xfrm>
          <a:off x="640080" y="1600200"/>
          <a:ext cx="10908792" cy="2250202"/>
        </p:xfrm>
        <a:graphic>
          <a:graphicData uri="http://schemas.openxmlformats.org/drawingml/2006/table">
            <a:tbl>
              <a:tblPr firstRow="1" bandRow="1">
                <a:tableStyleId>{5C22544A-7EE6-4342-B048-85BDC9FD1C3A}</a:tableStyleId>
              </a:tblPr>
              <a:tblGrid>
                <a:gridCol w="2011680"/>
                <a:gridCol w="4448556"/>
                <a:gridCol w="4448556"/>
              </a:tblGrid>
              <a:tr h="562550">
                <a:tc>
                  <a:txBody>
                    <a:bodyPr/>
                    <a:lstStyle/>
                    <a:p>
                      <a:pPr>
                        <a:defRPr sz="750" b="1">
                          <a:solidFill>
                            <a:srgbClr val="FFFFFF"/>
                          </a:solidFill>
                          <a:latin typeface="Inter"/>
                        </a:defRPr>
                      </a:pPr>
                      <a:r>
                        <a:rPr>
                          <a:latin typeface="Inter"/>
                        </a:rPr>
                        <a:t>Effect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lanes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Persistence status</a:t>
                      </a:r>
                    </a:p>
                  </a:txBody>
                  <a:tcPr marL="54864" marR="54864" marT="27432" marB="27432" anchor="ctr">
                    <a:solidFill>
                      <a:srgbClr val="0D1117"/>
                    </a:solidFill>
                  </a:tcPr>
                </a:tc>
              </a:tr>
              <a:tr h="562550">
                <a:tc>
                  <a:txBody>
                    <a:bodyPr/>
                    <a:lstStyle/>
                    <a:p>
                      <a:pPr>
                        <a:defRPr sz="800" b="1">
                          <a:solidFill>
                            <a:srgbClr val="0D1117"/>
                          </a:solidFill>
                          <a:latin typeface="Inter"/>
                        </a:defRPr>
                      </a:pPr>
                      <a:r>
                        <a:rPr>
                          <a:latin typeface="Inter"/>
                        </a:rPr>
                        <a:t>Allocation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Historical · Expected · Simulated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Persistent</a:t>
                      </a:r>
                    </a:p>
                  </a:txBody>
                  <a:tcPr marL="54864" marR="54864" marT="27432" marB="27432" anchor="ctr">
                    <a:solidFill>
                      <a:srgbClr val="FFFFFF"/>
                    </a:solidFill>
                  </a:tcPr>
                </a:tc>
              </a:tr>
              <a:tr h="562550">
                <a:tc>
                  <a:txBody>
                    <a:bodyPr/>
                    <a:lstStyle/>
                    <a:p>
                      <a:pPr>
                        <a:defRPr sz="800" b="1">
                          <a:solidFill>
                            <a:srgbClr val="0D1117"/>
                          </a:solidFill>
                          <a:latin typeface="Inter"/>
                        </a:defRPr>
                      </a:pPr>
                      <a:r>
                        <a:rPr>
                          <a:latin typeface="Inter"/>
                        </a:rPr>
                        <a:t>Selection</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Historical · Expected · Simulated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Persistent negative</a:t>
                      </a:r>
                    </a:p>
                  </a:txBody>
                  <a:tcPr marL="54864" marR="54864" marT="27432" marB="27432" anchor="ctr">
                    <a:solidFill>
                      <a:srgbClr val="F5F7F9"/>
                    </a:solidFill>
                  </a:tcPr>
                </a:tc>
              </a:tr>
              <a:tr h="562552">
                <a:tc>
                  <a:txBody>
                    <a:bodyPr/>
                    <a:lstStyle/>
                    <a:p>
                      <a:pPr>
                        <a:defRPr sz="800" b="1">
                          <a:solidFill>
                            <a:srgbClr val="0D1117"/>
                          </a:solidFill>
                          <a:latin typeface="Inter"/>
                        </a:defRPr>
                      </a:pPr>
                      <a:r>
                        <a:rPr>
                          <a:latin typeface="Inter"/>
                        </a:rPr>
                        <a:t>Interaction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Expected · Simulated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Partial</a:t>
                      </a:r>
                    </a:p>
                  </a:txBody>
                  <a:tcPr marL="54864" marR="54864" marT="27432" marB="27432" anchor="ctr">
                    <a:solidFill>
                      <a:srgbClr val="FFFFFF"/>
                    </a:solidFill>
                  </a:tcPr>
                </a:tc>
              </a:tr>
            </a:tbl>
          </a:graphicData>
        </a:graphic>
      </p:graphicFrame>
      <p:sp>
        <p:nvSpPr>
          <p:cNvPr id="10" name="TextBox 9"/>
          <p:cNvSpPr txBox="1"/>
          <p:nvPr/>
        </p:nvSpPr>
        <p:spPr>
          <a:xfrm>
            <a:off x="640080" y="3868690"/>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Server-returned persistence labels [S5].</a:t>
            </a:r>
          </a:p>
        </p:txBody>
      </p:sp>
      <p:sp>
        <p:nvSpPr>
          <p:cNvPr id="11" name="Rectangle 10"/>
          <p:cNvSpPr/>
          <p:nvPr/>
        </p:nvSpPr>
        <p:spPr>
          <a:xfrm>
            <a:off x="640080" y="4161298"/>
            <a:ext cx="10908792" cy="2056621"/>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640080" y="4161298"/>
            <a:ext cx="54864" cy="2056621"/>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804671" y="427102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Governed comparison fields returned</a:t>
            </a:r>
          </a:p>
        </p:txBody>
      </p:sp>
      <p:sp>
        <p:nvSpPr>
          <p:cNvPr id="14" name="TextBox 13"/>
          <p:cNvSpPr txBox="1"/>
          <p:nvPr/>
        </p:nvSpPr>
        <p:spPr>
          <a:xfrm>
            <a:off x="804671" y="4554490"/>
            <a:ext cx="10616184" cy="1571989"/>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The server returned differences, concentration and persistence for three compatible lanes [S5]. Why it matters: Cross-lane claims use governed fields. Uncertainty: One receipt limits time-series interpretation. What…</a:t>
            </a:r>
          </a:p>
        </p:txBody>
      </p:sp>
      <p:sp>
        <p:nvSpPr>
          <p:cNvPr id="15" name="Rectangle 14"/>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TextBox 15"/>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17" name="TextBox 16"/>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8" name="TextBox 17"/>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LIVE LANES AND TWO CAPABILITY GAPS DEFINE COVERAGE</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Coverage and Limitations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07</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122301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223010">
                <a:tc>
                  <a:txBody>
                    <a:bodyPr/>
                    <a:lstStyle/>
                    <a:p>
                      <a:pPr>
                        <a:defRPr sz="800" b="1">
                          <a:solidFill>
                            <a:srgbClr val="0D1117"/>
                          </a:solidFill>
                          <a:latin typeface="Inter"/>
                        </a:defRPr>
                      </a:pPr>
                      <a:r>
                        <a:rPr>
                          <a:latin typeface="Inter"/>
                        </a:rPr>
                        <a:t>Historical</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Governed result [S2]</a:t>
                      </a:r>
                    </a:p>
                  </a:txBody>
                  <a:tcPr marL="54864" marR="54864" marT="27432" marB="27432" anchor="ctr">
                    <a:solidFill>
                      <a:srgbClr val="FFFFFF"/>
                    </a:solidFill>
                  </a:tcPr>
                </a:tc>
              </a:tr>
              <a:tr h="1223010">
                <a:tc>
                  <a:txBody>
                    <a:bodyPr/>
                    <a:lstStyle/>
                    <a:p>
                      <a:pPr>
                        <a:defRPr sz="800" b="1">
                          <a:solidFill>
                            <a:srgbClr val="0D1117"/>
                          </a:solidFill>
                          <a:latin typeface="Inter"/>
                        </a:defRPr>
                      </a:pPr>
                      <a:r>
                        <a:rPr>
                          <a:latin typeface="Inter"/>
                        </a:rPr>
                        <a:t>Ex ante</a:t>
                      </a:r>
                    </a:p>
                  </a:txBody>
                  <a:tcPr marL="54864" marR="54864" marT="27432" marB="27432" anchor="ctr">
                    <a:solidFill>
                      <a:srgbClr val="F5F7F9"/>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Governed result [S3]</a:t>
                      </a:r>
                    </a:p>
                  </a:txBody>
                  <a:tcPr marL="54864" marR="54864" marT="27432" marB="27432" anchor="ctr">
                    <a:solidFill>
                      <a:srgbClr val="F5F7F9"/>
                    </a:solidFill>
                  </a:tcPr>
                </a:tc>
              </a:tr>
              <a:tr h="1223010">
                <a:tc>
                  <a:txBody>
                    <a:bodyPr/>
                    <a:lstStyle/>
                    <a:p>
                      <a:pPr>
                        <a:defRPr sz="800" b="1">
                          <a:solidFill>
                            <a:srgbClr val="0D1117"/>
                          </a:solidFill>
                          <a:latin typeface="Inter"/>
                        </a:defRPr>
                      </a:pPr>
                      <a:r>
                        <a:rPr>
                          <a:latin typeface="Inter"/>
                        </a:rPr>
                        <a:t>Planned tools</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Capability-gated results [S4][S5]</a:t>
                      </a:r>
                    </a:p>
                  </a:txBody>
                  <a:tcPr marL="54864" marR="54864" marT="27432" marB="27432" anchor="ctr">
                    <a:solidFill>
                      <a:srgbClr val="FFFFFF"/>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 · S4 · S5</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SOURCE INVENTORY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8" name="Table 7"/>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1112139"/>
                <a:gridCol w="1112139"/>
                <a:gridCol w="1112139"/>
                <a:gridCol w="1112139"/>
                <a:gridCol w="1112139"/>
                <a:gridCol w="1112139"/>
                <a:gridCol w="1112139"/>
                <a:gridCol w="1112139"/>
              </a:tblGrid>
              <a:tr h="698862">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 / view</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Key parameters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Data scope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Digest</a:t>
                      </a:r>
                    </a:p>
                  </a:txBody>
                  <a:tcPr marL="54864" marR="54864" marT="27432" marB="27432" anchor="ctr">
                    <a:solidFill>
                      <a:srgbClr val="0D1117"/>
                    </a:solidFill>
                  </a:tcPr>
                </a:tc>
              </a:tr>
              <a:tr h="698862">
                <a:tc>
                  <a:txBody>
                    <a:bodyPr/>
                    <a:lstStyle/>
                    <a:p>
                      <a:pPr>
                        <a:defRPr sz="65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Capability gate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fixture=true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TEST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sha256:aaaaaaaaaaaaaaaaaaaaaaaaaaaaaaaaaaaaaaaaaaaaaaaaaaaaaaaaaaaaaaaa</a:t>
                      </a:r>
                    </a:p>
                  </a:txBody>
                  <a:tcPr marL="54864" marR="54864" marT="27432" marB="27432" anchor="ctr">
                    <a:solidFill>
                      <a:srgbClr val="FFFFFF"/>
                    </a:solidFill>
                  </a:tcPr>
                </a:tc>
              </a:tr>
              <a:tr h="698862">
                <a:tc>
                  <a:txBody>
                    <a:bodyPr/>
                    <a:lstStyle/>
                    <a:p>
                      <a:pPr>
                        <a:defRPr sz="650" b="1">
                          <a:solidFill>
                            <a:srgbClr val="0D1117"/>
                          </a:solidFill>
                          <a:latin typeface="Inter"/>
                        </a:defRPr>
                      </a:pPr>
                      <a:r>
                        <a:rPr>
                          <a:latin typeface="Inter"/>
                        </a:rPr>
                        <a:t>S2</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Historical 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get_portfolio_attribution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fixture=true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Gradient-governed TEST evidence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sha256:bbbbbbbbbbbbbbbbbbbbbbbbbbbbbbbbbbbbbbbbbbbbbbbbbbbbbbbbbbbbbbbb</a:t>
                      </a:r>
                    </a:p>
                  </a:txBody>
                  <a:tcPr marL="54864" marR="54864" marT="27432" marB="27432" anchor="ctr">
                    <a:solidFill>
                      <a:srgbClr val="F5F7F9"/>
                    </a:solidFill>
                  </a:tcPr>
                </a:tc>
              </a:tr>
              <a:tr h="698862">
                <a:tc>
                  <a:txBody>
                    <a:bodyPr/>
                    <a:lstStyle/>
                    <a:p>
                      <a:pPr>
                        <a:defRPr sz="650" b="1">
                          <a:solidFill>
                            <a:srgbClr val="0D1117"/>
                          </a:solidFill>
                          <a:latin typeface="Inter"/>
                        </a:defRPr>
                      </a:pPr>
                      <a:r>
                        <a:rPr>
                          <a:latin typeface="Inter"/>
                        </a:rPr>
                        <a:t>S3</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Ex ante attribution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get_portfolio_ex_ante_attribution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fixture=true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TEST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sha256:cccccccccccccccccccccccccccccccccccccccccccccccccccccccccccccccc</a:t>
                      </a:r>
                    </a:p>
                  </a:txBody>
                  <a:tcPr marL="54864" marR="54864" marT="27432" marB="27432" anchor="ctr">
                    <a:solidFill>
                      <a:srgbClr val="FFFFFF"/>
                    </a:solidFill>
                  </a:tcPr>
                </a:tc>
              </a:tr>
              <a:tr h="698862">
                <a:tc>
                  <a:txBody>
                    <a:bodyPr/>
                    <a:lstStyle/>
                    <a:p>
                      <a:pPr>
                        <a:defRPr sz="650" b="1">
                          <a:solidFill>
                            <a:srgbClr val="0D1117"/>
                          </a:solidFill>
                          <a:latin typeface="Inter"/>
                        </a:defRPr>
                      </a:pPr>
                      <a:r>
                        <a:rPr>
                          <a:latin typeface="Inter"/>
                        </a:rPr>
                        <a:t>S4</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Simulated 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fixture=true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Gradient-governed TEST evidence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sha256:dddddddddddddddddddddddddddddddddddddddddddddddddddddddddddddddd</a:t>
                      </a:r>
                    </a:p>
                  </a:txBody>
                  <a:tcPr marL="54864" marR="54864" marT="27432" marB="27432" anchor="ctr">
                    <a:solidFill>
                      <a:srgbClr val="F5F7F9"/>
                    </a:solidFill>
                  </a:tcPr>
                </a:tc>
              </a:tr>
              <a:tr h="698862">
                <a:tc>
                  <a:txBody>
                    <a:bodyPr/>
                    <a:lstStyle/>
                    <a:p>
                      <a:pPr>
                        <a:defRPr sz="650" b="1">
                          <a:solidFill>
                            <a:srgbClr val="0D1117"/>
                          </a:solidFill>
                          <a:latin typeface="Inter"/>
                        </a:defRPr>
                      </a:pPr>
                      <a:r>
                        <a:rPr>
                          <a:latin typeface="Inter"/>
                        </a:rPr>
                        <a:t>S5</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Cross-lane comparison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fixture=true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TEST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sha256:eeeeeeeeeeeeeeeeeeeeeeeeeeeeeeeeeeeeeeeeeeeeeeeeeeeeeeeeeeeeeeee</a:t>
                      </a:r>
                    </a:p>
                  </a:txBody>
                  <a:tcPr marL="54864" marR="54864" marT="27432" marB="27432" anchor="ctr">
                    <a:solidFill>
                      <a:srgbClr val="FFFFFF"/>
                    </a:solidFill>
                  </a:tcPr>
                </a:tc>
              </a:tr>
              <a:tr h="698868">
                <a:tc>
                  <a:txBody>
                    <a:bodyPr/>
                    <a:lstStyle/>
                    <a:p>
                      <a:pPr>
                        <a:defRPr sz="650" b="1">
                          <a:solidFill>
                            <a:srgbClr val="0D1117"/>
                          </a:solidFill>
                          <a:latin typeface="Inter"/>
                        </a:defRPr>
                      </a:pPr>
                      <a:r>
                        <a:rPr>
                          <a:latin typeface="Inter"/>
                        </a:rPr>
                        <a:t>S6</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Historical return context</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get_portfolio_historical_returns</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fields=cumulative_growth; limit=100; fixture=true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Gradient-governed TEST evidence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sha256:ffffffffffffffffffffffffffffffffffffffffffffffffffffffffffffffff</a:t>
                      </a:r>
                    </a:p>
                  </a:txBody>
                  <a:tcPr marL="54864" marR="54864" marT="27432" marB="27432" anchor="ctr">
                    <a:solidFill>
                      <a:srgbClr val="F5F7F9"/>
                    </a:solidFill>
                  </a:tcPr>
                </a:tc>
              </a:tr>
            </a:tbl>
          </a:graphicData>
        </a:graphic>
      </p:graphicFrame>
      <p:sp>
        <p:nvSpPr>
          <p:cNvPr id="9" name="Rectangle 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 · S4 · S5 · S6</a:t>
            </a:r>
          </a:p>
        </p:txBody>
      </p:sp>
      <p:sp>
        <p:nvSpPr>
          <p:cNvPr id="11" name="TextBox 1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12" name="TextBox 1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9875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SOURCE INVENTORY</a:t>
            </a:r>
          </a:p>
        </p:txBody>
      </p:sp>
      <p:sp>
        <p:nvSpPr>
          <p:cNvPr id="4" name="TextBox 3"/>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5" name="Rectangle 4"/>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6" name="Rectangle 5"/>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TextBox 6"/>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8" name="TextBox 7"/>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SIGN BY SEGMENT</a:t>
            </a:r>
          </a:p>
        </p:txBody>
      </p:sp>
      <p:graphicFrame>
        <p:nvGraphicFramePr>
          <p:cNvPr id="9" name="Table 8"/>
          <p:cNvGraphicFramePr>
            <a:graphicFrameLocks noGrp="1"/>
          </p:cNvGraphicFramePr>
          <p:nvPr/>
        </p:nvGraphicFramePr>
        <p:xfrm>
          <a:off x="640080" y="1600200"/>
          <a:ext cx="10908792" cy="1896736"/>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270962">
                <a:tc>
                  <a:txBody>
                    <a:bodyPr/>
                    <a:lstStyle/>
                    <a:p>
                      <a:pPr>
                        <a:defRPr sz="750" b="1">
                          <a:solidFill>
                            <a:srgbClr val="FFFFFF"/>
                          </a:solidFill>
                          <a:latin typeface="Inter"/>
                        </a:defRPr>
                      </a:pPr>
                      <a:r>
                        <a:rPr>
                          <a:latin typeface="Inter"/>
                        </a:rPr>
                        <a:t>Lane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Segment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effect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sign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r>
              <a:tr h="270962">
                <a:tc>
                  <a:txBody>
                    <a:bodyPr/>
                    <a:lstStyle/>
                    <a:p>
                      <a:pPr>
                        <a:defRPr sz="720" b="1">
                          <a:solidFill>
                            <a:srgbClr val="0D1117"/>
                          </a:solidFill>
                          <a:latin typeface="Inter"/>
                        </a:defRPr>
                      </a:pPr>
                      <a:r>
                        <a:rPr>
                          <a:latin typeface="Inter"/>
                        </a:rPr>
                        <a:t>Historical</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+0.2pp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[S2]</a:t>
                      </a:r>
                    </a:p>
                  </a:txBody>
                  <a:tcPr marL="54864" marR="54864" marT="27432" marB="27432" anchor="ctr">
                    <a:solidFill>
                      <a:srgbClr val="FFFFFF"/>
                    </a:solidFill>
                  </a:tcPr>
                </a:tc>
              </a:tr>
              <a:tr h="270962">
                <a:tc>
                  <a:txBody>
                    <a:bodyPr/>
                    <a:lstStyle/>
                    <a:p>
                      <a:pPr>
                        <a:defRPr sz="720" b="1">
                          <a:solidFill>
                            <a:srgbClr val="0D1117"/>
                          </a:solidFill>
                          <a:latin typeface="Inter"/>
                        </a:defRPr>
                      </a:pPr>
                      <a:r>
                        <a:rPr>
                          <a:latin typeface="Inter"/>
                        </a:rPr>
                        <a:t>Historical</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-0.8pp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Negative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[S2]</a:t>
                      </a:r>
                    </a:p>
                  </a:txBody>
                  <a:tcPr marL="54864" marR="54864" marT="27432" marB="27432" anchor="ctr">
                    <a:solidFill>
                      <a:srgbClr val="F5F7F9"/>
                    </a:solidFill>
                  </a:tcPr>
                </a:tc>
              </a:tr>
              <a:tr h="270962">
                <a:tc>
                  <a:txBody>
                    <a:bodyPr/>
                    <a:lstStyle/>
                    <a:p>
                      <a:pPr>
                        <a:defRPr sz="720" b="1">
                          <a:solidFill>
                            <a:srgbClr val="0D1117"/>
                          </a:solidFill>
                          <a:latin typeface="Inter"/>
                        </a:defRPr>
                      </a:pPr>
                      <a:r>
                        <a:rPr>
                          <a:latin typeface="Inter"/>
                        </a:rPr>
                        <a:t>Governed ex ante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+0.27pp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[S3]</a:t>
                      </a:r>
                    </a:p>
                  </a:txBody>
                  <a:tcPr marL="54864" marR="54864" marT="27432" marB="27432" anchor="ctr">
                    <a:solidFill>
                      <a:srgbClr val="FFFFFF"/>
                    </a:solidFill>
                  </a:tcPr>
                </a:tc>
              </a:tr>
              <a:tr h="270962">
                <a:tc>
                  <a:txBody>
                    <a:bodyPr/>
                    <a:lstStyle/>
                    <a:p>
                      <a:pPr>
                        <a:defRPr sz="720" b="1">
                          <a:solidFill>
                            <a:srgbClr val="0D1117"/>
                          </a:solidFill>
                          <a:latin typeface="Inter"/>
                        </a:defRPr>
                      </a:pPr>
                      <a:r>
                        <a:rPr>
                          <a:latin typeface="Inter"/>
                        </a:rPr>
                        <a:t>Governed ex ante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+0.08pp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[S3]</a:t>
                      </a:r>
                    </a:p>
                  </a:txBody>
                  <a:tcPr marL="54864" marR="54864" marT="27432" marB="27432" anchor="ctr">
                    <a:solidFill>
                      <a:srgbClr val="F5F7F9"/>
                    </a:solidFill>
                  </a:tcPr>
                </a:tc>
              </a:tr>
              <a:tr h="270962">
                <a:tc>
                  <a:txBody>
                    <a:bodyPr/>
                    <a:lstStyle/>
                    <a:p>
                      <a:pPr>
                        <a:defRPr sz="720" b="1">
                          <a:solidFill>
                            <a:srgbClr val="0D1117"/>
                          </a:solidFill>
                          <a:latin typeface="Inter"/>
                        </a:defRPr>
                      </a:pPr>
                      <a:r>
                        <a:rPr>
                          <a:latin typeface="Inter"/>
                        </a:rPr>
                        <a:t>Simulated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+0.3pp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[S4]</a:t>
                      </a:r>
                    </a:p>
                  </a:txBody>
                  <a:tcPr marL="54864" marR="54864" marT="27432" marB="27432" anchor="ctr">
                    <a:solidFill>
                      <a:srgbClr val="FFFFFF"/>
                    </a:solidFill>
                  </a:tcPr>
                </a:tc>
              </a:tr>
              <a:tr h="270964">
                <a:tc>
                  <a:txBody>
                    <a:bodyPr/>
                    <a:lstStyle/>
                    <a:p>
                      <a:pPr>
                        <a:defRPr sz="720" b="1">
                          <a:solidFill>
                            <a:srgbClr val="0D1117"/>
                          </a:solidFill>
                          <a:latin typeface="Inter"/>
                        </a:defRPr>
                      </a:pPr>
                      <a:r>
                        <a:rPr>
                          <a:latin typeface="Inter"/>
                        </a:rPr>
                        <a:t>Simulated</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-0.2pp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Negative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[S4]</a:t>
                      </a:r>
                    </a:p>
                  </a:txBody>
                  <a:tcPr marL="54864" marR="54864" marT="27432" marB="27432" anchor="ctr">
                    <a:solidFill>
                      <a:srgbClr val="F5F7F9"/>
                    </a:solidFill>
                  </a:tcPr>
                </a:tc>
              </a:tr>
            </a:tbl>
          </a:graphicData>
        </a:graphic>
      </p:graphicFrame>
      <p:sp>
        <p:nvSpPr>
          <p:cNvPr id="10" name="TextBox 9"/>
          <p:cNvSpPr txBox="1"/>
          <p:nvPr/>
        </p:nvSpPr>
        <p:spPr>
          <a:xfrm>
            <a:off x="640080" y="3515224"/>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Signs are returned or directly classified per lane; no local lane subtraction [S2][S3][S4].</a:t>
            </a:r>
          </a:p>
        </p:txBody>
      </p:sp>
      <p:sp>
        <p:nvSpPr>
          <p:cNvPr id="11" name="Rectangle 10"/>
          <p:cNvSpPr/>
          <p:nvPr/>
        </p:nvSpPr>
        <p:spPr>
          <a:xfrm>
            <a:off x="640080" y="3807832"/>
            <a:ext cx="10908792" cy="114841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640080" y="3807832"/>
            <a:ext cx="54864" cy="114841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804671" y="3917560"/>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Method boundary</a:t>
            </a:r>
          </a:p>
        </p:txBody>
      </p:sp>
      <p:sp>
        <p:nvSpPr>
          <p:cNvPr id="14" name="TextBox 13"/>
          <p:cNvSpPr txBox="1"/>
          <p:nvPr/>
        </p:nvSpPr>
        <p:spPr>
          <a:xfrm>
            <a:off x="804671" y="4201024"/>
            <a:ext cx="10616184" cy="66378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Each lane remains on its returned method, period or horizon, benchmark role, parent cohort and calculation currency. Historical evidence is realized, ex ante evidence is expected, and simulated evidence is scenario-based. Values are displayed without local reconciliation, attribution arithmetic or substitutions [S1][S2][S3].</a:t>
            </a:r>
          </a:p>
        </p:txBody>
      </p:sp>
      <p:sp>
        <p:nvSpPr>
          <p:cNvPr id="15" name="Rectangle 14"/>
          <p:cNvSpPr/>
          <p:nvPr/>
        </p:nvSpPr>
        <p:spPr>
          <a:xfrm>
            <a:off x="640080" y="5065978"/>
            <a:ext cx="10908792" cy="1151941"/>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Rectangle 15"/>
          <p:cNvSpPr/>
          <p:nvPr/>
        </p:nvSpPr>
        <p:spPr>
          <a:xfrm>
            <a:off x="640080" y="5065978"/>
            <a:ext cx="54864" cy="1151941"/>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804671" y="517570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Comparison boundary</a:t>
            </a:r>
          </a:p>
        </p:txBody>
      </p:sp>
      <p:sp>
        <p:nvSpPr>
          <p:cNvPr id="18" name="TextBox 17"/>
          <p:cNvSpPr txBox="1"/>
          <p:nvPr/>
        </p:nvSpPr>
        <p:spPr>
          <a:xfrm>
            <a:off x="804671" y="5459170"/>
            <a:ext cx="10616184" cy="667309"/>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Cross-lane differences, concentration, overlap, reconciliation and persistence are reported only when the governed comparison capability returns them. Capability absence is an evidence limitation, not a zero value or a failed lane. Request IDs, diagnostics, residuals and coverage remain attached to their source payloads [S1].</a:t>
            </a:r>
          </a:p>
        </p:txBody>
      </p:sp>
      <p:sp>
        <p:nvSpPr>
          <p:cNvPr id="19" name="Rectangle 1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 · S4</a:t>
            </a:r>
          </a:p>
        </p:txBody>
      </p:sp>
      <p:sp>
        <p:nvSpPr>
          <p:cNvPr id="21" name="TextBox 2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prepared for internal investment use · Data as of 2026-06-30</a:t>
            </a:r>
          </a:p>
        </p:txBody>
      </p:sp>
      <p:sp>
        <p:nvSpPr>
          <p:cNvPr id="22" name="TextBox 2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25</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Attribution Comparison (TEST)</dc:title>
  <dc:subject>Attribution Comparison</dc:subject>
  <dc:creator>GradientCIO</dc:creator>
  <cp:keywords>Gradient report theme 2.2.0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