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Cash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Cash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C6F432"/>
              </a:solidFill>
            </c:spPr>
          </c:dPt>
          <c:cat>
            <c:strRef>
              <c:f>Sheet1!$A$2:$A$6</c:f>
              <c:strCache>
                <c:ptCount val="5"/>
                <c:pt idx="0">
                  <c:v>Public equity</c:v>
                </c:pt>
                <c:pt idx="1">
                  <c:v>Fixed income</c:v>
                </c:pt>
                <c:pt idx="2">
                  <c:v>Private equity</c:v>
                </c:pt>
                <c:pt idx="3">
                  <c:v>Real estate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52.0</c:v>
                </c:pt>
                <c:pt idx="1">
                  <c:v>19.0</c:v>
                </c:pt>
                <c:pt idx="2">
                  <c:v>17.0</c:v>
                </c:pt>
                <c:pt idx="3">
                  <c:v>11.0</c:v>
                </c:pt>
                <c:pt idx="4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B5E52A"/>
              </a:solidFill>
            </c:spPr>
          </c:dPt>
          <c:dPt>
            <c:idx val="1"/>
            <c:spPr>
              <a:solidFill>
                <a:srgbClr val="E8735A"/>
              </a:solidFill>
            </c:spPr>
          </c:dPt>
          <c:dPt>
            <c:idx val="2"/>
            <c:spPr>
              <a:solidFill>
                <a:srgbClr val="B5E52A"/>
              </a:solidFill>
            </c:spPr>
          </c:dPt>
          <c:dPt>
            <c:idx val="3"/>
            <c:spPr>
              <a:solidFill>
                <a:srgbClr val="B5E52A"/>
              </a:solidFill>
            </c:spPr>
          </c:dPt>
          <c:dPt>
            <c:idx val="4"/>
            <c:spPr>
              <a:solidFill>
                <a:srgbClr val="E8735A"/>
              </a:solidFill>
            </c:spPr>
          </c:dPt>
          <c:cat>
            <c:strRef>
              <c:f>Sheet1!$A$2:$A$6</c:f>
              <c:strCache>
                <c:ptCount val="5"/>
                <c:pt idx="0">
                  <c:v>Public equity</c:v>
                </c:pt>
                <c:pt idx="1">
                  <c:v>Fixed income</c:v>
                </c:pt>
                <c:pt idx="2">
                  <c:v>Private equity</c:v>
                </c:pt>
                <c:pt idx="3">
                  <c:v>Real estate</c:v>
                </c:pt>
                <c:pt idx="4">
                  <c:v>Cash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700.0</c:v>
                </c:pt>
                <c:pt idx="1">
                  <c:v>-600.0</c:v>
                </c:pt>
                <c:pt idx="2">
                  <c:v>200.0</c:v>
                </c:pt>
                <c:pt idx="3">
                  <c:v>100.0</c:v>
                </c:pt>
                <c:pt idx="4">
                  <c:v>-400.0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cat>
            <c:strRef>
              <c:f>Sheet1!$A$2:$A$2</c:f>
              <c:strCache>
                <c:ptCount val="1"/>
                <c:pt idx="0">
                  <c:v>Largest manager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8.5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22860">
              <a:solidFill>
                <a:srgbClr val="0D1117"/>
              </a:solidFill>
            </a:ln>
          </c:spPr>
          <c:cat>
            <c:strRef>
              <c:f>Sheet1!$A$2:$A$4</c:f>
              <c:strCache>
                <c:ptCount val="3"/>
                <c:pt idx="0">
                  <c:v>2025-09-30</c:v>
                </c:pt>
                <c:pt idx="1">
                  <c:v>2026-03-31</c:v>
                </c:pt>
                <c:pt idx="2">
                  <c:v>2026-09-30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103.1</c:v>
                </c:pt>
                <c:pt idx="2">
                  <c:v>106.9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benchmark</c:v>
                </c:pt>
              </c:strCache>
            </c:strRef>
          </c:tx>
          <c:spPr>
            <a:ln w="22860">
              <a:solidFill>
                <a:srgbClr val="7FA600"/>
              </a:solidFill>
            </a:ln>
          </c:spPr>
          <c:cat>
            <c:strRef>
              <c:f>Sheet1!$A$2:$A$4</c:f>
              <c:strCache>
                <c:ptCount val="3"/>
                <c:pt idx="0">
                  <c:v>2025-09-30</c:v>
                </c:pt>
                <c:pt idx="1">
                  <c:v>2026-03-31</c:v>
                </c:pt>
                <c:pt idx="2">
                  <c:v>2026-09-30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100.0</c:v>
                </c:pt>
                <c:pt idx="1">
                  <c:v>102.8</c:v>
                </c:pt>
                <c:pt idx="2">
                  <c:v>106.4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B5E52A"/>
              </a:solidFill>
            </c:spPr>
          </c:dPt>
          <c:dPt>
            <c:idx val="1"/>
            <c:spPr>
              <a:solidFill>
                <a:srgbClr val="B5E52A"/>
              </a:solidFill>
            </c:spPr>
          </c:dPt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2026 (9 mo)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6.2</c:v>
                </c:pt>
                <c:pt idx="1">
                  <c:v>5.2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cat>
            <c:strRef>
              <c:f>Sheet1!$A$2:$A$3</c:f>
              <c:strCache>
                <c:ptCount val="2"/>
                <c:pt idx="0">
                  <c:v>Equity market</c:v>
                </c:pt>
                <c:pt idx="1">
                  <c:v>Duration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</c:v>
                </c:pt>
                <c:pt idx="1">
                  <c:v>1.9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E8735A"/>
              </a:solidFill>
            </c:spPr>
          </c:dPt>
          <c:dPt>
            <c:idx val="1"/>
            <c:spPr>
              <a:solidFill>
                <a:srgbClr val="B5E52A"/>
              </a:solidFill>
            </c:spPr>
          </c:dPt>
          <c:cat>
            <c:strRef>
              <c:f>Sheet1!$A$2:$A$3</c:f>
              <c:strCache>
                <c:ptCount val="2"/>
                <c:pt idx="0">
                  <c:v>Public equity</c:v>
                </c:pt>
                <c:pt idx="1">
                  <c:v>Real estate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-34.0</c:v>
                </c:pt>
                <c:pt idx="1">
                  <c:v>499.0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44.6</c:v>
                </c:pt>
                <c:pt idx="1">
                  <c:v>11.9</c:v>
                </c:pt>
                <c:pt idx="2">
                  <c:v>11.9</c:v>
                </c:pt>
                <c:pt idx="3">
                  <c:v>31.7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T1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T2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T3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11.9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T4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52.0</c:v>
                </c:pt>
                <c:pt idx="1">
                  <c:v>19.0</c:v>
                </c:pt>
                <c:pt idx="2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Public equity</c:v>
                </c:pt>
                <c:pt idx="1">
                  <c:v>Fixed income</c:v>
                </c:pt>
                <c:pt idx="2">
                  <c:v>Cash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48.0</c:v>
                </c:pt>
                <c:pt idx="1">
                  <c:v>21.0</c:v>
                </c:pt>
                <c:pt idx="2">
                  <c:v>3.0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Two sleeves need correction</a:t>
            </a:r>
          </a:p>
          <a:p>
            <a:r>
              <a:t>Observation: Fixed income and cash are below policy minimums [S1]. Why it matters: The breaches drive trade sizing. Uncertainty: Valuations can move weights. What would change the view: Updated valuations that restore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Compliance evidence is mixed</a:t>
            </a:r>
          </a:p>
          <a:p>
            <a:r>
              <a:t>Observation: Allocation has two Breaches while risk is Not assessed [S1]. Why it matters: Allocation can be addressed now. Uncertainty: Risk evidence is incomplete. What would change the view: Aligned risk observations that alter the policy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Relative return stayed positive</a:t>
            </a:r>
          </a:p>
          <a:p>
            <a:r>
              <a:t>Observation: The portfolio exceeded policy by 49 bps over one year [S2]. Why it matters: It supplies context, not causation. Uncertainty: Attribution is unavailable. What would change the view: A reconciled effect decomposition.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Concentration remains within limit</a:t>
            </a:r>
          </a:p>
          <a:p>
            <a:r>
              <a:t>Observation: The largest manager is 8.5% versus a 10.0% limit [S1]. Why it matters: The returned measure is compliant. Uncertainty: Look-through holdings are incomplete. What would change the view: Completed holdings showing higher concentration.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Assumption gap needs review</a:t>
            </a:r>
          </a:p>
          <a:p>
            <a:r>
              <a:t>Observation: Real estate is 499 bps above consensus [S4]. Why it matters: The gap affects the forward case. Uncertainty: Dates and model bases differ. What would change the view: Aligned assumptions that narrow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Liquidity clears the minimum</a:t>
            </a:r>
          </a:p>
          <a:p>
            <a:r>
              <a:t>Observation: Stress coverage is 2.61 versus a 1.50 minimum [S1][S11]. Why it matters: It supports implementation. Uncertainty: Calls are projected. What would change the view: An updated commitment schedule that reduces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No high findings returned</a:t>
            </a:r>
          </a:p>
          <a:p>
            <a:r>
              <a:t>Observation: No active High findings were returned [S5]. Why it matters: Immediate operational concern is lower. Uncertainty: Verification remains open. What would change the view: New findings or completed verification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Macro context is defensive</a:t>
            </a:r>
          </a:p>
          <a:p>
            <a:r>
              <a:t>Observation: GRIP is 76 and Defensive [S7]. Why it matters: It informs pacing, not the breach decision. Uncertainty: One input is stale. What would change the view: A refreshed signal with a different regime.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Proposal cures both breaches</a:t>
            </a:r>
          </a:p>
          <a:p>
            <a:r>
              <a:t>Observation: Proposed weights reduce IPS breaches from two to zero [S11]. Why it matters: The change addresses the decision. Uncertainty: Costs and market movement remain unknown. What would change the view: An implementation estimate that materially changes sizing.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INVESTMENT COMMITTEE MEMO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Rebalance: Gradient Global Growth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Example Foundation · Prepared for the Investment Committee · Meeting 2026-10-15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MEMO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Rebalance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MEETING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DATA AS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2026-09-30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BASE 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ASSUMPTION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ICAPM Q3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Recommendation and Decision Requested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00848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00848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5238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Reduce public equity by 400 bps to 48.0% and add 400 bps to cash (200 bps) and fixed income (200 bps) to cure two IPS band breaches [S1]. The Committee is asked to approve the rebalance in Section 13.1, executed over 30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44097"/>
            <a:ext cx="2644902" cy="14567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4409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7211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TRAILING 1Y VS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82814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+49 bps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71621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6.9% net return [S2]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2444097"/>
            <a:ext cx="2644902" cy="14567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4710" y="2444097"/>
            <a:ext cx="264490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4438" y="257211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IPS BREACHES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282814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3571621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1 additional Watch [S1]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2444097"/>
            <a:ext cx="2644902" cy="14567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9340" y="244409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9068" y="257211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EXPECTED RETURN VS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282814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−28 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3571621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6.7% vs 7.0% [S3]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2444097"/>
            <a:ext cx="2644902" cy="14567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03970" y="244409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3698" y="257211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T1 LIQUIDITY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282814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44.6%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3571621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15.0% minimum [S1]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10533"/>
            <a:ext cx="10908792" cy="11653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&gt; ILLUSTRATIVE DATA — Figures marked [S#] use the scope</a:t>
            </a:r>
            <a:br/>
            <a:br/>
            <a:r>
              <a:t>&gt; "Illustrative, Gradient Maintained — demo data, not the client's holdings or managers."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358779"/>
            <a:ext cx="73152" cy="785988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331347"/>
            <a:ext cx="10588752" cy="5407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Reduce public equity by 400 bps and fund fixed income and cash.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845002"/>
            <a:ext cx="10588752" cy="27968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A5563"/>
                </a:solidFill>
                <a:latin typeface="Inter"/>
              </a:defRPr>
            </a:pPr>
            <a:r>
              <a:t>Decision requested: approve the 30-day rebalance [S1]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Recommendation and Decision Requested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Recommendation:** Reduce public equity by 400 bps to 48.0% and add 400 bps to cash (200 bps) and fixed income (200 bps) to cure two IPS band breaches.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Decision requested:** The Committee is asked to approve the rebalance in Section 13.1, executed over 30 days.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Rationale (three points, most important first):**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Fixed income (19.0%) and cash (1.0%) are below their IPS minimums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Cash at 1.0% leaves no operating buffer for 12-month calls of USD 180.0m [S1] [S9].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The change lowers expected volatility by 60 bps with a 15 bps reduction in expected return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Key risks (three points, most material first):**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Risk-limit compliance is not assessed because the persisted thresholds do not specify a governed observation horizon and return basis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Expected return remains 28 bps below the CPI + 4.5% objective [S1]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Gradient's real estate assumption is 499 bps above consensus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Conditions to approval:**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Confirm the inflation assumption used for the real return objective (Section 15, item 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 · S4 · S9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Positioning:** Public equity is 700 bps overweight and fixed income 600 bps underweight versus policy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IPS:** 6 constraints Compliant, 1 Watch, 2 Breach, 3 Not assessed. Breaches: fixed income band and cash band.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Performance:** 1Y return 6.9% versus 6.4% for the policy benchmark (+49 bps). Governed attribution is unavailable for the selected period [S2].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Outlook:** Expected return 6.7% versus a 7.0% objective, volatility 13.1%, 44.0% probability of meeting the objective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Liquidity &amp; diligence:** Stress coverage 2.61 on the liquidity model; zero High diligence findings [S1] [S5] [S9].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S5 · S9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DECISION RANGES (TEST)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3677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Public equity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2185111"/>
            <a:ext cx="2549562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92256" y="206197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15116" y="190804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7601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Fixed income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89765" y="3724351"/>
            <a:ext cx="2549562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83218" y="360121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6078" y="344728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1525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t>Cash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0290" y="5263591"/>
            <a:ext cx="101982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23744" y="514045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46603" y="498652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6802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568023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Policy drives the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08339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Two allocation bands are in Breach [S1]. Why it matters: The proposed rebalance cures both. Uncertainty: Risk-limit observations remain unavailable. What would change the view: Aligned risk evidence that changes implementation capacity.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03631"/>
            <a:ext cx="10908792" cy="14924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03631"/>
            <a:ext cx="54864" cy="1492456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11335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Liquidity supports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396823"/>
            <a:ext cx="10616184" cy="100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T1 liquidity is 44.6% versus a 15.0% minimum [S1]. Why it matters: It provides implementation capacity. Uncertainty: Private valuations lag. What would change the view: An updated liquidity schedule that reduces the cushion.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05815"/>
            <a:ext cx="10908792" cy="16121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605815"/>
            <a:ext cx="54864" cy="161210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71554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Return tradeoff is modest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999007"/>
            <a:ext cx="10616184" cy="11274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proposed case lowers return 15 bps and volatility 60 bps [S3]. Why it matters: The tradeoff accompanies breach correction. Uncertainty: These are assumptions. What would change the view: A refreshed CMA with materially different estimates.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Portfolio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Item  ·  Value  ·  Source  · </a:t>
            </a:r>
            <a:br/>
            <a:br/>
            <a:r>
              <a:t> ·  Total NAV  ·  USD 3375.0m  ·  [S1]  · </a:t>
            </a:r>
            <a:br/>
            <a:br/>
            <a:r>
              <a:t> ·  Unfunded commitments  ·  USD 420.0m  ·  [S1]  · </a:t>
            </a:r>
            <a:br/>
            <a:br/>
            <a:r>
              <a:t> ·  Number of holdings / commitments  ·  56  ·  [S1]  · </a:t>
            </a:r>
            <a:br/>
            <a:br/>
            <a:r>
              <a:t> ·  Number of managers  ·  18  ·  [S1]  · </a:t>
            </a:r>
            <a:br/>
            <a:br/>
            <a:r>
              <a:t> ·  Valuation date(s)  ·  2026-09-30; private funds 2026-06-30 (one quarter lag)  ·  [S1]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Portfolio Snapshot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PROPOSED ALLOCATION CHANGES (PERCENTAGE POINTS)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Portfolio Snapshot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Asset class  ·  Current weight  ·  Policy target  ·  Range (min–max)  ·  Active (bps)  ·  Status  · </a:t>
            </a:r>
            <a:br/>
            <a:br/>
            <a:r>
              <a:t> ·  public_equity  ·  52.0%  ·  45.0%  ·  35.0%–55.0%  ·  +700 bps  ·  Compliant  · </a:t>
            </a:r>
            <a:br/>
            <a:br/>
            <a:r>
              <a:t> ·  fixed_income  ·  19.0%  ·  25.0%  ·  20.0%–30.0%  ·  −600 bps  ·  Breach  · </a:t>
            </a:r>
            <a:br/>
            <a:br/>
            <a:r>
              <a:t> ·  private_equity  ·  17.0%  ·  15.0%  ·  10.0%–20.0%  ·  +200 bps  ·  Compliant  · </a:t>
            </a:r>
            <a:br/>
            <a:br/>
            <a:r>
              <a:t> ·  real_estate  ·  11.0%  ·  10.0%  ·  5.0%–12.0%  ·  +100 bps  ·  Compliant  · </a:t>
            </a:r>
            <a:br/>
            <a:br/>
            <a:r>
              <a:t> ·  cash  ·  1.0%  ·  5.0%  ·  2.0%–8.0%  ·  −400 bps  ·  Breach  · </a:t>
            </a:r>
            <a:br/>
            <a:br/>
            <a:r>
              <a:t> ·  Total  ·  100.0%  ·  100.0%  ·   ·   · 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Portfolio Snapshot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WEIGHT BY ASSET CLASS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ACTIVE WEIGHT VS POLICY (BPS)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Portfolio Snapshot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Two sleeves need 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Fixed income and cash are below policy minimums [S1]. Why it matters: The breaches drive trade sizing. Uncertainty: Valuations can move weights. What would change the view…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IPS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#  ·  Constraint  ·  IPS requirement  ·  Current  ·  Status  ·  Source  · </a:t>
            </a:r>
            <a:br/>
            <a:br/>
            <a:r>
              <a:t> ·  1  ·  Allocation — public_equity  ·  35.0%–55.0%  ·  52.0%  ·  Compliant  ·  IPS §4.1  · </a:t>
            </a:r>
            <a:br/>
            <a:br/>
            <a:r>
              <a:t> ·  2  ·  Allocation — fixed_income  ·  20.0%–30.0%  ·  19.0%  ·  Breach  ·  IPS §4.1  · </a:t>
            </a:r>
            <a:br/>
            <a:br/>
            <a:r>
              <a:t> ·  3  ·  Allocation — private_equity  ·  10.0%–20.0%  ·  17.0%  ·  Compliant  ·  IPS §4.1  · </a:t>
            </a:r>
            <a:br/>
            <a:br/>
            <a:r>
              <a:t> ·  4  ·  Allocation — real_estate  ·  5.0%–12.0%  ·  11.0%  ·  Compliant  ·  IPS §4.1  · </a:t>
            </a:r>
            <a:br/>
            <a:br/>
            <a:r>
              <a:t> ·  5  ·  Allocation — cash  ·  2.0%–8.0%  ·  1.0%  ·  Breach  ·  IPS §4.1  · </a:t>
            </a:r>
            <a:br/>
            <a:br/>
            <a:r>
              <a:t> ·  6  ·  Return objective  ·  CPI + 4.5%  ·  6.7%  ·  Watch  ·  IPS §3.1  · </a:t>
            </a:r>
            <a:br/>
            <a:br/>
            <a:r>
              <a:t> ·  7  ·  Expected volatility  ·  ≤ 14.0%  ·  Not available — observation basis unaligned  ·  Not assessed  ·  IPS §3.2  · </a:t>
            </a:r>
            <a:br/>
            <a:br/>
            <a:r>
              <a:t> ·  8  ·  Expected max drawdown  ·  ≤ 35.0%  ·  Not available — observation basis unaligned  ·  Not assessed  ·  IPS §3.2  · </a:t>
            </a:r>
            <a:br/>
            <a:br/>
            <a:r>
              <a:t> ·  9  ·  T1 liquidity (% NAV)  ·  ≥ 15.0%  ·  21.0%  ·  Compliant  ·  IPS §5.1  · </a:t>
            </a:r>
            <a:br/>
            <a:br/>
            <a:r>
              <a:t> ·  10  ·  Liquidity coverage ratio  ·  ≥ 1.50  ·  2.61  ·  Compliant  ·  IPS §5.3  · </a:t>
            </a:r>
            <a:br/>
            <a:br/>
            <a:r>
              <a:t> ·  11  ·  Largest single manager (% NAV)  ·  ≤ 10.0%  ·  8.5%  ·  Compliant  ·  IPS §6.1  · </a:t>
            </a:r>
            <a:br/>
            <a:br/>
            <a:r>
              <a:t> ·  12  ·  No direct tobacco holdings  ·  prohibited  ·  n/a  ·  Not assessed  ·  IPS §7.1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IPS Compliance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POLICY CONSTRAINT STATUS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t>● breach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Two breached bands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Objective gap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Observation basis unavailable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Liquidity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Minimum met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Concentration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cap met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IPS Compliance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POLICY STATUS MATRIX (TEST)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4396"/>
                <a:gridCol w="5454396"/>
              </a:tblGrid>
              <a:tr h="923544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 score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-1.0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Liquidity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Concentration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IPS Compliance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Summary:** 6 Compliant, 1 Watch, 2 Breach, 3 Not assessed.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Breaches and required actions:** Fixed income and cash bands — cured by the Section 13 rebalance.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IPS Compliance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CONCENTRATION VS LIMIT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IPS Compliance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Compliance evidence is 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Allocation has two Breaches while risk is Not assessed [S1]. Why it matters: Allocation can be addressed now. Uncertainty: Risk evidence is incomplete. What would change the…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Performance &amp;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5.1 Returns**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Performance &amp;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GROWTH OF 100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Performance &amp;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5.2 Attribution — 1Y**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5.3 Top contributors and detractors**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Performance &amp;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CALENDAR-YEAR RETURNS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Performance &amp;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28146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28146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1Y attribution — total effect by asset class (bps)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79683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available — the governed attribution result returned no weight cohorts [S2]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17077"/>
            <a:ext cx="10908792" cy="250084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717077"/>
            <a:ext cx="54864" cy="250084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82680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Relative return stayed 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110269"/>
            <a:ext cx="10616184" cy="20162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portfolio exceeded policy by 49 bps over one year [S2]. Why it matters: It supplies context, not causation. Uncertainty: Attribution is unavailable. What would change the…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Factor Exposures &amp; Concentration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6.1 Factor exposures**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Factor Exposures &amp; Concentration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FACTOR AND CURRENCY EXPOSURE (TEST)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Factor Exposures &amp; Concentration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345259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6.2 Concentration and diversification**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88198"/>
            <a:ext cx="10908792" cy="132972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88198"/>
            <a:ext cx="54864" cy="1329721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499792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Concentration remains within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5281390"/>
            <a:ext cx="10616184" cy="84508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largest manager is 8.5% versus a 10.0% limit [S1]. Why it matters: The returned measure is compliant. Uncertainty: Look-through holdings are incomplete. What would change the…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Expected Return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Assumptions:** Gradient ICAPM Global Baseline Q3 2026, CMA release Q3-2026-policy-v2.1, 10-year horizon, USD, unhedged.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Expected Return &amp; Risk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GRADIENT VS CONSENSUS GAP (BPS)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Expected Return &amp; Risk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7.1 Portfolio expected statistics**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7.2 Consensus check**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Allocation-implied return:** Gradient 8.2% vs consensus 6.7% (Example consultant CMA survey, 2025-12-31)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Assumption quality:** quality receipt unvalidated; repeated higher moments flagged for two equity factors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7.3 Regime overlay**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Current regime:** GRIP 76 (Defensive), as of 2026-10-01, coverage 0.95, degraded (one lagging input)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Effect on expectations:** Regime adjustment not available — baseline shown.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S4 · S7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Expected Return &amp; Risk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FORWARD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563112" cy="258275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GRIP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84248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53775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Defensive [S7]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2920" y="1600200"/>
            <a:ext cx="3563112" cy="258275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2920" y="1600200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2648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POLICY EXPECTED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2648" y="1984248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648" y="3853775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Baseline [S3]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5759" y="1600200"/>
            <a:ext cx="3563112" cy="258275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85759" y="1600200"/>
            <a:ext cx="356311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7" y="1728216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RETURN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5487" y="1984248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7.0%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5487" y="3853775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IPS [S1]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2687"/>
            <a:ext cx="10908792" cy="192523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292687"/>
            <a:ext cx="54864" cy="192523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" y="440241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Assumption gap needs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685879"/>
            <a:ext cx="10616184" cy="1440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Real estate is 499 bps above consensus [S4]. Why it matters: The gap affects the forward case. Uncertainty: Dates and model bases differ. What would change the…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 · S4 · S7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Stress Tests &amp;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Robustness:** Results are stable across start dates within ±80 bps of expected return [S8].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9.1 Liquidity tiers**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LIQUIDITY TIERS (% NAV)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LIQUIDITY TIER MIX (TEST)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9.2 Coverage**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HF B placed in T4 (gated).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Pacing:** Projected 12-month calls USD 180.0m against distributions of USD 95.0m [S9].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S9 · S11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COMMITMENTS LIQUIDITY SCORECARD (TEST)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23088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3088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Stress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2.61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COMMITMENT PACING (TEST)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23088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3088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Next 12 months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180,000,000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COMMITMENT CASH FLOW (TEST)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23088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3088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Next 12 months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95,000,000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Liquidity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Liquidity clears the minimum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Stress coverage is 2.61 versus a 1.50 minimum [S1][S11]. Why it matters: It supports implementation. Uncertainty: Calls are projected. What would change the view: An updated commitment…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Manager &amp; Operational Diligence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126763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Manager  ·  Strategy  ·  Exposure (% NAV)  ·  ODD red flags  ·  Open findings (H/M/L)  ·  Monitor alerts  ·  GIPS status  ·  Last review  ·  Source  · </a:t>
            </a:r>
            <a:br/>
            <a:br/>
            <a:r>
              <a:t> ·  Manager A  ·  Global equity  ·  8.5%  ·  0  ·  0/1/0  ·  0  ·  Claims, verified  ·  2026-06-30  ·  [S5]  · </a:t>
            </a:r>
            <a:br/>
            <a:br/>
            <a:r>
              <a:t> ·  Other (17 managers)  ·  Various  ·  91.5%  ·  n/a  ·  0/2/3  ·  0  ·  n/a  ·  n/a  ·  [S5]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3241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EXPOSURE-WEIGHTED DILIGENCE FINDINGS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977561"/>
          <a:ext cx="10908792" cy="941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7086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Verification follow-up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Manager A verification report remains open at 8.5% exposure [S5].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029012"/>
            <a:ext cx="10908792" cy="110549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Exposure-weighted findings:** No active High findings [S5].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Attention queue:** None overdue [S5].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44234"/>
            <a:ext cx="10908792" cy="97368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44234"/>
            <a:ext cx="54864" cy="97368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535396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No high findings returned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5637426"/>
            <a:ext cx="10616184" cy="48905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No active High findings were returned [S5]. Why it matters: Immediate operational concern is lower. Uncertainty: Verification remains open. What would change the view: New findings or…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Performance Integrity &amp; GIPS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Overall assessment:** Satisfactory with follow-ups. Verification report for the latest year not yet received.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Market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162524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Regime:** GRIP 76, Defensive; rates and cross-asset pillars are the main pressure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Key indicators:** Core PCE index rose 0.3% over three months [S10].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Current thesis:** Diesel margins carry the Gulf energy premium; confirm above USD 102/bbl crack [S10].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Upcoming catalysts:** US CPI on 2026-10-14; FOMC on 2026-10-28 [S10].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0854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MACRO READINGS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5174"/>
            <a:ext cx="3563112" cy="15838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335174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63190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GRIP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19222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589803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2026-10-01 [S7]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920" y="3335174"/>
            <a:ext cx="3563112" cy="15838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3335174"/>
            <a:ext cx="356311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2648" y="3463190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CORE PCE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648" y="3719222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+0.3%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648" y="4589803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3 months [S10]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59" y="3335174"/>
            <a:ext cx="3563112" cy="15838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5759" y="3335174"/>
            <a:ext cx="356311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5487" y="3463190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NEXT CPI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5487" y="3719222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Oct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7" y="4589803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2026 [S10]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28715"/>
            <a:ext cx="10908792" cy="11892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28715"/>
            <a:ext cx="54864" cy="118920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513844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Macro context is defensive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5421907"/>
            <a:ext cx="10616184" cy="7045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GRIP is 76 and Defensive [S7]. Why it matters: It informs pacing, not the breach decision. Uncertainty: One input is stale. What would change the view: A…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S7 · S10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Proposed Changes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13.1 Allocation change**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Proposed Changes &amp; Impact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CURRENT WEIGHTS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PROPOSED WEIGHTS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Proposed Changes &amp; Impact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376082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13.2 Impact summary**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Implementation:** Sell the index fund in two tranches over 30 days; buy core bonds and Treasury bills [S11].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Alternatives considered:** No change — rejected because two band breaches and the coverage breach would remain. Full rebalance to policy — rejected because it would sell 700 bps of equity into a Defensive regime in one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196430"/>
            <a:ext cx="10908792" cy="102148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96430"/>
            <a:ext cx="54864" cy="1021489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530615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Proposal cures both breaches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5589622"/>
            <a:ext cx="10616184" cy="5368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Proposed weights reduce IPS breaches from two to zero [S11]. Why it matters: The change addresses the decision. Uncertainty: Costs and market movement remain unknown. What would…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Risks &amp; Mitigants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90640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#  ·  Risk  ·  Rating  ·  Evidence  ·  Mitigant  ·  Owner  · </a:t>
            </a:r>
            <a:br/>
            <a:br/>
            <a:r>
              <a:t> ·  1  ·  Risk-limit compliance not assessed  ·  Medium  ·  Persisted thresholds lack a governed observation horizon and return basis [S1]  ·  Approve an observation basis before evaluating volatility, drawdown or CVaR compliance  ·  CIO  · </a:t>
            </a:r>
            <a:br/>
            <a:br/>
            <a:r>
              <a:t> ·  2  ·  Real estate CMA well above consensus  ·  Medium  ·  +499 bps gap [S4]  ·  Run Section 7 with consensus real estate assumption before the next review  ·  Analyst  · </a:t>
            </a:r>
            <a:br/>
            <a:br/>
            <a:r>
              <a:t> ·  3  ·  Return objective shortfall  ·  Low  ·  −28 bps [S3]  ·  Revisit spending policy at the annual review  ·  Committee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201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RISK COUNT BY RATING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16333"/>
            <a:ext cx="3563112" cy="160158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16333"/>
            <a:ext cx="356311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744349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00381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888736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No High risks [S1]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920" y="4616333"/>
            <a:ext cx="3563112" cy="160158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920" y="4616333"/>
            <a:ext cx="356311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2648" y="4744349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648" y="5000381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2648" y="5888736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Basis and CMA [S1][S4]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59" y="4616333"/>
            <a:ext cx="3563112" cy="160158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5759" y="4616333"/>
            <a:ext cx="356311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5487" y="4744349"/>
            <a:ext cx="3343655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5487" y="5000381"/>
            <a:ext cx="3343655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7" y="5888736"/>
            <a:ext cx="3343655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Objective gap [S3]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S3 · S4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Open Items &amp;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3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#  ·  Item  ·  Reason  ·  Timing  ·  Owner  · </a:t>
            </a:r>
            <a:br/>
            <a:br/>
            <a:r>
              <a:t> ·  1  ·  Confirm inflation assumption for real return objective  ·  IPS does not state one  ·  Before approval  ·  CIO  · </a:t>
            </a:r>
            <a:br/>
            <a:br/>
            <a:r>
              <a:t> ·  2  ·  Provide look-through holdings  ·  Not available  ·  Next review  ·  Operations  · </a:t>
            </a:r>
            <a:br/>
            <a:br/>
            <a:r>
              <a:t> ·  3  ·  Obtain Manager A verification report  ·  GIPS follow-up  ·  Within 30 days  ·  Analyst  · </a:t>
            </a:r>
            <a:br/>
            <a:br/>
            <a:r>
              <a:t> ·  4  ·  Provide GIPS Asset Owner Report  ·  Not provided  ·  Next review  ·  Operations  · </a:t>
            </a:r>
            <a:br/>
            <a:br/>
            <a:r>
              <a:t> ·  5  ·  Define the governed policy-risk observation horizon and return basis  ·  Risk rows are not assessed without aligned observations  ·  Next review  ·  CIO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Ref  ·  Source  ·  Parameters  ·  As of  ·  Data scope  ·  Validation  ·  Digest  · </a:t>
            </a:r>
            <a:br/>
            <a:br/>
            <a:r>
              <a:t> ·  S1  ·  get_portfolio_exposure; get_portfolio_structure; check_portfolio_policy  ·  portfolio_id=example; governed policy and exposure views  ·  2026-09-30  ·  Illustrative, Gradient Maintained — demo data, not the client's holdings or managers  ·  passed  ·  n/a  · </a:t>
            </a:r>
            <a:br/>
            <a:br/>
            <a:r>
              <a:t> ·  S2  ·  get_portfolio_historical_returns; get_portfolio_attribution  ·  portfolio_id=example; policy benchmark; performance available; attribution unavailable (no_weight_cohorts)  ·  2026-09-30  ·  Illustrative, Gradient Maintained — demo data, not the client's holdings or managers  ·  partial  ·  n/a  · </a:t>
            </a:r>
            <a:br/>
            <a:br/>
            <a:r>
              <a:t> ·  S3  ·  check_portfolio_policy; user document  ·  return_objective; forward-analysis.pdf  ·  2026-09-11  ·  Illustrative, Gradient Maintained — demo data, not the client's holdings or managers  ·  passed  ·  n/a  · </a:t>
            </a:r>
            <a:br/>
            <a:br/>
            <a:r>
              <a:t> ·  S4  ·  get_cma_consensus_check  ·  mode=allocation  ·  2026-06-30  ·  Mixed — Illustrative, Gradient Maintained — demo data, not the client's holdings or managers + User-Authorized Live  ·  passed  ·  n/a  · </a:t>
            </a:r>
            <a:br/>
            <a:br/>
            <a:r>
              <a:t> ·  S5  ·  get_manager_diligence_findings  ·  view=exposure_weighted  ·  2026-10-02  ·  Illustrative, Gradient Maintained — demo data, not the client's holdings or managers  ·  advisory  ·  n/a  · </a:t>
            </a:r>
            <a:br/>
            <a:br/>
            <a:r>
              <a:t> ·  S6  ·  get_chart_data  ·  portfolio_id=example; analysis_type=allocations  ·  2026-09-30  ·  Illustrative, Gradient Maintained — demo data, not the client's holdings or managers  ·  passed  ·  n/a  · </a:t>
            </a:r>
            <a:br/>
            <a:br/>
            <a:r>
              <a:t> ·  S7  ·  get_macro_signals  ·  view=gradient_signal (sources.grip)  ·  2026-10-01  ·  User-Authorized Live  ·  passed  ·  n/a  · </a:t>
            </a:r>
            <a:br/>
            <a:br/>
            <a:r>
              <a:t> ·  S8  ·  Illustrative scenario assumptions  ·  2008 historical; 5th percentile  ·  2026-09-30  ·  Illustrative, Gradient Maintained — demo data, not the client's holdings or managers  ·  not applicable  ·  n/a  · </a:t>
            </a:r>
            <a:br/>
            <a:br/>
            <a:r>
              <a:t> ·  S9  ·  get_chart_data  ·  portfolio_id=example; analysis_type=commitments  ·  2026-06-30  ·  Illustrative, Gradient Maintained — demo data, not the client's holdings or managers  ·  passed  ·  n/a  · </a:t>
            </a:r>
            <a:br/>
            <a:br/>
            <a:r>
              <a:t> ·  S10  ·  get_macro_conditions; get_the_read; get_macro_calendar  ·  theme=inflation; am edition; 30 days  ·  2026-10-02  ·  User-Authorized Live  ·  passed  ·  n/a  · </a:t>
            </a:r>
            <a:br/>
            <a:br/>
            <a:r>
              <a:t> ·  S11  ·  Server-returned illustrative proposed-case analysis  ·  target weights and implementation estimate per Section 13.1  ·  2026-09-30  ·  Illustrative, Gradient Maintained — demo data, not the client's holdings or managers  ·  passed  ·  n/a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 · S9 · S10 · S11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Server Metric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·  Source  ·  Quantity  ·  Method / formula ID  ·  Version  ·  Basis and tolerance  · </a:t>
            </a:r>
            <a:br/>
            <a:br/>
            <a:r>
              <a:t> ·  S1  ·  IPS status, active weights, liquidity and concentration  ·  check_portfolio_policy  ·  2026-10-05.v1  ·  Governed inputs only; preserve returned thresholds and coverage  · </a:t>
            </a:r>
            <a:br/>
            <a:br/>
            <a:r>
              <a:t> ·  S2  ·  Realized returns and risk  ·  get_portfolio_historical_returns  ·  as returned  ·  Preserve period labels, annualization, benchmark basis, units and coverage  · </a:t>
            </a:r>
            <a:br/>
            <a:br/>
            <a:r>
              <a:t> ·  S2  ·  Realized attribution  ·  Not available  ·  n/a  ·  no_weight_cohorts; no formula or result asserted  · </a:t>
            </a:r>
            <a:br/>
            <a:br/>
            <a:r>
              <a:t> ·  S6  ·  Effective number of positions  ·  Portfolio Analytics allocations metric  ·  as returned  ·  Preserve chart-pack basis and fingerprint  · </a:t>
            </a:r>
            <a:br/>
            <a:br/>
            <a:r>
              <a:t> ·  S11  ·  Proposed-case impacts  ·  Portfolio Analytics proposed-case analysis  ·  as returned  ·  Same basis as current case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S6 · S11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— Methodology &amp;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Expected returns and risk are forward-looking assumptions from Gradient ICAPM Global Baseline Q3 2026, not forecasts or guarantees. Actual results will differ.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Performance is shown net of manager fees. Periods over one year are annualized.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Attribution is unavailable for this example because no governed segment-weight cohort was returned; no local fallback is used. Factor model: Portfolio Analytics factor/currency exposure.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Private-markets valuations may lag by 3 months; values as of 2026-06-30.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Data sources and retrieval dates are listed in Appendix A. Sections using illustrative data are marked; they do not describe the organization's holdings.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GIPS assessments are diligence reviews against the 2020 GIPS standards, not verifications or legal opinions.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t>•  This memo was prepared with AI assistance from structured data and reviewed by the preparer.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DRAFT — for committee review · Illustrative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Rebalance: Gradient Global Growth III</dc:title>
  <dc:subject>Investment Committee Memo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