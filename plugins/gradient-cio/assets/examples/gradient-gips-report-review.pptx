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Met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Partially met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Not met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1.0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Not found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Sheet1!$A$2:$A$6</c:f>
              <c:strCache>
                <c:ptCount val="5"/>
                <c:pt idx="0">
                  <c:v>Returns</c:v>
                </c:pt>
                <c:pt idx="1">
                  <c:v>Benchmark</c:v>
                </c:pt>
                <c:pt idx="2">
                  <c:v>Composite</c:v>
                </c:pt>
                <c:pt idx="3">
                  <c:v>Fees</c:v>
                </c:pt>
                <c:pt idx="4">
                  <c:v>Events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High</c:v>
                </c:pt>
                <c:pt idx="1">
                  <c:v>Medium</c:v>
                </c:pt>
                <c:pt idx="2">
                  <c:v>Low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context is incomplete</a:t>
            </a:r>
          </a:p>
          <a:p>
            <a:r>
              <a:t>Observation: One significant event lacks an effective date [S1]. Why it matters: Readers cannot align the event with reported returns. Uncertainty: The date may exist outside the supplied report. What would change the view: Follow-up request 1 producing dated event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fee interpretation remains open</a:t>
            </a:r>
          </a:p>
          <a:p>
            <a:r>
              <a:t>Observation: One performance-fee term remains unclear in the disclosure schedule [S2]. Why it matters: Net-return disclosures require an explicit and complete fee basis. Uncertainty: The approved fee schedule was not supplied. What would change the view: Follow-up request 2 producing the approved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GIPS REPORT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(TEST) — GIPS Report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Composite presentation · SYNTHETIC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SUBJECT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Alder Ridge Composite (TEST)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Composite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DATA THROUGH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Fictional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2026-10-09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5833872"/>
            <a:ext cx="3063240" cy="384048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822960" y="5934456"/>
            <a:ext cx="278892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Satisfactory with follow-ups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39" y="5824728"/>
            <a:ext cx="3108960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REQUIREMENTS EVIDENCED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5998464"/>
            <a:ext cx="3108960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5 of 5 ·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Bottom 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Performance history and benchmark evidence are present; the Preparer Fix List addresses fee wording and the missing significant-event date [S1][S2].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Returns, benchmark and description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PARTIALLY MET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Fee disclosure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MET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Significant-event date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8" name="TextBox 27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NOT FOUND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No unlocated requirements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12371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1238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123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report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Annual gross, net and benchmark returns through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1238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Disclosure schedule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degraded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Performance-fee wording is incomplete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2947086"/>
            <a:ext cx="10908792" cy="10748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Overall assessment:** Satisfactory with follow-ups. Return and benchmark history are present, while the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31643"/>
            <a:ext cx="10908792" cy="10428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131643"/>
            <a:ext cx="54864" cy="104288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24137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return history is present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524835"/>
            <a:ext cx="10616184" cy="5582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presents annual gross, net and benchmark returns for the required periods [S1]. This three-series history supports performance comparison, while completeness still depends on the accompanying disclosures, calculation basis and any period-specific qualifications in the reviewed report.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84256"/>
            <a:ext cx="10908792" cy="9336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Rectangle 14"/>
          <p:cNvSpPr/>
          <p:nvPr/>
        </p:nvSpPr>
        <p:spPr>
          <a:xfrm>
            <a:off x="640080" y="5284256"/>
            <a:ext cx="54864" cy="933663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04671" y="53939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composite identity is 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77448"/>
            <a:ext cx="10616184" cy="4490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identifies the fictional composite and its mandate [S2]. That pairing anchors the presented results to a named strategy, although identity alone does not resolve whether every account assignment and historical definition remained consistent.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33444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334448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event timing is absent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8498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names one significant event without the effective date needed to place it in the record [S1]. Readers therefore cannot align the event with reported returns, and dated evidence is required before assessing its period-specific relevance.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70056"/>
            <a:ext cx="10908792" cy="244786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Rectangle 11"/>
          <p:cNvSpPr/>
          <p:nvPr/>
        </p:nvSpPr>
        <p:spPr>
          <a:xfrm>
            <a:off x="640080" y="3770056"/>
            <a:ext cx="54864" cy="244786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804671" y="387978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fee text is incomplete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63248"/>
            <a:ext cx="10616184" cy="196323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disclosure schedule does not clearly state whether a performance fee applies [S2]. That omission limits net-return interpretation because readers cannot determine whether the reported result reflects every applicable fee or compare the basis consistently.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CHECKLIST STATUS BY AREA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FINDINGS BY SEVERITY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PRIORITY FINDINGS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21400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3501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Event date absent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report does not date the significant event [S1].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3501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wording incomplete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schedule does not clearly state the performance fee [S2].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3501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LOW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Approval evidence not supplied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The supplied schedule does not include preparer approval evidence [S2].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849987"/>
            <a:ext cx="10908792" cy="109744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One Not met event disclosure and one Partially met fee disclosure drive the fix list. The underlying annual</a:t>
            </a:r>
            <a:br/>
            <a:br/>
            <a:r>
              <a:rPr>
                <a:latin typeface="Inter"/>
              </a:rPr>
              <a:t>gross, net and benchmark return history is present [S1][S2].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057160"/>
            <a:ext cx="10908792" cy="1160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057160"/>
            <a:ext cx="54864" cy="116075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16688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event context is incomplete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450352"/>
            <a:ext cx="10616184" cy="67612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significant event lacks an effective date [S1]. Why it matters: Readers cannot align the event with reported returns. Uncertainty: The date may exist outside the supplied…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Findings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fee interpretation remains open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One performance-fee term remains unclear in the disclosure schedule [S2]. Why it matters: Net-return disclosures require an explicit and complete fee basis. Uncertainty: The approved fee schedule…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DISCLOSURE READINESS BY REPORT AREA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6264"/>
                <a:gridCol w="3636264"/>
                <a:gridCol w="3636264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Ready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Fix required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presentation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Composite description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Fee disclosure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Significant events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Preparer fix list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Add the significant event's effective date to the report before the next issue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State the complete management and performance fee schedule in the disclosure note (4.C.11) [S2].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Follow-up requests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977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Provide the significant-event effective date and approved disclosure text.</a:t>
            </a:r>
            <a:br/>
            <a:r>
              <a:rPr>
                <a:latin typeface="Inter"/>
              </a:rPr>
              <a:t>      Closes the 4.C.19 gap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Provide the complete fee schedule and approved disclosure text.</a:t>
            </a:r>
            <a:br/>
            <a:r>
              <a:rPr>
                <a:latin typeface="Inter"/>
              </a:rPr>
              <a:t>      Closes the 4.C.11 gap [S2].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13273"/>
            <a:ext cx="10908792" cy="18046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significant-event effective date and the approved disclosure text (4.C.19)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Provide the complete fee schedule and approved disclosure text (4.C.11) [S2].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Findings checklist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Area  ·  Requirement  ·  Provision  ·  Status  ·  Evidence  ·  Finding / follow-up  · </a:t>
            </a:r>
            <a:br/>
            <a:br/>
            <a:r>
              <a:rPr>
                <a:latin typeface="Inter"/>
              </a:rPr>
              <a:t> ·  Returns  ·  Required annual returns  ·  4.A.1  ·  Met  ·  Report pp.1–2 [S1]  ·  —  · </a:t>
            </a:r>
            <a:br/>
            <a:br/>
            <a:r>
              <a:rPr>
                <a:latin typeface="Inter"/>
              </a:rPr>
              <a:t> ·  Benchmark  ·  Benchmark returns  ·  4.A.1  ·  Met  ·  Report pp.1–2 [S1]  ·  —  · </a:t>
            </a:r>
            <a:br/>
            <a:br/>
            <a:r>
              <a:rPr>
                <a:latin typeface="Inter"/>
              </a:rPr>
              <a:t> ·  Composite  ·  Composite description  ·  4.C.10  ·  Met  ·  Schedule [S2]  ·  —  · </a:t>
            </a:r>
            <a:br/>
            <a:br/>
            <a:r>
              <a:rPr>
                <a:latin typeface="Inter"/>
              </a:rPr>
              <a:t> ·  Fees  ·  Fee disclosure  ·  4.C.11  ·  Partially met  ·  Schedule [S2]  ·  Performance fee unclear  · </a:t>
            </a:r>
            <a:br/>
            <a:br/>
            <a:r>
              <a:rPr>
                <a:latin typeface="Inter"/>
              </a:rPr>
              <a:t> ·  Events  ·  Significant-event disclosure  ·  4.C.19  ·  Not met  ·  Report [S1]  ·  Event date absent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·  Tag  ·  Source  ·  Detail  ·  As of  ·  Validation  · </a:t>
            </a:r>
            <a:br/>
            <a:br/>
            <a:r>
              <a:rPr>
                <a:latin typeface="Inter"/>
              </a:rPr>
              <a:t> ·  S1  ·  Composite report (TEST)  ·  Fictional pages 1–4  ·  2025-12-31  ·  Synthetic document  · </a:t>
            </a:r>
            <a:br/>
            <a:br/>
            <a:r>
              <a:rPr>
                <a:latin typeface="Inter"/>
              </a:rPr>
              <a:t> ·  S2  ·  Disclosure schedule (TEST)  ·  Fictional fee and composite notes  ·  2026-03-31  ·  Synthetic document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Method &amp; disclaimer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This fictional report review tests the shared GIPS handoff contract. It is not verification, certification, legal advice or an assessment of any real product.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SYNTHETIC TEST DATA — fictional regression fixture · Data as of 2025-12-31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Alder Ridge Composite (TEST) — GIPS Report Review</dc:title>
  <dc:subject>GIPS Review</dc:subject>
  <dc:creator>GradientCIO</dc:creator>
  <cp:keywords>Gradient report theme 2.1.0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