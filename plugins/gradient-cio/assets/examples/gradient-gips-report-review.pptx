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Met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Sheet1!$A$2:$A$6</c:f>
              <c:strCache>
                <c:ptCount val="5"/>
                <c:pt idx="0">
                  <c:v>Returns</c:v>
                </c:pt>
                <c:pt idx="1">
                  <c:v>Benchmark</c:v>
                </c:pt>
                <c:pt idx="2">
                  <c:v>Composite</c:v>
                </c:pt>
                <c:pt idx="3">
                  <c:v>Fees</c:v>
                </c:pt>
                <c:pt idx="4">
                  <c:v>Events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met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Sheet1!$A$2:$A$6</c:f>
              <c:strCache>
                <c:ptCount val="5"/>
                <c:pt idx="0">
                  <c:v>Returns</c:v>
                </c:pt>
                <c:pt idx="1">
                  <c:v>Benchmark</c:v>
                </c:pt>
                <c:pt idx="2">
                  <c:v>Composite</c:v>
                </c:pt>
                <c:pt idx="3">
                  <c:v>Fees</c:v>
                </c:pt>
                <c:pt idx="4">
                  <c:v>Events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1.0</c:v>
                </c:pt>
                <c:pt idx="4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met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Sheet1!$A$2:$A$6</c:f>
              <c:strCache>
                <c:ptCount val="5"/>
                <c:pt idx="0">
                  <c:v>Returns</c:v>
                </c:pt>
                <c:pt idx="1">
                  <c:v>Benchmark</c:v>
                </c:pt>
                <c:pt idx="2">
                  <c:v>Composite</c:v>
                </c:pt>
                <c:pt idx="3">
                  <c:v>Fees</c:v>
                </c:pt>
                <c:pt idx="4">
                  <c:v>Events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found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Sheet1!$A$2:$A$6</c:f>
              <c:strCache>
                <c:ptCount val="5"/>
                <c:pt idx="0">
                  <c:v>Returns</c:v>
                </c:pt>
                <c:pt idx="1">
                  <c:v>Benchmark</c:v>
                </c:pt>
                <c:pt idx="2">
                  <c:v>Composite</c:v>
                </c:pt>
                <c:pt idx="3">
                  <c:v>Fees</c:v>
                </c:pt>
                <c:pt idx="4">
                  <c:v>Events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2.0</c:v>
                </c:pt>
                <c:pt idx="2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Disclosure timing unclear</a:t>
            </a:r>
          </a:p>
          <a:p>
            <a:r>
              <a:t>Observation: The significant event is named without an effective date [S1]. Why it matters: readers cannot place the event within the presented record. Uncertainty: the date may exist in evidence not supplied. What would change the view: No additional follow-up beyond request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GIPS REPORT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Alder Ridge Composite (TEST) — GIPS Report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Composite presentation · SYNTHETIC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Alder Ridge Composite (TEST)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Composite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DATA 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Fictional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Gradient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REVIEW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2026-10-09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86626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86626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Bottom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38163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Performance history and benchmark evidence are present, while fee and significant-event disclosures need clarification [S1][S2].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0187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Returns, benchmark and 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4710" y="3301876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443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PARTIALLY MET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Fee disclosure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934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9340" y="3301876"/>
            <a:ext cx="264490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NOT MET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Significant-event 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397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03970" y="3301876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1369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NOT 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369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No unlocated requirements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EVIDENCE STATUS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42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7544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54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Composite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Performance evidence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Disclosure schedule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Fee wording incomplete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136272"/>
            <a:ext cx="10908792" cy="113377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Overall assessment:** Satisfactory with follow-ups.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Required return history is present; the fee and significant-event disclosures need clarification.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79777"/>
            <a:ext cx="10908792" cy="83249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379777"/>
            <a:ext cx="54864" cy="83249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48950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evidence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772969"/>
            <a:ext cx="10616184" cy="34786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Met is 3 and Not met is 1 [S1]. Why it matters: The evidence is mixed. Uncertainty: The review is document-bound. What would change the view: Additional governed evidence that changes either count.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21998"/>
            <a:ext cx="10908792" cy="89592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321998"/>
            <a:ext cx="54864" cy="895921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543172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partial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715190"/>
            <a:ext cx="10616184" cy="41128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Partially met is 1 [S1]. Why it matters: Partial support limits a clean conclusion. Uncertainty: Missing documents may exist. What would change the view: Complete evidence for the partially supported requirements.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196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19652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evidence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7118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Not found is 0 [S1]. Why it matters: Unlocated evidence remains outside the assessment. Uncertainty: Absence from the supplied record is not proof of absence. What would change the view: A current document resolving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32135"/>
            <a:ext cx="10908792" cy="258578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632135"/>
            <a:ext cx="54864" cy="258578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74186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Disclosure timing unclear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025327"/>
            <a:ext cx="10616184" cy="21011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significant event is named without an effective date [S1]. Why it matters: readers cannot place the event within the presented record. Uncertainty: the date may exist…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Performance Integrity &amp; GIPS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REQUIREMENT EVIDENCE MATRIX (TEST)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396"/>
                <a:gridCol w="5454396"/>
              </a:tblGrid>
              <a:tr h="115443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 score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Performance record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Disclosures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0.5</a:t>
                      </a:r>
                    </a:p>
                  </a:txBody>
                  <a:tcPr marL="54864" marR="54864" marT="27432" marB="27432" anchor="ctr">
                    <a:solidFill>
                      <a:srgbClr val="D6F574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Governance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-0.5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Performance Integrity &amp; GIPS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The fictional composite report presents annual gross and net returns with benchmark returns [S1]. The disclosure schedule identifies the composite, but its fee wording and significant-event timing are incomplete [S2].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Follow-up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Clarify the complete fee schedule and significant-event date.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Findings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CHECKLIST STATUS BY AREA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Findings Checklist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FINDINGS BY SEVERITY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Findings Checklist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9149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·  Area  ·  Requirement  ·  Provision  ·  Status  ·  Evidence  ·  Finding / follow-up  · </a:t>
            </a:r>
            <a:br/>
            <a:br/>
            <a:r>
              <a:t> ·  Returns  ·  Required annual returns  ·  4.A.1  ·  Met  ·  Report pp.1–2 [S1]  ·  —  · </a:t>
            </a:r>
            <a:br/>
            <a:br/>
            <a:r>
              <a:t> ·  Benchmark  ·  Benchmark returns  ·  4.A.1  ·  Met  ·  Report pp.1–2 [S1]  ·  —  · </a:t>
            </a:r>
            <a:br/>
            <a:br/>
            <a:r>
              <a:t> ·  Composite  ·  Composite description  ·  4.C.10  ·  Met  ·  Schedule [S2]  ·  —  · </a:t>
            </a:r>
            <a:br/>
            <a:br/>
            <a:r>
              <a:t> ·  Fees  ·  Fee disclosure  ·  4.C.11  ·  Partially met  ·  Schedule [S2]  ·  Performance fee unclear  · </a:t>
            </a:r>
            <a:br/>
            <a:br/>
            <a:r>
              <a:t> ·  Events  ·  Significant-event disclosure  ·  4.C.19  ·  Not met  ·  Report [S1]  ·  Event date absent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710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PRIORITY FINDINGS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801425"/>
          <a:ext cx="10908792" cy="24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0412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0412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Event date absent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The report does not date the significant event [S1].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412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Fee wording incomplete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The schedule does not clearly state the performance fee [S2].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0412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Schedule lags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The disclosure schedule post-dates the report year-end [S1][S2].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·  Tag  ·  Source  ·  Detail  ·  As of  ·  Validation  · </a:t>
            </a:r>
            <a:br/>
            <a:br/>
            <a:r>
              <a:t> ·  S1  ·  Composite report (TEST)  ·  Fictional pages 1–4  ·  2025-12-31  ·  Synthetic document  · </a:t>
            </a:r>
            <a:br/>
            <a:br/>
            <a:r>
              <a:t> ·  S2  ·  Disclosure schedule (TEST)  ·  Fictional fee and composite notes  ·  2026-03-31  ·  Synthetic document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Method &amp;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This fictional report review tests the shared GIPS handoff contract. It is not verification, certification, legal advice or an assessment of any real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SYNTHETIC TEST DATA — fictional regression fixture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Alder Ridge Composite (TEST) — GIPS Report Review</dc:title>
  <dc:subject>GIPS Review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