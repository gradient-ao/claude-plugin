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cat>
            <c:strRef>
              <c:f>Sheet1!$A$2:$A$4</c:f>
              <c:strCache>
                <c:ptCount val="3"/>
                <c:pt idx="0">
                  <c:v>Core government / IG</c:v>
                </c:pt>
                <c:pt idx="1">
                  <c:v>Core-plus credit</c:v>
                </c:pt>
                <c:pt idx="2">
                  <c:v>Global / emerging debt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50.0</c:v>
                </c:pt>
                <c:pt idx="1">
                  <c:v>35.699999999999996</c:v>
                </c:pt>
                <c:pt idx="2">
                  <c:v>14.299999999999999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Core government / IG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14.0</c:v>
                </c:pt>
                <c:pt idx="1">
                  <c:v>17.0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Core-plus credit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10.0</c:v>
                </c:pt>
                <c:pt idx="1">
                  <c:v>7.0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Global / emerging debt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4.0</c:v>
                </c:pt>
                <c:pt idx="1">
                  <c:v>4.0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Core government / IG</c:v>
                </c:pt>
                <c:pt idx="1">
                  <c:v>Core-plus credit</c:v>
                </c:pt>
                <c:pt idx="2">
                  <c:v>Global / emerging debt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C6F432"/>
            </a:solidFill>
          </c:spPr>
          <c:cat>
            <c:strRef>
              <c:f>Sheet1!$A$2:$A$4</c:f>
              <c:strCache>
                <c:ptCount val="3"/>
                <c:pt idx="0">
                  <c:v>Core government / IG</c:v>
                </c:pt>
                <c:pt idx="1">
                  <c:v>Core-plus credit</c:v>
                </c:pt>
                <c:pt idx="2">
                  <c:v>Global / emerging debt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Sheet1!$A$2:$A$4</c:f>
              <c:strCache>
                <c:ptCount val="3"/>
                <c:pt idx="0">
                  <c:v>Core government / IG</c:v>
                </c:pt>
                <c:pt idx="1">
                  <c:v>Core-plus credit</c:v>
                </c:pt>
                <c:pt idx="2">
                  <c:v>Global / emerging debt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0.0</c:v>
                </c:pt>
                <c:pt idx="1">
                  <c:v>3.0</c:v>
                </c:pt>
                <c:pt idx="2">
                  <c:v>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cat>
            <c:strRef>
              <c:f>Sheet1!$A$2:$A$4</c:f>
              <c:strCache>
                <c:ptCount val="3"/>
                <c:pt idx="0">
                  <c:v>US investment grade</c:v>
                </c:pt>
                <c:pt idx="1">
                  <c:v>US high yield</c:v>
                </c:pt>
                <c:pt idx="2">
                  <c:v>Emerging hard currency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112.0</c:v>
                </c:pt>
                <c:pt idx="1">
                  <c:v>365.0</c:v>
                </c:pt>
                <c:pt idx="2">
                  <c:v>318.0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Liquid / marketable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Sheet1!$A$2:$A$2</c:f>
              <c:strCache>
                <c:ptCount val="1"/>
                <c:pt idx="0">
                  <c:v>Portfolio (TEST)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68.3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Illiquid / restricted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Sheet1!$A$2:$A$2</c:f>
              <c:strCache>
                <c:ptCount val="1"/>
                <c:pt idx="0">
                  <c:v>Portfolio (TEST)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31.7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cat>
            <c:strRef>
              <c:f>Sheet1!$A$2:$A$2</c:f>
              <c:strCache>
                <c:ptCount val="1"/>
                <c:pt idx="0">
                  <c:v>Baseline expected return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4.7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Why this target</a:t>
            </a:r>
          </a:p>
          <a:p>
            <a:r>
              <a:t>Observation: The target shifts 3.0 percentage points from core-plus credit to government and investment-grade bonds [S3][S4]. Why it matters: Credit concentration falls. Uncertainty: CMA consensus, macro regime, manager findings, duration and costs are incomplete [S8]. What would change the view: Completed context showing worse duration or transition outcomes [S8].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Spread context is cautionary</a:t>
            </a:r>
          </a:p>
          <a:p>
            <a:r>
              <a:t>Observation: All three returned credit spreads widened over three months [S6]. Why it matters: The context supports caution around concentrated credit exposure. Uncertainty: Market spreads do not identify portfolio attribution or predict direction. What would change the view: Updated spread evidence and governed attribution showing a different concentration tradeoff [S5][S6].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Risk rises with return</a:t>
            </a:r>
          </a:p>
          <a:p>
            <a:r>
              <a:t>Observation: Higher-returning fixed-income segments also carry higher expected volatility [S7]. Why it matters: Reducing core-plus credit gives up some assumed return for lower modeled risk. Uncertainty: The values are assumptions rather than forecasts. What would change the view: A governed assumption refresh that reverses the segment risk-return ordering [S7].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274320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C6F432"/>
                </a:solidFill>
                <a:latin typeface="Inter"/>
              </a:defRPr>
            </a:pPr>
            <a:r>
              <a:t>FIXED INCOME PORTFOLIO CONSTRUCTION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76272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FFFFF"/>
                </a:solidFill>
                <a:latin typeface="Inter"/>
              </a:defRPr>
            </a:pPr>
            <a:r>
              <a:t>Northstar Fixed Income Portfolio (TEST)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456432"/>
            <a:ext cx="9692640" cy="6400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9AA5B1"/>
                </a:solidFill>
                <a:latin typeface="Inter"/>
              </a:defRPr>
            </a:pPr>
            <a:r>
              <a:t>Decision pack · prepared for the Investment Committee (TEST)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251960"/>
            <a:ext cx="1005840" cy="54864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AS OF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BASE CURRENCY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TOTAL NAV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$1,000.0M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FIXED-INCOME WEIGHT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28.0%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052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POLICY BENCHMARK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Example Aggregate Bond Index (TEST)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4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DATA 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Fictional TEST data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473952"/>
            <a:ext cx="80467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0" y="6473952"/>
            <a:ext cx="16459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Executive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243094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243094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Recommendation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19463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We recommend shifting 3.0 percentage points of the fixed-income sleeve from core-plus credit to core government and investment-grade bonds while retaining the 28.0% total-fund allocation [S3][S4]. Committee action requested: approve the target structure and a two-stage implementation subject to benchmark and liquidity checks [S3][S8].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866556"/>
            <a:ext cx="2644902" cy="235136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866556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3994572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FIXED-INCOME WEIGHT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4250604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28.0%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Policy target 28.0% [S3]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94710" y="3866556"/>
            <a:ext cx="2644902" cy="235136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94710" y="3866556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04438" y="3994572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ACTIVE WEIGHT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04438" y="4250604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0.0pp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0443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Total-fund target [S3]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49340" y="3866556"/>
            <a:ext cx="2644902" cy="235136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49340" y="3866556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59068" y="3994572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RELATIVE RETURN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59068" y="4250604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+0.4pp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5906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Trailing 1Y versus benchmark [S5]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03970" y="3866556"/>
            <a:ext cx="2644902" cy="235136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03970" y="3866556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13698" y="3994572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LIQUID SHARE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13698" y="4250604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96.0%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1369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Daily to weekly [S3]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S3 · S4 · S5 · S8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Executive Decision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69475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694757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Recommendation and action requested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We recommend a 3.0 percentage-point shift from core-plus credit to core government and investment-grade bonds. Committee action requested: approve the target and staged implementation [S3][S4][S8].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30365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DECISION SUMMARY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" y="2404685"/>
          <a:ext cx="10908792" cy="108914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27228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Decision element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Proposed 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7228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Total 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Hold at 28.0%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27228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Core-plus credit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Reduce from 10.0% to 7.0% of total fund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Proposed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27228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Core government / IG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Increase from 14.0% to 17.0%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Proposed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3603554"/>
            <a:ext cx="10908792" cy="69475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603554"/>
            <a:ext cx="54864" cy="69475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1" y="3713282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Conditions and limits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3996746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Implementation requires confirmation of security-level duration and transaction costs, which are not available in the connector evidence [S8].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408040"/>
            <a:ext cx="10908792" cy="84172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4408040"/>
            <a:ext cx="54864" cy="841725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1" y="451776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Key judgment — headline signal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1" y="4801232"/>
            <a:ext cx="10616184" cy="35709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The fictional TEST report carries a Credit allocation proposed signal [S1]. Why it matters: The signal frames the review. Uncertainty: Evidence coverage is bounded. What would change the view: New governed evidence that changes the signal.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359493"/>
            <a:ext cx="10908792" cy="85842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5359493"/>
            <a:ext cx="54864" cy="85842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1" y="546922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Key judgment — primary measure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1" y="5752685"/>
            <a:ext cx="10616184" cy="37379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Fixed-income weight is 28.0% in the TEST evidence [S2]. Why it matters: This measure anchors the executive view. Uncertainty: The fixture is deliberately compact. What would change the view: A refreshed source with a materially different value.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S2 · S3 · S4 · S8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Executive Decision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Key judgment — monitoring priority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Liquid share is 96.0% in the TEST evidence [S3]. Why it matters: It identifies a monitoring priority. Uncertainty: Supporting detail is limited. What would change the view: Corroborated evidence that resolves or reverses the item.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Mandate, Benchmark and Data Basis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29774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Portfolio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Northstar Total Fund (TEST)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Mandate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Capital preservation, income and diversification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Example Aggregate Bond Index (TEST)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Horizon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5 years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Return basis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Net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Fictional TEST data [S1]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413057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GOVERNED FRAMEWORK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4687377"/>
          <a:ext cx="10908792" cy="15305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8263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Area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Objective or limit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Observed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8263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Fixed income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23.0%–33.0%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28.0%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63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Volatility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At or below 7.0%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5.4%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[S3][S5]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263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Below-investment-grade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At or below 8.0% of total fund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6.0%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S2 · S3 · S4 · S5 · S7 · S8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Current Fixed Income Portfolio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FIXED-INCOME ALLOCATION (TEST)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Current Fixed Income Portfolio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CURRENT SLEEVE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0" cy="30332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75831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Segment / exposure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Value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% portfolio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% fixed income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Currency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5831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Core government / IG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$140.0M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14.0%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50.0%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USD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5831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Core-plus credit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$100.0M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10.0%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35.7%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USD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5831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Global / emerging debt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$40.0M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4.0%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14.3%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Mixed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743198"/>
            <a:ext cx="10908792" cy="147472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t>Exposure classifications are shown as returned and are not remapped to policy-tree labels [S2][S4].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S2 · S4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THE PROPOSED MIX REDUCES CONCENTRATED RISK WHILE PRESERVING MANDATE EXPOSURE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Target Portfolio Structure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CURRENT WEIGHT VERSUS POLICY RANGE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36776"/>
            <a:ext cx="1828800" cy="14935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t>Core government / IG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61427" y="2185111"/>
            <a:ext cx="3467404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91702" y="2061972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914839" y="1908048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76016"/>
            <a:ext cx="1828800" cy="14935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t>Core-plus credit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27448" y="3724351"/>
            <a:ext cx="3033979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858000" y="3601212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580583" y="3447288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715256"/>
            <a:ext cx="1828800" cy="14935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t>Global / emerging debt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60320" y="5263591"/>
            <a:ext cx="2600553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257446" y="5140452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80306" y="4986528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THE PROPOSED MIX REDUCES CONCENTRATED RISK WHILE PRESERVING MANDATE EXPOSURE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Target Portfolio Structure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CURRENT AND TARGET MIX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THE PROPOSED MIX REDUCES CONCENTRATED RISK WHILE PRESERVING MANDATE EXPOSURE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Target Portfolio Structure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TARGET ALLOCATION CHANGES (PERCENTAGE POINTS)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THE PROPOSED MIX REDUCES CONCENTRATED RISK WHILE PRESERVING MANDATE EXPOSURE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Target Portfolio Structure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CURRENT VERSUS TARGET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0" cy="171831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429578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Current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Target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Change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Range / constraint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Rationale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2957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Core government / IG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14.0%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17.0%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+3.0pp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12.0%–20.0%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Increase benchmark-aligned ballast [S3][S8]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957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Core-plus credit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10.0%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7.0%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-3.0pp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5.0%–12.0%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Reduce credit concentration [S3][S4][S6]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2957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Global / emerging debt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4.0%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4.0%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0.0pp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0.0%–6.0%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Maintain diversified role [S3][S7]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3428241"/>
            <a:ext cx="10908792" cy="179151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428241"/>
            <a:ext cx="54864" cy="1791515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1" y="3537969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Analysis — Why this target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3821433"/>
            <a:ext cx="10616184" cy="130688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The target shifts 3.0 percentage points from core-plus credit to government and investment-grade bonds [S3][S4]. Why it matters: Credit concentration falls. Uncertainty: CMA consensus, macro regime, manager…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329484"/>
            <a:ext cx="10908792" cy="88843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t>The target is a committee proposal and is not a saved portfolio change [S3][S8].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S3 · S4 · S6 · S7 · S8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Historical Performance and Attribution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STANDARD PERIODS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18832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7080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Portfolio / sleeve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Excess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7080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1Y fixed-income sleeve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5.1%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4.7%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+0.4pp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Complete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080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3Y fixed-income sleeve (ann.)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3.4%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3.1%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+0.3pp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Complete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7080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5Y fixed-income sleeve (ann.)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1.9%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-0.1pp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Complete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593145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ATTRIBUTION EFFECTS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3867465"/>
          <a:ext cx="10908792" cy="23504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47009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Effect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Contribution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7009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+0.08pp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009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Selection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+0.22pp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7009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Interaction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+0.02pp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009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Residual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0.00pp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Historical Performance and Attribution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Method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Brinson-Fachler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Linking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Symmetric Carino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Net, monthly linked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Tolerance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 bp; reconciled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WIDER SPREADS FAVOR A MORE BALANCED QUALITY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Rates and Credit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06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264490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EFFECTIVE DURATION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170992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Not available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Security analytics unavailable [S8]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94710" y="1325880"/>
            <a:ext cx="264490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94710" y="1325880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0443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SPREAD DURATION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04438" y="170992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Not available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443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Security analytics unavailable [S8]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49340" y="1325880"/>
            <a:ext cx="264490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49340" y="1325880"/>
            <a:ext cx="2644902" cy="4572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5906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US IG SPREAD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9068" y="170992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112 bps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906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Latest returned context [S6]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03970" y="1325880"/>
            <a:ext cx="264490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03970" y="1325880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1369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US HY SPREAD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13698" y="170992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365 bps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1369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Latest returned context [S6]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S6 · S8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WIDER SPREADS FAVOR A MORE BALANCED QUALITY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Rates and Credit Context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CREDIT SPREADS (TEST)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WIDER SPREADS FAVOR A MORE BALANCED QUALITY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Rates and Credit Context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CREDIT SPREADS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6956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23918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Market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Latest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3-month change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2391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US investment grade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112 bps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+9 bps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Complete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391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US high yield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365 bps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+28 bps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2392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Emerging hard currency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318 bps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+17 bps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Complete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3405602"/>
            <a:ext cx="10908792" cy="182424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405602"/>
            <a:ext cx="54864" cy="1824247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1" y="351533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Analysis — Spread context is cautionary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3798794"/>
            <a:ext cx="10616184" cy="133961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All three returned credit spreads widened over three months [S6]. Why it matters: The context supports caution around concentrated credit exposure. Uncertainty: Market spreads do not identify…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339578"/>
            <a:ext cx="10908792" cy="87834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t>Credit spreads are market context only; governed attribution identifies the portfolio's historical effects [S5][S6].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S5 · S6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Forward Return and Risk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Assumption set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 Strategic CMA (TEST)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Regime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Baseline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Horizon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5 years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Currency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USD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Context fingerprint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test-fi-forward-2026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Forward Return and Risk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FIXED-INCOME FORWARD ASSUMPTIONS (TEST)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11544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Expected return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Expected volatility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Core government / IG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4.1%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5.2%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Core-plus credit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5.8%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8.1%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Global / emerging debt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6.4%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10.5%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Forward Return and Risk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07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318820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318820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Analysis — Risk rises with return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270357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Higher-returning fixed-income segments also carry higher expected volatility [S7]. Why it matters: Reducing core-plus credit gives up some assumed return for lower modeled risk. Uncertainty: The values…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623816"/>
            <a:ext cx="10908792" cy="15941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t>These figures are assumptions under the selected context, not forecasts or guarantees [S7].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Policy Risk, Liquidity and Tradability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LIQUIDITY COMPOSITION (TEST)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Policy Risk, Liquidity and Tradability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POLICY RISK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18216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5541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Metric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Observed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Limit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5541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Volatility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5.4%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7.0%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60 months [S3][S5]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541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Maximum drawdown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-8.1%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-12.0%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60 months [S3][S5]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5541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Duration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Not available — security analytics not returned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Not assessed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t>● 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Unavailable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531595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LIQUIDITY PROFILE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3805915"/>
          <a:ext cx="10908792" cy="13677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5591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Bucket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% NAV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Amount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Requirement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5591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Daily to weekly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26.9%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$269.0M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At least 20.0%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5592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Monthly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$11.0M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Monitor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5283403"/>
            <a:ext cx="10908792" cy="9345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t>The connector does not return security-level duration, spread duration, yield, convexity or key-rate exposure for this fixture [S8].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S3 · S5 · S8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Scenarios and Robustness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GOVERNED SCENARIO RESULTS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Scenarios and Robustness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SUPPORTED SCENARIOS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28937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72342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Scenario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Return / loss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Risk measure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2342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Baseline 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4.7% expected return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6.2% volatility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Proposed sleeve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2342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Rate shock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Not available — no governed shock result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2342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Spread shock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Not available — no governed shock result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Unavailable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4603637"/>
            <a:ext cx="10908792" cy="161428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4603637"/>
            <a:ext cx="54864" cy="161428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1" y="4713365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Selected-series sandbox — not saved-portfolio analytics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4996829"/>
            <a:ext cx="10616184" cy="112965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Not available — no Strategy Lab return series selected [S8].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S7 · S8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Implementation Plan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IMPLEMENTATION STEPS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0" cy="1117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37242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Phase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Size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Funding 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Condition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7242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Reduce core-plus credit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1.5pp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Internal rebalance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Benchmark and liquidity confirmed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Investment staff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242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Complete remaining shift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1.5pp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Internal rebalance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Transaction-cost review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CIO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282720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ALTERNATIVES CONSIDERED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3101520"/>
          <a:ext cx="10908792" cy="1117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37242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Alternative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Benefit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Cost / risk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Reason not selected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7242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 change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 turnover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Credit concentration remains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Does not address watch item 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242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Full shift immediately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Fast target alignment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Unknown transaction costs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Costs not available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4328521"/>
            <a:ext cx="10908792" cy="188939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Confirm duration and transition costs before trade instructions [S8].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Recheck policy status after each phase [S3].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Report attribution and credit-spread context at the next review [S5][S6].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S3 · S4 · S5 · S6 · S8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Risks, Open Items and Approvals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DECISION RISKS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21168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2920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Priority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Risk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Mitigation / condition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Security analytics unavailable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Duration not returned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Obtain custodian analytics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Investment staff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Credit-spread sensitivity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Wider spreads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Stage implementation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CIO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Low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Benchmark mismatch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Benchmark confirmed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Document benchmark role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Operations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826763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OPEN ITEMS AND APPROVALS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4101083"/>
          <a:ext cx="10908792" cy="21168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2920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Timing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Item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Required 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Before approval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Confirm duration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Security analytics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Investment staff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Open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Within 30 days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Transition-cost estimate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Dealer / manager estimate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CIO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Open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Next review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Attribution update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Governed return period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Performance team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Open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S5 · S6 · S8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Coverage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61150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Portfolio and 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Fictional TEST data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Policy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Allocation, risk and liquidity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Fixed-income classifications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Returns and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Governed evidence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Credit context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Credit spreads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Forward assumptions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 CMA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Security analytics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Duration and transaction costs not returned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S2 · S3 · S4 · S5 · S6 · S7 · S8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Appendix A — Sources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271016"/>
                <a:gridCol w="1271016"/>
                <a:gridCol w="1271016"/>
                <a:gridCol w="1271016"/>
                <a:gridCol w="1271016"/>
                <a:gridCol w="1271016"/>
                <a:gridCol w="1271016"/>
              </a:tblGrid>
              <a:tr h="54356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Tool / 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Key parameters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Validation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Organization and 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list_organizations; 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organization=test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fi-s1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Portfolio and allocation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list_portfolios; get_portfolio_structure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allocation_tree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fi-s2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Policy assessment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check_portfolio_policy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portfolio=test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fi-s3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Fixed-income 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get_portfolio_exposure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fixed_income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fi-s4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Returns and 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get_portfolio_historical_returns; get_portfolio_attribution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all sections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fi-s5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Credit context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get_macro_conditions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credit_spreads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fi-s6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Forward 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get_capital_market_assumptions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baseline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2026-06-15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fi-s7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Mandate and evidence gaps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User document; coverage record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fictional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advisory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fi-s8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S2 · S3 · S4 · S5 · S6 · S7 · S8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Appendix B — Server Metric Methods and Disclosures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SERVER METRIC METHODS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199787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9957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Quantity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Method / formula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Version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Basis / units / tolerance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9957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Policy status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Governed assessment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portfolio-policy-v1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Returned status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957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Returns and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Linked returns; Brinson-Fachler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portfolio-attribution-v1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Net; 1 bp tolerance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9957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Credit spreads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Returned macro conditions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macro-conditions-v1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Basis points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957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Forward statistics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Expected-statistics chart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chart-contract-v1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5-year assumptions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707801"/>
            <a:ext cx="10908792" cy="251011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Forward values are assumptions, not forecasts or guarantees [S7].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Security-level duration and transition costs are unavailable [S8].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Portfolio Analytics and Strategy Lab are separate analytical scopes.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This AI-assisted construction analysis is not investment, legal or compliance advice.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S3 · S5 · S6 · S7 · S8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Northstar Fixed Income Portfolio (TEST)</dc:title>
  <dc:subject>Fixed Income Portfolio Construction</dc:subject>
  <dc:creator>GradientCIO</dc:creator>
  <cp:keywords/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