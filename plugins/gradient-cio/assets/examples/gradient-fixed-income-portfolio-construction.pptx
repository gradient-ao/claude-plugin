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50.0</c:v>
                </c:pt>
                <c:pt idx="1">
                  <c:v>35.699999999999996</c:v>
                </c:pt>
                <c:pt idx="2">
                  <c:v>14.299999999999999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 government / IG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17.0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Core-plus credit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10.0</c:v>
                </c:pt>
                <c:pt idx="1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Global / emerging debt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4.0</c:v>
                </c:pt>
                <c:pt idx="1">
                  <c:v>4.0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Sheet1!$A$2:$A$4</c:f>
              <c:strCache>
                <c:ptCount val="3"/>
                <c:pt idx="0">
                  <c:v>Core government / IG</c:v>
                </c:pt>
                <c:pt idx="1">
                  <c:v>Core-plus credit</c:v>
                </c:pt>
                <c:pt idx="2">
                  <c:v>Global / emerging debt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3.0</c:v>
                </c:pt>
                <c:pt idx="2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0.08</c:v>
                </c:pt>
                <c:pt idx="2">
                  <c:v>0.3</c:v>
                </c:pt>
                <c:pt idx="3">
                  <c:v>0.32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0.08</c:v>
                </c:pt>
                <c:pt idx="1">
                  <c:v>0.22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US investment grade</c:v>
                </c:pt>
                <c:pt idx="1">
                  <c:v>US high yield</c:v>
                </c:pt>
                <c:pt idx="2">
                  <c:v>Emerging hard currency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112.0</c:v>
                </c:pt>
                <c:pt idx="1">
                  <c:v>365.0</c:v>
                </c:pt>
                <c:pt idx="2">
                  <c:v>318.0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Current ? Core government / IG</c:v>
                </c:pt>
                <c:pt idx="1">
                  <c:v>Proposed ? Core government / IG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4.1000000000000005</c:v>
                </c:pt>
                <c:pt idx="1">
                  <c:v>5.2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shifts 3.0 percentage points from core-plus credit to government and investment-grade bonds [S3][S4]. Why it matters: The change directly reduces concentrated credit exposure. Uncertainty: Duration, cost, CMA, regime and manager coverage remain incomplete [S8]. What would change the view: Completed records showing higher duration or transition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Spread context is cautionary</a:t>
            </a:r>
          </a:p>
          <a:p>
            <a:r>
              <a:t>Observation: All three returned credit spreads widened over three months [S6]. Why it matters: The context supports caution around concentrated credit exposure. Uncertainty: Spread coverage neither attributes portfolio results nor predicts direction. What would change the view: Refreshed spreads and governed attribution results reversing the concentration tradeoff [S5][S6].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Risk rises with return</a:t>
            </a:r>
          </a:p>
          <a:p>
            <a:r>
              <a:t>Observation: Higher-returning fixed-income segments also carry higher expected volatility [S7]. Why it matters: Reducing core-plus credit gives up some assumed return for lower modeled risk. Uncertainty: The values are assumptions rather than forecasts. What would change the view: A governed assumption refresh that reverses the segment risk-return ordering 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FIXED INCOME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Fixed Income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Decision pack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FIXED-INCOME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Example Aggregate Bond Index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TEST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Credit allocation proposed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9 ·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3094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3094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463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shifting 3.0 percentage points of the fixed-income sleeve from core-plus credit to core government and investment-grade bonds while retaining the 28.0% total-fund allocation [S3][S4]. Committee action requested: approve the target structure and a two-stage implementation subject to benchmark and liquidity checks [S3][S8].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28.0% [S3]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9471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0443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target [S3]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14934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5906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+0.4pp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versus benchmark [S5]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866556"/>
            <a:ext cx="2644902" cy="23513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8903970" y="386655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013698" y="399457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425060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96.0%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Daily to weekly [S3]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78487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784877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30024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3.0 percentage-point shift from core-plus credit to core government and investment-grade bonds. Committee action requested: approve the target and staged implementation [S3][S4][S8].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48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494805"/>
          <a:ext cx="10908792" cy="126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1650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165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 at 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65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10.0% to 7.0% of total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165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14.0% to 17.0%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3870536"/>
            <a:ext cx="10908792" cy="78487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870536"/>
            <a:ext cx="54864" cy="78487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39802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263728"/>
            <a:ext cx="10616184" cy="30024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requires confirmation of security-level duration and transaction costs, which are not available in the connector evidence [S8].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65141"/>
            <a:ext cx="10908792" cy="145277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4765141"/>
            <a:ext cx="54864" cy="145277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487486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158333"/>
            <a:ext cx="10616184" cy="96814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fictional TEST report carries a credit-allocation signal above the prior neutral baseline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3401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34012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85549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Fixed-income weight is 28.0% in the TEST evidence [S2]. Why it matters: This measure establishes the baseline for comparing later governed results. Uncertainty: The source basis may omit newer observations outside this fixture. What would change the view: A refreshed source report showing a change above 1%.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75733"/>
            <a:ext cx="10908792" cy="244218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775733"/>
            <a:ext cx="54864" cy="244218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88546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68925"/>
            <a:ext cx="10616184" cy="195755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Liquid share is 96.0% in the TEST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Benchmark and Data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Capital preservation, income and diversification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Aggregate Bond Index (TEST)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 income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23.0%–33.0%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Volatility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Below-investment-grade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8.0% of total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Fixed Income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ALLOCATION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Fixed Income Portfolio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303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5831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 / 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fixed income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5831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$100.0M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35.7%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5831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43198"/>
            <a:ext cx="1090879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Exposure classifications are shown as returned and are not remapped to policy-tree labels [S2][S4].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Core government / 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61427" y="2185111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8591702" y="206197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9914839" y="190804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17601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Core-plus credit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3724351"/>
            <a:ext cx="303397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6858000" y="360121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5580583" y="344728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4715256"/>
            <a:ext cx="1828800" cy="14935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Global / emerging debt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5263591"/>
            <a:ext cx="2600553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4257446" y="5140452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4280306" y="4986528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PROPOSED MIX REDUCES CONCENTRATED RISK WHILE PRESERVING MANDATE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Portfolio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69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42493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+3.0pp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12.0%–20.0%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benchmark-aligned ballast [S3][S8]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-3.0pp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5.0%–12.0%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credit concentration [S3][S4][S6]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diversified role [S3][S7]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09680"/>
            <a:ext cx="10908792" cy="18183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09680"/>
            <a:ext cx="54864" cy="18183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1940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02872"/>
            <a:ext cx="10616184" cy="13337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shifts 3.0 percentage points from core-plus credit to government and investment-grade bonds [S3][S4]. Why it matters: The change directly reduces concentrated credit exposure. Uncertainty: Duration…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37760"/>
            <a:ext cx="10908792" cy="8801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S6 · S7 · S8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480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701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fixed-income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17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fixed-income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3.4%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+0.3pp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01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5Y fixed-income sleeve (ann.)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-0.1pp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190621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464941"/>
          <a:ext cx="10908792" cy="186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7215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+0.08pp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+0.22pp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1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435429"/>
            <a:ext cx="10908792" cy="78249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EFFECTIVE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Security analytics unavailable [S8]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SPREAD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Security analytics unavailable [S8]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US IG SPREAD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112 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returned context [S6]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US HY SPREAD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365 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returned context [S6]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WIDER SPREADS FAVOR A MORE BALANCED QUALITY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Rates and Credit Context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69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2493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3-month 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 investment grade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112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+9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 high yield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365 bps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+28 bps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2493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Emerging hard currency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318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+17 bps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09680"/>
            <a:ext cx="10908792" cy="18183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09680"/>
            <a:ext cx="54864" cy="18183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1940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Spread context is cautionary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02872"/>
            <a:ext cx="10616184" cy="13337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All three returned credit spreads widened over three months [S6]. Why it matters: The context supports caution around concentrated credit exposure. Uncertainty: Spread coverage neither attributes portfolio…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37760"/>
            <a:ext cx="10908792" cy="88015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Credit spreads are market context only; governed attribution identifies the portfolio's historical effects [S5][S6].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(TEST)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test-fi-forward-2026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FIXED-INCOME FORWARD ASSUMPTIONS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15443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 government / IG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Core-plus credit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/ emerging debt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18820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18820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Risk rises with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70357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Higher-returning fixed-income segments also carry higher expected volatility [S7]. Why it matters: Reducing core-plus credit gives up some assumed return for lower modeled risk. Uncertainty: The values…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23816"/>
            <a:ext cx="10908792" cy="15941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[S7].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Risk, Liquidity and Tradability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COMPOSITION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Policy Risk, Liquidity and Tradability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RISK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821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5541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554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months [S3][S5]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54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Maximum drawdown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-8.1%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-12.0%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months [S3][S5]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54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security analytics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315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PROFILE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805915"/>
          <a:ext cx="10908792" cy="136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5591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5591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Daily to weekly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$269.0M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20.0%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5592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$11.0M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283403"/>
            <a:ext cx="10908792" cy="9345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connector does not return security-level duration, spread duration, yield, convexity or key-rate exposure for this fixture 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4.7%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6.2%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Rate shock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Spread shock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shock result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core-plus credit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Internal rebalance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and liquidity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remaining shift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Internal rebalance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Transaction-cost 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2720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101520"/>
          <a:ext cx="10908792" cy="1117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242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turnover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watch item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242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Full shift immediately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Fast target alignment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Unknown transaction costs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Costs not available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328521"/>
            <a:ext cx="10908792" cy="188939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Confirm duration and transition costs before trade instructions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Recheck policy status after each phase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Report attribution and credit-spread context at the next review [S5][S6].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S6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 unavailable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Obtain custodian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Credit-spread sensitivity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Wider spreads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Stage implementation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mismatch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confirmed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Document benchmark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duration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Within 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Transition-cost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Dealer / manager estimate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Attribution update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return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 · S6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risk and liquidity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Fixed-income classifications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evidence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spreads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CMA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Security analytics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Duration and transaction costs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Fixed-income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fixed_income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context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get_macro_conditions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credit_spreads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 and evidence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User document; coverage record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997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9957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9957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Credit spreads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macro conditions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macro-conditions-v1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points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957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statistics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Expected-statistics chart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chart-contract-v1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5-year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07801"/>
            <a:ext cx="10908792" cy="25101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Forward values are assumptions, not forecasts or guarantees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Security-level duration and transition costs are unavailable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AI-assisted construction analysis is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Fixed Income Portfolio (TEST)</dc:title>
  <dc:subject>Fixed Income Portfolio Construction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