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0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2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benchmark comparability is bounded</a:t>
            </a:r>
          </a:p>
          <a:p>
            <a:r>
              <a:t>Observation: One benchmark change lacks an effective date [S1, S2]. Why it matters: Period comparability requires dated benchmark lineage. Uncertainty: Approval records supporting the change were not supplied. What would change the view: Follow-up request 1 producing dated approval records.</a:t>
            </a:r>
          </a:p>
          <a:p/>
          <a:p>
            <a:r>
              <a:t>Analysis — oversight controls are not evidenced</a:t>
            </a:r>
          </a:p>
          <a:p>
            <a:r>
              <a:t>Observation: Two control policies, valuation and error correction, are absent [S3]. Why it matters: Reporting oversight cannot be assessed without both policies. Uncertainty: The reviewed custodian package may omit separately maintained policies. What would change the view: Follow-up request 2 producing approved policy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ASSET OWNER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Public Trust — GIPS Asset Owner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Total-fund reporting · performance standards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ASSET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Public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Asset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99032"/>
            <a:ext cx="73152" cy="1188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10588752" cy="77431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Satisfactory with follow-ups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70632"/>
            <a:ext cx="10908792" cy="125158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2770632"/>
            <a:ext cx="54864" cy="125158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288036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63824"/>
            <a:ext cx="10616184" cy="7669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return and benchmark evidence is present, while benchmark-change and policy documentation remain incomplete [S1][S2][S3].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31945"/>
            <a:ext cx="2644902" cy="208597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131945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425996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1599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 basis and policy benchmark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4710" y="4131945"/>
            <a:ext cx="2644902" cy="208597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94710" y="4131945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04438" y="425996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PARTIALLY 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451599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Benchmark-change disclosure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131945"/>
            <a:ext cx="2644902" cy="208597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149340" y="4131945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59068" y="425996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451599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Valuation policy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3970" y="4131945"/>
            <a:ext cx="2644902" cy="208597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8903970" y="4131945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013698" y="4259961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4515993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Error-correction policy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83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091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9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Board performance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Total-fund evidence through 2026-06-30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9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benchmark approved for 2026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9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Custodian package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schedules supplied; control policies absent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93605"/>
            <a:ext cx="10908792" cy="5885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follow-ups. Total-fund return and policy-benchmark evidence 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91877"/>
            <a:ext cx="10908792" cy="9081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291877"/>
            <a:ext cx="54864" cy="908157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40160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total-fund basis is explicit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685069"/>
            <a:ext cx="10616184" cy="4235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board report states that total-fund returns are net of external manager fees [S1]. This explicit basis supports interpretation of the reported results, although it does not establish how every underlying expense is treated or whether the same convention applies outside the reviewed report.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09762"/>
            <a:ext cx="10908792" cy="9081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309762"/>
            <a:ext cx="54864" cy="908157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41949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policy benchmark is 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702954"/>
            <a:ext cx="10616184" cy="4235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investment policy names the benchmark used in the board report [S1, S2]. Matching the two records supports benchmark identity, but the evidence does not by itself establish uninterrupted methodology, approval history, or comparability across every reported period.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39115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 lineage is incomplete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065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benchmark change is disclosed without an effective date or approval rationale [S1, S2]. That omission prevents period-level lineage testing, so comparability remains bounded until dated approval records identify when the change took effect and why it was adopted.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26763"/>
            <a:ext cx="54864" cy="2391156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9364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control policies are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19955"/>
            <a:ext cx="10616184" cy="19065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custodian package does not include valuation or error-correction policies [S3]. Without those two control records, the review cannot assess how pricing exceptions are resolved or how material reporting errors are identified, approved, corrected and communicated.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FINDINGS BY SEVERITY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PRIORITY FINDINGS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43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6095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609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date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report omits the benchmark-change effective date [S1][S2].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095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policy absent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reviewed package does not include the valuation policy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6095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policy not found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error-correction policy was supplied [S2][S3].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53761"/>
            <a:ext cx="10908792" cy="6619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benchmark-change disclosure omits its effective date, the valuation policy was not supplied, and no</a:t>
            </a:r>
            <a:br/>
            <a:br/>
            <a:r>
              <a:rPr>
                <a:latin typeface="Inter"/>
              </a:rPr>
              <a:t>error-correction policy was found in the reviewed package [S1][S2][S3].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25412"/>
            <a:ext cx="10908792" cy="8913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325412"/>
            <a:ext cx="54864" cy="89138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43514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benchmark comparability is bounded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718604"/>
            <a:ext cx="10616184" cy="4067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benchmark change lacks an effective date [S1, S2]. Why it matters: Period comparability requires dated benchmark lineage. Uncertainty: Approval records supporting the change were not supplied…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26530"/>
            <a:ext cx="10908792" cy="8913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326530"/>
            <a:ext cx="54864" cy="89138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43625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oversight controls are not evidenced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719722"/>
            <a:ext cx="10616184" cy="4067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control policies, valuation and error correction, are absent [S3]. Why it matters: Reporting oversight cannot be assessed without both policies. Uncertainty: The reviewed custodian package may…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Oversight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OVERSIGHT EVIDENCE BY REPORTING AREA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3041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506857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Incomplete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supplied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0685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Total-fund return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685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685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0685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controls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50685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correction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51070"/>
            <a:ext cx="10908792" cy="146684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board report presents total-fund returns net of external manager fees and identifies the approved policy</a:t>
            </a:r>
            <a:br/>
            <a:br/>
            <a:r>
              <a:rPr>
                <a:latin typeface="Inter"/>
              </a:rPr>
              <a:t>benchmark [S1][S2]. Oversight evidence is incomplete for the benchmark change because its effective date and</a:t>
            </a:r>
            <a:br/>
            <a:br/>
            <a:r>
              <a:rPr>
                <a:latin typeface="Inter"/>
              </a:rPr>
              <a:t>rationale are absent. The custodian package also does not include the valuation or error-correction policies</a:t>
            </a:r>
            <a:br/>
            <a:br/>
            <a:r>
              <a:rPr>
                <a:latin typeface="Inter"/>
              </a:rPr>
              <a:t>needed to understand the reporting control framework [S3].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35070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Provide the benchmark-change effective date, approval record and rationale.</a:t>
            </a:r>
            <a:br/>
            <a:r>
              <a:rPr>
                <a:latin typeface="Inter"/>
              </a:rPr>
              <a:t>      Closes the 22.C.9 lineage gap [S1][S2].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Provide the current valuation and error-correction policies.</a:t>
            </a:r>
            <a:br/>
            <a:r>
              <a:rPr>
                <a:latin typeface="Inter"/>
              </a:rPr>
              <a:t>      Closes the control-evidence gaps [S3].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42636"/>
            <a:ext cx="10908792" cy="127528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benchmark-change effective date, approval record and rationale (22.C.9) [S1][S2].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current valuation and error-correction policies (21.A.6; 22.C.20) [S3].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Returns  ·  Total-fund return basis  ·  Asset Owner 22.A.1  ·  Met  ·  Board report [S1]  ·  —  · </a:t>
            </a:r>
            <a:br/>
            <a:br/>
            <a:r>
              <a:rPr>
                <a:latin typeface="Inter"/>
              </a:rPr>
              <a:t> ·  Benchmark  ·  Policy benchmark identified  ·  Asset Owner 22.C.8  ·  Met  ·  Policy [S2]  ·  —  · </a:t>
            </a:r>
            <a:br/>
            <a:br/>
            <a:r>
              <a:rPr>
                <a:latin typeface="Inter"/>
              </a:rPr>
              <a:t> ·  Benchmark  ·  Change disclosure  ·  Asset Owner 22.C.9  ·  Partially met  ·  Board report [S1]  ·  Effective date absent  · </a:t>
            </a:r>
            <a:br/>
            <a:br/>
            <a:r>
              <a:rPr>
                <a:latin typeface="Inter"/>
              </a:rPr>
              <a:t> ·  Valuation  ·  Valuation policy availability  ·  Asset Owner 21.A.6  ·  Not met  ·  Custodian package [S3]  ·  Policy not supplied  · </a:t>
            </a:r>
            <a:br/>
            <a:br/>
            <a:r>
              <a:rPr>
                <a:latin typeface="Inter"/>
              </a:rPr>
              <a:t> ·  Oversight  ·  Error-correction policy  ·  Asset Owner 22.C.20  ·  Not found  ·  —  ·  Request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</a:t>
            </a:r>
            <a:br/>
            <a:br/>
            <a:r>
              <a:rPr>
                <a:latin typeface="Inter"/>
              </a:rPr>
              <a:t>portfolios, managers and results in this public example are illustrative.</a:t>
            </a:r>
            <a:br/>
            <a:br/>
            <a:r>
              <a:rPr>
                <a:latin typeface="Inter"/>
              </a:rPr>
              <a:t> ·  Tag  ·  Source  ·  Detail  ·  As of  ·  Validation  · </a:t>
            </a:r>
            <a:br/>
            <a:br/>
            <a:r>
              <a:rPr>
                <a:latin typeface="Inter"/>
              </a:rPr>
              <a:t> ·  S1  ·  Board performance report  ·  Total-fund pages 2–6  ·  2026-06-30  ·  Illustrative document  · </a:t>
            </a:r>
            <a:br/>
            <a:br/>
            <a:r>
              <a:rPr>
                <a:latin typeface="Inter"/>
              </a:rPr>
              <a:t> ·  S2  ·  Investment policy  ·  Benchmark section  ·  2026-01-01  ·  Illustrative document  · </a:t>
            </a:r>
            <a:br/>
            <a:br/>
            <a:r>
              <a:rPr>
                <a:latin typeface="Inter"/>
              </a:rPr>
              <a:t> ·  S3  ·  Custodian package  ·  Performance schedules  ·  2026-06-30  ·  Illustrative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illustrative asset-owner review is not verification, certification, legal advice or an assessment of any real organization.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Public Trust — GIPS Asset Owner Review</dc:title>
  <dc:subject>GIPS Review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