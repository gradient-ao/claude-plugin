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comparability is bounded</a:t>
            </a:r>
          </a:p>
          <a:p>
            <a:r>
              <a:t>Observation: One benchmark change lacks an effective date [S1, S2]. Why it matters: Period comparability requires dated benchmark lineage. Uncertainty: Approval records supporting the change were not supplied. What would change the view: Follow-up request 1 producing dated approval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oversight controls are not evidenced</a:t>
            </a:r>
          </a:p>
          <a:p>
            <a:r>
              <a:t>Observation: Two control policies, valuation and error correction, are absent [S3]. Why it matters: Reporting oversight cannot be assessed without both policies. Uncertainty: The reviewed custodian package may omit separately maintained policies. What would change the view: Follow-up request 2 producing approved policy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ASSET OWNER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Public Trust — GIPS Asset Owner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Total-fund reporting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Public 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Asset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 of 5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return and benchmark evidence is present, while benchmark-change and policy documentation remain incomplete [S1][S2][S3].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basis and policy benchmark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Benchmark-change disclosure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Valuation policy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Error-correction policy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0993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48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48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Board performance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Total-fund evidence through 2026-06-30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48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 approved for 2026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48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package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schedules supplied; control policies absent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09247"/>
            <a:ext cx="10908792" cy="10789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Total-fund return and policy-benchmark evidence 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97902"/>
            <a:ext cx="10908792" cy="122001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997902"/>
            <a:ext cx="54864" cy="122001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10763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total-fund basis is explicit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91094"/>
            <a:ext cx="10616184" cy="735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board report states that total-fund returns are net of external manager fees [S1]. This explicit basis supports interpretation of the reported results, although it does not establish how every underlying expense is treated or whether the same convention applies outside the reviewed report.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6336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6336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benchmark is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8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investment policy names the benchmark used in the board report [S1, S2]. Matching the two records supports benchmark identity, but the evidence does not by itself establish uninterrupted methodology, approval history, or comparability across every reported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8969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8969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869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lineage is incomplete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92161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benchmark change is disclosed without an effective date or approval rationale [S1, S2]. That omission prevents period-level lineage testing, so comparability remains bounded until dated approval records identify when the change took effect and why it was adopted.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6225"/>
            <a:ext cx="10908792" cy="15516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6225"/>
            <a:ext cx="54864" cy="1551694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59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control policies are missing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9417"/>
            <a:ext cx="10616184" cy="10670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custodian package does not include valuation or error-correction policies [S3]. Without those two control records, the review cannot assess how pricing exceptions are resolved or how material reporting errors are identified, approved, corrected and communicated.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05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64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omits the benchmark-change effective date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policy absent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reviewed package does not include the valuation policy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policy not found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error-correction policy was supplied [S2][S3].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15588"/>
            <a:ext cx="10908792" cy="10818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benchmark-change disclosure omits its effective date, the valuation policy was not supplied, and no</a:t>
            </a:r>
            <a:br/>
            <a:br/>
            <a:r>
              <a:rPr>
                <a:latin typeface="Inter"/>
              </a:rPr>
              <a:t>error-correction policy was found in the reviewed package [S1][S2][S3].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07125"/>
            <a:ext cx="10908792" cy="12107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007125"/>
            <a:ext cx="54864" cy="121079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1168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comparability is bounded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400317"/>
            <a:ext cx="10616184" cy="7261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benchmark change lacks an effective date [S1, S2]. Why it matters: Period comparability requires dated benchmark lineage. Uncertainty: Approval records supporting the change were not supplied…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oversight controls are not evidenced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control policies, valuation and error correction, are absent [S3]. Why it matters: Reporting oversight cannot be assessed without both policies. Uncertainty: The reviewed custodian package may…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Oversight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OVERSIGHT EVIDENCE BY REPORTING AREA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76962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Incomplete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supplied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Total-fund return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controls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correction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Oversight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board report presents total-fund returns net of external manager fees and identifies the approved policy</a:t>
            </a:r>
            <a:br/>
            <a:br/>
            <a:r>
              <a:rPr>
                <a:latin typeface="Inter"/>
              </a:rPr>
              <a:t>benchmark [S1][S2]. Oversight evidence is incomplete for the benchmark change because its effective date and</a:t>
            </a:r>
            <a:br/>
            <a:br/>
            <a:r>
              <a:rPr>
                <a:latin typeface="Inter"/>
              </a:rPr>
              <a:t>rationale are absent. The custodian package also does not include the valuation or error-correction policies</a:t>
            </a:r>
            <a:br/>
            <a:br/>
            <a:r>
              <a:rPr>
                <a:latin typeface="Inter"/>
              </a:rPr>
              <a:t>needed to understand the reporting control framework [S3].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977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benchmark-change effective date, approval record and rationale.</a:t>
            </a:r>
            <a:br/>
            <a:r>
              <a:rPr>
                <a:latin typeface="Inter"/>
              </a:rPr>
              <a:t>      Closes the 22.C.9 lineage gap [S1][S2].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current valuation and error-correction policies.</a:t>
            </a:r>
            <a:br/>
            <a:r>
              <a:rPr>
                <a:latin typeface="Inter"/>
              </a:rPr>
              <a:t>      Closes the control-evidence gaps [S3].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13273"/>
            <a:ext cx="10908792" cy="18046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benchmark-change effective date, approval record and rationale (22.C.9) [S1][S2].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current valuation and error-correction policies (21.A.6; 22.C.20) [S3].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Total-fund return basis  ·  Asset Owner 22.A.1  ·  Met  ·  Board report [S1]  ·  —  · </a:t>
            </a:r>
            <a:br/>
            <a:br/>
            <a:r>
              <a:rPr>
                <a:latin typeface="Inter"/>
              </a:rPr>
              <a:t> ·  Benchmark  ·  Policy benchmark identified  ·  Asset Owner 22.C.8  ·  Met  ·  Policy [S2]  ·  —  · </a:t>
            </a:r>
            <a:br/>
            <a:br/>
            <a:r>
              <a:rPr>
                <a:latin typeface="Inter"/>
              </a:rPr>
              <a:t> ·  Benchmark  ·  Change disclosure  ·  Asset Owner 22.C.9  ·  Partially met  ·  Board report [S1]  ·  Effective date absent  · </a:t>
            </a:r>
            <a:br/>
            <a:br/>
            <a:r>
              <a:rPr>
                <a:latin typeface="Inter"/>
              </a:rPr>
              <a:t> ·  Valuation  ·  Valuation policy availability  ·  Asset Owner 21.A.6  ·  Not met  ·  Custodian package [S3]  ·  Policy not supplied  · </a:t>
            </a:r>
            <a:br/>
            <a:br/>
            <a:r>
              <a:rPr>
                <a:latin typeface="Inter"/>
              </a:rPr>
              <a:t> ·  Oversight  ·  Error-correction policy  ·  Asset Owner 22.C.20  ·  Not found  ·  —  ·  Request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Board performance report  ·  Total-fund pages 2–6  ·  2026-06-30  ·  Illustrative document  · </a:t>
            </a:r>
            <a:br/>
            <a:br/>
            <a:r>
              <a:rPr>
                <a:latin typeface="Inter"/>
              </a:rPr>
              <a:t> ·  S2  ·  Investment policy  ·  Benchmark section  ·  2026-01-01  ·  Illustrative document  · </a:t>
            </a:r>
            <a:br/>
            <a:br/>
            <a:r>
              <a:rPr>
                <a:latin typeface="Inter"/>
              </a:rPr>
              <a:t> ·  S3  ·  Custodian package  ·  Performance schedules  ·  2026-06-30  ·  Illustrative document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asset-owner review is not verification, certification, legal advice or an assessment of any real organization.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Public Trust — GIPS Asset Owner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