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41.699999999999996</c:v>
                </c:pt>
                <c:pt idx="1">
                  <c:v>20.8</c:v>
                </c:pt>
                <c:pt idx="2">
                  <c:v>12.5</c:v>
                </c:pt>
                <c:pt idx="3">
                  <c:v>25.0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Equity long/short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</c:v>
                </c:pt>
                <c:pt idx="1">
                  <c:v>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Relative value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1.5</c:v>
                </c:pt>
                <c:pt idx="1">
                  <c:v>2.5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Multi-strategy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3.0</c:v>
                </c:pt>
                <c:pt idx="1">
                  <c:v>3.0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0.1</c:v>
                </c:pt>
                <c:pt idx="2">
                  <c:v>0.58</c:v>
                </c:pt>
                <c:pt idx="3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0.48</c:v>
                </c:pt>
                <c:pt idx="2">
                  <c:v>0.02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FF6B5E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Equity</c:v>
                </c:pt>
                <c:pt idx="1">
                  <c:v>Rates</c:v>
                </c:pt>
                <c:pt idx="2">
                  <c:v>Credit</c:v>
                </c:pt>
                <c:pt idx="3">
                  <c:v>USD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</c:v>
                </c:pt>
                <c:pt idx="1">
                  <c:v>-0.08</c:v>
                </c:pt>
                <c:pt idx="2">
                  <c:v>0.14</c:v>
                </c:pt>
                <c:pt idx="3">
                  <c:v>0.09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6.1%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8.9%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Current ? Hedge funds</c:v>
                </c:pt>
                <c:pt idx="1">
                  <c:v>Proposed ? Hedge funds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6.1</c:v>
                </c:pt>
                <c:pt idx="1">
                  <c:v>8.9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Liquid / marketable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Illiquid / restricted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+5.9%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reallocates 2.0 percentage points from equity long/short to macro and relative value [S3][S4]. Why it matters: The largest strategy concentration declines under the target. Uncertainty: CMA, regime, findings and term coverage remain incomplete [S7][S8]. What would change the view: Completed records contradicting either proposed strategy role [S7][S8].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Manager limit is binding</a:t>
            </a:r>
          </a:p>
          <a:p>
            <a:r>
              <a:t>Observation: The largest manager is at the 4.0% policy limit [S3][S4]. Why it matters: New funding should not increase that concentration. Uncertainty: Model factors and incomplete look-through omit the full hedge-fund book [S7]. What would change the view: Complete exposure records showing concentration below the 4.0% threshold [S4][S7].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Assumptions show tradeoff</a:t>
            </a:r>
          </a:p>
          <a:p>
            <a:r>
              <a:t>Observation: Hedge funds carry higher expected return and volatility than absolute return in the selected assumptions [S6]. Why it matters: The target should preserve role diversification, not maximize one measure. Uncertainty: Class assumptions are not manager-level forecasts. What would change the view: Refreshed assumptions reversing the relative return or volatility results 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MARKETABLE ALTERNATIVES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Hedge Fund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Portfolio construction review · prepared for the Investment Committee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TOTAL 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$1,000.0M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PORTFOLIO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POLICY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Absolute Return Index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3337560" cy="5303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306324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2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OVERALL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161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terms require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73328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 REVIEWED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934456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8 of 9 · 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40940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40940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9247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retaining the 12.0% marketable-alternatives allocation while shifting 2.0 percentage points from equity long/short to macro and relative-value roles [S3][S4]. Committee action requested: approve the target structure and staged manager review, subject to verified redemption terms and completed diligence [S3][S7][S8].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4501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980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MARKETABLE-ALTERNATIVES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target 12.0% [S3]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3394710" y="384501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0443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ACTIVE 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0.0pp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Total-fund target [S3]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149340" y="384501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5906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RELATIVE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+0.6pp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Trailing 1Y versus benchmark [S5]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8903970" y="384501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01369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8.0%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Monthly or better as % NAV [S3]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S7 · S8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9393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939368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action requested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547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a 2.0 percentage-point strategy shift within the existing 12.0% allocation. Committee action requested: approve the target mix and authorize manager review, with no funding until redemption and diligence conditions are complete [S3][S4][S7][S8].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4976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SUMMARY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2649296"/>
          <a:ext cx="10908792" cy="1211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0298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029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 at 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29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from 5.0% to 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298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 and 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from 4.0% to 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3970946"/>
            <a:ext cx="10908792" cy="7573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3970946"/>
            <a:ext cx="54864" cy="7573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408067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Conditions and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364138"/>
            <a:ext cx="10616184" cy="2726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Confirm notice periods, gates and side-pocket terms for each affected fund and complete ODD before implementation [S7][S8].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37994"/>
            <a:ext cx="10908792" cy="137992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40080" y="4837994"/>
            <a:ext cx="54864" cy="137992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04671" y="494772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231186"/>
            <a:ext cx="10616184" cy="89529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sample report carries a liquidity-terms signal above the clear monitoring threshold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S7 · S8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41580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41580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93117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Marketable-alternatives weight is 12.0% in the review evidence [S2]. Why it matters: This measure establishes the baseline for comparing later governed results. Uncertainty: The source basis may omit newer observations outside the reviewed evidence. What would change the view: A refreshed source report showing a change above 1%.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51415"/>
            <a:ext cx="10908792" cy="236650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51415"/>
            <a:ext cx="54864" cy="236650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96114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44607"/>
            <a:ext cx="10616184" cy="18818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Liquid share is 8.0% in the review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Mandate, Benchmark and Data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Diversifying hedge-fund portfolio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Absolute Return Index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FRAMEWORK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 alternatives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8.0%–16.0%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Single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4.0% of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Monthly-or-better liquidity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least 7.0% of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Hedge Fund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HEDGE-FUND STRATEGY ALLOCATION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Hedge Fund Portfolio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SLEEVE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3225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4507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/ 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Alpha Partners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41.7%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Macro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Relative Value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$15.0M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Multi-Strategy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935307"/>
            <a:ext cx="10908792" cy="12826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Strategy and role labels are shown as returned; they do not establish leverage, liquidity or underlying positions [S4].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VERSUS POLICY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3677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Equity long/short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4022" y="2038883"/>
            <a:ext cx="6934809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9458553" y="194652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014008" y="183108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279120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Macro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4022" y="3193313"/>
            <a:ext cx="5201107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Oval 15"/>
          <p:cNvSpPr/>
          <p:nvPr/>
        </p:nvSpPr>
        <p:spPr>
          <a:xfrm>
            <a:off x="5124297" y="310095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880860" y="298551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394563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Relative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4347743"/>
            <a:ext cx="5201107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3390595" y="425538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5147157" y="413994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510006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Multi-strategy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4022" y="5502173"/>
            <a:ext cx="34674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Oval 23"/>
          <p:cNvSpPr/>
          <p:nvPr/>
        </p:nvSpPr>
        <p:spPr>
          <a:xfrm>
            <a:off x="5991148" y="540981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6014008" y="529437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TARGET STRATEGY MIX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 ALLOCATION CHANGES (PERCENTAGE POINTS)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VERSUS TARGET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0" cy="192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8477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/ 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47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largest strategy concentration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7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diversifying role subject to diligence [S7][S8]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7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1.0%–4.0%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Broaden strategy mix subject to terms [S7][S8]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77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current role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633794"/>
            <a:ext cx="10908792" cy="166877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633794"/>
            <a:ext cx="54864" cy="166877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74352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026986"/>
            <a:ext cx="10616184" cy="118414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target reallocates 2.0 percentage points from equity long/short to macro and relative value [S3][S4]. Why it matters: The largest strategy concentration declines under the target. Uncertainty…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12302"/>
            <a:ext cx="10908792" cy="80561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target is a committee proposal and is not a saved portfolio change [S3][S8].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 · S8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EFFECTS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22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745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745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 hedge-fund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45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hedge-fund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5.9%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93229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ATTRIBUTION EFFECTS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206615"/>
          <a:ext cx="10908792" cy="2049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099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+0.48pp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+0.02pp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366146"/>
            <a:ext cx="10908792" cy="8517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method and reconciliation metadata follow [S5].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bp; reconciled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EXPOSURES SHOW WHERE DIVERSIFICATION REMAINS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Factor, Currency and Concentration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STRATEGY-CORRELATION MATRIX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2181758"/>
                <a:gridCol w="2181758"/>
                <a:gridCol w="2181758"/>
                <a:gridCol w="2181760"/>
              </a:tblGrid>
              <a:tr h="923544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L/S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L/S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0.18</a:t>
                      </a:r>
                    </a:p>
                  </a:txBody>
                  <a:tcPr marL="54864" marR="54864" marT="27432" marB="27432" anchor="ctr"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0.42</a:t>
                      </a:r>
                    </a:p>
                  </a:txBody>
                  <a:tcPr marL="54864" marR="54864" marT="27432" marB="27432" anchor="ctr">
                    <a:solidFill>
                      <a:srgbClr val="E5F6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0.51</a:t>
                      </a:r>
                    </a:p>
                  </a:txBody>
                  <a:tcPr marL="54864" marR="54864" marT="27432" marB="27432" anchor="ctr">
                    <a:solidFill>
                      <a:srgbClr val="E0F6A1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0.18</a:t>
                      </a:r>
                    </a:p>
                  </a:txBody>
                  <a:tcPr marL="54864" marR="54864" marT="27432" marB="27432" anchor="ctr"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0.24</a:t>
                      </a:r>
                    </a:p>
                  </a:txBody>
                  <a:tcPr marL="54864" marR="54864" marT="27432" marB="27432" anchor="ctr">
                    <a:solidFill>
                      <a:srgbClr val="EFF7DE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0.42</a:t>
                      </a:r>
                    </a:p>
                  </a:txBody>
                  <a:tcPr marL="54864" marR="54864" marT="27432" marB="27432" anchor="ctr">
                    <a:solidFill>
                      <a:srgbClr val="E5F6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E2F6AA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0.51</a:t>
                      </a:r>
                    </a:p>
                  </a:txBody>
                  <a:tcPr marL="54864" marR="54864" marT="27432" marB="27432" anchor="ctr">
                    <a:solidFill>
                      <a:srgbClr val="E0F6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0.24</a:t>
                      </a:r>
                    </a:p>
                  </a:txBody>
                  <a:tcPr marL="54864" marR="54864" marT="27432" marB="27432" anchor="ctr">
                    <a:solidFill>
                      <a:srgbClr val="EFF7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E2F6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EXPOSURES SHOW WHERE DIVERSIFICATION REMAINS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Factor, Currency and Concentration Evidence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MODEL-IMPLIED FACTOR EXPOSURES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EXPOSURES SHOW WHERE DIVERSIFICATION REMAINS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Factor, Currency and Concentration Evidence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CONCENTRATION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1720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3009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Axis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3009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 of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009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 of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010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equity subset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manager identifiers incomplete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3430325"/>
            <a:ext cx="10908792" cy="166145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430325"/>
            <a:ext cx="54864" cy="166145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54005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Manager limit is binding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823517"/>
            <a:ext cx="10616184" cy="117681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largest manager is at the 4.0% policy limit [S3][S4]. Why it matters: New funding should not increase that concentration. Uncertainty: Model factors and incomplete look-through omit…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201503"/>
            <a:ext cx="10908792" cy="101641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" y="5201503"/>
            <a:ext cx="54864" cy="101641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4671" y="531123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Look-through 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594695"/>
            <a:ext cx="10616184" cy="5317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Any Form 13F evidence is lagged, long-only US-listed equity, excludes shorts, derivatives, cash and non-US listings, and is not a complete hedge-fund exposure view [S7].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EXPECTED-RETURN COMPARISON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test-ma-forward-2026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MARKETABLE-ALTERNATIVES FORWARD ASSUMPTIONS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 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Absolute 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5303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08792" cy="32499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32499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Assumptions show tradeoff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719072"/>
            <a:ext cx="10616184" cy="27653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Hedge funds carry higher expected return and volatility than absolute return in the selected assumptions [S6]. Why it matters: The target should preserve role diversification, not maximize…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85559"/>
            <a:ext cx="10908792" cy="1532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These figures are assumptions under the selected context, not forecasts or guarantees [S6].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Liquidity, Redemption and Operational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COMPOSITION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Liquidity, Redemption and Operational Terms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PROFILE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22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745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Bucket / term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745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 or better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$80.0M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least 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745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Quarterly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93229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REDEMPTION EVIDENCE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206615"/>
          <a:ext cx="10908792" cy="2049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99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/ fund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Frequency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Notice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Gate / side pocket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Alpha Partners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Quarterly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terms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Macro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gate reported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Relative Value Fund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45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terms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Multi-Strategy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Quarterly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terms not returned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366146"/>
            <a:ext cx="10908792" cy="8517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Redemption frequency and notice are user-document evidence; missing gates, side pockets and leverage remain open items [S8].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Manager Lineup and Diligence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PROPOSED ROLES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/ 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Alpha Partners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Current; 1 Medium finding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Redeem $20.0M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notice and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Macro Fund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Add $10.0M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Relative Value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Consider $10.0M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Diligence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 proposed manager may be funded until comparison, operational diligence and performance-integrity review are complete [S7].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SCENARIO RESULTS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SUPPORTED SCENARIOS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623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87444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87444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5.9%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8.1% 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7444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Saved-portfolio stress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saved-portfolio stress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333265"/>
            <a:ext cx="10908792" cy="188465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333265"/>
            <a:ext cx="54864" cy="188465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44299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Selected-series sandbox — not saved-portfolio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726457"/>
            <a:ext cx="10616184" cy="140002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Strategy Lab return series selected [S8].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Implementation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STEPS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2407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0179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0179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Submit conditional equity long/short redemption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Existing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Terms 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179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macro role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proceeds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ODD refresh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0179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relative-value 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proceeds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approved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11711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ALTERNATIVES CONSIDERED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391438"/>
          <a:ext cx="10908792" cy="1826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6088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0882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transition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Concentration remains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Does not address watch item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882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Immediate full rebalance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Faster target alignment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Terms and costs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Conditions incomplete [S7][S8]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 ·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Risks, Open Items and Approvals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RISKS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restrictions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Gate terms unavailable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Verify legal terms before notice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concentration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 policy watch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Stage redemption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manager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ITEMS AND APPROVALS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redemption terms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documents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 relative-value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Comparison and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return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Performance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S7 ·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435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liquidity and concentration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market values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Five-year sleeve period unavailable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CMA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and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manager and 13F subset incomplete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terms and scenarios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Gate terms and saved-portfolio stress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Peer allocation intelligence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licensed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licensed ? Peer allocation context was skipped because peerIntelligence is not available for this organization. This construction report uses portfolio evidence only.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  <a:gridCol w="1112139"/>
              </a:tblGrid>
              <a:tr h="52120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Hedge-fund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pages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and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Mandate, redemption terms and gaps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gradient_tool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Illustrative sample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sha256:aaaaaaaaaaaaaaaaaaaaaaaaaaaaaaaaaaaaaaaaaaaaaaaaaaaaaaaaaaaaaaaa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897880" y="310896"/>
            <a:ext cx="4800600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8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Server Metric Methods and Disclosures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54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701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70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70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exposure aggregation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portfolio-exposure-v1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market value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701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Linked returns; Brinson-Fachler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Net; 1 bp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257993"/>
            <a:ext cx="10908792" cy="295992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Forward values are assumptions, not forecasts or guarantees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Form 13F is lagged, long-only and incomplete for hedge funds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Redemption, gate and side-pocket terms require source documents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Portfolio Analytics and Strategy Lab are separate analytical scopes.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This AI-assisted construction analysis is not investment, legal or compliance advice.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S6 · S7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Investment Committee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Hedge Fund Portfolio</dc:title>
  <dc:subject>Marketable Alternatives Portfolio Construction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