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41.699999999999996</c:v>
                </c:pt>
                <c:pt idx="1">
                  <c:v>20.8</c:v>
                </c:pt>
                <c:pt idx="2">
                  <c:v>12.5</c:v>
                </c:pt>
                <c:pt idx="3">
                  <c:v>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Equity long/short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Relative value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</c:v>
                </c:pt>
                <c:pt idx="1">
                  <c:v>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Multi-strategy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0.1</c:v>
                </c:pt>
                <c:pt idx="2">
                  <c:v>0.58</c:v>
                </c:pt>
                <c:pt idx="3">
                  <c:v>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</c:v>
                </c:pt>
                <c:pt idx="1">
                  <c:v>0.48</c:v>
                </c:pt>
                <c:pt idx="2">
                  <c:v>0.02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Rates</c:v>
                </c:pt>
                <c:pt idx="2">
                  <c:v>Credit</c:v>
                </c:pt>
                <c:pt idx="3">
                  <c:v>USD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-0.08</c:v>
                </c:pt>
                <c:pt idx="2">
                  <c:v>0.14</c:v>
                </c:pt>
                <c:pt idx="3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8.9%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Current ? Hedge funds</c:v>
                </c:pt>
                <c:pt idx="1">
                  <c:v>Proposed ? Hedge funds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6.1</c:v>
                </c:pt>
                <c:pt idx="1">
                  <c:v>8.9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+5.9%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reallocates 2.0 percentage points from equity long/short to macro and relative value [S3][S4]. Why it matters: The largest strategy concentration declines under the target. Uncertainty: CMA, regime, findings and term coverage remain incomplete [S7][S8]. What would change the view: Completed records contradicting either proposed strategy role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Manager limit is binding</a:t>
            </a:r>
          </a:p>
          <a:p>
            <a:r>
              <a:t>Observation: The largest manager is at the 4.0% policy limit [S3][S4]. Why it matters: New funding should not increase that concentration. Uncertainty: Model factors and incomplete look-through omit the full hedge-fund book [S7]. What would change the view: Complete exposure records showing concentration below the 4.0% threshold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show tradeoff</a:t>
            </a:r>
          </a:p>
          <a:p>
            <a:r>
              <a:t>Observation: Hedge funds carry higher expected return and volatility than absolute return in the selected assumptions [S6]. Why it matters: The target should preserve role diversification, not maximize one measure. Uncertainty: Class assumptions are not manager-level forecasts. What would change the view: Refreshed assumptions reversing the relative return or volatility results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MARKETABLE ALTERNATIVES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Hedge Fund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Portfolio construction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$1,000.0M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Absolute Return Index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OVERALL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terms require confirmation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73328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 REVIEWED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5934456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8 of 9 · Partial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349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349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502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retaining the 12.0% marketable-alternatives allocation while shifting 2.0 percentage points from equity long/short to macro and relative-value roles [S3][S4]. Committee action requested: approve the target structure and staged manager review, subject to verified redemption terms and completed diligence [S3][S7][S8].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WEIGHT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target 12.0% [S3]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0.0pp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Total-fund target 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34705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RELATIVE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+0.6pp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versus benchmark [S5]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470517"/>
            <a:ext cx="2644902" cy="27474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347051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35985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8545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Monthly or better as % NAV [S3]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66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66784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action requested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82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We recommend a 2.0 percentage-point strategy shift within the existing 12.0% allocation. Committee action requested: approve the target mix and authorize manager review, with no funding until redemption and diligence conditions are complete [S3][S4][S7][S8].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0239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SUMMARY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76712"/>
          <a:ext cx="10908792" cy="13651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2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 at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8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 and 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from 4.0% to 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4151563"/>
            <a:ext cx="10908792" cy="78317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51563"/>
            <a:ext cx="54864" cy="78317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42612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Conditions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4544755"/>
            <a:ext cx="10616184" cy="29854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Confirm notice periods, gates and side-pocket terms for each affected fund and complete ODD before implementation [S7][S8].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44464"/>
            <a:ext cx="10908792" cy="11734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40080" y="5044464"/>
            <a:ext cx="54864" cy="117345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04671" y="515419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headline signal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1" y="5437656"/>
            <a:ext cx="10616184" cy="6888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sample report carries a liquidity-terms signal above the clear monitoring threshold [S1]. Why it matters: This signal focuses oversight on the report's most decision-relevant condition. Uncertainty: Evidence coverage may exclude newer or more detailed observations. What would change the view: A governed refresh showing a different signal or breached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 · S8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Decision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6220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6220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primary measure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1374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Marketable-alternatives weight is 12.0% in the review evidence [S2]. Why it matters: This measure establishes the baseline for comparing later governed results. Uncertainty: The source basis may omit newer observations outside the reviewed evidence. What would change the view: A refreshed source report showing a change above 1%.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057664"/>
            <a:ext cx="10908792" cy="21602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4057664"/>
            <a:ext cx="54864" cy="216025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416739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monitoring priority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450856"/>
            <a:ext cx="10616184" cy="16756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Liquid share is 8.0% in the review evidence [S3]. Why it matters: This result determines which item receives priority in the next monitoring cycle. Uncertainty: Supporting coverage may omit later filings or corroborating detail. What would change the view: A new filing or report that resolves the item or changes it by 1%.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Benchmark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Diversifying hedge-fund portfolio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Absolute Return Index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FRAMEWORK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Marketable alternatives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4.0%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Monthly-or-better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HEDGE-FUND STRATEGY ALLOCATION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Current Hedge Fund Portfolio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SLEEVE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3515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0316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0316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031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225739"/>
            <a:ext cx="10908792" cy="9921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 and role labels are shown as returned; they do not establish leverage, liquidity or underlying positions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3677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Equity long/short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1457" y="2038883"/>
            <a:ext cx="267809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Oval 11"/>
          <p:cNvSpPr/>
          <p:nvPr/>
        </p:nvSpPr>
        <p:spPr>
          <a:xfrm>
            <a:off x="4853452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3537264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279120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Macro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81457" y="3193313"/>
            <a:ext cx="2008571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Oval 15"/>
          <p:cNvSpPr/>
          <p:nvPr/>
        </p:nvSpPr>
        <p:spPr>
          <a:xfrm>
            <a:off x="3179643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872026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394563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value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11933" y="4347743"/>
            <a:ext cx="2008571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Oval 19"/>
          <p:cNvSpPr/>
          <p:nvPr/>
        </p:nvSpPr>
        <p:spPr>
          <a:xfrm>
            <a:off x="2510119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3202503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5100066"/>
            <a:ext cx="1480413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Multi-strategy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1457" y="5502173"/>
            <a:ext cx="133904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Oval 23"/>
          <p:cNvSpPr/>
          <p:nvPr/>
        </p:nvSpPr>
        <p:spPr>
          <a:xfrm>
            <a:off x="3514404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3537264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TARGET STRATEGY MIX</a:t>
            </a:r>
          </a:p>
        </p:txBody>
      </p:sp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TARGET ALLOCATION CHANGES (PERCENTAGE POINTS)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Target Strategy and Manager Structure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VERSUS TARGET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0" cy="2401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4802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Reduce largest strategy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Increase diversifying role subject to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8021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1.0%–4.0%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Broaden strategy mix subject to terms [S7][S8]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21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Maintain current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110992"/>
            <a:ext cx="10908792" cy="12968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110992"/>
            <a:ext cx="54864" cy="129683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2207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Why this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504184"/>
            <a:ext cx="10616184" cy="8122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target reallocates 2.0 percentage points from equity long/short to macro and relative value [S3][S4]. Why it matters: The largest strategy concentration declines under the target. Uncertainty…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17557"/>
            <a:ext cx="10908792" cy="7003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target is a committee proposal and is not a saved portfolio change [S3][S8].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04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8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8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 hedge-fund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486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1453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ATTRIBUTION EFFECTS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88850"/>
          <a:ext cx="10908792" cy="2177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35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576081"/>
            <a:ext cx="10908792" cy="6418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attribution method and reconciliation metadata follow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Performance and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STRATEGY-CORRELATION MATRIX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2181758"/>
                <a:gridCol w="2181758"/>
                <a:gridCol w="2181758"/>
                <a:gridCol w="2181760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L/S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0.18</a:t>
                      </a:r>
                    </a:p>
                  </a:txBody>
                  <a:tcPr marL="54864" marR="54864" marT="27432" marB="27432" anchor="ctr">
                    <a:solidFill>
                      <a:srgbClr val="F2F7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0.42</a:t>
                      </a:r>
                    </a:p>
                  </a:txBody>
                  <a:tcPr marL="54864" marR="54864" marT="27432" marB="27432" anchor="ctr">
                    <a:solidFill>
                      <a:srgbClr val="E5F6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0.51</a:t>
                      </a:r>
                    </a:p>
                  </a:txBody>
                  <a:tcPr marL="54864" marR="54864" marT="27432" marB="27432" anchor="ctr">
                    <a:solidFill>
                      <a:srgbClr val="E0F6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0.24</a:t>
                      </a:r>
                    </a:p>
                  </a:txBody>
                  <a:tcPr marL="54864" marR="54864" marT="27432" marB="27432" anchor="ctr">
                    <a:solidFill>
                      <a:srgbClr val="EFF7D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0.47</a:t>
                      </a:r>
                    </a:p>
                  </a:txBody>
                  <a:tcPr marL="54864" marR="54864" marT="27432" marB="27432" anchor="ctr">
                    <a:solidFill>
                      <a:srgbClr val="E2F6A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MODEL-IMPLIED FACTOR EXPOSURES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Factor, Currency and Concentration Evidence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19857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9644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4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45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equity subset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manager identifiers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3695723"/>
            <a:ext cx="10908792" cy="1332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695723"/>
            <a:ext cx="54864" cy="13327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054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Manager limit is binding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088915"/>
            <a:ext cx="10616184" cy="848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at the 4.0% policy limit [S3][S4]. Why it matters: New funding should not increase that concentration. Uncertainty: Model factors and incomplete look-through omit…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38247"/>
            <a:ext cx="10908792" cy="10796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" y="5138247"/>
            <a:ext cx="54864" cy="10796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804671" y="52479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Look-through limitation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531439"/>
            <a:ext cx="10616184" cy="595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Any Form 13F evidence is lagged, long-only US-listed equity, excludes shorts, derivatives, cash and non-US listings, and is not a complete hedge-fund exposure view [S7].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EXPECTED-RETURN COMPARISON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test-ma-forward-2026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5303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Return and Risk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MARKETABLE-ALTERNATIVES FORWARD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600200"/>
          <a:ext cx="10908792" cy="3094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0314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3149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03149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Absolute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4804410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804410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91413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Assumptions show tradeoff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197601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Hedge funds carry higher expected return and volatility than absolute return in the selected assumptions [S6]. Why it matters: The target should preserve role diversification, not maximize…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760720"/>
            <a:ext cx="10908792" cy="457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These figures are assumptions under the selected context, not forecasts or guarantees [S6].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COMPOSITION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Liquidity, Redemption and Operational Terms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046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486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 / term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486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or better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486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01453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EVIDENCE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288850"/>
          <a:ext cx="10908792" cy="21775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550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Notice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/ side pocket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gate reported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550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Relative Value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45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3550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Multi-Strategy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576081"/>
            <a:ext cx="10908792" cy="6418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Redemption frequency and notice are user-document evidence; missing gates, side pockets and leverage remain open items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Lineup and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AND PROPOSED ROLES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961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404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Alpha Partners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Current; 1 Medium finding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Redeem 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notice and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04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Macro Fund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Add 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404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Relative Value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Consider 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671913"/>
            <a:ext cx="10908792" cy="15460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671913"/>
            <a:ext cx="54864" cy="154600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7816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Diligence condition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065105"/>
            <a:ext cx="10616184" cy="10613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proposed manager may be funded until comparison, operational diligence and performance-integrity review are complete [S7].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SCENARIO RESULTS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Scenarios and Robustness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SUPPORTED SCENARIOS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696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98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98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9883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Saved-portfolio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no governed saved-portfolio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406438"/>
            <a:ext cx="10908792" cy="18114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06438"/>
            <a:ext cx="54864" cy="181148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161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99630"/>
            <a:ext cx="10616184" cy="13268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 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Implementation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IMPLEMENTATION STEPS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240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17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Submit conditional equity long/short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Existing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macro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ODD refresh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1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Fund relative-value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1171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ALTERNATIVES CONSIDERED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391438"/>
          <a:ext cx="10908792" cy="1826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088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Immediate full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Faster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Terms and costs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Conditions incomplete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Risks, Open Items and 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RISKS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restrictions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Verify legal terms before notice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4.0% policy watch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Stage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OPEN ITEMS AND APPROVALS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Confirm redemption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 relative-value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Refresh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market values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Proposed manager and 13F subset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Redemption terms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Gate terms and saved-portfolio stress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licensed ? Peer allocation context was skipped because peerIntelligence is not available for this organization. This construction report uses portfolio evidence only.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  <a:gridCol w="1112139"/>
              </a:tblGrid>
              <a:tr h="521208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Hedge-fund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Mandate, redemption terms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gradient_tool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1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482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482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482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market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482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29231"/>
            <a:ext cx="10908792" cy="22886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Form 13F is lagged, long-only and incomplete for hedge funds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Redemption, gate and side-pocket terms require source documents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construction analysis is not investment, legal or compliance advice.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Hedge Fund Portfolio</dc:title>
  <dc:subject>Marketable Alternatives Portfolio Construction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