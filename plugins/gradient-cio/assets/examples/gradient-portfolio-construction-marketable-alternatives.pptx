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41.699999999999996</c:v>
                </c:pt>
                <c:pt idx="1">
                  <c:v>20.8</c:v>
                </c:pt>
                <c:pt idx="2">
                  <c:v>12.5</c:v>
                </c:pt>
                <c:pt idx="3">
                  <c:v>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Equity long/short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2.5</c:v>
                </c:pt>
                <c:pt idx="1">
                  <c:v>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Relative value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1.5</c:v>
                </c:pt>
                <c:pt idx="1">
                  <c:v>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Multi-strategy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0.58</c:v>
                </c:pt>
                <c:pt idx="3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0.48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</c:v>
                </c:pt>
                <c:pt idx="1">
                  <c:v>Rates</c:v>
                </c:pt>
                <c:pt idx="2">
                  <c:v>Credit</c:v>
                </c:pt>
                <c:pt idx="3">
                  <c:v>USD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-0.08</c:v>
                </c:pt>
                <c:pt idx="2">
                  <c:v>0.14</c:v>
                </c:pt>
                <c:pt idx="3">
                  <c:v>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8.9%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Hedge funds</c:v>
                </c:pt>
                <c:pt idx="1">
                  <c:v>Proposed ? Hedge funds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6.1</c:v>
                </c:pt>
                <c:pt idx="1">
                  <c:v>8.9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+5.9%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reallocates 2.0 percentage points from equity long/short to macro and relative value [S3][S4]. Why it matters: The largest strategy concentration declines under the target. Uncertainty: CMA, regime, findings and term coverage remain incomplete [S7][S8]. What would change the view: Completed records contradicting either proposed strategy role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Manager limit is binding</a:t>
            </a:r>
          </a:p>
          <a:p>
            <a:r>
              <a:t>Observation: The largest manager is at the 4.0% policy limit [S3][S4]. Why it matters: New funding should not increase that concentration. Uncertainty: Model factors and incomplete look-through omit the full hedge-fund book [S7]. What would change the view: Complete exposure records showing concentration below the 4.0% threshold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show tradeoff</a:t>
            </a:r>
          </a:p>
          <a:p>
            <a:r>
              <a:t>Observation: Hedge funds carry higher expected return and volatility than absolute return in the selected assumptions [S6]. Why it matters: The target should preserve role diversification, not maximize one measure. Uncertainty: Class assumptions are not manager-level forecasts. What would change the view: Refreshed assumptions reversing the relative return or volatility results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MARKETABLE ALTERNATIVES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Hedge Fund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Absolute Return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terms require confirmation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4094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4094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247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12.0% marketable-alternatives allocation while shifting 2.0 percentage points from equity long/short to macro and relative-value roles [S3][S4]. Committee action requested: approve the target structure and staged manager review, subject to verified redemption terms and completed diligence [S3][S7][S8].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12.0%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+0.6pp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84501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Monthly or better as % NAV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393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3936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547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strategy shift within the existing 12.0% allocation. Committee action requested: approve the target mix and authorize manager review, with no funding until redemption and diligence conditions are complete [S3][S4][S7][S8].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497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49296"/>
          <a:ext cx="10908792" cy="1211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29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29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29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29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and 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4.0% to 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3970946"/>
            <a:ext cx="10908792" cy="7573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970946"/>
            <a:ext cx="54864" cy="7573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0806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364138"/>
            <a:ext cx="10616184" cy="2726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Confirm notice periods, gates and side-pocket terms for each affected fund and complete ODD before implementation [S7][S8].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37994"/>
            <a:ext cx="10908792" cy="13799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837994"/>
            <a:ext cx="54864" cy="137992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49477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231186"/>
            <a:ext cx="10616184" cy="8952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liquidity-terms signal above the clear monitoring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4158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41580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3117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Marketable-alternatives weight is 12.0%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51415"/>
            <a:ext cx="10908792" cy="23665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51415"/>
            <a:ext cx="54864" cy="236650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611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44607"/>
            <a:ext cx="10616184" cy="18818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8.0%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Diversifying hedge-fund portfolio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Absolute Return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alternatives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4.0%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Monthly-or-better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HEDGE-FUND STRATEGY ALLOCATION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 and role labels are shown as returned; they do not establish leverage, liquidity or underlying positions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Equity long/short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4022" y="2038883"/>
            <a:ext cx="6934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458553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014008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Macro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4022" y="319331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5124297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880860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value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434774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3390595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5147157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Multi-strategy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4022" y="5502173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5991148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014008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STRATEGY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923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47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strategy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diversifying role subject to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1.0%–4.0%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strategy mix subject to terms [S7][S8]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7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current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633794"/>
            <a:ext cx="10908792" cy="16687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633794"/>
            <a:ext cx="54864" cy="166877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7435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26986"/>
            <a:ext cx="10616184" cy="1184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reallocates 2.0 percentage points from equity long/short to macro and relative value [S3][S4]. Why it matters: The largest strategy concentration declines under the target. Uncertainty…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12302"/>
            <a:ext cx="10908792" cy="8056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hedge-fund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hedge-fund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STRATEGY-CORRELATION MATRIX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FACTOR EXPOSURES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7203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00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00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00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01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equity subset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manager identifiers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30325"/>
            <a:ext cx="10908792" cy="16614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30325"/>
            <a:ext cx="54864" cy="166145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400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Manager limit is binding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23517"/>
            <a:ext cx="10616184" cy="11768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at the 4.0% policy limit [S3][S4]. Why it matters: New funding should not increase that concentration. Uncertainty: Model factors and incomplete look-through omit…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01503"/>
            <a:ext cx="10908792" cy="10164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201503"/>
            <a:ext cx="54864" cy="10164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31123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594695"/>
            <a:ext cx="10616184" cy="5317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Any Form 13F evidence is lagged, long-only US-listed equity, excludes shorts, derivatives, cash and non-US listings, and is not a complete hedge-fund exposure view [S7].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test-ma-forward-2026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Absolute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32499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32499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show tradeoff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7653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Hedge funds carry higher expected return and volatility than absolute return in the selected assumptions [S6]. Why it matters: The target should preserve role diversification, not maximize…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85559"/>
            <a:ext cx="10908792" cy="1532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 / term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or better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Notice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/ side pocket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gate reported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45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frequency and notice are user-document evidence; missing gates, side pockets and leverage remain open items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Lineup and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Current; 1 Medium finding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Redeem 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notice and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Relative Value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Consider 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proposed manager may be funded until comparison, operational diligence and performance-integrity review are complete 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6233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7444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7444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744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Saved-portfolio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saved-portfolio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333265"/>
            <a:ext cx="10908792" cy="18846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333265"/>
            <a:ext cx="54864" cy="18846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44299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726457"/>
            <a:ext cx="10616184" cy="14000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407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179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Submit conditional equity long/short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Existing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macro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refresh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17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relative-value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1171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391438"/>
          <a:ext cx="10908792" cy="1826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6088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Immediate full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costs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Conditions incomplete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restrictions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Verify legal terms before notice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policy watch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redemption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relative-value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market values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and 13F subset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terms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and saved-portfolio stress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? Peer allocation context was skipped because peerIntelligence is not available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Hedge-fund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Mandate, redemption terms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4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70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70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70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market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701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57993"/>
            <a:ext cx="10908792" cy="29599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is lagged, long-only and incomplete for hedge funds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Redemption, gate and side-pocket terms require source documents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Hedge Fund Portfolio</dc:title>
  <dc:subject>Marketable Alternatives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