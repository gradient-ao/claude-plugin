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  <ns0:sldId id="285" ns1:id="rId36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Equity long/short</c:v>
                </c:pt>
                <c:pt idx="1">
                  <c:v>Macro</c:v>
                </c:pt>
                <c:pt idx="2">
                  <c:v>Relative value</c:v>
                </c:pt>
                <c:pt idx="3">
                  <c:v>Multi-strategy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41.699999999999996</c:v>
                </c:pt>
                <c:pt idx="1">
                  <c:v>20.8</c:v>
                </c:pt>
                <c:pt idx="2">
                  <c:v>12.5</c:v>
                </c:pt>
                <c:pt idx="3">
                  <c:v>25.0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Equity long/short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5.0</c:v>
                </c:pt>
                <c:pt idx="1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Macro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2.5</c:v>
                </c:pt>
                <c:pt idx="1">
                  <c:v>3.5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Relative value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1.5</c:v>
                </c:pt>
                <c:pt idx="1">
                  <c:v>2.5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Multi-strategy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3.0</c:v>
                </c:pt>
                <c:pt idx="1">
                  <c:v>3.0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Equity long/short</c:v>
                </c:pt>
                <c:pt idx="1">
                  <c:v>Macro</c:v>
                </c:pt>
                <c:pt idx="2">
                  <c:v>Relative value</c:v>
                </c:pt>
                <c:pt idx="3">
                  <c:v>Multi-strategy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Equity long/short</c:v>
                </c:pt>
                <c:pt idx="1">
                  <c:v>Macro</c:v>
                </c:pt>
                <c:pt idx="2">
                  <c:v>Relative value</c:v>
                </c:pt>
                <c:pt idx="3">
                  <c:v>Multi-strategy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1.0</c:v>
                </c:pt>
                <c:pt idx="2">
                  <c:v>1.0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Equity long/short</c:v>
                </c:pt>
                <c:pt idx="1">
                  <c:v>Macro</c:v>
                </c:pt>
                <c:pt idx="2">
                  <c:v>Relative value</c:v>
                </c:pt>
                <c:pt idx="3">
                  <c:v>Multi-strategy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0.1</c:v>
                </c:pt>
                <c:pt idx="2">
                  <c:v>0.58</c:v>
                </c:pt>
                <c:pt idx="3">
                  <c:v>0.6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</c:v>
                </c:pt>
                <c:pt idx="1">
                  <c:v>0.48</c:v>
                </c:pt>
                <c:pt idx="2">
                  <c:v>0.02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FF6B5E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Equity</c:v>
                </c:pt>
                <c:pt idx="1">
                  <c:v>Rates</c:v>
                </c:pt>
                <c:pt idx="2">
                  <c:v>Credit</c:v>
                </c:pt>
                <c:pt idx="3">
                  <c:v>USD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0.31</c:v>
                </c:pt>
                <c:pt idx="1">
                  <c:v>-0.08</c:v>
                </c:pt>
                <c:pt idx="2">
                  <c:v>0.14</c:v>
                </c:pt>
                <c:pt idx="3">
                  <c:v>0.09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6.1%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8.9%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Current ? Hedge funds</c:v>
                </c:pt>
                <c:pt idx="1">
                  <c:v>Proposed ? Hedge funds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6.1</c:v>
                </c:pt>
                <c:pt idx="1">
                  <c:v>8.9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Liquid / marketable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68.3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Illiquid / restricted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31.7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+5.9%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Baseline expected return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5.9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target</a:t>
            </a:r>
          </a:p>
          <a:p>
            <a:r>
              <a:t>Observation: The target reallocates 2.0 percentage points from equity long/short to macro and relative value [S3][S4]. Why it matters: The largest strategy concentration declines under the target. Uncertainty: CMA, regime, findings and term coverage remain incomplete [S7][S8]. What would change the view: Completed records contradicting either proposed strategy role [S7][S8].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Manager limit is binding</a:t>
            </a:r>
          </a:p>
          <a:p>
            <a:r>
              <a:t>Observation: The largest manager is at the 4.0% policy limit [S3][S4]. Why it matters: New funding should not increase that concentration. Uncertainty: Model factors and incomplete look-through omit the full hedge-fund book [S7]. What would change the view: Complete exposure records showing concentration below the 4.0% threshold [S4][S7].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Assumptions show tradeoff</a:t>
            </a:r>
          </a:p>
          <a:p>
            <a:r>
              <a:t>Observation: Hedge funds carry higher expected return and volatility than absolute return in the selected assumptions [S6]. Why it matters: The target should preserve role diversification, not maximize one measure. Uncertainty: Class assumptions are not manager-level forecasts. What would change the view: Refreshed assumptions reversing the relative return or volatility results [S6].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MARKETABLE ALTERNATIVES 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Hedge Fund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Portfolio construction review · prepared for the Investment Committee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AS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TOTAL NAV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$1,000.0M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PORTFOLIO WEIGHT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12.0%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POLICY BENCHMARK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Absolute Return 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99032"/>
            <a:ext cx="73152" cy="110983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371600"/>
            <a:ext cx="10588752" cy="72856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Redemption terms need confirmation before funding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91749"/>
            <a:ext cx="10908792" cy="145372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2691749"/>
            <a:ext cx="54864" cy="145372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280147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3084941"/>
            <a:ext cx="10616184" cy="96908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retaining the 12.0% marketable-alternatives allocation while shifting 2.0 percentage points from equity long/short to macro and relative-value roles [S3][S4]. Committee action requested: approve the target structure and staged manager review, subject to verified redemption terms and completed diligence [S3][S7][S8].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255199"/>
            <a:ext cx="2644902" cy="1962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255199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749808" y="438321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MARKETABLE-ALTERNATIVES WEIGHT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639247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target 12.0% [S3]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94710" y="4255199"/>
            <a:ext cx="2644902" cy="1962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3394710" y="4255199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3504438" y="438321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ACTIVE WEIGHT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4639247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0.0pp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Total-fund target [S3]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4255199"/>
            <a:ext cx="2644902" cy="1962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149340" y="4255199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259068" y="438321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RELATIVE RETURN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4639247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+0.6pp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Trailing 1Y versus benchmark [S5]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3970" y="4255199"/>
            <a:ext cx="2644902" cy="1962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8903970" y="4255199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9013698" y="438321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 SHARE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4639247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8.0%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Monthly or better as % NAV [S3]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S7 · S8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80879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808799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action requested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32416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a 2.0 percentage-point strategy shift within the existing 12.0% allocation. Committee action requested: approve the target mix and authorize manager review, with no funding until redemption and diligence conditions are complete [S3][S4][S7][S8].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4440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SUMMARY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2518727"/>
          <a:ext cx="10908792" cy="1097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27430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Decision element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743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 at 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743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Equity long/short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from 5.0% to 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743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 and relative value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from 4.0% to 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3725672"/>
            <a:ext cx="10908792" cy="65519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725672"/>
            <a:ext cx="54864" cy="65519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83540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Conditions and limits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11886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Confirm notice periods, gates and side-pocket terms for each affected fund and complete ODD before implementation [S7][S8].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490593"/>
            <a:ext cx="10908792" cy="80879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4490593"/>
            <a:ext cx="54864" cy="80879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04671" y="460032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Redemption terms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4883785"/>
            <a:ext cx="10616184" cy="32416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Notice periods, gates and side-pocket terms are unconfirmed for the affected funds [S1]. Why it matters: Funding before confirmation could lock capital beyond policy limits. Uncertainty: Terms come from manager documents still in review. What would change the view: Confirmed terms inside the policy liquidity window.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409120"/>
            <a:ext cx="10908792" cy="80879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Rectangle 21"/>
          <p:cNvSpPr/>
          <p:nvPr/>
        </p:nvSpPr>
        <p:spPr>
          <a:xfrm>
            <a:off x="640080" y="5409120"/>
            <a:ext cx="54864" cy="80879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804671" y="551884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Sleeve size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1" y="5802312"/>
            <a:ext cx="10616184" cy="32416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Marketable alternatives are 12.0% of total NAV [S2]. Why it matters: The 2.0pp strategy shift stays within this allocation. Uncertainty: Hedge fund values are reported with a lag. What would change the view: A revised valuation that moves the weight outside its range.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S7 · S8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Liquidity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Only 8.0% of the sleeve is liquid within the policy window [S3]. Why it matters: Redemption terms, not returns, constrain how fast the shift can happen. Uncertainty: Gates can be applied at the manager's discretion. What would change the view: A manager applying or lifting a gate.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Mandate, Benchmark and Data Basis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2977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Diversifying hedge-fund portfolio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Absolute Return Index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 years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[S1]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1305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FRAMEWORK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687377"/>
          <a:ext cx="10908792" cy="1530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26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 alternatives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8.0%–16.0%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4.0% of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263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Monthly-or-better liquidity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least 7.0% of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Hedge Fund Portfolio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HEDGE-FUND STRATEGY ALLOCATION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Hedge Fund Portfolio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SLEEVE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35158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70316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 / 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0316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Alpha Partners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Equity long/short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$50.0M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41.7%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0316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Macro Fund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0316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Relative Value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Relative value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$15.0M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0316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Multi-Strategy Fund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Multi-strategy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225739"/>
            <a:ext cx="10908792" cy="9921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Strategy and role labels are shown as returned; they do not establish leverage, liquidity or underlying positions [S4].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 BROADER STRATEGY MIX LOWERS SINGLE-ROLE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Strategy and Manager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VERSUS POLICY 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36776"/>
            <a:ext cx="1480413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Equity long/short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1457" y="2038883"/>
            <a:ext cx="2678094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Oval 10"/>
          <p:cNvSpPr/>
          <p:nvPr/>
        </p:nvSpPr>
        <p:spPr>
          <a:xfrm>
            <a:off x="4853452" y="194652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3537264" y="183108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2791206"/>
            <a:ext cx="1480413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Macro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81457" y="3193313"/>
            <a:ext cx="2008571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Oval 14"/>
          <p:cNvSpPr/>
          <p:nvPr/>
        </p:nvSpPr>
        <p:spPr>
          <a:xfrm>
            <a:off x="3179643" y="310095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3872026" y="298551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3945636"/>
            <a:ext cx="1480413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Relative value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11933" y="4347743"/>
            <a:ext cx="2008571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Oval 18"/>
          <p:cNvSpPr/>
          <p:nvPr/>
        </p:nvSpPr>
        <p:spPr>
          <a:xfrm>
            <a:off x="2510119" y="425538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3202503" y="413994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5100066"/>
            <a:ext cx="1480413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Multi-strategy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81457" y="5502173"/>
            <a:ext cx="1339047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Oval 22"/>
          <p:cNvSpPr/>
          <p:nvPr/>
        </p:nvSpPr>
        <p:spPr>
          <a:xfrm>
            <a:off x="3514404" y="540981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3537264" y="529437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TARGET STRATEGY MIX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8" name="Rectangle 2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 BROADER STRATEGY MIX LOWERS SINGLE-ROLE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Strategy and Manager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TARGET ALLOCATION CHANGES (PERCENTAGE POINTS)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 BROADER STRATEGY MIX LOWERS SINGLE-ROLE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Strategy and Manager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VERSUS TARGET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2401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48021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 / role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 / constraint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Rationale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021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Equity long/short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2.0%–6.0%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largest strategy concentration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021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2.0%–5.0%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diversifying role subject to diligence [S7][S8]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021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Relative value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1.0%–4.0%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Broaden strategy mix subject to terms [S7][S8]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021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Multi-strategy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2.0%–4.0%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current role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110992"/>
            <a:ext cx="10908792" cy="129683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110992"/>
            <a:ext cx="54864" cy="129683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22072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Why this target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504184"/>
            <a:ext cx="10616184" cy="81220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target reallocates 2.0 percentage points from equity long/short to macro and relative value [S3][S4]. Why it matters: The largest strategy concentration declines under the target. Uncertainty…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17557"/>
            <a:ext cx="10908792" cy="70036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target is a committee proposal and is not a saved portfolio change [S3][S8].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 · S8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EFFECTS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3046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3486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/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3486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 hedge-fund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86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hedge-fund sleeve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5.9%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01453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ATTRIBUTION EFFECTS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288850"/>
          <a:ext cx="10908792" cy="21775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3550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355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55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+0.48pp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55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550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576081"/>
            <a:ext cx="10908792" cy="64183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method and reconciliation metadata follow [S5].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Brinson-Fachler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Net, monthly linked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bp; reconciled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EXPOSURES SHOW WHERE DIVERSIFICATION REMAINS INCOMPLETE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Factor, Currency and Concentration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STRATEGY-CORRELATION MATRIX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758"/>
                <a:gridCol w="2181758"/>
                <a:gridCol w="2181758"/>
                <a:gridCol w="2181758"/>
                <a:gridCol w="2181760"/>
              </a:tblGrid>
              <a:tr h="923544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Equity L/S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Relative 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Multi-strategy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Equity L/S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0.18</a:t>
                      </a:r>
                    </a:p>
                  </a:txBody>
                  <a:tcPr marL="54864" marR="54864" marT="27432" marB="27432" anchor="ctr">
                    <a:solidFill>
                      <a:srgbClr val="F2F7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0.42</a:t>
                      </a:r>
                    </a:p>
                  </a:txBody>
                  <a:tcPr marL="54864" marR="54864" marT="27432" marB="27432" anchor="ctr">
                    <a:solidFill>
                      <a:srgbClr val="E5F6B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0.51</a:t>
                      </a:r>
                    </a:p>
                  </a:txBody>
                  <a:tcPr marL="54864" marR="54864" marT="27432" marB="27432" anchor="ctr">
                    <a:solidFill>
                      <a:srgbClr val="E0F6A1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0.18</a:t>
                      </a:r>
                    </a:p>
                  </a:txBody>
                  <a:tcPr marL="54864" marR="54864" marT="27432" marB="27432" anchor="ctr">
                    <a:solidFill>
                      <a:srgbClr val="F2F7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0.24</a:t>
                      </a:r>
                    </a:p>
                  </a:txBody>
                  <a:tcPr marL="54864" marR="54864" marT="27432" marB="27432" anchor="ctr">
                    <a:solidFill>
                      <a:srgbClr val="EFF7DE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Relative 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0.42</a:t>
                      </a:r>
                    </a:p>
                  </a:txBody>
                  <a:tcPr marL="54864" marR="54864" marT="27432" marB="27432" anchor="ctr">
                    <a:solidFill>
                      <a:srgbClr val="E5F6B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0.47</a:t>
                      </a:r>
                    </a:p>
                  </a:txBody>
                  <a:tcPr marL="54864" marR="54864" marT="27432" marB="27432" anchor="ctr">
                    <a:solidFill>
                      <a:srgbClr val="E2F6AA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Multi-strategy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0.51</a:t>
                      </a:r>
                    </a:p>
                  </a:txBody>
                  <a:tcPr marL="54864" marR="54864" marT="27432" marB="27432" anchor="ctr">
                    <a:solidFill>
                      <a:srgbClr val="E0F6A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0.24</a:t>
                      </a:r>
                    </a:p>
                  </a:txBody>
                  <a:tcPr marL="54864" marR="54864" marT="27432" marB="27432" anchor="ctr">
                    <a:solidFill>
                      <a:srgbClr val="EFF7D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0.47</a:t>
                      </a:r>
                    </a:p>
                  </a:txBody>
                  <a:tcPr marL="54864" marR="54864" marT="27432" marB="27432" anchor="ctr">
                    <a:solidFill>
                      <a:srgbClr val="E2F6A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EXPOSURES SHOW WHERE DIVERSIFICATION REMAINS INCOMPLETE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Factor, Currency and Concentration Evidence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MODEL-IMPLIED FACTOR EXPOSURES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EXPOSURES SHOW WHERE DIVERSIFICATION REMAINS INCOMPLETE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Factor, Currency and Concentration Evidence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CONCENTRATION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9857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9644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Axis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9644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 of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44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strategy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 of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45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equity subset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manager identifiers incomplete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695723"/>
            <a:ext cx="10908792" cy="133279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695723"/>
            <a:ext cx="54864" cy="133279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380545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Manager limit is binding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088915"/>
            <a:ext cx="10616184" cy="84816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largest manager is at the 4.0% policy limit [S3][S4]. Why it matters: New funding should not increase that concentration. Uncertainty: Model factors and incomplete look-through omit…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138247"/>
            <a:ext cx="10908792" cy="10796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5138247"/>
            <a:ext cx="54864" cy="10796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524797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Look-through limitation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531439"/>
            <a:ext cx="10616184" cy="595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Any Form 13F evidence is lagged, long-only US-listed equity, excludes shorts, derivatives, cash and non-US listings, and is not a complete hedge-fund exposure view [S7].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EXPECTED-RETURN COMPARISON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 years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fingerprint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test-ma-forward-2026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MARKETABLE-ALTERNATIVES FORWARD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30944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03149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Class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0314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Hedge funds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03149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Absolute return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804410"/>
            <a:ext cx="10908792" cy="8465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804410"/>
            <a:ext cx="54864" cy="84658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91413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Assumptions show tradeoff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197601"/>
            <a:ext cx="10616184" cy="3619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Hedge funds carry higher expected return and volatility than absolute return in the selected assumptions [S6]. Why it matters: The target should preserve role diversification, not maximize…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760720"/>
            <a:ext cx="10908792" cy="4572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These figures are assumptions under the selected context, not forecasts or guarantees [S6].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Liquidity, Redemption and Operational Terms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COMPOSITION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Liquidity, Redemption and Operational Terms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PROFILE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3046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3486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Bucket / term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Amount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3486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or better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$80.0M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least 7.0%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486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Quarterly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01453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REDEMPTION EVIDENCE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288850"/>
          <a:ext cx="10908792" cy="21775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3550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/ fund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Frequency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Notice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Gate / side pocket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3550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Alpha Partners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Quarterly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60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terms not returned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550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Macro Fund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gate reported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550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Relative Value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45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terms not returned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550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Multi-Strategy Fund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Quarterly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terms not returned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576081"/>
            <a:ext cx="10908792" cy="64183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Redemption frequency and notice are user-document evidence; missing gates, side pockets and leverage remain open items [S8].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Manager Lineup and Diligence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PROPOSED ROLES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29619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74049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 / role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4049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Alpha Partners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Equity long/short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$50.0M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Current; 1 Medium finding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Redeem $20.0M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notice and gate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4049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Macro Fund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Add $10.0M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4049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Relative Value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Relative value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funded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Consider $10.0M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 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671913"/>
            <a:ext cx="10908792" cy="15460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4671913"/>
            <a:ext cx="54864" cy="154600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478164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Diligence condition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5065105"/>
            <a:ext cx="10616184" cy="106137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 proposed manager may be funded until comparison, operational diligence and performance-integrity review are complete [S7].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SCENARIO RESULTS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SUPPORTED SCENARIOS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6965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89883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/ loss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 measure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89883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5.9% 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8.1% 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89883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Saved-portfolio stress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saved-portfolio stress result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406438"/>
            <a:ext cx="10908792" cy="181148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4406438"/>
            <a:ext cx="54864" cy="181148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451616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Selected-series sandbox — not saved-portfolio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4799630"/>
            <a:ext cx="10616184" cy="132684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no Strategy Lab return series selected [S8].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Implementation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IMPLEMENTATION STEPS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24071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60179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Phase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Size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Funding 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0179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Submit conditional equity long/short redemption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Existing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Terms confirmed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0179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 macro role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Redemption proceeds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ODD refresh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0179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 relative-value role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Redemption proceeds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approved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Committee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117118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ALTERNATIVES CONSIDERED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391438"/>
          <a:ext cx="10908792" cy="18264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60882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Benefit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Cost / 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 not selected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0882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change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transition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Concentration remains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Does not address watch item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0882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Immediate full rebalance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Faster target alignment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Terms and costs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Conditions incomplete [S7][S8]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Risks, Open Items and Approvals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RISKS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Priority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Mitigation / 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Redemption restrictions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Gate terms unavailable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Verify legal terms before notice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concentration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 policy watch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Stage redemption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manager diligence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ITEMS AND APPROVALS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101083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Timing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Required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redemption terms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documents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 relative-value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Comparison and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return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Performance team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S7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435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liquidity and concentration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market values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Five-year sleeve period unavailable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CMA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and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manager and 13F subset incomplete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Redemption terms and scenarios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Gate terms and saved-portfolio stress 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Peer allocation intelligence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licensed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Peer allocation context was skipped because peer allocation intelligence is not licensed for this organization. This construction report uses portfolio evidence only.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120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Hedge-fund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and look-through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Mandate, redemption terms and gaps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9072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pages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scope for every source: Illustrative sample data. Each digest is the SHA-256 fingerprint of the exact data the report used.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219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5482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5482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5482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exposure aggregation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portfolio-exposure-v1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market value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48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Linked returns; Brinson-Fachler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Net; 1 bp tolerance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929231"/>
            <a:ext cx="10908792" cy="22886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Forward values are assumptions, not forecasts or guarantees [S6].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Form 13F is lagged, long-only and incomplete for hedge funds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Redemption, gate and side-pocket terms require source documents [S8].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Portfolio Analytics and Strategy Lab are separate analytical scopes.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This AI-assisted construction analysis is not investment, legal or compliance advice.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S6 · S7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Hedge Fund Portfolio</dc:title>
  <dc:subject>Marketable Alternatives Portfolio Construction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