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cat>
            <c:strRef>
              <c:f>Sheet1!$A$2:$A$7</c:f>
              <c:strCache>
                <c:ptCount val="6"/>
                <c:pt idx="0">
                  <c:v>Listed real estate</c:v>
                </c:pt>
                <c:pt idx="1">
                  <c:v>Listed infrastructure</c:v>
                </c:pt>
                <c:pt idx="2">
                  <c:v>Private real estate</c:v>
                </c:pt>
                <c:pt idx="3">
                  <c:v>Private infrastructure</c:v>
                </c:pt>
                <c:pt idx="4">
                  <c:v>Natural resources</c:v>
                </c:pt>
                <c:pt idx="5">
                  <c:v>Commodity securities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50000000.0</c:v>
                </c:pt>
                <c:pt idx="1">
                  <c:v>30000000.0</c:v>
                </c:pt>
                <c:pt idx="2">
                  <c:v>30000000.0</c:v>
                </c:pt>
                <c:pt idx="3">
                  <c:v>25000000.0</c:v>
                </c:pt>
                <c:pt idx="4">
                  <c:v>10000000.0</c:v>
                </c:pt>
                <c:pt idx="5">
                  <c:v>5000000.0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Listed real estate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Listed infrastructure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3.0</c:v>
                </c:pt>
                <c:pt idx="1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real estate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Private infrastructure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2.5</c:v>
                </c:pt>
                <c:pt idx="1">
                  <c:v>3.0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Natural resources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1.0</c:v>
                </c:pt>
                <c:pt idx="1">
                  <c:v>1.5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Commodity securities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Listed real estate</c:v>
                </c:pt>
                <c:pt idx="1">
                  <c:v>Listed infrastructure</c:v>
                </c:pt>
                <c:pt idx="2">
                  <c:v>Private infrastructure</c:v>
                </c:pt>
                <c:pt idx="3">
                  <c:v>Natural resources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Growth</c:v>
                </c:pt>
                <c:pt idx="1">
                  <c:v>Inflation</c:v>
                </c:pt>
                <c:pt idx="2">
                  <c:v>Rates</c:v>
                </c:pt>
                <c:pt idx="3">
                  <c:v>Commodity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0.27</c:v>
                </c:pt>
                <c:pt idx="1">
                  <c:v>0.32</c:v>
                </c:pt>
                <c:pt idx="2">
                  <c:v>-0.18</c:v>
                </c:pt>
                <c:pt idx="3">
                  <c:v>0.11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2.0 percentage points from listed real estate toward infrastructure and natural resources [S3][S4]. Why it matters: The largest sub-segment falls. Uncertainty: CMA consensus, macro regime, findings, valuations and mappings are incomplete [S8]. What would change the view: Completed context that weakens the diversification case [S4][S8].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Context is not protection</a:t>
            </a:r>
          </a:p>
          <a:p>
            <a:r>
              <a:t>Observation: The model shows positive inflation and commodity exposures [S7]. Why it matters: These signals describe diversification context, not a guaranteed hedge. Uncertainty: Governed portfolio inflation sensitivity is unavailable [S8]. What would change the view: A returned sensitivity result or explicit mandate mapping that contradicts the contextual exposure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Infrastructure balances risk</a:t>
            </a:r>
          </a:p>
          <a:p>
            <a:r>
              <a:t>Observation: Infrastructure has lower expected volatility than real estate and natural resources in the selected assumptions [S6]. Why it matters: Its larger target role balances the broader mix. Uncertainty: Commodity securities lack a standalone governed mapping [S8]. What would change the view: Revised assumptions or a mandate mapping with materially different risk-return evidence [S6][S8].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REAL ASSETS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Real Assets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REAL-ASSETS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UNFUNDED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$28.0M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5491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5491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0645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retaining the 15.0% real-assets allocation while shifting 2.0 percentage points from listed real estate to infrastructure and natural resources across marketable and drawdown sleeves [S3][S4]. Committee action requested: approve the target structure and phased implementation, subject to valuation refresh, manager diligence and liquidity tests [S3][S7][S8].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REAL-ASSETS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target 15.0%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98480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MARKETABLE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8.0%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53.3% of real assets [S4]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UNFUNDED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$28.0M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2.8% of NAV [S4]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984800"/>
            <a:ext cx="2644902" cy="22331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98480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4112816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POLICY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36884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Private valuation lag [S3][S4]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565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56556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719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a 2.0 percentage-point shift from listed real estate to infrastructure and natural resources while holding the 15.0% total allocation.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9216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66484"/>
          <a:ext cx="10908792" cy="13943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858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85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 at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5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858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 and 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from 6.0% to 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70552"/>
            <a:ext cx="10908792" cy="8502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70552"/>
            <a:ext cx="54864" cy="8502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2802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563744"/>
            <a:ext cx="10616184" cy="365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Refresh private valuations, confirm the commodity and inflation-linked mandate mappings, and complete manager diligence before funding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30552"/>
            <a:ext cx="10908792" cy="1087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130552"/>
            <a:ext cx="54864" cy="10873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2402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523744"/>
            <a:ext cx="10616184" cy="602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Valuation lag and structure mix on watch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485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485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639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Real-assets weight is 15.0%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84151"/>
            <a:ext cx="10908792" cy="23337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884151"/>
            <a:ext cx="54864" cy="23337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9387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7343"/>
            <a:ext cx="10616184" cy="18491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Policy status is Watch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Inflation Objective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Broad real-assets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Inflation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Participate in inflation-sensitive cash flows without a guaranteed outcome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Locked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10.0%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valuation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most 90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91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Real Assets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REAL-ASSETS ALLOCATION BY SUB-SEGMENT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Real Assets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49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86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Sub-segment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63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64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00406"/>
            <a:ext cx="10908792" cy="10175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Marketable exposures use returned market value; drawdown exposures use NAV. Unfunded commitments are shown separately and are not added to NAV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Sub-Segment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Listed real estate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9824" y="1951146"/>
            <a:ext cx="5779008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47504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0860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Listed infrastructure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9824" y="2874690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0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5612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Private real estate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9824" y="3798234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0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80860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Private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9824" y="4721778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35624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80860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Natural resources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28895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68496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13732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INFRASTRUCTURE AND NATURAL RESOURCES BROADEN THE REAL-ASSETS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Sub-Segment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297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2823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82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largest sub-segment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82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marketable infrastructure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82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while valuations refresh 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82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Phase after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82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0.0%–2.0%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Broaden sub-segment mix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82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Mandate-specific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pending mapping review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007553"/>
            <a:ext cx="10908792" cy="14055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07553"/>
            <a:ext cx="54864" cy="14055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1172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00745"/>
            <a:ext cx="10616184" cy="9208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target shifts 2.0 percentage points from listed real estate toward infrastructure and natural resources [S3][S4]. Why it matters: The largest sub-segment falls. Uncertainty: CMA consensus, macro…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2799"/>
            <a:ext cx="10908792" cy="6951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 real-assets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5Y real-assets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valuation-linked history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Inflation, Commodity and Diversification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HEADLINE INFLATION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2026-06-30 [S7]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INFLATION EXPOSURE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0.32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Model-implied [S7]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RATES EXPOSURE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-0.18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Model-implied [S7]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INFLATION SENSITIVITY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No governed result [S8]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 · 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MODEL-IMPLIED REAL-ASSETS FACTORS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POSITIVE SENSITIVITIES PROVIDE CONTEXT, NOT GUARANTEED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Inflation, Commodity and Diversification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RETURNED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4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Indicator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 / sensitivity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Headline inflation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 year over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Energy positioning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long index at 58th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CFTC context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43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inflation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sensitivity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7639"/>
            <a:ext cx="10908792" cy="18213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07639"/>
            <a:ext cx="54864" cy="182130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173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Context is not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0831"/>
            <a:ext cx="10616184" cy="13366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model shows positive inflation and commodity exposures [S7]. Why it matters: These signals describe diversification context, not a guaranteed hedge. Uncertainty: Governed portfolio inflation sensitivity is…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8670"/>
            <a:ext cx="10908792" cy="8792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Macro and positioning evidence is context only; it does not establish inflation protection or explain portfolio performance [S5][S7].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test-ra-forward-2026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REAL-ASSETS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910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910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Infrastructure balances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1063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Infrastructure has lower expected volatility than real estate and natural resources in the selected assumptions [S6]. Why it matters: Its larger target role balances the broader mix…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1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FORWARD ASSUMPTIONS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300936"/>
          <a:ext cx="10908792" cy="2076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60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Mapping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60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0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60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0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Commodity securities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60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Inflation-linked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— mapping not provided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standalone CMA class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5486698"/>
            <a:ext cx="10908792" cy="7312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These figures are assumptions under the selected context, not forecasts or guarantees 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Commitments, Liquidity and 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DRAWDOWN REAL-ASSETS CALLS AND DISTRIBUTIONS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7,000,000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Commitments, Liquidity and Valuation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AND VALUATION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Structure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Liquidity / 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$10.0M unfunded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$6.0M unfunded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826763"/>
          <a:ext cx="10908792" cy="23911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782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 of NAV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7.0% of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2.8% of NAV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82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82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liquidity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6.2x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Manager and Fund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MANAGER EVIDENCE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Sub-segment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Real Estate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Close valuation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Infrastructure Manager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High findings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annual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Natural Resources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Natural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proposed natural-resources manager requires comparison, operational diligence and performance-integrity review before funding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Liquidity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coverage 6.2x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Inflation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634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269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listed real 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Transition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listed infrastructure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recheck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 to private 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Sale proceeds and distributions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ODD and valuation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93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Add natural resources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Sale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4459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18913"/>
          <a:ext cx="10908792" cy="1599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330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Listed real-estate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Does not address structure objective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30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Drawdown-only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Potential long-duration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Higher lock-up and pacing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 balance preferred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valuation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91 days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valuations before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Commodity and linker mapping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Document IPS taxonomy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private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mandate mappings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IPS addendum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 natural-resources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commitments pack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liquidity and valuation-age rules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 value, NAV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classes and drawdown charts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and diligence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 mappings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Commodity, linker and shock mappings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Real-assets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get_chart_data; 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commitments; 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 context and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get_macro_conditions; diligence tools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 mappings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589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79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796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796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 value or NAV;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796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796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chart packs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10-year assumptions; projected drawdown flows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99733"/>
            <a:ext cx="10908792" cy="29181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Private real-assets valuations may lag the report date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Commodity and inflation-linked CMA mappings are not provided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Drawdown charts apply only to closed-end sleeves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Real Assets Portfolio (TEST)</dc:title>
  <dc:subject>Real Assets Portfolio Construction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