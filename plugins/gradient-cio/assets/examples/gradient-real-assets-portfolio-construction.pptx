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C6F432"/>
              </a:solidFill>
            </c:spPr>
          </c:dPt>
          <c:dPt>
            <c:idx val="5"/>
            <c:spPr>
              <a:solidFill>
                <a:srgbClr val="C6F432"/>
              </a:solidFill>
            </c:spPr>
          </c:dPt>
          <c:cat>
            <c:strRef>
              <c:f>Sheet1!$A$2:$A$7</c:f>
              <c:strCache>
                <c:ptCount val="6"/>
                <c:pt idx="0">
                  <c:v>Listed real estate</c:v>
                </c:pt>
                <c:pt idx="1">
                  <c:v>Listed infrastructure</c:v>
                </c:pt>
                <c:pt idx="2">
                  <c:v>Private real estate</c:v>
                </c:pt>
                <c:pt idx="3">
                  <c:v>Private infrastructure</c:v>
                </c:pt>
                <c:pt idx="4">
                  <c:v>Natural resources</c:v>
                </c:pt>
                <c:pt idx="5">
                  <c:v>Commodity securities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50000000.0</c:v>
                </c:pt>
                <c:pt idx="1">
                  <c:v>30000000.0</c:v>
                </c:pt>
                <c:pt idx="2">
                  <c:v>30000000.0</c:v>
                </c:pt>
                <c:pt idx="3">
                  <c:v>25000000.0</c:v>
                </c:pt>
                <c:pt idx="4">
                  <c:v>10000000.0</c:v>
                </c:pt>
                <c:pt idx="5">
                  <c:v>5000000.0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Listed real estate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Listed infrastructure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3.0</c:v>
                </c:pt>
                <c:pt idx="1">
                  <c:v>4.0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Private real estate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3.0</c:v>
                </c:pt>
                <c:pt idx="1">
                  <c:v>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Private infrastructure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2.5</c:v>
                </c:pt>
                <c:pt idx="1">
                  <c:v>3.0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Natural resources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1.0</c:v>
                </c:pt>
                <c:pt idx="1">
                  <c:v>1.5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Commodity securities</c:v>
                </c:pt>
              </c:strCache>
            </c:strRef>
          </c:tx>
          <c:spPr>
            <a:solidFill>
              <a:srgbClr val="9AA5B1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Listed real estate</c:v>
                </c:pt>
                <c:pt idx="1">
                  <c:v>Listed infrastructure</c:v>
                </c:pt>
                <c:pt idx="2">
                  <c:v>Private infrastructure</c:v>
                </c:pt>
                <c:pt idx="3">
                  <c:v>Natural resources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Listed real estate</c:v>
                </c:pt>
                <c:pt idx="1">
                  <c:v>Listed infrastructure</c:v>
                </c:pt>
                <c:pt idx="2">
                  <c:v>Private infrastructure</c:v>
                </c:pt>
                <c:pt idx="3">
                  <c:v>Natural resources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1.0</c:v>
                </c:pt>
                <c:pt idx="2">
                  <c:v>0.5</c:v>
                </c:pt>
                <c:pt idx="3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Listed real estate</c:v>
                </c:pt>
                <c:pt idx="1">
                  <c:v>Listed infrastructure</c:v>
                </c:pt>
                <c:pt idx="2">
                  <c:v>Private infrastructure</c:v>
                </c:pt>
                <c:pt idx="3">
                  <c:v>Natural resources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FF6B5E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Growth</c:v>
                </c:pt>
                <c:pt idx="1">
                  <c:v>Inflation</c:v>
                </c:pt>
                <c:pt idx="2">
                  <c:v>Rates</c:v>
                </c:pt>
                <c:pt idx="3">
                  <c:v>Commodity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0.27</c:v>
                </c:pt>
                <c:pt idx="1">
                  <c:v>0.32</c:v>
                </c:pt>
                <c:pt idx="2">
                  <c:v>-0.18</c:v>
                </c:pt>
                <c:pt idx="3">
                  <c:v>0.11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cat>
            <c:strRef>
              <c:f>Sheet1!$A$2:$A$2</c:f>
              <c:strCache>
                <c:ptCount val="1"/>
                <c:pt idx="0">
                  <c:v>Baseline expected return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6.9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target</a:t>
            </a:r>
          </a:p>
          <a:p>
            <a:r>
              <a:t>Observation: The target shifts 2.0 percentage points from listed real estate toward infrastructure and natural resources [S3][S4]. Why it matters: The largest sub-segment falls. Uncertainty: CMA consensus, macro regime, findings, valuations and mappings are incomplete [S8]. What would change the view: Completed context that weakens the diversification case [S4][S8].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Context is not protection</a:t>
            </a:r>
          </a:p>
          <a:p>
            <a:r>
              <a:t>Observation: The model shows positive inflation and commodity exposures [S7]. Why it matters: These signals describe diversification context, not a guaranteed hedge. Uncertainty: Governed portfolio inflation sensitivity is unavailable [S8]. What would change the view: A returned sensitivity result or explicit mandate mapping that contradicts the contextual exposure [S7][S8].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Infrastructure balances risk</a:t>
            </a:r>
          </a:p>
          <a:p>
            <a:r>
              <a:t>Observation: Infrastructure has lower expected volatility than real estate and natural resources in the selected assumptions [S6]. Why it matters: Its larger target role balances the broader mix. Uncertainty: Commodity securities lack a standalone governed mapping [S8]. What would change the view: Revised assumptions or a mandate mapping with materially different risk-return evidence [S6][S8].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REAL ASSETS 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Northstar Real Assets Portfolio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Decision pack · prepared for the Investment Committee (TEST)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AS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BASE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TOTAL 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$1,000.0M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REAL-ASSETS 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15.0%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UNFUNDED COMMITMENTS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$28.0M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DATA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Fictional TEST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54919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54919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20645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We recommend retaining the 15.0% real-assets allocation while shifting 2.0 percentage points from listed real estate to infrastructure and natural resources across marketable and drawdown sleeves [S3][S4]. Committee action requested: approve the target structure and phased implementation, subject to valuation refresh, manager diligence and liquidity tests [S3][S7][S8].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84800"/>
            <a:ext cx="2644902" cy="22331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98480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1128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REAL-ASSETS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688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15.0%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Policy target 15.0% [S3]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3984800"/>
            <a:ext cx="2644902" cy="22331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4710" y="398480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4438" y="41128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MARKETABLE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43688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8.0%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53.3% of real assets [S4]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9340" y="3984800"/>
            <a:ext cx="2644902" cy="22331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9340" y="398480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41128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UNFUNDED COMMITMENTS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43688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$28.0M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2.8% of NAV [S4]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3970" y="3984800"/>
            <a:ext cx="2644902" cy="22331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03970" y="398480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13698" y="41128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POLICY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3698" y="43688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Watch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Private valuation lag [S3][S4]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S7 · S8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Decision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9565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956556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Recommendation and action requested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719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We recommend a 2.0 percentage-point shift from listed real estate to infrastructure and natural resources while holding the 15.0% total allocation. Committee action requested: approve the target and staged implementation [S3][S4][S8].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92164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DECISION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666484"/>
          <a:ext cx="10908792" cy="1394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4858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Decision element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485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Total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Hold at 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85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Listed real estate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Reduce from 5.0% to 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858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Infrastructure and 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Increase from 6.0% to 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4170552"/>
            <a:ext cx="10908792" cy="85027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70552"/>
            <a:ext cx="54864" cy="85027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28028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Conditions and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563744"/>
            <a:ext cx="10616184" cy="3656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Refresh private valuations, confirm the commodity and inflation-linked mandate mappings, and complete manager diligence before funding [S7][S8].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130552"/>
            <a:ext cx="10908792" cy="108736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130552"/>
            <a:ext cx="54864" cy="108736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524028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headline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523744"/>
            <a:ext cx="10616184" cy="60273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report carries a Valuation lag and structure mix on watch signal [S1]. Why it matters: The signal frames the review. Uncertainty: Evidence coverage is bounded. What would change the view: New governed evidence that changes the signal.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S3 · S4 · S7 · S8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Decision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4485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44854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primary 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96391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Real-assets weight is 15.0% in the TEST evidence [S2]. Why it matters: This measure anchors the executive view. Uncertainty: The fixture is deliberately compact. What would change the view: A refreshed source with a materially different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84151"/>
            <a:ext cx="10908792" cy="233376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84151"/>
            <a:ext cx="54864" cy="233376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99387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monitoring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277343"/>
            <a:ext cx="10616184" cy="184913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Policy status is Watch in the TEST evidence [S3]. Why it matters: It identifies a monitoring priority. Uncertainty: Supporting detail is limited. What would change the view: Corroborated evidence that resolves or reverses the item.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 ·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Mandate, Inflation Objective and Data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297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Northstar Total Fund (TEST)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Mandate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Broad real-assets diversification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Inflation objective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Participate in inflation-sensitive cash flows without a guaranteed outcome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 years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 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 [S1]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1305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GOVERNED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687377"/>
          <a:ext cx="10908792" cy="153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26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10.0%–20.0%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Locked assets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or below 10.0% of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263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valuation 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 most 90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91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S6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Current Real Assets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REAL-ASSETS ALLOCATION BY SUB-SEGMENT (TEST)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Current Real Assets Portfolio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SLEEVE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3490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9863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Sub-segment / 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Unfunded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% 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986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Listed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$50.0M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86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Listed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$30.0M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86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Drawdown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$30.0M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86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Drawdown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86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Mixed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$6.0M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864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Commodity securities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200406"/>
            <a:ext cx="10908792" cy="101751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Marketable exposures use returned market value; drawdown exposures use NAV. Unfunded commitments are shown separately and are not added to NAV [S4].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INFRASTRUCTURE AND NATURAL RESOURCES BROADEN THE REAL-ASSETS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Sub-Segment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WEIGHT VERSUS POLICY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Listed real estate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1951146"/>
            <a:ext cx="5779008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47504" y="1877263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80860" y="178490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Listed infrastructure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9824" y="2874690"/>
            <a:ext cx="4334256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0" y="2800807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5612" y="2708452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83864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Private real estate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9824" y="3798234"/>
            <a:ext cx="4334256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0" y="3724351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80860" y="363199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07408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Private 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9824" y="4721778"/>
            <a:ext cx="288950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35624" y="4647895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80860" y="4555540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30952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Natural resources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5645322"/>
            <a:ext cx="288950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8496" y="557143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13732" y="5479084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INFRASTRUCTURE AND NATURAL RESOURCES BROADEN THE REAL-ASSETS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Sub-Segment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AND TARGET MIX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INFRASTRUCTURE AND NATURAL RESOURCES BROADEN THE REAL-ASSETS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Sub-Segment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TARGET ALLOCATION CHANGES (PERCENTAGE POINTS)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INFRASTRUCTURE AND NATURAL RESOURCES BROADEN THE REAL-ASSETS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Target Sub-Segment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VERSUS TARGET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2297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2823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Sub-segment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Current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Range / constraint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2823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Listed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2.0%–6.0%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Reduce largest sub-segment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823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Listed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2.0%–5.0%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Increase marketable infrastructure role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823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2.0%–5.0%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Maintain while valuations refresh [S4][S8]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823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2.0%–4.0%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Phase after diligence [S7][S8]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823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0.0%–2.0%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Broaden sub-segment mix [S3][S7]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823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Commodity securities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Mandate-specific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Maintain pending mapping review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007553"/>
            <a:ext cx="10908792" cy="140551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07553"/>
            <a:ext cx="54864" cy="140551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11728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Why this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400745"/>
            <a:ext cx="10616184" cy="92088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target shifts 2.0 percentage points from listed real estate toward infrastructure and natural resources [S3][S4]. Why it matters: The largest sub-segment falls. Uncertainty: CMA consensus, macro…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2799"/>
            <a:ext cx="10908792" cy="6951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The target is a committee proposal and is not a saved portfolio change [S3][S8].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S7 · S8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Performance and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STANDARD PERIODS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883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7080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Portfolio /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080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1Y real-assets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80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3Y real-assets sleeve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5.6%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080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5Y real-assets sleeve (ann.)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 — valuation-linked history incomplete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Unavailable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9314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ATTRIBUTION EFFECTS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867465"/>
          <a:ext cx="10908792" cy="235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7009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-0.12pp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-0.36pp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-0.02pp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9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Historical Performance and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Brinson-Fachler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Symmetric Carino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Net, monthly linked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 bp; reconciled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POSITIVE SENSITIVITIES PROVIDE CONTEXT, NOT GUARANTEED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Inflation, Commodity and Diversification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264490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HEADLINE INFLATION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2026-06-30 [S7]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471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4710" y="132588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443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INFLATION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443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0.32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Model-implied [S7]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934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934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906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RATES 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-0.18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Model-implied [S7]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397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397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369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INFLATION SENSITIVITY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369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Not 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No governed result [S8]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S7 · 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POSITIVE SENSITIVITIES PROVIDE CONTEXT, NOT GUARANTEED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Inflation, Commodity and Diversification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MODEL-IMPLIED REAL-ASSETS FACTORS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POSITIVE SENSITIVITIES PROVIDE CONTEXT, NOT GUARANTEED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Inflation, Commodity and Diversification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RETURNED CONTEXT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697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24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Indicator / 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Observation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Change / sensitivity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4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Headline inflation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-0.4pp year over year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4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Energy positioning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 long index at 58th percentile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CFTC context only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2026-06-23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2443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inflation sensitivity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 — no governed sensitivity result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407639"/>
            <a:ext cx="10908792" cy="182130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07639"/>
            <a:ext cx="54864" cy="182130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51736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Context is not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800831"/>
            <a:ext cx="10616184" cy="133667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model shows positive inflation and commodity exposures [S7]. Why it matters: These signals describe diversification context, not a guaranteed hedge. Uncertainty: Governed portfolio inflation sensitivity is…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38670"/>
            <a:ext cx="10908792" cy="87924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Macro and positioning evidence is context only; it does not establish inflation protection or explain portfolio performance [S5][S7].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 · S7 · S8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Forward Return and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Strategic CMA (TEST)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Baseline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 years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Context fingerprint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test-ra-forward-2026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REAL-ASSETS FORWARD ASSUMPTIONS (TEST)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14.2%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16.8%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59100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59100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Infrastructure balances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10637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Infrastructure has lower expected volatility than real estate and natural resources in the selected assumptions [S6]. Why it matters: Its larger target role balances the broader mix…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26616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FORWARD ASSUMPTIONS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300936"/>
          <a:ext cx="10908792" cy="2076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460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Sub-segment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Mapping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4600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14.2%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class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00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class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600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16.8%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class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00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Commodity securities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 — mapping not provided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standalone CMA class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60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Inflation-linked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 — mapping not provided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standalone CMA class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5486698"/>
            <a:ext cx="10908792" cy="73122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These figures are assumptions under the selected context, not forecasts or guarantees [S6].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 · S8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Commitments, Liquidity and 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DRAWDOWN REAL-ASSETS CALLS AND DISTRIBUTIONS (TEST)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Calls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9,000,000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5,000,000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8,000,000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6,000,000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6,000,000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USD 7,000,000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Commitments, Liquidity and Valuation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LIQUIDITY AND VALUATION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5280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Sub-segment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Liquidity / unfunded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Valuation date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5280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Listed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Daily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280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Listed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Daily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280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Drawdown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$12.0M unfunded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280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Drawdown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$10.0M unfunded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280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Mixed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$6.0M unfunded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826763"/>
          <a:ext cx="10908792" cy="2391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782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Marketable share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8.0% of NAV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Locked share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7.0% of NAV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Unfunded ratio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2.8% of NAV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valuation lag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91 days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823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 liquidity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6.2x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Manager and Fund Diligence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MANAGER EVIDENCE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289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723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Manager / fund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Sub-segment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Diligence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Real Estate Manager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$30.0M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Current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 Medium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Close valuation follow-up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Infrastructure Manager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Current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High findings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Refresh annual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Proposed Natural Resources Manager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funded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Run 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603637"/>
            <a:ext cx="10908792" cy="16142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03637"/>
            <a:ext cx="54864" cy="161428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47133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Diligence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996829"/>
            <a:ext cx="10616184" cy="11296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The proposed natural-resources manager requires comparison, operational diligence and performance-integrity review before funding [S7].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Scenarios and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GOVERNED SCENARIO RESULTS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Scenarios and Robustness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SUPPORTED SCENARIOS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89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23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Return / loss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Liquidity 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Baseline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6.9% 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Base coverage 6.2x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Proposed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Inflation shock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 — no governed shock result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Denominator stress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 — no governed stress result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603637"/>
            <a:ext cx="10908792" cy="16142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03637"/>
            <a:ext cx="54864" cy="161428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47133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Selected-series sandbox — not saved-portfolio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996829"/>
            <a:ext cx="10616184" cy="11296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Not available — no Strategy Lab return series selected [S8].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S6 · S8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IMPLEMENTATION STEPS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2634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52693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Phase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Funding 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693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Reduce listed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Marketable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Transition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93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Increase listed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Sale proceeds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recheck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693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Commit to private 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Sale proceeds and distributions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ODD and valuation refresh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Committee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93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Add natural resources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Sale proceeds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approved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Committee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34459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ALTERNATIVES CONSIDERED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618913"/>
          <a:ext cx="10908792" cy="159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53300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Alternative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Cost / 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Reason not selected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3300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transition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Listed real-estate concentration remains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Does not address structure objective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300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Drawdown-only shift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Potential long-duration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Higher lock-up and pacing risk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Marketable balance preferred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Risks, Open Items and Approvals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DECISION RISKS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883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7080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Mitigation / 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080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valuation 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91 days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Refresh valuations before commitment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80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Commodity and linker mapping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Document IPS taxonomy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080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Proposed manager diligence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assessed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Complete 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9314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OPEN ITEMS AND APPROVALS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867465"/>
          <a:ext cx="10908792" cy="235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7009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Required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Refresh private valuations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 Q2 NAVs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Confirm mandate mappings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IPS addendum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Within 30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Select natural-resources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9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Next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Refresh pacing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commitments pack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markets team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 · S6 · S7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115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Allocation, liquidity and valuation-age rules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 value, NAV and unfunded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Five-year sleeve period unavailable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assumptions and pacing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classes and drawdown charts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Context and diligence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Proposed manager not assessed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Mandate mappings and scenarios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Commodity, linker and shock mappings not returned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 · S3 · S4 · S5 · S6 · S7 · S8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A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71016"/>
                <a:gridCol w="1271016"/>
                <a:gridCol w="1271016"/>
                <a:gridCol w="1271016"/>
                <a:gridCol w="1271016"/>
                <a:gridCol w="1271016"/>
                <a:gridCol w="1271016"/>
              </a:tblGrid>
              <a:tr h="5435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organization=test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ra-s1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ra-s2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ra-s3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Real-assets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 pages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ra-s4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get_portfolio_historical_returns; 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ra-s5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assumptions and pacing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get_chart_data; 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commitments; baseline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ra-s6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Macro context and diligence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get_macro_conditions; diligence tools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ra-s7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Mandate mappings and gaps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User document; coverage record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ra-s8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 · S8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B — Server Metric Methods and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58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1796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796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796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Server exposure aggregation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portfolio-exposure-v1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 value or NAV; unfunded separate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796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Linked returns; Brinson-Fachler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Net; 1 bp tolerance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796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Forward statistics and pacing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Returned chart packs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chart-contract-v1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10-year assumptions; projected drawdown flows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299733"/>
            <a:ext cx="10908792" cy="291818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Private real-assets valuations may lag the report date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Forward values are assumptions, not forecasts or guarantees [S6].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Commodity and inflation-linked CMA mappings are not provided [S8].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Drawdown charts apply only to closed-end sleeves [S6].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Portfolio Analytics and Strategy Lab are separate analytical scopes.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This AI-assisted construction analysis is not investment, legal or compliance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S4 · S5 · S6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DATA — fictional portfolio for rendering tests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Real Assets Portfolio (TEST)</dc:title>
  <dc:subject>Real Assets Portfolio Construction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