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Pt>
            <c:idx val="5"/>
            <c:spPr>
              <a:solidFill>
                <a:srgbClr val="C6F432"/>
              </a:solidFill>
            </c:spPr>
          </c:dPt>
          <c:cat>
            <c:strRef>
              <c:f>Sheet1!$A$2:$A$7</c:f>
              <c:strCache>
                <c:ptCount val="6"/>
                <c:pt idx="0">
                  <c:v>Listed real estate</c:v>
                </c:pt>
                <c:pt idx="1">
                  <c:v>Listed infrastructure</c:v>
                </c:pt>
                <c:pt idx="2">
                  <c:v>Private real estate</c:v>
                </c:pt>
                <c:pt idx="3">
                  <c:v>Private infrastructure</c:v>
                </c:pt>
                <c:pt idx="4">
                  <c:v>Natural resources</c:v>
                </c:pt>
                <c:pt idx="5">
                  <c:v>Commodity securities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50000000.0</c:v>
                </c:pt>
                <c:pt idx="1">
                  <c:v>30000000.0</c:v>
                </c:pt>
                <c:pt idx="2">
                  <c:v>30000000.0</c:v>
                </c:pt>
                <c:pt idx="3">
                  <c:v>25000000.0</c:v>
                </c:pt>
                <c:pt idx="4">
                  <c:v>10000000.0</c:v>
                </c:pt>
                <c:pt idx="5">
                  <c:v>5000000.0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Listed real estate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5.0</c:v>
                </c:pt>
                <c:pt idx="1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Listed infrastructure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3.0</c:v>
                </c:pt>
                <c:pt idx="1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Private real estate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3.0</c:v>
                </c:pt>
                <c:pt idx="1">
                  <c:v>3.0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Private infrastructure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2.5</c:v>
                </c:pt>
                <c:pt idx="1">
                  <c:v>3.0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Natural resources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1.0</c:v>
                </c:pt>
                <c:pt idx="1">
                  <c:v>1.5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Commodity securities</c:v>
                </c:pt>
              </c:strCache>
            </c:strRef>
          </c:tx>
          <c:spPr>
            <a:solidFill>
              <a:srgbClr val="9AA5B1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0.5</c:v>
                </c:pt>
                <c:pt idx="1">
                  <c:v>0.5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0.5</c:v>
                </c:pt>
                <c:pt idx="3">
                  <c:v>0.5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0.12</c:v>
                </c:pt>
                <c:pt idx="1">
                  <c:v>0.36</c:v>
                </c:pt>
                <c:pt idx="2">
                  <c:v>0.02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Growth</c:v>
                </c:pt>
                <c:pt idx="1">
                  <c:v>Inflation</c:v>
                </c:pt>
                <c:pt idx="2">
                  <c:v>Rates</c:v>
                </c:pt>
                <c:pt idx="3">
                  <c:v>Commodity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0.27</c:v>
                </c:pt>
                <c:pt idx="1">
                  <c:v>0.32</c:v>
                </c:pt>
                <c:pt idx="2">
                  <c:v>-0.18</c:v>
                </c:pt>
                <c:pt idx="3">
                  <c:v>0.11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cat>
            <c:strRef>
              <c:f>Sheet1!$A$2:$A$3</c:f>
              <c:strCache>
                <c:ptCount val="2"/>
                <c:pt idx="0">
                  <c:v>Current ? Real estate</c:v>
                </c:pt>
                <c:pt idx="1">
                  <c:v>Proposed ? Real estate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6.9</c:v>
                </c:pt>
                <c:pt idx="1">
                  <c:v>14.2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shifts 2.0 percentage points from listed real estate toward infrastructure and natural resources [S3][S4]. Why it matters: The largest sub-segment declines under the proposed mix. Uncertainty: CMA, regime, findings, valuation and mapping coverage remain incomplete [S8]. What would change the view: Completed records showing no diversification improvement [S4][S8].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Context is not protection</a:t>
            </a:r>
          </a:p>
          <a:p>
            <a:r>
              <a:t>Observation: Two modeled exposures, inflation and commodities, are positive [S7]. Why it matters: These signals provide diversification context, not a guaranteed hedge. Uncertainty: Governed portfolio inflation sensitivity remains unavailable [S8]. What would change the view: Returned sensitivity results or mandate mappings contradicting both exposures [S7][S8].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Infrastructure balances risk</a:t>
            </a:r>
          </a:p>
          <a:p>
            <a:r>
              <a:t>Observation: Infrastructure has lower expected volatility than real estate and natural resources in the selected assumptions [S6]. Why it matters: Its larger target role balances the broader mix. Uncertainty: Standalone governed mapping for commodity securities remains unavailable [S8]. What would change the view: Refreshed assumptions reversing the relative volatility results [S6][S8].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REAL ASSETS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Real Assets Portfolio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Decision pack · prepared for the Investment Committee (TEST)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REAL-ASSETS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15.0%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$28.0M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Fictional TEST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Valuation lag and structure mix on watch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8 of 9 · 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5491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54919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20645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retaining the 15.0% real-assets allocation while shifting 2.0 percentage points from listed real estate to infrastructure and natural resources across marketable and drawdown sleeves [S3][S4]. Committee action requested: approve the target structure and phased implementation, subject to valuation refresh, manager diligence and liquidity tests [S3][S7][S8].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84800"/>
            <a:ext cx="2644902" cy="22331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98480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49808" y="41128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REAL-ASSETS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688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15.0%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15.0% [S3]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3984800"/>
            <a:ext cx="2644902" cy="22331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3394710" y="398480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3504438" y="41128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43688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8.0%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53.3% of real assets [S4]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3984800"/>
            <a:ext cx="2644902" cy="22331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149340" y="39848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259068" y="41128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43688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$28.0M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2.8% of NAV [S4]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3984800"/>
            <a:ext cx="2644902" cy="22331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Rectangle 26"/>
          <p:cNvSpPr/>
          <p:nvPr/>
        </p:nvSpPr>
        <p:spPr>
          <a:xfrm>
            <a:off x="8903970" y="39848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9013698" y="41128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43688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Watch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valuation lag [S3][S4]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8721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872168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3875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2.0 percentage-point shift from listed real estate to infrastructure and natural resources while holding the 15.0% total allocation. Committee action requested: approve the target and staged implementation [S3][S4][S8].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07776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582096"/>
          <a:ext cx="10908792" cy="1247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1178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17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 at 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17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5.0% to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17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 and 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6.0% to 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3938953"/>
            <a:ext cx="10908792" cy="7752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938953"/>
            <a:ext cx="54864" cy="77526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04868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332145"/>
            <a:ext cx="10616184" cy="2906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Refresh private valuations, confirm the commodity and inflation-linked mandate mappings, and complete manager diligence before funding [S7][S8].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823941"/>
            <a:ext cx="10908792" cy="13939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823941"/>
            <a:ext cx="54864" cy="139397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93366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217133"/>
            <a:ext cx="10616184" cy="9093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fictional TEST report carries a valuation-lag signal above the clear threshold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 · S8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27053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27053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7859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Real-assets weight is 15.0% in the TEST evidence [S2]. Why it matters: This measure establishes the baseline for comparing later governed results. Uncertainty: The source basis may omit newer observations outside this fixture. What would change the view: A refreshed source report showing a change above 1%.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06141"/>
            <a:ext cx="10908792" cy="25117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706141"/>
            <a:ext cx="54864" cy="251177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81586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099333"/>
            <a:ext cx="10616184" cy="20271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Policy status is Watch rather than Clear in the TEST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Inflation Objective and Data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(TEST)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Broad real-assets diversification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Inflation objective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Participate in inflation-sensitive cash flows without a guaranteed outcome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10.0%–20.0%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Locked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10.0%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valuation 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most 90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91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S6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Real Assets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REAL-ASSETS ALLOCATION BY SUB-SEGMENT (TEST)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Real Assets Portfolio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34904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9863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64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200406"/>
            <a:ext cx="10908792" cy="10175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 exposures use returned market value; drawdown exposures use NAV. Unfunded commitments are shown separately and are not added to NAV [S4].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Listed real estate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9824" y="1951146"/>
            <a:ext cx="5779008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9747504" y="1877263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880860" y="178490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2560320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Listed infrastructure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9824" y="2874690"/>
            <a:ext cx="433425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6858000" y="2800807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8325612" y="270845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3483864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real estate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9824" y="3798234"/>
            <a:ext cx="433425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6858000" y="3724351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880860" y="363199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4407408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infrastructure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9824" y="4721778"/>
            <a:ext cx="28895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6135624" y="4647895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880860" y="4555540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40080" y="5330952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Natural resources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5645322"/>
            <a:ext cx="28895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Oval 26"/>
          <p:cNvSpPr/>
          <p:nvPr/>
        </p:nvSpPr>
        <p:spPr>
          <a:xfrm>
            <a:off x="3968496" y="557143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4713732" y="5479084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254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2203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2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largest sub-segment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marketable infrastructure role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2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while valuations refresh [S4][S8]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 after diligence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2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0.0%–2.0%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Broaden sub-segment mix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0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Mandate-specific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pending mapping review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964150"/>
            <a:ext cx="10908792" cy="14606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964150"/>
            <a:ext cx="54864" cy="14606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07387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357342"/>
            <a:ext cx="10616184" cy="9760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shifts 2.0 percentage points from listed real estate toward infrastructure and natural resources [S3][S4]. Why it matters: The largest sub-segment declines under the proposed mix…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34530"/>
            <a:ext cx="10908792" cy="68338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2223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74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745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real-assets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45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real-assets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93229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06615"/>
          <a:ext cx="10908792" cy="2049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099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366146"/>
            <a:ext cx="10908792" cy="8517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Inflation, Commodity and Diversification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INFLATION-SENSITIVITY 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HEADLINE INFLATION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2026-06-30 [S7]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471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394710" y="160020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350443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INFLATION EXPOSURE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[S7]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934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149340" y="16002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25906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RATES EXPOSURE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[S7]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397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8903970" y="16002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901369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INFLATION SENSITIVITY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governed result [S8]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 · S8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Inflation, Commodity and Diversification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REAL-ASSETS FACTORS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Inflation, Commodity and Diversification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CONTEXT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724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11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Indicator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 / sensitivity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11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Headline inflation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 year over 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11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Energy positioning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long index at 58th percentile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CFTC context only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11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inflation sensitivity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sensitivity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34506"/>
            <a:ext cx="10908792" cy="17824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434506"/>
            <a:ext cx="54864" cy="178245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54423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Context is not protection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27698"/>
            <a:ext cx="10616184" cy="12978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modeled exposures, inflation and commodities, are positive [S7]. Why it matters: These signals provide diversification context, not a guaranteed hedge. Uncertainty: Governed portfolio inflation sensitivity remains…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26691"/>
            <a:ext cx="10908792" cy="8912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Macro and positioning evidence is context only; it does not establish inflation protection or explain portfolio performance [S5][S7].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S7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(TEST)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test-ra-forward-2026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REAL-ASSETS FORWARD ASSUMPTIONS (TEST)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723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7234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Infrastructure balances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0877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Infrastructure has lower expected volatility than real estate and natural resources in the selected assumptions [S6]. Why it matters: Its larger target role balances the broader mix…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7956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282276"/>
          <a:ext cx="10908792" cy="20902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483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Mapping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83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83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83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83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— mapping not provided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standalone CMA class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838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Inflation-linked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— mapping not provided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standalone CMA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5482270"/>
            <a:ext cx="10908792" cy="73564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[S6].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Liquidity and 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DRAWDOWN REAL-ASSETS CALLS AND DISTRIBUTIONS (TEST)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9,000,000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5,000,000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8,000,000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6,000,000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6,000,000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7,000,000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Liquidity and Valuation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AND VALUATION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33732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6220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 / 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6220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6220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6220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$12.0M unfunded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6220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$10.0M unfunded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6220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$6.0M unfunded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083134"/>
            <a:ext cx="10908792" cy="11347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and valuation coverage metadata follow [S8].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Liquidity and Valuation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 of NAV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Locked share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 of NAV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 of NAV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valuation lag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91 days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liquidity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6.2x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Fund Diligence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EVIDENCE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Real Estate Manager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Medium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Close valuation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Infrastructure Manager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High findings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annual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Natural Resources Manager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Diligence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proposed natural-resources manager requires comparison, operational diligence and performance-integrity review before funding [S7].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coverage 6.2x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Inflation shock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Denominator stress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stress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6346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52693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Sale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recheck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 to 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Sale proceeds and distributions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ODD and valuation refresh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natural resources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Sale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approved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34459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18913"/>
          <a:ext cx="10908792" cy="1599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53300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330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transition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real-estate 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structure objective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30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Drawdown-only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Potential long-duration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Higher lock-up and pacing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balance preferred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883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08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valuation 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91 days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valuations before commitment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and linker mapping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IPS taxonomy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80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9314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867465"/>
          <a:ext cx="10908792" cy="235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009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private valuations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Q2 NAVs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mandate mappings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IPS addendum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 natural-resources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commitments pack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 team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S6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valuation-age rules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value, NAV and unfunded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Five-year sleeve period unavailable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 and pacing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classes and drawdown charts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and diligence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not assessed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 mappings and scenarios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Commodity, linker and shock mappings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Real-assets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 and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get_chart_data; 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commitments; 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context and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get_macro_conditions; diligence tools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 mappings and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 document; coverage record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ra-s8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B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11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7319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319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19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value or NAV; unfunded separate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29504"/>
            <a:ext cx="10908792" cy="338841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 real-assets valuations may lag the report date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 values are assumptions, not forecasts or guarantees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Commodity and inflation-linked CMA mappings are not provided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Drawdown charts apply only to closed-end sleeves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construction analysis is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Real Assets Portfolio (TEST)</dc:title>
  <dc:subject>Real Assets Portfolio Construction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