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$18.4m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$14.1m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/>
                      <a:t>$11.7m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Aster Cloud</c:v>
                </c:pt>
                <c:pt idx="1">
                  <c:v>Beacon Health</c:v>
                </c:pt>
                <c:pt idx="2">
                  <c:v>Cedar Payments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18.4</c:v>
                </c:pt>
                <c:pt idx="1">
                  <c:v>14.1</c:v>
                </c:pt>
                <c:pt idx="2">
                  <c:v>11.7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42%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31%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/>
                      <a:t>27%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Software</c:v>
                </c:pt>
                <c:pt idx="1">
                  <c:v>Health care</c:v>
                </c:pt>
                <c:pt idx="2">
                  <c:v>Financial technology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31.0</c:v>
                </c:pt>
                <c:pt idx="2">
                  <c:v>27.0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71%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19%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/>
                      <a:t>10%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North America</c:v>
                </c:pt>
                <c:pt idx="1">
                  <c:v>Europe</c:v>
                </c:pt>
                <c:pt idx="2">
                  <c:v>Asia-Pacific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71.0</c:v>
                </c:pt>
                <c:pt idx="1">
                  <c:v>19.0</c:v>
                </c:pt>
                <c:pt idx="2">
                  <c:v>10.0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net cash flow / paid-in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Sheet1!$A$2:$A$8</c:f>
              <c:strCache>
                <c:ptCount val="7"/>
                <c:pt idx="0">
                  <c:v>2019-06-30</c:v>
                </c:pt>
                <c:pt idx="1">
                  <c:v>2020-12-31</c:v>
                </c:pt>
                <c:pt idx="2">
                  <c:v>2021-12-31</c:v>
                </c:pt>
                <c:pt idx="3">
                  <c:v>2022-12-31</c:v>
                </c:pt>
                <c:pt idx="4">
                  <c:v>2023-12-31</c:v>
                </c:pt>
                <c:pt idx="5">
                  <c:v>2024-12-31</c:v>
                </c:pt>
                <c:pt idx="6">
                  <c:v>2025-12-31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-18.0</c:v>
                </c:pt>
                <c:pt idx="1">
                  <c:v>-51.0</c:v>
                </c:pt>
                <c:pt idx="2">
                  <c:v>-72.0</c:v>
                </c:pt>
                <c:pt idx="3">
                  <c:v>-58.0</c:v>
                </c:pt>
                <c:pt idx="4">
                  <c:v>-31.0</c:v>
                </c:pt>
                <c:pt idx="5">
                  <c:v>4.0</c:v>
                </c:pt>
                <c:pt idx="6">
                  <c:v>41.0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KS-PME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Sheet1!$A$2:$A$7</c:f>
              <c:strCache>
                <c:ptCount val="6"/>
                <c:pt idx="0">
                  <c:v>2020-12-31</c:v>
                </c:pt>
                <c:pt idx="1">
                  <c:v>2021-12-31</c:v>
                </c:pt>
                <c:pt idx="2">
                  <c:v>2022-12-31</c:v>
                </c:pt>
                <c:pt idx="3">
                  <c:v>2023-12-31</c:v>
                </c:pt>
                <c:pt idx="4">
                  <c:v>2024-12-31</c:v>
                </c:pt>
                <c:pt idx="5">
                  <c:v>2025-12-31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0.78</c:v>
                </c:pt>
                <c:pt idx="1">
                  <c:v>0.84</c:v>
                </c:pt>
                <c:pt idx="2">
                  <c:v>0.91</c:v>
                </c:pt>
                <c:pt idx="3">
                  <c:v>0.97</c:v>
                </c:pt>
                <c:pt idx="4">
                  <c:v>1.03</c:v>
                </c:pt>
                <c:pt idx="5">
                  <c:v>1.08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1.08x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+1.9%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KS-PME</c:v>
                </c:pt>
                <c:pt idx="1">
                  <c:v>Direct alpha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1.08</c:v>
                </c:pt>
                <c:pt idx="1">
                  <c:v>1.9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TVPI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Sheet1!$A$2:$A$7</c:f>
              <c:strCache>
                <c:ptCount val="6"/>
                <c:pt idx="0">
                  <c:v>2020-12-31</c:v>
                </c:pt>
                <c:pt idx="1">
                  <c:v>2021-12-31</c:v>
                </c:pt>
                <c:pt idx="2">
                  <c:v>2022-12-31</c:v>
                </c:pt>
                <c:pt idx="3">
                  <c:v>2023-12-31</c:v>
                </c:pt>
                <c:pt idx="4">
                  <c:v>2024-12-31</c:v>
                </c:pt>
                <c:pt idx="5">
                  <c:v>2025-12-31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0.72</c:v>
                </c:pt>
                <c:pt idx="1">
                  <c:v>0.88</c:v>
                </c:pt>
                <c:pt idx="2">
                  <c:v>0.96</c:v>
                </c:pt>
                <c:pt idx="3">
                  <c:v>1.12</c:v>
                </c:pt>
                <c:pt idx="4">
                  <c:v>1.28</c:v>
                </c:pt>
                <c:pt idx="5">
                  <c:v>1.41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DPI</c:v>
                </c:pt>
              </c:strCache>
            </c:strRef>
          </c:tx>
          <c:spPr>
            <a:ln w="22860">
              <a:solidFill>
                <a:srgbClr val="7FA600"/>
              </a:solidFill>
            </a:ln>
          </c:spPr>
          <c:cat>
            <c:strRef>
              <c:f>Sheet1!$A$2:$A$7</c:f>
              <c:strCache>
                <c:ptCount val="6"/>
                <c:pt idx="0">
                  <c:v>2020-12-31</c:v>
                </c:pt>
                <c:pt idx="1">
                  <c:v>2021-12-31</c:v>
                </c:pt>
                <c:pt idx="2">
                  <c:v>2022-12-31</c:v>
                </c:pt>
                <c:pt idx="3">
                  <c:v>2023-12-31</c:v>
                </c:pt>
                <c:pt idx="4">
                  <c:v>2024-12-31</c:v>
                </c:pt>
                <c:pt idx="5">
                  <c:v>2025-12-31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</c:v>
                </c:pt>
                <c:pt idx="1">
                  <c:v>0.04</c:v>
                </c:pt>
                <c:pt idx="2">
                  <c:v>0.12</c:v>
                </c:pt>
                <c:pt idx="3">
                  <c:v>0.27</c:v>
                </c:pt>
                <c:pt idx="4">
                  <c:v>0.46</c:v>
                </c:pt>
                <c:pt idx="5">
                  <c:v>0.66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RVPI</c:v>
                </c:pt>
              </c:strCache>
            </c:strRef>
          </c:tx>
          <c:spPr>
            <a:ln w="22860">
              <a:solidFill>
                <a:srgbClr val="F2A93B"/>
              </a:solidFill>
            </a:ln>
          </c:spPr>
          <c:cat>
            <c:strRef>
              <c:f>Sheet1!$A$2:$A$7</c:f>
              <c:strCache>
                <c:ptCount val="6"/>
                <c:pt idx="0">
                  <c:v>2020-12-31</c:v>
                </c:pt>
                <c:pt idx="1">
                  <c:v>2021-12-31</c:v>
                </c:pt>
                <c:pt idx="2">
                  <c:v>2022-12-31</c:v>
                </c:pt>
                <c:pt idx="3">
                  <c:v>2023-12-31</c:v>
                </c:pt>
                <c:pt idx="4">
                  <c:v>2024-12-31</c:v>
                </c:pt>
                <c:pt idx="5">
                  <c:v>2025-12-31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0.72</c:v>
                </c:pt>
                <c:pt idx="1">
                  <c:v>0.84</c:v>
                </c:pt>
                <c:pt idx="2">
                  <c:v>0.84</c:v>
                </c:pt>
                <c:pt idx="3">
                  <c:v>0.85</c:v>
                </c:pt>
                <c:pt idx="4">
                  <c:v>0.82</c:v>
                </c:pt>
                <c:pt idx="5">
                  <c:v>0.75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IRR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Sheet1!$A$2:$A$7</c:f>
              <c:strCache>
                <c:ptCount val="6"/>
                <c:pt idx="0">
                  <c:v>2020-12-31</c:v>
                </c:pt>
                <c:pt idx="1">
                  <c:v>2021-12-31</c:v>
                </c:pt>
                <c:pt idx="2">
                  <c:v>2022-12-31</c:v>
                </c:pt>
                <c:pt idx="3">
                  <c:v>2023-12-31</c:v>
                </c:pt>
                <c:pt idx="4">
                  <c:v>2024-12-31</c:v>
                </c:pt>
                <c:pt idx="5">
                  <c:v>2025-12-31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-21.0</c:v>
                </c:pt>
                <c:pt idx="1">
                  <c:v>-8.4</c:v>
                </c:pt>
                <c:pt idx="2">
                  <c:v>-1.7</c:v>
                </c:pt>
                <c:pt idx="3">
                  <c:v>5.8</c:v>
                </c:pt>
                <c:pt idx="4">
                  <c:v>9.7</c:v>
                </c:pt>
                <c:pt idx="5">
                  <c:v>12.6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12.6%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1.41x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/>
                      <a:t>0.66x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/>
                      <a:t>0.75x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IRR</c:v>
                </c:pt>
                <c:pt idx="1">
                  <c:v>TVPI</c:v>
                </c:pt>
                <c:pt idx="2">
                  <c:v>DPI</c:v>
                </c:pt>
                <c:pt idx="3">
                  <c:v>RVPI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12.6</c:v>
                </c:pt>
                <c:pt idx="1">
                  <c:v>1.41</c:v>
                </c:pt>
                <c:pt idx="2">
                  <c:v>0.66</c:v>
                </c:pt>
                <c:pt idx="3">
                  <c:v>0.75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1.08x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1.03x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Primary benchmark</c:v>
                </c:pt>
                <c:pt idx="1">
                  <c:v>Sensitivity benchmark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1.08</c:v>
                </c:pt>
                <c:pt idx="1">
                  <c:v>1.03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Primary PME result</a:t>
            </a:r>
          </a:p>
          <a:p>
            <a:r>
              <a:t>Observation: KS-PME ended at 1.08x and direct alpha at +1.9% [S6]. Why it matters: Both returned relative measures are positive. Uncertainty: Persistence evidence is limited because PME stayed below parity through 2023. What would change the view: A governed refresh at or below 1.00x KS-PME.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Realized and residual value</a:t>
            </a:r>
          </a:p>
          <a:p>
            <a:r>
              <a:t>Observation: Net IRR was 12.6%, while 0.75x RVPI exceeded 0.66x DPI [S6]. Why it matters: More value remains unrealized than distributed. Uncertainty: The result depends on reported residual NAV. What would change the view: Audited cash flows shifting TVPI by at least 0.10x.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Benchmark dependence</a:t>
            </a:r>
          </a:p>
          <a:p>
            <a:r>
              <a:t>Observation: KS-PME narrowed from 1.08x to 1.03x as benchmark_window_return moved from 62.0% to 54.0% [S6][S7]. Why it matters: The positive verdict survives the selected alternate basis. Uncertainty: Benchmark breadth is limited to two returned paths and a 0.03x floor. What would change the view: A governed sensitivity KS-PME at or below 1.00x.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INVESTMENT DUE DILIGENCE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3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Growth Fund III PME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73552"/>
            <a:ext cx="9692640" cy="5943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Commitment cash-flow performance versus public markets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005072"/>
            <a:ext cx="822960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Commitment 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FUND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Growth Fund III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PREPARED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Investment Committee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DATA AS 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2025-12-31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80467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private markets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556248"/>
            <a:ext cx="804672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 sample · not client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BOTH RETURNED PME PATHS EXCEED ONE, WITH MOST VALUE STILL UNREALIZED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159221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592216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Relative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10758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Primary and sensitivity KS-PME were 1.08x and 1.03x [S6][S7]. Why it matters: Both returned paths finished above public-market parity. Uncertainty: Sensitivity evidence is limited to a 0.03x margin over parity. What would change the view: Either governed KS-PME path falling to 1.00x or below.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27824"/>
            <a:ext cx="10908792" cy="167026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027824"/>
            <a:ext cx="54864" cy="1670266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137552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Direct alpha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421016"/>
            <a:ext cx="10616184" cy="118563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Direct alpha was +1.9% primary and +0.8% sensitivity [S6][S7]. Why it matters: Both server runs indicate positive annualized relative value. Uncertainty: The selected pair excludes benchmarks outside the returned catalog choices. What would change the view: A returned direct-alpha estimate at or below 0.0%.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807819"/>
            <a:ext cx="10908792" cy="141010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40080" y="4807819"/>
            <a:ext cx="54864" cy="141010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04671" y="491754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Cash-flow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5201011"/>
            <a:ext cx="10616184" cy="9254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Net IRR was 12.6% and TVPI was 1.41x, including 0.75x RVPI [S6]. Why it matters: More value remains unrealized than distributed. Uncertainty: Holdings context is not a PME input. What would change the view: Audited cash flows reducing TVPI by at least 0.10x.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 · S7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private markets review · Data as of 2025-12-31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CANONICAL COMMITMENT IDENTITY SUPPORTS ONE BENCHMARK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Cash-flow and benchmark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97840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Canonical portfolio and commitment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10000000-0000-4000-8000-000000000001 and commitment 60000000-0000-4000-8000-000000000001 resolved [S1][S2].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Primary benchmark session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 b0000000-0000-0000-0000-000000000001 produced an available server session [S4][S5].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Sensitivity benchmark session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 b0000000-0000-0000-0000-000000000002 produced a distinct server result [S4][S7].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Holdings and ILPA context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Partly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15 of 18 portfolio companies matched returned ILPA detail; these values were not calculator inputs [S3].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private markets review · Data as of 2025-12-31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CANONICAL COMMITMENT IDENTITY SUPPORTS ONE BENCHMARK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Cash-flow and benchmark coverage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CONTEXT ONLY — NOT A PME INPUT · LARGEST REPORTED HOLDINGS [S3]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private markets review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CANONICAL COMMITMENT IDENTITY SUPPORTS ONE BENCHMARK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Cash-flow and benchmark coverage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CONTEXT ONLY — NOT A PME INPUT · SECTOR MIX [S3]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private markets review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CANONICAL COMMITMENT IDENTITY SUPPORTS ONE BENCHMARK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Cash-flow and benchmark coverage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CONTEXT ONLY — NOT A PME INPUT · GEOGRAPHY MIX [S3]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private markets review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CASH-FLOW AND PUBLIC-MARKET PATHS BOTH FINISH ABOVE PARITY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PME and direct alpha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J-CURVE CASH-FLOW PATH · 2019-06-30 TO 2025-12-31 [S6]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private markets review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CASH-FLOW AND PUBLIC-MARKET PATHS BOTH FINISH ABOVE PARITY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PME and direct alpha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PME PATH · PRIMARY KS-PME THROUGH 2025-12-31 [S6]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private markets review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CASH-FLOW AND PUBLIC-MARKET PATHS BOTH FINISH ABOVE PARITY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PME and direct alpha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PRIMARY PUBLIC-MARKET-EQUIVALENT RESULT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private markets review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CASH-FLOW AND PUBLIC-MARKET PATHS BOTH FINISH ABOVE PARITY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PME and direct alpha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Primary PME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KS-PME ended at 1.08x and direct alpha at +1.9% [S6]. Why it matters: Both returned relative measures are positive. Uncertainty: Persistence evidence is limited because PME stayed…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private markets review · Data as of 2025-12-31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TVPI CROSSED 1.0X BEFORE NET IRR REACHED 12.6%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IRR and multiple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FUND MULTIPLES PATH · TVPI, DPI AND RVPI [S6]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private markets review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TVPI CROSSED 1.0X BEFORE NET IRR REACHED 12.6%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IRR and multiple context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NET IRR PATH · 2020-12-31 TO 2025-12-31 [S6]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private markets review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TVPI CROSSED 1.0X BEFORE NET IRR REACHED 12.6%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IRR and multiple context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RETURNED FUND METRICS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private markets review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TVPI CROSSED 1.0X BEFORE NET IRR REACHED 12.6%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IRR and multiple context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Realized and residual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Net IRR was 12.6%, while 0.75x RVPI exceeded 0.66x DPI [S6]. Why it matters: More value remains unrealized than distributed. Uncertainty: The result depends on reported residual…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private markets review · Data as of 2025-12-31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BOTH SEPARATELY BUILT PATHS REMAIN ABOVE PARITY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Benchmark sensitivity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KS-PME BY BENCHMARK PATH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 · S7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private markets review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BOTH SEPARATELY BUILT PATHS REMAIN ABOVE PARITY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Benchmark sensitivity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PRIMARY AND SENSITIVITY BENCHMARK RESULTS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1818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60604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Path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benchmark_window_return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KS-PME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Direct alpha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0604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Primary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Northstar Public Growth Index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1.08x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604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Sensitivity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Northstar Broad Equity Index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54.0%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1.03x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436616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benchmark_window_return values are copied from each server response, not recomputed [S6][S7].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29224"/>
            <a:ext cx="10908792" cy="248869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729224"/>
            <a:ext cx="54864" cy="2488695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3838952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Benchmark dependence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122416"/>
            <a:ext cx="10616184" cy="200406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KS-PME narrowed from 1.08x to 1.03x as benchmark_window_return moved from 62.0% to 54.0% [S6][S7]. Why it matters: The positive verdict survives the selected alternate basis. Uncertainty: Benchmark…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 · S7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private markets review · Data as of 2025-12-31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BENCHMARK BREADTH, RESIDUAL NAV AND HOLDINGS MAPPING BOUND THE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Limitations and follow-ups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08792" cy="178936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Two returned benchmark paths do not span every public-market opportunity cost [S4][S6][S7].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The 0.75x RVPI remains dependent on reported residual NAV rather than realized distributions [S6].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Three of 18 holdings lack matched ILPA company detail; holdings are context only [S3].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99293"/>
            <a:ext cx="10908792" cy="271862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  Can audited cash flows confirm the returned 12.6% net IRR and 1.41x TVPI?</a:t>
            </a:r>
            <a:br/>
            <a:r>
              <a:rPr>
                <a:latin typeface="Inter"/>
              </a:rPr>
              <a:t>      The verdict depends on the server-returned cash-flow series and residual NAV [S6].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  Can the next audited cash-flow package resolve the three unmatched ILPA company records?</a:t>
            </a:r>
            <a:br/>
            <a:r>
              <a:rPr>
                <a:latin typeface="Inter"/>
              </a:rPr>
              <a:t>      The holdings context is partial even though it remains separate from PME inputs [S3].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  Would a mandate-approved third benchmark materially widen the PME range?</a:t>
            </a:r>
            <a:br/>
            <a:r>
              <a:rPr>
                <a:latin typeface="Inter"/>
              </a:rPr>
              <a:t>      The current range reflects only the two returned catalog selections [S4][S6][S7].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S6 · S7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private markets review · Data as of 2025-12-31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SAVED ILLUSTRATIVE COMMITMENT, BENCHMARK, BUILDER AND PME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69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8635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Check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8635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Canonical portfolio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list_portfolios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2025-12-31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8635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Canonical commitment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2025-12-31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8635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Holdings and ILPA context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get_private_markets_holdings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2025-12-31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Partly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8635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Primary and sensitivity benchmark identities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get_benchmarks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2025-12-31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8635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Primary commitment-scoped session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build_strategy_lab_session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2025-12-31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8635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Primary PME metrics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run_strategy_lab_private_markets_pme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2025-12-31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8635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Sensitivity PME metrics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run_strategy_lab_private_markets_pme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2025-12-31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managers. All organizations, portfolios, managers and results in this public example are illustrative.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private markets review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SAVED ILLUSTRATIVE COMMITMENT, BENCHMARK, BUILDER AND PME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SOURCE AUDIT TRAIL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416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55206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portfolio_id=10000000-0000-4000-8000-000000000001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sample portfolio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sha256:1111111111111111111111111111111111111111111111111111111111111111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commitment_id=60000000-0000-4000-8000-000000000001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sample commitment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sha256:2222222222222222222222222222222222222222222222222222222222222222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portfolio_id=10000000-0000-4000-8000-000000000001; commitment_id=60000000-0000-4000-8000-000000000001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Context only — not a PME input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sha256:3333333333333333333333333333333333333333333333333333333333333333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benchmark_ids=b0000000-0000-0000-0000-000000000001,b0000000-0000-0000-0000-000000000002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sample catalog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sha256:4444444444444444444444444444444444444444444444444444444444444444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domain=private-markets-pme; benchmark_id=b0000000-0000-0000-0000-000000000001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Primary builder call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sha256:5555555555555555555555555555555555555555555555555555555555555555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session=primary; benchmark_id=b0000000-0000-0000-0000-000000000001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Server-computed PME evidence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sha256:6666666666666666666666666666666666666666666666666666666666666666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session=sensitivity; benchmark_id=b0000000-0000-0000-0000-000000000002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Server-computed PME evidence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sha256:7777777777777777777777777777777777777777777777777777777777777777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Each digest is the SHA-256 fingerprint of the exact data the report used.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private markets review · Data as of 2025-12-31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SAVED ILLUSTRATIVE COMMITMENT, BENCHMARK, BUILDER AND PME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SERIES VIEW LINEAGE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38481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 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Payload 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holdings_reported_value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sha256:eeeeeeeeeeeeeeeeeeeeeeeeeeeeeeeeeeeeeeeeeeeeeeeeeeeeeeeeeeeeeeee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holdings_sector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sha256:ffffffffffffffffffffffffffffffffffffffffffffffffffffffffffffffff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holdings_geography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sha256:0000000000000000000000000000000000000000000000000000000000000000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cash_flow_series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pme_series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sha256:bbbbbbbbbbbbbbbbbbbbbbbbbbbbbbbbbbbbbbbbbbbbbbbbbbbbbbbbbbbbbbbb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pme_summary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sha256:1111111111111111111111111111111111111111111111111111111111111111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multiples_series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sha256:cccccccccccccccccccccccccccccccccccccccccccccccccccccccccccccccc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irr_series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sha256:dddddddddddddddddddddddddddddddddddddddddddddddddddddddddddddddd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fund_metric_summary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sha256:3333333333333333333333333333333333333333333333333333333333333333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benchmark_sensitivity_primary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sha256:1111111111111111111111111111111111111111111111111111111111111111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benchmark_sensitivity_alternate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sha256:2222222222222222222222222222222222222222222222222222222222222222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S6 · S7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private markets review · Data as of 2025-12-31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Growth Fund III PME</dc:title>
  <dc:subject>Private Markets PME</dc:subject>
  <dc:creator>GradientCIO</dc:creator>
  <cp:keywords>Gradient report theme 2.3.0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