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$18.4m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$14.1m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$11.7m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Aster Cloud</c:v>
                </c:pt>
                <c:pt idx="1">
                  <c:v>Beacon Health</c:v>
                </c:pt>
                <c:pt idx="2">
                  <c:v>Cedar Payments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18.4</c:v>
                </c:pt>
                <c:pt idx="1">
                  <c:v>14.1</c:v>
                </c:pt>
                <c:pt idx="2">
                  <c:v>11.7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Software</c:v>
                </c:pt>
                <c:pt idx="1">
                  <c:v>Health care</c:v>
                </c:pt>
                <c:pt idx="2">
                  <c:v>Financial technology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42.0</c:v>
                </c:pt>
                <c:pt idx="1">
                  <c:v>31.0</c:v>
                </c:pt>
                <c:pt idx="2">
                  <c:v>27.0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Asia-Pacific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71.0</c:v>
                </c:pt>
                <c:pt idx="1">
                  <c:v>19.0</c:v>
                </c:pt>
                <c:pt idx="2">
                  <c:v>10.0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 cash flow / paid-in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2019-06-30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-18.0</c:v>
                </c:pt>
                <c:pt idx="1">
                  <c:v>-51.0</c:v>
                </c:pt>
                <c:pt idx="2">
                  <c:v>-72.0</c:v>
                </c:pt>
                <c:pt idx="3">
                  <c:v>-58.0</c:v>
                </c:pt>
                <c:pt idx="4">
                  <c:v>-31.0</c:v>
                </c:pt>
                <c:pt idx="5">
                  <c:v>4.0</c:v>
                </c:pt>
                <c:pt idx="6">
                  <c:v>41.0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100.0"/>
        </c:scaling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5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 KS-PME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0.78</c:v>
                </c:pt>
                <c:pt idx="1">
                  <c:v>0.84</c:v>
                </c:pt>
                <c:pt idx="2">
                  <c:v>0.91</c:v>
                </c:pt>
                <c:pt idx="3">
                  <c:v>0.97</c:v>
                </c:pt>
                <c:pt idx="4">
                  <c:v>1.03</c:v>
                </c:pt>
                <c:pt idx="5">
                  <c:v>1.08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1"/>
          <c:min val="0.7000000000000001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1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KS-PME</c:v>
                </c:pt>
                <c:pt idx="1">
                  <c:v>Direct alpha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TVPI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</c:v>
                </c:pt>
                <c:pt idx="1">
                  <c:v>0.88</c:v>
                </c:pt>
                <c:pt idx="2">
                  <c:v>0.96</c:v>
                </c:pt>
                <c:pt idx="3">
                  <c:v>1.12</c:v>
                </c:pt>
                <c:pt idx="4">
                  <c:v>1.28</c:v>
                </c:pt>
                <c:pt idx="5">
                  <c:v>1.41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DPI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0.04</c:v>
                </c:pt>
                <c:pt idx="2">
                  <c:v>0.12</c:v>
                </c:pt>
                <c:pt idx="3">
                  <c:v>0.27</c:v>
                </c:pt>
                <c:pt idx="4">
                  <c:v>0.46</c:v>
                </c:pt>
                <c:pt idx="5">
                  <c:v>0.66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RVPI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0.72</c:v>
                </c:pt>
                <c:pt idx="1">
                  <c:v>0.84</c:v>
                </c:pt>
                <c:pt idx="2">
                  <c:v>0.84</c:v>
                </c:pt>
                <c:pt idx="3">
                  <c:v>0.85</c:v>
                </c:pt>
                <c:pt idx="4">
                  <c:v>0.82</c:v>
                </c:pt>
                <c:pt idx="5">
                  <c:v>0.75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5"/>
          <c:min val="0.0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IRR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-21.0</c:v>
                </c:pt>
                <c:pt idx="1">
                  <c:v>-8.4</c:v>
                </c:pt>
                <c:pt idx="2">
                  <c:v>-1.7</c:v>
                </c:pt>
                <c:pt idx="3">
                  <c:v>5.8</c:v>
                </c:pt>
                <c:pt idx="4">
                  <c:v>9.7</c:v>
                </c:pt>
                <c:pt idx="5">
                  <c:v>12.6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-30.0"/>
        </c:scaling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12.6%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1.41x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0.66x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0.75x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IRR</c:v>
                </c:pt>
                <c:pt idx="1">
                  <c:v>TVPI</c:v>
                </c:pt>
                <c:pt idx="2">
                  <c:v>DPI</c:v>
                </c:pt>
                <c:pt idx="3">
                  <c:v>RVPI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12.6</c:v>
                </c:pt>
                <c:pt idx="1">
                  <c:v>1.41</c:v>
                </c:pt>
                <c:pt idx="2">
                  <c:v>0.66</c:v>
                </c:pt>
                <c:pt idx="3">
                  <c:v>0.75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1.03x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Primary benchmark</c:v>
                </c:pt>
                <c:pt idx="1">
                  <c:v>Sensitivity benchmark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1.03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Primary PME result</a:t>
            </a:r>
          </a:p>
          <a:p>
            <a:r>
              <a:t>Observation: KS-PME ended at 1.08x and direct alpha at +1.9% [S6]. Why it matters: Both returned relative measures are positive. Uncertainty: Persistence evidence is limited because PME stayed below parity through 2023. What would change the view: A governed refresh at or below 1.00x KS-PME.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Realized and residual value</a:t>
            </a:r>
          </a:p>
          <a:p>
            <a:r>
              <a:t>Observation: Net IRR was 12.6%, while 0.75x RVPI exceeded 0.66x DPI [S6]. Why it matters: More value remains unrealized than distributed. Uncertainty: The result depends on reported residual NAV. What would change the view: Audited cash flows shifting TVPI by at least 0.10x.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dependence</a:t>
            </a:r>
          </a:p>
          <a:p>
            <a:r>
              <a:t>Observation: KS-PME narrowed from 1.08x to 1.03x as benchmark_window_return moved from 62.0% to 54.0% [S6][S7]. Why it matters: The positive verdict survives the selected alternate basis. Uncertainty: Benchmark breadth is limited to two returned paths and a 0.03x floor. What would change the view: A governed sensitivity KS-PME at or below 1.00x.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 PME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Commitment cash-flow performance versus public markets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Commitment 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positive across both benchmarks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7 of 7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RETURNED PME PATHS EXCEED ONE, WITH MOST VALUE STILL UNREALIZED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Primary and sensitivity KS-PME were 1.08x and 1.03x [S6][S7]. Why it matters: Both returned paths finished above public-market parity. Uncertainty: Sensitivity evidence is limited to a 0.03x margin over parity. What would change the view: Either governed KS-PME path falling to 1.00x or below.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Direct alpha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Direct alpha was +1.9% primary and +0.8% sensitivity [S6][S7]. Why it matters: Both server runs indicate positive annualized relative value. Uncertainty: The selected pair excludes benchmarks outside the returned catalog choices. What would change the view: A returned direct-alpha estimate at or below 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Cash-flow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 and TVPI was 1.41x, including 0.75x RVPI [S6]. Why it matters: More value remains unrealized than distributed. Uncertainty: Holdings context is not a PME input. What would change the view: Audited cash flows reducing TVPI by at least 0.10x.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784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 and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10000000-0000-4000-8000-000000000001 and commitment 60000000-0000-4000-8000-000000000001 resolved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session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b0000000-0000-0000-0000-000000000001 produced an available server session [S4][S5].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benchmark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b0000000-0000-0000-0000-000000000002 produced a distinct server result [S4][S7].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 of 18 portfolio companies matched returned ILPA detail; these values were not calculator inputs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LARGEST REPORTED HOLDINGS [S3]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SECTOR MIX [S3]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GEOGRAPHY MIX [S3]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J-CURVE CASH-FLOW PATH · 2019-06-30 TO 2025-12-31 [S6]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PME PATH · PRIMARY KS-PME THROUGH 2025-12-31 [S6]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PUBLIC-MARKET-EQUIVALENT RESULT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Primary PME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ended at 1.08x and direct alpha at +1.9% [S6]. Why it matters: Both returned relative measures are positive. Uncertainty: Persistence evidence is limited because PME stayed…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 MULTIPLES PATH · TVPI, DPI AND RVPI [S6]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NET IRR PATH · 2020-12-31 TO 2025-12-31 [S6]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FUND METRICS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Realized and residual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12.6%, while 0.75x RVPI exceeded 0.66x DPI [S6]. Why it matters: More value remains unrealized than distributed. Uncertainty: The result depends on reported residual…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KS-PME BY BENCHMARK PATH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AND SENSITIVITY BENCHMARK RESULTS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2253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10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Path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benchmark_window_return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KS-PME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alpha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10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Public Growth Index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10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Index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1.03x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8715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benchmark_window_return values are copied from each server response, not recomputed [S6][S7].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4132"/>
            <a:ext cx="10908792" cy="20537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164132"/>
            <a:ext cx="54864" cy="20537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2738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dependence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557324"/>
            <a:ext cx="10616184" cy="15691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narrowed from 1.08x to 1.03x as benchmark_window_return moved from 62.0% to 54.0% [S6][S7]. Why it matters: The positive verdict survives the selected alternate basis. Uncertainty: Benchmark…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BREADTH, RESIDUAL NAV AND HOLDINGS MAPPING BOUND THE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0908792" cy="1348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Two returned benchmark paths do not span every public-market opportunity cost [S4][S6][S7].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0.75x RVPI remains dependent on reported residual NAV rather than realized distributions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Three of 18 holdings lack matched ILPA company detail; holdings are context only [S3].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58302"/>
            <a:ext cx="10908792" cy="31596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audited cash flows confirm the returned 12.6% net IRR and 1.41x TVPI?</a:t>
            </a:r>
            <a:br/>
            <a:r>
              <a:rPr>
                <a:latin typeface="Inter"/>
              </a:rPr>
              <a:t>      The verdict depends on the server-returned cash-flow series and residual NAV [S6].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Can the next audited cash-flow package resolve the three unmatched ILPA company records?</a:t>
            </a:r>
            <a:br/>
            <a:r>
              <a:rPr>
                <a:latin typeface="Inter"/>
              </a:rPr>
              <a:t>      The holdings context is partial even though it remains separate from PME inputs [S3].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Would a mandate-approved third benchmark materially widen the PME range?</a:t>
            </a:r>
            <a:br/>
            <a:r>
              <a:rPr>
                <a:latin typeface="Inter"/>
              </a:rPr>
              <a:t>      The current range reflects only the two returned catalog selections [S4][S6][S7].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portfolio_id=10000000-0000-4000-8000-000000000001; 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only — not a PME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and sensitivity benchmark identities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get_benchmarks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benchmark_ids=b0000000-0000-0000-0000-000000000001,b0000000-0000-0000-0000-000000000002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commitment-scoped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build_strategy_lab_session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domain=private-markets-pme;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builder 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PME metrics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session=primary;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PME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session=sensitivity; benchmark_id=b0000000-0000-0000-0000-000000000002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holdings_reported_value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holdings_geography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sha256:0000000000000000000000000000000000000000000000000000000000000000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cash_flow_series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pme_summary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multiples_series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irr_series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fund_metric_summary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benchmark_sensitivity_primary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benchmark_sensitivity_alternate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Growth Fund III PME</dc:title>
  <dc:subject>Private Markets PME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