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0.62</c:v>
                </c:pt>
                <c:pt idx="2">
                  <c:v>0.06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59.0</c:v>
                </c:pt>
                <c:pt idx="1">
                  <c:v>23.0</c:v>
                </c:pt>
                <c:pt idx="2">
                  <c:v>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Expected return</c:v>
                </c:pt>
                <c:pt idx="1">
                  <c:v>Proposed ? Expected return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7.199999999999999</c:v>
                </c:pt>
                <c:pt idx="1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15.0%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2.3%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Largest manager</c:v>
                </c:pt>
                <c:pt idx="1">
                  <c:v>Manager limit</c:v>
                </c:pt>
                <c:pt idx="2">
                  <c:v>Largest issuer</c:v>
                </c:pt>
                <c:pt idx="3">
                  <c:v>Issuer limit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13.0</c:v>
                </c:pt>
                <c:pt idx="1">
                  <c:v>15.0</c:v>
                </c:pt>
                <c:pt idx="2">
                  <c:v>2.3</c:v>
                </c:pt>
                <c:pt idx="3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remains preserved [S3]. Uncertainty: CMA, regime, findings and cost coverage remain incomplete [S9]. What would change the view: Completed records showing no measurable concentration reduction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look-through evidence is lagged and incomplete [S7]. What would change the view: Refreshed holdings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lower expected return, volatility and drawdown than the current sleeve [S6]. Why it matters: Completion trades little assumed return for lower modeled risk. Uncertainty: These long-horizon assumptions exclude realized implementation results. What would change the view: Refreshed results showing no measurable modeled-risk improvement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shapes implementation</a:t>
            </a:r>
          </a:p>
          <a:p>
            <a:r>
              <a:t>Observation: The largest manager and issuer remain below but near governed limits [S3][S4][S7]. Why it matters: Completion reduces reliance on concentrated active mandates. Uncertainty: Issuer look-through evidence is lagged and incomplete [S7]. What would change the view: Refreshed manager records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Public Equity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Equity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899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8990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052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42.0%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CONCENTRATION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2.3% NAV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issuer; lagged 13F look-through [S7]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311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3116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465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6677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41096"/>
          <a:ext cx="10908792" cy="1247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17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17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897953"/>
            <a:ext cx="10908792" cy="7752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897953"/>
            <a:ext cx="54864" cy="7752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0076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291145"/>
            <a:ext cx="10616184" cy="2906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82942"/>
            <a:ext cx="10908792" cy="14349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782942"/>
            <a:ext cx="54864" cy="143497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8926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176134"/>
            <a:ext cx="10616184" cy="9503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manager-and-issuer 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350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3505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04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weight is 42.0%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0666"/>
            <a:ext cx="10908792" cy="244725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0666"/>
            <a:ext cx="54864" cy="244725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8039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63858"/>
            <a:ext cx="10616184" cy="19626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Largest concentration is 2.3% NAV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Global Equity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REGIONAL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Emerging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roles are from the illustrative mandate; regional weights are returned portfolio analytics and retain their stated basis [S4][S8].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1205" y="2185111"/>
            <a:ext cx="450762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805294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8441192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Passive completion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7503" y="372435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564440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7054230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Emerging markets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5263591"/>
            <a:ext cx="173370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3563965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3586825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714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85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85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24086"/>
            <a:ext cx="10908792" cy="17975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24086"/>
            <a:ext cx="54864" cy="179752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338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17278"/>
            <a:ext cx="10616184" cy="13128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moves 4.0 percentage points from active core to passive completion [S4][S8]. Why it matters: Manager concentration falls while equity exposure remains preserved [S3]. Uncertainty: CMA…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31337"/>
            <a:ext cx="10908792" cy="8865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 · 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REGIONAL ALLOCATION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FACTOR EXPOSURE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640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100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350232"/>
            <a:ext cx="10908792" cy="17823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350232"/>
            <a:ext cx="54864" cy="17823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4599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near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743424"/>
            <a:ext cx="10616184" cy="12977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42315"/>
            <a:ext cx="10908792" cy="975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242315"/>
            <a:ext cx="54864" cy="9756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352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635507"/>
            <a:ext cx="10616184" cy="490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issuer concentration uses lagged Form 13F evidence and does not represent a complete holdings record 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EQUITY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2252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2252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falls modestly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7406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sleeve has lower expected return, volatility and drawdown than the current sleeve [S6]. Why it matters: Completion trades little assumed return for lower modeled risk…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0888"/>
            <a:ext cx="10908792" cy="1557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GOVERNED CONCENTRATIONS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15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6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86834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LOOK-THROUGH FLAGS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42664"/>
          <a:ext cx="10908790" cy="848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27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Technology Issuer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Consumer Issuer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100535"/>
            <a:ext cx="10908792" cy="737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00535"/>
            <a:ext cx="54864" cy="73707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2102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caveat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493727"/>
            <a:ext cx="10616184" cy="2524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7340"/>
            <a:ext cx="10908792" cy="12705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947340"/>
            <a:ext cx="54864" cy="12705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0570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shapes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340532"/>
            <a:ext cx="10616184" cy="7859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remain below but near governed limits [S3][S4][S7]. Why it matters: Completion reduces reliance on concentrated active mandates. Uncertainty: Issuer look-through evidence is…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governed concentration and attribution after phase one [S3][S5].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S7 · S8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diligence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portfolio_13f_lookthrough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48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5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56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56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96758"/>
            <a:ext cx="10908792" cy="30211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evidence has the stated lag, coverage and FX limitations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</dc:title>
  <dc:subject>Global Public Equity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