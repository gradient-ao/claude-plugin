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ns0:presentation xmlns:a="http://schemas.openxmlformats.org/drawingml/2006/main" xmlns:ns0="http://schemas.openxmlformats.org/presentationml/2006/main" xmlns:ns1="http://schemas.openxmlformats.org/officeDocument/2006/relationships" saveSubsetFonts="1" autoCompressPictures="0">
  <ns0:sldMasterIdLst>
    <ns0:sldMasterId id="2147483648" ns1:id="rId1"/>
  </ns0:sldMasterIdLst>
  <ns0:sldIdLst>
    <ns0:sldId id="256" ns1:id="rId7"/>
    <ns0:sldId id="257" ns1:id="rId8"/>
    <ns0:sldId id="258" ns1:id="rId9"/>
    <ns0:sldId id="259" ns1:id="rId10"/>
    <ns0:sldId id="260" ns1:id="rId11"/>
    <ns0:sldId id="261" ns1:id="rId12"/>
    <ns0:sldId id="262" ns1:id="rId13"/>
    <ns0:sldId id="263" ns1:id="rId14"/>
    <ns0:sldId id="264" ns1:id="rId15"/>
    <ns0:sldId id="265" ns1:id="rId16"/>
    <ns0:sldId id="266" ns1:id="rId17"/>
    <ns0:sldId id="267" ns1:id="rId18"/>
    <ns0:sldId id="268" ns1:id="rId19"/>
    <ns0:sldId id="269" ns1:id="rId20"/>
    <ns0:sldId id="270" ns1:id="rId21"/>
    <ns0:sldId id="271" ns1:id="rId22"/>
    <ns0:sldId id="272" ns1:id="rId23"/>
    <ns0:sldId id="273" ns1:id="rId24"/>
    <ns0:sldId id="274" ns1:id="rId25"/>
    <ns0:sldId id="275" ns1:id="rId26"/>
    <ns0:sldId id="276" ns1:id="rId27"/>
    <ns0:sldId id="277" ns1:id="rId28"/>
    <ns0:sldId id="278" ns1:id="rId29"/>
    <ns0:sldId id="279" ns1:id="rId30"/>
    <ns0:sldId id="280" ns1:id="rId31"/>
    <ns0:sldId id="281" ns1:id="rId32"/>
    <ns0:sldId id="282" ns1:id="rId33"/>
    <ns0:sldId id="283" ns1:id="rId34"/>
    <ns0:sldId id="284" ns1:id="rId35"/>
    <ns0:sldId id="285" ns1:id="rId36"/>
  </ns0:sldIdLst>
  <ns0:sldSz cx="12191695" cy="6858000" type="screen16x9"/>
  <ns0:notesSz cx="6858000" cy="9144000"/>
  <ns0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ns0:defaultTextStyle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dPt>
            <c:idx val="3"/>
            <c:spPr>
              <a:solidFill>
                <a:srgbClr val="C6F432"/>
              </a:solidFill>
            </c:spPr>
          </c:dPt>
          <c:cat>
            <c:strRef>
              <c:f>Sheet1!$A$2:$A$5</c:f>
              <c:strCache>
                <c:ptCount val="4"/>
                <c:pt idx="0">
                  <c:v>North America</c:v>
                </c:pt>
                <c:pt idx="1">
                  <c:v>Europe</c:v>
                </c:pt>
                <c:pt idx="2">
                  <c:v>Japan</c:v>
                </c:pt>
                <c:pt idx="3">
                  <c:v>Emerging markets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59.0</c:v>
                </c:pt>
                <c:pt idx="1">
                  <c:v>20.0</c:v>
                </c:pt>
                <c:pt idx="2">
                  <c:v>8.0</c:v>
                </c:pt>
                <c:pt idx="3">
                  <c:v>13.0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Active core</c:v>
                </c:pt>
              </c:strCache>
            </c:strRef>
          </c:tx>
          <c:spPr>
            <a:solidFill>
              <a:srgbClr val="0D1117"/>
            </a:solidFill>
          </c:spPr>
          <c:cat>
            <c:strRef>
              <c:f>Sheet1!$A$2:$A$3</c:f>
              <c:strCache>
                <c:ptCount val="2"/>
                <c:pt idx="0">
                  <c:v>Current</c:v>
                </c:pt>
                <c:pt idx="1">
                  <c:v>Target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24.0</c:v>
                </c:pt>
                <c:pt idx="1">
                  <c:v>20.0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Passive completion</c:v>
                </c:pt>
              </c:strCache>
            </c:strRef>
          </c:tx>
          <c:spPr>
            <a:solidFill>
              <a:srgbClr val="7FA600"/>
            </a:solidFill>
          </c:spPr>
          <c:cat>
            <c:strRef>
              <c:f>Sheet1!$A$2:$A$3</c:f>
              <c:strCache>
                <c:ptCount val="2"/>
                <c:pt idx="0">
                  <c:v>Current</c:v>
                </c:pt>
                <c:pt idx="1">
                  <c:v>Target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12.0</c:v>
                </c:pt>
                <c:pt idx="1">
                  <c:v>16.0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Emerging markets</c:v>
                </c:pt>
              </c:strCache>
            </c:strRef>
          </c:tx>
          <c:spPr>
            <a:solidFill>
              <a:srgbClr val="F2A93B"/>
            </a:solidFill>
          </c:spPr>
          <c:cat>
            <c:strRef>
              <c:f>Sheet1!$A$2:$A$3</c:f>
              <c:strCache>
                <c:ptCount val="2"/>
                <c:pt idx="0">
                  <c:v>Current</c:v>
                </c:pt>
                <c:pt idx="1">
                  <c:v>Target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6.0</c:v>
                </c:pt>
                <c:pt idx="1">
                  <c:v>6.0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Active core</c:v>
                </c:pt>
                <c:pt idx="1">
                  <c:v>Passive completion</c:v>
                </c:pt>
                <c:pt idx="2">
                  <c:v>Emerging markets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Increase</c:v>
                </c:pt>
              </c:strCache>
            </c:strRef>
          </c:tx>
          <c:spPr>
            <a:solidFill>
              <a:srgbClr val="C6F432"/>
            </a:solidFill>
          </c:spPr>
          <c:cat>
            <c:strRef>
              <c:f>Sheet1!$A$2:$A$4</c:f>
              <c:strCache>
                <c:ptCount val="3"/>
                <c:pt idx="0">
                  <c:v>Active core</c:v>
                </c:pt>
                <c:pt idx="1">
                  <c:v>Passive completion</c:v>
                </c:pt>
                <c:pt idx="2">
                  <c:v>Emerging markets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0.0</c:v>
                </c:pt>
                <c:pt idx="1">
                  <c:v>4.0</c:v>
                </c:pt>
                <c:pt idx="2">
                  <c:v>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Decrease</c:v>
                </c:pt>
              </c:strCache>
            </c:strRef>
          </c:tx>
          <c:spPr>
            <a:solidFill>
              <a:srgbClr val="FF6B5E"/>
            </a:solidFill>
          </c:spPr>
          <c:cat>
            <c:strRef>
              <c:f>Sheet1!$A$2:$A$4</c:f>
              <c:strCache>
                <c:ptCount val="3"/>
                <c:pt idx="0">
                  <c:v>Active core</c:v>
                </c:pt>
                <c:pt idx="1">
                  <c:v>Passive completion</c:v>
                </c:pt>
                <c:pt idx="2">
                  <c:v>Emerging markets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4.0</c:v>
                </c:pt>
                <c:pt idx="1">
                  <c:v>0.0</c:v>
                </c:pt>
                <c:pt idx="2">
                  <c:v>0.0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Allocation</c:v>
                </c:pt>
                <c:pt idx="1">
                  <c:v>Selection</c:v>
                </c:pt>
                <c:pt idx="2">
                  <c:v>Interaction</c:v>
                </c:pt>
                <c:pt idx="3">
                  <c:v>Residual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Increase</c:v>
                </c:pt>
              </c:strCache>
            </c:strRef>
          </c:tx>
          <c:spPr>
            <a:solidFill>
              <a:srgbClr val="C6F432"/>
            </a:solidFill>
          </c:spPr>
          <c:cat>
            <c:strRef>
              <c:f>Sheet1!$A$2:$A$5</c:f>
              <c:strCache>
                <c:ptCount val="4"/>
                <c:pt idx="0">
                  <c:v>Allocation</c:v>
                </c:pt>
                <c:pt idx="1">
                  <c:v>Selection</c:v>
                </c:pt>
                <c:pt idx="2">
                  <c:v>Interaction</c:v>
                </c:pt>
                <c:pt idx="3">
                  <c:v>Residual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0.1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Decrease</c:v>
                </c:pt>
              </c:strCache>
            </c:strRef>
          </c:tx>
          <c:spPr>
            <a:solidFill>
              <a:srgbClr val="FF6B5E"/>
            </a:solidFill>
          </c:spPr>
          <c:cat>
            <c:strRef>
              <c:f>Sheet1!$A$2:$A$5</c:f>
              <c:strCache>
                <c:ptCount val="4"/>
                <c:pt idx="0">
                  <c:v>Allocation</c:v>
                </c:pt>
                <c:pt idx="1">
                  <c:v>Selection</c:v>
                </c:pt>
                <c:pt idx="2">
                  <c:v>Interaction</c:v>
                </c:pt>
                <c:pt idx="3">
                  <c:v>Residual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0.0</c:v>
                </c:pt>
                <c:pt idx="1">
                  <c:v>0.62</c:v>
                </c:pt>
                <c:pt idx="2">
                  <c:v>0.06</c:v>
                </c:pt>
                <c:pt idx="3">
                  <c:v>0.02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59.0%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800"/>
                      <a:t>23.0%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800"/>
                      <a:t>18.0%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Sheet1!$A$2:$A$4</c:f>
              <c:strCache>
                <c:ptCount val="3"/>
                <c:pt idx="0">
                  <c:v>North America</c:v>
                </c:pt>
                <c:pt idx="1">
                  <c:v>Europe</c:v>
                </c:pt>
                <c:pt idx="2">
                  <c:v>Emerging markets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59.0</c:v>
                </c:pt>
                <c:pt idx="1">
                  <c:v>23.0</c:v>
                </c:pt>
                <c:pt idx="2">
                  <c:v>18.0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FF6B5E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dPt>
            <c:idx val="3"/>
            <c:spPr>
              <a:solidFill>
                <a:srgbClr val="FF6B5E"/>
              </a:solidFill>
            </c:spPr>
          </c:dPt>
          <c:cat>
            <c:strRef>
              <c:f>Sheet1!$A$2:$A$5</c:f>
              <c:strCache>
                <c:ptCount val="4"/>
                <c:pt idx="0">
                  <c:v>Value</c:v>
                </c:pt>
                <c:pt idx="1">
                  <c:v>Quality</c:v>
                </c:pt>
                <c:pt idx="2">
                  <c:v>Momentum</c:v>
                </c:pt>
                <c:pt idx="3">
                  <c:v>Size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-0.18</c:v>
                </c:pt>
                <c:pt idx="1">
                  <c:v>0.31</c:v>
                </c:pt>
                <c:pt idx="2">
                  <c:v>0.22</c:v>
                </c:pt>
                <c:pt idx="3">
                  <c:v>-0.09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7.2%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800"/>
                      <a:t>7.1%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Sheet1!$A$2:$A$3</c:f>
              <c:strCache>
                <c:ptCount val="2"/>
                <c:pt idx="0">
                  <c:v>Current ? Expected return</c:v>
                </c:pt>
                <c:pt idx="1">
                  <c:v>Proposed ? Expected return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7.199999999999999</c:v>
                </c:pt>
                <c:pt idx="1">
                  <c:v>7.1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dPt>
            <c:idx val="3"/>
            <c:spPr>
              <a:solidFill>
                <a:srgbClr val="C6F432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13.0% NAV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800"/>
                      <a:t>15.0% NAV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800"/>
                      <a:t>2.3% NAV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lang="en-US" sz="800"/>
                      <a:t>3.0% NAV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Sheet1!$A$2:$A$5</c:f>
              <c:strCache>
                <c:ptCount val="4"/>
                <c:pt idx="0">
                  <c:v>Largest manager</c:v>
                </c:pt>
                <c:pt idx="1">
                  <c:v>Manager limit</c:v>
                </c:pt>
                <c:pt idx="2">
                  <c:v>Largest issuer</c:v>
                </c:pt>
                <c:pt idx="3">
                  <c:v>Issuer limit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13.0</c:v>
                </c:pt>
                <c:pt idx="1">
                  <c:v>15.0</c:v>
                </c:pt>
                <c:pt idx="2">
                  <c:v>2.3</c:v>
                </c:pt>
                <c:pt idx="3">
                  <c:v>3.0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+7.1%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Sheet1!$A$2:$A$2</c:f>
              <c:strCache>
                <c:ptCount val="1"/>
                <c:pt idx="0">
                  <c:v>Baseline expected return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7.1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Why this target</a:t>
            </a:r>
          </a:p>
          <a:p>
            <a:r>
              <a:t>Observation: The target moves 4.0 percentage points from active core to passive completion [S4][S8]. Why it matters: Manager concentration falls while equity exposure remains preserved [S3]. Uncertainty: CMA, regime, findings and cost coverage remain incomplete [S9]. What would change the view: Completed records showing no measurable concentration reduction [S8][S9].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Concentration remains near limits</a:t>
            </a:r>
          </a:p>
          <a:p>
            <a:r>
              <a:t>Observation: The largest manager and issuer look-through remain below but near governed limits [S3][S4][S7]. Why it matters: Completion exposure can reduce reliance on concentrated active mandates. Uncertainty: Issuer look-through evidence is lagged and incomplete [S7]. What would change the view: Refreshed holdings showing concentration safely below policy thresholds [S4][S7].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Risk falls modestly</a:t>
            </a:r>
          </a:p>
          <a:p>
            <a:r>
              <a:t>Observation: The proposed sleeve has lower expected return, volatility and drawdown than the current sleeve [S6]. Why it matters: Completion trades little assumed return for lower modeled risk. Uncertainty: These long-horizon assumptions exclude realized implementation results. What would change the view: Refreshed results showing no measurable modeled-risk improvement [S6].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Concentration shapes implementation</a:t>
            </a:r>
          </a:p>
          <a:p>
            <a:r>
              <a:t>Observation: The largest manager and issuer remain below but near governed limits [S3][S4][S7]. Why it matters: Completion reduces reliance on concentrated active mandates. Uncertainty: Issuer look-through evidence is lagged and incomplete [S7]. What would change the view: Refreshed manager records showing concentration safely below policy thresholds [S4][S7].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xhib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-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Append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9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Oval 2"/>
          <p:cNvSpPr/>
          <p:nvPr/>
        </p:nvSpPr>
        <p:spPr>
          <a:xfrm>
            <a:off x="9372600" y="164592"/>
            <a:ext cx="2514600" cy="2514600"/>
          </a:xfrm>
          <a:prstGeom prst="ellipse">
            <a:avLst/>
          </a:prstGeom>
          <a:solidFill>
            <a:srgbClr val="161C24"/>
          </a:solidFill>
          <a:ln>
            <a:solidFill>
              <a:srgbClr val="161C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475488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GradientCIO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64208"/>
            <a:ext cx="9966960" cy="2743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50" b="1">
                <a:solidFill>
                  <a:srgbClr val="C6F432"/>
                </a:solidFill>
                <a:latin typeface="Inter"/>
              </a:defRPr>
            </a:pPr>
            <a:r>
              <a:rPr>
                <a:latin typeface="Inter"/>
              </a:rPr>
              <a:t>GLOBAL PUBLIC EQUITY PORTFOLIO CONSTRUCTION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011680"/>
            <a:ext cx="9966960" cy="12344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33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Northstar Global Public Equity Portfolio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73552"/>
            <a:ext cx="9692640" cy="59436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9AA5B1"/>
                </a:solidFill>
                <a:latin typeface="Inter"/>
              </a:defRPr>
            </a:pPr>
            <a:r>
              <a:rPr>
                <a:latin typeface="Inter"/>
              </a:rPr>
              <a:t>Portfolio construction review · prepared for the Investment Committee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4005072"/>
            <a:ext cx="822960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85800" y="4315968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AS OF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507992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2026-06-30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4315968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TOTAL NAV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0" y="4507992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$1,000.0M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937759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PUBLIC-EQUITY WEIGHT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129783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42.0%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4937759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POLICY BENCHMARK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5129783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Northstar Global Equity Index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5687568"/>
            <a:ext cx="3337560" cy="530352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822960" y="5760720"/>
            <a:ext cx="3063240" cy="12801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2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OVERALL 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916168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Manager and issuer concentration on watch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5733288"/>
            <a:ext cx="3108960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SCOPE REVIEWED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7680" y="5934456"/>
            <a:ext cx="3108960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9 of 10 · Partial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400800"/>
            <a:ext cx="80467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556248"/>
            <a:ext cx="8046720" cy="12801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Illustrative sample · not client data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8240" y="6473952"/>
            <a:ext cx="274320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GradientCIO.com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Decision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2489905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2489905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Recommendation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200527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We recommend retaining the 42.0% total-fund public-equity allocation while moving 4.0 percentage points of the sleeve from concentrated active mandates to a global passive completion mandate [S3][S4][S7]. Committee action requested: approve the target manager structure and phased funding, subject to manager diligence and concentration limits [S3][S8].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925513"/>
            <a:ext cx="2644902" cy="229240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640080" y="3925513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749808" y="4053529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PUBLIC-EQUITY WEIGHT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4309561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42.0%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5888735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Policy target 42.0% [S3]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94710" y="3925513"/>
            <a:ext cx="2644902" cy="229240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Rectangle 17"/>
          <p:cNvSpPr/>
          <p:nvPr/>
        </p:nvSpPr>
        <p:spPr>
          <a:xfrm>
            <a:off x="3394710" y="3925513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3504438" y="4053529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ACTIVE WEIGHT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04438" y="4309561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0.0pp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04438" y="5888735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Total-fund target [S3]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9340" y="3925513"/>
            <a:ext cx="2644902" cy="229240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3" name="Rectangle 22"/>
          <p:cNvSpPr/>
          <p:nvPr/>
        </p:nvSpPr>
        <p:spPr>
          <a:xfrm>
            <a:off x="6149340" y="3925513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6259068" y="4053529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RELATIVE RETURN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59068" y="4309561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-0.6pp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59068" y="5888735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Trailing 1Y versus benchmark [S5]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03970" y="3925513"/>
            <a:ext cx="2644902" cy="229240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8" name="Rectangle 27"/>
          <p:cNvSpPr/>
          <p:nvPr/>
        </p:nvSpPr>
        <p:spPr>
          <a:xfrm>
            <a:off x="8903970" y="3925513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9" name="TextBox 28"/>
          <p:cNvSpPr txBox="1"/>
          <p:nvPr/>
        </p:nvSpPr>
        <p:spPr>
          <a:xfrm>
            <a:off x="9013698" y="4053529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LARGEST CONCENTRATION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13698" y="4309561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2.3% NAV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13698" y="5888735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Largest issuer; lagged 13F look-through [S7]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3" name="TextBox 3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S4 · S5 · S7 · S8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Decision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831168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831168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Recommendation and action requested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34653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We recommend moving 4.0 percentage points of the equity sleeve from concentrated active mandates to a global passive completion mandate. Committee action requested: approve the target lineup and phased funding [S3][S4][S8].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266776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DECISION SUMMARY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40080" y="2541096"/>
          <a:ext cx="10908792" cy="12471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965704"/>
                <a:gridCol w="2965704"/>
                <a:gridCol w="2965704"/>
              </a:tblGrid>
              <a:tr h="311782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Decision element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Proposed action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1178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Total equity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Retain 42.0% of total fund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1178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Active core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Reduce from 57.1% to 47.6% of equity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[S4][S8]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Proposed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1178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Passive completion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Increase from 28.6% to 38.1%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[S4][S8]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Proposed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640080" y="3897953"/>
            <a:ext cx="10908792" cy="77526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Rectangle 14"/>
          <p:cNvSpPr/>
          <p:nvPr/>
        </p:nvSpPr>
        <p:spPr>
          <a:xfrm>
            <a:off x="640080" y="3897953"/>
            <a:ext cx="54864" cy="77526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04671" y="4007681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Conditions and limits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1" y="4291145"/>
            <a:ext cx="10616184" cy="29062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Complete manager comparison and diligence, confirm transition costs, and preserve governed manager and issuer concentration limits [S3][S7][S8].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782942"/>
            <a:ext cx="10908792" cy="143497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Rectangle 18"/>
          <p:cNvSpPr/>
          <p:nvPr/>
        </p:nvSpPr>
        <p:spPr>
          <a:xfrm>
            <a:off x="640080" y="4782942"/>
            <a:ext cx="54864" cy="1434977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804671" y="4892670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headline signal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1" y="5176134"/>
            <a:ext cx="10616184" cy="95034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The sample report carries a manager-and-issuer concentration signal above the clear threshold [S1]. Why it matters: This signal focuses oversight on the report's most decision-relevant condition. Uncertainty: Evidence coverage may exclude newer or more detailed observations. What would change the view: A governed refresh showing a different signal or breached threshold.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S3 · S4 · S7 · S8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Decision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2335058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233505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primary measure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185042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Public-equity weight is 42.0% in the review evidence [S2]. Why it matters: This measure establishes the baseline for comparing later governed results. Uncertainty: The source basis may omit newer observations outside the reviewed evidence. What would change the view: A refreshed source report showing a change above 1%.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770666"/>
            <a:ext cx="10908792" cy="2447253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640080" y="3770666"/>
            <a:ext cx="54864" cy="2447253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04671" y="3880394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monitoring priority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1" y="4163858"/>
            <a:ext cx="10616184" cy="1962621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Largest concentration is 2.3% NAV in the review evidence [S3]. Why it matters: This result determines which item receives priority in the next monitoring cycle. Uncertainty: Supporting coverage may omit later filings or corroborating detail. What would change the view: A new filing or report that resolves the item or changes it by 1%.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S2 · S3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Mandate, Benchmark and Data Basis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25880"/>
          <a:ext cx="10908792" cy="297744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49624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Northstar Total Fund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624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Mandate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Global public-equity growth 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9624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Northstar Global Equity Index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624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Horizon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 years 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9624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 basis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Net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624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Data scope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 [S1] [S1]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4413057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GOVERNED FRAMEWORK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4687377"/>
          <a:ext cx="10908792" cy="15305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382635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Area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Objective or limit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Observed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82635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Public equity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32.0%–52.0%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42.0%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2635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Single manager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At or below 15.0% NAV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13.0%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Watch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8263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Single issuer look-through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At or below 3.0% NAV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2.3%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Watch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S5 · S6 · S7 · S8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Current Global Public Equity 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PUBLIC-EQUITY REGIONAL EXPOSURE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Current Global Public Equity Portfolio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CURRENT SLEEVE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0" cy="32253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645075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 / exposure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Role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Value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% portfolio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% equity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 of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645075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Active Global Manager 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Active core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$150.0M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15.0%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35.7%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45075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Active Global Manager B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Active core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$90.0M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21.4%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45075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Global Index Fund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Passive completion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$120.0M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12.0%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28.6%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45079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Emerging Manager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Emerging markets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$60.0M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14.3%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4935307"/>
            <a:ext cx="10908792" cy="128261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Manager roles are from the illustrative mandate; regional weights are returned portfolio analytics and retain their stated basis [S4][S8].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S4 · S8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THE PROPOSED MIX REDUCES CONCENTRATED RISK WHILE PRESERVING MANDATE EXPOSURE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Target Portfolio Structure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CURRENT WEIGHT VERSUS POLICY RANGE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36776"/>
            <a:ext cx="1828800" cy="14935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Active core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21205" y="2185111"/>
            <a:ext cx="4507626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Oval 11"/>
          <p:cNvSpPr/>
          <p:nvPr/>
        </p:nvSpPr>
        <p:spPr>
          <a:xfrm>
            <a:off x="9805294" y="2061972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8441192" y="1908048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3176016"/>
            <a:ext cx="1828800" cy="14935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Passive completion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987503" y="3724351"/>
            <a:ext cx="3467404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Oval 15"/>
          <p:cNvSpPr/>
          <p:nvPr/>
        </p:nvSpPr>
        <p:spPr>
          <a:xfrm>
            <a:off x="5644408" y="3601212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Rectangle 16"/>
          <p:cNvSpPr/>
          <p:nvPr/>
        </p:nvSpPr>
        <p:spPr>
          <a:xfrm>
            <a:off x="7054230" y="3447288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640080" y="4715256"/>
            <a:ext cx="1828800" cy="14935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Emerging markets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560320" y="5263591"/>
            <a:ext cx="1733702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Oval 19"/>
          <p:cNvSpPr/>
          <p:nvPr/>
        </p:nvSpPr>
        <p:spPr>
          <a:xfrm>
            <a:off x="3563965" y="5140452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1" name="Rectangle 20"/>
          <p:cNvSpPr/>
          <p:nvPr/>
        </p:nvSpPr>
        <p:spPr>
          <a:xfrm>
            <a:off x="3586825" y="4986528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2" name="Rectangle 2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THE PROPOSED MIX REDUCES CONCENTRATED RISK WHILE PRESERVING MANDATE EXPOSURE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Target Portfolio Structure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CURRENT AND TARGET MIX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THE PROPOSED MIX REDUCES CONCENTRATED RISK WHILE PRESERVING MANDATE EXPOSURE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Target Portfolio Structure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TARGET ALLOCATION CHANGES (PERCENTAGE POINTS)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THE PROPOSED MIX REDUCES CONCENTRATED RISK WHILE PRESERVING MANDATE EXPOSURE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Target Portfolio Structure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CURRENT VERSUS TARGET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600200"/>
          <a:ext cx="10908790" cy="171415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428539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Segment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Current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Target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Change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Range / constraint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Rationale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28539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Active core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24.0%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-4.0pp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15.0%–28.0%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Reduce manager concentration [S3][S4]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28539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Passive completion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12.0%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16.0%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+4.0pp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10.0%–20.0%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Improve benchmark completion [S5][S8]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28541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Emerging markets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3.0%–8.0%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Maintain strategic exposure [S3][S6]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3424086"/>
            <a:ext cx="10908792" cy="179752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Rectangle 11"/>
          <p:cNvSpPr/>
          <p:nvPr/>
        </p:nvSpPr>
        <p:spPr>
          <a:xfrm>
            <a:off x="640080" y="3424086"/>
            <a:ext cx="54864" cy="179752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04671" y="3533814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Why this target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3817278"/>
            <a:ext cx="10616184" cy="131289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The target moves 4.0 percentage points from active core to passive completion [S4][S8]. Why it matters: Manager concentration falls while equity exposure remains preserved [S3]. Uncertainty: CMA…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331337"/>
            <a:ext cx="10908792" cy="88658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 target is a committee proposal and is not a saved portfolio change [S3][S8].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S4 · S5 · S6 · S8 · S9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Performance and Attribution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GOVERNED ATTRIBUTION EFFECTS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Performance and Attribution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STANDARD PERIODS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14806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370173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Period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 / sleeve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Excess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Coverage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70173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1Y equity sleeve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10.2%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10.8%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-0.6pp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Complete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0173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3Y equity sleeve (ann.)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9.4%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9.1%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+0.3pp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Complete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7017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5Y equity sleeve (ann.)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8.1%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8.4%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-0.3pp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Complete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3190621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ATTRIBUTION EFFECTS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0080" y="3464941"/>
          <a:ext cx="10908792" cy="1860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372152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Effect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Contribution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7215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Allocation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+0.10pp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215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Selection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-0.62pp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7215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Interaction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-0.06pp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215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Residual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-0.02pp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40080" y="5435429"/>
            <a:ext cx="10908792" cy="78249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Governed attribution method and reconciliation metadata follow [S5].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Performance and Attribution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25880"/>
          <a:ext cx="10908792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12230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Method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Brinson-Fachler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12230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Linking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Symmetric Carino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12230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Basis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Net, monthly linked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12230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Tolerance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 bp; degraded residual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COMPLETION EXPOSURE REDUCES RELIANCE ON CONCENTRATED ACTIVE RISKS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Factor Exposures and Concentration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REGIONAL ALLOCATION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COMPLETION EXPOSURE REDUCES RELIANCE ON CONCENTRATED ACTIVE RISKS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Factor Exposures and Concentration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ACTIVE FACTOR EXPOSURE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COMPLETION EXPOSURE REDUCES RELIANCE ON CONCENTRATED ACTIVE RISKS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Factor Exposures and Concentration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GOVERNED CONCENTRATION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600200"/>
          <a:ext cx="10908792" cy="1640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410076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Axis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Observed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Limit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1007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Largest manager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13.0% NAV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15.0%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Watch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1007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Largest issuer look-through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2.3% NAV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Watch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[S3][S7]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1007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North America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59.0% of equity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assessed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9AA5B1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not assessed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3350232"/>
            <a:ext cx="10908792" cy="1782354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Rectangle 11"/>
          <p:cNvSpPr/>
          <p:nvPr/>
        </p:nvSpPr>
        <p:spPr>
          <a:xfrm>
            <a:off x="640080" y="3350232"/>
            <a:ext cx="54864" cy="1782354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04671" y="3459960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Concentration remains near limits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3743424"/>
            <a:ext cx="10616184" cy="129772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The largest manager and issuer look-through remain below but near governed limits [S3][S4][S7]. Why it matters: Completion exposure can reduce reliance on concentrated active mandates. Uncertainty: Issuer…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242315"/>
            <a:ext cx="10908792" cy="975604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Rectangle 15"/>
          <p:cNvSpPr/>
          <p:nvPr/>
        </p:nvSpPr>
        <p:spPr>
          <a:xfrm>
            <a:off x="640080" y="5242315"/>
            <a:ext cx="54864" cy="975604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804671" y="5352043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Look-through limitation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1" y="5635507"/>
            <a:ext cx="10616184" cy="49097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 issuer concentration uses lagged Form 13F evidence and does not represent a complete holdings record [S7].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S4 · S7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GOVERNED ASSUMPTIONS FRAME TRADEOFFS RATHER THAN FORECASTS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Forward Return and Risk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FORWARD EXPECTED-RETURN COMPARISON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GOVERNED ASSUMPTIONS FRAME TRADEOFFS RATHER THAN FORECASTS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Forward Return and Risk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07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325880"/>
          <a:ext cx="10908792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Assumption set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 Strategic CMA 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Regime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Baseline 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Horizon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 years 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Currency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Context fingerprint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test-equity-forward-2026 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GOVERNED ASSUMPTIONS FRAME TRADEOFFS RATHER THAN FORECASTS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Forward Return and Risk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GLOBAL EQUITY FORWARD ASSUMPTIONS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115443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Measure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Current sleeve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Proposed sleeve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Expected return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7.2%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7.1%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Expected volatility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16.8%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15.7%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Expected max drawdown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-28.5%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-26.6%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GOVERNED ASSUMPTIONS FRAME TRADEOFFS RATHER THAN FORECASTS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Forward Return and Risk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07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10908792" cy="322528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1325880"/>
            <a:ext cx="54864" cy="322528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Risk falls modestly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1719072"/>
            <a:ext cx="10616184" cy="274064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The proposed sleeve has lower expected return, volatility and drawdown than the current sleeve [S6]. Why it matters: Completion trades little assumed return for lower modeled risk…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660888"/>
            <a:ext cx="10908792" cy="1557031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These figures are assumptions under the selected context, not forecasts or guarantees [S6].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CONCENTRATION LIMITS SHAPE MANAGER IMPLEMENTATION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Manager and Issuer Concentration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LARGEST GOVERNED CONCENTRATIONS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S4 · S7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CONCENTRATION LIMITS SHAPE MANAGER IMPLEMENTATION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Manager and Issuer Concentration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CURRENT AND PROPOSED ROLES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600200"/>
          <a:ext cx="10908790" cy="11584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28960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Role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Exposure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 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Proposed action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Next step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289604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Active Global Manager 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Active core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15.0% NAV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Current 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Reduce by 2.5pp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Review funding schedule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89604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Active Global Manager B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Active core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9.0% NAV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Current 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Reduce by 1.5pp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Complete performance review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289604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Global Index Fund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Passive completion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12.0% NAV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Current 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Increase by 4.0pp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Confirm vehicle terms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" y="2868344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LOOK-THROUGH FLAGS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40080" y="3142664"/>
          <a:ext cx="10908790" cy="8481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28271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Issuer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Look-through value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% NAV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 date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Flag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282714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Technology Issuer 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$23.0M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2.3%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2026-05-15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Near policy watch level 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82714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Consumer Issuer B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$15.0M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1.5%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2026-05-15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Monitor overlap [S7]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640080" y="4100535"/>
            <a:ext cx="10908792" cy="73707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Rectangle 13"/>
          <p:cNvSpPr/>
          <p:nvPr/>
        </p:nvSpPr>
        <p:spPr>
          <a:xfrm>
            <a:off x="640080" y="4100535"/>
            <a:ext cx="54864" cy="737076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04671" y="4210263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Form 13F caveat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1" y="4493727"/>
            <a:ext cx="10616184" cy="25244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Form 13F evidence is lagged by up to 45 days, covers long-only US-listed equity, excludes shorts, cash, non-US listings and private assets, and uses USD filing values that are not FX-converted against NAV [S7].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4947340"/>
            <a:ext cx="10908792" cy="1270579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Rectangle 17"/>
          <p:cNvSpPr/>
          <p:nvPr/>
        </p:nvSpPr>
        <p:spPr>
          <a:xfrm>
            <a:off x="640080" y="4947340"/>
            <a:ext cx="54864" cy="1270579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804671" y="5057068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Concentration shapes implementation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1" y="5340532"/>
            <a:ext cx="10616184" cy="78594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The largest manager and issuer remain below but near governed limits [S3][S4][S7]. Why it matters: Completion reduces reliance on concentrated active mandates. Uncertainty: Issuer look-through evidence is…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2" name="TextBox 2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S4 · S7 · S8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Scenarios and Robustness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GOVERNED SCENARIO RESULTS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Scenarios and Robustness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SUPPORTED SCENARIOS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28937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723427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Scenario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 / loss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Risk measure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Basis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72342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Baseline assumptions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7.1% expected return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15.7% volatility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Proposed sleeve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72342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Alternative regime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 — no comparable returned context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Unavailable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[S9]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72342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Tracking-error scenario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 — active-risk result not returned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Unavailable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[S9]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4603637"/>
            <a:ext cx="10908792" cy="161428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Rectangle 10"/>
          <p:cNvSpPr/>
          <p:nvPr/>
        </p:nvSpPr>
        <p:spPr>
          <a:xfrm>
            <a:off x="640080" y="4603637"/>
            <a:ext cx="54864" cy="161428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804671" y="4713365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Selected-series sandbox — not saved-portfolio analytics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" y="4996829"/>
            <a:ext cx="10616184" cy="112965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Not available — no Strategy Lab return series selected [S9].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S6 · S9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Implementation Plan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IMPLEMENTATION STEPS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0" cy="11172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37242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Phase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Action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Size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Funding 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Condition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Owner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72424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Fund passive completion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2.0pp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Active-manager redemption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Vehicle and liquidity confirmed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Investment staff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2424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Complete target shift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2.0pp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Active-manager redemption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Diligence and transition costs complete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CIO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282720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ALTERNATIVES CONSIDERED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0080" y="3101520"/>
          <a:ext cx="10908792" cy="11172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965704"/>
                <a:gridCol w="2965704"/>
                <a:gridCol w="2965704"/>
              </a:tblGrid>
              <a:tr h="37242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Alternative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Benefit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Cost / risk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Reason not selected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7242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 change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 turnover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Concentration persists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Does not address watch items [S3][S7]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242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Replace all active core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Maximum simplification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 and transition risk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 does not support full replacement [S5][S8]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40080" y="4328521"/>
            <a:ext cx="10908792" cy="188939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Complete manager comparison and diligence before final funding [S8].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Confirm transition costs before implementation [S9].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Refresh governed concentration and attribution after phase one [S3][S5].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S5 · S7 · S8 · S9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Risks, Open Items and Approvals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DECISION RISKS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21168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529209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Priority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Risk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Mitigation / condition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Owner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29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High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13F coverage is incomplete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Lagged long-only evidence 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Use as a concentration flag only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Investment staff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29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Medium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Selection shortfall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-0.62pp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Stage funding and monitor attribution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CIO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29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Medium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Transition costs unavailable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Coverage gap [S9]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Obtain estimates before phase two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Operations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3826763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OPEN ITEMS AND APPROVALS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0080" y="4101083"/>
          <a:ext cx="10908792" cy="21168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529209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Timing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Item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Required 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Owner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29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Before approval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Confirm passive vehicle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Terms and liquidity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Investment staff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Open 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29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Within 30 days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Transition-cost estimate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 / custodian estimate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Operations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Open [S9]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29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Next review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Refresh look-through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Latest 13F period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Research team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Open 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 · S7 · S8 · S9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Coverage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25880"/>
          <a:ext cx="10908792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37631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763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 and allocation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63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Policy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Allocation and concentration [S3]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763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Exposure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 and regional rows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63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Returns and attribution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degraded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Residual outside tolerance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763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Forward assumptions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 Strategic CMA 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63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13F look-through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degraded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Lagged and incomplete [S7]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763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 evidence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mandate 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63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Scenario and cost evidence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6B5E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unavailable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returned [S9]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763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CMA consensus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6B5E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unavailable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Optional context not returned 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63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Strategy Lab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6B5E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unavailable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 selected series [S9]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763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 diligence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6B5E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unavailable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Optional diligence not returned 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63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Transaction costs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6B5E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unavailable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returned [S9]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S2 · S3 · S4 · S5 · S6 · S7 · S8 · S9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Sources and methods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25880"/>
          <a:ext cx="10908792" cy="46908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112139"/>
                <a:gridCol w="1112139"/>
                <a:gridCol w="1112139"/>
                <a:gridCol w="1112139"/>
                <a:gridCol w="1112139"/>
                <a:gridCol w="1112139"/>
                <a:gridCol w="1112139"/>
                <a:gridCol w="1112139"/>
              </a:tblGrid>
              <a:tr h="469087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Basis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Tool / view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Key parameters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 of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Data scope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Validation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Digest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6908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Organization and capabilities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list_organizations; get_gradient_capabilities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organization=test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passed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6908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 and allocation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list_portfolios; get_portfolio_structure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allocation_tree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6908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Policy assessment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check_portfolio_policy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portfolio=test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passed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6908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Public-equity exposure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get_portfolio_exposure; get_portfolio_exposure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public_equity; allocations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6908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Returns and attribution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get_portfolio_historical_returns; get_portfolio_attribution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 sections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degraded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6908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S6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Forward assumptions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get_capital_market_assumptions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baseline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2026-06-15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6908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13F look-through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get_portfolio_exposure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include=lookthrough_13f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2026-05-15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advisory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6908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S8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 mandate evidence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get_gradient_capabilities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69089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Scenario and cost coverage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get_gradient_capabilities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advisory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6035040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managers. All organizations, portfolios, managers and results in this public example are illustrative.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S5 · S6 · S7 · S8 · S9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Server Metric Methods and Disclosures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SERVER METRIC METHODS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14868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49561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Quantity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Method / formula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Version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Basis / units / tolerance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9561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Policy status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Governed assessment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portfolio-policy-v1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Returned status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561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S5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Returns and attribution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Linked returns; Brinson-Fachler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portfolio-attribution-v1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Net; 1 bp tolerance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3196758"/>
            <a:ext cx="10908792" cy="3021161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Forward values are assumptions, not forecasts or guarantees [S6].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Form 13F evidence has the stated lag, coverage and FX limitations [S7].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Portfolio Analytics and Strategy Lab are separate analytical scopes.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This AI-assisted construction analysis is not investment, legal or compliance advice.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S5 · S6 · S7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D1117"/>
      </a:dk1>
      <a:lt1>
        <a:srgbClr val="FFFFFF"/>
      </a:lt1>
      <a:dk2>
        <a:srgbClr val="161C24"/>
      </a:dk2>
      <a:lt2>
        <a:srgbClr val="F5F7F9"/>
      </a:lt2>
      <a:accent1>
        <a:srgbClr val="C6F432"/>
      </a:accent1>
      <a:accent2>
        <a:srgbClr val="4F6B00"/>
      </a:accent2>
      <a:accent3>
        <a:srgbClr val="F2A93B"/>
      </a:accent3>
      <a:accent4>
        <a:srgbClr val="5B8DEF"/>
      </a:accent4>
      <a:accent5>
        <a:srgbClr val="FF6B5E"/>
      </a:accent5>
      <a:accent6>
        <a:srgbClr val="3FB8AF"/>
      </a:accent6>
      <a:hlink>
        <a:srgbClr val="0000FF"/>
      </a:hlink>
      <a:folHlink>
        <a:srgbClr val="800080"/>
      </a:folHlink>
    </a:clrScheme>
    <a:fontScheme name="Office">
      <a:maj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Northstar Global Public Equity Portfolio</dc:title>
  <dc:subject>Global Public Equity Portfolio Construction</dc:subject>
  <dc:creator>GradientCIO</dc:creator>
  <cp:keywords>Gradient report theme 2.3.0</cp:keywords>
  <dc:description>generated using python-pptx</dc:description>
  <cp:lastModifiedBy>GradientCIO</cp:lastModifiedBy>
  <cp:revision>1</cp:revision>
  <dcterms:created xsi:type="dcterms:W3CDTF">2020-01-01T00:00:00Z</dcterms:created>
  <dcterms:modified xsi:type="dcterms:W3CDTF">2020-01-01T00:00:00Z</dcterms:modified>
  <cp:category/>
</cp:coreProperties>
</file>