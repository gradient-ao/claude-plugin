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  <ns0:sldId id="276" ns1:id="rId27"/>
    <ns0:sldId id="277" ns1:id="rId28"/>
    <ns0:sldId id="278" ns1:id="rId29"/>
    <ns0:sldId id="279" ns1:id="rId30"/>
    <ns0:sldId id="280" ns1:id="rId31"/>
    <ns0:sldId id="281" ns1:id="rId32"/>
    <ns0:sldId id="282" ns1:id="rId33"/>
    <ns0:sldId id="283" ns1:id="rId34"/>
    <ns0:sldId id="284" ns1:id="rId35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cat>
            <c:strRef>
              <c:f>Sheet1!$A$2:$A$5</c:f>
              <c:strCache>
                <c:ptCount val="4"/>
                <c:pt idx="0">
                  <c:v>North America</c:v>
                </c:pt>
                <c:pt idx="1">
                  <c:v>Europe</c:v>
                </c:pt>
                <c:pt idx="2">
                  <c:v>Japan</c:v>
                </c:pt>
                <c:pt idx="3">
                  <c:v>Emerging markets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59.0</c:v>
                </c:pt>
                <c:pt idx="1">
                  <c:v>20.0</c:v>
                </c:pt>
                <c:pt idx="2">
                  <c:v>8.0</c:v>
                </c:pt>
                <c:pt idx="3">
                  <c:v>13.0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Active core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24.0</c:v>
                </c:pt>
                <c:pt idx="1">
                  <c:v>20.0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Passive completion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12.0</c:v>
                </c:pt>
                <c:pt idx="1">
                  <c:v>16.0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Emerging markets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6.0</c:v>
                </c:pt>
                <c:pt idx="1">
                  <c:v>6.0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Active core</c:v>
                </c:pt>
                <c:pt idx="1">
                  <c:v>Passive completion</c:v>
                </c:pt>
                <c:pt idx="2">
                  <c:v>Emerging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Sheet1!$A$2:$A$4</c:f>
              <c:strCache>
                <c:ptCount val="3"/>
                <c:pt idx="0">
                  <c:v>Active core</c:v>
                </c:pt>
                <c:pt idx="1">
                  <c:v>Passive completion</c:v>
                </c:pt>
                <c:pt idx="2">
                  <c:v>Emerging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</c:v>
                </c:pt>
                <c:pt idx="1">
                  <c:v>4.0</c:v>
                </c:pt>
                <c:pt idx="2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Sheet1!$A$2:$A$4</c:f>
              <c:strCache>
                <c:ptCount val="3"/>
                <c:pt idx="0">
                  <c:v>Active core</c:v>
                </c:pt>
                <c:pt idx="1">
                  <c:v>Passive completion</c:v>
                </c:pt>
                <c:pt idx="2">
                  <c:v>Emerging markets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0.1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0.62</c:v>
                </c:pt>
                <c:pt idx="2">
                  <c:v>0.06</c:v>
                </c:pt>
                <c:pt idx="3">
                  <c:v>0.02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59.0%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23.0%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18.0%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North America</c:v>
                </c:pt>
                <c:pt idx="1">
                  <c:v>Europe</c:v>
                </c:pt>
                <c:pt idx="2">
                  <c:v>Emerging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59.0</c:v>
                </c:pt>
                <c:pt idx="1">
                  <c:v>23.0</c:v>
                </c:pt>
                <c:pt idx="2">
                  <c:v>18.0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FF6B5E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FF6B5E"/>
              </a:solidFill>
            </c:spPr>
          </c:dPt>
          <c:cat>
            <c:strRef>
              <c:f>Sheet1!$A$2:$A$5</c:f>
              <c:strCache>
                <c:ptCount val="4"/>
                <c:pt idx="0">
                  <c:v>Value</c:v>
                </c:pt>
                <c:pt idx="1">
                  <c:v>Quality</c:v>
                </c:pt>
                <c:pt idx="2">
                  <c:v>Momentum</c:v>
                </c:pt>
                <c:pt idx="3">
                  <c:v>Size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-0.18</c:v>
                </c:pt>
                <c:pt idx="1">
                  <c:v>0.31</c:v>
                </c:pt>
                <c:pt idx="2">
                  <c:v>0.22</c:v>
                </c:pt>
                <c:pt idx="3">
                  <c:v>-0.09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7.2%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7.1%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Sheet1!$A$2:$A$3</c:f>
              <c:strCache>
                <c:ptCount val="2"/>
                <c:pt idx="0">
                  <c:v>Current ? Expected return</c:v>
                </c:pt>
                <c:pt idx="1">
                  <c:v>Proposed ? Expected return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7.199999999999999</c:v>
                </c:pt>
                <c:pt idx="1">
                  <c:v>7.1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13.0% NAV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15.0% NAV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2.3% NAV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3.0% NAV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Largest manager</c:v>
                </c:pt>
                <c:pt idx="1">
                  <c:v>Manager limit</c:v>
                </c:pt>
                <c:pt idx="2">
                  <c:v>Largest issuer</c:v>
                </c:pt>
                <c:pt idx="3">
                  <c:v>Issuer limit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13.0</c:v>
                </c:pt>
                <c:pt idx="1">
                  <c:v>15.0</c:v>
                </c:pt>
                <c:pt idx="2">
                  <c:v>2.3</c:v>
                </c:pt>
                <c:pt idx="3">
                  <c:v>3.0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+7.1%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Baseline expected return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7.1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Why this target</a:t>
            </a:r>
          </a:p>
          <a:p>
            <a:r>
              <a:t>Observation: The target moves 4.0 percentage points from active core to passive completion [S4][S8]. Why it matters: Manager concentration falls while equity exposure remains preserved [S3]. Uncertainty: CMA, regime, findings and cost coverage remain incomplete [S9]. What would change the view: Completed records showing no measurable concentration reduction [S8][S9].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Concentration remains near limits</a:t>
            </a:r>
          </a:p>
          <a:p>
            <a:r>
              <a:t>Observation: The largest manager and issuer look-through remain below but near governed limits [S3][S4][S7]. Why it matters: Completion exposure can reduce reliance on concentrated active mandates. Uncertainty: Issuer look-through evidence is lagged and incomplete [S7]. What would change the view: Refreshed holdings showing concentration safely below policy thresholds [S4][S7].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Risk falls modestly</a:t>
            </a:r>
          </a:p>
          <a:p>
            <a:r>
              <a:t>Observation: The proposed sleeve has lower expected return, volatility and drawdown than the current sleeve [S6]. Why it matters: Completion trades little assumed return for lower modeled risk. Uncertainty: These long-horizon assumptions exclude realized implementation results. What would change the view: Refreshed results showing no measurable modeled-risk improvement [S6].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Concentration shapes implementation</a:t>
            </a:r>
          </a:p>
          <a:p>
            <a:r>
              <a:t>Observation: The largest manager and issuer remain below but near governed limits [S3][S4][S7]. Why it matters: Completion reduces reliance on concentrated active mandates. Uncertainty: Issuer look-through evidence is lagged and incomplete [S7]. What would change the view: Refreshed manager records showing concentration safely below policy thresholds [S4][S7].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GLOBAL PUBLIC EQUITY PORTFOLIO 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Global Public Equity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Portfolio construction review · prepared for the Investment Committee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AS 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TOTAL NAV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$1,000.0M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PUBLIC-EQUITY WEIGHT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42.0%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POLICY BENCHMARK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Global Equity Index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99032"/>
            <a:ext cx="73152" cy="1031503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371600"/>
            <a:ext cx="10588752" cy="68312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Manager and issuer concentration near limits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13415"/>
            <a:ext cx="10908792" cy="165445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2613415"/>
            <a:ext cx="54864" cy="165445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272314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3006607"/>
            <a:ext cx="10616184" cy="116981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retaining the 42.0% total-fund public-equity allocation while moving 4.0 percentage points of the sleeve from concentrated active mandates to a global passive completion mandate [S3][S4][S7]. Committee action requested: approve the target manager structure and phased funding, subject to manager diligence and concentration limits [S3][S8].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377595"/>
            <a:ext cx="2644902" cy="184032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4377595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749808" y="4505611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PUBLIC-EQUITY WEIGHT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761643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42.0%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target 42.0% [S3]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94710" y="4377595"/>
            <a:ext cx="2644902" cy="184032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3394710" y="4377595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3504438" y="4505611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ACTIVE WEIGHT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4761643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0.0pp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443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Total-fund target [S3]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9340" y="4377595"/>
            <a:ext cx="2644902" cy="184032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6149340" y="4377595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259068" y="4505611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RELATIVE RETURN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4761643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-0.6pp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Trailing 1Y versus benchmark [S5]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03970" y="4377595"/>
            <a:ext cx="2644902" cy="184032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Rectangle 28"/>
          <p:cNvSpPr/>
          <p:nvPr/>
        </p:nvSpPr>
        <p:spPr>
          <a:xfrm>
            <a:off x="8903970" y="4377595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9013698" y="4505611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LARGEST CONCENTRATION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4761643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2.3% NAV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369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Largest issuer; lagged 13F look-through [S7]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4" name="TextBox 3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S7 · S8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80879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808799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 and action requested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32416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moving 4.0 percentage points of the equity sleeve from concentrated active mandates to a global passive completion mandate. Committee action requested: approve the target lineup and phased funding [S3][S4][S8].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4440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SUMMARY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2518727"/>
          <a:ext cx="10908792" cy="10972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27430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Decision element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7430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Retain 42.0% of total fund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7430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 core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from 57.1% to 47.6% of equity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[S4][S8]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743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Passive completion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Increase from 28.6% to 38.1%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[S4][S8]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3725672"/>
            <a:ext cx="10908792" cy="65519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725672"/>
            <a:ext cx="54864" cy="65519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383540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Conditions and limits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411886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Complete manager comparison and diligence, confirm transition costs, and preserve governed manager and issuer concentration limits [S3][S7][S8].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490593"/>
            <a:ext cx="10908792" cy="80879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640080" y="4490593"/>
            <a:ext cx="54864" cy="808799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804671" y="460032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Concentration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" y="4883785"/>
            <a:ext cx="10616184" cy="32416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Manager and issuer concentration sit near their limits [S1]. Why it matters: Moving 4.0pp to a passive completion mandate reduces both. Uncertainty: Transition costs are not yet confirmed. What would change the view: Costs that outweigh the concentration benefit.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409120"/>
            <a:ext cx="10908792" cy="80879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Rectangle 21"/>
          <p:cNvSpPr/>
          <p:nvPr/>
        </p:nvSpPr>
        <p:spPr>
          <a:xfrm>
            <a:off x="640080" y="5409120"/>
            <a:ext cx="54864" cy="80879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804671" y="551884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Sleeve size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1" y="5802312"/>
            <a:ext cx="10616184" cy="32416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Public equity is 42.0% of total NAV [S2]. Why it matters: The 4.0pp shift stays inside the sleeve and leaves the total weight unchanged. Uncertainty: The weight moves with equity markets before funding. What would change the view: A drift of more than 2pp before implementation.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S7 · S8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Largest issuer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largest single-issuer exposure is 2.3% of NAV [S3]. Why it matters: It is the position closest to the concentration limit. Uncertainty: Look-through holdings are as of the last 13F filing. What would change the view: A newer filing that changes the top position.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Mandate, Benchmark and Data Basis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29774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Total Fund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Mandate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Global public-equity growth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Global Equity Index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 years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 [S1]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41305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FRAMEWORK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4687377"/>
          <a:ext cx="10908792" cy="15305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8263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Objective or 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32.0%–52.0%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Single manager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15.0% NAV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Near limit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263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Single issuer look-through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3.0% NAV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Near limit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Global Public Equity Portfolio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PUBLIC-EQUITY REGIONAL EXPOSURE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Global Public Equity Portfolio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SLEEVE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0" cy="35158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70316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/ 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Role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portfolio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equity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0316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Active Global Manager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 core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$150.0M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35.7%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0316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Active Global Manager 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 core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$90.0M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21.4%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0316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Global Index Fund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Passive completion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28.6%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0316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Emerging Manager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Emerging markets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$60.0M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14.3%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225739"/>
            <a:ext cx="10908792" cy="9921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Manager roles are from the illustrative mandate; regional weights are returned portfolio analytics and retain their stated basis [S4][S8].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WEIGHT VERSUS POLICY 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36776"/>
            <a:ext cx="1480413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Active core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18790" y="2185111"/>
            <a:ext cx="1740761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Oval 10"/>
          <p:cNvSpPr/>
          <p:nvPr/>
        </p:nvSpPr>
        <p:spPr>
          <a:xfrm>
            <a:off x="4987357" y="206197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4474598" y="190804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3176016"/>
            <a:ext cx="1480413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Passive completion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49266" y="3724351"/>
            <a:ext cx="1339047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Oval 14"/>
          <p:cNvSpPr/>
          <p:nvPr/>
        </p:nvSpPr>
        <p:spPr>
          <a:xfrm>
            <a:off x="3380500" y="360121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3938979" y="344728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4715256"/>
            <a:ext cx="1480413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Emerging markets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11933" y="5263591"/>
            <a:ext cx="669523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Oval 18"/>
          <p:cNvSpPr/>
          <p:nvPr/>
        </p:nvSpPr>
        <p:spPr>
          <a:xfrm>
            <a:off x="2577071" y="514045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2599931" y="498652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Rectangle 20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AND TARGET MIX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ectangle 2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TARGET ALLOCATION CHANGES (PERCENTAGE POINTS)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VERSUS TARGET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2174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54359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Range / constraint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Rationale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4359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 core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-4.0pp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15.0%–28.0%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manager concentration 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9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Passive completion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16.0%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+4.0pp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10.0%–20.0%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Improve benchmark completion [S5][S8]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60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Emerging markets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3.0%–8.0%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Maintain strategic exposure [S3][S6]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3884327"/>
            <a:ext cx="10908792" cy="144401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3884327"/>
            <a:ext cx="54864" cy="144401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399405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Why this target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277519"/>
            <a:ext cx="10616184" cy="95938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target moves 4.0 percentage points from active core to passive completion [S4][S8]. Why it matters: Manager concentration falls while equity exposure remains preserved [S3]. Uncertainty: CMA…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438072"/>
            <a:ext cx="10908792" cy="77984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target is a committee proposal and is not a saved portfolio change [S3][S8].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S6 · S8 · S9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EFFECTS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STANDARD PERIODS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5688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9222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/ sleeve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9222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1Y equity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222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3Y equity sleeve (ann.)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9222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5Y equity sleeve (ann.)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-0.3pp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27881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ATTRIBUTION EFFECTS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553133"/>
          <a:ext cx="10908792" cy="1968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9361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936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6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936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6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630911"/>
            <a:ext cx="10908792" cy="5870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method and reconciliation metadata follow [S5].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Brinson-Fachler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Symmetric Carino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Net, monthly linked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 bp; degraded residual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COMPLETION EXPOSURE REDUCES RELIANCE ON CONCENTRATED ACTIVE RISKS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Factor Exposures and Concentration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REGIONAL ALLOCATION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COMPLETION EXPOSURE REDUCES RELIANCE ON CONCENTRATED ACTIVE RISKS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Factor Exposures and Concentration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ACTIVE FACTOR EXPOSURE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COMPLETION EXPOSURE REDUCES RELIANCE ON CONCENTRATED ACTIVE RISKS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Factor Exposures and Concentration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CONCENTRATION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9857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9644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Axis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9644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13.0% NAV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Near limit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44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issuer look-through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2.3% NAV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Near limit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45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 America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59.0% of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3695723"/>
            <a:ext cx="10908792" cy="133279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3695723"/>
            <a:ext cx="54864" cy="133279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380545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Concentration remains near limits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088915"/>
            <a:ext cx="10616184" cy="84816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largest manager and issuer look-through remain below but near governed limits [S3][S4][S7]. Why it matters: Completion exposure can reduce reliance on concentrated active mandates. Uncertainty: Issuer…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5138247"/>
            <a:ext cx="10908792" cy="107967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5138247"/>
            <a:ext cx="54864" cy="107967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04671" y="524797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Look-through limitation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5531439"/>
            <a:ext cx="10616184" cy="595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issuer concentration uses lagged Form 13F evidence and does not represent a complete holdings record [S7].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FORWARD EXPECTED-RETURN COMPARISON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 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Strategic CMA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 years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Context fingerprint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test-equity-forward-2026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GLOBAL EQUITY FORWARD ASSUMPTIONS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30944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77362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Measure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sleeve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sleeve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73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73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volatility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16.8%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15.7%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7362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max drawdown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-28.5%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-26.6%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4804410"/>
            <a:ext cx="10908792" cy="8465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4804410"/>
            <a:ext cx="54864" cy="84658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491413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Risk falls modestly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5197601"/>
            <a:ext cx="10616184" cy="3619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proposed sleeve has lower expected return, volatility and drawdown than the current sleeve [S6]. Why it matters: Completion trades little assumed return for lower modeled risk…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760720"/>
            <a:ext cx="10908792" cy="4572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These figures are assumptions under the selected context, not forecasts or guarantees [S6].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CONCENTRATION LIMITS SHAPE MANAGER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Manager and Issuer Concentration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LARGEST GOVERNED CONCENTRATIONS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CONCENTRATION LIMITS SHAPE MANAGER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Manager and Issuer Concentration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AND PROPOSED ROLES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1265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1642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Role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 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step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642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Active Global Manager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 core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 NAV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by 2.5pp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Review funding schedule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642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Active Global Manager 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 core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9.0% NAV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by 1.5pp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performance review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642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Global Index Fund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Passive completion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 NAV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Increase by 4.0pp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Confirm vehicle terms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297563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LOOK-THROUGH FLAGS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249953"/>
          <a:ext cx="10908790" cy="932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1073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Issuer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Look-through 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 date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Flag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073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Technology Issuer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$23.0M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2026-05-15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Near policy watch level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073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Consumer Issuer 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2026-05-15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Monitor overlap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4291877"/>
            <a:ext cx="10908792" cy="90815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4291877"/>
            <a:ext cx="54864" cy="90815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440160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Form 13F caveat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685069"/>
            <a:ext cx="10616184" cy="42352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Form 13F evidence is lagged by up to 45 days, covers long-only US-listed equity, excludes shorts, cash, non-US listings and private assets, and uses USD filing values that are not FX-converted against NAV [S7].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309762"/>
            <a:ext cx="10908792" cy="90815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640080" y="5309762"/>
            <a:ext cx="54864" cy="90815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04671" y="541949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Concentration shapes implementation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1" y="5702954"/>
            <a:ext cx="10616184" cy="42352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largest manager and issuer remain below but near governed limits [S3][S4][S7]. Why it matters: Completion reduces reliance on concentrated active mandates. Uncertainty: Issuer look-through evidence is…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S7 · S8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Scenarios and Robustness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SCENARIO RESULTS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Scenarios and Robustness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SUPPORTED SCENARIOS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29619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74049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Scenario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/ loss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 measure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4049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7.1% expected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15.7% volatility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4049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 regime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no comparable returned context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4049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Tracking-error scenario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active-risk result not returned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[S9]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4671913"/>
            <a:ext cx="10908792" cy="154600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4671913"/>
            <a:ext cx="54864" cy="154600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478164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Selected-series sandbox — not saved-portfolio analytics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5065105"/>
            <a:ext cx="10616184" cy="106137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no Strategy Lab return series selected [S9].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 · S9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Implementation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IMPLEMENTATION STEPS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0" cy="14726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49088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Phase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Size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Funding 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9088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 passive completion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Active-manager redemption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Vehicle and liquidity confirmed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088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target shift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Active-manager redemption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Diligence and transition costs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182574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ALTERNATIVES CONSIDERED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456894"/>
          <a:ext cx="10908792" cy="14726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49088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Benefit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Cost / 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Reason not selected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9088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change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turnover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Concentration persists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Does not address watch items [S3][S7]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088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Replace all active core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Maximum simplification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and transition risk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 does not support full replacement [S5][S8]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039269"/>
            <a:ext cx="10908792" cy="11786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Complete manager comparison and diligence before final funding [S8].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Confirm transition costs before implementation [S9].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Refresh governed concentration and attribution after phase one [S3][S5].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S5 · S7 · S8 · S9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Risks, Open Items and Approvals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RISKS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9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Priority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Mitigation / 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coverage is incomplete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Lagged long-only evidence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Use as a concentration flag only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 shortfall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-0.62pp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Stage funding and monitor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Transition costs unavailable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 gap [S9]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Obtain estimates before phase two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82676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OPEN ITEMS AND APPROVALS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4101083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9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Timing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Required 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Before approval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Confirm passive vehicle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Terms and liquidity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Within 30 days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Transition-cost estimate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/ custodian estimate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Refresh look-through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Latest 13F period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Research team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 · S7 · S8 · S9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7631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 and concentration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and regional rows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Incomplete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 outside tolerance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Strategic CMA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look-through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Incomplete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Lagged and incomplete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evidence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mandate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Scenario and cost evidence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returned 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CMA consensus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Optional context not returned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Strategy Lab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selected series 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diligence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Optional diligence not returned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6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Transaction costs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returned 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 · S4 · S5 · S6 · S7 · S8 · S9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6908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 and 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list_organizations; 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list_portfolios; get_portfolio_structure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check_portfolio_policy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Public-equity 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get_portfolio_historical_returns; 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Incomplete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get_capital_market_assumptions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2026-06-15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look-through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2026-05-15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Advisory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mandate evidence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Scenario and cost coverage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Advisory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 · S9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 AUDIT TRAIL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416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4165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4165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165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allocation_tree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4165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165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public_equity; allocations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4165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sections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165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4165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include=lookthrough_13f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165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4165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scope for every source: Illustrative sample data. Each digest is the SHA-256 fingerprint of the exact data the report used.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 · S9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Server Metric Methods and Disclosures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SERVER METRIC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3078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102623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 / formula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Version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 / units / 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02623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portfolio-policy-v1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02623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Linked returns; Brinson-Fachler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portfolio-attribution-v1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Net; 1 bp 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788640"/>
            <a:ext cx="10908792" cy="142927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Forward values are assumptions, not forecasts [S6]; Form 13F limits are set out in the caveat above [S7].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Strategy Lab results are calculated separately. AI-assisted; not investment, legal or compliance advice.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S5 · S6 · S7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Global Public Equity Portfolio</dc:title>
  <dc:subject>Global Public Equity Portfolio Construction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