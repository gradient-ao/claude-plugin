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Emerging markets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59.0</c:v>
                </c:pt>
                <c:pt idx="1">
                  <c:v>20.0</c:v>
                </c:pt>
                <c:pt idx="2">
                  <c:v>8.0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core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24.0</c:v>
                </c:pt>
                <c:pt idx="1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Passive completion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12.0</c:v>
                </c:pt>
                <c:pt idx="1">
                  <c:v>16.0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Emerging markets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6.0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4.0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0.62</c:v>
                </c:pt>
                <c:pt idx="2">
                  <c:v>0.06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59.0</c:v>
                </c:pt>
                <c:pt idx="1">
                  <c:v>23.0</c:v>
                </c:pt>
                <c:pt idx="2">
                  <c:v>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FF6B5E"/>
              </a:solidFill>
            </c:spPr>
          </c:dPt>
          <c:cat>
            <c:strRef>
              <c:f>Sheet1!$A$2:$A$5</c:f>
              <c:strCache>
                <c:ptCount val="4"/>
                <c:pt idx="0">
                  <c:v>Value</c:v>
                </c:pt>
                <c:pt idx="1">
                  <c:v>Quality</c:v>
                </c:pt>
                <c:pt idx="2">
                  <c:v>Momentum</c:v>
                </c:pt>
                <c:pt idx="3">
                  <c:v>Size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-0.18</c:v>
                </c:pt>
                <c:pt idx="1">
                  <c:v>0.31</c:v>
                </c:pt>
                <c:pt idx="2">
                  <c:v>0.22</c:v>
                </c:pt>
                <c:pt idx="3">
                  <c:v>-0.09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 ? Expected return</c:v>
                </c:pt>
                <c:pt idx="1">
                  <c:v>Proposed ? Expected return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7.199999999999999</c:v>
                </c:pt>
                <c:pt idx="1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Largest manager</c:v>
                </c:pt>
                <c:pt idx="1">
                  <c:v>Manager limit</c:v>
                </c:pt>
                <c:pt idx="2">
                  <c:v>Largest issuer</c:v>
                </c:pt>
                <c:pt idx="3">
                  <c:v>Issuer limit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13.0</c:v>
                </c:pt>
                <c:pt idx="1">
                  <c:v>15.0</c:v>
                </c:pt>
                <c:pt idx="2">
                  <c:v>2.3</c:v>
                </c:pt>
                <c:pt idx="3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moves 4.0 percentage points from active core to passive completion [S4][S8]. Why it matters: Manager concentration falls while equity exposure remains preserved [S3]. Uncertainty: CMA, regime, findings and cost coverage remain incomplete [S9]. What would change the view: Completed records showing no measurable concentration reduction [S8][S9].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near limits</a:t>
            </a:r>
          </a:p>
          <a:p>
            <a:r>
              <a:t>Observation: The largest manager and issuer look-through remain below but near governed limits [S3][S4][S7]. Why it matters: Completion exposure can reduce reliance on concentrated active mandates. Uncertainty: Issuer look-through evidence is lagged and incomplete [S7]. What would change the view: Refreshed holdings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falls modestly</a:t>
            </a:r>
          </a:p>
          <a:p>
            <a:r>
              <a:t>Observation: The proposed sleeve has lower expected return, volatility and drawdown than the current sleeve [S6]. Why it matters: Completion trades little assumed return for lower modeled risk. Uncertainty: These long-horizon assumptions exclude realized implementation results. What would change the view: Refreshed results showing no measurable modeled-risk improvement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shapes implementation</a:t>
            </a:r>
          </a:p>
          <a:p>
            <a:r>
              <a:t>Observation: The largest manager and issuer remain below but near governed limits [S3][S4][S7]. Why it matters: Completion reduces reliance on concentrated active mandates. Uncertainty: Issuer look-through evidence is lagged and incomplete [S7]. What would change the view: Refreshed manager records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GLOBAL PUBLIC EQUITY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Public Equity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Global Equity Index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on watch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 of 10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899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8990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20052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42.0% total-fund public-equity allocation while moving 4.0 percentage points of the sleeve from concentrated active mandates to a global passive completion mandate [S3][S4][S7]. Committee action requested: approve the target manager structure and phased funding, subject to manager diligence and concentration limits [S3][S8].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42.0%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2.3% NAV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issuer; lagged 13F look-through [S7]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257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2577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41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moving 4.0 percentage points of the equity sleeve from concentrated active mandates to a global passive completion mandate. Committee action requested: approve the target lineup and phased funding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613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535700"/>
          <a:ext cx="10908792" cy="1237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93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93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Retain 42.0%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93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57.1% to 47.6% of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93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28.6% to 38.1%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882679"/>
            <a:ext cx="10908792" cy="7702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82679"/>
            <a:ext cx="54864" cy="7702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924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75871"/>
            <a:ext cx="10616184" cy="2855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 manager comparison and diligence, confirm transition costs, and preserve governed manager and issuer concentration limits [S3][S7][S8].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762634"/>
            <a:ext cx="10908792" cy="14552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762634"/>
            <a:ext cx="54864" cy="14552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8723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155826"/>
            <a:ext cx="10616184" cy="9706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manager-and-issuer 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01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018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17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weight is 42.0%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37408"/>
            <a:ext cx="10908792" cy="248051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37408"/>
            <a:ext cx="54864" cy="248051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4713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30600"/>
            <a:ext cx="10616184" cy="199587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Largest concentration is 2.3% NAV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public-equity growth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Equity Index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32.0%–52.0%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issuer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REGIONAL EXPOSURE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Emerging Manager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roles are from the fictional mandate; regional weights are returned portfolio analytics and retain their stated basis [S4][S8].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1205" y="2185111"/>
            <a:ext cx="450762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805294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441192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Passive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7503" y="372435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64440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7054230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Emerging markets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5263591"/>
            <a:ext cx="173370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3563965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586825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714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85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manager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+4.0pp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Improve benchmark completion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85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strategic exposure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24086"/>
            <a:ext cx="10908792" cy="17975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24086"/>
            <a:ext cx="54864" cy="179752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338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17278"/>
            <a:ext cx="10616184" cy="13128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moves 4.0 percentage points from active core to passive completion [S4][S8]. Why it matters: Manager concentration falls while equity exposure remains preserved [S3]. Uncertainty: CMA…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1337"/>
            <a:ext cx="10908792" cy="8865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 · S9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480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1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equity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906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464941"/>
          <a:ext cx="10908792" cy="186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435429"/>
            <a:ext cx="10908792" cy="782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degraded residual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REGIONAL ALLOCATION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FACTOR EXPOSURE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40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100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00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 America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59.0% of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350232"/>
            <a:ext cx="10908792" cy="17823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350232"/>
            <a:ext cx="54864" cy="17823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4599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near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43424"/>
            <a:ext cx="10616184" cy="12977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look-through remain below but near governed limits [S3][S4][S7]. Why it matters: Completion exposure can reduce reliance on concentrated active mandates. Uncertainty: Issuer…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42315"/>
            <a:ext cx="10908792" cy="975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42315"/>
            <a:ext cx="54864" cy="9756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52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35507"/>
            <a:ext cx="10616184" cy="490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issuer concentration uses lagged Form 13F evidence and does not represent a complete holdings record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test-equity-forward-2026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EQUITY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2252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2252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falls modestly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406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sleeve has lower expected return, volatility and drawdown than the current sleeve [S6]. Why it matters: Completion trades little assumed return for lower modeled risk…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0888"/>
            <a:ext cx="10908792" cy="15570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GOVERNED CONCENTRATIONS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15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6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2.5pp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funding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performance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896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by 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vehicle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6834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LOOK-THROUGH FLAGS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42664"/>
          <a:ext cx="10908790" cy="848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27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Look-through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Technology Issuer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 policy watch level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271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Consumer Issuer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overlap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4100535"/>
            <a:ext cx="10908792" cy="737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100535"/>
            <a:ext cx="54864" cy="73707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2102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caveat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493727"/>
            <a:ext cx="10616184" cy="2524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evidence is lagged by up to 45 days, covers long-only US-listed equity, excludes shorts, cash, non-US listings and private assets, and uses USD filing values that are not FX-converted against NAV 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47340"/>
            <a:ext cx="10908792" cy="12705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947340"/>
            <a:ext cx="54864" cy="127057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50570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shapes implementation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340532"/>
            <a:ext cx="10616184" cy="7859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remain below but near governed limits [S3][S4][S7]. Why it matters: Completion reduces reliance on concentrated active mandates. Uncertainty: Issuer look-through evidence is…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comparable returned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active-risk result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Vehicle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target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transition costs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persists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items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Replace all 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simplification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transition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does not support full replacement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Complete manager comparison and diligence before final funding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transition costs before implementation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governed concentration and attribution after phase one [S3][S5].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S7 ·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coverage is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long-only evidence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as a concentration flag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 shortfall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funding and monitor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costs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gap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estimates before phase two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passive vehicle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custodian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 ·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regional rows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outside tolerance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and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mandate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diligence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92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get_chart_data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public_equity; allocations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portfolio_13f_lookthrough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mandate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 document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record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486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56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56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56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96758"/>
            <a:ext cx="10908792" cy="30211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evidence has the stated lag, coverage and FX limitations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Global Public Equity Portfolio (TEST)</dc:title>
  <dc:subject>Global Public Equity Portfolio Construction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