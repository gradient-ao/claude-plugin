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  <ns0:sldId id="283" ns1:id="rId34"/>
    <ns0:sldId id="284" ns1:id="rId35"/>
    <ns0:sldId id="285" ns1:id="rId36"/>
    <ns0:sldId id="286" ns1:id="rId37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Japan</c:v>
                </c:pt>
                <c:pt idx="3">
                  <c:v>Emerging markets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59.0</c:v>
                </c:pt>
                <c:pt idx="1">
                  <c:v>20.0</c:v>
                </c:pt>
                <c:pt idx="2">
                  <c:v>8.0</c:v>
                </c:pt>
                <c:pt idx="3">
                  <c:v>13.0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Active core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24.0</c:v>
                </c:pt>
                <c:pt idx="1">
                  <c:v>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Passive completion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12.0</c:v>
                </c:pt>
                <c:pt idx="1">
                  <c:v>16.0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Emerging markets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6.0</c:v>
                </c:pt>
                <c:pt idx="1">
                  <c:v>6.0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Active core</c:v>
                </c:pt>
                <c:pt idx="1">
                  <c:v>Passive completion</c:v>
                </c:pt>
                <c:pt idx="2">
                  <c:v>Emerging markets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6F432"/>
            </a:solidFill>
          </c:spPr>
          <c:cat>
            <c:strRef>
              <c:f>Sheet1!$A$2:$A$4</c:f>
              <c:strCache>
                <c:ptCount val="3"/>
                <c:pt idx="0">
                  <c:v>Active core</c:v>
                </c:pt>
                <c:pt idx="1">
                  <c:v>Passive completion</c:v>
                </c:pt>
                <c:pt idx="2">
                  <c:v>Emerging markets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</c:v>
                </c:pt>
                <c:pt idx="1">
                  <c:v>4.0</c:v>
                </c:pt>
                <c:pt idx="2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Sheet1!$A$2:$A$4</c:f>
              <c:strCache>
                <c:ptCount val="3"/>
                <c:pt idx="0">
                  <c:v>Active core</c:v>
                </c:pt>
                <c:pt idx="1">
                  <c:v>Passive completion</c:v>
                </c:pt>
                <c:pt idx="2">
                  <c:v>Emerging markets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  <c:pt idx="3">
                  <c:v>Residual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6F432"/>
            </a:solidFill>
          </c:spPr>
          <c:cat>
            <c:strRef>
              <c:f>Sheet1!$A$2:$A$5</c:f>
              <c:strCache>
                <c:ptCount val="4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  <c:pt idx="3">
                  <c:v>Residual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Sheet1!$A$2:$A$5</c:f>
              <c:strCache>
                <c:ptCount val="4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  <c:pt idx="3">
                  <c:v>Residual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0.62</c:v>
                </c:pt>
                <c:pt idx="2">
                  <c:v>0.06</c:v>
                </c:pt>
                <c:pt idx="3">
                  <c:v>0.02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59.0%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23.0%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/>
                      <a:t>18.0%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North America</c:v>
                </c:pt>
                <c:pt idx="1">
                  <c:v>Europe</c:v>
                </c:pt>
                <c:pt idx="2">
                  <c:v>Emerging markets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59.0</c:v>
                </c:pt>
                <c:pt idx="1">
                  <c:v>23.0</c:v>
                </c:pt>
                <c:pt idx="2">
                  <c:v>18.0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FF6B5E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FF6B5E"/>
              </a:solidFill>
            </c:spPr>
          </c:dPt>
          <c:cat>
            <c:strRef>
              <c:f>Sheet1!$A$2:$A$5</c:f>
              <c:strCache>
                <c:ptCount val="4"/>
                <c:pt idx="0">
                  <c:v>Value</c:v>
                </c:pt>
                <c:pt idx="1">
                  <c:v>Quality</c:v>
                </c:pt>
                <c:pt idx="2">
                  <c:v>Momentum</c:v>
                </c:pt>
                <c:pt idx="3">
                  <c:v>Size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-0.18</c:v>
                </c:pt>
                <c:pt idx="1">
                  <c:v>0.31</c:v>
                </c:pt>
                <c:pt idx="2">
                  <c:v>0.22</c:v>
                </c:pt>
                <c:pt idx="3">
                  <c:v>-0.09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7.2%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7.1%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Current ? Expected return</c:v>
                </c:pt>
                <c:pt idx="1">
                  <c:v>Proposed ? Expected return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7.199999999999999</c:v>
                </c:pt>
                <c:pt idx="1">
                  <c:v>7.1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13.0% NAV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15.0% NAV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/>
                      <a:t>2.3% NAV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/>
                      <a:t>3.0% NAV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Largest manager</c:v>
                </c:pt>
                <c:pt idx="1">
                  <c:v>Manager limit</c:v>
                </c:pt>
                <c:pt idx="2">
                  <c:v>Largest issuer</c:v>
                </c:pt>
                <c:pt idx="3">
                  <c:v>Issuer limit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13.0</c:v>
                </c:pt>
                <c:pt idx="1">
                  <c:v>15.0</c:v>
                </c:pt>
                <c:pt idx="2">
                  <c:v>2.3</c:v>
                </c:pt>
                <c:pt idx="3">
                  <c:v>3.0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+7.1%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Baseline expected return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7.1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Why this target</a:t>
            </a:r>
          </a:p>
          <a:p>
            <a:r>
              <a:t>Observation: The target moves 4.0 percentage points from active core to passive completion [S4][S8]. Why it matters: Manager concentration falls while equity exposure remains preserved [S3]. Uncertainty: CMA, regime, findings and cost coverage remain incomplete [S9]. What would change the view: Completed records showing no measurable concentration reduction [S8][S9].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Concentration remains near limits</a:t>
            </a:r>
          </a:p>
          <a:p>
            <a:r>
              <a:t>Observation: The largest manager and issuer look-through remain below but near governed limits [S3][S4][S7]. Why it matters: Completion exposure can reduce reliance on concentrated active mandates. Uncertainty: Issuer look-through evidence is lagged and incomplete [S7]. What would change the view: Refreshed holdings showing concentration safely below policy thresholds [S4][S7].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Risk falls modestly</a:t>
            </a:r>
          </a:p>
          <a:p>
            <a:r>
              <a:t>Observation: The proposed sleeve has lower expected return, volatility and drawdown than the current sleeve [S6]. Why it matters: Completion trades little assumed return for lower modeled risk. Uncertainty: These long-horizon assumptions exclude realized implementation results. What would change the view: Refreshed results showing no measurable modeled-risk improvement [S6].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Concentration shapes implementation</a:t>
            </a:r>
          </a:p>
          <a:p>
            <a:r>
              <a:t>Observation: The largest manager and issuer remain below but near governed limits [S3][S4][S7]. Why it matters: Completion reduces reliance on concentrated active mandates. Uncertainty: Issuer look-through evidence is lagged and incomplete [S7]. What would change the view: Refreshed manager records showing concentration safely below policy thresholds [S4][S7].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GLOBAL PUBLIC EQUITY PORTFOLIO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3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Global Public Equity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73552"/>
            <a:ext cx="9692640" cy="5943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Portfolio construction review · prepared for the Investment Committee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005072"/>
            <a:ext cx="822960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AS 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TOTAL NAV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$1,000.0M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PUBLIC-EQUITY 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42.0%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POLICY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Global Equity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00800"/>
            <a:ext cx="80467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556248"/>
            <a:ext cx="804672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 sample · not client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99032"/>
            <a:ext cx="73152" cy="950645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371600"/>
            <a:ext cx="10588752" cy="63623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Manager and issuer concentration near limits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32557"/>
            <a:ext cx="10908792" cy="186165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2532557"/>
            <a:ext cx="54864" cy="186165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264228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Recommendation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925749"/>
            <a:ext cx="10616184" cy="137701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We recommend retaining the 42.0% total-fund public-equity allocation while moving 4.0 percentage points of the sleeve from concentrated active mandates to a global passive completion mandate [S3][S4][S7]. Committee action requested: approve the target manager structure and phased funding, subject to manager diligence and concentration limits [S3][S8].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03936"/>
            <a:ext cx="2644902" cy="171398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40080" y="4503936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49808" y="463195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PUBLIC-EQUITY WEIGHT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88798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42.0%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Policy target 42.0% [S3]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94710" y="4503936"/>
            <a:ext cx="2644902" cy="171398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3394710" y="4503936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3504438" y="463195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ACTIVE WEIGHT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4438" y="488798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0.0pp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443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Total-fund target [S3]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4503936"/>
            <a:ext cx="2644902" cy="171398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Rectangle 23"/>
          <p:cNvSpPr/>
          <p:nvPr/>
        </p:nvSpPr>
        <p:spPr>
          <a:xfrm>
            <a:off x="6149340" y="4503936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259068" y="463195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RELATIVE 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9068" y="488798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-0.6pp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906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Trailing 1Y versus benchmark [S5]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03970" y="4503936"/>
            <a:ext cx="2644902" cy="171398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8903970" y="4503936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9013698" y="463195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LARGEST CONCENTRATION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3698" y="488798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2.3% NAV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369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Largest issuer; lagged 13F look-through [S7]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S5 · S7 · S8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Decision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91240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912407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Recommendation and action requested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42777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We recommend moving 4.0 percentage points of the equity sleeve from concentrated active mandates to a global passive completion mandate. Committee action requested: approve the target lineup and phased funding [S3][S4][S8].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48015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DECISION SUMMARY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2622335"/>
          <a:ext cx="10908792" cy="1395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48958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Decision element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4895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Total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Retain 42.0% of total fund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4895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Active core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Reduce from 57.1% to 47.6% of equity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[S4][S8]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Proposed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4896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Passive completion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Increase from 28.6% to 38.1%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[S4][S8]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Proposed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4127899"/>
            <a:ext cx="10908792" cy="85103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40080" y="4127899"/>
            <a:ext cx="54864" cy="85103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04671" y="423762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Conditions and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521091"/>
            <a:ext cx="10616184" cy="36640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Complete manager comparison and diligence, confirm transition costs, and preserve governed manager and issuer concentration limits [S3][S7][S8].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088662"/>
            <a:ext cx="10908792" cy="112925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640080" y="5088662"/>
            <a:ext cx="54864" cy="112925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04671" y="519839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Concentration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5481854"/>
            <a:ext cx="10616184" cy="64462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Manager and issuer concentration sit near their limits [S1]. Why it matters: Moving 4.0pp to a passive completion mandate reduces both. Uncertainty: Transition costs are not yet confirmed. What would change the view: Costs that outweigh the concentration benefit.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S3 · S4 · S7 · S8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Decision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244149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244149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Sleeve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195686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Public equity is 42.0% of total NAV [S2]. Why it matters: The 4.0pp shift stays inside the sleeve and leaves the total weight unchanged. Uncertainty: The weight moves with equity markets before funding. What would change the view: A drift of more than 2pp before implementation.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77104"/>
            <a:ext cx="10908792" cy="234081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3877104"/>
            <a:ext cx="54864" cy="2340815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3986832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Largest issuer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270296"/>
            <a:ext cx="10616184" cy="185618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largest single-issuer exposure is 2.3% of NAV [S3]. Why it matters: It is the position closest to the concentration limit. Uncertainty: Look-through holdings are as of the last 13F filing. What would change the view: A newer filing that changes the top position.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 · 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Mandate, Benchmark and Data Basis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2977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Northstar Total Fund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Mandate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Global public-equity growth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Northstar Global Equity Index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 years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 basis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Net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 [S1]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413057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FRAMEWORK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4687377"/>
          <a:ext cx="10908792" cy="1530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8263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Area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Objective or limit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Observed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8263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Public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32.0%–52.0%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63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Single manager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 or below 15.0% NAV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Near limit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263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Single issuer look-through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 or below 3.0% NAV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Near limit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 · 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Current Global Public Equity Portfolio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PUBLIC-EQUITY REGIONAL EXPOSURE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Current Global Public Equity Portfolio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SLEEVE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0" cy="32253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64507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/ exposure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% portfolio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% equity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4507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Active Global Manager 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Active 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$150.0M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35.7%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507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Active Global Manager 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Active core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$90.0M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21.4%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4507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Global Index Fund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Passive completion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$120.0M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28.6%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507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Emerging Manager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Emerging markets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$60.0M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14.3%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935307"/>
            <a:ext cx="10908792" cy="128261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Manager roles are from the illustrative mandate; regional weights are returned portfolio analytics and retain their stated basis [S4][S8].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 · 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Portfolio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WEIGHT VERSUS POLICY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36776"/>
            <a:ext cx="1828800" cy="14935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Active 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1205" y="2185111"/>
            <a:ext cx="4507626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Oval 10"/>
          <p:cNvSpPr/>
          <p:nvPr/>
        </p:nvSpPr>
        <p:spPr>
          <a:xfrm>
            <a:off x="9805294" y="2061972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8441192" y="1908048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3176016"/>
            <a:ext cx="1828800" cy="14935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Passive completion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7503" y="3724351"/>
            <a:ext cx="3467404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Oval 14"/>
          <p:cNvSpPr/>
          <p:nvPr/>
        </p:nvSpPr>
        <p:spPr>
          <a:xfrm>
            <a:off x="5644408" y="3601212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054230" y="3447288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4715256"/>
            <a:ext cx="1828800" cy="14935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Emerging markets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5263591"/>
            <a:ext cx="1733702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Oval 18"/>
          <p:cNvSpPr/>
          <p:nvPr/>
        </p:nvSpPr>
        <p:spPr>
          <a:xfrm>
            <a:off x="3563965" y="5140452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3586825" y="4986528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Portfolio Structure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AND TARGET MIX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Portfolio Structure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TARGET ALLOCATION CHANGES (PERCENTAGE POINTS)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Portfolio Structure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VERSUS TARGET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0" cy="1714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42853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Change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Range / constraint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Rationale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2853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Active 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-4.0pp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15.0%–28.0%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Reduce manager concentration 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853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Passive completion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16.0%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+4.0pp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10.0%–20.0%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Improve benchmark completion [S5][S8]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28541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Emerging markets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3.0%–8.0%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Maintain strategic exposure [S3][S6]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3424086"/>
            <a:ext cx="10908792" cy="179752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3424086"/>
            <a:ext cx="54864" cy="179752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353381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Why this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817278"/>
            <a:ext cx="10616184" cy="131289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target moves 4.0 percentage points from active core to passive completion [S4][S8]. Why it matters: Manager concentration falls while equity exposure remains preserved [S3]. Uncertainty: CMA…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31337"/>
            <a:ext cx="10908792" cy="88658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target is a committee proposal and is not a saved portfolio change [S3][S8].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S5 · S6 · S8 · S9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Performance and Attribution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ATTRIBUTION EFFECTS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Performance and Attribution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STANDARD PERIODS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4806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70173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/ sleeve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Excess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0173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1Y equity sleeve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-0.6pp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173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3Y equity sleeve (ann.)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9.4%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+0.3pp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701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5Y equity sleeve (ann.)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-0.3pp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190621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ATTRIBUTION EFFECTS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464941"/>
          <a:ext cx="10908792" cy="186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37215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Effect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Contribution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215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+0.10pp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215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Selection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-0.62pp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7215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Interaction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-0.06pp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215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Residual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-0.02pp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435429"/>
            <a:ext cx="10908792" cy="78249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attribution method and reconciliation metadata follow [S5].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Performance and Attribution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Method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Brinson-Fachler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Linking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Symmetric Carino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Net, monthly linked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Tolerance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 bp; degraded residual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COMPLETION EXPOSURE REDUCES RELIANCE ON CONCENTRATED ACTIVE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Factor Exposures and Concentration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REGIONAL ALLOCATION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COMPLETION EXPOSURE REDUCES RELIANCE ON CONCENTRATED ACTIVE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Factor Exposures and Concentration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ACTIVE FACTOR EXPOSURE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COMPLETION EXPOSURE REDUCES RELIANCE ON CONCENTRATED ACTIVE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Factor Exposures and Concentration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CONCENTRATION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640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1007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Axis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Observed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Limit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1007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Largest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13.0% NAV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Near limit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007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Largest issuer look-through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2.3% NAV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Near limit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1007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 America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59.0% of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3350232"/>
            <a:ext cx="10908792" cy="178235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3350232"/>
            <a:ext cx="54864" cy="1782354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345996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Concentration remains near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743424"/>
            <a:ext cx="10616184" cy="129772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largest manager and issuer look-through remain below but near governed limits [S3][S4][S7]. Why it matters: Completion exposure can reduce reliance on concentrated active mandates. Uncertainty: Issuer…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242315"/>
            <a:ext cx="10908792" cy="97560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640080" y="5242315"/>
            <a:ext cx="54864" cy="97560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04671" y="535204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Look-through limitation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5635507"/>
            <a:ext cx="10616184" cy="49097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issuer concentration uses lagged Form 13F evidence and does not represent a complete holdings record [S7].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FORWARD EXPECTED-RETURN COMPARISON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Assumption set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 Strategic CMA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Regime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Baseline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 years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Context fingerprint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test-equity-forward-2026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GLOBAL EQUITY FORWARD ASSUMPTIONS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115443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Measure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Current sleeve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sleeve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volatility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16.8%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15.7%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max drawdown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-28.5%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-26.6%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322528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322528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Risk falls modestly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274064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proposed sleeve has lower expected return, volatility and drawdown than the current sleeve [S6]. Why it matters: Completion trades little assumed return for lower modeled risk…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0888"/>
            <a:ext cx="10908792" cy="155703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These figures are assumptions under the selected context, not forecasts or guarantees [S6].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CONCENTRATION LIMITS SHAPE MANAGER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Manager and Issuer Concentration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LARGEST GOVERNED CONCENTRATIONS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CONCENTRATION LIMITS SHAPE MANAGER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Manager and Issuer Concentration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AND PROPOSED ROLES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0" cy="115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28960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 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Next step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8960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Active Global Manager 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Active 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15.0% NAV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Current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Reduce by 2.5pp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Review funding schedule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8960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Active Global Manager 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Active core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9.0% NAV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Current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Reduce by 1.5pp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performance review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8960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Global Index Fund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Passive completion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12.0% NAV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Current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Increase by 4.0pp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Confirm vehicle terms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2868344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LOOK-THROUGH FLAGS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142664"/>
          <a:ext cx="10908790" cy="8481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28271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Issuer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Look-through value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% NAV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 date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Flag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8271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Technology Issuer 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$23.0M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2026-05-15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Near policy watch level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8271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Consumer Issuer 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$15.0M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2026-05-15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Monitor overlap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4100535"/>
            <a:ext cx="10908792" cy="73707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4100535"/>
            <a:ext cx="54864" cy="737076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421026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Form 13F caveat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493727"/>
            <a:ext cx="10616184" cy="25244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Form 13F evidence is lagged by up to 45 days, covers long-only US-listed equity, excludes shorts, cash, non-US listings and private assets, and uses USD filing values that are not FX-converted against NAV [S7].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947340"/>
            <a:ext cx="10908792" cy="127057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40080" y="4947340"/>
            <a:ext cx="54864" cy="1270579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04671" y="505706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Concentration shapes implementation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5340532"/>
            <a:ext cx="10616184" cy="78594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largest manager and issuer remain below but near governed limits [S3][S4][S7]. Why it matters: Completion reduces reliance on concentrated active mandates. Uncertainty: Issuer look-through evidence is…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S7 · S8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Scenarios and Robustness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SCENARIO RESULTS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Scenarios and Robustness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SUPPORTED SCENARIOS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2893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72342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Scenario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 / loss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Risk measure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2342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Baseline 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7.1% expected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15.7% volatility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sleeve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2342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Alternative regime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 — no comparable returned context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[S9]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2342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Tracking-error scenario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 — active-risk result not returned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[S9]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4603637"/>
            <a:ext cx="10908792" cy="161428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4603637"/>
            <a:ext cx="54864" cy="161428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471336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Selected-series sandbox — not saved-portfolio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4996829"/>
            <a:ext cx="10616184" cy="112965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no Strategy Lab return series selected [S9].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 · S9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Implementation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IMPLEMENTATION STEPS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0" cy="1117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37242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Phase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Size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Funding 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Condition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242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 passive completion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Active-manager redemption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Vehicle and liquidity confirmed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242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target shift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Active-manager redemption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Diligence and transition costs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282720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ALTERNATIVES CONSIDERED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101520"/>
          <a:ext cx="10908792" cy="1117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7242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Alternative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Benefit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Cost / risk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Reason not selected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242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change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turnover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Concentration persists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Does not address watch items [S3][S7]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242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Replace all active core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Maximum simplification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and transition risk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 does not support full replacement [S5][S8]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328521"/>
            <a:ext cx="10908792" cy="188939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Complete manager comparison and diligence before final funding [S8].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Confirm transition costs before implementation [S9].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Refresh governed concentration and attribution after phase one [S3][S5].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S5 · S7 · S8 · S9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Risks, Open Items and Approvals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DECISION RISKS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2116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2920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Priority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Mitigation / condition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coverage is incomplete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Lagged long-only evidence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Use as a concentration flag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Selection shortfall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-0.62pp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Stage funding and monitor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Transition costs unavailable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Coverage gap [S9]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Obtain estimates before phase two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Operations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826763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OPEN ITEMS AND APPROVALS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4101083"/>
          <a:ext cx="10908792" cy="2116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2920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Timing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Required 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Before approval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Confirm passive vehicle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Terms and liquidity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Within 30 days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Transition-cost estimate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/ custodian estimate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Operations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[S9]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Next 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Refresh look-through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Latest 13F period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Research team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 · S7 · S8 · S9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37631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63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and 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63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 and concentration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763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and regional rows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63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Incomplete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Residual outside tolerance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763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Forward 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 Strategic CMA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63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look-through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Incomplete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Lagged and incomplete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763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evidence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mandate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63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Scenario and cost evidence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returned [S9]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763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CMA consensus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Optional context not returned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63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Strategy Lab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selected series [S9]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763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diligence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Optional diligence not returned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6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Transaction costs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returned [S9]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 · S3 · S4 · S5 · S6 · S7 · S8 · S9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690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6908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Check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6908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Organization and 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list_organizations; get_gradient_capabilities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6908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and allocation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list_portfolios; get_portfolio_structure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6908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check_portfolio_policy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6908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Public-equity 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get_portfolio_exposure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6908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get_portfolio_historical_returns; get_portfolio_attribution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Incomplete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6908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Forward assumptions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get_capital_market_assumptions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2026-06-15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6908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look-through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get_portfolio_exposure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2026-05-15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Advisory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6908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mandate evidence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get_gradient_capabilities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6908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Scenario and cost coverage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get_gradient_capabilities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Advisory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03504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managers. All organizations, portfolios, managers and results in this public example are illustrative.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 · S8 · S9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SOURCE AUDIT TRAIL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4416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4165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Key parameters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4165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organization=test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65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allocation_tree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4165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portfolio=test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65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public_equity; allocations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4165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 sections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65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baseline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4165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include=lookthrough_13f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65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4165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03504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Data scope for every source: Illustrative sample data. Each digest is the SHA-256 fingerprint of the exact data the report used.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 · S8 · S9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Server Metric Methods and Disclosures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SERVER METRIC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2116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70561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Quantity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Method / formula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Version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 / units / tolerance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0561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portfolio-policy-v1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Returned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0561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Linked returns; Brinson-Fachler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portfolio-attribution-v1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Net; 1 bp tolerance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826763"/>
            <a:ext cx="10908792" cy="239115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Forward values are assumptions, not forecasts [S6]; Form 13F limits are set out in the caveat above [S7].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Strategy Lab results are calculated separately. AI-assisted; not investment, legal or compliance advice.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S5 · S6 · S7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Global Public Equity Portfolio</dc:title>
  <dc:subject>Global Public Equity Portfolio Construction</dc:subject>
  <dc:creator>GradientCIO</dc:creator>
  <cp:keywords>Gradient report theme 2.3.0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