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North America</c:v>
                </c:pt>
                <c:pt idx="1">
                  <c:v>Europe</c:v>
                </c:pt>
                <c:pt idx="2">
                  <c:v>Japan</c:v>
                </c:pt>
                <c:pt idx="3">
                  <c:v>Emerging markets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59.0</c:v>
                </c:pt>
                <c:pt idx="1">
                  <c:v>20.0</c:v>
                </c:pt>
                <c:pt idx="2">
                  <c:v>8.0</c:v>
                </c:pt>
                <c:pt idx="3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Active core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24.0</c:v>
                </c:pt>
                <c:pt idx="1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Passive completion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12.0</c:v>
                </c:pt>
                <c:pt idx="1">
                  <c:v>16.0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Emerging markets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6.0</c:v>
                </c:pt>
                <c:pt idx="1">
                  <c:v>6.0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4.0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0.62</c:v>
                </c:pt>
                <c:pt idx="2">
                  <c:v>0.06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23.0%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North America</c:v>
                </c:pt>
                <c:pt idx="1">
                  <c:v>Europe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59.0</c:v>
                </c:pt>
                <c:pt idx="1">
                  <c:v>23.0</c:v>
                </c:pt>
                <c:pt idx="2">
                  <c:v>18.0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FF6B5E"/>
              </a:solidFill>
            </c:spPr>
          </c:dPt>
          <c:cat>
            <c:strRef>
              <c:f>Sheet1!$A$2:$A$5</c:f>
              <c:strCache>
                <c:ptCount val="4"/>
                <c:pt idx="0">
                  <c:v>Value</c:v>
                </c:pt>
                <c:pt idx="1">
                  <c:v>Quality</c:v>
                </c:pt>
                <c:pt idx="2">
                  <c:v>Momentum</c:v>
                </c:pt>
                <c:pt idx="3">
                  <c:v>Size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-0.18</c:v>
                </c:pt>
                <c:pt idx="1">
                  <c:v>0.31</c:v>
                </c:pt>
                <c:pt idx="2">
                  <c:v>0.22</c:v>
                </c:pt>
                <c:pt idx="3">
                  <c:v>-0.09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7.2%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7.1%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Expected return</c:v>
                </c:pt>
                <c:pt idx="1">
                  <c:v>Proposed ? Expected return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7.199999999999999</c:v>
                </c:pt>
                <c:pt idx="1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13.0%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15.0%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2.3%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3.0%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Largest manager</c:v>
                </c:pt>
                <c:pt idx="1">
                  <c:v>Manager limit</c:v>
                </c:pt>
                <c:pt idx="2">
                  <c:v>Largest issuer</c:v>
                </c:pt>
                <c:pt idx="3">
                  <c:v>Issuer limit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13.0</c:v>
                </c:pt>
                <c:pt idx="1">
                  <c:v>15.0</c:v>
                </c:pt>
                <c:pt idx="2">
                  <c:v>2.3</c:v>
                </c:pt>
                <c:pt idx="3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+7.1%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moves 4.0 percentage points from active core to passive completion [S4][S8]. Why it matters: Manager concentration falls while equity exposure remains preserved [S3]. Uncertainty: CMA, regime, findings and cost coverage remain incomplete [S9]. What would change the view: Completed records showing no measurable concentration reduction [S8][S9].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near limits</a:t>
            </a:r>
          </a:p>
          <a:p>
            <a:r>
              <a:t>Observation: The largest manager and issuer look-through remain below but near governed limits [S3][S4][S7]. Why it matters: Completion exposure can reduce reliance on concentrated active mandates. Uncertainty: Issuer look-through evidence is lagged and incomplete [S7]. What would change the view: Refreshed holdings showing concentration safely below policy thresholds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falls modestly</a:t>
            </a:r>
          </a:p>
          <a:p>
            <a:r>
              <a:t>Observation: The proposed sleeve has lower expected return, volatility and drawdown than the current sleeve [S6]. Why it matters: Completion trades little assumed return for lower modeled risk. Uncertainty: These long-horizon assumptions exclude realized implementation results. What would change the view: Refreshed results showing no measurable modeled-risk improvement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shapes implementation</a:t>
            </a:r>
          </a:p>
          <a:p>
            <a:r>
              <a:t>Observation: The largest manager and issuer remain below but near governed limits [S3][S4][S7]. Why it matters: Completion reduces reliance on concentrated active mandates. Uncertainty: Issuer look-through evidence is lagged and incomplete [S7]. What would change the view: Refreshed manager records showing concentration safely below policy thresholds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GLOBAL PUBLIC EQUITY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Global Public Equity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PUBLIC-EQUITY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42.0%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Global Equity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95064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63623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 near limits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32557"/>
            <a:ext cx="10908792" cy="186165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532557"/>
            <a:ext cx="54864" cy="186165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64228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925749"/>
            <a:ext cx="10616184" cy="13770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42.0% total-fund public-equity allocation while moving 4.0 percentage points of the sleeve from concentrated active mandates to a global passive completion mandate [S3][S4][S7]. Committee action requested: approve the target manager structure and phased funding, subject to manager diligence and concentration limits [S3][S8].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503936"/>
            <a:ext cx="2644902" cy="17139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50393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63195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PUBLIC-EQUITY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88798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42.0%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503936"/>
            <a:ext cx="2644902" cy="17139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50393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63195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88798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503936"/>
            <a:ext cx="2644902" cy="17139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50393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63195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88798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503936"/>
            <a:ext cx="2644902" cy="17139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50393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63195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CONCENTRATION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88798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2.3% NAV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issuer; lagged 13F look-through [S7]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9124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912407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2777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moving 4.0 percentage points of the equity sleeve from concentrated active mandates to a global passive completion mandate. Committee action requested: approve the target lineup and phased funding [S3][S4][S8].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4801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622335"/>
          <a:ext cx="10908792" cy="13958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895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895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Retain 42.0%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895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57.1% to 47.6% of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896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28.6% to 38.1%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127899"/>
            <a:ext cx="10908792" cy="85103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127899"/>
            <a:ext cx="54864" cy="85103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23762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521091"/>
            <a:ext cx="10616184" cy="36640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Complete manager comparison and diligence, confirm transition costs, and preserve governed manager and issuer concentration limits [S3][S7][S8].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88662"/>
            <a:ext cx="10908792" cy="11292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5088662"/>
            <a:ext cx="54864" cy="112925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519839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Concentration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481854"/>
            <a:ext cx="10616184" cy="6446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Manager and issuer concentration sit near their limits [S1]. Why it matters: Moving 4.0pp to a passive completion mandate reduces both. Uncertainty: Transition costs are not yet confirmed. What would change the view: Costs that outweigh the concentration benefit.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4414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44149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Sleeve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95686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 equity is 42.0% of total NAV [S2]. Why it matters: The 4.0pp shift stays inside the sleeve and leaves the total weight unchanged. Uncertainty: The weight moves with equity markets before funding. What would change the view: A drift of more than 2pp before implementation.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77104"/>
            <a:ext cx="10908792" cy="234081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77104"/>
            <a:ext cx="54864" cy="234081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98683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Largest issuer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270296"/>
            <a:ext cx="10616184" cy="18561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single-issuer exposure is 2.3% of NAV [S3]. Why it matters: It is the position closest to the concentration limit. Uncertainty: Look-through holdings are as of the last 13F filing. What would change the view: A newer filing that changes the top position.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public-equity growth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Global Equity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32.0%–52.0%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15.0%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issuer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Global Public Equity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PUBLIC-EQUITY REGIONAL EXPOSURE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Global Public Equity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225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4507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Index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Emerging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935307"/>
            <a:ext cx="10908792" cy="12826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roles are from the illustrative mandate; regional weights are returned portfolio analytics and retain their stated basis [S4][S8].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core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1205" y="2185111"/>
            <a:ext cx="450762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805294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8441192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Passive completion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7503" y="3724351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5644408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7054230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Emerging markets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5263591"/>
            <a:ext cx="173370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3563965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586825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714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2853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85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manager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85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+4.0pp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Improve benchmark completion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85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strategic exposure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24086"/>
            <a:ext cx="10908792" cy="17975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424086"/>
            <a:ext cx="54864" cy="179752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5338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17278"/>
            <a:ext cx="10616184" cy="13128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moves 4.0 percentage points from active core to passive completion [S4][S8]. Why it matters: Manager concentration falls while equity exposure remains preserved [S3]. Uncertainty: CMA…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31337"/>
            <a:ext cx="10908792" cy="88658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S8 · S9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4806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701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equity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01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9062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464941"/>
          <a:ext cx="10908792" cy="186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21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435429"/>
            <a:ext cx="10908792" cy="7824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degraded residual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REGIONAL ALLOCATION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FACTOR EXPOSURE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640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1007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100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0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00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 America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59.0% of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350232"/>
            <a:ext cx="10908792" cy="178235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350232"/>
            <a:ext cx="54864" cy="178235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4599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remains near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743424"/>
            <a:ext cx="10616184" cy="12977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and issuer look-through remain below but near governed limits [S3][S4][S7]. Why it matters: Completion exposure can reduce reliance on concentrated active mandates. Uncertainty: Issuer…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42315"/>
            <a:ext cx="10908792" cy="9756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242315"/>
            <a:ext cx="54864" cy="9756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3520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Look-through limitation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635507"/>
            <a:ext cx="10616184" cy="4909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issuer concentration uses lagged Form 13F evidence and does not represent a complete holdings record 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test-equity-forward-2026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GLOBAL EQUITY FORWARD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2252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2252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Risk falls modestly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7406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proposed sleeve has lower expected return, volatility and drawdown than the current sleeve [S6]. Why it matters: Completion trades little assumed return for lower modeled risk…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0888"/>
            <a:ext cx="10908792" cy="15570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LIMITS SHAPE MANAGER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GOVERNED CONCENTRATIONS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LIMITS SHAPE MANAGER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PROPOSED ROLES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15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96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96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by 2.5pp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Review funding schedule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96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by 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performance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896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Index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by 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vehicle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6834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LOOK-THROUGH FLAGS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142664"/>
          <a:ext cx="10908790" cy="8481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27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Look-through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271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Technology Issuer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 policy watch level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271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Consumer Issuer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overlap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4100535"/>
            <a:ext cx="10908792" cy="737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100535"/>
            <a:ext cx="54864" cy="73707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21026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caveat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493727"/>
            <a:ext cx="10616184" cy="2524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Form 13F evidence is lagged by up to 45 days, covers long-only US-listed equity, excludes shorts, cash, non-US listings and private assets, and uses USD filing values that are not FX-converted against NAV [S7].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47340"/>
            <a:ext cx="10908792" cy="127057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947340"/>
            <a:ext cx="54864" cy="127057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505706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shapes implementation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340532"/>
            <a:ext cx="10616184" cy="7859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and issuer remain below but near governed limits [S3][S4][S7]. Why it matters: Completion reduces reliance on concentrated active mandates. Uncertainty: Issuer look-through evidence is…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15.7%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comparable returned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Tracking-error scenario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active-risk result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Vehicle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target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transition costs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2720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101520"/>
          <a:ext cx="10908792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 persists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items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Replace all 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simplification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and transition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does not support full replacement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328521"/>
            <a:ext cx="10908792" cy="18893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Complete manager comparison and diligence before final funding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transition costs before implementation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governed concentration and attribution after phase one [S3][S5].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S7 · S8 · S9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coverage is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long-only evidence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as a concentration flag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 shortfall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-0.62pp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funding and monitor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 costs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gap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Obtain estimates before phase two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passive vehicle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and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custodian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S7 · S8 · 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63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and regional rows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 outside tolerance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and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mandate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cost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diligence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6908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Public-equity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mandate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cost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416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public_equity; allocations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include=lookthrough_13f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056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56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56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[S6]; Form 13F limits are set out in the caveat above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Strategy Lab results are calculated separately. AI-assisted;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Global Public Equity Portfolio</dc:title>
  <dc:subject>Global Public Equity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