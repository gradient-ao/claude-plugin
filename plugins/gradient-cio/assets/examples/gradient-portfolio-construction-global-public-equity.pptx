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Emerging markets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59.0</c:v>
                </c:pt>
                <c:pt idx="1">
                  <c:v>20.0</c:v>
                </c:pt>
                <c:pt idx="2">
                  <c:v>8.0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core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24.0</c:v>
                </c:pt>
                <c:pt idx="1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Passive completion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12.0</c:v>
                </c:pt>
                <c:pt idx="1">
                  <c:v>16.0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Emerging markets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6.0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4.0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0.62</c:v>
                </c:pt>
                <c:pt idx="2">
                  <c:v>0.06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59.0</c:v>
                </c:pt>
                <c:pt idx="1">
                  <c:v>23.0</c:v>
                </c:pt>
                <c:pt idx="2">
                  <c:v>18.0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FF6B5E"/>
              </a:solidFill>
            </c:spPr>
          </c:dPt>
          <c:cat>
            <c:strRef>
              <c:f>Sheet1!$A$2:$A$5</c:f>
              <c:strCache>
                <c:ptCount val="4"/>
                <c:pt idx="0">
                  <c:v>Value</c:v>
                </c:pt>
                <c:pt idx="1">
                  <c:v>Quality</c:v>
                </c:pt>
                <c:pt idx="2">
                  <c:v>Momentum</c:v>
                </c:pt>
                <c:pt idx="3">
                  <c:v>Size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-0.18</c:v>
                </c:pt>
                <c:pt idx="1">
                  <c:v>0.31</c:v>
                </c:pt>
                <c:pt idx="2">
                  <c:v>0.22</c:v>
                </c:pt>
                <c:pt idx="3">
                  <c:v>-0.09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Expected return</c:v>
                </c:pt>
                <c:pt idx="1">
                  <c:v>Proposed ? Expected return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7.199999999999999</c:v>
                </c:pt>
                <c:pt idx="1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15.0%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2.3%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3.0% NAV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Largest manager</c:v>
                </c:pt>
                <c:pt idx="1">
                  <c:v>Manager limit</c:v>
                </c:pt>
                <c:pt idx="2">
                  <c:v>Largest issuer</c:v>
                </c:pt>
                <c:pt idx="3">
                  <c:v>Issuer limit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13.0</c:v>
                </c:pt>
                <c:pt idx="1">
                  <c:v>15.0</c:v>
                </c:pt>
                <c:pt idx="2">
                  <c:v>2.3</c:v>
                </c:pt>
                <c:pt idx="3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moves 4.0 percentage points from active core to passive completion [S4][S8]. Why it matters: Manager concentration falls while equity exposure remains preserved [S3]. Uncertainty: CMA, regime, findings and cost coverage remain incomplete [S9]. What would change the view: Completed records showing no measurable concentration reduction [S8][S9].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near limits</a:t>
            </a:r>
          </a:p>
          <a:p>
            <a:r>
              <a:t>Observation: The largest manager and issuer look-through remain below but near governed limits [S3][S4][S7]. Why it matters: Completion exposure can reduce reliance on concentrated active mandates. Uncertainty: Issuer look-through evidence is lagged and incomplete [S7]. What would change the view: Refreshed holdings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falls modestly</a:t>
            </a:r>
          </a:p>
          <a:p>
            <a:r>
              <a:t>Observation: The proposed sleeve has lower expected return, volatility and drawdown than the current sleeve [S6]. Why it matters: Completion trades little assumed return for lower modeled risk. Uncertainty: These long-horizon assumptions exclude realized implementation results. What would change the view: Refreshed results showing no measurable modeled-risk improvement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shapes implementation</a:t>
            </a:r>
          </a:p>
          <a:p>
            <a:r>
              <a:t>Observation: The largest manager and issuer remain below but near governed limits [S3][S4][S7]. Why it matters: Completion reduces reliance on concentrated active mandates. Uncertainty: Issuer look-through evidence is lagged and incomplete [S7]. What would change the view: Refreshed manager records showing concentration safely below policy thresholds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GLOBAL PUBLIC EQUITY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Public Equity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Global Equity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 of 10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2639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2639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7793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42.0% total-fund public-equity allocation while moving 4.0 percentage points of the sleeve from concentrated active mandates to a global passive completion mandate [S3][S4][S7]. Committee action requested: approve the target manager structure and phased funding, subject to manager diligence and concentration limits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42.0%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CONCENTRATION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2.3% NAV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issuer; lagged 13F look-through [S7]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667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6678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821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moving 4.0 percentage points of the equity sleeve from concentrated active mandates to a global passive completion mandate. Committee action requested: approve the target lineup and phased funding [S3][S4][S8].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0239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76712"/>
          <a:ext cx="10908792" cy="1365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12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Retain 42.0%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57.1% to 47.6% of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28.6% to 38.1%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151563"/>
            <a:ext cx="10908792" cy="783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151563"/>
            <a:ext cx="54864" cy="7831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2612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544755"/>
            <a:ext cx="10616184" cy="298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 manager comparison and diligence, confirm transition costs, and preserve governed manager and issuer concentration limits [S3][S7][S8].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44464"/>
            <a:ext cx="10908792" cy="11734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044464"/>
            <a:ext cx="54864" cy="117345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15419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437656"/>
            <a:ext cx="10616184" cy="6888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manager-and-issuer 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602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6025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756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weight is 42.0%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95863"/>
            <a:ext cx="10908792" cy="2622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95863"/>
            <a:ext cx="54864" cy="26220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7055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89055"/>
            <a:ext cx="10616184" cy="21374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Largest concentration is 2.3% NAV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public-equity growth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Global Equity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32.0%–52.0%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issuer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PUBLIC-EQUITY REGIONAL EXPOSURE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Global Public Equity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515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03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Emerging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225739"/>
            <a:ext cx="10908792" cy="9921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roles are from the illustrative mandate; regional weights are returned portfolio analytics and retain their stated basis [S4][S8].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Active 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8790" y="2185111"/>
            <a:ext cx="1740761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4987357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4474598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17601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Passive completion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49266" y="3724351"/>
            <a:ext cx="133904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3380500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938979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4715256"/>
            <a:ext cx="1480413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Emerging markets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1933" y="5263591"/>
            <a:ext cx="66952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2577071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2599931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2174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435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manager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+4.0pp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Improve benchmark completion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60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strategic exposure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884327"/>
            <a:ext cx="10908792" cy="1444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84327"/>
            <a:ext cx="54864" cy="14440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940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77519"/>
            <a:ext cx="10616184" cy="959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moves 4.0 percentage points from active core to passive completion [S4][S8]. Why it matters: Manager concentration falls while equity exposure remains preserved [S3]. Uncertainty: CMA…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38072"/>
            <a:ext cx="10908792" cy="779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S8 · S9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68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222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equity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22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222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7881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53133"/>
          <a:ext cx="10908792" cy="1968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36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6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630911"/>
            <a:ext cx="10908792" cy="5870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degraded residual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REGIONAL ALLOCATION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FACTOR EXPOSURE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985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64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45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 America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59.0% of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695723"/>
            <a:ext cx="10908792" cy="13327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695723"/>
            <a:ext cx="54864" cy="13327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054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near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88915"/>
            <a:ext cx="10616184" cy="8481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look-through remain below but near governed limits [S3][S4][S7]. Why it matters: Completion exposure can reduce reliance on concentrated active mandates. Uncertainty: Issuer…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38247"/>
            <a:ext cx="10908792" cy="1079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138247"/>
            <a:ext cx="54864" cy="10796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2479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531439"/>
            <a:ext cx="10616184" cy="595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issuer concentration uses lagged Form 13F evidence and does not represent a complete holdings record [S7].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test-equity-forward-2026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EQUITY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094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73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3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7362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0441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804410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914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Risk falls modestly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197601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sleeve has lower expected return, volatility and drawdown than the current sleeve [S6]. Why it matters: Completion trades little assumed return for lower modeled risk…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GOVERNED CONCENTRATIONS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LIMITS SHAPE MANAGER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and Issuer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265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4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2.5pp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funding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4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Active Global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by 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performance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Global Index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by 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vehicle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97563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LOOK-THROUGH FLAGS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249953"/>
          <a:ext cx="10908790" cy="932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073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Look-through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07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Technology Issuer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 policy watch level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73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Consumer Issuer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overlap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291877"/>
            <a:ext cx="10908792" cy="9081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291877"/>
            <a:ext cx="54864" cy="90815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4016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caveat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685069"/>
            <a:ext cx="10616184" cy="4235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evidence is lagged by up to 45 days, covers long-only US-listed equity, excludes shorts, cash, non-US listings and private assets, and uses USD filing values that are not FX-converted against NAV [S7].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309762"/>
            <a:ext cx="10908792" cy="9081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5309762"/>
            <a:ext cx="54864" cy="90815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54194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shapes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702954"/>
            <a:ext cx="10616184" cy="4235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and issuer remain below but near governed limits [S3][S4][S7]. Why it matters: Completion reduces reliance on concentrated active mandates. Uncertainty: Issuer look-through evidence is…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15.7%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comparable returned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Tracking-error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active-risk result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Vehicle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target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transition costs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8257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56894"/>
          <a:ext cx="10908792" cy="14726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4908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persists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items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08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Replace all 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simplification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transition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does not support full replacement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039269"/>
            <a:ext cx="10908792" cy="1178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Complete manager comparison and diligence before final funding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transition costs before implementation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governed concentration and attribution after phase one [S3][S5].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S7 · S8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coverage is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long-only evidence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as a concentration flag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 shortfall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-0.62pp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funding and monitor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 costs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gap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Obtain estimates before phase two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passive vehicle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custodian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Research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S7 ·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and regional rows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outside tolerance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and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mandate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diligence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public_equity; allocations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mandate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cost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12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3748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374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748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22376"/>
            <a:ext cx="10908792" cy="22955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evidence has the stated lag, coverage and FX limitations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Global Public Equity Portfolio</dc:title>
  <dc:subject>Global Public Equity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