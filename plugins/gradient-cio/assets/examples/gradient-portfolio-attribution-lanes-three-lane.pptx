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 id="274" ns1:id="rId25"/>
    <ns0:sldId id="275" ns1:id="rId26"/>
    <ns0:sldId id="276" ns1:id="rId27"/>
    <ns0:sldId id="277" ns1:id="rId28"/>
    <ns0:sldId id="278" ns1:id="rId29"/>
    <ns0:sldId id="279" ns1:id="rId30"/>
    <ns0:sldId id="280" ns1:id="rId31"/>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Sheet1!$A$2:$A$5</c:f>
              <c:strCache>
                <c:ptCount val="4"/>
                <c:pt idx="0">
                  <c:v>Allocation</c:v>
                </c:pt>
                <c:pt idx="1">
                  <c:v>Selection</c:v>
                </c:pt>
                <c:pt idx="2">
                  <c:v>Interaction</c:v>
                </c:pt>
                <c:pt idx="3">
                  <c:v>Total</c:v>
                </c:pt>
              </c:strCache>
            </c:strRef>
          </c:cat>
          <c:val>
            <c:numRef>
              <c:f>Sheet1!$B$2:$B$5</c:f>
              <c:numCache>
                <c:formatCode>General</c:formatCode>
                <c:ptCount val="4"/>
                <c:pt idx="0">
                  <c:v>0.0</c:v>
                </c:pt>
                <c:pt idx="1">
                  <c:v>0.0</c:v>
                </c:pt>
                <c:pt idx="2">
                  <c:v>0.0</c:v>
                </c:pt>
                <c:pt idx="3">
                  <c:v>0.0</c:v>
                </c:pt>
              </c:numCache>
            </c:numRef>
          </c:val>
        </c:ser>
        <c:ser>
          <c:idx val="1"/>
          <c:order val="1"/>
          <c:tx>
            <c:strRef>
              <c:f>Sheet1!$C$1</c:f>
              <c:strCache>
                <c:ptCount val="1"/>
                <c:pt idx="0">
                  <c:v>Increase</c:v>
                </c:pt>
              </c:strCache>
            </c:strRef>
          </c:tx>
          <c:spPr>
            <a:solidFill>
              <a:srgbClr val="C6F432"/>
            </a:solidFill>
          </c:spPr>
          <c:cat>
            <c:strRef>
              <c:f>Sheet1!$A$2:$A$5</c:f>
              <c:strCache>
                <c:ptCount val="4"/>
                <c:pt idx="0">
                  <c:v>Allocation</c:v>
                </c:pt>
                <c:pt idx="1">
                  <c:v>Selection</c:v>
                </c:pt>
                <c:pt idx="2">
                  <c:v>Interaction</c:v>
                </c:pt>
                <c:pt idx="3">
                  <c:v>Total</c:v>
                </c:pt>
              </c:strCache>
            </c:strRef>
          </c:cat>
          <c:val>
            <c:numRef>
              <c:f>Sheet1!$C$2:$C$5</c:f>
              <c:numCache>
                <c:formatCode>General</c:formatCode>
                <c:ptCount val="4"/>
                <c:pt idx="0">
                  <c:v>0.2</c:v>
                </c:pt>
                <c:pt idx="1">
                  <c:v>0.0</c:v>
                </c:pt>
                <c:pt idx="2">
                  <c:v>0.0</c:v>
                </c:pt>
                <c:pt idx="3">
                  <c:v>0.0</c:v>
                </c:pt>
              </c:numCache>
            </c:numRef>
          </c:val>
        </c:ser>
        <c:ser>
          <c:idx val="2"/>
          <c:order val="2"/>
          <c:tx>
            <c:strRef>
              <c:f>Sheet1!$D$1</c:f>
              <c:strCache>
                <c:ptCount val="1"/>
                <c:pt idx="0">
                  <c:v>Decrease</c:v>
                </c:pt>
              </c:strCache>
            </c:strRef>
          </c:tx>
          <c:spPr>
            <a:solidFill>
              <a:srgbClr val="FF6B5E"/>
            </a:solidFill>
          </c:spPr>
          <c:cat>
            <c:strRef>
              <c:f>Sheet1!$A$2:$A$5</c:f>
              <c:strCache>
                <c:ptCount val="4"/>
                <c:pt idx="0">
                  <c:v>Allocation</c:v>
                </c:pt>
                <c:pt idx="1">
                  <c:v>Selection</c:v>
                </c:pt>
                <c:pt idx="2">
                  <c:v>Interaction</c:v>
                </c:pt>
                <c:pt idx="3">
                  <c:v>Total</c:v>
                </c:pt>
              </c:strCache>
            </c:strRef>
          </c:cat>
          <c:val>
            <c:numRef>
              <c:f>Sheet1!$D$2:$D$5</c:f>
              <c:numCache>
                <c:formatCode>General</c:formatCode>
                <c:ptCount val="4"/>
                <c:pt idx="0">
                  <c:v>0.0</c:v>
                </c:pt>
                <c:pt idx="1">
                  <c:v>0.8</c:v>
                </c:pt>
                <c:pt idx="2">
                  <c:v>0.0</c:v>
                </c:pt>
                <c:pt idx="3">
                  <c:v>0.6</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Sheet1!$A$2:$A$5</c:f>
              <c:strCache>
                <c:ptCount val="4"/>
                <c:pt idx="0">
                  <c:v>Allocation</c:v>
                </c:pt>
                <c:pt idx="1">
                  <c:v>Selection</c:v>
                </c:pt>
                <c:pt idx="2">
                  <c:v>Interaction</c:v>
                </c:pt>
                <c:pt idx="3">
                  <c:v>Total</c:v>
                </c:pt>
              </c:strCache>
            </c:strRef>
          </c:cat>
          <c:val>
            <c:numRef>
              <c:f>Sheet1!$B$2:$B$5</c:f>
              <c:numCache>
                <c:formatCode>General</c:formatCode>
                <c:ptCount val="4"/>
                <c:pt idx="0">
                  <c:v>0.0</c:v>
                </c:pt>
                <c:pt idx="1">
                  <c:v>0.30000000000000004</c:v>
                </c:pt>
                <c:pt idx="2">
                  <c:v>0.30000000000000004</c:v>
                </c:pt>
                <c:pt idx="3">
                  <c:v>0.0</c:v>
                </c:pt>
              </c:numCache>
            </c:numRef>
          </c:val>
        </c:ser>
        <c:ser>
          <c:idx val="1"/>
          <c:order val="1"/>
          <c:tx>
            <c:strRef>
              <c:f>Sheet1!$C$1</c:f>
              <c:strCache>
                <c:ptCount val="1"/>
                <c:pt idx="0">
                  <c:v>Increase</c:v>
                </c:pt>
              </c:strCache>
            </c:strRef>
          </c:tx>
          <c:spPr>
            <a:solidFill>
              <a:srgbClr val="C6F432"/>
            </a:solidFill>
          </c:spPr>
          <c:cat>
            <c:strRef>
              <c:f>Sheet1!$A$2:$A$5</c:f>
              <c:strCache>
                <c:ptCount val="4"/>
                <c:pt idx="0">
                  <c:v>Allocation</c:v>
                </c:pt>
                <c:pt idx="1">
                  <c:v>Selection</c:v>
                </c:pt>
                <c:pt idx="2">
                  <c:v>Interaction</c:v>
                </c:pt>
                <c:pt idx="3">
                  <c:v>Total</c:v>
                </c:pt>
              </c:strCache>
            </c:strRef>
          </c:cat>
          <c:val>
            <c:numRef>
              <c:f>Sheet1!$C$2:$C$5</c:f>
              <c:numCache>
                <c:formatCode>General</c:formatCode>
                <c:ptCount val="4"/>
                <c:pt idx="0">
                  <c:v>0.4</c:v>
                </c:pt>
                <c:pt idx="1">
                  <c:v>0.0</c:v>
                </c:pt>
                <c:pt idx="2">
                  <c:v>0.05</c:v>
                </c:pt>
                <c:pt idx="3">
                  <c:v>0.35</c:v>
                </c:pt>
              </c:numCache>
            </c:numRef>
          </c:val>
        </c:ser>
        <c:ser>
          <c:idx val="2"/>
          <c:order val="2"/>
          <c:tx>
            <c:strRef>
              <c:f>Sheet1!$D$1</c:f>
              <c:strCache>
                <c:ptCount val="1"/>
                <c:pt idx="0">
                  <c:v>Decrease</c:v>
                </c:pt>
              </c:strCache>
            </c:strRef>
          </c:tx>
          <c:spPr>
            <a:solidFill>
              <a:srgbClr val="FF6B5E"/>
            </a:solidFill>
          </c:spPr>
          <c:cat>
            <c:strRef>
              <c:f>Sheet1!$A$2:$A$5</c:f>
              <c:strCache>
                <c:ptCount val="4"/>
                <c:pt idx="0">
                  <c:v>Allocation</c:v>
                </c:pt>
                <c:pt idx="1">
                  <c:v>Selection</c:v>
                </c:pt>
                <c:pt idx="2">
                  <c:v>Interaction</c:v>
                </c:pt>
                <c:pt idx="3">
                  <c:v>Total</c:v>
                </c:pt>
              </c:strCache>
            </c:strRef>
          </c:cat>
          <c:val>
            <c:numRef>
              <c:f>Sheet1!$D$2:$D$5</c:f>
              <c:numCache>
                <c:formatCode>General</c:formatCode>
                <c:ptCount val="4"/>
                <c:pt idx="0">
                  <c:v>0.0</c:v>
                </c:pt>
                <c:pt idx="1">
                  <c:v>0.1</c:v>
                </c:pt>
                <c:pt idx="2">
                  <c:v>0.0</c:v>
                </c:pt>
                <c:pt idx="3">
                  <c:v>0.0</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Allocation</c:v>
                </c:pt>
              </c:strCache>
            </c:strRef>
          </c:tx>
          <c:spPr>
            <a:solidFill>
              <a:srgbClr val="0D1117"/>
            </a:solidFill>
          </c:spPr>
          <c:cat>
            <c:strRef>
              <c:f>Sheet1!$A$2:$A$3</c:f>
              <c:strCache>
                <c:ptCount val="2"/>
                <c:pt idx="0">
                  <c:v>Public Equity</c:v>
                </c:pt>
                <c:pt idx="1">
                  <c:v>Alternatives</c:v>
                </c:pt>
              </c:strCache>
            </c:strRef>
          </c:cat>
          <c:val>
            <c:numRef>
              <c:f>Sheet1!$B$2:$B$3</c:f>
              <c:numCache>
                <c:formatCode>General</c:formatCode>
                <c:ptCount val="2"/>
                <c:pt idx="0">
                  <c:v>0.3</c:v>
                </c:pt>
                <c:pt idx="1">
                  <c:v>-0.1</c:v>
                </c:pt>
              </c:numCache>
            </c:numRef>
          </c:val>
        </c:ser>
        <c:ser>
          <c:idx val="1"/>
          <c:order val="1"/>
          <c:tx>
            <c:strRef>
              <c:f>Sheet1!$C$1</c:f>
              <c:strCache>
                <c:ptCount val="1"/>
                <c:pt idx="0">
                  <c:v>Selection</c:v>
                </c:pt>
              </c:strCache>
            </c:strRef>
          </c:tx>
          <c:spPr>
            <a:solidFill>
              <a:srgbClr val="7FA600"/>
            </a:solidFill>
          </c:spPr>
          <c:cat>
            <c:strRef>
              <c:f>Sheet1!$A$2:$A$3</c:f>
              <c:strCache>
                <c:ptCount val="2"/>
                <c:pt idx="0">
                  <c:v>Public Equity</c:v>
                </c:pt>
                <c:pt idx="1">
                  <c:v>Alternatives</c:v>
                </c:pt>
              </c:strCache>
            </c:strRef>
          </c:cat>
          <c:val>
            <c:numRef>
              <c:f>Sheet1!$C$2:$C$3</c:f>
              <c:numCache>
                <c:formatCode>General</c:formatCode>
                <c:ptCount val="2"/>
                <c:pt idx="0">
                  <c:v>-0.2</c:v>
                </c:pt>
                <c:pt idx="1">
                  <c:v>-0.6</c:v>
                </c:pt>
              </c:numCache>
            </c:numRef>
          </c:val>
        </c:ser>
        <c:ser>
          <c:idx val="2"/>
          <c:order val="2"/>
          <c:tx>
            <c:strRef>
              <c:f>Sheet1!$D$1</c:f>
              <c:strCache>
                <c:ptCount val="1"/>
                <c:pt idx="0">
                  <c:v>Interaction</c:v>
                </c:pt>
              </c:strCache>
            </c:strRef>
          </c:tx>
          <c:spPr>
            <a:solidFill>
              <a:srgbClr val="F2A93B"/>
            </a:solidFill>
          </c:spPr>
          <c:cat>
            <c:strRef>
              <c:f>Sheet1!$A$2:$A$3</c:f>
              <c:strCache>
                <c:ptCount val="2"/>
                <c:pt idx="0">
                  <c:v>Public Equity</c:v>
                </c:pt>
                <c:pt idx="1">
                  <c:v>Alternatives</c:v>
                </c:pt>
              </c:strCache>
            </c:strRef>
          </c:cat>
          <c:val>
            <c:numRef>
              <c:f>Sheet1!$D$2:$D$3</c:f>
              <c:numCache>
                <c:formatCode>General</c:formatCode>
                <c:ptCount val="2"/>
                <c:pt idx="0">
                  <c:v>0.1</c:v>
                </c:pt>
                <c:pt idx="1">
                  <c:v>-0.1</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Lbls>
            <c:dLbl>
              <c:idx val="0"/>
              <c:tx>
                <c:rich>
                  <a:bodyPr/>
                  <a:lstStyle/>
                  <a:p>
                    <a:r>
                      <a:rPr lang="en-US" sz="800"/>
                      <a:t>60.0%</a:t>
                    </a:r>
                  </a:p>
                </c:rich>
              </c:tx>
              <c:dLblPos val="outEnd"/>
              <c:showLegendKey val="0"/>
              <c:showVal val="0"/>
              <c:showCatName val="0"/>
              <c:showSerName val="0"/>
              <c:showPercent val="0"/>
              <c:showBubbleSize val="0"/>
            </c:dLbl>
            <c:dLbl>
              <c:idx val="1"/>
              <c:tx>
                <c:rich>
                  <a:bodyPr/>
                  <a:lstStyle/>
                  <a:p>
                    <a:r>
                      <a:rPr lang="en-US" sz="800"/>
                      <a:t>55.0%</a:t>
                    </a:r>
                  </a:p>
                </c:rich>
              </c:tx>
              <c:dLblPos val="outEnd"/>
              <c:showLegendKey val="0"/>
              <c:showVal val="0"/>
              <c:showCatName val="0"/>
              <c:showSerName val="0"/>
              <c:showPercent val="0"/>
              <c:showBubbleSize val="0"/>
            </c:dLbl>
            <c:dLbl>
              <c:idx val="2"/>
              <c:tx>
                <c:rich>
                  <a:bodyPr/>
                  <a:lstStyle/>
                  <a:p>
                    <a:r>
                      <a:rPr lang="en-US" sz="800"/>
                      <a:t>40.0%</a:t>
                    </a:r>
                  </a:p>
                </c:rich>
              </c:tx>
              <c:dLblPos val="outEnd"/>
              <c:showLegendKey val="0"/>
              <c:showVal val="0"/>
              <c:showCatName val="0"/>
              <c:showSerName val="0"/>
              <c:showPercent val="0"/>
              <c:showBubbleSize val="0"/>
            </c:dLbl>
            <c:dLbl>
              <c:idx val="3"/>
              <c:tx>
                <c:rich>
                  <a:bodyPr/>
                  <a:lstStyle/>
                  <a:p>
                    <a:r>
                      <a:rPr lang="en-US" sz="800"/>
                      <a:t>45.0%</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Sheet1!$A$2:$A$5</c:f>
              <c:strCache>
                <c:ptCount val="4"/>
                <c:pt idx="0">
                  <c:v>Public Equity · portfolio</c:v>
                </c:pt>
                <c:pt idx="1">
                  <c:v>Public Equity · benchmark</c:v>
                </c:pt>
                <c:pt idx="2">
                  <c:v>Alternatives · portfolio</c:v>
                </c:pt>
                <c:pt idx="3">
                  <c:v>Alternatives · benchmark</c:v>
                </c:pt>
              </c:strCache>
            </c:strRef>
          </c:cat>
          <c:val>
            <c:numRef>
              <c:f>Sheet1!$B$2:$B$5</c:f>
              <c:numCache>
                <c:formatCode>General</c:formatCode>
                <c:ptCount val="4"/>
                <c:pt idx="0">
                  <c:v>60.0</c:v>
                </c:pt>
                <c:pt idx="1">
                  <c:v>55.0</c:v>
                </c:pt>
                <c:pt idx="2">
                  <c:v>40.0</c:v>
                </c:pt>
                <c:pt idx="3">
                  <c:v>45.0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Allocation</c:v>
                </c:pt>
              </c:strCache>
            </c:strRef>
          </c:tx>
          <c:spPr>
            <a:ln w="22860">
              <a:solidFill>
                <a:srgbClr val="0D1117"/>
              </a:solidFill>
            </a:ln>
          </c:spPr>
          <c:cat>
            <c:strRef>
              <c:f>Sheet1!$A$2:$A$4</c:f>
              <c:strCache>
                <c:ptCount val="3"/>
                <c:pt idx="0">
                  <c:v>2025-09-30</c:v>
                </c:pt>
                <c:pt idx="1">
                  <c:v>2025-12-31</c:v>
                </c:pt>
                <c:pt idx="2">
                  <c:v>2026-06-30</c:v>
                </c:pt>
              </c:strCache>
            </c:strRef>
          </c:cat>
          <c:val>
            <c:numRef>
              <c:f>Sheet1!$B$2:$B$4</c:f>
              <c:numCache>
                <c:formatCode>General</c:formatCode>
                <c:ptCount val="3"/>
                <c:pt idx="0">
                  <c:v>0.05</c:v>
                </c:pt>
                <c:pt idx="1">
                  <c:v>0.11</c:v>
                </c:pt>
                <c:pt idx="2">
                  <c:v>0.2</c:v>
                </c:pt>
              </c:numCache>
            </c:numRef>
          </c:val>
          <c:smooth val="0"/>
        </c:ser>
        <c:ser>
          <c:idx val="1"/>
          <c:order val="1"/>
          <c:tx>
            <c:strRef>
              <c:f>Sheet1!$C$1</c:f>
              <c:strCache>
                <c:ptCount val="1"/>
                <c:pt idx="0">
                  <c:v>Selection</c:v>
                </c:pt>
              </c:strCache>
            </c:strRef>
          </c:tx>
          <c:spPr>
            <a:ln w="22860">
              <a:solidFill>
                <a:srgbClr val="7FA600"/>
              </a:solidFill>
            </a:ln>
          </c:spPr>
          <c:cat>
            <c:strRef>
              <c:f>Sheet1!$A$2:$A$4</c:f>
              <c:strCache>
                <c:ptCount val="3"/>
                <c:pt idx="0">
                  <c:v>2025-09-30</c:v>
                </c:pt>
                <c:pt idx="1">
                  <c:v>2025-12-31</c:v>
                </c:pt>
                <c:pt idx="2">
                  <c:v>2026-06-30</c:v>
                </c:pt>
              </c:strCache>
            </c:strRef>
          </c:cat>
          <c:val>
            <c:numRef>
              <c:f>Sheet1!$C$2:$C$4</c:f>
              <c:numCache>
                <c:formatCode>General</c:formatCode>
                <c:ptCount val="3"/>
                <c:pt idx="0">
                  <c:v>-0.2</c:v>
                </c:pt>
                <c:pt idx="1">
                  <c:v>-0.5</c:v>
                </c:pt>
                <c:pt idx="2">
                  <c:v>-0.8</c:v>
                </c:pt>
              </c:numCache>
            </c:numRef>
          </c:val>
          <c:smooth val="0"/>
        </c:ser>
        <c:ser>
          <c:idx val="2"/>
          <c:order val="2"/>
          <c:tx>
            <c:strRef>
              <c:f>Sheet1!$D$1</c:f>
              <c:strCache>
                <c:ptCount val="1"/>
                <c:pt idx="0">
                  <c:v>Interaction</c:v>
                </c:pt>
              </c:strCache>
            </c:strRef>
          </c:tx>
          <c:spPr>
            <a:ln w="22860">
              <a:solidFill>
                <a:srgbClr val="F2A93B"/>
              </a:solidFill>
            </a:ln>
          </c:spPr>
          <c:cat>
            <c:strRef>
              <c:f>Sheet1!$A$2:$A$4</c:f>
              <c:strCache>
                <c:ptCount val="3"/>
                <c:pt idx="0">
                  <c:v>2025-09-30</c:v>
                </c:pt>
                <c:pt idx="1">
                  <c:v>2025-12-31</c:v>
                </c:pt>
                <c:pt idx="2">
                  <c:v>2026-06-30</c:v>
                </c:pt>
              </c:strCache>
            </c:strRef>
          </c:cat>
          <c:val>
            <c:numRef>
              <c:f>Sheet1!$D$2:$D$4</c:f>
              <c:numCache>
                <c:formatCode>General</c:formatCode>
                <c:ptCount val="3"/>
                <c:pt idx="0">
                  <c:v>0.02</c:v>
                </c:pt>
                <c:pt idx="1">
                  <c:v>0.01</c:v>
                </c:pt>
                <c:pt idx="2">
                  <c:v>0.0</c:v>
                </c:pt>
              </c:numCache>
            </c:numRef>
          </c:val>
          <c:smooth val="0"/>
        </c:ser>
        <c:ser>
          <c:idx val="3"/>
          <c:order val="3"/>
          <c:tx>
            <c:strRef>
              <c:f>Sheet1!$E$1</c:f>
              <c:strCache>
                <c:ptCount val="1"/>
                <c:pt idx="0">
                  <c:v>Total</c:v>
                </c:pt>
              </c:strCache>
            </c:strRef>
          </c:tx>
          <c:spPr>
            <a:ln w="22860">
              <a:solidFill>
                <a:srgbClr val="5B8DEF"/>
              </a:solidFill>
            </a:ln>
          </c:spPr>
          <c:cat>
            <c:strRef>
              <c:f>Sheet1!$A$2:$A$4</c:f>
              <c:strCache>
                <c:ptCount val="3"/>
                <c:pt idx="0">
                  <c:v>2025-09-30</c:v>
                </c:pt>
                <c:pt idx="1">
                  <c:v>2025-12-31</c:v>
                </c:pt>
                <c:pt idx="2">
                  <c:v>2026-06-30</c:v>
                </c:pt>
              </c:strCache>
            </c:strRef>
          </c:cat>
          <c:val>
            <c:numRef>
              <c:f>Sheet1!$E$2:$E$4</c:f>
              <c:numCache>
                <c:formatCode>General</c:formatCode>
                <c:ptCount val="3"/>
                <c:pt idx="0">
                  <c:v>-0.13</c:v>
                </c:pt>
                <c:pt idx="1">
                  <c:v>-0.38</c:v>
                </c:pt>
                <c:pt idx="2">
                  <c:v>-0.6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0&quot;pp&quot;" sourceLinked="0"/>
        <c:majorTickMark val="out"/>
        <c:minorTickMark val="none"/>
        <c:tickLblPos val="nextTo"/>
        <c:txPr>
          <a:bodyPr/>
          <a:lstStyle/>
          <a:p>
            <a:pPr>
              <a:defRPr sz="800"/>
            </a:pPr>
          </a:p>
        </c:txPr>
        <c:crossAx val="2118791784"/>
        <c:crosses val="autoZero"/>
      </c:valAx>
    </c:plotArea>
    <c:legend>
      <c:legendPos val="b"/>
      <c:layout/>
      <c:overlay val="0"/>
      <c:txPr>
        <a:bodyPr/>
        <a:lstStyle/>
        <a:p>
          <a:pPr>
            <a:defRPr sz="700"/>
          </a:pPr>
        </a:p>
      </c:txPr>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Alternatives selection</c:v>
                </c:pt>
              </c:strCache>
            </c:strRef>
          </c:tx>
          <c:spPr>
            <a:ln w="22860">
              <a:solidFill>
                <a:srgbClr val="0D1117"/>
              </a:solidFill>
            </a:ln>
          </c:spPr>
          <c:cat>
            <c:strRef>
              <c:f>Sheet1!$A$2:$A$4</c:f>
              <c:strCache>
                <c:ptCount val="3"/>
                <c:pt idx="0">
                  <c:v>2025-09-30</c:v>
                </c:pt>
                <c:pt idx="1">
                  <c:v>2025-12-31</c:v>
                </c:pt>
                <c:pt idx="2">
                  <c:v>2026-06-30</c:v>
                </c:pt>
              </c:strCache>
            </c:strRef>
          </c:cat>
          <c:val>
            <c:numRef>
              <c:f>Sheet1!$B$2:$B$4</c:f>
              <c:numCache>
                <c:formatCode>General</c:formatCode>
                <c:ptCount val="3"/>
                <c:pt idx="0">
                  <c:v>-0.1</c:v>
                </c:pt>
                <c:pt idx="1">
                  <c:v>-0.35</c:v>
                </c:pt>
                <c:pt idx="2">
                  <c:v>-0.6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0&quot;pp&quot;" sourceLinked="0"/>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Portfolio cumulative growth</c:v>
                </c:pt>
              </c:strCache>
            </c:strRef>
          </c:tx>
          <c:spPr>
            <a:ln w="22860">
              <a:solidFill>
                <a:srgbClr val="0D1117"/>
              </a:solidFill>
            </a:ln>
          </c:spPr>
          <c:cat>
            <c:strRef>
              <c:f>Sheet1!$A$2:$A$4</c:f>
              <c:strCache>
                <c:ptCount val="3"/>
                <c:pt idx="0">
                  <c:v>2025-07-31</c:v>
                </c:pt>
                <c:pt idx="1">
                  <c:v>2025-12-31</c:v>
                </c:pt>
                <c:pt idx="2">
                  <c:v>2026-06-30</c:v>
                </c:pt>
              </c:strCache>
            </c:strRef>
          </c:cat>
          <c:val>
            <c:numRef>
              <c:f>Sheet1!$B$2:$B$4</c:f>
              <c:numCache>
                <c:formatCode>General</c:formatCode>
                <c:ptCount val="3"/>
                <c:pt idx="0">
                  <c:v>100.8</c:v>
                </c:pt>
                <c:pt idx="1">
                  <c:v>104.2</c:v>
                </c:pt>
                <c:pt idx="2">
                  <c:v>107.1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Allocation</c:v>
                </c:pt>
              </c:strCache>
            </c:strRef>
          </c:tx>
          <c:spPr>
            <a:solidFill>
              <a:srgbClr val="0D1117"/>
            </a:solidFill>
          </c:spPr>
          <c:cat>
            <c:strRef>
              <c:f>Sheet1!$A$2:$A$3</c:f>
              <c:strCache>
                <c:ptCount val="2"/>
                <c:pt idx="0">
                  <c:v>Public Equity</c:v>
                </c:pt>
                <c:pt idx="1">
                  <c:v>Alternatives</c:v>
                </c:pt>
              </c:strCache>
            </c:strRef>
          </c:cat>
          <c:val>
            <c:numRef>
              <c:f>Sheet1!$B$2:$B$3</c:f>
              <c:numCache>
                <c:formatCode>General</c:formatCode>
                <c:ptCount val="2"/>
                <c:pt idx="0">
                  <c:v>0.3</c:v>
                </c:pt>
                <c:pt idx="1">
                  <c:v>0.1</c:v>
                </c:pt>
              </c:numCache>
            </c:numRef>
          </c:val>
        </c:ser>
        <c:ser>
          <c:idx val="1"/>
          <c:order val="1"/>
          <c:tx>
            <c:strRef>
              <c:f>Sheet1!$C$1</c:f>
              <c:strCache>
                <c:ptCount val="1"/>
                <c:pt idx="0">
                  <c:v>Selection</c:v>
                </c:pt>
              </c:strCache>
            </c:strRef>
          </c:tx>
          <c:spPr>
            <a:solidFill>
              <a:srgbClr val="7FA600"/>
            </a:solidFill>
          </c:spPr>
          <c:cat>
            <c:strRef>
              <c:f>Sheet1!$A$2:$A$3</c:f>
              <c:strCache>
                <c:ptCount val="2"/>
                <c:pt idx="0">
                  <c:v>Public Equity</c:v>
                </c:pt>
                <c:pt idx="1">
                  <c:v>Alternatives</c:v>
                </c:pt>
              </c:strCache>
            </c:strRef>
          </c:cat>
          <c:val>
            <c:numRef>
              <c:f>Sheet1!$C$2:$C$3</c:f>
              <c:numCache>
                <c:formatCode>General</c:formatCode>
                <c:ptCount val="2"/>
                <c:pt idx="0">
                  <c:v>-0.05</c:v>
                </c:pt>
                <c:pt idx="1">
                  <c:v>-0.05</c:v>
                </c:pt>
              </c:numCache>
            </c:numRef>
          </c:val>
        </c:ser>
        <c:ser>
          <c:idx val="2"/>
          <c:order val="2"/>
          <c:tx>
            <c:strRef>
              <c:f>Sheet1!$D$1</c:f>
              <c:strCache>
                <c:ptCount val="1"/>
                <c:pt idx="0">
                  <c:v>Interaction</c:v>
                </c:pt>
              </c:strCache>
            </c:strRef>
          </c:tx>
          <c:spPr>
            <a:solidFill>
              <a:srgbClr val="F2A93B"/>
            </a:solidFill>
          </c:spPr>
          <c:cat>
            <c:strRef>
              <c:f>Sheet1!$A$2:$A$3</c:f>
              <c:strCache>
                <c:ptCount val="2"/>
                <c:pt idx="0">
                  <c:v>Public Equity</c:v>
                </c:pt>
                <c:pt idx="1">
                  <c:v>Alternatives</c:v>
                </c:pt>
              </c:strCache>
            </c:strRef>
          </c:cat>
          <c:val>
            <c:numRef>
              <c:f>Sheet1!$D$2:$D$3</c:f>
              <c:numCache>
                <c:formatCode>General</c:formatCode>
                <c:ptCount val="2"/>
                <c:pt idx="0">
                  <c:v>0.02</c:v>
                </c:pt>
                <c:pt idx="1">
                  <c:v>0.03</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Lbls>
            <c:dLbl>
              <c:idx val="0"/>
              <c:tx>
                <c:rich>
                  <a:bodyPr/>
                  <a:lstStyle/>
                  <a:p>
                    <a:r>
                      <a:rPr lang="en-US" sz="800"/>
                      <a:t>7.5%</a:t>
                    </a:r>
                  </a:p>
                </c:rich>
              </c:tx>
              <c:dLblPos val="outEnd"/>
              <c:showLegendKey val="0"/>
              <c:showVal val="0"/>
              <c:showCatName val="0"/>
              <c:showSerName val="0"/>
              <c:showPercent val="0"/>
              <c:showBubbleSize val="0"/>
            </c:dLbl>
            <c:dLbl>
              <c:idx val="1"/>
              <c:tx>
                <c:rich>
                  <a:bodyPr/>
                  <a:lstStyle/>
                  <a:p>
                    <a:r>
                      <a:rPr lang="en-US" sz="800"/>
                      <a:t>6.8%</a:t>
                    </a:r>
                  </a:p>
                </c:rich>
              </c:tx>
              <c:dLblPos val="outEnd"/>
              <c:showLegendKey val="0"/>
              <c:showVal val="0"/>
              <c:showCatName val="0"/>
              <c:showSerName val="0"/>
              <c:showPercent val="0"/>
              <c:showBubbleSize val="0"/>
            </c:dLbl>
            <c:dLbl>
              <c:idx val="2"/>
              <c:tx>
                <c:rich>
                  <a:bodyPr/>
                  <a:lstStyle/>
                  <a:p>
                    <a:r>
                      <a:rPr lang="en-US" sz="800"/>
                      <a:t>5.5%</a:t>
                    </a:r>
                  </a:p>
                </c:rich>
              </c:tx>
              <c:dLblPos val="outEnd"/>
              <c:showLegendKey val="0"/>
              <c:showVal val="0"/>
              <c:showCatName val="0"/>
              <c:showSerName val="0"/>
              <c:showPercent val="0"/>
              <c:showBubbleSize val="0"/>
            </c:dLbl>
            <c:dLbl>
              <c:idx val="3"/>
              <c:tx>
                <c:rich>
                  <a:bodyPr/>
                  <a:lstStyle/>
                  <a:p>
                    <a:r>
                      <a:rPr lang="en-US" sz="800"/>
                      <a:t>5.9%</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Sheet1!$A$2:$A$5</c:f>
              <c:strCache>
                <c:ptCount val="4"/>
                <c:pt idx="0">
                  <c:v>Public Equity · portfolio</c:v>
                </c:pt>
                <c:pt idx="1">
                  <c:v>Public Equity · benchmark</c:v>
                </c:pt>
                <c:pt idx="2">
                  <c:v>Alternatives · portfolio</c:v>
                </c:pt>
                <c:pt idx="3">
                  <c:v>Alternatives · benchmark</c:v>
                </c:pt>
              </c:strCache>
            </c:strRef>
          </c:cat>
          <c:val>
            <c:numRef>
              <c:f>Sheet1!$B$2:$B$5</c:f>
              <c:numCache>
                <c:formatCode>General</c:formatCode>
                <c:ptCount val="4"/>
                <c:pt idx="0">
                  <c:v>7.5</c:v>
                </c:pt>
                <c:pt idx="1">
                  <c:v>6.8</c:v>
                </c:pt>
                <c:pt idx="2">
                  <c:v>5.5</c:v>
                </c:pt>
                <c:pt idx="3">
                  <c:v>5.9</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dPt>
            <c:idx val="2"/>
            <c:spPr>
              <a:solidFill>
                <a:srgbClr val="C6F432"/>
              </a:solidFill>
            </c:spPr>
          </c:dPt>
          <c:dLbls>
            <c:dLbl>
              <c:idx val="0"/>
              <c:tx>
                <c:rich>
                  <a:bodyPr/>
                  <a:lstStyle/>
                  <a:p>
                    <a:r>
                      <a:rPr lang="en-US" sz="800"/>
                      <a:t>+0.2pp</a:t>
                    </a:r>
                  </a:p>
                </c:rich>
              </c:tx>
              <c:dLblPos val="outEnd"/>
              <c:showLegendKey val="0"/>
              <c:showVal val="0"/>
              <c:showCatName val="0"/>
              <c:showSerName val="0"/>
              <c:showPercent val="0"/>
              <c:showBubbleSize val="0"/>
            </c:dLbl>
            <c:dLbl>
              <c:idx val="1"/>
              <c:tx>
                <c:rich>
                  <a:bodyPr/>
                  <a:lstStyle/>
                  <a:p>
                    <a:r>
                      <a:rPr lang="en-US" sz="800"/>
                      <a:t>-0.8pp</a:t>
                    </a:r>
                  </a:p>
                </c:rich>
              </c:tx>
              <c:dLblPos val="outEnd"/>
              <c:showLegendKey val="0"/>
              <c:showVal val="0"/>
              <c:showCatName val="0"/>
              <c:showSerName val="0"/>
              <c:showPercent val="0"/>
              <c:showBubbleSize val="0"/>
            </c:dLbl>
            <c:dLbl>
              <c:idx val="2"/>
              <c:tx>
                <c:rich>
                  <a:bodyPr/>
                  <a:lstStyle/>
                  <a:p>
                    <a:r>
                      <a:rPr lang="en-US" sz="800"/>
                      <a:t>0.0pp</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Sheet1!$A$2:$A$4</c:f>
              <c:strCache>
                <c:ptCount val="3"/>
                <c:pt idx="0">
                  <c:v>Allocation</c:v>
                </c:pt>
                <c:pt idx="1">
                  <c:v>Selection</c:v>
                </c:pt>
                <c:pt idx="2">
                  <c:v>Interaction</c:v>
                </c:pt>
              </c:strCache>
            </c:strRef>
          </c:cat>
          <c:val>
            <c:numRef>
              <c:f>Sheet1!$B$2:$B$4</c:f>
              <c:numCache>
                <c:formatCode>General</c:formatCode>
                <c:ptCount val="3"/>
                <c:pt idx="0">
                  <c:v>0.2</c:v>
                </c:pt>
                <c:pt idx="1">
                  <c:v>-0.8</c:v>
                </c:pt>
                <c:pt idx="2">
                  <c:v>0.0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dPt>
            <c:idx val="2"/>
            <c:spPr>
              <a:solidFill>
                <a:srgbClr val="C6F432"/>
              </a:solidFill>
            </c:spPr>
          </c:dPt>
          <c:dLbls>
            <c:dLbl>
              <c:idx val="0"/>
              <c:tx>
                <c:rich>
                  <a:bodyPr/>
                  <a:lstStyle/>
                  <a:p>
                    <a:r>
                      <a:rPr lang="en-US" sz="800"/>
                      <a:t>+0.4pp</a:t>
                    </a:r>
                  </a:p>
                </c:rich>
              </c:tx>
              <c:dLblPos val="outEnd"/>
              <c:showLegendKey val="0"/>
              <c:showVal val="0"/>
              <c:showCatName val="0"/>
              <c:showSerName val="0"/>
              <c:showPercent val="0"/>
              <c:showBubbleSize val="0"/>
            </c:dLbl>
            <c:dLbl>
              <c:idx val="1"/>
              <c:tx>
                <c:rich>
                  <a:bodyPr/>
                  <a:lstStyle/>
                  <a:p>
                    <a:r>
                      <a:rPr lang="en-US" sz="800"/>
                      <a:t>-0.1pp</a:t>
                    </a:r>
                  </a:p>
                </c:rich>
              </c:tx>
              <c:dLblPos val="outEnd"/>
              <c:showLegendKey val="0"/>
              <c:showVal val="0"/>
              <c:showCatName val="0"/>
              <c:showSerName val="0"/>
              <c:showPercent val="0"/>
              <c:showBubbleSize val="0"/>
            </c:dLbl>
            <c:dLbl>
              <c:idx val="2"/>
              <c:tx>
                <c:rich>
                  <a:bodyPr/>
                  <a:lstStyle/>
                  <a:p>
                    <a:r>
                      <a:rPr lang="en-US" sz="800"/>
                      <a:t>+0.05pp</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Sheet1!$A$2:$A$4</c:f>
              <c:strCache>
                <c:ptCount val="3"/>
                <c:pt idx="0">
                  <c:v>Allocation</c:v>
                </c:pt>
                <c:pt idx="1">
                  <c:v>Selection</c:v>
                </c:pt>
                <c:pt idx="2">
                  <c:v>Interaction</c:v>
                </c:pt>
              </c:strCache>
            </c:strRef>
          </c:cat>
          <c:val>
            <c:numRef>
              <c:f>Sheet1!$B$2:$B$4</c:f>
              <c:numCache>
                <c:formatCode>General</c:formatCode>
                <c:ptCount val="3"/>
                <c:pt idx="0">
                  <c:v>0.4</c:v>
                </c:pt>
                <c:pt idx="1">
                  <c:v>-0.1</c:v>
                </c:pt>
                <c:pt idx="2">
                  <c:v>0.05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FF6B5E"/>
              </a:solidFill>
            </c:spPr>
          </c:dPt>
          <c:dLbls>
            <c:dLbl>
              <c:idx val="0"/>
              <c:tx>
                <c:rich>
                  <a:bodyPr/>
                  <a:lstStyle/>
                  <a:p>
                    <a:r>
                      <a:rPr lang="en-US" sz="800"/>
                      <a:t>+0.2pp</a:t>
                    </a:r>
                  </a:p>
                </c:rich>
              </c:tx>
              <c:dLblPos val="outEnd"/>
              <c:showLegendKey val="0"/>
              <c:showVal val="0"/>
              <c:showCatName val="0"/>
              <c:showSerName val="0"/>
              <c:showPercent val="0"/>
              <c:showBubbleSize val="0"/>
            </c:dLbl>
            <c:dLbl>
              <c:idx val="1"/>
              <c:tx>
                <c:rich>
                  <a:bodyPr/>
                  <a:lstStyle/>
                  <a:p>
                    <a:r>
                      <a:rPr lang="en-US" sz="800"/>
                      <a:t>+0.7pp</a:t>
                    </a:r>
                  </a:p>
                </c:rich>
              </c:tx>
              <c:dLblPos val="outEnd"/>
              <c:showLegendKey val="0"/>
              <c:showVal val="0"/>
              <c:showCatName val="0"/>
              <c:showSerName val="0"/>
              <c:showPercent val="0"/>
              <c:showBubbleSize val="0"/>
            </c:dLbl>
            <c:dLbl>
              <c:idx val="2"/>
              <c:tx>
                <c:rich>
                  <a:bodyPr/>
                  <a:lstStyle/>
                  <a:p>
                    <a:r>
                      <a:rPr lang="en-US" sz="800"/>
                      <a:t>-0.1pp</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Sheet1!$A$2:$A$4</c:f>
              <c:strCache>
                <c:ptCount val="3"/>
                <c:pt idx="0">
                  <c:v>Expected minus realized · allocation</c:v>
                </c:pt>
                <c:pt idx="1">
                  <c:v>Expected minus realized · selection</c:v>
                </c:pt>
                <c:pt idx="2">
                  <c:v>Simulated minus expected · selection</c:v>
                </c:pt>
              </c:strCache>
            </c:strRef>
          </c:cat>
          <c:val>
            <c:numRef>
              <c:f>Sheet1!$B$2:$B$4</c:f>
              <c:numCache>
                <c:formatCode>General</c:formatCode>
                <c:ptCount val="3"/>
                <c:pt idx="0">
                  <c:v>0.2</c:v>
                </c:pt>
                <c:pt idx="1">
                  <c:v>0.7</c:v>
                </c:pt>
                <c:pt idx="2">
                  <c:v>-0.1</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Lbls>
            <c:dLbl>
              <c:idx val="0"/>
              <c:tx>
                <c:rich>
                  <a:bodyPr/>
                  <a:lstStyle/>
                  <a:p>
                    <a:r>
                      <a:rPr lang="en-US" sz="800"/>
                      <a:t>0.74</a:t>
                    </a:r>
                  </a:p>
                </c:rich>
              </c:tx>
              <c:dLblPos val="outEnd"/>
              <c:showLegendKey val="0"/>
              <c:showVal val="0"/>
              <c:showCatName val="0"/>
              <c:showSerName val="0"/>
              <c:showPercent val="0"/>
              <c:showBubbleSize val="0"/>
            </c:dLbl>
            <c:dLbl>
              <c:idx val="1"/>
              <c:tx>
                <c:rich>
                  <a:bodyPr/>
                  <a:lstStyle/>
                  <a:p>
                    <a:r>
                      <a:rPr lang="en-US" sz="800"/>
                      <a:t>0.62</a:t>
                    </a:r>
                  </a:p>
                </c:rich>
              </c:tx>
              <c:dLblPos val="outEnd"/>
              <c:showLegendKey val="0"/>
              <c:showVal val="0"/>
              <c:showCatName val="0"/>
              <c:showSerName val="0"/>
              <c:showPercent val="0"/>
              <c:showBubbleSize val="0"/>
            </c:dLbl>
            <c:dLbl>
              <c:idx val="2"/>
              <c:tx>
                <c:rich>
                  <a:bodyPr/>
                  <a:lstStyle/>
                  <a:p>
                    <a:r>
                      <a:rPr lang="en-US" sz="800"/>
                      <a:t>0.58</a:t>
                    </a:r>
                  </a:p>
                </c:rich>
              </c:tx>
              <c:dLblPos val="outEnd"/>
              <c:showLegendKey val="0"/>
              <c:showVal val="0"/>
              <c:showCatName val="0"/>
              <c:showSerName val="0"/>
              <c:showPercent val="0"/>
              <c:showBubbleSize val="0"/>
            </c:dLbl>
            <c:dLblPos val="outEnd"/>
            <c:showLegendKey val="0"/>
            <c:showVal val="0"/>
            <c:showCatName val="0"/>
            <c:showSerName val="0"/>
            <c:showPercent val="0"/>
            <c:showBubbleSize val="0"/>
          </c:dLbls>
          <c:cat>
            <c:strRef>
              <c:f>Sheet1!$A$2:$A$4</c:f>
              <c:strCache>
                <c:ptCount val="3"/>
                <c:pt idx="0">
                  <c:v>Historical</c:v>
                </c:pt>
                <c:pt idx="1">
                  <c:v>Expected</c:v>
                </c:pt>
                <c:pt idx="2">
                  <c:v>Simulated</c:v>
                </c:pt>
              </c:strCache>
            </c:strRef>
          </c:cat>
          <c:val>
            <c:numRef>
              <c:f>Sheet1!$B$2:$B$4</c:f>
              <c:numCache>
                <c:formatCode>General</c:formatCode>
                <c:ptCount val="3"/>
                <c:pt idx="0">
                  <c:v>0.74</c:v>
                </c:pt>
                <c:pt idx="1">
                  <c:v>0.62</c:v>
                </c:pt>
                <c:pt idx="2">
                  <c:v>0.58</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Selection leads detractors</a:t>
            </a:r>
          </a:p>
          <a:p>
            <a:r>
              <a:t>Observation: Returned selection is negative [S2]. Why it matters: Selection leads realized detractors. Uncertainty: The evidence covers one linked period. What would change the view: A later historical result.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Allocation leads expectations</a:t>
            </a:r>
          </a:p>
          <a:p>
            <a:r>
              <a:t>Observation: Returned allocation is positive [S3]. Why it matters: Allocation leads expected effects. Uncertainty: Inputs are assumptions. What would change the view: A refreshed ex ante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Scenario range returned</a:t>
            </a:r>
          </a:p>
          <a:p>
            <a:r>
              <a:t>Observation: The governed simulation returned effect bands and a selected base scenario [S4]. Why it matters: Scenario context is explicit. Uncertainty: Results depend on governed scenario inputs. What would change the view: A revised simulation receipt.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Governed comparison fields returned</a:t>
            </a:r>
          </a:p>
          <a:p>
            <a:r>
              <a:t>Observation: The server returned differences, concentration and persistence for three compatible lanes [S5]. Why it matters: Cross-lane claims use governed fields. Uncertainty: One receipt limits time-series interpretation. What would change the view: A later comparison receipt returning different statuses.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chart" Target="../charts/char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664208"/>
            <a:ext cx="9966960" cy="274320"/>
          </a:xfrm>
          <a:prstGeom prst="rect">
            <a:avLst/>
          </a:prstGeom>
          <a:noFill/>
        </p:spPr>
        <p:txBody>
          <a:bodyPr wrap="none" lIns="9144" rIns="9144" tIns="9144" bIns="9144" anchor="t">
            <a:spAutoFit/>
          </a:bodyPr>
          <a:lstStyle/>
          <a:p>
            <a:pPr algn="l">
              <a:spcAft>
                <a:spcPts val="0"/>
              </a:spcAft>
              <a:defRPr sz="850" b="1">
                <a:solidFill>
                  <a:srgbClr val="C6F432"/>
                </a:solidFill>
                <a:latin typeface="Inter"/>
              </a:defRPr>
            </a:pPr>
            <a:r>
              <a:rPr>
                <a:latin typeface="Inter"/>
              </a:rPr>
              <a:t>PORTFOLIO ATTRIBUTION COMPARISON</a:t>
            </a:r>
          </a:p>
        </p:txBody>
      </p:sp>
      <p:sp>
        <p:nvSpPr>
          <p:cNvPr id="6" name="TextBox 5"/>
          <p:cNvSpPr txBox="1"/>
          <p:nvPr/>
        </p:nvSpPr>
        <p:spPr>
          <a:xfrm>
            <a:off x="685800" y="2011680"/>
            <a:ext cx="9966960" cy="1234440"/>
          </a:xfrm>
          <a:prstGeom prst="rect">
            <a:avLst/>
          </a:prstGeom>
          <a:noFill/>
        </p:spPr>
        <p:txBody>
          <a:bodyPr wrap="none" lIns="9144" rIns="9144" tIns="9144" bIns="9144" anchor="t">
            <a:spAutoFit/>
          </a:bodyPr>
          <a:lstStyle/>
          <a:p>
            <a:pPr algn="l">
              <a:spcAft>
                <a:spcPts val="0"/>
              </a:spcAft>
              <a:defRPr sz="3300" b="1">
                <a:solidFill>
                  <a:srgbClr val="FFFFFF"/>
                </a:solidFill>
                <a:latin typeface="Inter"/>
              </a:defRPr>
            </a:pPr>
            <a:r>
              <a:rPr>
                <a:latin typeface="Inter"/>
              </a:rPr>
              <a:t>Northstar Attribution Comparison</a:t>
            </a:r>
          </a:p>
        </p:txBody>
      </p:sp>
      <p:sp>
        <p:nvSpPr>
          <p:cNvPr id="7" name="TextBox 6"/>
          <p:cNvSpPr txBox="1"/>
          <p:nvPr/>
        </p:nvSpPr>
        <p:spPr>
          <a:xfrm>
            <a:off x="685800" y="3273552"/>
            <a:ext cx="9692640" cy="594360"/>
          </a:xfrm>
          <a:prstGeom prst="rect">
            <a:avLst/>
          </a:prstGeom>
          <a:noFill/>
        </p:spPr>
        <p:txBody>
          <a:bodyPr wrap="none" lIns="9144" rIns="9144" tIns="9144" bIns="9144" anchor="t">
            <a:spAutoFit/>
          </a:bodyPr>
          <a:lstStyle/>
          <a:p>
            <a:pPr algn="l">
              <a:spcAft>
                <a:spcPts val="0"/>
              </a:spcAft>
              <a:defRPr sz="1400" b="0">
                <a:solidFill>
                  <a:srgbClr val="9AA5B1"/>
                </a:solidFill>
                <a:latin typeface="Inter"/>
              </a:defRPr>
            </a:pPr>
            <a:r>
              <a:rPr>
                <a:latin typeface="Inter"/>
              </a:rPr>
              <a:t>Historical, forward and simulated views</a:t>
            </a:r>
          </a:p>
        </p:txBody>
      </p:sp>
      <p:sp>
        <p:nvSpPr>
          <p:cNvPr id="8" name="Rectangle 7"/>
          <p:cNvSpPr/>
          <p:nvPr/>
        </p:nvSpPr>
        <p:spPr>
          <a:xfrm>
            <a:off x="685800" y="4005072"/>
            <a:ext cx="822960" cy="45720"/>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PORTFOLIO</a:t>
            </a:r>
          </a:p>
        </p:txBody>
      </p:sp>
      <p:sp>
        <p:nvSpPr>
          <p:cNvPr id="10" name="TextBox 9"/>
          <p:cNvSpPr txBox="1"/>
          <p:nvPr/>
        </p:nvSpPr>
        <p:spPr>
          <a:xfrm>
            <a:off x="68580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Northstar Total Fund</a:t>
            </a:r>
          </a:p>
        </p:txBody>
      </p:sp>
      <p:sp>
        <p:nvSpPr>
          <p:cNvPr id="11" name="TextBox 10"/>
          <p:cNvSpPr txBox="1"/>
          <p:nvPr/>
        </p:nvSpPr>
        <p:spPr>
          <a:xfrm>
            <a:off x="5852160" y="4315968"/>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VIEWS</a:t>
            </a:r>
          </a:p>
        </p:txBody>
      </p:sp>
      <p:sp>
        <p:nvSpPr>
          <p:cNvPr id="12" name="TextBox 11"/>
          <p:cNvSpPr txBox="1"/>
          <p:nvPr/>
        </p:nvSpPr>
        <p:spPr>
          <a:xfrm>
            <a:off x="5852160" y="4507992"/>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Three</a:t>
            </a:r>
          </a:p>
        </p:txBody>
      </p:sp>
      <p:sp>
        <p:nvSpPr>
          <p:cNvPr id="13" name="TextBox 12"/>
          <p:cNvSpPr txBox="1"/>
          <p:nvPr/>
        </p:nvSpPr>
        <p:spPr>
          <a:xfrm>
            <a:off x="685800" y="4937759"/>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AUDIENCE</a:t>
            </a:r>
          </a:p>
        </p:txBody>
      </p:sp>
      <p:sp>
        <p:nvSpPr>
          <p:cNvPr id="14" name="TextBox 13"/>
          <p:cNvSpPr txBox="1"/>
          <p:nvPr/>
        </p:nvSpPr>
        <p:spPr>
          <a:xfrm>
            <a:off x="685800" y="5129783"/>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Investment Committee</a:t>
            </a:r>
          </a:p>
        </p:txBody>
      </p:sp>
      <p:sp>
        <p:nvSpPr>
          <p:cNvPr id="15" name="TextBox 14"/>
          <p:cNvSpPr txBox="1"/>
          <p:nvPr/>
        </p:nvSpPr>
        <p:spPr>
          <a:xfrm>
            <a:off x="5852160" y="4937759"/>
            <a:ext cx="470916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DATA AS OF</a:t>
            </a:r>
          </a:p>
        </p:txBody>
      </p:sp>
      <p:sp>
        <p:nvSpPr>
          <p:cNvPr id="16" name="TextBox 15"/>
          <p:cNvSpPr txBox="1"/>
          <p:nvPr/>
        </p:nvSpPr>
        <p:spPr>
          <a:xfrm>
            <a:off x="5852160" y="5129783"/>
            <a:ext cx="4709160" cy="310896"/>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2026-10-08</a:t>
            </a:r>
          </a:p>
        </p:txBody>
      </p:sp>
      <p:sp>
        <p:nvSpPr>
          <p:cNvPr id="17" name="Rectangle 16"/>
          <p:cNvSpPr/>
          <p:nvPr/>
        </p:nvSpPr>
        <p:spPr>
          <a:xfrm>
            <a:off x="685800" y="5687568"/>
            <a:ext cx="3337560" cy="53035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22960" y="5760720"/>
            <a:ext cx="3063240" cy="128016"/>
          </a:xfrm>
          <a:prstGeom prst="rect">
            <a:avLst/>
          </a:prstGeom>
          <a:noFill/>
        </p:spPr>
        <p:txBody>
          <a:bodyPr wrap="none" lIns="9144" rIns="9144" tIns="9144" bIns="9144" anchor="t">
            <a:spAutoFit/>
          </a:bodyPr>
          <a:lstStyle/>
          <a:p>
            <a:pPr algn="l">
              <a:spcAft>
                <a:spcPts val="0"/>
              </a:spcAft>
              <a:defRPr sz="620" b="1">
                <a:solidFill>
                  <a:srgbClr val="0D1117"/>
                </a:solidFill>
                <a:latin typeface="Inter"/>
              </a:defRPr>
            </a:pPr>
            <a:r>
              <a:rPr>
                <a:latin typeface="Inter"/>
              </a:rPr>
              <a:t>OVERALL VIEW</a:t>
            </a:r>
          </a:p>
        </p:txBody>
      </p:sp>
      <p:sp>
        <p:nvSpPr>
          <p:cNvPr id="19" name="TextBox 18"/>
          <p:cNvSpPr txBox="1"/>
          <p:nvPr/>
        </p:nvSpPr>
        <p:spPr>
          <a:xfrm>
            <a:off x="822960" y="5916168"/>
            <a:ext cx="3063240" cy="182880"/>
          </a:xfrm>
          <a:prstGeom prst="rect">
            <a:avLst/>
          </a:prstGeom>
          <a:noFill/>
        </p:spPr>
        <p:txBody>
          <a:bodyPr wrap="none" lIns="9144" rIns="9144" tIns="9144" bIns="9144" anchor="t">
            <a:spAutoFit/>
          </a:bodyPr>
          <a:lstStyle/>
          <a:p>
            <a:pPr algn="l">
              <a:spcAft>
                <a:spcPts val="0"/>
              </a:spcAft>
              <a:defRPr sz="900" b="1">
                <a:solidFill>
                  <a:srgbClr val="0D1117"/>
                </a:solidFill>
                <a:latin typeface="Inter"/>
              </a:defRPr>
            </a:pPr>
            <a:r>
              <a:rPr>
                <a:latin typeface="Inter"/>
              </a:rPr>
              <a:t>Three compatible lanes compared</a:t>
            </a:r>
          </a:p>
        </p:txBody>
      </p:sp>
      <p:sp>
        <p:nvSpPr>
          <p:cNvPr id="20" name="TextBox 19"/>
          <p:cNvSpPr txBox="1"/>
          <p:nvPr/>
        </p:nvSpPr>
        <p:spPr>
          <a:xfrm>
            <a:off x="4297680" y="5733288"/>
            <a:ext cx="3108960" cy="164592"/>
          </a:xfrm>
          <a:prstGeom prst="rect">
            <a:avLst/>
          </a:prstGeom>
          <a:noFill/>
        </p:spPr>
        <p:txBody>
          <a:bodyPr wrap="none" lIns="9144" rIns="9144" tIns="9144" bIns="9144" anchor="t">
            <a:spAutoFit/>
          </a:bodyPr>
          <a:lstStyle/>
          <a:p>
            <a:pPr algn="l">
              <a:spcAft>
                <a:spcPts val="0"/>
              </a:spcAft>
              <a:defRPr sz="650" b="1">
                <a:solidFill>
                  <a:srgbClr val="8A94A1"/>
                </a:solidFill>
                <a:latin typeface="Inter"/>
              </a:defRPr>
            </a:pPr>
            <a:r>
              <a:rPr>
                <a:latin typeface="Inter"/>
              </a:rPr>
              <a:t>SCOPE REVIEWED</a:t>
            </a:r>
          </a:p>
        </p:txBody>
      </p:sp>
      <p:sp>
        <p:nvSpPr>
          <p:cNvPr id="21" name="TextBox 20"/>
          <p:cNvSpPr txBox="1"/>
          <p:nvPr/>
        </p:nvSpPr>
        <p:spPr>
          <a:xfrm>
            <a:off x="4297680" y="5934456"/>
            <a:ext cx="3108960" cy="201168"/>
          </a:xfrm>
          <a:prstGeom prst="rect">
            <a:avLst/>
          </a:prstGeom>
          <a:noFill/>
        </p:spPr>
        <p:txBody>
          <a:bodyPr wrap="none" lIns="9144" rIns="9144" tIns="9144" bIns="9144" anchor="t">
            <a:spAutoFit/>
          </a:bodyPr>
          <a:lstStyle/>
          <a:p>
            <a:pPr algn="l">
              <a:spcAft>
                <a:spcPts val="0"/>
              </a:spcAft>
              <a:defRPr sz="800" b="1">
                <a:solidFill>
                  <a:srgbClr val="FFFFFF"/>
                </a:solidFill>
                <a:latin typeface="Inter"/>
              </a:defRPr>
            </a:pPr>
            <a:r>
              <a:rPr>
                <a:latin typeface="Inter"/>
              </a:rPr>
              <a:t>4 of 4 · Complete</a:t>
            </a:r>
          </a:p>
        </p:txBody>
      </p:sp>
      <p:sp>
        <p:nvSpPr>
          <p:cNvPr id="22" name="TextBox 21"/>
          <p:cNvSpPr txBox="1"/>
          <p:nvPr/>
        </p:nvSpPr>
        <p:spPr>
          <a:xfrm>
            <a:off x="685800" y="6400800"/>
            <a:ext cx="8046720" cy="146304"/>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Investment Committee</a:t>
            </a:r>
          </a:p>
        </p:txBody>
      </p:sp>
      <p:sp>
        <p:nvSpPr>
          <p:cNvPr id="23" name="TextBox 22"/>
          <p:cNvSpPr txBox="1"/>
          <p:nvPr/>
        </p:nvSpPr>
        <p:spPr>
          <a:xfrm>
            <a:off x="685800" y="6556248"/>
            <a:ext cx="8046720" cy="128016"/>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Illustrative sample · not client data</a:t>
            </a:r>
          </a:p>
        </p:txBody>
      </p:sp>
      <p:sp>
        <p:nvSpPr>
          <p:cNvPr id="24" name="TextBox 23"/>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THREE COMPATIBLE GOVERNED LANES HAVE SERVER-RETURNED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Rectangle 8"/>
          <p:cNvSpPr/>
          <p:nvPr/>
        </p:nvSpPr>
        <p:spPr>
          <a:xfrm>
            <a:off x="640080" y="1325880"/>
            <a:ext cx="10908792" cy="131160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31160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Bottom line</a:t>
            </a:r>
          </a:p>
        </p:txBody>
      </p:sp>
      <p:sp>
        <p:nvSpPr>
          <p:cNvPr id="12" name="TextBox 11"/>
          <p:cNvSpPr txBox="1"/>
          <p:nvPr/>
        </p:nvSpPr>
        <p:spPr>
          <a:xfrm>
            <a:off x="804671" y="1719072"/>
            <a:ext cx="10616184" cy="82697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Historical, ex ante, and simulated effects are compatible, and governed comparison metrics are available [S2][S3][S4][S5].</a:t>
            </a:r>
          </a:p>
        </p:txBody>
      </p:sp>
      <p:sp>
        <p:nvSpPr>
          <p:cNvPr id="13" name="Rectangle 12"/>
          <p:cNvSpPr/>
          <p:nvPr/>
        </p:nvSpPr>
        <p:spPr>
          <a:xfrm>
            <a:off x="64008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74980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HISTORICAL LANE</a:t>
            </a:r>
          </a:p>
        </p:txBody>
      </p:sp>
      <p:sp>
        <p:nvSpPr>
          <p:cNvPr id="16" name="TextBox 15"/>
          <p:cNvSpPr txBox="1"/>
          <p:nvPr/>
        </p:nvSpPr>
        <p:spPr>
          <a:xfrm>
            <a:off x="74980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17" name="TextBox 16"/>
          <p:cNvSpPr txBox="1"/>
          <p:nvPr/>
        </p:nvSpPr>
        <p:spPr>
          <a:xfrm>
            <a:off x="74980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Realized 12 months · 2025-07-01 to 2026-06-30 [S2]</a:t>
            </a:r>
          </a:p>
        </p:txBody>
      </p:sp>
      <p:sp>
        <p:nvSpPr>
          <p:cNvPr id="18" name="Rectangle 17"/>
          <p:cNvSpPr/>
          <p:nvPr/>
        </p:nvSpPr>
        <p:spPr>
          <a:xfrm>
            <a:off x="339471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Rectangle 18"/>
          <p:cNvSpPr/>
          <p:nvPr/>
        </p:nvSpPr>
        <p:spPr>
          <a:xfrm>
            <a:off x="339471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0" name="TextBox 19"/>
          <p:cNvSpPr txBox="1"/>
          <p:nvPr/>
        </p:nvSpPr>
        <p:spPr>
          <a:xfrm>
            <a:off x="350443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EX ANTE LANE</a:t>
            </a:r>
          </a:p>
        </p:txBody>
      </p:sp>
      <p:sp>
        <p:nvSpPr>
          <p:cNvPr id="21" name="TextBox 20"/>
          <p:cNvSpPr txBox="1"/>
          <p:nvPr/>
        </p:nvSpPr>
        <p:spPr>
          <a:xfrm>
            <a:off x="350443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22" name="TextBox 21"/>
          <p:cNvSpPr txBox="1"/>
          <p:nvPr/>
        </p:nvSpPr>
        <p:spPr>
          <a:xfrm>
            <a:off x="350443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1-year expected [S3]</a:t>
            </a:r>
          </a:p>
        </p:txBody>
      </p:sp>
      <p:sp>
        <p:nvSpPr>
          <p:cNvPr id="23" name="Rectangle 22"/>
          <p:cNvSpPr/>
          <p:nvPr/>
        </p:nvSpPr>
        <p:spPr>
          <a:xfrm>
            <a:off x="614934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4" name="Rectangle 23"/>
          <p:cNvSpPr/>
          <p:nvPr/>
        </p:nvSpPr>
        <p:spPr>
          <a:xfrm>
            <a:off x="614934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5" name="TextBox 24"/>
          <p:cNvSpPr txBox="1"/>
          <p:nvPr/>
        </p:nvSpPr>
        <p:spPr>
          <a:xfrm>
            <a:off x="625906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SIMULATED LANE</a:t>
            </a:r>
          </a:p>
        </p:txBody>
      </p:sp>
      <p:sp>
        <p:nvSpPr>
          <p:cNvPr id="26" name="TextBox 25"/>
          <p:cNvSpPr txBox="1"/>
          <p:nvPr/>
        </p:nvSpPr>
        <p:spPr>
          <a:xfrm>
            <a:off x="625906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27" name="TextBox 26"/>
          <p:cNvSpPr txBox="1"/>
          <p:nvPr/>
        </p:nvSpPr>
        <p:spPr>
          <a:xfrm>
            <a:off x="625906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1-year simulated · governed scenario [S4]</a:t>
            </a:r>
          </a:p>
        </p:txBody>
      </p:sp>
      <p:sp>
        <p:nvSpPr>
          <p:cNvPr id="28" name="Rectangle 27"/>
          <p:cNvSpPr/>
          <p:nvPr/>
        </p:nvSpPr>
        <p:spPr>
          <a:xfrm>
            <a:off x="890397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9" name="Rectangle 28"/>
          <p:cNvSpPr/>
          <p:nvPr/>
        </p:nvSpPr>
        <p:spPr>
          <a:xfrm>
            <a:off x="890397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0" name="TextBox 29"/>
          <p:cNvSpPr txBox="1"/>
          <p:nvPr/>
        </p:nvSpPr>
        <p:spPr>
          <a:xfrm>
            <a:off x="901369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COMPARISON COVERAGE</a:t>
            </a:r>
          </a:p>
        </p:txBody>
      </p:sp>
      <p:sp>
        <p:nvSpPr>
          <p:cNvPr id="31" name="TextBox 30"/>
          <p:cNvSpPr txBox="1"/>
          <p:nvPr/>
        </p:nvSpPr>
        <p:spPr>
          <a:xfrm>
            <a:off x="901369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Complete</a:t>
            </a:r>
          </a:p>
        </p:txBody>
      </p:sp>
      <p:sp>
        <p:nvSpPr>
          <p:cNvPr id="32" name="TextBox 31"/>
          <p:cNvSpPr txBox="1"/>
          <p:nvPr/>
        </p:nvSpPr>
        <p:spPr>
          <a:xfrm>
            <a:off x="901369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Server-returned comparison · compatible receipts [S5]</a:t>
            </a:r>
          </a:p>
        </p:txBody>
      </p:sp>
      <p:sp>
        <p:nvSpPr>
          <p:cNvPr id="33" name="Rectangle 32"/>
          <p:cNvSpPr/>
          <p:nvPr/>
        </p:nvSpPr>
        <p:spPr>
          <a:xfrm>
            <a:off x="640080" y="4979469"/>
            <a:ext cx="73152" cy="1165298"/>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4" name="TextBox 33"/>
          <p:cNvSpPr txBox="1"/>
          <p:nvPr/>
        </p:nvSpPr>
        <p:spPr>
          <a:xfrm>
            <a:off x="896112" y="4952037"/>
            <a:ext cx="10588752" cy="760729"/>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Three governed returned lanes and comparison metrics are available [S2][S3][S4][S5].</a:t>
            </a:r>
          </a:p>
        </p:txBody>
      </p:sp>
      <p:sp>
        <p:nvSpPr>
          <p:cNvPr id="35" name="TextBox 34"/>
          <p:cNvSpPr txBox="1"/>
          <p:nvPr/>
        </p:nvSpPr>
        <p:spPr>
          <a:xfrm>
            <a:off x="896112" y="5693278"/>
            <a:ext cx="10588752" cy="393480"/>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Returned evidence only; no local subtraction or accumulation.</a:t>
            </a:r>
          </a:p>
        </p:txBody>
      </p:sp>
      <p:sp>
        <p:nvSpPr>
          <p:cNvPr id="36" name="Rectangle 35"/>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7" name="TextBox 36"/>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 · S4 · S5</a:t>
            </a:r>
          </a:p>
        </p:txBody>
      </p:sp>
      <p:sp>
        <p:nvSpPr>
          <p:cNvPr id="38" name="TextBox 37"/>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39" name="TextBox 38"/>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THREE COMPATIBLE GOVERNED LANES HAVE SERVER-RETURNED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REALIZED SUMMARY EFFECTS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THREE COMPATIBLE GOVERNED LANES HAVE SERVER-RETURNED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SUMMARY EFFECTS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THREE COMPATIBLE GOVERNED LANES HAVE SERVER-RETURNED COMPARISON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9" name="Rectangle 8"/>
          <p:cNvSpPr/>
          <p:nvPr/>
        </p:nvSpPr>
        <p:spPr>
          <a:xfrm>
            <a:off x="640080" y="1325880"/>
            <a:ext cx="10908792" cy="140042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140042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Historical</a:t>
            </a:r>
          </a:p>
        </p:txBody>
      </p:sp>
      <p:sp>
        <p:nvSpPr>
          <p:cNvPr id="12" name="TextBox 11"/>
          <p:cNvSpPr txBox="1"/>
          <p:nvPr/>
        </p:nvSpPr>
        <p:spPr>
          <a:xfrm>
            <a:off x="804671" y="1719072"/>
            <a:ext cx="10616184" cy="915796"/>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Historical effects are returned [S2]. Why it matters: Realized sources can be described. Uncertainty: One period may not persist. What would change the view: A later governed period.</a:t>
            </a:r>
          </a:p>
        </p:txBody>
      </p:sp>
      <p:sp>
        <p:nvSpPr>
          <p:cNvPr id="13" name="Rectangle 12"/>
          <p:cNvSpPr/>
          <p:nvPr/>
        </p:nvSpPr>
        <p:spPr>
          <a:xfrm>
            <a:off x="640080" y="2836036"/>
            <a:ext cx="10908792" cy="140042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2836036"/>
            <a:ext cx="54864" cy="140042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2945764"/>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Ex ante</a:t>
            </a:r>
          </a:p>
        </p:txBody>
      </p:sp>
      <p:sp>
        <p:nvSpPr>
          <p:cNvPr id="16" name="TextBox 15"/>
          <p:cNvSpPr txBox="1"/>
          <p:nvPr/>
        </p:nvSpPr>
        <p:spPr>
          <a:xfrm>
            <a:off x="804671" y="3229228"/>
            <a:ext cx="10616184" cy="915796"/>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Ex ante effects are returned [S3]. Why it matters: Expected sources can be described. Uncertainty: Inputs are assumptions. What would change the view: Refreshed governed inputs.</a:t>
            </a:r>
          </a:p>
        </p:txBody>
      </p:sp>
      <p:sp>
        <p:nvSpPr>
          <p:cNvPr id="17" name="Rectangle 16"/>
          <p:cNvSpPr/>
          <p:nvPr/>
        </p:nvSpPr>
        <p:spPr>
          <a:xfrm>
            <a:off x="640080" y="4346193"/>
            <a:ext cx="10908792" cy="1871726"/>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640080" y="4346193"/>
            <a:ext cx="54864" cy="1871726"/>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804671" y="4455921"/>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Comparison</a:t>
            </a:r>
          </a:p>
        </p:txBody>
      </p:sp>
      <p:sp>
        <p:nvSpPr>
          <p:cNvPr id="20" name="TextBox 19"/>
          <p:cNvSpPr txBox="1"/>
          <p:nvPr/>
        </p:nvSpPr>
        <p:spPr>
          <a:xfrm>
            <a:off x="804671" y="4739385"/>
            <a:ext cx="10616184" cy="1387094"/>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Server-returned comparison metrics cover three compatible lanes [S5]. Why it matters: Cross-lane evidence is governed. Uncertainty: One comparison receipt limits time-series interpretation. What would change the view: A later receipt returning different lane signs.</a:t>
            </a:r>
          </a:p>
        </p:txBody>
      </p:sp>
      <p:sp>
        <p:nvSpPr>
          <p:cNvPr id="21" name="Rectangle 2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TextBox 2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 · S5</a:t>
            </a:r>
          </a:p>
        </p:txBody>
      </p:sp>
      <p:sp>
        <p:nvSpPr>
          <p:cNvPr id="23" name="TextBox 2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24" name="TextBox 2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PORTFOLIO, BENCHMARK, COHORT AND CURRENCY IDENTIFIERS MATCH</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Scope and Compatibility</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sp>
        <p:nvSpPr>
          <p:cNvPr id="9" name="Rectangle 8"/>
          <p:cNvSpPr/>
          <p:nvPr/>
        </p:nvSpPr>
        <p:spPr>
          <a:xfrm>
            <a:off x="640080" y="1399032"/>
            <a:ext cx="73152" cy="1867301"/>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96112" y="1371600"/>
            <a:ext cx="10588752" cy="1005840"/>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Compatible for governed three-lane comparison</a:t>
            </a:r>
          </a:p>
        </p:txBody>
      </p:sp>
      <p:sp>
        <p:nvSpPr>
          <p:cNvPr id="11" name="TextBox 10"/>
          <p:cNvSpPr txBox="1"/>
          <p:nvPr/>
        </p:nvSpPr>
        <p:spPr>
          <a:xfrm>
            <a:off x="896112" y="2423160"/>
            <a:ext cx="10588752" cy="604081"/>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The returned compatibility receipt matches portfolio, benchmark role, parent cohort and calculation currency [S5].</a:t>
            </a:r>
          </a:p>
        </p:txBody>
      </p:sp>
      <p:graphicFrame>
        <p:nvGraphicFramePr>
          <p:cNvPr id="12" name="Table 11"/>
          <p:cNvGraphicFramePr>
            <a:graphicFrameLocks noGrp="1"/>
          </p:cNvGraphicFramePr>
          <p:nvPr/>
        </p:nvGraphicFramePr>
        <p:xfrm>
          <a:off x="640080" y="3449213"/>
          <a:ext cx="10908792" cy="2768706"/>
        </p:xfrm>
        <a:graphic>
          <a:graphicData uri="http://schemas.openxmlformats.org/drawingml/2006/table">
            <a:tbl>
              <a:tblPr firstRow="1" bandRow="1">
                <a:tableStyleId>{5C22544A-7EE6-4342-B048-85BDC9FD1C3A}</a:tableStyleId>
              </a:tblPr>
              <a:tblGrid>
                <a:gridCol w="2011680"/>
                <a:gridCol w="4448556"/>
                <a:gridCol w="4448556"/>
              </a:tblGrid>
              <a:tr h="1384353">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384353">
                <a:tc>
                  <a:txBody>
                    <a:bodyPr/>
                    <a:lstStyle/>
                    <a:p>
                      <a:pPr>
                        <a:defRPr sz="800" b="1">
                          <a:solidFill>
                            <a:srgbClr val="0D1117"/>
                          </a:solidFill>
                          <a:latin typeface="Inter"/>
                        </a:defRPr>
                      </a:pPr>
                      <a:r>
                        <a:rPr>
                          <a:latin typeface="Inter"/>
                        </a:rPr>
                        <a:t>Compatibility gate</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Four identifiers match [S2][S3]</a:t>
                      </a:r>
                    </a:p>
                  </a:txBody>
                  <a:tcPr marL="54864" marR="54864" marT="27432" marB="27432" anchor="ctr">
                    <a:solidFill>
                      <a:srgbClr val="FFFFFF"/>
                    </a:solidFill>
                  </a:tcPr>
                </a:tc>
              </a:tr>
            </a:tbl>
          </a:graphicData>
        </a:graphic>
      </p:graphicFrame>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 · S5</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EFFECTS BY SEGMENT</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PORTFOLIO AND BENCHMARK AVERAGE WEIGHTS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CUMULATIVE LINKED EFFECTS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CUMULATIVE ALTERNATIVES SELECTION</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CUMULATIVE GROWTH CONTEXT</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S6</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9" name="Rectangle 8"/>
          <p:cNvSpPr/>
          <p:nvPr/>
        </p:nvSpPr>
        <p:spPr>
          <a:xfrm>
            <a:off x="640080" y="1325880"/>
            <a:ext cx="10908792" cy="2385449"/>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2385449"/>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Selection leads detractors</a:t>
            </a:r>
          </a:p>
        </p:txBody>
      </p:sp>
      <p:sp>
        <p:nvSpPr>
          <p:cNvPr id="12" name="TextBox 11"/>
          <p:cNvSpPr txBox="1"/>
          <p:nvPr/>
        </p:nvSpPr>
        <p:spPr>
          <a:xfrm>
            <a:off x="804671" y="1719072"/>
            <a:ext cx="10616184" cy="1900817"/>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selection is negative [S2]. Why it matters: Selection leads realized detractors. Uncertainty: The evidence covers one linked period. What would change the view: A later historical…</a:t>
            </a:r>
          </a:p>
        </p:txBody>
      </p:sp>
      <p:sp>
        <p:nvSpPr>
          <p:cNvPr id="13" name="Rectangle 12"/>
          <p:cNvSpPr/>
          <p:nvPr/>
        </p:nvSpPr>
        <p:spPr>
          <a:xfrm>
            <a:off x="640080" y="3821057"/>
            <a:ext cx="10908792" cy="239686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3821057"/>
            <a:ext cx="54864" cy="239686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393078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Benchmark and excess boundary</a:t>
            </a:r>
          </a:p>
        </p:txBody>
      </p:sp>
      <p:sp>
        <p:nvSpPr>
          <p:cNvPr id="16" name="TextBox 15"/>
          <p:cNvSpPr txBox="1"/>
          <p:nvPr/>
        </p:nvSpPr>
        <p:spPr>
          <a:xfrm>
            <a:off x="804671" y="4214249"/>
            <a:ext cx="10616184" cy="191223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Returned diagnostics.entity_return_reconciliation keeps attribution-summary excess against the linked segment benchmark composite separate from historical-return excess against the policy benchmark entity [S2].</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EFFECTS BY SEGMENT</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TextBox 8"/>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 ANTE ASSUMPTIONS</a:t>
            </a:r>
          </a:p>
        </p:txBody>
      </p:sp>
      <p:graphicFrame>
        <p:nvGraphicFramePr>
          <p:cNvPr id="10" name="Table 9"/>
          <p:cNvGraphicFramePr>
            <a:graphicFrameLocks noGrp="1"/>
          </p:cNvGraphicFramePr>
          <p:nvPr/>
        </p:nvGraphicFramePr>
        <p:xfrm>
          <a:off x="640080" y="1600200"/>
          <a:ext cx="5239512" cy="4617720"/>
        </p:xfrm>
        <a:graphic>
          <a:graphicData uri="http://schemas.openxmlformats.org/drawingml/2006/table">
            <a:tbl>
              <a:tblPr firstRow="1" bandRow="1">
                <a:tableStyleId>{5C22544A-7EE6-4342-B048-85BDC9FD1C3A}</a:tableStyleId>
              </a:tblPr>
              <a:tblGrid>
                <a:gridCol w="2619756"/>
                <a:gridCol w="2619756"/>
              </a:tblGrid>
              <a:tr h="923544">
                <a:tc>
                  <a:txBody>
                    <a:bodyPr/>
                    <a:lstStyle/>
                    <a:p>
                      <a:pPr>
                        <a:defRPr sz="800" b="1">
                          <a:solidFill>
                            <a:srgbClr val="0D1117"/>
                          </a:solidFill>
                          <a:latin typeface="Inter"/>
                        </a:defRPr>
                      </a:pPr>
                      <a:r>
                        <a:rPr>
                          <a:latin typeface="Inter"/>
                        </a:rPr>
                        <a:t>assumption_set_name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2026 Strategic CMA [S3]</a:t>
                      </a:r>
                    </a:p>
                  </a:txBody>
                  <a:tcPr marL="54864" marR="54864" marT="27432" marB="27432" anchor="ctr">
                    <a:solidFill>
                      <a:srgbClr val="FFFFFF"/>
                    </a:solidFill>
                  </a:tcPr>
                </a:tc>
              </a:tr>
              <a:tr h="923544">
                <a:tc>
                  <a:txBody>
                    <a:bodyPr/>
                    <a:lstStyle/>
                    <a:p>
                      <a:pPr>
                        <a:defRPr sz="800" b="1">
                          <a:solidFill>
                            <a:srgbClr val="0D1117"/>
                          </a:solidFill>
                          <a:latin typeface="Inter"/>
                        </a:defRPr>
                      </a:pPr>
                      <a:r>
                        <a:rPr>
                          <a:latin typeface="Inter"/>
                        </a:rPr>
                        <a:t>regime_name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user-defined regime [S3]</a:t>
                      </a:r>
                    </a:p>
                  </a:txBody>
                  <a:tcPr marL="54864" marR="54864" marT="27432" marB="27432" anchor="ctr">
                    <a:solidFill>
                      <a:srgbClr val="F5F7F9"/>
                    </a:solidFill>
                  </a:tcPr>
                </a:tc>
              </a:tr>
              <a:tr h="923544">
                <a:tc>
                  <a:txBody>
                    <a:bodyPr/>
                    <a:lstStyle/>
                    <a:p>
                      <a:pPr>
                        <a:defRPr sz="800" b="1">
                          <a:solidFill>
                            <a:srgbClr val="0D1117"/>
                          </a:solidFill>
                          <a:latin typeface="Inter"/>
                        </a:defRPr>
                      </a:pPr>
                      <a:r>
                        <a:rPr>
                          <a:latin typeface="Inter"/>
                        </a:rPr>
                        <a:t>horizon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 year [S3]</a:t>
                      </a:r>
                    </a:p>
                  </a:txBody>
                  <a:tcPr marL="54864" marR="54864" marT="27432" marB="27432" anchor="ctr">
                    <a:solidFill>
                      <a:srgbClr val="FFFFFF"/>
                    </a:solidFill>
                  </a:tcPr>
                </a:tc>
              </a:tr>
              <a:tr h="923544">
                <a:tc>
                  <a:txBody>
                    <a:bodyPr/>
                    <a:lstStyle/>
                    <a:p>
                      <a:pPr>
                        <a:defRPr sz="800" b="1">
                          <a:solidFill>
                            <a:srgbClr val="0D1117"/>
                          </a:solidFill>
                          <a:latin typeface="Inter"/>
                        </a:defRPr>
                      </a:pPr>
                      <a:r>
                        <a:rPr>
                          <a:latin typeface="Inter"/>
                        </a:rPr>
                        <a:t>portfolio_return_source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allocation_expected_return_base [S3]</a:t>
                      </a:r>
                    </a:p>
                  </a:txBody>
                  <a:tcPr marL="54864" marR="54864" marT="27432" marB="27432" anchor="ctr">
                    <a:solidFill>
                      <a:srgbClr val="F5F7F9"/>
                    </a:solidFill>
                  </a:tcPr>
                </a:tc>
              </a:tr>
              <a:tr h="923544">
                <a:tc>
                  <a:txBody>
                    <a:bodyPr/>
                    <a:lstStyle/>
                    <a:p>
                      <a:pPr>
                        <a:defRPr sz="800" b="1">
                          <a:solidFill>
                            <a:srgbClr val="0D1117"/>
                          </a:solidFill>
                          <a:latin typeface="Inter"/>
                        </a:defRPr>
                      </a:pPr>
                      <a:r>
                        <a:rPr>
                          <a:latin typeface="Inter"/>
                        </a:rPr>
                        <a:t>benchmark_return_source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benchmark_expected_return_base [S3]</a:t>
                      </a:r>
                    </a:p>
                  </a:txBody>
                  <a:tcPr marL="54864" marR="54864" marT="27432" marB="27432" anchor="ctr">
                    <a:solidFill>
                      <a:srgbClr val="FFFFFF"/>
                    </a:solidFill>
                  </a:tcPr>
                </a:tc>
              </a:tr>
            </a:tbl>
          </a:graphicData>
        </a:graphic>
      </p:graphicFrame>
      <p:sp>
        <p:nvSpPr>
          <p:cNvPr id="11" name="Rectangle 10"/>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PORTFOLIO AND BENCHMARK RETURNS</a:t>
            </a:r>
          </a:p>
        </p:txBody>
      </p:sp>
      <p:graphicFrame>
        <p:nvGraphicFramePr>
          <p:cNvPr id="13" name="Chart 12"/>
          <p:cNvGraphicFramePr>
            <a:graphicFrameLocks noGrp="1"/>
          </p:cNvGraphicFramePr>
          <p:nvPr/>
        </p:nvGraphicFramePr>
        <p:xfrm>
          <a:off x="6309360" y="1600200"/>
          <a:ext cx="5239512" cy="4617720"/>
        </p:xfrm>
        <a:graphic>
          <a:graphicData uri="http://schemas.openxmlformats.org/drawingml/2006/chart">
            <c:chart xmlns:c="http://schemas.openxmlformats.org/drawingml/2006/chart" r:id="rId2"/>
          </a:graphicData>
        </a:graphic>
      </p:graphicFrame>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9" name="Rectangle 8"/>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Rectangle 9"/>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Allocation leads expectations</a:t>
            </a:r>
          </a:p>
        </p:txBody>
      </p:sp>
      <p:sp>
        <p:nvSpPr>
          <p:cNvPr id="12" name="TextBox 11"/>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allocation is positive [S3]. Why it matters: Allocation leads expected effects. Uncertainty: Inputs are assumptions. What would change the view: A refreshed ex ante result.</a:t>
            </a:r>
          </a:p>
        </p:txBody>
      </p:sp>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SIMULATION RETURNS SCENARIO EFFECTS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Simulated Attribution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SIMULATED EFFECT BANDS</a:t>
            </a:r>
          </a:p>
        </p:txBody>
      </p:sp>
      <p:sp>
        <p:nvSpPr>
          <p:cNvPr id="10" name="TextBox 9"/>
          <p:cNvSpPr txBox="1"/>
          <p:nvPr/>
        </p:nvSpPr>
        <p:spPr>
          <a:xfrm>
            <a:off x="640080" y="1636776"/>
            <a:ext cx="1828800" cy="1493520"/>
          </a:xfrm>
          <a:prstGeom prst="rect">
            <a:avLst/>
          </a:prstGeom>
          <a:noFill/>
        </p:spPr>
        <p:txBody>
          <a:bodyPr wrap="none" lIns="9144" rIns="9144" tIns="9144" bIns="9144" anchor="t">
            <a:spAutoFit/>
          </a:bodyPr>
          <a:lstStyle/>
          <a:p>
            <a:pPr algn="r">
              <a:spcAft>
                <a:spcPts val="0"/>
              </a:spcAft>
              <a:defRPr sz="800" b="1">
                <a:solidFill>
                  <a:srgbClr val="0D1117"/>
                </a:solidFill>
                <a:latin typeface="Inter"/>
              </a:defRPr>
            </a:pPr>
            <a:r>
              <a:rPr>
                <a:latin typeface="Inter"/>
              </a:rPr>
              <a:t>Allocation</a:t>
            </a:r>
          </a:p>
        </p:txBody>
      </p:sp>
      <p:sp>
        <p:nvSpPr>
          <p:cNvPr id="11" name="Rectangle 10"/>
          <p:cNvSpPr/>
          <p:nvPr/>
        </p:nvSpPr>
        <p:spPr>
          <a:xfrm>
            <a:off x="7761427" y="2185111"/>
            <a:ext cx="3467404" cy="10058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Oval 11"/>
          <p:cNvSpPr/>
          <p:nvPr/>
        </p:nvSpPr>
        <p:spPr>
          <a:xfrm>
            <a:off x="9458553" y="2061972"/>
            <a:ext cx="73152" cy="219456"/>
          </a:xfrm>
          <a:prstGeom prst="ellipse">
            <a:avLst/>
          </a:prstGeom>
          <a:solidFill>
            <a:srgbClr val="4F6B00"/>
          </a:solidFill>
          <a:ln>
            <a:solidFill>
              <a:srgbClr val="4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9481413" y="1908048"/>
            <a:ext cx="27432" cy="34747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3176016"/>
            <a:ext cx="1828800" cy="1493520"/>
          </a:xfrm>
          <a:prstGeom prst="rect">
            <a:avLst/>
          </a:prstGeom>
          <a:noFill/>
        </p:spPr>
        <p:txBody>
          <a:bodyPr wrap="none" lIns="9144" rIns="9144" tIns="9144" bIns="9144" anchor="t">
            <a:spAutoFit/>
          </a:bodyPr>
          <a:lstStyle/>
          <a:p>
            <a:pPr algn="r">
              <a:spcAft>
                <a:spcPts val="0"/>
              </a:spcAft>
              <a:defRPr sz="800" b="1">
                <a:solidFill>
                  <a:srgbClr val="0D1117"/>
                </a:solidFill>
                <a:latin typeface="Inter"/>
              </a:defRPr>
            </a:pPr>
            <a:r>
              <a:rPr>
                <a:latin typeface="Inter"/>
              </a:rPr>
              <a:t>Selection</a:t>
            </a:r>
          </a:p>
        </p:txBody>
      </p:sp>
      <p:sp>
        <p:nvSpPr>
          <p:cNvPr id="15" name="Rectangle 14"/>
          <p:cNvSpPr/>
          <p:nvPr/>
        </p:nvSpPr>
        <p:spPr>
          <a:xfrm>
            <a:off x="2560320" y="3724351"/>
            <a:ext cx="5201107" cy="10058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6" name="Oval 15"/>
          <p:cNvSpPr/>
          <p:nvPr/>
        </p:nvSpPr>
        <p:spPr>
          <a:xfrm>
            <a:off x="5124297" y="3601212"/>
            <a:ext cx="73152" cy="219456"/>
          </a:xfrm>
          <a:prstGeom prst="ellipse">
            <a:avLst/>
          </a:prstGeom>
          <a:solidFill>
            <a:srgbClr val="4F6B00"/>
          </a:solidFill>
          <a:ln>
            <a:solidFill>
              <a:srgbClr val="4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Rectangle 16"/>
          <p:cNvSpPr/>
          <p:nvPr/>
        </p:nvSpPr>
        <p:spPr>
          <a:xfrm>
            <a:off x="5147157" y="3447288"/>
            <a:ext cx="27432" cy="34747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4715256"/>
            <a:ext cx="1828800" cy="1493520"/>
          </a:xfrm>
          <a:prstGeom prst="rect">
            <a:avLst/>
          </a:prstGeom>
          <a:noFill/>
        </p:spPr>
        <p:txBody>
          <a:bodyPr wrap="none" lIns="9144" rIns="9144" tIns="9144" bIns="9144" anchor="t">
            <a:spAutoFit/>
          </a:bodyPr>
          <a:lstStyle/>
          <a:p>
            <a:pPr algn="r">
              <a:spcAft>
                <a:spcPts val="0"/>
              </a:spcAft>
              <a:defRPr sz="800" b="1">
                <a:solidFill>
                  <a:srgbClr val="0D1117"/>
                </a:solidFill>
                <a:latin typeface="Inter"/>
              </a:defRPr>
            </a:pPr>
            <a:r>
              <a:rPr>
                <a:latin typeface="Inter"/>
              </a:rPr>
              <a:t>Interaction</a:t>
            </a:r>
          </a:p>
        </p:txBody>
      </p:sp>
      <p:sp>
        <p:nvSpPr>
          <p:cNvPr id="19" name="Rectangle 18"/>
          <p:cNvSpPr/>
          <p:nvPr/>
        </p:nvSpPr>
        <p:spPr>
          <a:xfrm>
            <a:off x="6027724" y="5263591"/>
            <a:ext cx="2600553" cy="10058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0" name="Oval 19"/>
          <p:cNvSpPr/>
          <p:nvPr/>
        </p:nvSpPr>
        <p:spPr>
          <a:xfrm>
            <a:off x="7204740" y="5140452"/>
            <a:ext cx="73152" cy="219456"/>
          </a:xfrm>
          <a:prstGeom prst="ellipse">
            <a:avLst/>
          </a:prstGeom>
          <a:solidFill>
            <a:srgbClr val="4F6B00"/>
          </a:solidFill>
          <a:ln>
            <a:solidFill>
              <a:srgbClr val="4F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1" name="Rectangle 20"/>
          <p:cNvSpPr/>
          <p:nvPr/>
        </p:nvSpPr>
        <p:spPr>
          <a:xfrm>
            <a:off x="7227600" y="4986528"/>
            <a:ext cx="27432" cy="34747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2" name="Rectangle 2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3" name="TextBox 2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S4</a:t>
            </a:r>
          </a:p>
        </p:txBody>
      </p:sp>
      <p:sp>
        <p:nvSpPr>
          <p:cNvPr id="24" name="TextBox 2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25" name="TextBox 2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SIMULATION RETURNS SCENARIO EFFECTS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Simulated Attribution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SCENARIO SELECTOR</a:t>
            </a:r>
          </a:p>
        </p:txBody>
      </p:sp>
      <p:graphicFrame>
        <p:nvGraphicFramePr>
          <p:cNvPr id="10" name="Table 9"/>
          <p:cNvGraphicFramePr>
            <a:graphicFrameLocks noGrp="1"/>
          </p:cNvGraphicFramePr>
          <p:nvPr/>
        </p:nvGraphicFramePr>
        <p:xfrm>
          <a:off x="640080" y="1600200"/>
          <a:ext cx="10908792" cy="1536058"/>
        </p:xfrm>
        <a:graphic>
          <a:graphicData uri="http://schemas.openxmlformats.org/drawingml/2006/table">
            <a:tbl>
              <a:tblPr firstRow="1" bandRow="1">
                <a:tableStyleId>{5C22544A-7EE6-4342-B048-85BDC9FD1C3A}</a:tableStyleId>
              </a:tblPr>
              <a:tblGrid>
                <a:gridCol w="2011680"/>
                <a:gridCol w="2965704"/>
                <a:gridCol w="2965704"/>
                <a:gridCol w="2965704"/>
              </a:tblGrid>
              <a:tr h="384014">
                <a:tc>
                  <a:txBody>
                    <a:bodyPr/>
                    <a:lstStyle/>
                    <a:p>
                      <a:pPr>
                        <a:defRPr sz="750" b="1">
                          <a:solidFill>
                            <a:srgbClr val="FFFFFF"/>
                          </a:solidFill>
                          <a:latin typeface="Inter"/>
                        </a:defRPr>
                      </a:pPr>
                      <a:r>
                        <a:rPr>
                          <a:latin typeface="Inter"/>
                        </a:rPr>
                        <a:t>Scenario ID</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Scenario</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Selected</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Basis</a:t>
                      </a:r>
                    </a:p>
                  </a:txBody>
                  <a:tcPr marL="54864" marR="54864" marT="27432" marB="27432" anchor="ctr">
                    <a:solidFill>
                      <a:srgbClr val="0D1117"/>
                    </a:solidFill>
                  </a:tcPr>
                </a:tc>
              </a:tr>
              <a:tr h="384014">
                <a:tc>
                  <a:txBody>
                    <a:bodyPr/>
                    <a:lstStyle/>
                    <a:p>
                      <a:pPr>
                        <a:defRPr sz="800" b="1">
                          <a:solidFill>
                            <a:srgbClr val="0D1117"/>
                          </a:solidFill>
                          <a:latin typeface="Inter"/>
                        </a:defRPr>
                      </a:pPr>
                      <a:r>
                        <a:rPr>
                          <a:latin typeface="Inter"/>
                        </a:rPr>
                        <a:t>scenario-base-test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Base scenario</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Yes</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1-year simulated</a:t>
                      </a:r>
                    </a:p>
                  </a:txBody>
                  <a:tcPr marL="54864" marR="54864" marT="27432" marB="27432" anchor="ctr">
                    <a:solidFill>
                      <a:srgbClr val="FFFFFF"/>
                    </a:solidFill>
                  </a:tcPr>
                </a:tc>
              </a:tr>
              <a:tr h="384014">
                <a:tc>
                  <a:txBody>
                    <a:bodyPr/>
                    <a:lstStyle/>
                    <a:p>
                      <a:pPr>
                        <a:defRPr sz="800" b="1">
                          <a:solidFill>
                            <a:srgbClr val="0D1117"/>
                          </a:solidFill>
                          <a:latin typeface="Inter"/>
                        </a:defRPr>
                      </a:pPr>
                      <a:r>
                        <a:rPr>
                          <a:latin typeface="Inter"/>
                        </a:rPr>
                        <a:t>scenario-down-test</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Downside scenario</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1-year simulated</a:t>
                      </a:r>
                    </a:p>
                  </a:txBody>
                  <a:tcPr marL="54864" marR="54864" marT="27432" marB="27432" anchor="ctr">
                    <a:solidFill>
                      <a:srgbClr val="F5F7F9"/>
                    </a:solidFill>
                  </a:tcPr>
                </a:tc>
              </a:tr>
              <a:tr h="384016">
                <a:tc>
                  <a:txBody>
                    <a:bodyPr/>
                    <a:lstStyle/>
                    <a:p>
                      <a:pPr>
                        <a:defRPr sz="800" b="1">
                          <a:solidFill>
                            <a:srgbClr val="0D1117"/>
                          </a:solidFill>
                          <a:latin typeface="Inter"/>
                        </a:defRPr>
                      </a:pPr>
                      <a:r>
                        <a:rPr>
                          <a:latin typeface="Inter"/>
                        </a:rPr>
                        <a:t>scenario-up-test</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Upside scenario</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No</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1-year simulated</a:t>
                      </a:r>
                    </a:p>
                  </a:txBody>
                  <a:tcPr marL="54864" marR="54864" marT="27432" marB="27432" anchor="ctr">
                    <a:solidFill>
                      <a:srgbClr val="FFFFFF"/>
                    </a:solidFill>
                  </a:tcPr>
                </a:tc>
              </a:tr>
            </a:tbl>
          </a:graphicData>
        </a:graphic>
      </p:graphicFrame>
      <p:sp>
        <p:nvSpPr>
          <p:cNvPr id="11" name="TextBox 10"/>
          <p:cNvSpPr txBox="1"/>
          <p:nvPr/>
        </p:nvSpPr>
        <p:spPr>
          <a:xfrm>
            <a:off x="640080" y="3154546"/>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Returned scenario selector; no locally invented scenarios [S4].</a:t>
            </a:r>
          </a:p>
        </p:txBody>
      </p:sp>
      <p:graphicFrame>
        <p:nvGraphicFramePr>
          <p:cNvPr id="12" name="Table 11"/>
          <p:cNvGraphicFramePr>
            <a:graphicFrameLocks noGrp="1"/>
          </p:cNvGraphicFramePr>
          <p:nvPr/>
        </p:nvGraphicFramePr>
        <p:xfrm>
          <a:off x="640080" y="3447154"/>
          <a:ext cx="10908792" cy="1409364"/>
        </p:xfrm>
        <a:graphic>
          <a:graphicData uri="http://schemas.openxmlformats.org/drawingml/2006/table">
            <a:tbl>
              <a:tblPr firstRow="1" bandRow="1">
                <a:tableStyleId>{5C22544A-7EE6-4342-B048-85BDC9FD1C3A}</a:tableStyleId>
              </a:tblPr>
              <a:tblGrid>
                <a:gridCol w="2011680"/>
                <a:gridCol w="4448556"/>
                <a:gridCol w="4448556"/>
              </a:tblGrid>
              <a:tr h="704682">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704682">
                <a:tc>
                  <a:txBody>
                    <a:bodyPr/>
                    <a:lstStyle/>
                    <a:p>
                      <a:pPr>
                        <a:defRPr sz="800" b="1">
                          <a:solidFill>
                            <a:srgbClr val="0D1117"/>
                          </a:solidFill>
                          <a:latin typeface="Inter"/>
                        </a:defRPr>
                      </a:pPr>
                      <a:r>
                        <a:rPr>
                          <a:latin typeface="Inter"/>
                        </a:rPr>
                        <a:t>Capability gate</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Exact simulation capability was available before invocation [S1][S4]</a:t>
                      </a:r>
                    </a:p>
                  </a:txBody>
                  <a:tcPr marL="54864" marR="54864" marT="27432" marB="27432" anchor="ctr">
                    <a:solidFill>
                      <a:srgbClr val="FFFFFF"/>
                    </a:solidFill>
                  </a:tcPr>
                </a:tc>
              </a:tr>
            </a:tbl>
          </a:graphicData>
        </a:graphic>
      </p:graphicFrame>
      <p:sp>
        <p:nvSpPr>
          <p:cNvPr id="13" name="Rectangle 12"/>
          <p:cNvSpPr/>
          <p:nvPr/>
        </p:nvSpPr>
        <p:spPr>
          <a:xfrm>
            <a:off x="640080" y="4966247"/>
            <a:ext cx="10908792" cy="125167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4966247"/>
            <a:ext cx="54864" cy="125167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507597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Scenario range returned</a:t>
            </a:r>
          </a:p>
        </p:txBody>
      </p:sp>
      <p:sp>
        <p:nvSpPr>
          <p:cNvPr id="16" name="TextBox 15"/>
          <p:cNvSpPr txBox="1"/>
          <p:nvPr/>
        </p:nvSpPr>
        <p:spPr>
          <a:xfrm>
            <a:off x="804671" y="5359439"/>
            <a:ext cx="10616184" cy="76704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The governed simulation returned effect bands and a selected base scenario [S4]. Why it matters: Scenario context is explicit. Uncertainty: Results depend on governed scenario inputs. What…</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S4</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CROSS-LANE EFFECT MATRIX</a:t>
            </a:r>
          </a:p>
        </p:txBody>
      </p:sp>
      <p:graphicFrame>
        <p:nvGraphicFramePr>
          <p:cNvPr id="10" name="Table 9"/>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2727198"/>
                <a:gridCol w="2727198"/>
                <a:gridCol w="2727198"/>
                <a:gridCol w="2727198"/>
              </a:tblGrid>
              <a:tr h="1154430">
                <a:tc>
                  <a:txBody>
                    <a:bodyPr/>
                    <a:lstStyle/>
                    <a:p>
                      <a:pPr>
                        <a:defRPr sz="700" b="1">
                          <a:solidFill>
                            <a:srgbClr val="FFFFFF"/>
                          </a:solidFill>
                          <a:latin typeface="Inter"/>
                        </a:defRPr>
                      </a:pP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Realized</a:t>
                      </a: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Expected</a:t>
                      </a: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Simulated</a:t>
                      </a:r>
                    </a:p>
                  </a:txBody>
                  <a:tcPr marL="54864" marR="54864" marT="27432" marB="27432" anchor="ctr">
                    <a:solidFill>
                      <a:srgbClr val="0D1117"/>
                    </a:solidFill>
                  </a:tcPr>
                </a:tc>
              </a:tr>
              <a:tr h="1154430">
                <a:tc>
                  <a:txBody>
                    <a:bodyPr/>
                    <a:lstStyle/>
                    <a:p>
                      <a:pPr>
                        <a:defRPr sz="750" b="1">
                          <a:solidFill>
                            <a:srgbClr val="FFFFFF"/>
                          </a:solidFill>
                          <a:latin typeface="Inter"/>
                        </a:defRPr>
                      </a:pPr>
                      <a:r>
                        <a:rPr>
                          <a:latin typeface="Inter"/>
                        </a:rPr>
                        <a:t>Allocation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0.2</a:t>
                      </a:r>
                    </a:p>
                  </a:txBody>
                  <a:tcPr marL="54864" marR="54864" marT="27432" marB="27432" anchor="ctr">
                    <a:solidFill>
                      <a:srgbClr val="CEF453"/>
                    </a:solidFill>
                  </a:tcPr>
                </a:tc>
                <a:tc>
                  <a:txBody>
                    <a:bodyPr/>
                    <a:lstStyle/>
                    <a:p>
                      <a:pPr>
                        <a:defRPr sz="750" b="0">
                          <a:solidFill>
                            <a:srgbClr val="0D1117"/>
                          </a:solidFill>
                          <a:latin typeface="Inter"/>
                        </a:defRPr>
                      </a:pPr>
                      <a:r>
                        <a:rPr>
                          <a:latin typeface="Inter"/>
                        </a:rPr>
                        <a:t>0.4</a:t>
                      </a:r>
                    </a:p>
                  </a:txBody>
                  <a:tcPr marL="54864" marR="54864" marT="27432" marB="27432" anchor="ctr">
                    <a:solidFill>
                      <a:srgbClr val="C6F432"/>
                    </a:solidFill>
                  </a:tcPr>
                </a:tc>
                <a:tc>
                  <a:txBody>
                    <a:bodyPr/>
                    <a:lstStyle/>
                    <a:p>
                      <a:pPr>
                        <a:defRPr sz="750" b="0">
                          <a:solidFill>
                            <a:srgbClr val="0D1117"/>
                          </a:solidFill>
                          <a:latin typeface="Inter"/>
                        </a:defRPr>
                      </a:pPr>
                      <a:r>
                        <a:rPr>
                          <a:latin typeface="Inter"/>
                        </a:rPr>
                        <a:t>0.3</a:t>
                      </a:r>
                    </a:p>
                  </a:txBody>
                  <a:tcPr marL="54864" marR="54864" marT="27432" marB="27432" anchor="ctr">
                    <a:solidFill>
                      <a:srgbClr val="CAF443"/>
                    </a:solidFill>
                  </a:tcPr>
                </a:tc>
              </a:tr>
              <a:tr h="1154430">
                <a:tc>
                  <a:txBody>
                    <a:bodyPr/>
                    <a:lstStyle/>
                    <a:p>
                      <a:pPr>
                        <a:defRPr sz="750" b="1">
                          <a:solidFill>
                            <a:srgbClr val="FFFFFF"/>
                          </a:solidFill>
                          <a:latin typeface="Inter"/>
                        </a:defRPr>
                      </a:pPr>
                      <a:r>
                        <a:rPr>
                          <a:latin typeface="Inter"/>
                        </a:rPr>
                        <a:t>Selection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-0.8</a:t>
                      </a:r>
                    </a:p>
                  </a:txBody>
                  <a:tcPr marL="54864" marR="54864" marT="27432" marB="27432" anchor="ctr">
                    <a:solidFill>
                      <a:srgbClr val="F5F7F9"/>
                    </a:solidFill>
                  </a:tcPr>
                </a:tc>
                <a:tc>
                  <a:txBody>
                    <a:bodyPr/>
                    <a:lstStyle/>
                    <a:p>
                      <a:pPr>
                        <a:defRPr sz="750" b="0">
                          <a:solidFill>
                            <a:srgbClr val="0D1117"/>
                          </a:solidFill>
                          <a:latin typeface="Inter"/>
                        </a:defRPr>
                      </a:pPr>
                      <a:r>
                        <a:rPr>
                          <a:latin typeface="Inter"/>
                        </a:rPr>
                        <a:t>-0.1</a:t>
                      </a:r>
                    </a:p>
                  </a:txBody>
                  <a:tcPr marL="54864" marR="54864" marT="27432" marB="27432" anchor="ctr">
                    <a:solidFill>
                      <a:srgbClr val="DAF585"/>
                    </a:solidFill>
                  </a:tcPr>
                </a:tc>
                <a:tc>
                  <a:txBody>
                    <a:bodyPr/>
                    <a:lstStyle/>
                    <a:p>
                      <a:pPr>
                        <a:defRPr sz="750" b="0">
                          <a:solidFill>
                            <a:srgbClr val="0D1117"/>
                          </a:solidFill>
                          <a:latin typeface="Inter"/>
                        </a:defRPr>
                      </a:pPr>
                      <a:r>
                        <a:rPr>
                          <a:latin typeface="Inter"/>
                        </a:rPr>
                        <a:t>-0.2</a:t>
                      </a:r>
                    </a:p>
                  </a:txBody>
                  <a:tcPr marL="54864" marR="54864" marT="27432" marB="27432" anchor="ctr">
                    <a:solidFill>
                      <a:srgbClr val="DEF696"/>
                    </a:solidFill>
                  </a:tcPr>
                </a:tc>
              </a:tr>
              <a:tr h="1154430">
                <a:tc>
                  <a:txBody>
                    <a:bodyPr/>
                    <a:lstStyle/>
                    <a:p>
                      <a:pPr>
                        <a:defRPr sz="750" b="1">
                          <a:solidFill>
                            <a:srgbClr val="FFFFFF"/>
                          </a:solidFill>
                          <a:latin typeface="Inter"/>
                        </a:defRPr>
                      </a:pPr>
                      <a:r>
                        <a:rPr>
                          <a:latin typeface="Inter"/>
                        </a:rPr>
                        <a:t>Interaction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0.0</a:t>
                      </a:r>
                    </a:p>
                  </a:txBody>
                  <a:tcPr marL="54864" marR="54864" marT="27432" marB="27432" anchor="ctr">
                    <a:solidFill>
                      <a:srgbClr val="D6F574"/>
                    </a:solidFill>
                  </a:tcPr>
                </a:tc>
                <a:tc>
                  <a:txBody>
                    <a:bodyPr/>
                    <a:lstStyle/>
                    <a:p>
                      <a:pPr>
                        <a:defRPr sz="750" b="0">
                          <a:solidFill>
                            <a:srgbClr val="0D1117"/>
                          </a:solidFill>
                          <a:latin typeface="Inter"/>
                        </a:defRPr>
                      </a:pPr>
                      <a:r>
                        <a:rPr>
                          <a:latin typeface="Inter"/>
                        </a:rPr>
                        <a:t>0.05</a:t>
                      </a:r>
                    </a:p>
                  </a:txBody>
                  <a:tcPr marL="54864" marR="54864" marT="27432" marB="27432" anchor="ctr">
                    <a:solidFill>
                      <a:srgbClr val="D4F56C"/>
                    </a:solidFill>
                  </a:tcPr>
                </a:tc>
                <a:tc>
                  <a:txBody>
                    <a:bodyPr/>
                    <a:lstStyle/>
                    <a:p>
                      <a:pPr>
                        <a:defRPr sz="750" b="0">
                          <a:solidFill>
                            <a:srgbClr val="0D1117"/>
                          </a:solidFill>
                          <a:latin typeface="Inter"/>
                        </a:defRPr>
                      </a:pPr>
                      <a:r>
                        <a:rPr>
                          <a:latin typeface="Inter"/>
                        </a:rPr>
                        <a:t>0.04</a:t>
                      </a:r>
                    </a:p>
                  </a:txBody>
                  <a:tcPr marL="54864" marR="54864" marT="27432" marB="27432" anchor="ctr">
                    <a:solidFill>
                      <a:srgbClr val="D4F56E"/>
                    </a:solidFill>
                  </a:tcPr>
                </a:tc>
              </a:tr>
            </a:tbl>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S5</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REALIZED RETURNED EFFECTS</a:t>
            </a:r>
          </a:p>
        </p:txBody>
      </p:sp>
      <p:graphicFrame>
        <p:nvGraphicFramePr>
          <p:cNvPr id="10" name="Chart 9"/>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1" name="Rectangle 10"/>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RETURNED EFFECTS</a:t>
            </a:r>
          </a:p>
        </p:txBody>
      </p:sp>
      <p:graphicFrame>
        <p:nvGraphicFramePr>
          <p:cNvPr id="13" name="Chart 12"/>
          <p:cNvGraphicFramePr>
            <a:graphicFrameLocks noGrp="1"/>
          </p:cNvGraphicFramePr>
          <p:nvPr/>
        </p:nvGraphicFramePr>
        <p:xfrm>
          <a:off x="6309360" y="1600200"/>
          <a:ext cx="5239512" cy="4617720"/>
        </p:xfrm>
        <a:graphic>
          <a:graphicData uri="http://schemas.openxmlformats.org/drawingml/2006/chart">
            <c:chart xmlns:c="http://schemas.openxmlformats.org/drawingml/2006/chart" r:id="rId3"/>
          </a:graphicData>
        </a:graphic>
      </p:graphicFrame>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LANE DIFFERENCES</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S5</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CONCENTRATION</a:t>
            </a:r>
          </a:p>
        </p:txBody>
      </p:sp>
      <p:graphicFrame>
        <p:nvGraphicFramePr>
          <p:cNvPr id="10" name="Chart 9"/>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S5</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COMPARISON RETURNS COMPATIBLE CROSS-LANE METRICS</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PERSISTENCE</a:t>
            </a:r>
          </a:p>
        </p:txBody>
      </p:sp>
      <p:graphicFrame>
        <p:nvGraphicFramePr>
          <p:cNvPr id="10" name="Table 9"/>
          <p:cNvGraphicFramePr>
            <a:graphicFrameLocks noGrp="1"/>
          </p:cNvGraphicFramePr>
          <p:nvPr/>
        </p:nvGraphicFramePr>
        <p:xfrm>
          <a:off x="640080" y="1600200"/>
          <a:ext cx="10908792" cy="2250202"/>
        </p:xfrm>
        <a:graphic>
          <a:graphicData uri="http://schemas.openxmlformats.org/drawingml/2006/table">
            <a:tbl>
              <a:tblPr firstRow="1" bandRow="1">
                <a:tableStyleId>{5C22544A-7EE6-4342-B048-85BDC9FD1C3A}</a:tableStyleId>
              </a:tblPr>
              <a:tblGrid>
                <a:gridCol w="2011680"/>
                <a:gridCol w="4448556"/>
                <a:gridCol w="4448556"/>
              </a:tblGrid>
              <a:tr h="562550">
                <a:tc>
                  <a:txBody>
                    <a:bodyPr/>
                    <a:lstStyle/>
                    <a:p>
                      <a:pPr>
                        <a:defRPr sz="750" b="1">
                          <a:solidFill>
                            <a:srgbClr val="FFFFFF"/>
                          </a:solidFill>
                          <a:latin typeface="Inter"/>
                        </a:defRPr>
                      </a:pPr>
                      <a:r>
                        <a:rPr>
                          <a:latin typeface="Inter"/>
                        </a:rPr>
                        <a:t>Effect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lanes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Persistence status</a:t>
                      </a:r>
                    </a:p>
                  </a:txBody>
                  <a:tcPr marL="54864" marR="54864" marT="27432" marB="27432" anchor="ctr">
                    <a:solidFill>
                      <a:srgbClr val="0D1117"/>
                    </a:solidFill>
                  </a:tcPr>
                </a:tc>
              </a:tr>
              <a:tr h="562550">
                <a:tc>
                  <a:txBody>
                    <a:bodyPr/>
                    <a:lstStyle/>
                    <a:p>
                      <a:pPr>
                        <a:defRPr sz="800" b="1">
                          <a:solidFill>
                            <a:srgbClr val="0D1117"/>
                          </a:solidFill>
                          <a:latin typeface="Inter"/>
                        </a:defRPr>
                      </a:pPr>
                      <a:r>
                        <a:rPr>
                          <a:latin typeface="Inter"/>
                        </a:rPr>
                        <a:t>Allocation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Historical · Expected · Simulated</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Persistent</a:t>
                      </a:r>
                    </a:p>
                  </a:txBody>
                  <a:tcPr marL="54864" marR="54864" marT="27432" marB="27432" anchor="ctr">
                    <a:solidFill>
                      <a:srgbClr val="FFFFFF"/>
                    </a:solidFill>
                  </a:tcPr>
                </a:tc>
              </a:tr>
              <a:tr h="562550">
                <a:tc>
                  <a:txBody>
                    <a:bodyPr/>
                    <a:lstStyle/>
                    <a:p>
                      <a:pPr>
                        <a:defRPr sz="800" b="1">
                          <a:solidFill>
                            <a:srgbClr val="0D1117"/>
                          </a:solidFill>
                          <a:latin typeface="Inter"/>
                        </a:defRPr>
                      </a:pPr>
                      <a:r>
                        <a:rPr>
                          <a:latin typeface="Inter"/>
                        </a:rPr>
                        <a:t>Selection</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Historical · Expected · Simulated</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Persistent negative</a:t>
                      </a:r>
                    </a:p>
                  </a:txBody>
                  <a:tcPr marL="54864" marR="54864" marT="27432" marB="27432" anchor="ctr">
                    <a:solidFill>
                      <a:srgbClr val="F5F7F9"/>
                    </a:solidFill>
                  </a:tcPr>
                </a:tc>
              </a:tr>
              <a:tr h="562552">
                <a:tc>
                  <a:txBody>
                    <a:bodyPr/>
                    <a:lstStyle/>
                    <a:p>
                      <a:pPr>
                        <a:defRPr sz="800" b="1">
                          <a:solidFill>
                            <a:srgbClr val="0D1117"/>
                          </a:solidFill>
                          <a:latin typeface="Inter"/>
                        </a:defRPr>
                      </a:pPr>
                      <a:r>
                        <a:rPr>
                          <a:latin typeface="Inter"/>
                        </a:rPr>
                        <a:t>Interaction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Expected · Simulated</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Partial</a:t>
                      </a:r>
                    </a:p>
                  </a:txBody>
                  <a:tcPr marL="54864" marR="54864" marT="27432" marB="27432" anchor="ctr">
                    <a:solidFill>
                      <a:srgbClr val="FFFFFF"/>
                    </a:solidFill>
                  </a:tcPr>
                </a:tc>
              </a:tr>
            </a:tbl>
          </a:graphicData>
        </a:graphic>
      </p:graphicFrame>
      <p:sp>
        <p:nvSpPr>
          <p:cNvPr id="11" name="TextBox 10"/>
          <p:cNvSpPr txBox="1"/>
          <p:nvPr/>
        </p:nvSpPr>
        <p:spPr>
          <a:xfrm>
            <a:off x="640080" y="3868690"/>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Server-returned persistence labels [S5].</a:t>
            </a:r>
          </a:p>
        </p:txBody>
      </p:sp>
      <p:sp>
        <p:nvSpPr>
          <p:cNvPr id="12" name="Rectangle 11"/>
          <p:cNvSpPr/>
          <p:nvPr/>
        </p:nvSpPr>
        <p:spPr>
          <a:xfrm>
            <a:off x="640080" y="4161298"/>
            <a:ext cx="10908792" cy="2056621"/>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4161298"/>
            <a:ext cx="54864" cy="2056621"/>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04671" y="4271026"/>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Governed comparison fields returned</a:t>
            </a:r>
          </a:p>
        </p:txBody>
      </p:sp>
      <p:sp>
        <p:nvSpPr>
          <p:cNvPr id="15" name="TextBox 14"/>
          <p:cNvSpPr txBox="1"/>
          <p:nvPr/>
        </p:nvSpPr>
        <p:spPr>
          <a:xfrm>
            <a:off x="804671" y="4554490"/>
            <a:ext cx="10616184" cy="1571989"/>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The server returned differences, concentration and persistence for three compatible lanes [S5]. Why it matters: Cross-lane claims use governed fields. Uncertainty: One receipt limits time-series interpretation. What…</a:t>
            </a:r>
          </a:p>
        </p:txBody>
      </p:sp>
      <p:sp>
        <p:nvSpPr>
          <p:cNvPr id="16" name="Rectangle 15"/>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TextBox 16"/>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S5</a:t>
            </a:r>
          </a:p>
        </p:txBody>
      </p:sp>
      <p:sp>
        <p:nvSpPr>
          <p:cNvPr id="18" name="TextBox 17"/>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9" name="TextBox 18"/>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LIVE LANES AND TWO CAPABILITY GAPS DEFINE COVERAGE</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Coverage and Limitations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07</a:t>
            </a:r>
          </a:p>
        </p:txBody>
      </p:sp>
      <p:graphicFrame>
        <p:nvGraphicFramePr>
          <p:cNvPr id="9" name="Table 8"/>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4448556"/>
                <a:gridCol w="4448556"/>
              </a:tblGrid>
              <a:tr h="1223010">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223010">
                <a:tc>
                  <a:txBody>
                    <a:bodyPr/>
                    <a:lstStyle/>
                    <a:p>
                      <a:pPr>
                        <a:defRPr sz="80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[S2]</a:t>
                      </a:r>
                    </a:p>
                  </a:txBody>
                  <a:tcPr marL="54864" marR="54864" marT="27432" marB="27432" anchor="ctr">
                    <a:solidFill>
                      <a:srgbClr val="FFFFFF"/>
                    </a:solidFill>
                  </a:tcPr>
                </a:tc>
              </a:tr>
              <a:tr h="1223010">
                <a:tc>
                  <a:txBody>
                    <a:bodyPr/>
                    <a:lstStyle/>
                    <a:p>
                      <a:pPr>
                        <a:defRPr sz="800" b="1">
                          <a:solidFill>
                            <a:srgbClr val="0D1117"/>
                          </a:solidFill>
                          <a:latin typeface="Inter"/>
                        </a:defRPr>
                      </a:pPr>
                      <a:r>
                        <a:rPr>
                          <a:latin typeface="Inter"/>
                        </a:rPr>
                        <a:t>Ex ante</a:t>
                      </a:r>
                    </a:p>
                  </a:txBody>
                  <a:tcPr marL="54864" marR="54864" marT="27432" marB="27432" anchor="ctr">
                    <a:solidFill>
                      <a:srgbClr val="F5F7F9"/>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[S3]</a:t>
                      </a:r>
                    </a:p>
                  </a:txBody>
                  <a:tcPr marL="54864" marR="54864" marT="27432" marB="27432" anchor="ctr">
                    <a:solidFill>
                      <a:srgbClr val="F5F7F9"/>
                    </a:solidFill>
                  </a:tcPr>
                </a:tc>
              </a:tr>
              <a:tr h="1223010">
                <a:tc>
                  <a:txBody>
                    <a:bodyPr/>
                    <a:lstStyle/>
                    <a:p>
                      <a:pPr>
                        <a:defRPr sz="800" b="1">
                          <a:solidFill>
                            <a:srgbClr val="0D1117"/>
                          </a:solidFill>
                          <a:latin typeface="Inter"/>
                        </a:defRPr>
                      </a:pPr>
                      <a:r>
                        <a:rPr>
                          <a:latin typeface="Inter"/>
                        </a:rPr>
                        <a:t>Planned tools</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Capability-gated results [S4][S5]</a:t>
                      </a:r>
                    </a:p>
                  </a:txBody>
                  <a:tcPr marL="54864" marR="54864" marT="27432" marB="27432" anchor="ctr">
                    <a:solidFill>
                      <a:srgbClr val="FFFFFF"/>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 · S4 · S5</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graphicFrame>
        <p:nvGraphicFramePr>
          <p:cNvPr id="9" name="Table 8"/>
          <p:cNvGraphicFramePr>
            <a:graphicFrameLocks noGrp="1"/>
          </p:cNvGraphicFramePr>
          <p:nvPr/>
        </p:nvGraphicFramePr>
        <p:xfrm>
          <a:off x="640080" y="1325880"/>
          <a:ext cx="10908792" cy="4690872"/>
        </p:xfrm>
        <a:graphic>
          <a:graphicData uri="http://schemas.openxmlformats.org/drawingml/2006/table">
            <a:tbl>
              <a:tblPr firstRow="1" bandRow="1">
                <a:tableStyleId>{5C22544A-7EE6-4342-B048-85BDC9FD1C3A}</a:tableStyleId>
              </a:tblPr>
              <a:tblGrid>
                <a:gridCol w="2011680"/>
                <a:gridCol w="1112139"/>
                <a:gridCol w="1112139"/>
                <a:gridCol w="1112139"/>
                <a:gridCol w="1112139"/>
                <a:gridCol w="1112139"/>
                <a:gridCol w="1112139"/>
                <a:gridCol w="1112139"/>
                <a:gridCol w="1112139"/>
              </a:tblGrid>
              <a:tr h="670124">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Evidence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Basis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 / view</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Key parameters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Data scope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Validation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Digest</a:t>
                      </a:r>
                    </a:p>
                  </a:txBody>
                  <a:tcPr marL="54864" marR="54864" marT="27432" marB="27432" anchor="ctr">
                    <a:solidFill>
                      <a:srgbClr val="0D1117"/>
                    </a:solidFill>
                  </a:tcPr>
                </a:tc>
              </a:tr>
              <a:tr h="670124">
                <a:tc>
                  <a:txBody>
                    <a:bodyPr/>
                    <a:lstStyle/>
                    <a:p>
                      <a:pPr>
                        <a:defRPr sz="65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Capability gate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get_gradient_capabilities</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2026-06-30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sha256:aaaaaaaaaaaaaaaaaaaaaaaaaaaaaaaaaaaaaaaaaaaaaaaaaaaaaaaaaaaaaaaa</a:t>
                      </a:r>
                    </a:p>
                  </a:txBody>
                  <a:tcPr marL="54864" marR="54864" marT="27432" marB="27432" anchor="ctr">
                    <a:solidFill>
                      <a:srgbClr val="FFFFFF"/>
                    </a:solidFill>
                  </a:tcPr>
                </a:tc>
              </a:tr>
              <a:tr h="670124">
                <a:tc>
                  <a:txBody>
                    <a:bodyPr/>
                    <a:lstStyle/>
                    <a:p>
                      <a:pPr>
                        <a:defRPr sz="650" b="1">
                          <a:solidFill>
                            <a:srgbClr val="0D1117"/>
                          </a:solidFill>
                          <a:latin typeface="Inter"/>
                        </a:defRPr>
                      </a:pPr>
                      <a:r>
                        <a:rPr>
                          <a:latin typeface="Inter"/>
                        </a:rPr>
                        <a:t>S2</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Historical 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get_portfolio_attribution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2026-06-30</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sha256:bbbbbbbbbbbbbbbbbbbbbbbbbbbbbbbbbbbbbbbbbbbbbbbbbbbbbbbbbbbbbbbb</a:t>
                      </a:r>
                    </a:p>
                  </a:txBody>
                  <a:tcPr marL="54864" marR="54864" marT="27432" marB="27432" anchor="ctr">
                    <a:solidFill>
                      <a:srgbClr val="F5F7F9"/>
                    </a:solidFill>
                  </a:tcPr>
                </a:tc>
              </a:tr>
              <a:tr h="670124">
                <a:tc>
                  <a:txBody>
                    <a:bodyPr/>
                    <a:lstStyle/>
                    <a:p>
                      <a:pPr>
                        <a:defRPr sz="650" b="1">
                          <a:solidFill>
                            <a:srgbClr val="0D1117"/>
                          </a:solidFill>
                          <a:latin typeface="Inter"/>
                        </a:defRPr>
                      </a:pPr>
                      <a:r>
                        <a:rPr>
                          <a:latin typeface="Inter"/>
                        </a:rPr>
                        <a:t>S3</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Ex ante attribution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get_portfolio_ex_ante_attribution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2026-06-30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sha256:cccccccccccccccccccccccccccccccccccccccccccccccccccccccccccccccc</a:t>
                      </a:r>
                    </a:p>
                  </a:txBody>
                  <a:tcPr marL="54864" marR="54864" marT="27432" marB="27432" anchor="ctr">
                    <a:solidFill>
                      <a:srgbClr val="FFFFFF"/>
                    </a:solidFill>
                  </a:tcPr>
                </a:tc>
              </a:tr>
              <a:tr h="670124">
                <a:tc>
                  <a:txBody>
                    <a:bodyPr/>
                    <a:lstStyle/>
                    <a:p>
                      <a:pPr>
                        <a:defRPr sz="650" b="1">
                          <a:solidFill>
                            <a:srgbClr val="0D1117"/>
                          </a:solidFill>
                          <a:latin typeface="Inter"/>
                        </a:defRPr>
                      </a:pPr>
                      <a:r>
                        <a:rPr>
                          <a:latin typeface="Inter"/>
                        </a:rPr>
                        <a:t>S4</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Simulated 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get_gradient_capabilities</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2026-06-30</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sha256:dddddddddddddddddddddddddddddddddddddddddddddddddddddddddddddddd</a:t>
                      </a:r>
                    </a:p>
                  </a:txBody>
                  <a:tcPr marL="54864" marR="54864" marT="27432" marB="27432" anchor="ctr">
                    <a:solidFill>
                      <a:srgbClr val="F5F7F9"/>
                    </a:solidFill>
                  </a:tcPr>
                </a:tc>
              </a:tr>
              <a:tr h="670124">
                <a:tc>
                  <a:txBody>
                    <a:bodyPr/>
                    <a:lstStyle/>
                    <a:p>
                      <a:pPr>
                        <a:defRPr sz="650" b="1">
                          <a:solidFill>
                            <a:srgbClr val="0D1117"/>
                          </a:solidFill>
                          <a:latin typeface="Inter"/>
                        </a:defRPr>
                      </a:pPr>
                      <a:r>
                        <a:rPr>
                          <a:latin typeface="Inter"/>
                        </a:rPr>
                        <a:t>S5</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Cross-lane comparison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get_gradient_capabilities</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illustrative sample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2026-06-30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sha256:eeeeeeeeeeeeeeeeeeeeeeeeeeeeeeeeeeeeeeeeeeeeeeeeeeeeeeeeeeeeeeee</a:t>
                      </a:r>
                    </a:p>
                  </a:txBody>
                  <a:tcPr marL="54864" marR="54864" marT="27432" marB="27432" anchor="ctr">
                    <a:solidFill>
                      <a:srgbClr val="FFFFFF"/>
                    </a:solidFill>
                  </a:tcPr>
                </a:tc>
              </a:tr>
              <a:tr h="670128">
                <a:tc>
                  <a:txBody>
                    <a:bodyPr/>
                    <a:lstStyle/>
                    <a:p>
                      <a:pPr>
                        <a:defRPr sz="650" b="1">
                          <a:solidFill>
                            <a:srgbClr val="0D1117"/>
                          </a:solidFill>
                          <a:latin typeface="Inter"/>
                        </a:defRPr>
                      </a:pPr>
                      <a:r>
                        <a:rPr>
                          <a:latin typeface="Inter"/>
                        </a:rPr>
                        <a:t>S6</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Historical return context</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get_portfolio_historical_returns</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fields=cumulative_growth; limit=100; illustrative sample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2026-06-30</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Gradient-governed review evidence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sha256:ffffffffffffffffffffffffffffffffffffffffffffffffffffffffffffffff</a:t>
                      </a:r>
                    </a:p>
                  </a:txBody>
                  <a:tcPr marL="54864" marR="54864" marT="27432" marB="27432" anchor="ctr">
                    <a:solidFill>
                      <a:srgbClr val="F5F7F9"/>
                    </a:solidFill>
                  </a:tcPr>
                </a:tc>
              </a:tr>
            </a:tbl>
          </a:graphicData>
        </a:graphic>
      </p:graphicFrame>
      <p:sp>
        <p:nvSpPr>
          <p:cNvPr id="10" name="TextBox 9"/>
          <p:cNvSpPr txBox="1"/>
          <p:nvPr/>
        </p:nvSpPr>
        <p:spPr>
          <a:xfrm>
            <a:off x="640080" y="6035040"/>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Illustrative, Gradient Maintained — demo data, not the client's holdings or managers. All organizations, portfolios, managers and results in this public example are illustrative.</a:t>
            </a:r>
          </a:p>
        </p:txBody>
      </p:sp>
      <p:sp>
        <p:nvSpPr>
          <p:cNvPr id="11" name="Rectangle 1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2" name="TextBox 1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 · S4 · S5 · S6</a:t>
            </a:r>
          </a:p>
        </p:txBody>
      </p:sp>
      <p:sp>
        <p:nvSpPr>
          <p:cNvPr id="13" name="TextBox 1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14" name="TextBox 1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5303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5897880" y="310896"/>
            <a:ext cx="4800600" cy="256032"/>
          </a:xfrm>
          <a:prstGeom prst="rect">
            <a:avLst/>
          </a:prstGeom>
          <a:noFill/>
        </p:spPr>
        <p:txBody>
          <a:bodyPr wrap="none" lIns="9144" rIns="9144" tIns="9144" bIns="9144" anchor="t">
            <a:spAutoFit/>
          </a:bodyPr>
          <a:lstStyle/>
          <a:p>
            <a:pPr algn="r">
              <a:spcAft>
                <a:spcPts val="0"/>
              </a:spcAft>
              <a:defRPr sz="680" b="1">
                <a:solidFill>
                  <a:srgbClr val="4F6B00"/>
                </a:solidFill>
                <a:latin typeface="Inter"/>
              </a:defRPr>
            </a:pPr>
            <a:r>
              <a:rPr>
                <a:latin typeface="Inter"/>
              </a:rPr>
              <a:t>Illustrative, Gradient Maintained — demo data, not the client's holdings or managers</a:t>
            </a:r>
          </a:p>
        </p:txBody>
      </p:sp>
      <p:sp>
        <p:nvSpPr>
          <p:cNvPr id="5" name="TextBox 4"/>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 — continued</a:t>
            </a:r>
          </a:p>
        </p:txBody>
      </p:sp>
      <p:sp>
        <p:nvSpPr>
          <p:cNvPr id="6" name="Rectangle 5"/>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Rectangle 6"/>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8" name="TextBox 7"/>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sp>
        <p:nvSpPr>
          <p:cNvPr id="9" name="TextBox 8"/>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SIGN BY SEGMENT</a:t>
            </a:r>
          </a:p>
        </p:txBody>
      </p:sp>
      <p:graphicFrame>
        <p:nvGraphicFramePr>
          <p:cNvPr id="10" name="Table 9"/>
          <p:cNvGraphicFramePr>
            <a:graphicFrameLocks noGrp="1"/>
          </p:cNvGraphicFramePr>
          <p:nvPr/>
        </p:nvGraphicFramePr>
        <p:xfrm>
          <a:off x="640080" y="1600200"/>
          <a:ext cx="10908792" cy="1896736"/>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270962">
                <a:tc>
                  <a:txBody>
                    <a:bodyPr/>
                    <a:lstStyle/>
                    <a:p>
                      <a:pPr>
                        <a:defRPr sz="750" b="1">
                          <a:solidFill>
                            <a:srgbClr val="FFFFFF"/>
                          </a:solidFill>
                          <a:latin typeface="Inter"/>
                        </a:defRPr>
                      </a:pPr>
                      <a:r>
                        <a:rPr>
                          <a:latin typeface="Inter"/>
                        </a:rPr>
                        <a:t>Lane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Segment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effect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sign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r>
              <a:tr h="270962">
                <a:tc>
                  <a:txBody>
                    <a:bodyPr/>
                    <a:lstStyle/>
                    <a:p>
                      <a:pPr>
                        <a:defRPr sz="72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+0.2pp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[S2]</a:t>
                      </a:r>
                    </a:p>
                  </a:txBody>
                  <a:tcPr marL="54864" marR="54864" marT="27432" marB="27432" anchor="ctr">
                    <a:solidFill>
                      <a:srgbClr val="FFFFFF"/>
                    </a:solidFill>
                  </a:tcPr>
                </a:tc>
              </a:tr>
              <a:tr h="270962">
                <a:tc>
                  <a:txBody>
                    <a:bodyPr/>
                    <a:lstStyle/>
                    <a:p>
                      <a:pPr>
                        <a:defRPr sz="720" b="1">
                          <a:solidFill>
                            <a:srgbClr val="0D1117"/>
                          </a:solidFill>
                          <a:latin typeface="Inter"/>
                        </a:defRPr>
                      </a:pPr>
                      <a:r>
                        <a:rPr>
                          <a:latin typeface="Inter"/>
                        </a:rPr>
                        <a:t>Historical</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-0.8pp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Negative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[S2]</a:t>
                      </a:r>
                    </a:p>
                  </a:txBody>
                  <a:tcPr marL="54864" marR="54864" marT="27432" marB="27432" anchor="ctr">
                    <a:solidFill>
                      <a:srgbClr val="F5F7F9"/>
                    </a:solidFill>
                  </a:tcPr>
                </a:tc>
              </a:tr>
              <a:tr h="270962">
                <a:tc>
                  <a:txBody>
                    <a:bodyPr/>
                    <a:lstStyle/>
                    <a:p>
                      <a:pPr>
                        <a:defRPr sz="720" b="1">
                          <a:solidFill>
                            <a:srgbClr val="0D1117"/>
                          </a:solidFill>
                          <a:latin typeface="Inter"/>
                        </a:defRPr>
                      </a:pPr>
                      <a:r>
                        <a:rPr>
                          <a:latin typeface="Inter"/>
                        </a:rPr>
                        <a:t>Governed ex ante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+0.27pp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[S3]</a:t>
                      </a:r>
                    </a:p>
                  </a:txBody>
                  <a:tcPr marL="54864" marR="54864" marT="27432" marB="27432" anchor="ctr">
                    <a:solidFill>
                      <a:srgbClr val="FFFFFF"/>
                    </a:solidFill>
                  </a:tcPr>
                </a:tc>
              </a:tr>
              <a:tr h="270962">
                <a:tc>
                  <a:txBody>
                    <a:bodyPr/>
                    <a:lstStyle/>
                    <a:p>
                      <a:pPr>
                        <a:defRPr sz="720" b="1">
                          <a:solidFill>
                            <a:srgbClr val="0D1117"/>
                          </a:solidFill>
                          <a:latin typeface="Inter"/>
                        </a:defRPr>
                      </a:pPr>
                      <a:r>
                        <a:rPr>
                          <a:latin typeface="Inter"/>
                        </a:rPr>
                        <a:t>Governed ex ante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+0.08pp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[S3]</a:t>
                      </a:r>
                    </a:p>
                  </a:txBody>
                  <a:tcPr marL="54864" marR="54864" marT="27432" marB="27432" anchor="ctr">
                    <a:solidFill>
                      <a:srgbClr val="F5F7F9"/>
                    </a:solidFill>
                  </a:tcPr>
                </a:tc>
              </a:tr>
              <a:tr h="270962">
                <a:tc>
                  <a:txBody>
                    <a:bodyPr/>
                    <a:lstStyle/>
                    <a:p>
                      <a:pPr>
                        <a:defRPr sz="720" b="1">
                          <a:solidFill>
                            <a:srgbClr val="0D1117"/>
                          </a:solidFill>
                          <a:latin typeface="Inter"/>
                        </a:defRPr>
                      </a:pPr>
                      <a:r>
                        <a:rPr>
                          <a:latin typeface="Inter"/>
                        </a:rPr>
                        <a:t>Simulated</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+0.3pp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[S4]</a:t>
                      </a:r>
                    </a:p>
                  </a:txBody>
                  <a:tcPr marL="54864" marR="54864" marT="27432" marB="27432" anchor="ctr">
                    <a:solidFill>
                      <a:srgbClr val="FFFFFF"/>
                    </a:solidFill>
                  </a:tcPr>
                </a:tc>
              </a:tr>
              <a:tr h="270964">
                <a:tc>
                  <a:txBody>
                    <a:bodyPr/>
                    <a:lstStyle/>
                    <a:p>
                      <a:pPr>
                        <a:defRPr sz="720" b="1">
                          <a:solidFill>
                            <a:srgbClr val="0D1117"/>
                          </a:solidFill>
                          <a:latin typeface="Inter"/>
                        </a:defRPr>
                      </a:pPr>
                      <a:r>
                        <a:rPr>
                          <a:latin typeface="Inter"/>
                        </a:rPr>
                        <a:t>Simulated</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-0.2pp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Negative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[S4]</a:t>
                      </a:r>
                    </a:p>
                  </a:txBody>
                  <a:tcPr marL="54864" marR="54864" marT="27432" marB="27432" anchor="ctr">
                    <a:solidFill>
                      <a:srgbClr val="F5F7F9"/>
                    </a:solidFill>
                  </a:tcPr>
                </a:tc>
              </a:tr>
            </a:tbl>
          </a:graphicData>
        </a:graphic>
      </p:graphicFrame>
      <p:sp>
        <p:nvSpPr>
          <p:cNvPr id="11" name="TextBox 10"/>
          <p:cNvSpPr txBox="1"/>
          <p:nvPr/>
        </p:nvSpPr>
        <p:spPr>
          <a:xfrm>
            <a:off x="640080" y="3515224"/>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Signs are returned or directly classified per lane; no local lane subtraction [S2][S3][S4].</a:t>
            </a:r>
          </a:p>
        </p:txBody>
      </p:sp>
      <p:sp>
        <p:nvSpPr>
          <p:cNvPr id="12" name="Rectangle 11"/>
          <p:cNvSpPr/>
          <p:nvPr/>
        </p:nvSpPr>
        <p:spPr>
          <a:xfrm>
            <a:off x="640080" y="3807832"/>
            <a:ext cx="10908792" cy="114841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3807832"/>
            <a:ext cx="54864" cy="114841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04671" y="3917560"/>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Method boundary</a:t>
            </a:r>
          </a:p>
        </p:txBody>
      </p:sp>
      <p:sp>
        <p:nvSpPr>
          <p:cNvPr id="15" name="TextBox 14"/>
          <p:cNvSpPr txBox="1"/>
          <p:nvPr/>
        </p:nvSpPr>
        <p:spPr>
          <a:xfrm>
            <a:off x="804671" y="4201024"/>
            <a:ext cx="10616184" cy="663786"/>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Each lane remains on its returned method, period or horizon, benchmark role, parent cohort and calculation currency. Historical evidence is realized, ex ante evidence is expected, and simulated evidence is scenario-based. Values are displayed without local reconciliation, attribution arithmetic or substitutions [S1][S2][S3].</a:t>
            </a:r>
          </a:p>
        </p:txBody>
      </p:sp>
      <p:sp>
        <p:nvSpPr>
          <p:cNvPr id="16" name="Rectangle 15"/>
          <p:cNvSpPr/>
          <p:nvPr/>
        </p:nvSpPr>
        <p:spPr>
          <a:xfrm>
            <a:off x="640080" y="5065978"/>
            <a:ext cx="10908792" cy="1151941"/>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Rectangle 16"/>
          <p:cNvSpPr/>
          <p:nvPr/>
        </p:nvSpPr>
        <p:spPr>
          <a:xfrm>
            <a:off x="640080" y="5065978"/>
            <a:ext cx="54864" cy="1151941"/>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04671" y="5175706"/>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Comparison boundary</a:t>
            </a:r>
          </a:p>
        </p:txBody>
      </p:sp>
      <p:sp>
        <p:nvSpPr>
          <p:cNvPr id="19" name="TextBox 18"/>
          <p:cNvSpPr txBox="1"/>
          <p:nvPr/>
        </p:nvSpPr>
        <p:spPr>
          <a:xfrm>
            <a:off x="804671" y="5459170"/>
            <a:ext cx="10616184" cy="667309"/>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Cross-lane differences, concentration, overlap, reconciliation and persistence are reported only when the governed comparison capability returns them. Capability absence is an evidence limitation, not a zero value or a failed lane. Request IDs, diagnostics, residuals and coverage remain attached to their source payloads [S1].</a:t>
            </a:r>
          </a:p>
        </p:txBody>
      </p:sp>
      <p:sp>
        <p:nvSpPr>
          <p:cNvPr id="20" name="Rectangle 1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1" name="TextBox 2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 · S4</a:t>
            </a:r>
          </a:p>
        </p:txBody>
      </p:sp>
      <p:sp>
        <p:nvSpPr>
          <p:cNvPr id="22" name="TextBox 2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Investment Committee · Data as of 2026-06-30</a:t>
            </a:r>
          </a:p>
        </p:txBody>
      </p:sp>
      <p:sp>
        <p:nvSpPr>
          <p:cNvPr id="23" name="TextBox 2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25</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Attribution Comparison</dc:title>
  <dc:subject>Attribution Comparison</dc:subject>
  <dc:creator>GradientCIO</dc:creator>
  <cp:keywords>Gradient report theme 2.3.0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