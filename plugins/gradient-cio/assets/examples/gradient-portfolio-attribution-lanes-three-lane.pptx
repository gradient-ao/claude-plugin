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  <c:pt idx="3">
                  <c:v>0.6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0.30000000000000004</c:v>
                </c:pt>
                <c:pt idx="2">
                  <c:v>0.30000000000000004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</c:v>
                </c:pt>
                <c:pt idx="1">
                  <c:v>0.0</c:v>
                </c:pt>
                <c:pt idx="2">
                  <c:v>0.05</c:v>
                </c:pt>
                <c:pt idx="3">
                  <c:v>0.35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Total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</c:v>
                </c:pt>
                <c:pt idx="1">
                  <c:v>-0.1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-0.2</c:v>
                </c:pt>
                <c:pt idx="1">
                  <c:v>-0.6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</c:v>
                </c:pt>
                <c:pt idx="1">
                  <c:v>-0.1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55.0%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45.0%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Alternatives · portfolio</c:v>
                </c:pt>
                <c:pt idx="3">
                  <c:v>Alternatives · benchmark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60.0</c:v>
                </c:pt>
                <c:pt idx="1">
                  <c:v>55.0</c:v>
                </c:pt>
                <c:pt idx="2">
                  <c:v>40.0</c:v>
                </c:pt>
                <c:pt idx="3">
                  <c:v>45.0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0.05</c:v>
                </c:pt>
                <c:pt idx="1">
                  <c:v>0.11</c:v>
                </c:pt>
                <c:pt idx="2">
                  <c:v>0.2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-0.2</c:v>
                </c:pt>
                <c:pt idx="1">
                  <c:v>-0.5</c:v>
                </c:pt>
                <c:pt idx="2">
                  <c:v>-0.8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0.02</c:v>
                </c:pt>
                <c:pt idx="1">
                  <c:v>0.01</c:v>
                </c:pt>
                <c:pt idx="2">
                  <c:v>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-0.13</c:v>
                </c:pt>
                <c:pt idx="1">
                  <c:v>-0.38</c:v>
                </c:pt>
                <c:pt idx="2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25"/>
          <c:min val="-1.0"/>
        </c:scaling>
        <c:delete val="0"/>
        <c:axPos val="l"/>
        <c:majorGridlines/>
        <c:numFmt formatCode="0.0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25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Alternatives selection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-0.1</c:v>
                </c:pt>
                <c:pt idx="1">
                  <c:v>-0.35</c:v>
                </c:pt>
                <c:pt idx="2">
                  <c:v>-0.6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0.6000000000000001"/>
        </c:scaling>
        <c:delete val="0"/>
        <c:axPos val="l"/>
        <c:majorGridlines/>
        <c:numFmt formatCode="0.0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0.2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cumulative growth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2025-07-31</c:v>
                </c:pt>
                <c:pt idx="1">
                  <c:v>2025-12-31</c:v>
                </c:pt>
                <c:pt idx="2">
                  <c:v>2026-06-30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100.8</c:v>
                </c:pt>
                <c:pt idx="1">
                  <c:v>104.2</c:v>
                </c:pt>
                <c:pt idx="2">
                  <c:v>107.1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</c:v>
                </c:pt>
                <c:pt idx="1">
                  <c:v>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-0.05</c:v>
                </c:pt>
                <c:pt idx="1">
                  <c:v>-0.05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0.02</c:v>
                </c:pt>
                <c:pt idx="1">
                  <c:v>0.03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7.5%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6.8%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5.5%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5.9%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Alternatives · portfolio</c:v>
                </c:pt>
                <c:pt idx="3">
                  <c:v>Alternatives · benchmark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7.5</c:v>
                </c:pt>
                <c:pt idx="1">
                  <c:v>6.8</c:v>
                </c:pt>
                <c:pt idx="2">
                  <c:v>5.5</c:v>
                </c:pt>
                <c:pt idx="3">
                  <c:v>5.9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0.0pp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-0.8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-0.1pp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+0.05pp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-0.1</c:v>
                </c:pt>
                <c:pt idx="2">
                  <c:v>0.05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+0.7pp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-0.1pp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Expected minus realized · allocation</c:v>
                </c:pt>
                <c:pt idx="1">
                  <c:v>Expected minus realized · selection</c:v>
                </c:pt>
                <c:pt idx="2">
                  <c:v>Simulated minus expected · selection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0.7</c:v>
                </c:pt>
                <c:pt idx="2">
                  <c:v>-0.1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0.74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0.62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0.58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Historical</c:v>
                </c:pt>
                <c:pt idx="1">
                  <c:v>Expected</c:v>
                </c:pt>
                <c:pt idx="2">
                  <c:v>Simulated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0.74</c:v>
                </c:pt>
                <c:pt idx="1">
                  <c:v>0.62</c:v>
                </c:pt>
                <c:pt idx="2">
                  <c:v>0.58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leads detractors</a:t>
            </a:r>
          </a:p>
          <a:p>
            <a:r>
              <a:t>Observation: Returned selection is negative [S2]. Why it matters: Selection leads realized detractors. Uncertainty: The evidence covers one linked period. What would change the view: A later historical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Allocation leads expectations</a:t>
            </a:r>
          </a:p>
          <a:p>
            <a:r>
              <a:t>Observation: Returned allocation is positive [S3]. Why it matters: Allocation leads expected effects. Uncertainty: Inputs are assumptions. What would change the view: A refreshed ex ante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Scenario range returned</a:t>
            </a:r>
          </a:p>
          <a:p>
            <a:r>
              <a:t>Observation: The governed simulation returned effect bands and a selected base scenario [S4]. Why it matters: Scenario context is explicit. Uncertainty: Results depend on governed scenario inputs. What would change the view: A revised simulation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Governed comparison fields returned</a:t>
            </a:r>
          </a:p>
          <a:p>
            <a:r>
              <a:t>Observation: The server returned differences, concentration and persistence for three compatible lanes [S5]. Why it matters: Cross-lane claims use governed fields. Uncertainty: One receipt limits time-series interpretation. What would change the view: A later comparison receipt returning different statuses.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Attribution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Historical, forward and simulated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Three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THREE COMPATIBLE GOVERNED LANES HAVE SERVER-RETURNED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188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774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Three compatible attribution views compared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70632"/>
            <a:ext cx="10908792" cy="12515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54864" cy="125158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8803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163824"/>
            <a:ext cx="10616184" cy="7669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Historical, ex ante, and simulated effects are compatible, and governed comparison metrics are available [S2][S3][S4][S5].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131945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12 months · 2025-07-01 to 2026-06-30 [S2]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131945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1-year expected [S3]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131945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SIMULATED LANE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1-year simulated · governed scenario [S4]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131945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COMPARISON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Complete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Server-returned comparison · compatible receipts [S5]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THREE COMPATIBLE GOVERNED LANES HAVE SERVER-RETURNED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585216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4242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Three governed returned lanes and comparison metrics are available [S2][S3][S4][S5].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764792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evidence only; no local subtraction or accumulation.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6712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SUMMARY EFFECTS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2441448"/>
          <a:ext cx="10908792" cy="377647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THREE COMPATIBLE GOVERNED LANES HAVE SERVER-RETURNED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SUMMARY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27050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41502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41502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52475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Historical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80822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Historical effects are returned [S2]. Why it matters: Realized sources can be described. Uncertainty: One period may not persist. What would change the view: A later governed period.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 ante effects are returned [S3]. Why it matters: Expected sources can be described. Uncertainty: Inputs are assumptions. What would change the view: Refreshed governed inputs.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THREE COMPATIBLE GOVERNED LANES HAVE SERVER-RETURNED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Server-returned comparison metrics cover three compatible lanes [S5]. Why it matters: Cross-lane evidence is governed. Uncertainty: One comparison receipt limits time-series interpretation. What would change the view: A later receipt returning different lane signs.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PORTFOLIO, BENCHMARK, COHORT AND CURRENCY IDENTIFIERS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and Compatibility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86730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1005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Compatible for governed three-lane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10588752" cy="6040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compatibility receipt matches portfolio, benchmark role, parent cohort and calculation currency [S5].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49213"/>
          <a:ext cx="10908792" cy="2768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384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3843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Compatibility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identifiers match 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PORTFOLIO AND BENCHMARK AVERAGE WEIGHTS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ALTERNATIVES SELECTION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CUMULATIVE GROWTH CONTEXT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27050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41502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41502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52475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leads detractors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80822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Returned selection is negative [S2]. Why it matters: Selection leads realized detractors. Uncertainty: The evidence covers one linked period. What would change the view: A later historical…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excess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excess is measured against the linked segment benchmark, not the policy benchmark used for historical returns, so the two excess figures are not directly comparable [S2].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EFFECTS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User-defined regime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year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Base-case expected return by allocation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Base-case expected return by benchmark segment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PORTFOLIO AND BENCHMARK RETURNS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Allocation leads expectations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Returned allocation is positive [S3]. Why it matters: Allocation leads expected effects. Uncertainty: Inputs are assumptions. What would change the view: A refreshed ex ante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SIMULATION RETURNS SCENARIO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Simulated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SIMULATED EFFECT BANDS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61427" y="218511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458553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9481413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3724351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5124297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147157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Interaction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27724" y="5263591"/>
            <a:ext cx="260055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7204740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227600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SIMULATION RETURNS SCENARIO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Simulated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SCENARIO SELECTOR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64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9115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ID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115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scenario-base-test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1-year 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115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scenario-down-test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Downside scenario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1-year simulated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11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scenario-up-test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Upside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1-year 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18312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scenario selector; no locally invented scenarios [S4].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75735"/>
          <a:ext cx="10908792" cy="1429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1469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146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simulation capability was available before invocation [S1][S4]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014851"/>
            <a:ext cx="10908792" cy="12030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5014851"/>
            <a:ext cx="54864" cy="12030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512457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Scenario range returned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5408043"/>
            <a:ext cx="10616184" cy="7184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governed simulation returned effect bands and a selected base scenario [S4]. Why it matters: Scenario context is explicit. Uncertainty: Results depend on governed scenario inputs. What…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CROSS-LANE EFFECT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198"/>
                <a:gridCol w="2727198"/>
                <a:gridCol w="2727198"/>
                <a:gridCol w="2727198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</a:t>
                      </a:r>
                    </a:p>
                  </a:txBody>
                  <a:tcPr marL="54864" marR="54864" marT="27432" marB="27432" anchor="ctr">
                    <a:solidFill>
                      <a:srgbClr val="CEF4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CAF443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AF58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0.05</a:t>
                      </a:r>
                    </a:p>
                  </a:txBody>
                  <a:tcPr marL="54864" marR="54864" marT="27432" marB="27432" anchor="ctr">
                    <a:solidFill>
                      <a:srgbClr val="D4F56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0.04</a:t>
                      </a:r>
                    </a:p>
                  </a:txBody>
                  <a:tcPr marL="54864" marR="54864" marT="27432" marB="27432" anchor="ctr">
                    <a:solidFill>
                      <a:srgbClr val="D4F56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RETURNED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RETURNED EFFECTS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LANE DIFFERENCES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CONCENTRATION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COMPARISON RETURNS COMPATIBLE CROSS-LANE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PERSISTENCE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5328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332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lanes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332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· Expected · 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32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· Expected · Simulated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Persistent negative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32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· 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Persistent in two lanes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15130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Server-returned persistence labels [S5].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43913"/>
            <a:ext cx="10908792" cy="1774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443913"/>
            <a:ext cx="54864" cy="177400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553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Governed comparison fields returned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837105"/>
            <a:ext cx="10616184" cy="1289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server returned differences, concentration and persistence for three compatible lanes [S5]. Why it matters: Cross-lane claims use governed fields. Uncertainty: One receipt limits time-series interpretation. What…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THREE LANES AND THE CROSS-LANE COMPARISON RETURNED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2230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attribution returned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attribution returned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Simulation and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 and cross-lane results returned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 · S4 ·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701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Simulated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Cross-lane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701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309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fields=cumulative_growth; limit=100; 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sha256:ffffffffffffffffffffffffffffffffffffffffffffffffffffffffffffffff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SIGN BY SEGMENT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47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53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sign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53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3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Negative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53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3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53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3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Negative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665973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Signs are returned or directly classified per lane; no local lane subtraction [S2][S3][S4].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58581"/>
            <a:ext cx="10908792" cy="125933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958581"/>
            <a:ext cx="54864" cy="125933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0683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351773"/>
            <a:ext cx="10616184" cy="77470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lane keeps its own method, period, benchmark role and currency, and values are shown as returned; cross-lane results appear only where the comparison tool returned them [S1][S2][S3].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Attribution Comparison</dc:title>
  <dc:subject>Attribution Comparison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