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Total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Total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Total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0.8</c:v>
                </c:pt>
                <c:pt idx="2">
                  <c:v>0.0</c:v>
                </c:pt>
                <c:pt idx="3">
                  <c:v>0.6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Total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0.30000000000000004</c:v>
                </c:pt>
                <c:pt idx="2">
                  <c:v>0.30000000000000004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Total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0.4</c:v>
                </c:pt>
                <c:pt idx="1">
                  <c:v>0.0</c:v>
                </c:pt>
                <c:pt idx="2">
                  <c:v>0.05</c:v>
                </c:pt>
                <c:pt idx="3">
                  <c:v>0.35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Total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0.1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Public Equity</c:v>
                </c:pt>
                <c:pt idx="1">
                  <c:v>Alternatives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</c:v>
                </c:pt>
                <c:pt idx="1">
                  <c:v>-0.1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Selection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Public Equity</c:v>
                </c:pt>
                <c:pt idx="1">
                  <c:v>Alternatives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-0.2</c:v>
                </c:pt>
                <c:pt idx="1">
                  <c:v>-0.6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Interaction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Public Equity</c:v>
                </c:pt>
                <c:pt idx="1">
                  <c:v>Alternatives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0.1</c:v>
                </c:pt>
                <c:pt idx="1">
                  <c:v>-0.1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60.0%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55.0%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40.0%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45.0%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Public Equity · portfolio</c:v>
                </c:pt>
                <c:pt idx="1">
                  <c:v>Public Equity · benchmark</c:v>
                </c:pt>
                <c:pt idx="2">
                  <c:v>Alternatives · portfolio</c:v>
                </c:pt>
                <c:pt idx="3">
                  <c:v>Alternatives · benchmark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60.0</c:v>
                </c:pt>
                <c:pt idx="1">
                  <c:v>55.0</c:v>
                </c:pt>
                <c:pt idx="2">
                  <c:v>40.0</c:v>
                </c:pt>
                <c:pt idx="3">
                  <c:v>45.0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Sheet1!$A$2:$A$4</c:f>
              <c:strCache>
                <c:ptCount val="3"/>
                <c:pt idx="0">
                  <c:v>2025-09-30</c:v>
                </c:pt>
                <c:pt idx="1">
                  <c:v>2025-12-31</c:v>
                </c:pt>
                <c:pt idx="2">
                  <c:v>2026-06-30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0.05</c:v>
                </c:pt>
                <c:pt idx="1">
                  <c:v>0.11</c:v>
                </c:pt>
                <c:pt idx="2">
                  <c:v>0.2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Selection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Sheet1!$A$2:$A$4</c:f>
              <c:strCache>
                <c:ptCount val="3"/>
                <c:pt idx="0">
                  <c:v>2025-09-30</c:v>
                </c:pt>
                <c:pt idx="1">
                  <c:v>2025-12-31</c:v>
                </c:pt>
                <c:pt idx="2">
                  <c:v>2026-06-30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-0.2</c:v>
                </c:pt>
                <c:pt idx="1">
                  <c:v>-0.5</c:v>
                </c:pt>
                <c:pt idx="2">
                  <c:v>-0.8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Interaction</c:v>
                </c:pt>
              </c:strCache>
            </c:strRef>
          </c:tx>
          <c:spPr>
            <a:ln w="22860">
              <a:solidFill>
                <a:srgbClr val="F2A93B"/>
              </a:solidFill>
            </a:ln>
          </c:spPr>
          <c:cat>
            <c:strRef>
              <c:f>Sheet1!$A$2:$A$4</c:f>
              <c:strCache>
                <c:ptCount val="3"/>
                <c:pt idx="0">
                  <c:v>2025-09-30</c:v>
                </c:pt>
                <c:pt idx="1">
                  <c:v>2025-12-31</c:v>
                </c:pt>
                <c:pt idx="2">
                  <c:v>2026-06-30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0.02</c:v>
                </c:pt>
                <c:pt idx="1">
                  <c:v>0.01</c:v>
                </c:pt>
                <c:pt idx="2">
                  <c:v>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2860">
              <a:solidFill>
                <a:srgbClr val="5B8DEF"/>
              </a:solidFill>
            </a:ln>
          </c:spPr>
          <c:cat>
            <c:strRef>
              <c:f>Sheet1!$A$2:$A$4</c:f>
              <c:strCache>
                <c:ptCount val="3"/>
                <c:pt idx="0">
                  <c:v>2025-09-30</c:v>
                </c:pt>
                <c:pt idx="1">
                  <c:v>2025-12-31</c:v>
                </c:pt>
                <c:pt idx="2">
                  <c:v>2026-06-30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-0.13</c:v>
                </c:pt>
                <c:pt idx="1">
                  <c:v>-0.38</c:v>
                </c:pt>
                <c:pt idx="2">
                  <c:v>-0.6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0&quot;pp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Alternatives selection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Sheet1!$A$2:$A$4</c:f>
              <c:strCache>
                <c:ptCount val="3"/>
                <c:pt idx="0">
                  <c:v>2025-09-30</c:v>
                </c:pt>
                <c:pt idx="1">
                  <c:v>2025-12-31</c:v>
                </c:pt>
                <c:pt idx="2">
                  <c:v>2026-06-30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-0.1</c:v>
                </c:pt>
                <c:pt idx="1">
                  <c:v>-0.35</c:v>
                </c:pt>
                <c:pt idx="2">
                  <c:v>-0.6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0&quot;pp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 cumulative growth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Sheet1!$A$2:$A$4</c:f>
              <c:strCache>
                <c:ptCount val="3"/>
                <c:pt idx="0">
                  <c:v>2025-07-31</c:v>
                </c:pt>
                <c:pt idx="1">
                  <c:v>2025-12-31</c:v>
                </c:pt>
                <c:pt idx="2">
                  <c:v>2026-06-30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100.8</c:v>
                </c:pt>
                <c:pt idx="1">
                  <c:v>104.2</c:v>
                </c:pt>
                <c:pt idx="2">
                  <c:v>107.1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Public Equity</c:v>
                </c:pt>
                <c:pt idx="1">
                  <c:v>Alternatives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</c:v>
                </c:pt>
                <c:pt idx="1">
                  <c:v>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Selection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Public Equity</c:v>
                </c:pt>
                <c:pt idx="1">
                  <c:v>Alternatives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-0.05</c:v>
                </c:pt>
                <c:pt idx="1">
                  <c:v>-0.05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Interaction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Public Equity</c:v>
                </c:pt>
                <c:pt idx="1">
                  <c:v>Alternatives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0.02</c:v>
                </c:pt>
                <c:pt idx="1">
                  <c:v>0.03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7.5%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6.8%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5.5%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5.9%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Public Equity · portfolio</c:v>
                </c:pt>
                <c:pt idx="1">
                  <c:v>Public Equity · benchmark</c:v>
                </c:pt>
                <c:pt idx="2">
                  <c:v>Alternatives · portfolio</c:v>
                </c:pt>
                <c:pt idx="3">
                  <c:v>Alternatives · benchmark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7.5</c:v>
                </c:pt>
                <c:pt idx="1">
                  <c:v>6.8</c:v>
                </c:pt>
                <c:pt idx="2">
                  <c:v>5.5</c:v>
                </c:pt>
                <c:pt idx="3">
                  <c:v>5.9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FF6B5E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+0.2pp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-0.8pp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0.0pp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-0.8</c:v>
                </c:pt>
                <c:pt idx="2">
                  <c:v>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FF6B5E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+0.4pp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-0.1pp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+0.05pp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</c:v>
                </c:pt>
                <c:pt idx="1">
                  <c:v>-0.1</c:v>
                </c:pt>
                <c:pt idx="2">
                  <c:v>0.05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+0.2pp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+0.7pp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-0.1pp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Expected minus realized · allocation</c:v>
                </c:pt>
                <c:pt idx="1">
                  <c:v>Expected minus realized · selection</c:v>
                </c:pt>
                <c:pt idx="2">
                  <c:v>Simulated minus expected · selection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0.7</c:v>
                </c:pt>
                <c:pt idx="2">
                  <c:v>-0.1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0.74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0.62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0.58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Historical</c:v>
                </c:pt>
                <c:pt idx="1">
                  <c:v>Expected</c:v>
                </c:pt>
                <c:pt idx="2">
                  <c:v>Simulated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0.74</c:v>
                </c:pt>
                <c:pt idx="1">
                  <c:v>0.62</c:v>
                </c:pt>
                <c:pt idx="2">
                  <c:v>0.58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Selection leads detractors</a:t>
            </a:r>
          </a:p>
          <a:p>
            <a:r>
              <a:t>Observation: Returned selection is negative [S2]. Why it matters: Selection leads realized detractors. Uncertainty: The evidence covers one linked period. What would change the view: A later historical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Allocation leads expectations</a:t>
            </a:r>
          </a:p>
          <a:p>
            <a:r>
              <a:t>Observation: Returned allocation is positive [S3]. Why it matters: Allocation leads expected effects. Uncertainty: Inputs are assumptions. What would change the view: A refreshed ex ante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Scenario range returned</a:t>
            </a:r>
          </a:p>
          <a:p>
            <a:r>
              <a:t>Observation: The governed simulation returned effect bands and a selected base scenario [S4]. Why it matters: Scenario context is explicit. Uncertainty: Results depend on governed scenario inputs. What would change the view: A revised simulation receipt.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Governed comparison fields returned</a:t>
            </a:r>
          </a:p>
          <a:p>
            <a:r>
              <a:t>Observation: The server returned differences, concentration and persistence for three compatible lanes [S5]. Why it matters: Cross-lane claims use governed fields. Uncertainty: One receipt limits time-series interpretation. What would change the view: A later comparison receipt returning different statuses.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PORTFOLIO ATTRIBUTION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Attribution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Historical, forward and simulated views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PORTFOLIO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Total Fund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Three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PREPARED FOR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Investment Committee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AS 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THREE COMPATIBLE GOVERNED LANES HAVE SERVER-RETURNED COMPARISON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99032"/>
            <a:ext cx="73152" cy="85377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96112" y="1371600"/>
            <a:ext cx="10588752" cy="58004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Three compatible attribution views compared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435686"/>
            <a:ext cx="10908792" cy="100007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2435686"/>
            <a:ext cx="54864" cy="100007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254541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2828878"/>
            <a:ext cx="10616184" cy="51544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Historical, ex ante, and simulated effects are compatible, and governed comparison metrics are available [S2][S3][S4][S5].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545492"/>
            <a:ext cx="2644902" cy="156262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3545492"/>
            <a:ext cx="2644902" cy="45720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749808" y="3673508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LANE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929540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Available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778929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12 months · 2025-07-01 to 2026-06-30 [S2]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94710" y="3545492"/>
            <a:ext cx="2644902" cy="156262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3394710" y="3545492"/>
            <a:ext cx="2644902" cy="45720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3504438" y="3673508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LANE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3929540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Available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4438" y="4778929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1-year expected [S3]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9340" y="3545492"/>
            <a:ext cx="2644902" cy="156262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149340" y="3545492"/>
            <a:ext cx="2644902" cy="45720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259068" y="3673508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SIMULATED LANE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3929540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Available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4778929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1-year simulated · governed scenario [S4]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03970" y="3545492"/>
            <a:ext cx="2644902" cy="156262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Rectangle 29"/>
          <p:cNvSpPr/>
          <p:nvPr/>
        </p:nvSpPr>
        <p:spPr>
          <a:xfrm>
            <a:off x="8903970" y="3545492"/>
            <a:ext cx="2644902" cy="45720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9013698" y="3673508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COMPARISON COVERAGE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3929540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Complete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13698" y="4778929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Server-returned comparison · compatible receipts [S5]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290993"/>
            <a:ext cx="73152" cy="85377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896112" y="5263561"/>
            <a:ext cx="10588752" cy="58004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Three governed returned lanes and comparison metrics are available [S2][S3][S4][S5].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5817888"/>
            <a:ext cx="10588752" cy="3000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Returned evidence only; no local subtraction or accumulation.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S4 · S5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THREE COMPATIBLE GOVERNED LANES HAVE SERVER-RETURNED COMPARISON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SUMMARY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THREE COMPATIBLE GOVERNED LANES HAVE SERVER-RETURNED COMPARISON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EXPECTED SUMMARY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THREE COMPATIBLE GOVERNED LANES HAVE SERVER-RETURNED COMPARISON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40042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40042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Historical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9157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Historical effects are returned [S2]. Why it matters: Realized sources can be described. Uncertainty: One period may not persist. What would change the view: A later governed period.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836036"/>
            <a:ext cx="10908792" cy="140042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2836036"/>
            <a:ext cx="54864" cy="140042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29457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Ex ante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229228"/>
            <a:ext cx="10616184" cy="9157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 ante effects are returned [S3]. Why it matters: Expected sources can be described. Uncertainty: Inputs are assumptions. What would change the view: Refreshed governed inputs.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346193"/>
            <a:ext cx="10908792" cy="187172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346193"/>
            <a:ext cx="54864" cy="187172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445592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Comparison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4739385"/>
            <a:ext cx="10616184" cy="138709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Server-returned comparison metrics cover three compatible lanes [S5]. Why it matters: Cross-lane evidence is governed. Uncertainty: One comparison receipt limits time-series interpretation. What would change the view: A later receipt returning different lane signs.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PORTFOLIO, BENCHMARK, COHORT AND CURRENCY IDENTIFIERS MATCH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Scope and Compatibility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99032"/>
            <a:ext cx="73152" cy="1867301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96112" y="1371600"/>
            <a:ext cx="10588752" cy="10058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Compatible for governed three-lane comparison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423160"/>
            <a:ext cx="10588752" cy="60408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returned compatibility receipt matches portfolio, benchmark role, parent cohort and calculation currency [S5].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449213"/>
          <a:ext cx="10908792" cy="27687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38435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38435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Compatibility gate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Four identifiers match [S2][S3]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REALIZED EFFECTS ARE SHOWN WITHOUT RECALCULATION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EFFECTS BY SEGMENT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REALIZED EFFECTS ARE SHOWN WITHOUT RECALCULATION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PORTFOLIO AND BENCHMARK AVERAGE WEIGHTS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REALIZED EFFECTS ARE SHOWN WITHOUT RECALCULATION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CUMULATIVE LINKED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REALIZED EFFECTS ARE SHOWN WITHOUT RECALCULATION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CUMULATIVE ALTERNATIVES SELECTION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REALIZED EFFECTS ARE SHOWN WITHOUT RECALCULATION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RETURNED CUMULATIVE GROWTH CONTEXT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REALIZED EFFECTS ARE SHOWN WITHOUT RECALCULATION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9689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9689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Selection leads detractors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91225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Returned selection is negative [S2]. Why it matters: Selection leads realized detractors. Uncertainty: The evidence covers one linked period. What would change the view: A later historical…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32498"/>
            <a:ext cx="10908792" cy="238542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832498"/>
            <a:ext cx="54864" cy="238542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94222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Benchmark and excess 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225690"/>
            <a:ext cx="10616184" cy="190078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Attribution excess is measured against the linked segment benchmark, not the policy benchmark used for historical returns, so the two excess figures are not directly comparable [S2].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EXPECTED EFFECTS ARE SHOWN AS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EXPECTED EFFECTS BY SEGMENT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EXPECTED EFFECTS ARE SHOWN AS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9756"/>
                <a:gridCol w="2619756"/>
              </a:tblGrid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User-defined regime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year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return 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Base-case expected return by allocation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return 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Base-case expected return by benchmark segment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EXPECTED PORTFOLIO AND BENCHMARK RETURNS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EXPECTED EFFECTS ARE SHOWN AS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Allocation leads expectations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Returned allocation is positive [S3]. Why it matters: Allocation leads expected effects. Uncertainty: Inputs are assumptions. What would change the view: A refreshed ex ante result.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SIMULATION RETURNS SCENARIO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Simulated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SIMULATED EFFECT BANDS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Allocation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61427" y="2185111"/>
            <a:ext cx="3467404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9458553" y="206197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9481413" y="190804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317601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Selection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0" y="3724351"/>
            <a:ext cx="5201107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Oval 14"/>
          <p:cNvSpPr/>
          <p:nvPr/>
        </p:nvSpPr>
        <p:spPr>
          <a:xfrm>
            <a:off x="5124297" y="360121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5147157" y="344728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471525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Interaction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27724" y="5263591"/>
            <a:ext cx="2600553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Oval 18"/>
          <p:cNvSpPr/>
          <p:nvPr/>
        </p:nvSpPr>
        <p:spPr>
          <a:xfrm>
            <a:off x="7204740" y="514045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7227600" y="498652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SIMULATION RETURNS SCENARIO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Simulated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SCENARIO SELECTOR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5360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8401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 ID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401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scenario-base-test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scenario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1-year simulated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01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scenario-down-test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Downside scenario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1-year simulated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0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scenario-up-test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Upside scenario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1-year simulated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154546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Returned scenario selector; no locally invented scenarios [S4].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447154"/>
          <a:ext cx="10908792" cy="14093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70468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0468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Capability gate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 simulation capability was available before invocation [S1][S4]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4966247"/>
            <a:ext cx="10908792" cy="12516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4966247"/>
            <a:ext cx="54864" cy="12516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507597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Scenario range returned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5359439"/>
            <a:ext cx="10616184" cy="767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governed simulation returned effect bands and a selected base scenario [S4]. Why it matters: Scenario context is explicit. Uncertainty: Results depend on governed scenario inputs. What…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COMPARISON RETURNS COMPATIBLE CROSS-LANE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Cross-Lane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RETURNED CROSS-LANE EFFECT MATRIX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198"/>
                <a:gridCol w="2727198"/>
                <a:gridCol w="2727198"/>
                <a:gridCol w="2727198"/>
              </a:tblGrid>
              <a:tr h="115443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Simulated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0.2</a:t>
                      </a:r>
                    </a:p>
                  </a:txBody>
                  <a:tcPr marL="54864" marR="54864" marT="27432" marB="27432" anchor="ctr">
                    <a:solidFill>
                      <a:srgbClr val="CEF45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0.4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0.3</a:t>
                      </a:r>
                    </a:p>
                  </a:txBody>
                  <a:tcPr marL="54864" marR="54864" marT="27432" marB="27432" anchor="ctr">
                    <a:solidFill>
                      <a:srgbClr val="CAF443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</a:t>
                      </a:r>
                    </a:p>
                  </a:txBody>
                  <a:tcPr marL="54864" marR="54864" marT="27432" marB="27432" anchor="ctr">
                    <a:solidFill>
                      <a:srgbClr val="DAF58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</a:t>
                      </a:r>
                    </a:p>
                  </a:txBody>
                  <a:tcPr marL="54864" marR="54864" marT="27432" marB="27432" anchor="ctr">
                    <a:solidFill>
                      <a:srgbClr val="D6F57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0.05</a:t>
                      </a:r>
                    </a:p>
                  </a:txBody>
                  <a:tcPr marL="54864" marR="54864" marT="27432" marB="27432" anchor="ctr">
                    <a:solidFill>
                      <a:srgbClr val="D4F56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0.04</a:t>
                      </a:r>
                    </a:p>
                  </a:txBody>
                  <a:tcPr marL="54864" marR="54864" marT="27432" marB="27432" anchor="ctr">
                    <a:solidFill>
                      <a:srgbClr val="D4F56E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COMPARISON RETURNS COMPATIBLE CROSS-LANE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Cross-Lane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RETURNED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EXPECTED RETURNED EFFECTS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COMPARISON RETURNS COMPATIBLE CROSS-LANE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Cross-Lane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RETURNED LANE DIFFERENCES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COMPARISON RETURNS COMPATIBLE CROSS-LANE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Cross-Lane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RETURNED CONCENTRATION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COMPARISON RETURNS COMPATIBLE CROSS-LANE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Cross-Lane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RETURNED PERSISTENCE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2502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6255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lanes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Persistence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6255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· Expected · Simulated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Persistent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255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· Expected · Simulated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Persistent negative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625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· Simulated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Persistent in two lanes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86869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Server-returned persistence labels [S5].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61298"/>
            <a:ext cx="10908792" cy="205662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161298"/>
            <a:ext cx="54864" cy="205662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27102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Governed comparison fields returned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554490"/>
            <a:ext cx="10616184" cy="157198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server returned differences, concentration and persistence for three compatible lanes [S5]. Why it matters: Cross-lane claims use governed fields. Uncertainty: One receipt limits time-series interpretation. What…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ALL THREE LANES AND THE CROSS-LANE COMPARISON RETURNED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 and Limitations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2230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attribution returned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attribution returned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Simulation and comparison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 and cross-lane results returned [S4][S5]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S4 · S5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SOURCE INVENTORY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67012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7012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Capability gate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7012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7012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get_portfolio_ex_ante_attribution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7012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Simulated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7012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Cross-lane comparison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701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return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SOURCE INVENTORY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3093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sha256:bbbbbbbbbbbbbbbbbbbbbbbbbbbbbbbbbbbbbbbbbbbbbbbbbbbbbbbbbbbbbbbb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sha256:cccccccccccccccccccccccccccccccccccccccccccccccccccccccccccccccc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sha256:dddddddddddddddddddddddddddddddddddddddddddddddddddddddddddddddd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sha256:eeeeeeeeeeeeeeeeeeeeeeeeeeeeeeeeeeeeeeeeeeeeeeeeeeeeeeeeeeeeeeee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fields=cumulative_growth; limit=100; illustrative sample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sha256:ffffffffffffffffffffffffffffffffffffffffffffffffffffffffffffffff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 for every source: Illustrative sample data. Each digest is the SHA-256 fingerprint of the exact data the report used.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SOURCE INVENTORY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RETURNED SIGN BY SEGMENT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31782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5403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Lane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sign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5403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Positive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403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-0.8pp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Negative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5403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ex ante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+0.27pp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Positive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403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ex ante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+0.08pp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Positive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5403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Simulated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Positive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403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Simulated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Negative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796742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Signs are returned or directly classified per lane; no local lane subtraction [S2][S3][S4].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089350"/>
            <a:ext cx="10908792" cy="112856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5089350"/>
            <a:ext cx="54864" cy="112856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519907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Method 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482542"/>
            <a:ext cx="10616184" cy="64393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Each lane keeps its own method, period, benchmark role and currency, and values are shown as returned; cross-lane results appear only where the comparison tool returned them [S1][S2][S3].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Attribution Comparison</dc:title>
  <dc:subject>Attribution Comparison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