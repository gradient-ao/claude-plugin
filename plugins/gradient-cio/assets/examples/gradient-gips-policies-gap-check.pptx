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Sheet1!$A$2:$A$18</c:f>
              <c:strCache>
                <c:ptCount val="17"/>
                <c:pt idx="0">
                  <c:v>Firm definition</c:v>
                </c:pt>
                <c:pt idx="1">
                  <c:v>Governance</c:v>
                </c:pt>
                <c:pt idx="2">
                  <c:v>Composite definitions</c:v>
                </c:pt>
                <c:pt idx="3">
                  <c:v>Composite membership</c:v>
                </c:pt>
                <c:pt idx="4">
                  <c:v>Significant cash flows</c:v>
                </c:pt>
                <c:pt idx="5">
                  <c:v>Carve-outs</c:v>
                </c:pt>
                <c:pt idx="6">
                  <c:v>Valuation</c:v>
                </c:pt>
                <c:pt idx="7">
                  <c:v>Return calculation</c:v>
                </c:pt>
                <c:pt idx="8">
                  <c:v>Benchmarks</c:v>
                </c:pt>
                <c:pt idx="9">
                  <c:v>Report preparation</c:v>
                </c:pt>
                <c:pt idx="10">
                  <c:v>Distribution</c:v>
                </c:pt>
                <c:pt idx="11">
                  <c:v>Error correction</c:v>
                </c:pt>
                <c:pt idx="12">
                  <c:v>Advertising</c:v>
                </c:pt>
                <c:pt idx="13">
                  <c:v>Portability and M&amp;A</c:v>
                </c:pt>
                <c:pt idx="14">
                  <c:v>Theoretical performance</c:v>
                </c:pt>
                <c:pt idx="15">
                  <c:v>Record retention</c:v>
                </c:pt>
                <c:pt idx="16">
                  <c:v>Verification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1.0</c:v>
                </c:pt>
                <c:pt idx="1">
                  <c:v>0.0</c:v>
                </c:pt>
                <c:pt idx="2">
                  <c:v>1.0</c:v>
                </c:pt>
                <c:pt idx="3">
                  <c:v>1.0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1.0</c:v>
                </c:pt>
                <c:pt idx="13">
                  <c:v>0.0</c:v>
                </c:pt>
                <c:pt idx="14">
                  <c:v>1.0</c:v>
                </c:pt>
                <c:pt idx="15">
                  <c:v>0.0</c:v>
                </c:pt>
                <c:pt idx="16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Sheet1!$A$2:$A$18</c:f>
              <c:strCache>
                <c:ptCount val="17"/>
                <c:pt idx="0">
                  <c:v>Firm definition</c:v>
                </c:pt>
                <c:pt idx="1">
                  <c:v>Governance</c:v>
                </c:pt>
                <c:pt idx="2">
                  <c:v>Composite definitions</c:v>
                </c:pt>
                <c:pt idx="3">
                  <c:v>Composite membership</c:v>
                </c:pt>
                <c:pt idx="4">
                  <c:v>Significant cash flows</c:v>
                </c:pt>
                <c:pt idx="5">
                  <c:v>Carve-outs</c:v>
                </c:pt>
                <c:pt idx="6">
                  <c:v>Valuation</c:v>
                </c:pt>
                <c:pt idx="7">
                  <c:v>Return calculation</c:v>
                </c:pt>
                <c:pt idx="8">
                  <c:v>Benchmarks</c:v>
                </c:pt>
                <c:pt idx="9">
                  <c:v>Report preparation</c:v>
                </c:pt>
                <c:pt idx="10">
                  <c:v>Distribution</c:v>
                </c:pt>
                <c:pt idx="11">
                  <c:v>Error correction</c:v>
                </c:pt>
                <c:pt idx="12">
                  <c:v>Advertising</c:v>
                </c:pt>
                <c:pt idx="13">
                  <c:v>Portability and M&amp;A</c:v>
                </c:pt>
                <c:pt idx="14">
                  <c:v>Theoretical performance</c:v>
                </c:pt>
                <c:pt idx="15">
                  <c:v>Record retention</c:v>
                </c:pt>
                <c:pt idx="16">
                  <c:v>Verification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1.0</c:v>
                </c:pt>
                <c:pt idx="7">
                  <c:v>0.0</c:v>
                </c:pt>
                <c:pt idx="8">
                  <c:v>1.0</c:v>
                </c:pt>
                <c:pt idx="9">
                  <c:v>1.0</c:v>
                </c:pt>
                <c:pt idx="10">
                  <c:v>0.0</c:v>
                </c:pt>
                <c:pt idx="11">
                  <c:v>1.0</c:v>
                </c:pt>
                <c:pt idx="12">
                  <c:v>0.0</c:v>
                </c:pt>
                <c:pt idx="13">
                  <c:v>1.0</c:v>
                </c:pt>
                <c:pt idx="14">
                  <c:v>0.0</c:v>
                </c:pt>
                <c:pt idx="15">
                  <c:v>0.0</c:v>
                </c:pt>
                <c:pt idx="16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Sheet1!$A$2:$A$18</c:f>
              <c:strCache>
                <c:ptCount val="17"/>
                <c:pt idx="0">
                  <c:v>Firm definition</c:v>
                </c:pt>
                <c:pt idx="1">
                  <c:v>Governance</c:v>
                </c:pt>
                <c:pt idx="2">
                  <c:v>Composite definitions</c:v>
                </c:pt>
                <c:pt idx="3">
                  <c:v>Composite membership</c:v>
                </c:pt>
                <c:pt idx="4">
                  <c:v>Significant cash flows</c:v>
                </c:pt>
                <c:pt idx="5">
                  <c:v>Carve-outs</c:v>
                </c:pt>
                <c:pt idx="6">
                  <c:v>Valuation</c:v>
                </c:pt>
                <c:pt idx="7">
                  <c:v>Return calculation</c:v>
                </c:pt>
                <c:pt idx="8">
                  <c:v>Benchmarks</c:v>
                </c:pt>
                <c:pt idx="9">
                  <c:v>Report preparation</c:v>
                </c:pt>
                <c:pt idx="10">
                  <c:v>Distribution</c:v>
                </c:pt>
                <c:pt idx="11">
                  <c:v>Error correction</c:v>
                </c:pt>
                <c:pt idx="12">
                  <c:v>Advertising</c:v>
                </c:pt>
                <c:pt idx="13">
                  <c:v>Portability and M&amp;A</c:v>
                </c:pt>
                <c:pt idx="14">
                  <c:v>Theoretical performance</c:v>
                </c:pt>
                <c:pt idx="15">
                  <c:v>Record retention</c:v>
                </c:pt>
                <c:pt idx="16">
                  <c:v>Verification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Sheet1!$A$2:$A$18</c:f>
              <c:strCache>
                <c:ptCount val="17"/>
                <c:pt idx="0">
                  <c:v>Firm definition</c:v>
                </c:pt>
                <c:pt idx="1">
                  <c:v>Governance</c:v>
                </c:pt>
                <c:pt idx="2">
                  <c:v>Composite definitions</c:v>
                </c:pt>
                <c:pt idx="3">
                  <c:v>Composite membership</c:v>
                </c:pt>
                <c:pt idx="4">
                  <c:v>Significant cash flows</c:v>
                </c:pt>
                <c:pt idx="5">
                  <c:v>Carve-outs</c:v>
                </c:pt>
                <c:pt idx="6">
                  <c:v>Valuation</c:v>
                </c:pt>
                <c:pt idx="7">
                  <c:v>Return calculation</c:v>
                </c:pt>
                <c:pt idx="8">
                  <c:v>Benchmarks</c:v>
                </c:pt>
                <c:pt idx="9">
                  <c:v>Report preparation</c:v>
                </c:pt>
                <c:pt idx="10">
                  <c:v>Distribution</c:v>
                </c:pt>
                <c:pt idx="11">
                  <c:v>Error correction</c:v>
                </c:pt>
                <c:pt idx="12">
                  <c:v>Advertising</c:v>
                </c:pt>
                <c:pt idx="13">
                  <c:v>Portability and M&amp;A</c:v>
                </c:pt>
                <c:pt idx="14">
                  <c:v>Theoretical performance</c:v>
                </c:pt>
                <c:pt idx="15">
                  <c:v>Record retention</c:v>
                </c:pt>
                <c:pt idx="16">
                  <c:v>Verification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1.0</c:v>
                </c:pt>
                <c:pt idx="16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4.0</c:v>
                </c:pt>
                <c:pt idx="2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governance currency is unproven</a:t>
            </a:r>
          </a:p>
          <a:p>
            <a:r>
              <a:t>Observation: No current approval date is evidenced for this revision [S2]. Why it matters: Governance cannot be tied to the reviewed manual version. Uncertainty: A signed approval record may exist outside supplied coverage. What would change the view: Follow-up request 1 producing dated approval evidence.</a:t>
            </a:r>
          </a:p>
          <a:p/>
          <a:p>
            <a:r>
              <a:t>Analysis — control specificity is uneven</a:t>
            </a:r>
          </a:p>
          <a:p>
            <a:r>
              <a:t>Observation: Six areas lack owners, timing or thresholds [S1]. Why it matters: Execution is not reproducible from policy. Uncertainty: Procedures may sit outside the manual. What would change the view: Follow-up request 2 and follow-up request 3.</a:t>
            </a:r>
          </a:p>
          <a:p/>
          <a:p>
            <a:r>
              <a:t>Analysis — evidence retention is incomplete</a:t>
            </a:r>
          </a:p>
          <a:p>
            <a:r>
              <a:t>Observation: Three required policy areas were not found [S1]. Why it matters: Compliance evidence may not be retained or distributed consistently. Uncertainty: Separate approved policies were not supplied for review. What would change the view: Follow-up request 4 producing all three policy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POLICIES GAP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Meridian Example Advisers (TEST) — GIPS Policies Gap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Policies and procedures · SYNTHETIC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Meridian Example Advisers (TEST)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Policies gap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MANUAL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Material concern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REQUIREMENTS EVIDENCED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13 of 16 ·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866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86626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381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Core composite and calculation policies exist, but current approval is not evidenced and six areas remain partial [S1][S2].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30187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Six policy areas are specific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9471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0443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PARTIALLY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Six areas need specificity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149340" y="3301876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5906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approval not evidenced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890397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01369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Three policies not located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28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2761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7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GIPS policies manual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sections 2–13, revised 2025-12-31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761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change log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 review listed; current signed approval absent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92776"/>
            <a:ext cx="10908792" cy="106013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Material concern. Core composite and calculation policies exist, but current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62638"/>
            <a:ext cx="10908792" cy="100907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162638"/>
            <a:ext cx="54864" cy="100907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27236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core calculation rules exist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555830"/>
            <a:ext cx="10616184" cy="52444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manual states four core areas: TWR, accrual, fee and theoretical-performance rules [S1]. Their presence establishes a calculation foundation, but the review still depends on whether each rule is current, operationally assigned and consistently supported by retained records.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81440"/>
            <a:ext cx="10908792" cy="93647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281440"/>
            <a:ext cx="54864" cy="936479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39116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current governance is unproven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674632"/>
            <a:ext cx="10616184" cy="45184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change log contains no approval record for the current manual [S2]. Without a dated approval, the review cannot determine whether governance accepted this revision, so a signed record remains necessary to establish currency and accountable authorization.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38246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38246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operational ownership is thin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8978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Valuation, report sign-off and portability controls omit accountable owners [S1]. The missing assignments materially weaken execution because the manual does not identify who performs, reviews or approves these three recurring control responsibilities when exceptions arise.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8068"/>
            <a:ext cx="10908792" cy="23998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18068"/>
            <a:ext cx="54864" cy="239985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92779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three policy areas are absent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11260"/>
            <a:ext cx="10616184" cy="19152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Three policy areas were not located: significant cash flows, distribution tracking and record retention [S1]. Their absence leaves portfolio treatment, recipient evidence and retention duties undefined, requiring separate approved policies or explicit additions to the manual.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FINDINGS BY SEVERITY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PRIORITY FINDINGS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1308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HIGH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approval not evidenced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change log has no signed approval for the current manual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threshold absent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error policy omits materiality thresholds [S1].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Reporting owners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estimates and report sign-off lack accountable owners [S1].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Benchmark-change timing undefined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benchmark policy does not define approval timing [S1].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Portability ownership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portability policy does not identify its documentation owner [S1].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Cash-flow policy not found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ex ante significant-cash-flow policy was located [S1].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 tracking not found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reasonable-efforts tracking policy was located [S1].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Retention schedule not found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supporting-record retention schedule was located [S1].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106685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current manual has no supplied approval record. Error correction, valuation, benchmark, portability,</a:t>
            </a:r>
            <a:br/>
            <a:br/>
            <a:r>
              <a:rPr>
                <a:latin typeface="Inter"/>
              </a:rPr>
              <a:t>report-preparation and verification policies lack required specificity; three additional areas are not found</a:t>
            </a:r>
            <a:br/>
            <a:br/>
            <a:r>
              <a:rPr>
                <a:latin typeface="Inter"/>
              </a:rPr>
              <a:t>in the reviewed manual [S1][S2].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02462"/>
            <a:ext cx="10908792" cy="125560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2502462"/>
            <a:ext cx="54864" cy="1255606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261219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governance currency is unproven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895654"/>
            <a:ext cx="10616184" cy="77097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 current approval date is evidenced for this revision [S2]. Why it matters: Governance cannot be tied to the reviewed manual version. Uncertainty: A signed approval record…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67796"/>
            <a:ext cx="10908792" cy="10094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67796"/>
            <a:ext cx="54864" cy="100940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7752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control specificity is uneven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60988"/>
            <a:ext cx="10616184" cy="5247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Six areas lack owners, timing or thresholds [S1]. Why it matters: Execution is not reproducible from policy. Uncertainty: Procedures may sit outside the manual. What would change…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86933"/>
            <a:ext cx="10908792" cy="12309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986933"/>
            <a:ext cx="54864" cy="123098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509666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evidence retention is incomplete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380125"/>
            <a:ext cx="10616184" cy="74635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Three required policy areas were not found [S1]. Why it matters: Compliance evidence may not be retained or distributed consistently. Uncertainty: Separate approved policies were not supplied…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gaps by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AREA BY CHECKLIST STATUS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132"/>
                <a:gridCol w="1818132"/>
                <a:gridCol w="1818132"/>
                <a:gridCol w="1818132"/>
                <a:gridCol w="1818132"/>
                <a:gridCol w="1818132"/>
              </a:tblGrid>
              <a:tr h="2565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Partially met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met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found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definition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definitions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membership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Significant cash flows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Carve-outs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calculation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 preparation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correction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Advertising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Portability and M&amp;A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Theoretical performance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Record retention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gaps by area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Governance and portfolio scope</a:t>
            </a:r>
            <a:br/>
            <a:br/>
            <a:r>
              <a:rPr>
                <a:latin typeface="Inter"/>
              </a:rPr>
              <a:t> ·  Area  ·  Status  ·  Evidence gap  · </a:t>
            </a:r>
            <a:br/>
            <a:br/>
            <a:r>
              <a:rPr>
                <a:latin typeface="Inter"/>
              </a:rPr>
              <a:t> ·  Firm definition  ·  Met  ·  Defined legal entity and asset perimeter [S1]  · </a:t>
            </a:r>
            <a:br/>
            <a:br/>
            <a:r>
              <a:rPr>
                <a:latin typeface="Inter"/>
              </a:rPr>
              <a:t> ·  Governance  ·  Not met  ·  No current approval record [S2]  · </a:t>
            </a:r>
            <a:br/>
            <a:br/>
            <a:r>
              <a:rPr>
                <a:latin typeface="Inter"/>
              </a:rPr>
              <a:t> ·  Composite definitions  ·  Met  ·  Strategy and discretion rules stated [S1]  · </a:t>
            </a:r>
            <a:br/>
            <a:br/>
            <a:r>
              <a:rPr>
                <a:latin typeface="Inter"/>
              </a:rPr>
              <a:t> ·  Composite membership  ·  Met  ·  Entry and exit timing stated [S1]  · </a:t>
            </a:r>
            <a:br/>
            <a:br/>
            <a:r>
              <a:rPr>
                <a:latin typeface="Inter"/>
              </a:rPr>
              <a:t> ·  Significant cash flows  ·  Not found  ·  No ex ante policy located [S1]  · </a:t>
            </a:r>
            <a:br/>
            <a:br/>
            <a:r>
              <a:rPr>
                <a:latin typeface="Inter"/>
              </a:rPr>
              <a:t> ·  Carve-outs  ·  N/A  ·  Manual states the firm does not use carve-outs [S1]  · </a:t>
            </a:r>
            <a:br/>
            <a:br/>
            <a:r>
              <a:rPr>
                <a:latin typeface="Inter"/>
              </a:rPr>
              <a:t>Calculation and reporting controls</a:t>
            </a:r>
            <a:br/>
            <a:br/>
            <a:r>
              <a:rPr>
                <a:latin typeface="Inter"/>
              </a:rPr>
              <a:t> ·  Area  ·  Status  ·  Evidence gap  · </a:t>
            </a:r>
            <a:br/>
            <a:br/>
            <a:r>
              <a:rPr>
                <a:latin typeface="Inter"/>
              </a:rPr>
              <a:t> ·  Valuation  ·  Partially met  ·  Estimate hierarchy lacks approval owner [S1]  · </a:t>
            </a:r>
            <a:br/>
            <a:br/>
            <a:r>
              <a:rPr>
                <a:latin typeface="Inter"/>
              </a:rPr>
              <a:t> ·  Return calculation  ·  Met  ·  TWR, accrual and fee methods stated [S1]  · </a:t>
            </a:r>
            <a:br/>
            <a:br/>
            <a:r>
              <a:rPr>
                <a:latin typeface="Inter"/>
              </a:rPr>
              <a:t> ·  Benchmarks  ·  Partially met  ·  Change approval timing is undefined [S1]  · </a:t>
            </a:r>
            <a:br/>
            <a:br/>
            <a:r>
              <a:rPr>
                <a:latin typeface="Inter"/>
              </a:rPr>
              <a:t> ·  Report preparation  ·  Partially met  ·  Final sign-off owner is absent [S1]  · </a:t>
            </a:r>
            <a:br/>
            <a:br/>
            <a:r>
              <a:rPr>
                <a:latin typeface="Inter"/>
              </a:rPr>
              <a:t> ·  Distribution  ·  Not found  ·  Reasonable-efforts tracking not located [S1]  · </a:t>
            </a:r>
            <a:br/>
            <a:br/>
            <a:r>
              <a:rPr>
                <a:latin typeface="Inter"/>
              </a:rPr>
              <a:t> ·  Error correction  ·  Partially met  ·  Materiality thresholds are absent [S1]  · </a:t>
            </a:r>
            <a:br/>
            <a:br/>
            <a:r>
              <a:rPr>
                <a:latin typeface="Inter"/>
              </a:rPr>
              <a:t>Marketing, records and assurance</a:t>
            </a:r>
            <a:br/>
            <a:br/>
            <a:r>
              <a:rPr>
                <a:latin typeface="Inter"/>
              </a:rPr>
              <a:t> ·  Area  ·  Status  ·  Evidence gap  · </a:t>
            </a:r>
            <a:br/>
            <a:br/>
            <a:r>
              <a:rPr>
                <a:latin typeface="Inter"/>
              </a:rPr>
              <a:t> ·  Advertising  ·  Met  ·  GIPS advertisement approval process stated [S1]  · </a:t>
            </a:r>
            <a:br/>
            <a:br/>
            <a:r>
              <a:rPr>
                <a:latin typeface="Inter"/>
              </a:rPr>
              <a:t> ·  Portability and M&amp;A  ·  Partially met  ·  Documentation owner is absent [S1]  · </a:t>
            </a:r>
            <a:br/>
            <a:br/>
            <a:r>
              <a:rPr>
                <a:latin typeface="Inter"/>
              </a:rPr>
              <a:t> ·  Theoretical performance  ·  Met  ·  Linking prohibition and labeling stated [S1]  · </a:t>
            </a:r>
            <a:br/>
            <a:br/>
            <a:r>
              <a:rPr>
                <a:latin typeface="Inter"/>
              </a:rPr>
              <a:t> ·  Record retention  ·  Not found  ·  Retention schedule not located [S1]  · </a:t>
            </a:r>
            <a:br/>
            <a:br/>
            <a:r>
              <a:rPr>
                <a:latin typeface="Inter"/>
              </a:rPr>
              <a:t> ·  Verification  ·  Partially met  ·  Independence review cadence is undefined [S1]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Provide the current signed policy approval and governance record.</a:t>
            </a:r>
            <a:br/>
            <a:r>
              <a:rPr>
                <a:latin typeface="Inter"/>
              </a:rPr>
              <a:t>      Closes the governance deficiency [S2].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Provide approved error-correction thresholds and the escalation owner.</a:t>
            </a:r>
            <a:br/>
            <a:r>
              <a:rPr>
                <a:latin typeface="Inter"/>
              </a:rPr>
              <a:t>      Closes the 1.A.20–1.A.21 specificity gap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  Add owners and timing for valuation estimates, benchmark changes and report sign-off.</a:t>
            </a:r>
            <a:br/>
            <a:r>
              <a:rPr>
                <a:latin typeface="Inter"/>
              </a:rPr>
              <a:t>      Closes three operational-control gaps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  Provide significant-cash-flow, distribution-tracking and record-retention policies.</a:t>
            </a:r>
            <a:br/>
            <a:r>
              <a:rPr>
                <a:latin typeface="Inter"/>
              </a:rPr>
              <a:t>      Closes the three Not found areas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  Identify the portability documentation owner and acquired-record inventory.</a:t>
            </a:r>
            <a:br/>
            <a:r>
              <a:rPr>
                <a:latin typeface="Inter"/>
              </a:rPr>
              <a:t>      Closes the portability control gap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  Define verifier independence review ownership and cadence.</a:t>
            </a:r>
            <a:br/>
            <a:r>
              <a:rPr>
                <a:latin typeface="Inter"/>
              </a:rPr>
              <a:t>      Closes the verification governance gap [S1].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current signed policy approval and governance record 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approved error-correction materiality thresholds and escalation owner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Add owners and timing for valuation estimates, benchmark changes and report sign-off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significant-cash-flow, distribution-tracking and record-retention policies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Identify the portability documentation owner and required acquired-record inventory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Define verifier independence review ownership and cadence [S1].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Governance and portfolio scope</a:t>
            </a:r>
            <a:br/>
            <a:br/>
            <a:r>
              <a:rPr>
                <a:latin typeface="Inter"/>
              </a:rPr>
              <a:t> 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Firm  ·  Firm definition  ·  1.A.2  ·  Met  ·  Manual §2 [S1]  ·  —  · </a:t>
            </a:r>
            <a:br/>
            <a:br/>
            <a:r>
              <a:rPr>
                <a:latin typeface="Inter"/>
              </a:rPr>
              <a:t> ·  Governance  ·  Current approval evidence  ·  1.A.4–1.A.5  ·  Not met  ·  Change log [S2]  ·  No current sign-off  · </a:t>
            </a:r>
            <a:br/>
            <a:br/>
            <a:r>
              <a:rPr>
                <a:latin typeface="Inter"/>
              </a:rPr>
              <a:t> ·  Composite definitions  ·  Definition and discretion  ·  3.A.1–3.A.5  ·  Met  ·  Manual §5 [S1]  ·  —  · </a:t>
            </a:r>
            <a:br/>
            <a:br/>
            <a:r>
              <a:rPr>
                <a:latin typeface="Inter"/>
              </a:rPr>
              <a:t> ·  Composite membership  ·  Entry and exit timing  ·  3.A.6–3.A.11  ·  Met  ·  Manual §6 [S1]  ·  —  · </a:t>
            </a:r>
            <a:br/>
            <a:br/>
            <a:r>
              <a:rPr>
                <a:latin typeface="Inter"/>
              </a:rPr>
              <a:t> ·  Significant cash flows  ·  Ex ante treatment  ·  3.A.12–3.A.13  ·  Not found  ·  Manual [S1]  ·  Policy not located  · </a:t>
            </a:r>
            <a:br/>
            <a:br/>
            <a:r>
              <a:rPr>
                <a:latin typeface="Inter"/>
              </a:rPr>
              <a:t> ·  Carve-outs  ·  Cash allocation and standalone composite  ·  3.A.15–3.A.18  ·  N/A  ·  Manual §6 [S1]  ·  Firm states none are used  · </a:t>
            </a:r>
            <a:br/>
            <a:br/>
            <a:r>
              <a:rPr>
                <a:latin typeface="Inter"/>
              </a:rPr>
              <a:t>Calculation and reporting controls</a:t>
            </a:r>
            <a:br/>
            <a:br/>
            <a:r>
              <a:rPr>
                <a:latin typeface="Inter"/>
              </a:rPr>
              <a:t> 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Valuation  ·  Fair value hierarchy and estimates  ·  2.A.19, 2.A.23  ·  Partially met  ·  Manual §7 [S1]  ·  Estimate approval owner absent  · </a:t>
            </a:r>
            <a:br/>
            <a:br/>
            <a:r>
              <a:rPr>
                <a:latin typeface="Inter"/>
              </a:rPr>
              <a:t> ·  Return calculation  ·  TWR, accruals and fees  ·  2.A.8–2.A.38  ·  Met  ·  Manual §8 [S1]  ·  —  · </a:t>
            </a:r>
            <a:br/>
            <a:br/>
            <a:r>
              <a:rPr>
                <a:latin typeface="Inter"/>
              </a:rPr>
              <a:t> ·  Benchmarks  ·  Selection and change approval  ·  1.A.18–1.A.19  ·  Partially met  ·  Manual §8 [S1]  ·  Approval timing undefined  · </a:t>
            </a:r>
            <a:br/>
            <a:br/>
            <a:r>
              <a:rPr>
                <a:latin typeface="Inter"/>
              </a:rPr>
              <a:t> ·  Report preparation  ·  Required review and sign-off  ·  Section 4–7  ·  Partially met  ·  Manual §10 [S1]  ·  Final owner absent  · </a:t>
            </a:r>
            <a:br/>
            <a:br/>
            <a:r>
              <a:rPr>
                <a:latin typeface="Inter"/>
              </a:rPr>
              <a:t> ·  Distribution  ·  Reasonable-efforts tracking  ·  1.A.11–1.A.17  ·  Not found  ·  Manual [S1]  ·  Policy not located  · </a:t>
            </a:r>
            <a:br/>
            <a:br/>
            <a:r>
              <a:rPr>
                <a:latin typeface="Inter"/>
              </a:rPr>
              <a:t> ·  Error correction  ·  Thresholds and redistribution  ·  1.A.20–1.A.21  ·  Partially met  ·  Manual §9 [S1]  ·  Materiality absent  · </a:t>
            </a:r>
            <a:br/>
            <a:br/>
            <a:r>
              <a:rPr>
                <a:latin typeface="Inter"/>
              </a:rPr>
              <a:t>Marketing, records and assurance</a:t>
            </a:r>
            <a:br/>
            <a:br/>
            <a:r>
              <a:rPr>
                <a:latin typeface="Inter"/>
              </a:rPr>
              <a:t> 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Advertising  ·  Review and approval  ·  Section 8  ·  Met  ·  Manual §12 [S1]  ·  —  · </a:t>
            </a:r>
            <a:br/>
            <a:br/>
            <a:r>
              <a:rPr>
                <a:latin typeface="Inter"/>
              </a:rPr>
              <a:t> ·  Portability and M&amp;A  ·  Linking controls and records  ·  1.A.28, 4.C.37  ·  Partially met  ·  Manual §11 [S1]  ·  Documentation owner absent  · </a:t>
            </a:r>
            <a:br/>
            <a:br/>
            <a:r>
              <a:rPr>
                <a:latin typeface="Inter"/>
              </a:rPr>
              <a:t> ·  Theoretical performance  ·  Linking prohibition  ·  1.A.27, 4.C.48  ·  Met  ·  Manual §12 [S1]  ·  —  · </a:t>
            </a:r>
            <a:br/>
            <a:br/>
            <a:r>
              <a:rPr>
                <a:latin typeface="Inter"/>
              </a:rPr>
              <a:t> ·  Record retention  ·  Supporting-record schedule  ·  1.A.5  ·  Not found  ·  Manual [S1]  ·  Schedule not located  · </a:t>
            </a:r>
            <a:br/>
            <a:br/>
            <a:r>
              <a:rPr>
                <a:latin typeface="Inter"/>
              </a:rPr>
              <a:t> ·  Verification  ·  Independence and scope review  ·  Verification standards  ·  Partially met  ·  Manual §13 [S1]  ·  Review cadence undefined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Tag  ·  Source  ·  Detail  ·  As of  ·  Validation  · </a:t>
            </a:r>
            <a:br/>
            <a:br/>
            <a:r>
              <a:rPr>
                <a:latin typeface="Inter"/>
              </a:rPr>
              <a:t> ·  S1  ·  GIPS policies manual (TEST)  ·  Fictional sections 2–11  ·  2025-12-31  ·  Synthetic document  · </a:t>
            </a:r>
            <a:br/>
            <a:br/>
            <a:r>
              <a:rPr>
                <a:latin typeface="Inter"/>
              </a:rPr>
              <a:t> ·  S2  ·  Policy change log (TEST)  ·  Fictional approvals  ·  2026-06-30  ·  Synthetic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fictional policies gap check tests the shared GIPS handoff contract. It is not verification, certification, legal advice or an assessment of any real firm.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Example Advisers (TEST) — GIPS Policies Gap Check</dc:title>
  <dc:subject>GIPS Review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