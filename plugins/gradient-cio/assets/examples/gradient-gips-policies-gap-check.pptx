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charts/chart2.xml" ContentType="application/vnd.openxmlformats-officedocument.drawingml.chart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notesMaster" Target="notesMasters/notesMaster1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_rels/chart2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2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0"/>
    <c:plotArea>
      <c:barChart>
        <c:barDir val="bar"/>
        <c:grouping val="stacked"/>
        <c:ser>
          <c:idx val="0"/>
          <c:order val="0"/>
          <c:tx>
            <c:strRef>
              <c:f>Sheet1!$B$1</c:f>
              <c:strCache>
                <c:ptCount val="1"/>
                <c:pt idx="0">
                  <c:v>Met</c:v>
                </c:pt>
              </c:strCache>
            </c:strRef>
          </c:tx>
          <c:spPr>
            <a:solidFill>
              <a:srgbClr val="0D1117"/>
            </a:solidFill>
          </c:spPr>
          <c:cat>
            <c:strRef>
              <c:f>Sheet1!$A$2:$A$7</c:f>
              <c:strCache>
                <c:ptCount val="6"/>
                <c:pt idx="0">
                  <c:v>Firm</c:v>
                </c:pt>
                <c:pt idx="1">
                  <c:v>Composite</c:v>
                </c:pt>
                <c:pt idx="2">
                  <c:v>Errors</c:v>
                </c:pt>
                <c:pt idx="3">
                  <c:v>Portability</c:v>
                </c:pt>
                <c:pt idx="4">
                  <c:v>Review</c:v>
                </c:pt>
                <c:pt idx="5">
                  <c:v>Records</c:v>
                </c:pt>
              </c:strCache>
            </c: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1.0</c:v>
                </c:pt>
                <c:pt idx="1">
                  <c:v>1.0</c:v>
                </c:pt>
                <c:pt idx="2">
                  <c:v>0.0</c:v>
                </c:pt>
                <c:pt idx="3">
                  <c:v>0.0</c:v>
                </c:pt>
                <c:pt idx="4">
                  <c:v>0.0</c:v>
                </c:pt>
                <c:pt idx="5">
                  <c:v>0.0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Partially met</c:v>
                </c:pt>
              </c:strCache>
            </c:strRef>
          </c:tx>
          <c:spPr>
            <a:solidFill>
              <a:srgbClr val="7FA600"/>
            </a:solidFill>
          </c:spPr>
          <c:cat>
            <c:strRef>
              <c:f>Sheet1!$A$2:$A$7</c:f>
              <c:strCache>
                <c:ptCount val="6"/>
                <c:pt idx="0">
                  <c:v>Firm</c:v>
                </c:pt>
                <c:pt idx="1">
                  <c:v>Composite</c:v>
                </c:pt>
                <c:pt idx="2">
                  <c:v>Errors</c:v>
                </c:pt>
                <c:pt idx="3">
                  <c:v>Portability</c:v>
                </c:pt>
                <c:pt idx="4">
                  <c:v>Review</c:v>
                </c:pt>
                <c:pt idx="5">
                  <c:v>Records</c:v>
                </c:pt>
              </c:strCache>
            </c:strRef>
          </c:cat>
          <c:val>
            <c:numRef>
              <c:f>Sheet1!$C$2:$C$7</c:f>
              <c:numCache>
                <c:formatCode>General</c:formatCode>
                <c:ptCount val="6"/>
                <c:pt idx="0">
                  <c:v>0.0</c:v>
                </c:pt>
                <c:pt idx="1">
                  <c:v>0.0</c:v>
                </c:pt>
                <c:pt idx="2">
                  <c:v>1.0</c:v>
                </c:pt>
                <c:pt idx="3">
                  <c:v>1.0</c:v>
                </c:pt>
                <c:pt idx="4">
                  <c:v>0.0</c:v>
                </c:pt>
                <c:pt idx="5">
                  <c:v>0.0</c:v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Not met</c:v>
                </c:pt>
              </c:strCache>
            </c:strRef>
          </c:tx>
          <c:spPr>
            <a:solidFill>
              <a:srgbClr val="F2A93B"/>
            </a:solidFill>
          </c:spPr>
          <c:cat>
            <c:strRef>
              <c:f>Sheet1!$A$2:$A$7</c:f>
              <c:strCache>
                <c:ptCount val="6"/>
                <c:pt idx="0">
                  <c:v>Firm</c:v>
                </c:pt>
                <c:pt idx="1">
                  <c:v>Composite</c:v>
                </c:pt>
                <c:pt idx="2">
                  <c:v>Errors</c:v>
                </c:pt>
                <c:pt idx="3">
                  <c:v>Portability</c:v>
                </c:pt>
                <c:pt idx="4">
                  <c:v>Review</c:v>
                </c:pt>
                <c:pt idx="5">
                  <c:v>Records</c:v>
                </c:pt>
              </c:strCache>
            </c:strRef>
          </c:cat>
          <c:val>
            <c:numRef>
              <c:f>Sheet1!$D$2:$D$7</c:f>
              <c:numCache>
                <c:formatCode>General</c:formatCode>
                <c:ptCount val="6"/>
                <c:pt idx="0">
                  <c:v>0.0</c:v>
                </c:pt>
                <c:pt idx="1">
                  <c:v>0.0</c:v>
                </c:pt>
                <c:pt idx="2">
                  <c:v>0.0</c:v>
                </c:pt>
                <c:pt idx="3">
                  <c:v>0.0</c:v>
                </c:pt>
                <c:pt idx="4">
                  <c:v>1.0</c:v>
                </c:pt>
                <c:pt idx="5">
                  <c:v>0.0</c:v>
                </c:pt>
              </c:numCache>
            </c:numRef>
          </c:val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Not found</c:v>
                </c:pt>
              </c:strCache>
            </c:strRef>
          </c:tx>
          <c:spPr>
            <a:solidFill>
              <a:srgbClr val="5B8DEF"/>
            </a:solidFill>
          </c:spPr>
          <c:cat>
            <c:strRef>
              <c:f>Sheet1!$A$2:$A$7</c:f>
              <c:strCache>
                <c:ptCount val="6"/>
                <c:pt idx="0">
                  <c:v>Firm</c:v>
                </c:pt>
                <c:pt idx="1">
                  <c:v>Composite</c:v>
                </c:pt>
                <c:pt idx="2">
                  <c:v>Errors</c:v>
                </c:pt>
                <c:pt idx="3">
                  <c:v>Portability</c:v>
                </c:pt>
                <c:pt idx="4">
                  <c:v>Review</c:v>
                </c:pt>
                <c:pt idx="5">
                  <c:v>Records</c:v>
                </c:pt>
              </c:strCache>
            </c:strRef>
          </c:cat>
          <c:val>
            <c:numRef>
              <c:f>Sheet1!$E$2:$E$7</c:f>
              <c:numCache>
                <c:formatCode>General</c:formatCode>
                <c:ptCount val="6"/>
                <c:pt idx="0">
                  <c:v>0.0</c:v>
                </c:pt>
                <c:pt idx="1">
                  <c:v>0.0</c:v>
                </c:pt>
                <c:pt idx="2">
                  <c:v>0.0</c:v>
                </c:pt>
                <c:pt idx="3">
                  <c:v>0.0</c:v>
                </c:pt>
                <c:pt idx="4">
                  <c:v>0.0</c:v>
                </c:pt>
                <c:pt idx="5">
                  <c:v>1.0</c:v>
                </c:pt>
              </c:numCache>
            </c:numRef>
          </c:val>
        </c:ser>
        <c:overlap val="10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l"/>
        <c:majorTickMark val="out"/>
        <c:minorTickMark val="none"/>
        <c:tickLblPos val="nextTo"/>
        <c:txPr>
          <a:bodyPr/>
          <a:lstStyle/>
          <a:p>
            <a:pPr>
              <a:defRPr sz="800"/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b"/>
        <c:majorGridlines/>
        <c:majorTickMark val="out"/>
        <c:minorTickMark val="none"/>
        <c:tickLblPos val="nextTo"/>
        <c:crossAx val="-2068027336"/>
        <c:crosses val="autoZero"/>
      </c:valAx>
    </c:plotArea>
    <c:legend>
      <c:legendPos val="b"/>
    </c:legend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0"/>
    <c:plotArea>
      <c:barChart>
        <c:barDir val="bar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Value</c:v>
                </c:pt>
              </c:strCache>
            </c:strRef>
          </c:tx>
          <c:spPr>
            <a:solidFill>
              <a:srgbClr val="0D1117"/>
            </a:solidFill>
          </c:spPr>
          <c:dPt>
            <c:idx val="0"/>
            <c:spPr>
              <a:solidFill>
                <a:srgbClr val="C6F432"/>
              </a:solidFill>
            </c:spPr>
          </c:dPt>
          <c:dPt>
            <c:idx val="1"/>
            <c:spPr>
              <a:solidFill>
                <a:srgbClr val="C6F432"/>
              </a:solidFill>
            </c:spPr>
          </c:dPt>
          <c:dPt>
            <c:idx val="2"/>
            <c:spPr>
              <a:solidFill>
                <a:srgbClr val="C6F432"/>
              </a:solidFill>
            </c:spPr>
          </c:dPt>
          <c:cat>
            <c:strRef>
              <c:f>Sheet1!$A$2:$A$4</c:f>
              <c:strCache>
                <c:ptCount val="3"/>
                <c:pt idx="0">
                  <c:v>High</c:v>
                </c:pt>
                <c:pt idx="1">
                  <c:v>Medium</c:v>
                </c:pt>
                <c:pt idx="2">
                  <c:v>Low</c:v>
                </c:pt>
              </c:strCache>
            </c: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1.0</c:v>
                </c:pt>
                <c:pt idx="1">
                  <c:v>2.0</c:v>
                </c:pt>
                <c:pt idx="2">
                  <c:v>1.0</c:v>
                </c:pt>
              </c:numCache>
            </c:numRef>
          </c:val>
        </c:ser>
        <c:dLbls>
          <c:txPr>
            <a:bodyPr/>
            <a:lstStyle/>
            <a:p>
              <a:pPr>
                <a:defRPr sz="800"/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55"/>
        <c:axId val="-2068027336"/>
        <c:axId val="-2113994440"/>
      </c:barChart>
      <c:catAx>
        <c:axId val="-2068027336"/>
        <c:scaling>
          <c:orientation val="minMax"/>
        </c:scaling>
        <c:delete val="0"/>
        <c:axPos val="l"/>
        <c:majorTickMark val="out"/>
        <c:minorTickMark val="none"/>
        <c:tickLblPos val="nextTo"/>
        <c:txPr>
          <a:bodyPr/>
          <a:lstStyle/>
          <a:p>
            <a:pPr>
              <a:defRPr sz="800"/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b"/>
        <c:majorGridlines/>
        <c:majorTickMark val="out"/>
        <c:minorTickMark val="none"/>
        <c:tickLblPos val="nextTo"/>
        <c:txPr>
          <a:bodyPr/>
          <a:lstStyle/>
          <a:p>
            <a:pPr>
              <a:defRPr sz="800"/>
            </a:pPr>
          </a:p>
        </c:txPr>
        <c:crossAx val="-2068027336"/>
        <c:crosses val="autoZero"/>
      </c:valAx>
    </c:plotArea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Analysis — Approval evidence is stale</a:t>
            </a:r>
          </a:p>
          <a:p>
            <a:r>
              <a:t>Observation: The current policy approval is not evidenced [S2]. Why it matters: governance cannot be tied to the current manual. Uncertainty: approval may exist outside the supplied log. What would change the view: evidence closing follow-up request 2.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Cov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Section divi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Exhibi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-up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Tabl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Appendix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1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2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D1117"/>
          </a:solidFill>
          <a:ln>
            <a:solidFill>
              <a:srgbClr val="0D11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9372600" y="164592"/>
            <a:ext cx="2514600" cy="2514600"/>
          </a:xfrm>
          <a:prstGeom prst="ellipse">
            <a:avLst/>
          </a:prstGeom>
          <a:solidFill>
            <a:srgbClr val="161C24"/>
          </a:solidFill>
          <a:ln>
            <a:solidFill>
              <a:srgbClr val="161C2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457200"/>
            <a:ext cx="2743200" cy="32004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1200" b="1">
                <a:solidFill>
                  <a:srgbClr val="FFFFFF"/>
                </a:solidFill>
                <a:latin typeface="Inter"/>
              </a:defRPr>
            </a:pPr>
            <a:r>
              <a:t>GradientCIO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1828800"/>
            <a:ext cx="9966960" cy="27432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900" b="1">
                <a:solidFill>
                  <a:srgbClr val="C6F432"/>
                </a:solidFill>
                <a:latin typeface="Inter"/>
              </a:defRPr>
            </a:pPr>
            <a:r>
              <a:t>GIPS POLICIES GAP CHECK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2176272"/>
            <a:ext cx="9966960" cy="123444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3400" b="1">
                <a:solidFill>
                  <a:srgbClr val="FFFFFF"/>
                </a:solidFill>
                <a:latin typeface="Inter"/>
              </a:defRPr>
            </a:pPr>
            <a:r>
              <a:t>Meridian Example Advisers (TEST) — GIPS Policies Gap Check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3456432"/>
            <a:ext cx="9692640" cy="6400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1500" b="0">
                <a:solidFill>
                  <a:srgbClr val="9AA5B1"/>
                </a:solidFill>
                <a:latin typeface="Inter"/>
              </a:defRPr>
            </a:pPr>
            <a:r>
              <a:t>Policies and procedures · SYNTHETIC TEST</a:t>
            </a:r>
          </a:p>
        </p:txBody>
      </p:sp>
      <p:sp>
        <p:nvSpPr>
          <p:cNvPr id="8" name="Rectangle 7"/>
          <p:cNvSpPr/>
          <p:nvPr/>
        </p:nvSpPr>
        <p:spPr>
          <a:xfrm>
            <a:off x="685800" y="4251960"/>
            <a:ext cx="1005840" cy="54864"/>
          </a:xfrm>
          <a:prstGeom prst="rect">
            <a:avLst/>
          </a:prstGeom>
          <a:solidFill>
            <a:srgbClr val="C6F432"/>
          </a:solidFill>
          <a:ln>
            <a:solidFill>
              <a:srgbClr val="C6F4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85800" y="4572000"/>
            <a:ext cx="3063240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00" b="1">
                <a:solidFill>
                  <a:srgbClr val="8A94A1"/>
                </a:solidFill>
                <a:latin typeface="Inter"/>
              </a:defRPr>
            </a:pPr>
            <a:r>
              <a:t>SUBJECT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85800" y="4773168"/>
            <a:ext cx="3063240" cy="32004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1000" b="1">
                <a:solidFill>
                  <a:srgbClr val="FFFFFF"/>
                </a:solidFill>
                <a:latin typeface="Inter"/>
              </a:defRPr>
            </a:pPr>
            <a:r>
              <a:t>Meridian Example Advisers (TEST)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160520" y="4572000"/>
            <a:ext cx="3063240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00" b="1">
                <a:solidFill>
                  <a:srgbClr val="8A94A1"/>
                </a:solidFill>
                <a:latin typeface="Inter"/>
              </a:defRPr>
            </a:pPr>
            <a:r>
              <a:t>REVIEW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160520" y="4773168"/>
            <a:ext cx="3063240" cy="32004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1000" b="1">
                <a:solidFill>
                  <a:srgbClr val="FFFFFF"/>
                </a:solidFill>
                <a:latin typeface="Inter"/>
              </a:defRPr>
            </a:pPr>
            <a:r>
              <a:t>Policies gap check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635240" y="4572000"/>
            <a:ext cx="3063240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00" b="1">
                <a:solidFill>
                  <a:srgbClr val="8A94A1"/>
                </a:solidFill>
                <a:latin typeface="Inter"/>
              </a:defRPr>
            </a:pPr>
            <a:r>
              <a:t>MANUAL DATE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635240" y="4773168"/>
            <a:ext cx="3063240" cy="32004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1000" b="1">
                <a:solidFill>
                  <a:srgbClr val="FFFFFF"/>
                </a:solidFill>
                <a:latin typeface="Inter"/>
              </a:defRPr>
            </a:pPr>
            <a:r>
              <a:t>2025-12-31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85800" y="5230368"/>
            <a:ext cx="3063240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00" b="1">
                <a:solidFill>
                  <a:srgbClr val="8A94A1"/>
                </a:solidFill>
                <a:latin typeface="Inter"/>
              </a:defRPr>
            </a:pPr>
            <a:r>
              <a:t>EVIDENCE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85800" y="5431536"/>
            <a:ext cx="3063240" cy="32004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1000" b="1">
                <a:solidFill>
                  <a:srgbClr val="FFFFFF"/>
                </a:solidFill>
                <a:latin typeface="Inter"/>
              </a:defRPr>
            </a:pPr>
            <a:r>
              <a:t>Fictional documents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160520" y="5230368"/>
            <a:ext cx="3063240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00" b="1">
                <a:solidFill>
                  <a:srgbClr val="8A94A1"/>
                </a:solidFill>
                <a:latin typeface="Inter"/>
              </a:defRPr>
            </a:pPr>
            <a:r>
              <a:t>PREPARED FOR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160520" y="5431536"/>
            <a:ext cx="3063240" cy="32004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1000" b="1">
                <a:solidFill>
                  <a:srgbClr val="FFFFFF"/>
                </a:solidFill>
                <a:latin typeface="Inter"/>
              </a:defRPr>
            </a:pPr>
            <a:r>
              <a:t>Gradient TEST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635240" y="5230368"/>
            <a:ext cx="3063240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00" b="1">
                <a:solidFill>
                  <a:srgbClr val="8A94A1"/>
                </a:solidFill>
                <a:latin typeface="Inter"/>
              </a:defRPr>
            </a:pPr>
            <a:r>
              <a:t>REVIEW DATE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635240" y="5431536"/>
            <a:ext cx="3063240" cy="32004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1000" b="1">
                <a:solidFill>
                  <a:srgbClr val="FFFFFF"/>
                </a:solidFill>
                <a:latin typeface="Inter"/>
              </a:defRPr>
            </a:pPr>
            <a:r>
              <a:t>2026-10-09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85800" y="6473952"/>
            <a:ext cx="8046720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00" b="0">
                <a:solidFill>
                  <a:srgbClr val="8A94A1"/>
                </a:solidFill>
                <a:latin typeface="Inter"/>
              </a:defRPr>
            </a:pPr>
            <a:r>
              <a:t>SYNTHETIC TEST DATA — fictional regression fixture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875520" y="6473952"/>
            <a:ext cx="1645920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r">
              <a:spcAft>
                <a:spcPts val="0"/>
              </a:spcAft>
              <a:defRPr sz="700" b="0">
                <a:solidFill>
                  <a:srgbClr val="8A94A1"/>
                </a:solidFill>
                <a:latin typeface="Inter"/>
              </a:defRPr>
            </a:pPr>
            <a:r>
              <a:t>GradientCIO.com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566928"/>
            <a:ext cx="10058400" cy="530352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2300" b="1">
                <a:solidFill>
                  <a:srgbClr val="0D1117"/>
                </a:solidFill>
                <a:latin typeface="Inter"/>
              </a:defRPr>
            </a:pPr>
            <a:r>
              <a:t>Summary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115568"/>
            <a:ext cx="10908792" cy="18288"/>
          </a:xfrm>
          <a:prstGeom prst="rect">
            <a:avLst/>
          </a:prstGeom>
          <a:solidFill>
            <a:srgbClr val="0D1117"/>
          </a:solidFill>
          <a:ln>
            <a:solidFill>
              <a:srgbClr val="0D11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11018520" y="502920"/>
            <a:ext cx="530352" cy="393192"/>
          </a:xfrm>
          <a:prstGeom prst="rect">
            <a:avLst/>
          </a:prstGeom>
          <a:solidFill>
            <a:srgbClr val="C6F432"/>
          </a:solidFill>
          <a:ln>
            <a:solidFill>
              <a:srgbClr val="C6F4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1045952" y="557784"/>
            <a:ext cx="475488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1000" b="1">
                <a:solidFill>
                  <a:srgbClr val="0D1117"/>
                </a:solidFill>
                <a:latin typeface="Inter"/>
              </a:defRPr>
            </a:pPr>
            <a:r>
              <a:t>01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1325880"/>
            <a:ext cx="10908792" cy="1866268"/>
          </a:xfrm>
          <a:prstGeom prst="rect">
            <a:avLst/>
          </a:prstGeom>
          <a:solidFill>
            <a:srgbClr val="F5F7F9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640080" y="1325880"/>
            <a:ext cx="54864" cy="1866268"/>
          </a:xfrm>
          <a:prstGeom prst="rect">
            <a:avLst/>
          </a:prstGeom>
          <a:solidFill>
            <a:srgbClr val="0D1117"/>
          </a:solidFill>
          <a:ln>
            <a:solidFill>
              <a:srgbClr val="0D11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04671" y="1435607"/>
            <a:ext cx="10616184" cy="22860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1000" b="1">
                <a:solidFill>
                  <a:srgbClr val="0D1117"/>
                </a:solidFill>
                <a:latin typeface="Inter"/>
              </a:defRPr>
            </a:pPr>
            <a:r>
              <a:t>Bottom line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04671" y="1719072"/>
            <a:ext cx="10616184" cy="1381636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950" b="0">
                <a:solidFill>
                  <a:srgbClr val="4A5563"/>
                </a:solidFill>
                <a:latin typeface="Inter"/>
              </a:defRPr>
            </a:pPr>
            <a:r>
              <a:t>Core governance exists, but current approval, error thresholds and supporting inventories are incomplete [S1][S2].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40080" y="3301876"/>
            <a:ext cx="2644902" cy="2916043"/>
          </a:xfrm>
          <a:prstGeom prst="rect">
            <a:avLst/>
          </a:prstGeom>
          <a:solidFill>
            <a:srgbClr val="F5F7F9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640080" y="3301876"/>
            <a:ext cx="2644902" cy="45720"/>
          </a:xfrm>
          <a:prstGeom prst="rect">
            <a:avLst/>
          </a:prstGeom>
          <a:solidFill>
            <a:srgbClr val="C6F432"/>
          </a:solidFill>
          <a:ln>
            <a:solidFill>
              <a:srgbClr val="C6F4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49808" y="3429892"/>
            <a:ext cx="2425446" cy="201168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650" b="1">
                <a:solidFill>
                  <a:srgbClr val="4A5563"/>
                </a:solidFill>
                <a:latin typeface="Inter"/>
              </a:defRPr>
            </a:pPr>
            <a:r>
              <a:t>MET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49808" y="3685924"/>
            <a:ext cx="2425446" cy="475488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1800" b="1">
                <a:solidFill>
                  <a:srgbClr val="0D1117"/>
                </a:solidFill>
                <a:latin typeface="Inter"/>
              </a:defRPr>
            </a:pPr>
            <a: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49808" y="5888736"/>
            <a:ext cx="2425446" cy="22860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00" b="0">
                <a:solidFill>
                  <a:srgbClr val="4A5563"/>
                </a:solidFill>
                <a:latin typeface="Inter"/>
              </a:defRPr>
            </a:pPr>
            <a:r>
              <a:t>Firm and composite governance</a:t>
            </a:r>
          </a:p>
        </p:txBody>
      </p:sp>
      <p:sp>
        <p:nvSpPr>
          <p:cNvPr id="16" name="Rectangle 15"/>
          <p:cNvSpPr/>
          <p:nvPr/>
        </p:nvSpPr>
        <p:spPr>
          <a:xfrm>
            <a:off x="3394710" y="3301876"/>
            <a:ext cx="2644902" cy="2916043"/>
          </a:xfrm>
          <a:prstGeom prst="rect">
            <a:avLst/>
          </a:prstGeom>
          <a:solidFill>
            <a:srgbClr val="F5F7F9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3394710" y="3301876"/>
            <a:ext cx="2644902" cy="45720"/>
          </a:xfrm>
          <a:prstGeom prst="rect">
            <a:avLst/>
          </a:prstGeom>
          <a:solidFill>
            <a:srgbClr val="F2A93B"/>
          </a:solidFill>
          <a:ln>
            <a:solidFill>
              <a:srgbClr val="F2A93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3504438" y="3429892"/>
            <a:ext cx="2425446" cy="201168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650" b="1">
                <a:solidFill>
                  <a:srgbClr val="4A5563"/>
                </a:solidFill>
                <a:latin typeface="Inter"/>
              </a:defRPr>
            </a:pPr>
            <a:r>
              <a:t>PARTIALLY MET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504438" y="3685924"/>
            <a:ext cx="2425446" cy="475488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1800" b="1">
                <a:solidFill>
                  <a:srgbClr val="0D1117"/>
                </a:solidFill>
                <a:latin typeface="Inter"/>
              </a:defRPr>
            </a:pPr>
            <a:r>
              <a:t>2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504438" y="5888736"/>
            <a:ext cx="2425446" cy="22860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00" b="0">
                <a:solidFill>
                  <a:srgbClr val="4A5563"/>
                </a:solidFill>
                <a:latin typeface="Inter"/>
              </a:defRPr>
            </a:pPr>
            <a:r>
              <a:t>Errors and portability</a:t>
            </a:r>
          </a:p>
        </p:txBody>
      </p:sp>
      <p:sp>
        <p:nvSpPr>
          <p:cNvPr id="21" name="Rectangle 20"/>
          <p:cNvSpPr/>
          <p:nvPr/>
        </p:nvSpPr>
        <p:spPr>
          <a:xfrm>
            <a:off x="6149340" y="3301876"/>
            <a:ext cx="2644902" cy="2916043"/>
          </a:xfrm>
          <a:prstGeom prst="rect">
            <a:avLst/>
          </a:prstGeom>
          <a:solidFill>
            <a:srgbClr val="F5F7F9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6149340" y="3301876"/>
            <a:ext cx="2644902" cy="45720"/>
          </a:xfrm>
          <a:prstGeom prst="rect">
            <a:avLst/>
          </a:prstGeom>
          <a:solidFill>
            <a:srgbClr val="FF6B5E"/>
          </a:solidFill>
          <a:ln>
            <a:solidFill>
              <a:srgbClr val="FF6B5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259068" y="3429892"/>
            <a:ext cx="2425446" cy="201168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650" b="1">
                <a:solidFill>
                  <a:srgbClr val="4A5563"/>
                </a:solidFill>
                <a:latin typeface="Inter"/>
              </a:defRPr>
            </a:pPr>
            <a:r>
              <a:t>NOT MET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259068" y="3685924"/>
            <a:ext cx="2425446" cy="475488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1800" b="1">
                <a:solidFill>
                  <a:srgbClr val="0D1117"/>
                </a:solidFill>
                <a:latin typeface="Inter"/>
              </a:defRPr>
            </a:pPr>
            <a:r>
              <a:t>1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259068" y="5888736"/>
            <a:ext cx="2425446" cy="22860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00" b="0">
                <a:solidFill>
                  <a:srgbClr val="4A5563"/>
                </a:solidFill>
                <a:latin typeface="Inter"/>
              </a:defRPr>
            </a:pPr>
            <a:r>
              <a:t>Current approval evidence</a:t>
            </a:r>
          </a:p>
        </p:txBody>
      </p:sp>
      <p:sp>
        <p:nvSpPr>
          <p:cNvPr id="26" name="Rectangle 25"/>
          <p:cNvSpPr/>
          <p:nvPr/>
        </p:nvSpPr>
        <p:spPr>
          <a:xfrm>
            <a:off x="8903970" y="3301876"/>
            <a:ext cx="2644902" cy="2916043"/>
          </a:xfrm>
          <a:prstGeom prst="rect">
            <a:avLst/>
          </a:prstGeom>
          <a:solidFill>
            <a:srgbClr val="F5F7F9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8903970" y="3301876"/>
            <a:ext cx="2644902" cy="45720"/>
          </a:xfrm>
          <a:prstGeom prst="rect">
            <a:avLst/>
          </a:prstGeom>
          <a:solidFill>
            <a:srgbClr val="F2A93B"/>
          </a:solidFill>
          <a:ln>
            <a:solidFill>
              <a:srgbClr val="F2A93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9013698" y="3429892"/>
            <a:ext cx="2425446" cy="201168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650" b="1">
                <a:solidFill>
                  <a:srgbClr val="4A5563"/>
                </a:solidFill>
                <a:latin typeface="Inter"/>
              </a:defRPr>
            </a:pPr>
            <a:r>
              <a:t>NOT FOUND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013698" y="3685924"/>
            <a:ext cx="2425446" cy="475488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1800" b="1">
                <a:solidFill>
                  <a:srgbClr val="0D1117"/>
                </a:solidFill>
                <a:latin typeface="Inter"/>
              </a:defRPr>
            </a:pPr>
            <a:r>
              <a:t>1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013698" y="5888736"/>
            <a:ext cx="2425446" cy="22860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00" b="0">
                <a:solidFill>
                  <a:srgbClr val="4A5563"/>
                </a:solidFill>
                <a:latin typeface="Inter"/>
              </a:defRPr>
            </a:pPr>
            <a:r>
              <a:t>Supplemental inventory</a:t>
            </a:r>
          </a:p>
        </p:txBody>
      </p:sp>
      <p:sp>
        <p:nvSpPr>
          <p:cNvPr id="31" name="Rectangle 30"/>
          <p:cNvSpPr/>
          <p:nvPr/>
        </p:nvSpPr>
        <p:spPr>
          <a:xfrm>
            <a:off x="640080" y="6446520"/>
            <a:ext cx="10908792" cy="9144"/>
          </a:xfrm>
          <a:prstGeom prst="rect">
            <a:avLst/>
          </a:prstGeom>
          <a:solidFill>
            <a:srgbClr val="E3E7EC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640080" y="6501384"/>
            <a:ext cx="429768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t>Sources: S1 · S2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4480560" y="6501384"/>
            <a:ext cx="530352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t>SYNTHETIC TEST DATA — fictional regression fixture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0287000" y="6501384"/>
            <a:ext cx="1261872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t>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566928"/>
            <a:ext cx="10058400" cy="530352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2300" b="1">
                <a:solidFill>
                  <a:srgbClr val="0D1117"/>
                </a:solidFill>
                <a:latin typeface="Inter"/>
              </a:defRPr>
            </a:pPr>
            <a:r>
              <a:t>Summary — continued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115568"/>
            <a:ext cx="10908792" cy="18288"/>
          </a:xfrm>
          <a:prstGeom prst="rect">
            <a:avLst/>
          </a:prstGeom>
          <a:solidFill>
            <a:srgbClr val="0D1117"/>
          </a:solidFill>
          <a:ln>
            <a:solidFill>
              <a:srgbClr val="0D11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11018520" y="502920"/>
            <a:ext cx="530352" cy="393192"/>
          </a:xfrm>
          <a:prstGeom prst="rect">
            <a:avLst/>
          </a:prstGeom>
          <a:solidFill>
            <a:srgbClr val="C6F432"/>
          </a:solidFill>
          <a:ln>
            <a:solidFill>
              <a:srgbClr val="C6F4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1045952" y="557784"/>
            <a:ext cx="475488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1000" b="1">
                <a:solidFill>
                  <a:srgbClr val="0D1117"/>
                </a:solidFill>
                <a:latin typeface="Inter"/>
              </a:defRPr>
            </a:pPr>
            <a:r>
              <a:t>01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08792" cy="201168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20" b="1">
                <a:solidFill>
                  <a:srgbClr val="4A5563"/>
                </a:solidFill>
                <a:latin typeface="Inter"/>
              </a:defRPr>
            </a:pPr>
            <a:r>
              <a:t>EVIDENCE STATUS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640080" y="1600200"/>
          <a:ext cx="10908792" cy="143794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11680"/>
                <a:gridCol w="4448556"/>
                <a:gridCol w="4448556"/>
              </a:tblGrid>
              <a:tr h="479316"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t>Source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t>Status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t>Note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</a:tr>
              <a:tr h="479316"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t>Policies manual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C6F432"/>
                          </a:solidFill>
                          <a:latin typeface="Inter"/>
                        </a:defRPr>
                      </a:pPr>
                      <a:r>
                        <a:t>● available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t>Core policies reviewed [S1]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479316"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t>Change log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F2A93B"/>
                          </a:solidFill>
                          <a:latin typeface="Inter"/>
                        </a:defRPr>
                      </a:pPr>
                      <a:r>
                        <a:t>● degraded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t>Current sign-off absent [S2]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640080" y="3147876"/>
            <a:ext cx="10908792" cy="11103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500"/>
              </a:spcAft>
              <a:defRPr sz="1050" b="0">
                <a:solidFill>
                  <a:srgbClr val="0D1117"/>
                </a:solidFill>
                <a:latin typeface="Inter"/>
              </a:defRPr>
            </a:pPr>
            <a:r>
              <a:t>•  Overall assessment:** Material policy gaps.</a:t>
            </a:r>
          </a:p>
          <a:p>
            <a:pPr algn="l">
              <a:spcAft>
                <a:spcPts val="500"/>
              </a:spcAft>
              <a:defRPr sz="1050" b="0">
                <a:solidFill>
                  <a:srgbClr val="0D1117"/>
                </a:solidFill>
                <a:latin typeface="Inter"/>
              </a:defRPr>
            </a:pPr>
            <a:r>
              <a:t>•  Composite governance is documented, while error correction, portability and review evidence require follow-up.</a:t>
            </a:r>
          </a:p>
        </p:txBody>
      </p:sp>
      <p:sp>
        <p:nvSpPr>
          <p:cNvPr id="10" name="Rectangle 9"/>
          <p:cNvSpPr/>
          <p:nvPr/>
        </p:nvSpPr>
        <p:spPr>
          <a:xfrm>
            <a:off x="640080" y="4367984"/>
            <a:ext cx="10908792" cy="838173"/>
          </a:xfrm>
          <a:prstGeom prst="rect">
            <a:avLst/>
          </a:prstGeom>
          <a:solidFill>
            <a:srgbClr val="F5F7F9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40080" y="4367984"/>
            <a:ext cx="54864" cy="838173"/>
          </a:xfrm>
          <a:prstGeom prst="rect">
            <a:avLst/>
          </a:prstGeom>
          <a:solidFill>
            <a:srgbClr val="F2A93B"/>
          </a:solidFill>
          <a:ln>
            <a:solidFill>
              <a:srgbClr val="F2A93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04671" y="4477712"/>
            <a:ext cx="10616184" cy="22860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1000" b="1">
                <a:solidFill>
                  <a:srgbClr val="0D1117"/>
                </a:solidFill>
                <a:latin typeface="Inter"/>
              </a:defRPr>
            </a:pPr>
            <a:r>
              <a:t>Key judgment — evidence balance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04671" y="4761176"/>
            <a:ext cx="10616184" cy="353541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950" b="0">
                <a:solidFill>
                  <a:srgbClr val="4A5563"/>
                </a:solidFill>
                <a:latin typeface="Inter"/>
              </a:defRPr>
            </a:pPr>
            <a:r>
              <a:t>Observation: Met is 2 and Not met is 1 [S1]. Why it matters: The evidence is mixed. Uncertainty: The review is document-bound. What would change the view: Additional governed evidence that changes either count.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40080" y="5315885"/>
            <a:ext cx="10908792" cy="902034"/>
          </a:xfrm>
          <a:prstGeom prst="rect">
            <a:avLst/>
          </a:prstGeom>
          <a:solidFill>
            <a:srgbClr val="F5F7F9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40080" y="5315885"/>
            <a:ext cx="54864" cy="902034"/>
          </a:xfrm>
          <a:prstGeom prst="rect">
            <a:avLst/>
          </a:prstGeom>
          <a:solidFill>
            <a:srgbClr val="F2A93B"/>
          </a:solidFill>
          <a:ln>
            <a:solidFill>
              <a:srgbClr val="F2A93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04671" y="5425613"/>
            <a:ext cx="10616184" cy="22860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1000" b="1">
                <a:solidFill>
                  <a:srgbClr val="0D1117"/>
                </a:solidFill>
                <a:latin typeface="Inter"/>
              </a:defRPr>
            </a:pPr>
            <a:r>
              <a:t>Key judgment — partial support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04671" y="5709077"/>
            <a:ext cx="10616184" cy="417402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950" b="0">
                <a:solidFill>
                  <a:srgbClr val="4A5563"/>
                </a:solidFill>
                <a:latin typeface="Inter"/>
              </a:defRPr>
            </a:pPr>
            <a:r>
              <a:t>Observation: Partially met is 2 [S1]. Why it matters: Partial support limits a clean conclusion. Uncertainty: Missing documents may exist. What would change the view: Complete evidence for the partially supported requirements.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40080" y="6446520"/>
            <a:ext cx="10908792" cy="9144"/>
          </a:xfrm>
          <a:prstGeom prst="rect">
            <a:avLst/>
          </a:prstGeom>
          <a:solidFill>
            <a:srgbClr val="E3E7EC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40080" y="6501384"/>
            <a:ext cx="429768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t>Sources: S1 · S2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480560" y="6501384"/>
            <a:ext cx="530352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t>SYNTHETIC TEST DATA — fictional regression fixture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287000" y="6501384"/>
            <a:ext cx="1261872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t>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566928"/>
            <a:ext cx="10058400" cy="530352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2300" b="1">
                <a:solidFill>
                  <a:srgbClr val="0D1117"/>
                </a:solidFill>
                <a:latin typeface="Inter"/>
              </a:defRPr>
            </a:pPr>
            <a:r>
              <a:t>Summary — continued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115568"/>
            <a:ext cx="10908792" cy="18288"/>
          </a:xfrm>
          <a:prstGeom prst="rect">
            <a:avLst/>
          </a:prstGeom>
          <a:solidFill>
            <a:srgbClr val="0D1117"/>
          </a:solidFill>
          <a:ln>
            <a:solidFill>
              <a:srgbClr val="0D11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11018520" y="502920"/>
            <a:ext cx="530352" cy="393192"/>
          </a:xfrm>
          <a:prstGeom prst="rect">
            <a:avLst/>
          </a:prstGeom>
          <a:solidFill>
            <a:srgbClr val="C6F432"/>
          </a:solidFill>
          <a:ln>
            <a:solidFill>
              <a:srgbClr val="C6F4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1045952" y="557784"/>
            <a:ext cx="475488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1000" b="1">
                <a:solidFill>
                  <a:srgbClr val="0D1117"/>
                </a:solidFill>
                <a:latin typeface="Inter"/>
              </a:defRPr>
            </a:pPr>
            <a:r>
              <a:t>01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1325880"/>
            <a:ext cx="10908792" cy="2317807"/>
          </a:xfrm>
          <a:prstGeom prst="rect">
            <a:avLst/>
          </a:prstGeom>
          <a:solidFill>
            <a:srgbClr val="F5F7F9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640080" y="1325880"/>
            <a:ext cx="54864" cy="2317807"/>
          </a:xfrm>
          <a:prstGeom prst="rect">
            <a:avLst/>
          </a:prstGeom>
          <a:solidFill>
            <a:srgbClr val="0D1117"/>
          </a:solidFill>
          <a:ln>
            <a:solidFill>
              <a:srgbClr val="0D11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04671" y="1435607"/>
            <a:ext cx="10616184" cy="22860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1000" b="1">
                <a:solidFill>
                  <a:srgbClr val="0D1117"/>
                </a:solidFill>
                <a:latin typeface="Inter"/>
              </a:defRPr>
            </a:pPr>
            <a:r>
              <a:t>Key judgment — evidence gaps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04671" y="1719072"/>
            <a:ext cx="10616184" cy="1833175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950" b="0">
                <a:solidFill>
                  <a:srgbClr val="4A5563"/>
                </a:solidFill>
                <a:latin typeface="Inter"/>
              </a:defRPr>
            </a:pPr>
            <a:r>
              <a:t>Observation: Not found is 1 [S1]. Why it matters: Unlocated evidence remains outside the assessment. Uncertainty: Absence from the supplied record is not proof of absence. What would change the view: A current document resolving the gap.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40080" y="3753415"/>
            <a:ext cx="10908792" cy="2464504"/>
          </a:xfrm>
          <a:prstGeom prst="rect">
            <a:avLst/>
          </a:prstGeom>
          <a:solidFill>
            <a:srgbClr val="F5F7F9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640080" y="3753415"/>
            <a:ext cx="54864" cy="2464504"/>
          </a:xfrm>
          <a:prstGeom prst="rect">
            <a:avLst/>
          </a:prstGeom>
          <a:solidFill>
            <a:srgbClr val="FF6B5E"/>
          </a:solidFill>
          <a:ln>
            <a:solidFill>
              <a:srgbClr val="FF6B5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04671" y="3863143"/>
            <a:ext cx="10616184" cy="22860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1000" b="1">
                <a:solidFill>
                  <a:srgbClr val="0D1117"/>
                </a:solidFill>
                <a:latin typeface="Inter"/>
              </a:defRPr>
            </a:pPr>
            <a:r>
              <a:t>Analysis — Approval evidence is stale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04671" y="4146607"/>
            <a:ext cx="10616184" cy="1979872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950" b="0">
                <a:solidFill>
                  <a:srgbClr val="4A5563"/>
                </a:solidFill>
                <a:latin typeface="Inter"/>
              </a:defRPr>
            </a:pPr>
            <a:r>
              <a:t>Observation: The current policy approval is not evidenced [S2]. Why it matters: governance cannot be tied to the current manual. Uncertainty: approval may exist outside the supplied log…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40080" y="6446520"/>
            <a:ext cx="10908792" cy="9144"/>
          </a:xfrm>
          <a:prstGeom prst="rect">
            <a:avLst/>
          </a:prstGeom>
          <a:solidFill>
            <a:srgbClr val="E3E7EC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40080" y="6501384"/>
            <a:ext cx="429768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t>Sources: S1 · S2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480560" y="6501384"/>
            <a:ext cx="530352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t>SYNTHETIC TEST DATA — fictional regression fixture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287000" y="6501384"/>
            <a:ext cx="1261872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t>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566928"/>
            <a:ext cx="10058400" cy="530352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2300" b="1">
                <a:solidFill>
                  <a:srgbClr val="0D1117"/>
                </a:solidFill>
                <a:latin typeface="Inter"/>
              </a:defRPr>
            </a:pPr>
            <a:r>
              <a:t>Performance Integrity &amp; GIPS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115568"/>
            <a:ext cx="10908792" cy="18288"/>
          </a:xfrm>
          <a:prstGeom prst="rect">
            <a:avLst/>
          </a:prstGeom>
          <a:solidFill>
            <a:srgbClr val="0D1117"/>
          </a:solidFill>
          <a:ln>
            <a:solidFill>
              <a:srgbClr val="0D11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11018520" y="502920"/>
            <a:ext cx="530352" cy="393192"/>
          </a:xfrm>
          <a:prstGeom prst="rect">
            <a:avLst/>
          </a:prstGeom>
          <a:solidFill>
            <a:srgbClr val="C6F432"/>
          </a:solidFill>
          <a:ln>
            <a:solidFill>
              <a:srgbClr val="C6F4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1045952" y="557784"/>
            <a:ext cx="475488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1000" b="1">
                <a:solidFill>
                  <a:srgbClr val="0D1117"/>
                </a:solidFill>
                <a:latin typeface="Inter"/>
              </a:defRPr>
            </a:pPr>
            <a:r>
              <a:t>02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08792" cy="201168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20" b="1">
                <a:solidFill>
                  <a:srgbClr val="4A5563"/>
                </a:solidFill>
                <a:latin typeface="Inter"/>
              </a:defRPr>
            </a:pPr>
            <a:r>
              <a:t>REQUIREMENT EVIDENCE MATRIX (TEST)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640080" y="1600200"/>
          <a:ext cx="10908792" cy="46177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454396"/>
                <a:gridCol w="5454396"/>
              </a:tblGrid>
              <a:tr h="1154430">
                <a:tc>
                  <a:txBody>
                    <a:bodyPr/>
                    <a:lstStyle/>
                    <a:p>
                      <a:pPr>
                        <a:defRPr sz="70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0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t>Evidence score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</a:tr>
              <a:tr h="1154430"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t>Performance record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t>1.0</a:t>
                      </a:r>
                    </a:p>
                  </a:txBody>
                  <a:tcPr marL="54864" marR="54864" marT="27432" marB="27432" anchor="ctr">
                    <a:solidFill>
                      <a:srgbClr val="C6F432"/>
                    </a:solidFill>
                  </a:tcPr>
                </a:tc>
              </a:tr>
              <a:tr h="1154430"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t>Disclosures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t>0.5</a:t>
                      </a:r>
                    </a:p>
                  </a:txBody>
                  <a:tcPr marL="54864" marR="54864" marT="27432" marB="27432" anchor="ctr">
                    <a:solidFill>
                      <a:srgbClr val="D6F574"/>
                    </a:solidFill>
                  </a:tcPr>
                </a:tc>
              </a:tr>
              <a:tr h="1154430"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t>Governance evidence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t>-0.5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</a:tr>
            </a:tbl>
          </a:graphicData>
        </a:graphic>
      </p:graphicFrame>
      <p:sp>
        <p:nvSpPr>
          <p:cNvPr id="9" name="Rectangle 8"/>
          <p:cNvSpPr/>
          <p:nvPr/>
        </p:nvSpPr>
        <p:spPr>
          <a:xfrm>
            <a:off x="640080" y="6446520"/>
            <a:ext cx="10908792" cy="9144"/>
          </a:xfrm>
          <a:prstGeom prst="rect">
            <a:avLst/>
          </a:prstGeom>
          <a:solidFill>
            <a:srgbClr val="E3E7EC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0080" y="6501384"/>
            <a:ext cx="429768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t>Sources: none cited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480560" y="6501384"/>
            <a:ext cx="530352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t>SYNTHETIC TEST DATA — fictional regression fixture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287000" y="6501384"/>
            <a:ext cx="1261872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t>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566928"/>
            <a:ext cx="10058400" cy="530352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2300" b="1">
                <a:solidFill>
                  <a:srgbClr val="0D1117"/>
                </a:solidFill>
                <a:latin typeface="Inter"/>
              </a:defRPr>
            </a:pPr>
            <a:r>
              <a:t>Performance Integrity &amp; GIPS — continued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115568"/>
            <a:ext cx="10908792" cy="18288"/>
          </a:xfrm>
          <a:prstGeom prst="rect">
            <a:avLst/>
          </a:prstGeom>
          <a:solidFill>
            <a:srgbClr val="0D1117"/>
          </a:solidFill>
          <a:ln>
            <a:solidFill>
              <a:srgbClr val="0D11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11018520" y="502920"/>
            <a:ext cx="530352" cy="393192"/>
          </a:xfrm>
          <a:prstGeom prst="rect">
            <a:avLst/>
          </a:prstGeom>
          <a:solidFill>
            <a:srgbClr val="C6F432"/>
          </a:solidFill>
          <a:ln>
            <a:solidFill>
              <a:srgbClr val="C6F4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1045952" y="557784"/>
            <a:ext cx="475488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1000" b="1">
                <a:solidFill>
                  <a:srgbClr val="0D1117"/>
                </a:solidFill>
                <a:latin typeface="Inter"/>
              </a:defRPr>
            </a:pPr>
            <a:r>
              <a:t>02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08792" cy="489204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1100" b="0">
                <a:solidFill>
                  <a:srgbClr val="4A5563"/>
                </a:solidFill>
                <a:latin typeface="Inter"/>
              </a:defRPr>
            </a:pPr>
            <a:r>
              <a:t>The fictional manual defines the firm and composite creation process [S1]. The change log supports one annual review, but no signed current-period approval is included [S2].</a:t>
            </a:r>
          </a:p>
        </p:txBody>
      </p:sp>
      <p:sp>
        <p:nvSpPr>
          <p:cNvPr id="8" name="Rectangle 7"/>
          <p:cNvSpPr/>
          <p:nvPr/>
        </p:nvSpPr>
        <p:spPr>
          <a:xfrm>
            <a:off x="640080" y="6446520"/>
            <a:ext cx="10908792" cy="9144"/>
          </a:xfrm>
          <a:prstGeom prst="rect">
            <a:avLst/>
          </a:prstGeom>
          <a:solidFill>
            <a:srgbClr val="E3E7EC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40080" y="6501384"/>
            <a:ext cx="429768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t>Sources: S1 · S2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480560" y="6501384"/>
            <a:ext cx="530352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t>SYNTHETIC TEST DATA — fictional regression fixture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287000" y="6501384"/>
            <a:ext cx="1261872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t>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566928"/>
            <a:ext cx="10058400" cy="530352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2300" b="1">
                <a:solidFill>
                  <a:srgbClr val="0D1117"/>
                </a:solidFill>
                <a:latin typeface="Inter"/>
              </a:defRPr>
            </a:pPr>
            <a:r>
              <a:t>Follow-up Requests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115568"/>
            <a:ext cx="10908792" cy="18288"/>
          </a:xfrm>
          <a:prstGeom prst="rect">
            <a:avLst/>
          </a:prstGeom>
          <a:solidFill>
            <a:srgbClr val="0D1117"/>
          </a:solidFill>
          <a:ln>
            <a:solidFill>
              <a:srgbClr val="0D11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11018520" y="502920"/>
            <a:ext cx="530352" cy="393192"/>
          </a:xfrm>
          <a:prstGeom prst="rect">
            <a:avLst/>
          </a:prstGeom>
          <a:solidFill>
            <a:srgbClr val="C6F432"/>
          </a:solidFill>
          <a:ln>
            <a:solidFill>
              <a:srgbClr val="C6F4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1045952" y="557784"/>
            <a:ext cx="475488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1000" b="1">
                <a:solidFill>
                  <a:srgbClr val="0D1117"/>
                </a:solidFill>
                <a:latin typeface="Inter"/>
              </a:defRPr>
            </a:pPr>
            <a:r>
              <a:t>03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08792" cy="489204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500"/>
              </a:spcAft>
              <a:defRPr sz="1050" b="0">
                <a:solidFill>
                  <a:srgbClr val="0D1117"/>
                </a:solidFill>
                <a:latin typeface="Inter"/>
              </a:defRPr>
            </a:pPr>
            <a:r>
              <a:t>•  Provide approved error-correction materiality thresholds.</a:t>
            </a:r>
          </a:p>
          <a:p>
            <a:pPr algn="l">
              <a:spcAft>
                <a:spcPts val="500"/>
              </a:spcAft>
              <a:defRPr sz="1050" b="0">
                <a:solidFill>
                  <a:srgbClr val="0D1117"/>
                </a:solidFill>
                <a:latin typeface="Inter"/>
              </a:defRPr>
            </a:pPr>
            <a:r>
              <a:t>•  Provide current sign-off and the supplemental-information inventory.</a:t>
            </a:r>
          </a:p>
        </p:txBody>
      </p:sp>
      <p:sp>
        <p:nvSpPr>
          <p:cNvPr id="8" name="Rectangle 7"/>
          <p:cNvSpPr/>
          <p:nvPr/>
        </p:nvSpPr>
        <p:spPr>
          <a:xfrm>
            <a:off x="640080" y="6446520"/>
            <a:ext cx="10908792" cy="9144"/>
          </a:xfrm>
          <a:prstGeom prst="rect">
            <a:avLst/>
          </a:prstGeom>
          <a:solidFill>
            <a:srgbClr val="E3E7EC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40080" y="6501384"/>
            <a:ext cx="429768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t>Sources: none cited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480560" y="6501384"/>
            <a:ext cx="530352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t>SYNTHETIC TEST DATA — fictional regression fixture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287000" y="6501384"/>
            <a:ext cx="1261872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t>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566928"/>
            <a:ext cx="10058400" cy="530352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2300" b="1">
                <a:solidFill>
                  <a:srgbClr val="0D1117"/>
                </a:solidFill>
                <a:latin typeface="Inter"/>
              </a:defRPr>
            </a:pPr>
            <a:r>
              <a:t>Appendix — Findings Checklist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115568"/>
            <a:ext cx="10908792" cy="18288"/>
          </a:xfrm>
          <a:prstGeom prst="rect">
            <a:avLst/>
          </a:prstGeom>
          <a:solidFill>
            <a:srgbClr val="0D1117"/>
          </a:solidFill>
          <a:ln>
            <a:solidFill>
              <a:srgbClr val="0D11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11018520" y="502920"/>
            <a:ext cx="530352" cy="393192"/>
          </a:xfrm>
          <a:prstGeom prst="rect">
            <a:avLst/>
          </a:prstGeom>
          <a:solidFill>
            <a:srgbClr val="9AA5B1"/>
          </a:solidFill>
          <a:ln>
            <a:solidFill>
              <a:srgbClr val="9AA5B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1045952" y="557784"/>
            <a:ext cx="475488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1000" b="1">
                <a:solidFill>
                  <a:srgbClr val="0D1117"/>
                </a:solidFill>
                <a:latin typeface="Inter"/>
              </a:defRPr>
            </a:pPr>
            <a:r>
              <a:t>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08792" cy="201168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20" b="1">
                <a:solidFill>
                  <a:srgbClr val="4A5563"/>
                </a:solidFill>
                <a:latin typeface="Inter"/>
              </a:defRPr>
            </a:pPr>
            <a:r>
              <a:t>CHECKLIST STATUS BY AREA</a:t>
            </a:r>
          </a:p>
        </p:txBody>
      </p:sp>
      <p:graphicFrame>
        <p:nvGraphicFramePr>
          <p:cNvPr id="8" name="Chart 7"/>
          <p:cNvGraphicFramePr>
            <a:graphicFrameLocks noGrp="1"/>
          </p:cNvGraphicFramePr>
          <p:nvPr/>
        </p:nvGraphicFramePr>
        <p:xfrm>
          <a:off x="640080" y="1600200"/>
          <a:ext cx="10908792" cy="461772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9" name="Rectangle 8"/>
          <p:cNvSpPr/>
          <p:nvPr/>
        </p:nvSpPr>
        <p:spPr>
          <a:xfrm>
            <a:off x="640080" y="6446520"/>
            <a:ext cx="10908792" cy="9144"/>
          </a:xfrm>
          <a:prstGeom prst="rect">
            <a:avLst/>
          </a:prstGeom>
          <a:solidFill>
            <a:srgbClr val="E3E7EC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0080" y="6501384"/>
            <a:ext cx="429768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t>Sources: none cited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480560" y="6501384"/>
            <a:ext cx="530352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t>SYNTHETIC TEST DATA — fictional regression fixture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287000" y="6501384"/>
            <a:ext cx="1261872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t>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566928"/>
            <a:ext cx="10058400" cy="530352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2300" b="1">
                <a:solidFill>
                  <a:srgbClr val="0D1117"/>
                </a:solidFill>
                <a:latin typeface="Inter"/>
              </a:defRPr>
            </a:pPr>
            <a:r>
              <a:t>Appendix — Findings Checklist — continued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115568"/>
            <a:ext cx="10908792" cy="18288"/>
          </a:xfrm>
          <a:prstGeom prst="rect">
            <a:avLst/>
          </a:prstGeom>
          <a:solidFill>
            <a:srgbClr val="0D1117"/>
          </a:solidFill>
          <a:ln>
            <a:solidFill>
              <a:srgbClr val="0D11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11018520" y="502920"/>
            <a:ext cx="530352" cy="393192"/>
          </a:xfrm>
          <a:prstGeom prst="rect">
            <a:avLst/>
          </a:prstGeom>
          <a:solidFill>
            <a:srgbClr val="9AA5B1"/>
          </a:solidFill>
          <a:ln>
            <a:solidFill>
              <a:srgbClr val="9AA5B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1045952" y="557784"/>
            <a:ext cx="475488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1000" b="1">
                <a:solidFill>
                  <a:srgbClr val="0D1117"/>
                </a:solidFill>
                <a:latin typeface="Inter"/>
              </a:defRPr>
            </a:pPr>
            <a:r>
              <a:t>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08792" cy="201168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20" b="1">
                <a:solidFill>
                  <a:srgbClr val="4A5563"/>
                </a:solidFill>
                <a:latin typeface="Inter"/>
              </a:defRPr>
            </a:pPr>
            <a:r>
              <a:t>FINDINGS BY SEVERITY</a:t>
            </a:r>
          </a:p>
        </p:txBody>
      </p:sp>
      <p:graphicFrame>
        <p:nvGraphicFramePr>
          <p:cNvPr id="8" name="Chart 7"/>
          <p:cNvGraphicFramePr>
            <a:graphicFrameLocks noGrp="1"/>
          </p:cNvGraphicFramePr>
          <p:nvPr/>
        </p:nvGraphicFramePr>
        <p:xfrm>
          <a:off x="640080" y="1600200"/>
          <a:ext cx="10908792" cy="461772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9" name="Rectangle 8"/>
          <p:cNvSpPr/>
          <p:nvPr/>
        </p:nvSpPr>
        <p:spPr>
          <a:xfrm>
            <a:off x="640080" y="6446520"/>
            <a:ext cx="10908792" cy="9144"/>
          </a:xfrm>
          <a:prstGeom prst="rect">
            <a:avLst/>
          </a:prstGeom>
          <a:solidFill>
            <a:srgbClr val="E3E7EC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0080" y="6501384"/>
            <a:ext cx="429768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t>Sources: none cited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480560" y="6501384"/>
            <a:ext cx="530352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t>SYNTHETIC TEST DATA — fictional regression fixture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287000" y="6501384"/>
            <a:ext cx="1261872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t>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566928"/>
            <a:ext cx="10058400" cy="530352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2300" b="1">
                <a:solidFill>
                  <a:srgbClr val="0D1117"/>
                </a:solidFill>
                <a:latin typeface="Inter"/>
              </a:defRPr>
            </a:pPr>
            <a:r>
              <a:t>Appendix — Findings Checklist — continued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115568"/>
            <a:ext cx="10908792" cy="18288"/>
          </a:xfrm>
          <a:prstGeom prst="rect">
            <a:avLst/>
          </a:prstGeom>
          <a:solidFill>
            <a:srgbClr val="0D1117"/>
          </a:solidFill>
          <a:ln>
            <a:solidFill>
              <a:srgbClr val="0D11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11018520" y="502920"/>
            <a:ext cx="530352" cy="393192"/>
          </a:xfrm>
          <a:prstGeom prst="rect">
            <a:avLst/>
          </a:prstGeom>
          <a:solidFill>
            <a:srgbClr val="9AA5B1"/>
          </a:solidFill>
          <a:ln>
            <a:solidFill>
              <a:srgbClr val="9AA5B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1045952" y="557784"/>
            <a:ext cx="475488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1000" b="1">
                <a:solidFill>
                  <a:srgbClr val="0D1117"/>
                </a:solidFill>
                <a:latin typeface="Inter"/>
              </a:defRPr>
            </a:pPr>
            <a:r>
              <a:t>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08792" cy="20947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1100" b="0">
                <a:solidFill>
                  <a:srgbClr val="4A5563"/>
                </a:solidFill>
                <a:latin typeface="Inter"/>
              </a:defRPr>
            </a:pPr>
            <a:r>
              <a:t>·  Area  ·  Requirement  ·  Provision  ·  Status  ·  Evidence  ·  Finding / follow-up  · </a:t>
            </a:r>
            <a:br/>
            <a:br/>
            <a:r>
              <a:t> ·  Firm  ·  Firm definition  ·  1.A.2  ·  Met  ·  Manual §2 [S1]  ·  —  · </a:t>
            </a:r>
            <a:br/>
            <a:br/>
            <a:r>
              <a:t> ·  Composite  ·  Creation and termination  ·  3.A.2  ·  Met  ·  Manual §5 [S1]  ·  —  · </a:t>
            </a:r>
            <a:br/>
            <a:br/>
            <a:r>
              <a:t> ·  Errors  ·  Error-correction policy  ·  1.A.20  ·  Partially met  ·  Manual §9 [S1]  ·  Materiality absent  · </a:t>
            </a:r>
            <a:br/>
            <a:br/>
            <a:r>
              <a:t> ·  Portability  ·  Portability controls  ·  1.A.32  ·  Partially met  ·  Manual §11 [S1]  ·  Documentation owner absent  · </a:t>
            </a:r>
            <a:br/>
            <a:br/>
            <a:r>
              <a:t> ·  Review  ·  Current approval evidence  ·  Policy governance  ·  Not met  ·  Change log [S2]  ·  No current sign-off  · </a:t>
            </a:r>
            <a:br/>
            <a:br/>
            <a:r>
              <a:t> ·  Records  ·  Supplemental-information inventory  ·  1.A.6  ·  Not found  ·  —  ·  Request  ·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3530312"/>
            <a:ext cx="10908792" cy="201168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20" b="1">
                <a:solidFill>
                  <a:srgbClr val="4A5563"/>
                </a:solidFill>
                <a:latin typeface="Inter"/>
              </a:defRPr>
            </a:pPr>
            <a:r>
              <a:t>PRIORITY FINDINGS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640080" y="3804632"/>
          <a:ext cx="10908792" cy="2413287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11680"/>
                <a:gridCol w="4448556"/>
                <a:gridCol w="4448556"/>
              </a:tblGrid>
              <a:tr h="482657"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t>Severity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t>Finding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t>Detail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</a:tr>
              <a:tr h="482657"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FF6B5E"/>
                          </a:solidFill>
                          <a:latin typeface="Inter"/>
                        </a:defRPr>
                      </a:pPr>
                      <a:r>
                        <a:t>● HIGH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t>Approval not evidenced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t>The current manual has no supplied approval record [S2].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482657"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F2A93B"/>
                          </a:solidFill>
                          <a:latin typeface="Inter"/>
                        </a:defRPr>
                      </a:pPr>
                      <a:r>
                        <a:t>● MEDIUM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t>Error threshold absent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t>The error policy omits materiality thresholds [S1].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</a:tr>
              <a:tr h="482657"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F2A93B"/>
                          </a:solidFill>
                          <a:latin typeface="Inter"/>
                        </a:defRPr>
                      </a:pPr>
                      <a:r>
                        <a:t>● MEDIUM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t>Portability ownership absent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t>The portability policy does not identify its documentation owner [S1].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482659"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9AA5B1"/>
                          </a:solidFill>
                          <a:latin typeface="Inter"/>
                        </a:defRPr>
                      </a:pPr>
                      <a:r>
                        <a:t>● LOW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t>Inventory not found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t>No supplemental-information inventory was supplied [S1][S2].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</a:tr>
            </a:tbl>
          </a:graphicData>
        </a:graphic>
      </p:graphicFrame>
      <p:sp>
        <p:nvSpPr>
          <p:cNvPr id="10" name="Rectangle 9"/>
          <p:cNvSpPr/>
          <p:nvPr/>
        </p:nvSpPr>
        <p:spPr>
          <a:xfrm>
            <a:off x="640080" y="6446520"/>
            <a:ext cx="10908792" cy="9144"/>
          </a:xfrm>
          <a:prstGeom prst="rect">
            <a:avLst/>
          </a:prstGeom>
          <a:solidFill>
            <a:srgbClr val="E3E7EC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40080" y="6501384"/>
            <a:ext cx="429768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t>Sources: S1 · S2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480560" y="6501384"/>
            <a:ext cx="530352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t>SYNTHETIC TEST DATA — fictional regression fixture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287000" y="6501384"/>
            <a:ext cx="1261872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t>10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566928"/>
            <a:ext cx="10058400" cy="530352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2300" b="1">
                <a:solidFill>
                  <a:srgbClr val="0D1117"/>
                </a:solidFill>
                <a:latin typeface="Inter"/>
              </a:defRPr>
            </a:pPr>
            <a:r>
              <a:t>Appendix — Sources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115568"/>
            <a:ext cx="10908792" cy="18288"/>
          </a:xfrm>
          <a:prstGeom prst="rect">
            <a:avLst/>
          </a:prstGeom>
          <a:solidFill>
            <a:srgbClr val="0D1117"/>
          </a:solidFill>
          <a:ln>
            <a:solidFill>
              <a:srgbClr val="0D11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11018520" y="502920"/>
            <a:ext cx="530352" cy="393192"/>
          </a:xfrm>
          <a:prstGeom prst="rect">
            <a:avLst/>
          </a:prstGeom>
          <a:solidFill>
            <a:srgbClr val="9AA5B1"/>
          </a:solidFill>
          <a:ln>
            <a:solidFill>
              <a:srgbClr val="9AA5B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1045952" y="557784"/>
            <a:ext cx="475488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1000" b="1">
                <a:solidFill>
                  <a:srgbClr val="0D1117"/>
                </a:solidFill>
                <a:latin typeface="Inter"/>
              </a:defRPr>
            </a:pPr>
            <a:r>
              <a:t>B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08792" cy="489204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1100" b="0">
                <a:solidFill>
                  <a:srgbClr val="4A5563"/>
                </a:solidFill>
                <a:latin typeface="Inter"/>
              </a:defRPr>
            </a:pPr>
            <a:r>
              <a:t>·  Tag  ·  Source  ·  Detail  ·  As of  ·  Validation  · </a:t>
            </a:r>
            <a:br/>
            <a:br/>
            <a:r>
              <a:t> ·  S1  ·  GIPS policies manual (TEST)  ·  Fictional sections 2–11  ·  2025-12-31  ·  Synthetic document  · </a:t>
            </a:r>
            <a:br/>
            <a:br/>
            <a:r>
              <a:t> ·  S2  ·  Policy change log (TEST)  ·  Fictional approvals  ·  2026-06-30  ·  Synthetic document  ·</a:t>
            </a:r>
          </a:p>
        </p:txBody>
      </p:sp>
      <p:sp>
        <p:nvSpPr>
          <p:cNvPr id="8" name="Rectangle 7"/>
          <p:cNvSpPr/>
          <p:nvPr/>
        </p:nvSpPr>
        <p:spPr>
          <a:xfrm>
            <a:off x="640080" y="6446520"/>
            <a:ext cx="10908792" cy="9144"/>
          </a:xfrm>
          <a:prstGeom prst="rect">
            <a:avLst/>
          </a:prstGeom>
          <a:solidFill>
            <a:srgbClr val="E3E7EC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40080" y="6501384"/>
            <a:ext cx="429768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t>Sources: S1 · S2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480560" y="6501384"/>
            <a:ext cx="530352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t>SYNTHETIC TEST DATA — fictional regression fixture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287000" y="6501384"/>
            <a:ext cx="1261872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t>11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566928"/>
            <a:ext cx="10058400" cy="530352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2300" b="1">
                <a:solidFill>
                  <a:srgbClr val="0D1117"/>
                </a:solidFill>
                <a:latin typeface="Inter"/>
              </a:defRPr>
            </a:pPr>
            <a:r>
              <a:t>Appendix — Method &amp; Disclaimer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115568"/>
            <a:ext cx="10908792" cy="18288"/>
          </a:xfrm>
          <a:prstGeom prst="rect">
            <a:avLst/>
          </a:prstGeom>
          <a:solidFill>
            <a:srgbClr val="0D1117"/>
          </a:solidFill>
          <a:ln>
            <a:solidFill>
              <a:srgbClr val="0D11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11018520" y="502920"/>
            <a:ext cx="530352" cy="393192"/>
          </a:xfrm>
          <a:prstGeom prst="rect">
            <a:avLst/>
          </a:prstGeom>
          <a:solidFill>
            <a:srgbClr val="9AA5B1"/>
          </a:solidFill>
          <a:ln>
            <a:solidFill>
              <a:srgbClr val="9AA5B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1045952" y="557784"/>
            <a:ext cx="475488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1000" b="1">
                <a:solidFill>
                  <a:srgbClr val="0D1117"/>
                </a:solidFill>
                <a:latin typeface="Inter"/>
              </a:defRPr>
            </a:pPr>
            <a:r>
              <a:t>C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08792" cy="489204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1100" b="0">
                <a:solidFill>
                  <a:srgbClr val="4A5563"/>
                </a:solidFill>
                <a:latin typeface="Inter"/>
              </a:defRPr>
            </a:pPr>
            <a:r>
              <a:t>This fictional policies gap check tests the shared GIPS handoff contract. It is not verification, certification, legal advice or an assessment of any real firm.</a:t>
            </a:r>
          </a:p>
        </p:txBody>
      </p:sp>
      <p:sp>
        <p:nvSpPr>
          <p:cNvPr id="8" name="Rectangle 7"/>
          <p:cNvSpPr/>
          <p:nvPr/>
        </p:nvSpPr>
        <p:spPr>
          <a:xfrm>
            <a:off x="640080" y="6446520"/>
            <a:ext cx="10908792" cy="9144"/>
          </a:xfrm>
          <a:prstGeom prst="rect">
            <a:avLst/>
          </a:prstGeom>
          <a:solidFill>
            <a:srgbClr val="E3E7EC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40080" y="6501384"/>
            <a:ext cx="429768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t>Sources: none cited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480560" y="6501384"/>
            <a:ext cx="530352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t>SYNTHETIC TEST DATA — fictional regression fixture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287000" y="6501384"/>
            <a:ext cx="1261872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t>12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Inter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Inter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Meridian Example Advisers (TEST) — GIPS Policies Gap Check</dc:title>
  <dc:subject>GIPS Review</dc:subject>
  <dc:creator>GradientCIO</dc:creator>
  <cp:keywords/>
  <dc:description>generated using python-pptx</dc:description>
  <cp:lastModifiedBy>GradientCIO</cp:lastModifiedBy>
  <cp:revision>1</cp:revision>
  <dcterms:created xsi:type="dcterms:W3CDTF">2020-01-01T00:00:00Z</dcterms:created>
  <dcterms:modified xsi:type="dcterms:W3CDTF">2020-01-01T00:00:00Z</dcterms:modified>
  <cp:category/>
</cp:coreProperties>
</file>