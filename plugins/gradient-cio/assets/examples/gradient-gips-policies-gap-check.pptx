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a="http://schemas.openxmlformats.org/drawingml/2006/main" xmlns:ns0="http://schemas.openxmlformats.org/presentationml/2006/main" xmlns:ns1="http://schemas.openxmlformats.org/officeDocument/2006/relationships" saveSubsetFonts="1" autoCompressPictures="0">
  <ns0:sldMasterIdLst>
    <ns0:sldMasterId id="2147483648" ns1:id="rId1"/>
  </ns0:sldMasterIdLst>
  <ns0:sldIdLst>
    <ns0:sldId id="256" ns1:id="rId7"/>
    <ns0:sldId id="257" ns1:id="rId8"/>
    <ns0:sldId id="258" ns1:id="rId9"/>
    <ns0:sldId id="259" ns1:id="rId10"/>
    <ns0:sldId id="260" ns1:id="rId11"/>
    <ns0:sldId id="261" ns1:id="rId12"/>
    <ns0:sldId id="262" ns1:id="rId13"/>
    <ns0:sldId id="263" ns1:id="rId14"/>
    <ns0:sldId id="264" ns1:id="rId15"/>
    <ns0:sldId id="265" ns1:id="rId16"/>
    <ns0:sldId id="266" ns1:id="rId17"/>
    <ns0:sldId id="267" ns1:id="rId18"/>
    <ns0:sldId id="268" ns1:id="rId19"/>
    <ns0:sldId id="269" ns1:id="rId20"/>
    <ns0:sldId id="270" ns1:id="rId21"/>
  </ns0:sldIdLst>
  <ns0:sldSz cx="12191695" cy="6858000" type="screen16x9"/>
  <ns0:notesSz cx="6858000" cy="9144000"/>
  <ns0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Met</c:v>
                </c:pt>
              </c:strCache>
            </c:strRef>
          </c:tx>
          <c:spPr>
            <a:solidFill>
              <a:srgbClr val="0D1117"/>
            </a:solidFill>
          </c:spPr>
          <c:cat>
            <c:strRef>
              <c:f>Sheet1!$A$2:$A$18</c:f>
              <c:strCache>
                <c:ptCount val="17"/>
                <c:pt idx="0">
                  <c:v>Firm definition</c:v>
                </c:pt>
                <c:pt idx="1">
                  <c:v>Governance</c:v>
                </c:pt>
                <c:pt idx="2">
                  <c:v>Composite definitions</c:v>
                </c:pt>
                <c:pt idx="3">
                  <c:v>Composite membership</c:v>
                </c:pt>
                <c:pt idx="4">
                  <c:v>Significant cash flows</c:v>
                </c:pt>
                <c:pt idx="5">
                  <c:v>Carve-outs</c:v>
                </c:pt>
                <c:pt idx="6">
                  <c:v>Valuation</c:v>
                </c:pt>
                <c:pt idx="7">
                  <c:v>Return calculation</c:v>
                </c:pt>
                <c:pt idx="8">
                  <c:v>Benchmarks</c:v>
                </c:pt>
                <c:pt idx="9">
                  <c:v>Report preparation</c:v>
                </c:pt>
                <c:pt idx="10">
                  <c:v>Distribution</c:v>
                </c:pt>
                <c:pt idx="11">
                  <c:v>Error correction</c:v>
                </c:pt>
                <c:pt idx="12">
                  <c:v>Advertising</c:v>
                </c:pt>
                <c:pt idx="13">
                  <c:v>Portability and M&amp;A</c:v>
                </c:pt>
                <c:pt idx="14">
                  <c:v>Theoretical performance</c:v>
                </c:pt>
                <c:pt idx="15">
                  <c:v>Record retention</c:v>
                </c:pt>
                <c:pt idx="16">
                  <c:v>Verification</c:v>
                </c:pt>
              </c:strCache>
            </c:strRef>
          </c:cat>
          <c:val>
            <c:numRef>
              <c:f>Sheet1!$B$2:$B$18</c:f>
              <c:numCache>
                <c:formatCode>General</c:formatCode>
                <c:ptCount val="17"/>
                <c:pt idx="0">
                  <c:v>1.0</c:v>
                </c:pt>
                <c:pt idx="1">
                  <c:v>0.0</c:v>
                </c:pt>
                <c:pt idx="2">
                  <c:v>1.0</c:v>
                </c:pt>
                <c:pt idx="3">
                  <c:v>1.0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1.0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1.0</c:v>
                </c:pt>
                <c:pt idx="13">
                  <c:v>0.0</c:v>
                </c:pt>
                <c:pt idx="14">
                  <c:v>1.0</c:v>
                </c:pt>
                <c:pt idx="15">
                  <c:v>0.0</c:v>
                </c:pt>
                <c:pt idx="16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Partially met</c:v>
                </c:pt>
              </c:strCache>
            </c:strRef>
          </c:tx>
          <c:spPr>
            <a:solidFill>
              <a:srgbClr val="7FA600"/>
            </a:solidFill>
          </c:spPr>
          <c:cat>
            <c:strRef>
              <c:f>Sheet1!$A$2:$A$18</c:f>
              <c:strCache>
                <c:ptCount val="17"/>
                <c:pt idx="0">
                  <c:v>Firm definition</c:v>
                </c:pt>
                <c:pt idx="1">
                  <c:v>Governance</c:v>
                </c:pt>
                <c:pt idx="2">
                  <c:v>Composite definitions</c:v>
                </c:pt>
                <c:pt idx="3">
                  <c:v>Composite membership</c:v>
                </c:pt>
                <c:pt idx="4">
                  <c:v>Significant cash flows</c:v>
                </c:pt>
                <c:pt idx="5">
                  <c:v>Carve-outs</c:v>
                </c:pt>
                <c:pt idx="6">
                  <c:v>Valuation</c:v>
                </c:pt>
                <c:pt idx="7">
                  <c:v>Return calculation</c:v>
                </c:pt>
                <c:pt idx="8">
                  <c:v>Benchmarks</c:v>
                </c:pt>
                <c:pt idx="9">
                  <c:v>Report preparation</c:v>
                </c:pt>
                <c:pt idx="10">
                  <c:v>Distribution</c:v>
                </c:pt>
                <c:pt idx="11">
                  <c:v>Error correction</c:v>
                </c:pt>
                <c:pt idx="12">
                  <c:v>Advertising</c:v>
                </c:pt>
                <c:pt idx="13">
                  <c:v>Portability and M&amp;A</c:v>
                </c:pt>
                <c:pt idx="14">
                  <c:v>Theoretical performance</c:v>
                </c:pt>
                <c:pt idx="15">
                  <c:v>Record retention</c:v>
                </c:pt>
                <c:pt idx="16">
                  <c:v>Verification</c:v>
                </c:pt>
              </c:strCache>
            </c:strRef>
          </c:cat>
          <c:val>
            <c:numRef>
              <c:f>Sheet1!$C$2:$C$18</c:f>
              <c:numCache>
                <c:formatCode>General</c:formatCode>
                <c:ptCount val="17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1.0</c:v>
                </c:pt>
                <c:pt idx="7">
                  <c:v>0.0</c:v>
                </c:pt>
                <c:pt idx="8">
                  <c:v>1.0</c:v>
                </c:pt>
                <c:pt idx="9">
                  <c:v>1.0</c:v>
                </c:pt>
                <c:pt idx="10">
                  <c:v>0.0</c:v>
                </c:pt>
                <c:pt idx="11">
                  <c:v>1.0</c:v>
                </c:pt>
                <c:pt idx="12">
                  <c:v>0.0</c:v>
                </c:pt>
                <c:pt idx="13">
                  <c:v>1.0</c:v>
                </c:pt>
                <c:pt idx="14">
                  <c:v>0.0</c:v>
                </c:pt>
                <c:pt idx="15">
                  <c:v>0.0</c:v>
                </c:pt>
                <c:pt idx="16">
                  <c:v>1.0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Not met</c:v>
                </c:pt>
              </c:strCache>
            </c:strRef>
          </c:tx>
          <c:spPr>
            <a:solidFill>
              <a:srgbClr val="F2A93B"/>
            </a:solidFill>
          </c:spPr>
          <c:cat>
            <c:strRef>
              <c:f>Sheet1!$A$2:$A$18</c:f>
              <c:strCache>
                <c:ptCount val="17"/>
                <c:pt idx="0">
                  <c:v>Firm definition</c:v>
                </c:pt>
                <c:pt idx="1">
                  <c:v>Governance</c:v>
                </c:pt>
                <c:pt idx="2">
                  <c:v>Composite definitions</c:v>
                </c:pt>
                <c:pt idx="3">
                  <c:v>Composite membership</c:v>
                </c:pt>
                <c:pt idx="4">
                  <c:v>Significant cash flows</c:v>
                </c:pt>
                <c:pt idx="5">
                  <c:v>Carve-outs</c:v>
                </c:pt>
                <c:pt idx="6">
                  <c:v>Valuation</c:v>
                </c:pt>
                <c:pt idx="7">
                  <c:v>Return calculation</c:v>
                </c:pt>
                <c:pt idx="8">
                  <c:v>Benchmarks</c:v>
                </c:pt>
                <c:pt idx="9">
                  <c:v>Report preparation</c:v>
                </c:pt>
                <c:pt idx="10">
                  <c:v>Distribution</c:v>
                </c:pt>
                <c:pt idx="11">
                  <c:v>Error correction</c:v>
                </c:pt>
                <c:pt idx="12">
                  <c:v>Advertising</c:v>
                </c:pt>
                <c:pt idx="13">
                  <c:v>Portability and M&amp;A</c:v>
                </c:pt>
                <c:pt idx="14">
                  <c:v>Theoretical performance</c:v>
                </c:pt>
                <c:pt idx="15">
                  <c:v>Record retention</c:v>
                </c:pt>
                <c:pt idx="16">
                  <c:v>Verification</c:v>
                </c:pt>
              </c:strCache>
            </c:strRef>
          </c:cat>
          <c:val>
            <c:numRef>
              <c:f>Sheet1!$D$2:$D$18</c:f>
              <c:numCache>
                <c:formatCode>General</c:formatCode>
                <c:ptCount val="17"/>
                <c:pt idx="0">
                  <c:v>0.0</c:v>
                </c:pt>
                <c:pt idx="1">
                  <c:v>1.0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Not found</c:v>
                </c:pt>
              </c:strCache>
            </c:strRef>
          </c:tx>
          <c:spPr>
            <a:solidFill>
              <a:srgbClr val="5B8DEF"/>
            </a:solidFill>
          </c:spPr>
          <c:cat>
            <c:strRef>
              <c:f>Sheet1!$A$2:$A$18</c:f>
              <c:strCache>
                <c:ptCount val="17"/>
                <c:pt idx="0">
                  <c:v>Firm definition</c:v>
                </c:pt>
                <c:pt idx="1">
                  <c:v>Governance</c:v>
                </c:pt>
                <c:pt idx="2">
                  <c:v>Composite definitions</c:v>
                </c:pt>
                <c:pt idx="3">
                  <c:v>Composite membership</c:v>
                </c:pt>
                <c:pt idx="4">
                  <c:v>Significant cash flows</c:v>
                </c:pt>
                <c:pt idx="5">
                  <c:v>Carve-outs</c:v>
                </c:pt>
                <c:pt idx="6">
                  <c:v>Valuation</c:v>
                </c:pt>
                <c:pt idx="7">
                  <c:v>Return calculation</c:v>
                </c:pt>
                <c:pt idx="8">
                  <c:v>Benchmarks</c:v>
                </c:pt>
                <c:pt idx="9">
                  <c:v>Report preparation</c:v>
                </c:pt>
                <c:pt idx="10">
                  <c:v>Distribution</c:v>
                </c:pt>
                <c:pt idx="11">
                  <c:v>Error correction</c:v>
                </c:pt>
                <c:pt idx="12">
                  <c:v>Advertising</c:v>
                </c:pt>
                <c:pt idx="13">
                  <c:v>Portability and M&amp;A</c:v>
                </c:pt>
                <c:pt idx="14">
                  <c:v>Theoretical performance</c:v>
                </c:pt>
                <c:pt idx="15">
                  <c:v>Record retention</c:v>
                </c:pt>
                <c:pt idx="16">
                  <c:v>Verification</c:v>
                </c:pt>
              </c:strCache>
            </c:strRef>
          </c:cat>
          <c:val>
            <c:numRef>
              <c:f>Sheet1!$E$2:$E$18</c:f>
              <c:numCache>
                <c:formatCode>General</c:formatCode>
                <c:ptCount val="17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1.0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1.0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1.0</c:v>
                </c:pt>
                <c:pt idx="16">
                  <c:v>0.0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cat>
            <c:strRef>
              <c:f>Sheet1!$A$2:$A$4</c:f>
              <c:strCache>
                <c:ptCount val="3"/>
                <c:pt idx="0">
                  <c:v>High</c:v>
                </c:pt>
                <c:pt idx="1">
                  <c:v>Medium</c:v>
                </c:pt>
                <c:pt idx="2">
                  <c:v>Low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1.0</c:v>
                </c:pt>
                <c:pt idx="1">
                  <c:v>4.0</c:v>
                </c:pt>
                <c:pt idx="2">
                  <c:v>3.0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governance currency is unproven</a:t>
            </a:r>
          </a:p>
          <a:p>
            <a:r>
              <a:t>Observation: No current approval date is evidenced for this revision [S2]. Why it matters: Governance cannot be tied to the reviewed manual version. Uncertainty: A signed approval record may exist outside supplied coverage. What would change the view: Follow-up request 1 producing dated approval evidence.</a:t>
            </a:r>
          </a:p>
          <a:p/>
          <a:p>
            <a:r>
              <a:t>Analysis — control specificity is uneven</a:t>
            </a:r>
          </a:p>
          <a:p>
            <a:r>
              <a:t>Observation: Six areas lack owners, timing or thresholds [S1]. Why it matters: Execution is not reproducible from policy. Uncertainty: Procedures may sit outside the manual. What would change the view: Follow-up request 2 and follow-up request 3.</a:t>
            </a:r>
          </a:p>
          <a:p/>
          <a:p>
            <a:r>
              <a:t>Analysis — evidence retention is incomplete</a:t>
            </a:r>
          </a:p>
          <a:p>
            <a:r>
              <a:t>Observation: Three required policy areas were not found [S1]. Why it matters: Compliance evidence may not be retained or distributed consistently. Uncertainty: Separate approved policies were not supplied for review. What would change the view: Follow-up request 4 producing all three policy records.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475488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C6F432"/>
                </a:solidFill>
                <a:latin typeface="Inter"/>
              </a:defRPr>
            </a:pPr>
            <a:r>
              <a:rPr>
                <a:latin typeface="Inter"/>
              </a:rPr>
              <a:t>GIPS POLICIES GAP 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76272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Meridian Example Advisers (TEST) — GIPS Policies Gap Check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456432"/>
            <a:ext cx="9692640" cy="6400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9AA5B1"/>
                </a:solidFill>
                <a:latin typeface="Inter"/>
              </a:defRPr>
            </a:pPr>
            <a:r>
              <a:rPr>
                <a:latin typeface="Inter"/>
              </a:rPr>
              <a:t>Policies and procedures · SYNTHETIC TEST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251960"/>
            <a:ext cx="1005840" cy="54864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85800" y="4572000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SUBJECT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773168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Meridian Example Advisers (TEST)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60520" y="4572000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REVIEW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60520" y="4773168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Policies gap check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40" y="4572000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MANUAL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4773168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2025-12-31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2303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EVIDENCE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431536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Fictional documents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60520" y="52303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PREPARED FOR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60520" y="5431536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Gradient TEST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35240" y="52303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REVIEW DATE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35240" y="5431536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2026-10-09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5833872"/>
            <a:ext cx="3063240" cy="384048"/>
          </a:xfrm>
          <a:prstGeom prst="rect">
            <a:avLst/>
          </a:prstGeom>
          <a:solidFill>
            <a:srgbClr val="FF6B5E"/>
          </a:solidFill>
          <a:ln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822960" y="5934456"/>
            <a:ext cx="2788920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Material concern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77639" y="5824728"/>
            <a:ext cx="3108960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REQUIREMENTS EVIDENCED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77639" y="5998464"/>
            <a:ext cx="3108960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13 of 16 · Partial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6473952"/>
            <a:ext cx="80467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SYNTHETIC TEST DATA — fictional regression fixture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0" y="6473952"/>
            <a:ext cx="274320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08792" cy="186626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54864" cy="186626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Bottom 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1719072"/>
            <a:ext cx="10616184" cy="138163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Core composite and calculation policies exist, but current approval is not evidenced and six areas remain partial [S1][S2].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301876"/>
            <a:ext cx="2644902" cy="291604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40080" y="3301876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749808" y="3429892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3685924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Six policy areas are specific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94710" y="3301876"/>
            <a:ext cx="2644902" cy="291604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Rectangle 16"/>
          <p:cNvSpPr/>
          <p:nvPr/>
        </p:nvSpPr>
        <p:spPr>
          <a:xfrm>
            <a:off x="3394710" y="3301876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3504438" y="3429892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PARTIALLY MET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04438" y="3685924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0443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Six areas need specificity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49340" y="3301876"/>
            <a:ext cx="2644902" cy="291604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2" name="Rectangle 21"/>
          <p:cNvSpPr/>
          <p:nvPr/>
        </p:nvSpPr>
        <p:spPr>
          <a:xfrm>
            <a:off x="6149340" y="3301876"/>
            <a:ext cx="2644902" cy="45720"/>
          </a:xfrm>
          <a:prstGeom prst="rect">
            <a:avLst/>
          </a:prstGeom>
          <a:solidFill>
            <a:srgbClr val="FF6B5E"/>
          </a:solidFill>
          <a:ln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259068" y="3429892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MET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59068" y="3685924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5906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Current approval not evidenced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03970" y="3301876"/>
            <a:ext cx="2644902" cy="291604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7" name="Rectangle 26"/>
          <p:cNvSpPr/>
          <p:nvPr/>
        </p:nvSpPr>
        <p:spPr>
          <a:xfrm>
            <a:off x="8903970" y="3301876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8" name="TextBox 27"/>
          <p:cNvSpPr txBox="1"/>
          <p:nvPr/>
        </p:nvSpPr>
        <p:spPr>
          <a:xfrm>
            <a:off x="9013698" y="3429892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FOUND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13698" y="3685924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1369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Three policies not located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2" name="TextBox 3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SYNTHETIC TEST DATA — fictional regression fixture · Data as of 2026-06-30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Summary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EVIDENCE COVERAGE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1282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42761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2761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GIPS policies manual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Fictional sections 2–13, revised 2025-12-31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761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Policy change log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degraded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Prior review listed; current signed approval absent [S2]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2992776"/>
            <a:ext cx="10908792" cy="106013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Overall assessment:** Material concern. Core composite and calculation policies exist, but current approval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4162638"/>
            <a:ext cx="10908792" cy="100907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4162638"/>
            <a:ext cx="54864" cy="1009074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4272366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core calculation rules exist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4555830"/>
            <a:ext cx="10616184" cy="52444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manual states four core areas: TWR, accrual, fee and theoretical-performance rules [S1]. Their presence establishes a calculation foundation, but the review still depends on whether each rule is current, operationally assigned and consistently supported by retained records.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5281440"/>
            <a:ext cx="10908792" cy="93647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640080" y="5281440"/>
            <a:ext cx="54864" cy="936479"/>
          </a:xfrm>
          <a:prstGeom prst="rect">
            <a:avLst/>
          </a:prstGeom>
          <a:solidFill>
            <a:srgbClr val="FF6B5E"/>
          </a:solidFill>
          <a:ln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04671" y="5391168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current governance is unproven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1" y="5674632"/>
            <a:ext cx="10616184" cy="45184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change log contains no approval record for the current manual [S2]. Without a dated approval, the review cannot determine whether governance accepted this revision, so a signed record remains necessary to establish currency and accountable authorization.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SYNTHETIC TEST DATA — fictional regression fixture · Data as of 2026-06-30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Summary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08792" cy="238246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54864" cy="238246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operational ownership is thin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1719072"/>
            <a:ext cx="10616184" cy="189782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Valuation, report sign-off and portability controls omit accountable owners [S1]. The missing assignments materially weaken execution because the manual does not identify who performs, reviews or approves these three recurring control responsibilities when exceptions arise.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818068"/>
            <a:ext cx="10908792" cy="2399851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40080" y="3818068"/>
            <a:ext cx="54864" cy="2399851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671" y="3927796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three policy areas are absent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4211260"/>
            <a:ext cx="10616184" cy="191521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Three policy areas were not located: significant cash flows, distribution tracking and record retention [S1]. Their absence leaves portfolio treatment, recipient evidence and retention duties undefined, requiring separate approved policies or explicit additions to the manual.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SYNTHETIC TEST DATA — fictional regression fixture · Data as of 2026-06-30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CHECKLIST STATUS BY AREA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SYNTHETIC TEST DATA — fictional regression fixture · Data as of 2026-06-30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Findings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FINDINGS BY SEVERITY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SYNTHETIC TEST DATA — fictional regression fixture · Data as of 2026-06-30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Findings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PRIORITY FINDINGS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51308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Severity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Finding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Detail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1308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HIGH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Current approval not evidenced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The change log has no signed approval for the current manual [S2].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1308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Error threshold absent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The error policy omits materiality thresholds [S1].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1308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Reporting owners absent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Valuation estimates and report sign-off lack accountable owners [S1].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1308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Benchmark-change timing undefined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The benchmark policy does not define approval timing [S1].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1308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Portability ownership absent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The portability policy does not identify its documentation owner [S1].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1308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LOW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Cash-flow policy not found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ex ante significant-cash-flow policy was located [S1].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1308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LOW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Distribution tracking not found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reasonable-efforts tracking policy was located [S1].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1308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LOW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Retention schedule not found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supporting-record retention schedule was located [S1].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SYNTHETIC TEST DATA — fictional regression fixture · Data as of 2026-06-30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Findings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106685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current manual has no supplied approval record. Error correction, valuation, benchmark, portability,</a:t>
            </a:r>
            <a:br/>
            <a:br/>
            <a:r>
              <a:rPr>
                <a:latin typeface="Inter"/>
              </a:rPr>
              <a:t>report-preparation and verification policies lack required specificity; three additional areas are not found</a:t>
            </a:r>
            <a:br/>
            <a:br/>
            <a:r>
              <a:rPr>
                <a:latin typeface="Inter"/>
              </a:rPr>
              <a:t>in the reviewed manual [S1][S2].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502462"/>
            <a:ext cx="10908792" cy="125560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2502462"/>
            <a:ext cx="54864" cy="1255606"/>
          </a:xfrm>
          <a:prstGeom prst="rect">
            <a:avLst/>
          </a:prstGeom>
          <a:solidFill>
            <a:srgbClr val="FF6B5E"/>
          </a:solidFill>
          <a:ln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2612190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governance currency is unproven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2895654"/>
            <a:ext cx="10616184" cy="77097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No current approval date is evidenced for this revision [S2]. Why it matters: Governance cannot be tied to the reviewed manual version. Uncertainty: A signed approval record…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867796"/>
            <a:ext cx="10908792" cy="100940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Rectangle 12"/>
          <p:cNvSpPr/>
          <p:nvPr/>
        </p:nvSpPr>
        <p:spPr>
          <a:xfrm>
            <a:off x="640080" y="3867796"/>
            <a:ext cx="54864" cy="1009408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04671" y="397752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control specificity is uneven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4260988"/>
            <a:ext cx="10616184" cy="52477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Six areas lack owners, timing or thresholds [S1]. Why it matters: Execution is not reproducible from policy. Uncertainty: Procedures may sit outside the manual. What would change…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986933"/>
            <a:ext cx="10908792" cy="123098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Rectangle 16"/>
          <p:cNvSpPr/>
          <p:nvPr/>
        </p:nvSpPr>
        <p:spPr>
          <a:xfrm>
            <a:off x="640080" y="4986933"/>
            <a:ext cx="54864" cy="1230986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804671" y="5096661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evidence retention is incomplete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1" y="5380125"/>
            <a:ext cx="10616184" cy="74635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Three required policy areas were not found [S1]. Why it matters: Compliance evidence may not be retained or distributed consistently. Uncertainty: Separate approved policies were not supplied…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SYNTHETIC TEST DATA — fictional regression fixture · Data as of 2026-06-30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Policy gaps by area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POLICY AREA BY CHECKLIST STATUS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8132"/>
                <a:gridCol w="1818132"/>
                <a:gridCol w="1818132"/>
                <a:gridCol w="1818132"/>
                <a:gridCol w="1818132"/>
                <a:gridCol w="1818132"/>
              </a:tblGrid>
              <a:tr h="256540"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Met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Partially met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met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found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N/A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25654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Firm definition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C6F4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25654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Governance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C6F4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25654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Composite definitions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C6F4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25654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Composite membership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C6F4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25654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Significant cash flows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C6F4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25654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Carve-outs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C6F432"/>
                    </a:solidFill>
                  </a:tcPr>
                </a:tc>
              </a:tr>
              <a:tr h="25654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Valuation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C6F4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25654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 calculation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C6F4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25654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C6F4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25654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Report preparation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C6F4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25654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Distribution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C6F4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25654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Error correction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C6F4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25654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Advertising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C6F4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25654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Portability and M&amp;A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C6F4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25654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Theoretical performance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C6F4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25654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Record retention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C6F4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25654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Verification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C6F4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SYNTHETIC TEST DATA — fictional regression fixture · Data as of 2026-06-30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Policy gaps by area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Governance and portfolio scope</a:t>
            </a:r>
            <a:br/>
            <a:br/>
            <a:r>
              <a:rPr>
                <a:latin typeface="Inter"/>
              </a:rPr>
              <a:t> ·  Area  ·  Status  ·  Evidence gap  · </a:t>
            </a:r>
            <a:br/>
            <a:br/>
            <a:r>
              <a:rPr>
                <a:latin typeface="Inter"/>
              </a:rPr>
              <a:t> ·  Firm definition  ·  Met  ·  Defined legal entity and asset perimeter [S1]  · </a:t>
            </a:r>
            <a:br/>
            <a:br/>
            <a:r>
              <a:rPr>
                <a:latin typeface="Inter"/>
              </a:rPr>
              <a:t> ·  Governance  ·  Not met  ·  No current approval record [S2]  · </a:t>
            </a:r>
            <a:br/>
            <a:br/>
            <a:r>
              <a:rPr>
                <a:latin typeface="Inter"/>
              </a:rPr>
              <a:t> ·  Composite definitions  ·  Met  ·  Strategy and discretion rules stated [S1]  · </a:t>
            </a:r>
            <a:br/>
            <a:br/>
            <a:r>
              <a:rPr>
                <a:latin typeface="Inter"/>
              </a:rPr>
              <a:t> ·  Composite membership  ·  Met  ·  Entry and exit timing stated [S1]  · </a:t>
            </a:r>
            <a:br/>
            <a:br/>
            <a:r>
              <a:rPr>
                <a:latin typeface="Inter"/>
              </a:rPr>
              <a:t> ·  Significant cash flows  ·  Not found  ·  No ex ante policy located [S1]  · </a:t>
            </a:r>
            <a:br/>
            <a:br/>
            <a:r>
              <a:rPr>
                <a:latin typeface="Inter"/>
              </a:rPr>
              <a:t> ·  Carve-outs  ·  N/A  ·  Manual states the firm does not use carve-outs [S1]  · </a:t>
            </a:r>
            <a:br/>
            <a:br/>
            <a:r>
              <a:rPr>
                <a:latin typeface="Inter"/>
              </a:rPr>
              <a:t>Calculation and reporting controls</a:t>
            </a:r>
            <a:br/>
            <a:br/>
            <a:r>
              <a:rPr>
                <a:latin typeface="Inter"/>
              </a:rPr>
              <a:t> ·  Area  ·  Status  ·  Evidence gap  · </a:t>
            </a:r>
            <a:br/>
            <a:br/>
            <a:r>
              <a:rPr>
                <a:latin typeface="Inter"/>
              </a:rPr>
              <a:t> ·  Valuation  ·  Partially met  ·  Estimate hierarchy lacks approval owner [S1]  · </a:t>
            </a:r>
            <a:br/>
            <a:br/>
            <a:r>
              <a:rPr>
                <a:latin typeface="Inter"/>
              </a:rPr>
              <a:t> ·  Return calculation  ·  Met  ·  TWR, accrual and fee methods stated [S1]  · </a:t>
            </a:r>
            <a:br/>
            <a:br/>
            <a:r>
              <a:rPr>
                <a:latin typeface="Inter"/>
              </a:rPr>
              <a:t> ·  Benchmarks  ·  Partially met  ·  Change approval timing is undefined [S1]  · </a:t>
            </a:r>
            <a:br/>
            <a:br/>
            <a:r>
              <a:rPr>
                <a:latin typeface="Inter"/>
              </a:rPr>
              <a:t> ·  Report preparation  ·  Partially met  ·  Final sign-off owner is absent [S1]  · </a:t>
            </a:r>
            <a:br/>
            <a:br/>
            <a:r>
              <a:rPr>
                <a:latin typeface="Inter"/>
              </a:rPr>
              <a:t> ·  Distribution  ·  Not found  ·  Reasonable-efforts tracking not located [S1]  · </a:t>
            </a:r>
            <a:br/>
            <a:br/>
            <a:r>
              <a:rPr>
                <a:latin typeface="Inter"/>
              </a:rPr>
              <a:t> ·  Error correction  ·  Partially met  ·  Materiality thresholds are absent [S1]  · </a:t>
            </a:r>
            <a:br/>
            <a:br/>
            <a:r>
              <a:rPr>
                <a:latin typeface="Inter"/>
              </a:rPr>
              <a:t>Marketing, records and assurance</a:t>
            </a:r>
            <a:br/>
            <a:br/>
            <a:r>
              <a:rPr>
                <a:latin typeface="Inter"/>
              </a:rPr>
              <a:t> ·  Area  ·  Status  ·  Evidence gap  · </a:t>
            </a:r>
            <a:br/>
            <a:br/>
            <a:r>
              <a:rPr>
                <a:latin typeface="Inter"/>
              </a:rPr>
              <a:t> ·  Advertising  ·  Met  ·  GIPS advertisement approval process stated [S1]  · </a:t>
            </a:r>
            <a:br/>
            <a:br/>
            <a:r>
              <a:rPr>
                <a:latin typeface="Inter"/>
              </a:rPr>
              <a:t> ·  Portability and M&amp;A  ·  Partially met  ·  Documentation owner is absent [S1]  · </a:t>
            </a:r>
            <a:br/>
            <a:br/>
            <a:r>
              <a:rPr>
                <a:latin typeface="Inter"/>
              </a:rPr>
              <a:t> ·  Theoretical performance  ·  Met  ·  Linking prohibition and labeling stated [S1]  · </a:t>
            </a:r>
            <a:br/>
            <a:br/>
            <a:r>
              <a:rPr>
                <a:latin typeface="Inter"/>
              </a:rPr>
              <a:t> ·  Record retention  ·  Not found  ·  Retention schedule not located [S1]  · </a:t>
            </a:r>
            <a:br/>
            <a:br/>
            <a:r>
              <a:rPr>
                <a:latin typeface="Inter"/>
              </a:rPr>
              <a:t> ·  Verification  ·  Partially met  ·  Independence review cadence is undefined [S1]  ·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SYNTHETIC TEST DATA — fictional regression fixture · Data as of 2026-06-30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Follow-up requests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0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  Provide the current signed policy approval and governance record.</a:t>
            </a:r>
            <a:br/>
            <a:r>
              <a:rPr>
                <a:latin typeface="Inter"/>
              </a:rPr>
              <a:t>      Closes the governance deficiency [S2].</a:t>
            </a:r>
          </a:p>
          <a:p>
            <a:pPr algn="l">
              <a:spcAft>
                <a:spcPts val="500"/>
              </a:spcAft>
              <a:defRPr sz="100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  Provide approved error-correction thresholds and the escalation owner.</a:t>
            </a:r>
            <a:br/>
            <a:r>
              <a:rPr>
                <a:latin typeface="Inter"/>
              </a:rPr>
              <a:t>      Closes the 1.A.20–1.A.21 specificity gap [S1].</a:t>
            </a:r>
          </a:p>
          <a:p>
            <a:pPr algn="l">
              <a:spcAft>
                <a:spcPts val="500"/>
              </a:spcAft>
              <a:defRPr sz="100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  Add owners and timing for valuation estimates, benchmark changes and report sign-off.</a:t>
            </a:r>
            <a:br/>
            <a:r>
              <a:rPr>
                <a:latin typeface="Inter"/>
              </a:rPr>
              <a:t>      Closes three operational-control gaps [S1].</a:t>
            </a:r>
          </a:p>
          <a:p>
            <a:pPr algn="l">
              <a:spcAft>
                <a:spcPts val="500"/>
              </a:spcAft>
              <a:defRPr sz="100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  Provide significant-cash-flow, distribution-tracking and record-retention policies.</a:t>
            </a:r>
            <a:br/>
            <a:r>
              <a:rPr>
                <a:latin typeface="Inter"/>
              </a:rPr>
              <a:t>      Closes the three Not found areas [S1].</a:t>
            </a:r>
          </a:p>
          <a:p>
            <a:pPr algn="l">
              <a:spcAft>
                <a:spcPts val="500"/>
              </a:spcAft>
              <a:defRPr sz="100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  Identify the portability documentation owner and acquired-record inventory.</a:t>
            </a:r>
            <a:br/>
            <a:r>
              <a:rPr>
                <a:latin typeface="Inter"/>
              </a:rPr>
              <a:t>      Closes the portability control gap [S1].</a:t>
            </a:r>
          </a:p>
          <a:p>
            <a:pPr algn="l">
              <a:spcAft>
                <a:spcPts val="500"/>
              </a:spcAft>
              <a:defRPr sz="100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  Define verifier independence review ownership and cadence.</a:t>
            </a:r>
            <a:br/>
            <a:r>
              <a:rPr>
                <a:latin typeface="Inter"/>
              </a:rPr>
              <a:t>      Closes the verification governance gap [S1].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SYNTHETIC TEST DATA — fictional regression fixture · Data as of 2026-06-30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Follow-up requests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Provide the current signed policy approval and governance record [S2].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Provide approved error-correction materiality thresholds and escalation owner [S1].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Add owners and timing for valuation estimates, benchmark changes and report sign-off [S1].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Provide significant-cash-flow, distribution-tracking and record-retention policies [S1].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Identify the portability documentation owner and required acquired-record inventory [S1].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Define verifier independence review ownership and cadence [S1].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SYNTHETIC TEST DATA — fictional regression fixture · Data as of 2026-06-30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Findings checklist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Governance and portfolio scope</a:t>
            </a:r>
            <a:br/>
            <a:br/>
            <a:r>
              <a:rPr>
                <a:latin typeface="Inter"/>
              </a:rPr>
              <a:t> ·  Area  ·  Requirement  ·  Provision  ·  Status  ·  Evidence  ·  Finding / follow-up  · </a:t>
            </a:r>
            <a:br/>
            <a:br/>
            <a:r>
              <a:rPr>
                <a:latin typeface="Inter"/>
              </a:rPr>
              <a:t> ·  Firm  ·  Firm definition  ·  1.A.2  ·  Met  ·  Manual §2 [S1]  ·  —  · </a:t>
            </a:r>
            <a:br/>
            <a:br/>
            <a:r>
              <a:rPr>
                <a:latin typeface="Inter"/>
              </a:rPr>
              <a:t> ·  Governance  ·  Current approval evidence  ·  1.A.4–1.A.5  ·  Not met  ·  Change log [S2]  ·  No current sign-off  · </a:t>
            </a:r>
            <a:br/>
            <a:br/>
            <a:r>
              <a:rPr>
                <a:latin typeface="Inter"/>
              </a:rPr>
              <a:t> ·  Composite definitions  ·  Definition and discretion  ·  3.A.1–3.A.5  ·  Met  ·  Manual §5 [S1]  ·  —  · </a:t>
            </a:r>
            <a:br/>
            <a:br/>
            <a:r>
              <a:rPr>
                <a:latin typeface="Inter"/>
              </a:rPr>
              <a:t> ·  Composite membership  ·  Entry and exit timing  ·  3.A.6–3.A.11  ·  Met  ·  Manual §6 [S1]  ·  —  · </a:t>
            </a:r>
            <a:br/>
            <a:br/>
            <a:r>
              <a:rPr>
                <a:latin typeface="Inter"/>
              </a:rPr>
              <a:t> ·  Significant cash flows  ·  Ex ante treatment  ·  3.A.12–3.A.13  ·  Not found  ·  Manual [S1]  ·  Policy not located  · </a:t>
            </a:r>
            <a:br/>
            <a:br/>
            <a:r>
              <a:rPr>
                <a:latin typeface="Inter"/>
              </a:rPr>
              <a:t> ·  Carve-outs  ·  Cash allocation and standalone composite  ·  3.A.15–3.A.18  ·  N/A  ·  Manual §6 [S1]  ·  Firm states none are used  · </a:t>
            </a:r>
            <a:br/>
            <a:br/>
            <a:r>
              <a:rPr>
                <a:latin typeface="Inter"/>
              </a:rPr>
              <a:t>Calculation and reporting controls</a:t>
            </a:r>
            <a:br/>
            <a:br/>
            <a:r>
              <a:rPr>
                <a:latin typeface="Inter"/>
              </a:rPr>
              <a:t> ·  Area  ·  Requirement  ·  Provision  ·  Status  ·  Evidence  ·  Finding / follow-up  · </a:t>
            </a:r>
            <a:br/>
            <a:br/>
            <a:r>
              <a:rPr>
                <a:latin typeface="Inter"/>
              </a:rPr>
              <a:t> ·  Valuation  ·  Fair value hierarchy and estimates  ·  2.A.19, 2.A.23  ·  Partially met  ·  Manual §7 [S1]  ·  Estimate approval owner absent  · </a:t>
            </a:r>
            <a:br/>
            <a:br/>
            <a:r>
              <a:rPr>
                <a:latin typeface="Inter"/>
              </a:rPr>
              <a:t> ·  Return calculation  ·  TWR, accruals and fees  ·  2.A.8–2.A.38  ·  Met  ·  Manual §8 [S1]  ·  —  · </a:t>
            </a:r>
            <a:br/>
            <a:br/>
            <a:r>
              <a:rPr>
                <a:latin typeface="Inter"/>
              </a:rPr>
              <a:t> ·  Benchmarks  ·  Selection and change approval  ·  1.A.18–1.A.19  ·  Partially met  ·  Manual §8 [S1]  ·  Approval timing undefined  · </a:t>
            </a:r>
            <a:br/>
            <a:br/>
            <a:r>
              <a:rPr>
                <a:latin typeface="Inter"/>
              </a:rPr>
              <a:t> ·  Report preparation  ·  Required review and sign-off  ·  Section 4–7  ·  Partially met  ·  Manual §10 [S1]  ·  Final owner absent  · </a:t>
            </a:r>
            <a:br/>
            <a:br/>
            <a:r>
              <a:rPr>
                <a:latin typeface="Inter"/>
              </a:rPr>
              <a:t> ·  Distribution  ·  Reasonable-efforts tracking  ·  1.A.11–1.A.17  ·  Not found  ·  Manual [S1]  ·  Policy not located  · </a:t>
            </a:r>
            <a:br/>
            <a:br/>
            <a:r>
              <a:rPr>
                <a:latin typeface="Inter"/>
              </a:rPr>
              <a:t> ·  Error correction  ·  Thresholds and redistribution  ·  1.A.20–1.A.21  ·  Partially met  ·  Manual §9 [S1]  ·  Materiality absent  · </a:t>
            </a:r>
            <a:br/>
            <a:br/>
            <a:r>
              <a:rPr>
                <a:latin typeface="Inter"/>
              </a:rPr>
              <a:t>Marketing, records and assurance</a:t>
            </a:r>
            <a:br/>
            <a:br/>
            <a:r>
              <a:rPr>
                <a:latin typeface="Inter"/>
              </a:rPr>
              <a:t> ·  Area  ·  Requirement  ·  Provision  ·  Status  ·  Evidence  ·  Finding / follow-up  · </a:t>
            </a:r>
            <a:br/>
            <a:br/>
            <a:r>
              <a:rPr>
                <a:latin typeface="Inter"/>
              </a:rPr>
              <a:t> ·  Advertising  ·  Review and approval  ·  Section 8  ·  Met  ·  Manual §12 [S1]  ·  —  · </a:t>
            </a:r>
            <a:br/>
            <a:br/>
            <a:r>
              <a:rPr>
                <a:latin typeface="Inter"/>
              </a:rPr>
              <a:t> ·  Portability and M&amp;A  ·  Linking controls and records  ·  1.A.28, 4.C.37  ·  Partially met  ·  Manual §11 [S1]  ·  Documentation owner absent  · </a:t>
            </a:r>
            <a:br/>
            <a:br/>
            <a:r>
              <a:rPr>
                <a:latin typeface="Inter"/>
              </a:rPr>
              <a:t> ·  Theoretical performance  ·  Linking prohibition  ·  1.A.27, 4.C.48  ·  Met  ·  Manual §12 [S1]  ·  —  · </a:t>
            </a:r>
            <a:br/>
            <a:br/>
            <a:r>
              <a:rPr>
                <a:latin typeface="Inter"/>
              </a:rPr>
              <a:t> ·  Record retention  ·  Supporting-record schedule  ·  1.A.5  ·  Not found  ·  Manual [S1]  ·  Schedule not located  · </a:t>
            </a:r>
            <a:br/>
            <a:br/>
            <a:r>
              <a:rPr>
                <a:latin typeface="Inter"/>
              </a:rPr>
              <a:t> ·  Verification  ·  Independence and scope review  ·  Verification standards  ·  Partially met  ·  Manual §13 [S1]  ·  Review cadence undefined  ·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SYNTHETIC TEST DATA — fictional regression fixture · Data as of 2026-06-30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·  Tag  ·  Source  ·  Detail  ·  As of  ·  Validation  · </a:t>
            </a:r>
            <a:br/>
            <a:br/>
            <a:r>
              <a:rPr>
                <a:latin typeface="Inter"/>
              </a:rPr>
              <a:t> ·  S1  ·  GIPS policies manual (TEST)  ·  Fictional sections 2–11  ·  2025-12-31  ·  Synthetic document  · </a:t>
            </a:r>
            <a:br/>
            <a:br/>
            <a:r>
              <a:rPr>
                <a:latin typeface="Inter"/>
              </a:rPr>
              <a:t> ·  S2  ·  Policy change log (TEST)  ·  Fictional approvals  ·  2026-06-30  ·  Synthetic document  ·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SYNTHETIC TEST DATA — fictional regression fixture · Data as of 2026-06-30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Method &amp; disclaimer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This fictional policies gap check tests the shared GIPS handoff contract. It is not verification, certification, legal advice or an assessment of any real firm.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SYNTHETIC TEST DATA — fictional regression fixture · Data as of 2026-06-30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D1117"/>
      </a:dk1>
      <a:lt1>
        <a:srgbClr val="FFFFFF"/>
      </a:lt1>
      <a:dk2>
        <a:srgbClr val="161C24"/>
      </a:dk2>
      <a:lt2>
        <a:srgbClr val="F5F7F9"/>
      </a:lt2>
      <a:accent1>
        <a:srgbClr val="C6F432"/>
      </a:accent1>
      <a:accent2>
        <a:srgbClr val="4F6B00"/>
      </a:accent2>
      <a:accent3>
        <a:srgbClr val="F2A93B"/>
      </a:accent3>
      <a:accent4>
        <a:srgbClr val="5B8DEF"/>
      </a:accent4>
      <a:accent5>
        <a:srgbClr val="FF6B5E"/>
      </a:accent5>
      <a:accent6>
        <a:srgbClr val="3FB8AF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Meridian Example Advisers (TEST) — GIPS Policies Gap Check</dc:title>
  <dc:subject>GIPS Review</dc:subject>
  <dc:creator>GradientCIO</dc:creator>
  <cp:keywords>Gradient report theme 2.1.0</cp:keywords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