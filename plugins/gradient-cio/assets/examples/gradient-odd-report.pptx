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Pooled vehicles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Sheet1!$A$2:$A$2</c:f>
              <c:strCache>
                <c:ptCount val="1"/>
                <c:pt idx="0">
                  <c:v>Client assets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114.73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Sheet1!$A$2:$A$2</c:f>
              <c:strCache>
                <c:ptCount val="1"/>
                <c:pt idx="0">
                  <c:v>Client assets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12.6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Sovereign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Sheet1!$A$2:$A$2</c:f>
              <c:strCache>
                <c:ptCount val="1"/>
                <c:pt idx="0">
                  <c:v>Client assets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8.85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State &amp; municipal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Sheet1!$A$2:$A$2</c:f>
              <c:strCache>
                <c:ptCount val="1"/>
                <c:pt idx="0">
                  <c:v>Client assets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7.96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Pension plans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Sheet1!$A$2:$A$2</c:f>
              <c:strCache>
                <c:ptCount val="1"/>
                <c:pt idx="0">
                  <c:v>Client assets</c:v>
                </c:pt>
              </c:strCache>
            </c: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5.32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C6F432"/>
              </a:solidFill>
            </c:spPr>
          </c:dPt>
          <c:dPt>
            <c:idx val="5"/>
            <c:spPr>
              <a:solidFill>
                <a:srgbClr val="C6F432"/>
              </a:solidFill>
            </c:spPr>
          </c:dPt>
          <c:dPt>
            <c:idx val="6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$589M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100%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0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84.7%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800"/>
                      <a:t>84.5%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800"/>
                      <a:t>$132M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800"/>
                      <a:t>0.60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Sheet1!$A$2:$A$8</c:f>
              <c:strCache>
                <c:ptCount val="7"/>
                <c:pt idx="0">
                  <c:v>AUM per adviser rep</c:v>
                </c:pt>
                <c:pt idx="1">
                  <c:v>Discretionary share</c:v>
                </c:pt>
                <c:pt idx="2">
                  <c:v>Disclosure flag load</c:v>
                </c:pt>
                <c:pt idx="3">
                  <c:v>Custody asset share</c:v>
                </c:pt>
                <c:pt idx="4">
                  <c:v>Private fund share</c:v>
                </c:pt>
                <c:pt idx="5">
                  <c:v>AUM per employee</c:v>
                </c:pt>
                <c:pt idx="6">
                  <c:v>Client HHI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62.59</c:v>
                </c:pt>
                <c:pt idx="1">
                  <c:v>63.8</c:v>
                </c:pt>
                <c:pt idx="2">
                  <c:v>39.86</c:v>
                </c:pt>
                <c:pt idx="3">
                  <c:v>36.23</c:v>
                </c:pt>
                <c:pt idx="4">
                  <c:v>31.92</c:v>
                </c:pt>
                <c:pt idx="5">
                  <c:v>23.63</c:v>
                </c:pt>
                <c:pt idx="6">
                  <c:v>9.8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Scale frames the operating review</a:t>
            </a:r>
          </a:p>
          <a:p>
            <a:r>
              <a:t>Observation: The adviser reports $12.4B of RAUM and 38 private funds [S1]. Why it matters: Scale raises the importance of ownership and provider controls. Uncertainty: The public sample omits detailed owner records. What would change the view: Corroborated ownership records changing the control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Regulatory detail remains an evidence gap</a:t>
            </a:r>
          </a:p>
          <a:p>
            <a:r>
              <a:t>Observation: Zero detailed conflict or custody rows are available in the reviewed evidence [S1]. Why it matters: The signal cannot be read as a clean bill of health. Uncertainty: Missing rows may contain neutral or adverse items. What would change the view: A complete validated ADV response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Percentiles do not close gaps</a:t>
            </a:r>
          </a:p>
          <a:p>
            <a:r>
              <a:t>Observation: No pillar reaches the 75th percentile, while events remain unavailable [S1]. Why it matters: Moderate peer positioning does not override unresolved findings. Uncertainty: Gradient-selected cohort coverage may not represent every comparable adviser. What would change the view: Refreshed results above the 75th percentile or new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Fund operations are not yet corroborated</a:t>
            </a:r>
          </a:p>
          <a:p>
            <a:r>
              <a:t>Observation: Zero fund-level provider records appear in the reviewed evidence [S1]. Why it matters: Independence among operating parties cannot yet be assessed. Uncertainty: Missing provider coverage is not affirmative adverse evidence. What would change the view: Validated records naming the administrator, auditor and custodian.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Holdings evidence remains partial</a:t>
            </a:r>
          </a:p>
          <a:p>
            <a:r>
              <a:t>Observation: One Form 13F snapshot exists, but its holding rows are unavailable [S3]. Why it matters: Concentration cannot be interpreted from the summary alone. Uncertainty: Form 13F coverage is lagged and partial. What would change the view: Complete holding records plus successful identity reconciliation.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Event coverage limits the monitoring conclusion</a:t>
            </a:r>
          </a:p>
          <a:p>
            <a:r>
              <a:t>Observation: Three filing dates are known, but firm and fund events are unavailable [S1] [S2] [S3]. Why it matters: A quiet timeline cannot be inferred from missing publication. Uncertainty: Unpublished event coverage may conceal immaterial or significant changes. What would change the view: Complete event records plus validated open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OPERATIONAL DUE DILIGENCE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Ridgeview Advisors, LP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Operational due diligence review · SEC-registered adviser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ADVISER CRD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999901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REGULATORY AUM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$12.40B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FORM ADV 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REPORT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687568"/>
            <a:ext cx="3337560" cy="53035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306324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2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OVERALL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9161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 flags identified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573328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SCOPE REVIEWED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5934456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5 of 7 · Partial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PUBLIC SAMPLE OF THE SHARED RENDERER WITH ODD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23423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234235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Bottom 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8577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Ridgeview reports $12.40B regulatory AUM, 38 private funds and no Item 11 disclosures [S1]. No cohort metric is in the top quartile; the highest is AUM per adviser representative at the 62.6th percentile [S1]. Firm events are not yet published, so completeness is degraded and this is not a clean bill of health.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777964"/>
            <a:ext cx="2644902" cy="243995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777964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749808" y="3905980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REGULATORY AUM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162012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$12.4B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Item 5.F [S1]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94710" y="3777964"/>
            <a:ext cx="2644902" cy="243995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3394710" y="3777964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3504438" y="3905980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PRIVATE FUNDS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4162012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443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Schedule D 7.B.1 [S1]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9340" y="3777964"/>
            <a:ext cx="2644902" cy="243995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6149340" y="3777964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259068" y="3905980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ITEM 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4162012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Disciplinary disclosures [S1]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03970" y="3777964"/>
            <a:ext cx="2644902" cy="243995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Rectangle 28"/>
          <p:cNvSpPr/>
          <p:nvPr/>
        </p:nvSpPr>
        <p:spPr>
          <a:xfrm>
            <a:off x="8903970" y="3777964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9013698" y="3905980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COMPOSITE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4162012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32.4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369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Gradient risk profile [S1]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PUBLIC SAMPLE OF THE SHARED RENDERER WITH ODD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EVIDENCE COVERAGE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29575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59151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915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profile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Report 2026-10-01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915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Monitor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Aligned, 0 alerts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915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Firm &amp; fund events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Event publication not ready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9151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13F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Q2 2026 filing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4667510"/>
            <a:ext cx="10908792" cy="155040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4667510"/>
            <a:ext cx="54864" cy="1550409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477723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headline signal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5060702"/>
            <a:ext cx="10616184" cy="106577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sample report carries one clear headline signal [S1]. Why it matters: This signal focuses oversight on the report's most decision-relevant condition. Uncertainty: Evidence coverage may exclude newer or more detailed observations. What would change the view: A governed refresh showing a different signal or breached threshold.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PUBLIC SAMPLE OF THE SHARED RENDERER WITH ODD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237306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237306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primary measure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88843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Regulatory AUM is $12.4B in the review evidence [S2]. Why it matters: This measure establishes the baseline for comparing later governed results. Uncertainty: The source basis may omit newer observations outside the reviewed evidence. What would change the view: A refreshed source report showing a change above 1%.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808676"/>
            <a:ext cx="10908792" cy="24092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808676"/>
            <a:ext cx="54864" cy="240924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91840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monitoring priority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4201868"/>
            <a:ext cx="10616184" cy="192461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Composite is 32.4 in the review evidence [S3]. Why it matters: This result determines which item receives priority in the next monitoring cycle. Uncertainty: Supporting coverage may omit later filings or corroborating detail. What would change the view: A new filing or report that resolves the item or changes it by 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FORM ADV PART 1A, REPORT 2026-10-01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Firm profile &amp; ownership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74980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REGULATORY AUM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$12.4B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Item 5.F [S1]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9471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3394710" y="132588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350443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CLIENTS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443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ADV profile [S1]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4934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6149340" y="132588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25906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EMPLOYEES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906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1,135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ADV profile [S1]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0397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8903970" y="132588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901369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PRIVATE FUNDS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1369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Schedule D [S1]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FORM ADV PART 1A, REPORT 2026-10-01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Firm profile &amp; ownership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IDENTITY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9756"/>
                <a:gridCol w="2619756"/>
              </a:tblGrid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Legal name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 Advisors, LP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Employees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1,135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Accounts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133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Custody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$127.22B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REPORTED CLIENT MIX ($B)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FORM ADV PART 1A, REPORT 2026-10-01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Firm profile &amp; ownership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Scale frames the operating 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adviser reports $12.4B of RAUM and 38 private funds [S1]. Why it matters: Scale raises the importance of ownership and provider controls. Uncertainty: The public sample…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FILING EVIDENCE IDENTIFIES CUSTODY AND CONFLICT ITEMS FOR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Regulatory, conflicts &amp; custody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136502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1365024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Regulatory evidence unavailable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8803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the reviewed evidence does not include detailed regulatory rows [S1].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800632"/>
            <a:ext cx="10908792" cy="136502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2800632"/>
            <a:ext cx="54864" cy="136502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291036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3193824"/>
            <a:ext cx="10616184" cy="8803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regulatory detail was not included in the reviewed evidence [S1].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275385"/>
            <a:ext cx="10908792" cy="194253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640080" y="4275385"/>
            <a:ext cx="54864" cy="1942534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804671" y="438511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Regulatory detail remains an evidence gap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" y="4668577"/>
            <a:ext cx="10616184" cy="145790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Zero detailed conflict or custody rows are available in the reviewed evidence [S1]. Why it matters: The signal cannot be read as a clean bill of health…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GRADIENT COHORT ANALYTICS · 587 ADVISERS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Peer positioning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GRADIENT COHORT ANALYTICS · 587 ADVISERS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Peer positioning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Percentiles do not close gaps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No pillar reaches the 75th percentile, while events remain unavailable [S1]. Why it matters: Moderate peer positioning does not override unresolved findings. Uncertainty: Gradient-selected cohort coverage may…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SERVICE-PROVIDER EVIDENCE REMAINS INCOMPLETE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Fund operations &amp; service providers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130106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130106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Service-provider evidence unavailable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81643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the reviewed evidence does not include administrator, auditor or custodian rows [S1].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736675"/>
            <a:ext cx="10908792" cy="130106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2736675"/>
            <a:ext cx="54864" cy="130106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284640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3129867"/>
            <a:ext cx="10616184" cy="81643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fund-operations detail was not included in the reviewed evidence [S1].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147471"/>
            <a:ext cx="10908792" cy="207044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640080" y="4147471"/>
            <a:ext cx="54864" cy="207044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804671" y="425719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Fund operations are not yet corroborated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" y="4540663"/>
            <a:ext cx="10616184" cy="15858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Zero fund-level provider records appear in the reviewed evidence [S1]. Why it matters: Independence among operating parties cannot yet be assessed. Uncertainty: Missing provider coverage is not…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LAGGED HOLDINGS PROVIDE A PARTIAL CONCENTRATION LENS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Reported equity holdings (Form 13F)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134054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134054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Holding rows unavailable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8559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the governed Form 13F snapshot is present, but its holding rows are unavailable [S3].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776156"/>
            <a:ext cx="10908792" cy="134054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2776156"/>
            <a:ext cx="54864" cy="134054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288588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3169348"/>
            <a:ext cx="10616184" cy="8559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holding rows were not included in the reviewed evidence [S3].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226432"/>
            <a:ext cx="10908792" cy="199148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640080" y="4226432"/>
            <a:ext cx="54864" cy="199148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804671" y="433616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Holdings evidence remains partial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" y="4619624"/>
            <a:ext cx="10616184" cy="150685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One Form 13F snapshot exists, but its holding rows are unavailable [S3]. Why it matters: Concentration cannot be interpreted from the summary alone. Uncertainty: Form 13F coverage…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OPEN EVIDENCE GAPS DEFINE THE NEXT DILIGENCE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Monitoring, findings &amp; DDQ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EVENT TIMELINE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74519" y="1673352"/>
            <a:ext cx="22860" cy="4507992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Oval 10"/>
          <p:cNvSpPr/>
          <p:nvPr/>
        </p:nvSpPr>
        <p:spPr>
          <a:xfrm>
            <a:off x="1824228" y="1837944"/>
            <a:ext cx="128016" cy="128016"/>
          </a:xfrm>
          <a:prstGeom prst="ellipse">
            <a:avLst/>
          </a:prstGeom>
          <a:solidFill>
            <a:srgbClr val="0D111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1673352"/>
            <a:ext cx="1106424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2026-08-14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1673352"/>
            <a:ext cx="9491472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Form 13F snapshot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1938528"/>
            <a:ext cx="9491472" cy="78138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Latest available lagged holdings evidence [S3].</a:t>
            </a:r>
          </a:p>
        </p:txBody>
      </p:sp>
      <p:sp>
        <p:nvSpPr>
          <p:cNvPr id="15" name="Oval 14"/>
          <p:cNvSpPr/>
          <p:nvPr/>
        </p:nvSpPr>
        <p:spPr>
          <a:xfrm>
            <a:off x="1824228" y="3340608"/>
            <a:ext cx="128016" cy="128016"/>
          </a:xfrm>
          <a:prstGeom prst="ellipse">
            <a:avLst/>
          </a:prstGeom>
          <a:solidFill>
            <a:srgbClr val="C6F43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3176016"/>
            <a:ext cx="1106424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2026-10-01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176016"/>
            <a:ext cx="9491472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Form ADV profile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57400" y="3441192"/>
            <a:ext cx="9491472" cy="78138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Latest validated adviser filing evidence [S1].</a:t>
            </a:r>
          </a:p>
        </p:txBody>
      </p:sp>
      <p:sp>
        <p:nvSpPr>
          <p:cNvPr id="19" name="Oval 18"/>
          <p:cNvSpPr/>
          <p:nvPr/>
        </p:nvSpPr>
        <p:spPr>
          <a:xfrm>
            <a:off x="1824228" y="4843272"/>
            <a:ext cx="128016" cy="128016"/>
          </a:xfrm>
          <a:prstGeom prst="ellipse">
            <a:avLst/>
          </a:prstGeom>
          <a:solidFill>
            <a:srgbClr val="F2A93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40080" y="4678680"/>
            <a:ext cx="1106424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4678680"/>
            <a:ext cx="9491472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Firm and fund events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4943856"/>
            <a:ext cx="9491472" cy="78138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Event publication is not yet available in the reviewed evidence [S2].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OPEN EVIDENCE GAPS DEFINE THE NEXT DILIGENCE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Monitoring, findings &amp; DDQ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179877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179877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31413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monitoring details were not included in the reviewed evidence [S2].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234379"/>
            <a:ext cx="10908792" cy="29835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234379"/>
            <a:ext cx="54864" cy="29835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3441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Event coverage limits the monitoring conclusion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3627571"/>
            <a:ext cx="10616184" cy="24989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Three filing dates are known, but firm and fund events are unavailable [S1] [S2] [S3]. Why it matters: A quiet timeline cannot be inferred from missing publication…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Follow-up questions &amp; open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no follow-up questions are included in this review [S1].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8418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</a:tblGrid>
              <a:tr h="46046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6046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profile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get_manager_odd_profile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'not_run', 'status': 'not_run'}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sha256:273814b06d98b1737c111b83024663b8e8600d4b69330958b9c6b9c61b827814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046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Monitor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get_manager_monitor_evidence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sha256:2bdcc27a6e4cd1e329899b4d04e170b5c8d8495ae3ac85508662595e0ddba249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046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13F snapshot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get_firm_13f_portfolio_review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2026-08-14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sha256:b978ab9ea42f3266f45899cd2105866e57f56016496c2bd775d7260eab4fd245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460354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52962"/>
            <a:ext cx="10908792" cy="246495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Method: the ODD signal applies the governed Item 11, finding, alert, ownership-change and cohort-percentile rules to available evidence; unavailable evidence degrades completeness rather than becoming zero [S1] [S2] [S3].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Form ADV is adviser-reported. Gradient cohort percentiles describe positioning, not quality or performance. Form 13F is firm-level, lagged and partial [S1] [S3].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This sample report is a diligence aid, not investment, legal or compliance advice. No hire, fire, redemption, termination or allocation recommendation is made.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Ridgeview Advisors, LP</dc:title>
  <dc:subject>Operational Due Diligence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