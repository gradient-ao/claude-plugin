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Pooled vehicles</c:v>
                </c:pt>
                <c:pt idx="1">
                  <c:v>Other</c:v>
                </c:pt>
                <c:pt idx="2">
                  <c:v>Sovereign</c:v>
                </c:pt>
                <c:pt idx="3">
                  <c:v>State &amp; municipal</c:v>
                </c:pt>
                <c:pt idx="4">
                  <c:v>Pension plans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114.73</c:v>
                </c:pt>
                <c:pt idx="1">
                  <c:v>12.6</c:v>
                </c:pt>
                <c:pt idx="2">
                  <c:v>8.85</c:v>
                </c:pt>
                <c:pt idx="3">
                  <c:v>7.96</c:v>
                </c:pt>
                <c:pt idx="4">
                  <c:v>5.32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dPt>
            <c:idx val="5"/>
            <c:spPr>
              <a:solidFill>
                <a:srgbClr val="C6F432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cat>
            <c:strRef>
              <c:f>Sheet1!$A$2:$A$8</c:f>
              <c:strCache>
                <c:ptCount val="7"/>
                <c:pt idx="0">
                  <c:v>AUM per adviser rep</c:v>
                </c:pt>
                <c:pt idx="1">
                  <c:v>Discretionary share</c:v>
                </c:pt>
                <c:pt idx="2">
                  <c:v>Disclosure flag load</c:v>
                </c:pt>
                <c:pt idx="3">
                  <c:v>Custody asset share</c:v>
                </c:pt>
                <c:pt idx="4">
                  <c:v>Private fund share</c:v>
                </c:pt>
                <c:pt idx="5">
                  <c:v>AUM per employee</c:v>
                </c:pt>
                <c:pt idx="6">
                  <c:v>Client HHI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62.59</c:v>
                </c:pt>
                <c:pt idx="1">
                  <c:v>63.8</c:v>
                </c:pt>
                <c:pt idx="2">
                  <c:v>39.86</c:v>
                </c:pt>
                <c:pt idx="3">
                  <c:v>36.23</c:v>
                </c:pt>
                <c:pt idx="4">
                  <c:v>31.92</c:v>
                </c:pt>
                <c:pt idx="5">
                  <c:v>23.63</c:v>
                </c:pt>
                <c:pt idx="6">
                  <c:v>9.8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Scale frames the operating review</a:t>
            </a:r>
          </a:p>
          <a:p>
            <a:r>
              <a:t>Observation: The TEST adviser reports $12.4B of RAUM and 38 private funds [S1]. Why it matters: Scale raises the importance of ownership and service-provider controls. Uncertainty: The compact fixture omits owner detail. What would change the view: Corroborated ownership evidence that changes the control assessment.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Regulatory detail remains an evidence gap</a:t>
            </a:r>
          </a:p>
          <a:p>
            <a:r>
              <a:t>Observation: Detailed conflict and custody rows are unavailable in this compact TEST record [S1]. Why it matters: The signal cannot be read as a clean bill of health. Uncertainty: Missing detail may contain neutral or adverse items. What would change the view: A validated complete ADV response 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Percentiles do not close gaps</a:t>
            </a:r>
          </a:p>
          <a:p>
            <a:r>
              <a:t>Observation: No pillar reaches the 75th percentile, while events remain unavailable [S1]. Why it matters: Moderate peer positioning does not override unresolved findings or gaps in the composite signal. Uncertainty: The cohort is Gradient-selected. What would change the view: New findings or materially different validated pillar percentiles.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Fund operations are not yet corroborated</a:t>
            </a:r>
          </a:p>
          <a:p>
            <a:r>
              <a:t>Observation: Fund-level service-provider evidence is absent from the compact TEST record [S1]. Why it matters: Operating-party independence cannot be assessed. Uncertainty: Absence is not adverse evidence. What would change the view: Validated fund records naming the administrator, auditor and custodian.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Holdings evidence remains partial</a:t>
            </a:r>
          </a:p>
          <a:p>
            <a:r>
              <a:t>Observation: A Form 13F snapshot exists, but holding rows are omitted from this TEST fixture [S3]. Why it matters: Concentration cannot be interpreted from the summary alone. Uncertainty: Form 13F is lagged and partial. What would change the view: Complete validated holding rows and identity 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Event coverage limits the monitoring conclusion</a:t>
            </a:r>
          </a:p>
          <a:p>
            <a:r>
              <a:t>Observation: Filing dates are known, but firm and fund events are unavailable [S1] [S2] [S3]. Why it matters: A quiet timeline cannot be inferred from missing publication. Uncertainty: Unpublished events may be immaterial or significant. What would change the view: Complete event coverage with validated open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OPERATIONAL DUE DILIGENCE REPORT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Ridgeview Example Advisors, LP (TEST)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Example City, ST · SEC-registered adviser · RENDER TEST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ADVISER CRD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999901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SEC FILE NO.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801-00000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REGULATORY AUM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$12.40B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FORM ADV REPORT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PREPARED FOR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Gradient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REPORT 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RENDER TEST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23423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2342356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Bottom 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8577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Ridgeview reports $12.40B regulatory AUM, 38 private funds and no Item 11 disclosures [S1]. No cohort metric is in the top quartile; the highest is AUM per adviser representative at the 62.6th percentile [S1]. Firm events are not yet published, so completeness is degraded and this is not a clean bill of health.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REGULATORY AUM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$12.4B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Item 5.F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9471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43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PRIVATE FUNDS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38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Schedule D 7.B.1 [S1]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9340" y="3777964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06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ITEM 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Disciplinary disclosures [S1]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777964"/>
            <a:ext cx="2644902" cy="243995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3970" y="3777964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3698" y="3905980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COMPOSITE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4162012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32.4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5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Gradient risk profile [S1]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RENDER TEST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512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50241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02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Report 2026-10-01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Aligned, 0 alerts [S2]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0241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Firm &amp; fund events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unavailable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Event publication not ready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024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13F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Q2 2026 filing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222011"/>
            <a:ext cx="10908792" cy="90022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222011"/>
            <a:ext cx="54864" cy="90022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433173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headline signal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615203"/>
            <a:ext cx="10616184" cy="4155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fictional TEST report carries a clear signal [S1]. Why it matters: The signal frames the review. Uncertainty: Evidence coverage is bounded. What would change the view: New governed evidence that changes the signal.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231961"/>
            <a:ext cx="10908792" cy="98595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5231961"/>
            <a:ext cx="54864" cy="98595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1" y="534168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primary measure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1" y="5625153"/>
            <a:ext cx="10616184" cy="50132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Regulatory AUM is $12.4B in the TEST evidence [S2]. Why it matters: This measure anchors the executive view. Uncertainty: The fixture is deliberately compact. What would change the view: A refreshed source with a materially different value.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RENDER TEST OF THE SHARED RENDERER WITH ODD BLOCKS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monitoring priority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Composite is 32.4 in the TEST evidence [S3]. Why it matters: It identifies a monitoring priority. Uncertainty: Supporting detail is limited. What would change the view: Corroborated evidence that resolves or reverses the item.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Firm profile &amp; ownership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866268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86626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38163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governed visual was returned for this fictional TEST fixture.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REGULATORY AUM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$12.4B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Item 5.F [S1]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9471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9471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0443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CLIENTS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0443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ADV profile [S1]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4934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4934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06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EMPLOYEES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1,135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906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ADV profile [S1]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03970" y="3301876"/>
            <a:ext cx="2644902" cy="291604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03970" y="3301876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13698" y="3429892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PRIVATE FUNDS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685924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38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13698" y="588873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Schedule D [S1]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Firm profile &amp; ownership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IDENTITY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9756"/>
                <a:gridCol w="2619756"/>
              </a:tblGrid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Legal name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Ridgeview Example Advisors, LP (TEST)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Employees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1,135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Accounts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133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Custody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$127.22B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RAUM BY CLIENT TYPE ($B)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FORM ADV PART 1A, REPORT 2026-10-01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Firm profile &amp; ownership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Scale frames the operating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TEST adviser reports $12.4B of RAUM and 38 private funds [S1]. Why it matters: Scale raises the importance of ownership and service-provider controls. Uncertainty: The compact…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THE FILING EVIDENCE IDENTIFIES CUSTODY AND CONFLICT ITEMS FOR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Regulatory, conflicts &amp; custody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3592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3592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74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governed visual was returned for this fictional TEST fixture.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94905"/>
            <a:ext cx="10908792" cy="13592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794905"/>
            <a:ext cx="54864" cy="13592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290463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88097"/>
            <a:ext cx="10616184" cy="8746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this compact render fixture does not include regulatory detail [S1].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63930"/>
            <a:ext cx="10908792" cy="19539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63930"/>
            <a:ext cx="54864" cy="195398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43736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Regulatory detail remains an evidence gap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657122"/>
            <a:ext cx="10616184" cy="14693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Detailed conflict and custody rows are unavailable in this compact TEST record [S1]. Why it matters: The signal cannot be read as a clean bill of health…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Peer positioning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325880"/>
          <a:ext cx="10908792" cy="48920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GRADIENT COHORT ANALYTICS · 587 ADVISERS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Peer positioning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Percentiles do not close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No pillar reaches the 75th percentile, while events remain unavailable [S1]. Why it matters: Moderate peer positioning does not override unresolved findings or gaps in the composite…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SERVICE-PROVIDER EVIDENCE REMAINS INCOMPLETE IN THE COMPACT TEST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Fund operations &amp; service providers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3479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34798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633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governed visual was returned for this fictional TEST fixture.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83593"/>
            <a:ext cx="10908792" cy="13479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783593"/>
            <a:ext cx="54864" cy="134798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289332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76785"/>
            <a:ext cx="10616184" cy="8633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this compact render fixture omits fund operations [S1].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41306"/>
            <a:ext cx="10908792" cy="197661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41306"/>
            <a:ext cx="54864" cy="197661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435103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Fund operations are not yet corroborated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634498"/>
            <a:ext cx="10616184" cy="149198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Fund-level service-provider evidence is absent from the compact TEST record [S1]. Why it matters: Operating-party independence cannot be assessed. Uncertainty: Absence is not adverse evidence. What would…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LAGGED HOLDINGS PROVIDE A PARTIAL CONCENTRATION 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Reported equity holdings (Form 13F)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3423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3423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8577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governed visual was returned for this fictional TEST fixture.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78007"/>
            <a:ext cx="10908792" cy="134239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778007"/>
            <a:ext cx="54864" cy="134239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288773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171199"/>
            <a:ext cx="10616184" cy="85776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this compact render fixture omits holding rows [S3].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230135"/>
            <a:ext cx="10908792" cy="198778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4230135"/>
            <a:ext cx="54864" cy="1987784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1" y="433986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Holdings evidence remains partial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1" y="4623327"/>
            <a:ext cx="10616184" cy="15031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A Form 13F snapshot exists, but holding rows are omitted from this TEST fixture [S3]. Why it matters: Concentration cannot be interpreted from the summary alone. Uncertainty…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Monitoring, findings &amp; DDQ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Visual evidence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governed visual was returned for this fictional TEST fixture.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Monitoring, findings &amp; DDQ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GOVERNED EVENT TIMELINE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4519" y="1673352"/>
            <a:ext cx="22860" cy="4507992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24228" y="1837944"/>
            <a:ext cx="128016" cy="128016"/>
          </a:xfrm>
          <a:prstGeom prst="ellipse">
            <a:avLst/>
          </a:prstGeom>
          <a:solidFill>
            <a:srgbClr val="0D1117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t>2026-08-14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73352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t>Form 13F snapshot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7400" y="1938528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t>Latest available lagged holdings evidence [S3].</a:t>
            </a:r>
          </a:p>
        </p:txBody>
      </p:sp>
      <p:sp>
        <p:nvSpPr>
          <p:cNvPr id="14" name="Oval 13"/>
          <p:cNvSpPr/>
          <p:nvPr/>
        </p:nvSpPr>
        <p:spPr>
          <a:xfrm>
            <a:off x="1824228" y="3340608"/>
            <a:ext cx="128016" cy="128016"/>
          </a:xfrm>
          <a:prstGeom prst="ellipse">
            <a:avLst/>
          </a:prstGeom>
          <a:solidFill>
            <a:srgbClr val="C6F43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176016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t>2026-10-01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3176016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t>Form ADV 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3441192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t>Latest validated adviser filing evidence [S1].</a:t>
            </a:r>
          </a:p>
        </p:txBody>
      </p:sp>
      <p:sp>
        <p:nvSpPr>
          <p:cNvPr id="18" name="Oval 17"/>
          <p:cNvSpPr/>
          <p:nvPr/>
        </p:nvSpPr>
        <p:spPr>
          <a:xfrm>
            <a:off x="1824228" y="4843272"/>
            <a:ext cx="128016" cy="128016"/>
          </a:xfrm>
          <a:prstGeom prst="ellipse">
            <a:avLst/>
          </a:prstGeom>
          <a:solidFill>
            <a:srgbClr val="F2A93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78680"/>
            <a:ext cx="1106424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50" b="1">
                <a:solidFill>
                  <a:srgbClr val="4A5563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4678680"/>
            <a:ext cx="949147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1">
                <a:solidFill>
                  <a:srgbClr val="0D1117"/>
                </a:solidFill>
                <a:latin typeface="Inter"/>
              </a:defRPr>
            </a:pPr>
            <a:r>
              <a:t>Firm and fund events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4943856"/>
            <a:ext cx="9491472" cy="78138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0">
                <a:solidFill>
                  <a:srgbClr val="4A5563"/>
                </a:solidFill>
                <a:latin typeface="Inter"/>
              </a:defRPr>
            </a:pPr>
            <a:r>
              <a:t>Event publication is not yet available in the TEST record [S2].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t>OPEN EVIDENCE GAPS DEFINE THE NEXT DILIGENCE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Monitoring, findings &amp; DDQ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188751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1887515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140288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this compact render fixture omits monitoring details [S2].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323123"/>
            <a:ext cx="10908792" cy="289479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323123"/>
            <a:ext cx="54864" cy="2894796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1" y="3432851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Event coverage limits the monitoring conclusion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1" y="3716315"/>
            <a:ext cx="10616184" cy="241016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Filing dates are known, but firm and fund events are unavailable [S1] [S2] [S3]. Why it matters: A quiet timeline cannot be inferred from missing publication. Uncertainty…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Follow-up questions &amp; open items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Not available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no follow-up questions are included in this compact render fixture [S1].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 &amp;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SOURCES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115443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Tool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Validation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ADV 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get_manager_odd_profile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not_run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091b0cf9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Monitor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get_manager_monitor_evidence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2026-10-01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f337365b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115443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Form 13F snapshot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get_firm_13f_portfolio_review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2026-08-14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90d3de53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RENDER TEST — partial sample, not a full ODD report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Ridgeview Example Advisors, LP (TEST)</dc:title>
  <dc:subject>Operational Due Diligence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