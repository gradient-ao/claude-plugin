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a="http://schemas.openxmlformats.org/drawingml/2006/main" xmlns:ns0="http://schemas.openxmlformats.org/presentationml/2006/main" xmlns:ns1="http://schemas.openxmlformats.org/officeDocument/2006/relationships" saveSubsetFonts="1" autoCompressPictures="0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</ns0:sldIdLst>
  <ns0:sldSz cx="12191695" cy="6858000" type="screen16x9"/>
  <ns0:notesSz cx="6858000" cy="9144000"/>
  <ns0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Pooled vehicles</c:v>
                </c:pt>
              </c:strCache>
            </c:strRef>
          </c:tx>
          <c:spPr>
            <a:solidFill>
              <a:srgbClr val="0D1117"/>
            </a:solidFill>
          </c:spPr>
          <c:cat>
            <c:strRef>
              <c:f>Sheet1!$A$2:$A$2</c:f>
              <c:strCache>
                <c:ptCount val="1"/>
                <c:pt idx="0">
                  <c:v>Client assets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114.73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7FA600"/>
            </a:solidFill>
          </c:spPr>
          <c:cat>
            <c:strRef>
              <c:f>Sheet1!$A$2:$A$2</c:f>
              <c:strCache>
                <c:ptCount val="1"/>
                <c:pt idx="0">
                  <c:v>Client assets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12.6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Sovereign</c:v>
                </c:pt>
              </c:strCache>
            </c:strRef>
          </c:tx>
          <c:spPr>
            <a:solidFill>
              <a:srgbClr val="F2A93B"/>
            </a:solidFill>
          </c:spPr>
          <c:cat>
            <c:strRef>
              <c:f>Sheet1!$A$2:$A$2</c:f>
              <c:strCache>
                <c:ptCount val="1"/>
                <c:pt idx="0">
                  <c:v>Client assets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8.85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State &amp; municipal</c:v>
                </c:pt>
              </c:strCache>
            </c:strRef>
          </c:tx>
          <c:spPr>
            <a:solidFill>
              <a:srgbClr val="5B8DEF"/>
            </a:solidFill>
          </c:spPr>
          <c:cat>
            <c:strRef>
              <c:f>Sheet1!$A$2:$A$2</c:f>
              <c:strCache>
                <c:ptCount val="1"/>
                <c:pt idx="0">
                  <c:v>Client assets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7.96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Pension plans</c:v>
                </c:pt>
              </c:strCache>
            </c:strRef>
          </c:tx>
          <c:spPr>
            <a:solidFill>
              <a:srgbClr val="FF6B5E"/>
            </a:solidFill>
          </c:spPr>
          <c:cat>
            <c:strRef>
              <c:f>Sheet1!$A$2:$A$2</c:f>
              <c:strCache>
                <c:ptCount val="1"/>
                <c:pt idx="0">
                  <c:v>Client assets</c:v>
                </c:pt>
              </c:strCache>
            </c: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5.32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dPt>
            <c:idx val="3"/>
            <c:spPr>
              <a:solidFill>
                <a:srgbClr val="C6F432"/>
              </a:solidFill>
            </c:spPr>
          </c:dPt>
          <c:dPt>
            <c:idx val="4"/>
            <c:spPr>
              <a:solidFill>
                <a:srgbClr val="C6F432"/>
              </a:solidFill>
            </c:spPr>
          </c:dPt>
          <c:dPt>
            <c:idx val="5"/>
            <c:spPr>
              <a:solidFill>
                <a:srgbClr val="C6F432"/>
              </a:solidFill>
            </c:spPr>
          </c:dPt>
          <c:dPt>
            <c:idx val="6"/>
            <c:spPr>
              <a:solidFill>
                <a:srgbClr val="C6F432"/>
              </a:solidFill>
            </c:spPr>
          </c:dPt>
          <c:cat>
            <c:strRef>
              <c:f>Sheet1!$A$2:$A$8</c:f>
              <c:strCache>
                <c:ptCount val="7"/>
                <c:pt idx="0">
                  <c:v>AUM per adviser rep</c:v>
                </c:pt>
                <c:pt idx="1">
                  <c:v>Discretionary share</c:v>
                </c:pt>
                <c:pt idx="2">
                  <c:v>Disclosure flag load</c:v>
                </c:pt>
                <c:pt idx="3">
                  <c:v>Custody asset share</c:v>
                </c:pt>
                <c:pt idx="4">
                  <c:v>Private fund share</c:v>
                </c:pt>
                <c:pt idx="5">
                  <c:v>AUM per employee</c:v>
                </c:pt>
                <c:pt idx="6">
                  <c:v>Client HHI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62.59</c:v>
                </c:pt>
                <c:pt idx="1">
                  <c:v>63.8</c:v>
                </c:pt>
                <c:pt idx="2">
                  <c:v>39.86</c:v>
                </c:pt>
                <c:pt idx="3">
                  <c:v>36.23</c:v>
                </c:pt>
                <c:pt idx="4">
                  <c:v>31.92</c:v>
                </c:pt>
                <c:pt idx="5">
                  <c:v>23.63</c:v>
                </c:pt>
                <c:pt idx="6">
                  <c:v>9.8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Scale frames the operating review</a:t>
            </a:r>
          </a:p>
          <a:p>
            <a:r>
              <a:t>Observation: The TEST adviser reports $12.4B of RAUM and 38 private funds [S1]. Why it matters: Scale raises the importance of ownership and provider controls. Uncertainty: The compact fixture omits detailed owner records. What would change the view: Corroborated ownership records changing the control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Regulatory detail remains an evidence gap</a:t>
            </a:r>
          </a:p>
          <a:p>
            <a:r>
              <a:t>Observation: Zero detailed conflict or custody rows are available in this compact TEST record [S1]. Why it matters: The signal cannot be read as a clean bill of health. Uncertainty: Missing rows may contain neutral or adverse items. What would change the view: A complete validated ADV response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Percentiles do not close gaps</a:t>
            </a:r>
          </a:p>
          <a:p>
            <a:r>
              <a:t>Observation: No pillar reaches the 75th percentile, while events remain unavailable [S1]. Why it matters: Moderate peer positioning does not override unresolved findings. Uncertainty: Gradient-selected cohort coverage may not represent every comparable adviser. What would change the view: Refreshed results above the 75th percentile or new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Fund operations are not yet corroborated</a:t>
            </a:r>
          </a:p>
          <a:p>
            <a:r>
              <a:t>Observation: Zero fund-level provider records appear in the compact TEST fixture [S1]. Why it matters: Independence among operating parties cannot yet be assessed. Uncertainty: Missing provider coverage is not affirmative adverse evidence. What would change the view: Validated records naming the administrator, auditor and custodian.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Holdings evidence remains partial</a:t>
            </a:r>
          </a:p>
          <a:p>
            <a:r>
              <a:t>Observation: One Form 13F snapshot exists, but holding rows are omitted from this TEST fixture [S3]. Why it matters: Concentration cannot be interpreted from the summary alone. Uncertainty: Form 13F coverage is lagged and partial. What would change the view: Complete holding records plus successful identity reconciliation.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Event coverage limits the monitoring conclusion</a:t>
            </a:r>
          </a:p>
          <a:p>
            <a:r>
              <a:t>Observation: Three filing dates are known, but firm and fund events are unavailable [S1] [S2] [S3]. Why it matters: A quiet timeline cannot be inferred from missing publication. Uncertainty: Unpublished event coverage may conceal immaterial or significant changes. What would change the view: Complete event records plus validated open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xhi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9372600" y="164592"/>
            <a:ext cx="2514600" cy="2514600"/>
          </a:xfrm>
          <a:prstGeom prst="ellipse">
            <a:avLst/>
          </a:prstGeom>
          <a:solidFill>
            <a:srgbClr val="161C24"/>
          </a:solidFill>
          <a:ln>
            <a:solidFill>
              <a:srgbClr val="16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475488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GradientCIO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9966960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C6F432"/>
                </a:solidFill>
                <a:latin typeface="Inter"/>
              </a:defRPr>
            </a:pPr>
            <a:r>
              <a:rPr>
                <a:latin typeface="Inter"/>
              </a:rPr>
              <a:t>OPERATIONAL DUE DILIGENCE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76272"/>
            <a:ext cx="9966960" cy="12344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Ridgeview Example Advisors, LP (TEST)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56432"/>
            <a:ext cx="9692640" cy="6400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9AA5B1"/>
                </a:solidFill>
                <a:latin typeface="Inter"/>
              </a:defRPr>
            </a:pPr>
            <a:r>
              <a:rPr>
                <a:latin typeface="Inter"/>
              </a:rPr>
              <a:t>Example City, ST · SEC-registered adviser · RENDER 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251960"/>
            <a:ext cx="1005840" cy="54864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8580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ADVISER CRD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999901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SEC FILE NO.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801-00000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REGULATORY AUM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$12.40B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FORM ADV REPORT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2026-10-01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PREPARED FOR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Gradient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REPORT 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2026-10-04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833872"/>
            <a:ext cx="3063240" cy="384048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822960" y="5934456"/>
            <a:ext cx="2788920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No flags identified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5824728"/>
            <a:ext cx="3108960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EVIDENCE COMPLETENESS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5998464"/>
            <a:ext cx="3108960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5 of 7 · Degraded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73952"/>
            <a:ext cx="80467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RENDER TEST — partial sample, not a full ODD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6473952"/>
            <a:ext cx="274320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GradientCIO.com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RENDER TEST OF THE SHARED RENDERER WITH ODD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234235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2342356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Bottom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185772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Ridgeview reports $12.40B regulatory AUM, 38 private funds and no Item 11 disclosures [S1]. No cohort metric is in the top quartile; the highest is AUM per adviser representative at the 62.6th percentile [S1]. Firm events are not yet published, so completeness is degraded and this is not a clean bill of health.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777964"/>
            <a:ext cx="2644902" cy="2439955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0080" y="3777964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49808" y="3905980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REGULATORY AUM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162012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$12.4B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888735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Item 5.F [S1]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4710" y="3777964"/>
            <a:ext cx="2644902" cy="2439955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3394710" y="3777964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3504438" y="3905980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PRIVATE FUNDS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4438" y="4162012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38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4438" y="5888735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Schedule D 7.B.1 [S1]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9340" y="3777964"/>
            <a:ext cx="2644902" cy="2439955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6149340" y="3777964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6259068" y="3905980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ITEM 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9068" y="4162012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9068" y="5888735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Disciplinary disclosures [S1]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3970" y="3777964"/>
            <a:ext cx="2644902" cy="2439955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8" name="Rectangle 27"/>
          <p:cNvSpPr/>
          <p:nvPr/>
        </p:nvSpPr>
        <p:spPr>
          <a:xfrm>
            <a:off x="8903970" y="3777964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9013698" y="3905980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COMPOSITE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3698" y="4162012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32.4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3698" y="5888735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Gradient risk profile [S1]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RENDER TEST — partial sample, not a full ODD report · Data as of 2026-10-01 (Form ADV); 2026-08-14 (Form 13F)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RENDER TEST OF THE SHARED RENDERER WITH ODD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summary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EVIDENCE COVERAGE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2933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58666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8666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Form ADV profile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Report 2026-10-01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8666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 Monitor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Aligned, 0 alerts [S2]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8666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Firm &amp; fund events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6B5E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unavailable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Event publication not ready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8666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Form 13F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Q2 2026 filing [S3]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4643256"/>
            <a:ext cx="10908792" cy="157466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40080" y="4643256"/>
            <a:ext cx="54864" cy="1574663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04671" y="4752984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headline 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5036448"/>
            <a:ext cx="10616184" cy="109003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The fictional TEST report carries one clear headline signal [S1]. Why it matters: This signal focuses oversight on the report's most decision-relevant condition. Uncertainty: Evidence coverage may exclude newer or more detailed observations. What would change the view: A governed refresh showing a different signal or breached threshold.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RENDER TEST — partial sample, not a full ODD report · Data as of 2026-10-01 (Form ADV); 2026-08-14 (Form 13F)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RENDER TEST OF THE SHARED RENDERER WITH ODD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summary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2339495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2339495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primary measure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185486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Regulatory AUM is $12.4B in the TEST evidence [S2]. Why it matters: This measure establishes the baseline for comparing later governed results. Uncertainty: The source basis may omit newer observations outside this fixture. What would change the view: A refreshed source report showing a change above 1%.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775103"/>
            <a:ext cx="10908792" cy="244281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0080" y="3775103"/>
            <a:ext cx="54864" cy="2442816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04671" y="3884831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monitoring priority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4168295"/>
            <a:ext cx="10616184" cy="195818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Composite is 32.4 in the TEST evidence [S3]. Why it matters: This result determines which item receives priority in the next monitoring cycle. Uncertainty: Supporting coverage may omit later filings or corroborating detail. What would change the view: A new filing or report that resolves the item or changes it by 1%.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S2 · S3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RENDER TEST — partial sample, not a full ODD report · Data as of 2026-10-01 (Form ADV); 2026-08-14 (Form 13F)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FORM ADV PART 1A, REPORT 2026-10-01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Firm profile &amp;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264490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749808" y="1453895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REGULATORY AUM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709928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$12.4B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Item 5.F [S1]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4710" y="1325880"/>
            <a:ext cx="264490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3394710" y="1325880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3504438" y="1453895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CLIENTS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4438" y="1709928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443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ADV profile [S1]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9340" y="1325880"/>
            <a:ext cx="264490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6149340" y="1325880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259068" y="1453895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EMPLOYEES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9068" y="1709928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1,135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906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ADV profile [S1]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3970" y="1325880"/>
            <a:ext cx="264490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4" name="Rectangle 23"/>
          <p:cNvSpPr/>
          <p:nvPr/>
        </p:nvSpPr>
        <p:spPr>
          <a:xfrm>
            <a:off x="8903970" y="1325880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9013698" y="1453895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PRIVATE FUNDS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3698" y="1709928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38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369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Schedule D [S1]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RENDER TEST — partial sample, not a full ODD report · Data as of 2026-10-01 (Form ADV); 2026-08-14 (Form 13F)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FORM ADV PART 1A, REPORT 2026-10-01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Firm profile &amp; ownership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523951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IDENTITY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523951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9756"/>
                <a:gridCol w="2619756"/>
              </a:tblGrid>
              <a:tr h="115443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Legal name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Ridgeview Example Advisors, LP (TEST)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Employees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1,135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Accounts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133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Custody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$127.22B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080760" y="1325880"/>
            <a:ext cx="9144" cy="4892040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09360" y="1325880"/>
            <a:ext cx="523951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REPORTED CLIENT MIX ($B)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309360" y="1600200"/>
          <a:ext cx="523951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RENDER TEST — partial sample, not a full ODD report · Data as of 2026-10-01 (Form ADV); 2026-08-14 (Form 13F)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FORM ADV PART 1A, REPORT 2026-10-01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Firm profile &amp; ownership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Scale frames the operating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The TEST adviser reports $12.4B of RAUM and 38 private funds [S1]. Why it matters: Scale raises the importance of ownership and provider controls. Uncertainty: The compact…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RENDER TEST — partial sample, not a full ODD report · Data as of 2026-10-01 (Form ADV); 2026-08-14 (Form 13F)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THE FILING EVIDENCE IDENTIFIES CUSTODY AND CONFLICT ITEMS FOR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Regulatory, conflicts &amp; custody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135929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1359297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Regulatory evidence unavailable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87466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Not available — this compact TEST fixture does not return governed regulatory rows [S1].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94905"/>
            <a:ext cx="10908792" cy="135929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0080" y="2794905"/>
            <a:ext cx="54864" cy="1359297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04671" y="2904633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Not 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188097"/>
            <a:ext cx="10616184" cy="87466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Not available — this compact render fixture does not include regulatory detail [S1].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263930"/>
            <a:ext cx="10908792" cy="195398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640080" y="4263930"/>
            <a:ext cx="54864" cy="1953989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04671" y="4373658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Regulatory detail remains an evidence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4657122"/>
            <a:ext cx="10616184" cy="146935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Zero detailed conflict or custody rows are available in this compact TEST record [S1]. Why it matters: The signal cannot be read as a clean bill of…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RENDER TEST — partial sample, not a full ODD report · Data as of 2026-10-01 (Form ADV); 2026-08-14 (Form 13F)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GRADIENT COHORT ANALYTICS · 587 ADVISERS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Peer positioning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RENDER TEST — partial sample, not a full ODD report · Data as of 2026-10-01 (Form ADV); 2026-08-14 (Form 13F)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GRADIENT COHORT ANALYTICS · 587 ADVISERS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Peer positioning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Percentiles do not close gaps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No pillar reaches the 75th percentile, while events remain unavailable [S1]. Why it matters: Moderate peer positioning does not override unresolved findings. Uncertainty: Gradient-selected cohort coverage may…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RENDER TEST — partial sample, not a full ODD report · Data as of 2026-10-01 (Form ADV); 2026-08-14 (Form 13F)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SERVICE-PROVIDER EVIDENCE REMAINS INCOMPLETE IN THE COMPACT TEST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Fund operations &amp; service providers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129586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1295863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Service-provider evidence unavailable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81123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Not available — this compact TEST fixture does not return governed administrator, auditor or custodian rows [S1].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31471"/>
            <a:ext cx="10908792" cy="129586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0080" y="2731471"/>
            <a:ext cx="54864" cy="1295863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04671" y="2841199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Not 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124663"/>
            <a:ext cx="10616184" cy="81123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Not available — this compact render fixture omits fund operations [S1].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137062"/>
            <a:ext cx="10908792" cy="208085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640080" y="4137062"/>
            <a:ext cx="54864" cy="2080857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04671" y="4246790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Fund operations are not yet corroborated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4530254"/>
            <a:ext cx="10616184" cy="159622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Zero fund-level provider records appear in the compact TEST fixture [S1]. Why it matters: Independence among operating parties cannot yet be assessed. Uncertainty: Missing provider coverage is…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RENDER TEST — partial sample, not a full ODD report · Data as of 2026-10-01 (Form ADV); 2026-08-14 (Form 13F)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LAGGED HOLDINGS PROVIDE A PARTIAL CONCENTRATION 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Reported equity holdings (Form 13F)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131337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1313374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Holding rows unavailable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82874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Not available — the governed Form 13F snapshot is present, but this compact TEST fixture omits its holding rows [S3].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48982"/>
            <a:ext cx="10908792" cy="131337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0080" y="2748982"/>
            <a:ext cx="54864" cy="1313374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04671" y="2858710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Not 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142174"/>
            <a:ext cx="10616184" cy="82874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Not available — this compact render fixture omits holding rows [S3].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172085"/>
            <a:ext cx="10908792" cy="204583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640080" y="4172085"/>
            <a:ext cx="54864" cy="2045834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04671" y="4281813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Holdings evidence remains partial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4565277"/>
            <a:ext cx="10616184" cy="156120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One Form 13F snapshot exists, but holding rows are omitted from this TEST fixture [S3]. Why it matters: Concentration cannot be interpreted from the summary alone. Uncertainty…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RENDER TEST — partial sample, not a full ODD report · Data as of 2026-10-01 (Form ADV); 2026-08-14 (Form 13F)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OPEN EVIDENCE GAPS DEFINE THE NEXT DILIGENCE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Monitoring, findings &amp; DDQ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GOVERNED EVENT TIMELINE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1874519" y="1673352"/>
            <a:ext cx="22860" cy="4507992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Oval 9"/>
          <p:cNvSpPr/>
          <p:nvPr/>
        </p:nvSpPr>
        <p:spPr>
          <a:xfrm>
            <a:off x="1824228" y="1837944"/>
            <a:ext cx="128016" cy="128016"/>
          </a:xfrm>
          <a:prstGeom prst="ellipse">
            <a:avLst/>
          </a:prstGeom>
          <a:solidFill>
            <a:srgbClr val="0D111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1673352"/>
            <a:ext cx="1106424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2026-08-14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1673352"/>
            <a:ext cx="9491472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Form 13F snapshot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1938528"/>
            <a:ext cx="9491472" cy="78138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Latest available lagged holdings evidence [S3].</a:t>
            </a:r>
          </a:p>
        </p:txBody>
      </p:sp>
      <p:sp>
        <p:nvSpPr>
          <p:cNvPr id="14" name="Oval 13"/>
          <p:cNvSpPr/>
          <p:nvPr/>
        </p:nvSpPr>
        <p:spPr>
          <a:xfrm>
            <a:off x="1824228" y="3340608"/>
            <a:ext cx="128016" cy="128016"/>
          </a:xfrm>
          <a:prstGeom prst="ellipse">
            <a:avLst/>
          </a:prstGeom>
          <a:solidFill>
            <a:srgbClr val="C6F4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0080" y="3176016"/>
            <a:ext cx="1106424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2026-10-01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176016"/>
            <a:ext cx="9491472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Form ADV 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441192"/>
            <a:ext cx="9491472" cy="78138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Latest validated adviser filing evidence [S1].</a:t>
            </a:r>
          </a:p>
        </p:txBody>
      </p:sp>
      <p:sp>
        <p:nvSpPr>
          <p:cNvPr id="18" name="Oval 17"/>
          <p:cNvSpPr/>
          <p:nvPr/>
        </p:nvSpPr>
        <p:spPr>
          <a:xfrm>
            <a:off x="1824228" y="4843272"/>
            <a:ext cx="128016" cy="128016"/>
          </a:xfrm>
          <a:prstGeom prst="ellipse">
            <a:avLst/>
          </a:prstGeom>
          <a:solidFill>
            <a:srgbClr val="F2A93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40080" y="4678680"/>
            <a:ext cx="1106424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Not 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678680"/>
            <a:ext cx="9491472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Firm and fund events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4943856"/>
            <a:ext cx="9491472" cy="78138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Event publication is not yet available in the TEST record [S2].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RENDER TEST — partial sample, not a full ODD report · Data as of 2026-10-01 (Form ADV); 2026-08-14 (Form 13F)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OPEN EVIDENCE GAPS DEFINE THE NEXT DILIGENCE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Monitoring, findings &amp; DDQ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1798771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1798771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Not available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131413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Not available — this compact render fixture omits monitoring details [S2].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34379"/>
            <a:ext cx="10908792" cy="29835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0080" y="3234379"/>
            <a:ext cx="54864" cy="298354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04671" y="33441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Event coverage limits the monitoring conclusion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627571"/>
            <a:ext cx="10616184" cy="24989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Three filing dates are known, but firm and fund events are unavailable [S1] [S2] [S3]. Why it matters: A quiet timeline cannot be inferred from missing publication…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RENDER TEST — partial sample, not a full ODD report · Data as of 2026-10-01 (Form ADV); 2026-08-14 (Form 13F)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Follow-up questions &amp; open items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Not 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Not available — no follow-up questions are included in this compact render fixture [S1].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RENDER TEST — partial sample, not a full ODD report · Data as of 2026-10-01 (Form ADV); 2026-08-14 (Form 13F)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sources &amp;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SOURCES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0" cy="2043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510758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Tag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Tool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As of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Validation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Digest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1075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Form ADV profile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get_manager_odd_profile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2026-10-01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not_run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091b0cf9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075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 Monitor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get_manager_monitor_evidence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2026-10-01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f337365b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1076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Form 13F snapshot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get_firm_13f_portfolio_review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2026-08-14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90d3de53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752962"/>
            <a:ext cx="10908792" cy="246495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Method: the ODD signal applies the governed Item 11, finding, alert, ownership-change and cohort-percentile rules to available evidence; unavailable evidence degrades completeness rather than becoming zero [S1] [S2] [S3].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Form ADV is adviser-reported. Gradient cohort percentiles describe positioning, not quality or performance. Form 13F is firm-level, lagged and partial [S1] [S3].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This fictional TEST report is a diligence aid, not investment, legal or compliance advice. No hire, fire, redemption, termination or allocation recommendation is made.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RENDER TEST — partial sample, not a full ODD report · Data as of 2026-10-01 (Form ADV); 2026-08-14 (Form 13F)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D1117"/>
      </a:dk1>
      <a:lt1>
        <a:srgbClr val="FFFFFF"/>
      </a:lt1>
      <a:dk2>
        <a:srgbClr val="161C24"/>
      </a:dk2>
      <a:lt2>
        <a:srgbClr val="F5F7F9"/>
      </a:lt2>
      <a:accent1>
        <a:srgbClr val="C6F432"/>
      </a:accent1>
      <a:accent2>
        <a:srgbClr val="4F6B00"/>
      </a:accent2>
      <a:accent3>
        <a:srgbClr val="F2A93B"/>
      </a:accent3>
      <a:accent4>
        <a:srgbClr val="5B8DEF"/>
      </a:accent4>
      <a:accent5>
        <a:srgbClr val="FF6B5E"/>
      </a:accent5>
      <a:accent6>
        <a:srgbClr val="3FB8AF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Ridgeview Example Advisors, LP (TEST)</dc:title>
  <dc:subject>Operational Due Diligence</dc:subject>
  <dc:creator>GradientCIO</dc:creator>
  <cp:keywords>Gradient report theme 2.1.0</cp:keywords>
  <dc:description>generated using python-pptx</dc:description>
  <cp:lastModifiedBy>GradientCIO</cp:lastModifiedBy>
  <cp:revision>1</cp:revision>
  <dcterms:created xsi:type="dcterms:W3CDTF">2020-01-01T00:00:00Z</dcterms:created>
  <dcterms:modified xsi:type="dcterms:W3CDTF">2020-01-01T00:00:00Z</dcterms:modified>
  <cp:category/>
</cp:coreProperties>
</file>