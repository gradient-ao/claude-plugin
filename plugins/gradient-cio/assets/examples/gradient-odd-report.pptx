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Pooled vehicles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114.73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Sovereign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8.85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State &amp; municipal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7.96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Pension plans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Sheet1!$A$2:$A$2</c:f>
              <c:strCache>
                <c:ptCount val="1"/>
                <c:pt idx="0">
                  <c:v>Client assets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5.32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cat>
            <c:strRef>
              <c:f>Sheet1!$A$2:$A$8</c:f>
              <c:strCache>
                <c:ptCount val="7"/>
                <c:pt idx="0">
                  <c:v>AUM per adviser rep</c:v>
                </c:pt>
                <c:pt idx="1">
                  <c:v>Discretionary share</c:v>
                </c:pt>
                <c:pt idx="2">
                  <c:v>Disclosure flag load</c:v>
                </c:pt>
                <c:pt idx="3">
                  <c:v>Custody asset share</c:v>
                </c:pt>
                <c:pt idx="4">
                  <c:v>Private fund share</c:v>
                </c:pt>
                <c:pt idx="5">
                  <c:v>AUM per employee</c:v>
                </c:pt>
                <c:pt idx="6">
                  <c:v>Client HHI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62.59</c:v>
                </c:pt>
                <c:pt idx="1">
                  <c:v>63.8</c:v>
                </c:pt>
                <c:pt idx="2">
                  <c:v>39.86</c:v>
                </c:pt>
                <c:pt idx="3">
                  <c:v>36.23</c:v>
                </c:pt>
                <c:pt idx="4">
                  <c:v>31.92</c:v>
                </c:pt>
                <c:pt idx="5">
                  <c:v>23.63</c:v>
                </c:pt>
                <c:pt idx="6">
                  <c:v>9.8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frames the operating review</a:t>
            </a:r>
          </a:p>
          <a:p>
            <a:r>
              <a:t>Observation: The TEST adviser reports $12.4B of RAUM and 38 private funds [S1]. Why it matters: Scale raises the importance of ownership and provider controls. Uncertainty: The compact fixture omits detailed owner records. What would change the view: Corroborated ownership records changing the control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Regulatory detail remains an evidence gap</a:t>
            </a:r>
          </a:p>
          <a:p>
            <a:r>
              <a:t>Observation: Zero detailed conflict or custody rows are available in this compact TEST record [S1]. Why it matters: The signal cannot be read as a clean bill of health. Uncertainty: Missing rows may contain neutral or adverse items. What would change the view: A complete validated ADV response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Percentiles do not close gaps</a:t>
            </a:r>
          </a:p>
          <a:p>
            <a:r>
              <a:t>Observation: No pillar reaches the 75th percentile, while events remain unavailable [S1]. Why it matters: Moderate peer positioning does not override unresolved findings. Uncertainty: Gradient-selected cohort coverage may not represent every comparable adviser. What would change the view: Refreshed results above the 75th percentile or new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Fund operations are not yet corroborated</a:t>
            </a:r>
          </a:p>
          <a:p>
            <a:r>
              <a:t>Observation: Zero fund-level provider records appear in the compact TEST fixture [S1]. Why it matters: Independence among operating parties cannot yet be assessed. Uncertainty: Missing provider coverage is not affirmative adverse evidence. What would change the view: Validated records naming the administrator, auditor and custodian.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Holdings evidence remains partial</a:t>
            </a:r>
          </a:p>
          <a:p>
            <a:r>
              <a:t>Observation: One Form 13F snapshot exists, but holding rows are omitted from this TEST fixture [S3]. Why it matters: Concentration cannot be interpreted from the summary alone. Uncertainty: Form 13F coverage is lagged and partial. What would change the view: Complete holding records plus successful identity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coverage limits the monitoring conclusion</a:t>
            </a:r>
          </a:p>
          <a:p>
            <a:r>
              <a:t>Observation: Three filing dates are known, but firm and fund events are unavailable [S1] [S2] [S3]. Why it matters: A quiet timeline cannot be inferred from missing publication. Uncertainty: Unpublished event coverage may conceal immaterial or significant changes. What would change the view: Complete event records plus validated open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OPERATIONAL DUE DILIGENCE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Ridgeview Example Advisors, LP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Example City, ST · SEC-registered adviser · RENDER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SEC FILE 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801-00000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$12.40B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FORM ADV 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REPORT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 flags identified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7 · Degraded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RENDER TEST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423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423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577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Ridgeview reports $12.40B regulatory AUM, 38 private funds and no Item 11 disclosures [S1]. No cohort metric is in the top quartile; the highest is AUM per adviser representative at the 62.6th percentile [S1]. Firm events are not yet published, so completeness is degraded and this is not a clean bill of health.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7.B.1 [S1]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Disciplinary disclosures [S1]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777964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COMPOSITE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risk profile [S1]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RENDER TEST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33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8666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66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2026-10-01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6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Aligned, 0 alerts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666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&amp;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publication not ready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66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Q2 2026 filing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43256"/>
            <a:ext cx="10908792" cy="15746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43256"/>
            <a:ext cx="54864" cy="157466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5298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036448"/>
            <a:ext cx="10616184" cy="10900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fictional TEST report carries one clear headline signal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RENDER TEST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3949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3949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5486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Regulatory AUM is $12.4B in the TEST evidence [S2]. Why it matters: This measure establishes the baseline for comparing later governed results. Uncertainty: The source basis may omit newer observations outside this fixture.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5103"/>
            <a:ext cx="10908792" cy="24428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75103"/>
            <a:ext cx="54864" cy="244281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8483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68295"/>
            <a:ext cx="10616184" cy="19581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Composite is 32.4 in the TEST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REGULATORY AUM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$12.4B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Item 5.F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CLIENTS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EMPLOYEES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1,135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ADV profile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PRIVATE FUNDS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Schedule D [S1]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IDENTITY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Legal name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Ridgeview Example Advisors, LP (TEST)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1,135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Accounts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$127.22B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REPORTED CLIENT MIX ($B)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profile &amp; ownership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Scale frames the operating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TEST adviser reports $12.4B of RAUM and 38 private funds [S1]. Why it matters: Scale raises the importance of ownership and provider controls. Uncertainty: The compact…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FILING EVIDENCE IDENTIFIES CUSTODY AND CONFLICT ITEMS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Regulatory, conflicts &amp;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3592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35929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Regulatory evidence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74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this compact TEST fixture does not return governed regulatory rows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94905"/>
            <a:ext cx="10908792" cy="13592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794905"/>
            <a:ext cx="54864" cy="13592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90463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88097"/>
            <a:ext cx="10616184" cy="874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this compact render fixture does not include regulatory detail [S1].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3930"/>
            <a:ext cx="10908792" cy="19539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263930"/>
            <a:ext cx="54864" cy="19539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3736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Regulatory detail remains an evidence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657122"/>
            <a:ext cx="10616184" cy="14693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detailed conflict or custody rows are available in this compact TEST record [S1]. Why it matters: The signal cannot be read as a clean bill of…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positioning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Percentiles do not close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pillar reaches the 75th percentile, while events remain unavailable [S1]. Why it matters: Moderate peer positioning does not override unresolved findings. Uncertainty: Gradient-selected cohort coverage may…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SERVICE-PROVIDER EVIDENCE REMAINS INCOMPLETE IN THE COMPACT TEST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Fund operations &amp; service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2958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29586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Service-provider evidence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112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this compact TEST fixture does not return governed administrator, auditor or custodian rows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31471"/>
            <a:ext cx="10908792" cy="12958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731471"/>
            <a:ext cx="54864" cy="129586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84119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24663"/>
            <a:ext cx="10616184" cy="8112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this compact render fixture omits fund operations [S1].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37062"/>
            <a:ext cx="10908792" cy="208085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137062"/>
            <a:ext cx="54864" cy="208085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24679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Fund operations are not yet corroborated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530254"/>
            <a:ext cx="10616184" cy="15962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Zero fund-level provider records appear in the compact TEST fixture [S1]. Why it matters: Independence among operating parties cannot yet be assessed. Uncertainty: Missing provider coverage is…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LAGGED HOLDINGS PROVIDE A PARTIAL CONCENTRATION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Reported equity holdings (Form 13F)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3133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31337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Holding rows unavailable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287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Form 13F snapshot is present, but this compact TEST fixture omits its holding rows 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8982"/>
            <a:ext cx="10908792" cy="13133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748982"/>
            <a:ext cx="54864" cy="131337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285871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42174"/>
            <a:ext cx="10616184" cy="8287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this compact render fixture omits holding rows [S3].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72085"/>
            <a:ext cx="10908792" cy="204583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172085"/>
            <a:ext cx="54864" cy="204583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28181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Holdings evidence remains partial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565277"/>
            <a:ext cx="10616184" cy="156120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Form 13F snapshot exists, but holding rows are omitted from this TEST fixture [S3]. Why it matters: Concentration cannot be interpreted from the summary alone. Uncertainty…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Monitoring, findings &amp; DDQ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EVENT TIMELINE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2026-08-14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available lagged holdings evidence [S3].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3340608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3176016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176016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ADV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441192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Latest validated adviser filing evidence [S1].</a:t>
            </a:r>
          </a:p>
        </p:txBody>
      </p:sp>
      <p:sp>
        <p:nvSpPr>
          <p:cNvPr id="18" name="Oval 17"/>
          <p:cNvSpPr/>
          <p:nvPr/>
        </p:nvSpPr>
        <p:spPr>
          <a:xfrm>
            <a:off x="1824228" y="4843272"/>
            <a:ext cx="128016" cy="128016"/>
          </a:xfrm>
          <a:prstGeom prst="ellipse">
            <a:avLst/>
          </a:prstGeom>
          <a:solidFill>
            <a:srgbClr val="F2A9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4678680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678680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Firm and fund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943856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Event publication is not yet available in the TEST record [S2].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Monitoring, findings &amp; DDQ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9877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9877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1413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this compact render fixture omits monitoring details [S2].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34379"/>
            <a:ext cx="10908792" cy="29835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34379"/>
            <a:ext cx="54864" cy="29835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441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coverage limits the monitoring 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27571"/>
            <a:ext cx="10616184" cy="24989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Three filing dates are known, but firm and fund events are unavailable [S1] [S2] [S3]. Why it matters: A quiet timeline cannot be inferred from missing publication…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questions &amp; open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follow-up questions are included in this compact render fixture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&amp;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043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1075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075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091b0cf9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075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f337365b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07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 13F snapshot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90d3de53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52962"/>
            <a:ext cx="10908792" cy="24649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Method: the ODD signal applies the governed Item 11, finding, alert, ownership-change and cohort-percentile rules to available evidence; unavailable evidence degrades completeness rather than becoming zero [S1] [S2]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ADV is adviser-reported. Gradient cohort percentiles describe positioning, not quality or performance. Form 13F is firm-level, lagged and partial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fictional TEST report is a diligence aid, not investment, legal or compliance advice. No hire, fire, redemption, termination or allocation recommendation is made.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RENDER TEST — partial sample, not a full ODD report · Data as of 2026-10-01 (Form ADV); 2026-08-14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Example Advisors, LP (TEST)</dc:title>
  <dc:subject>Operational Due Diligence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