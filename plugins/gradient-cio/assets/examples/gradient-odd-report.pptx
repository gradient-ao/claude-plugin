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Pooled vehicles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114.73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Sovereign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8.85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State &amp; municipal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7.96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Pension plans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5.32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Pt>
            <c:idx val="5"/>
            <c:spPr>
              <a:solidFill>
                <a:srgbClr val="C6F432"/>
              </a:solidFill>
            </c:spPr>
          </c:dPt>
          <c:dPt>
            <c:idx val="6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$589M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100%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0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84.7%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84.5%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800"/>
                      <a:t>$132M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800"/>
                      <a:t>0.60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AUM per adviser rep</c:v>
                </c:pt>
                <c:pt idx="1">
                  <c:v>Discretionary share</c:v>
                </c:pt>
                <c:pt idx="2">
                  <c:v>Disclosure flag load</c:v>
                </c:pt>
                <c:pt idx="3">
                  <c:v>Custody asset share</c:v>
                </c:pt>
                <c:pt idx="4">
                  <c:v>Private fund share</c:v>
                </c:pt>
                <c:pt idx="5">
                  <c:v>AUM per employee</c:v>
                </c:pt>
                <c:pt idx="6">
                  <c:v>Client HHI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62.59</c:v>
                </c:pt>
                <c:pt idx="1">
                  <c:v>63.8</c:v>
                </c:pt>
                <c:pt idx="2">
                  <c:v>39.86</c:v>
                </c:pt>
                <c:pt idx="3">
                  <c:v>36.23</c:v>
                </c:pt>
                <c:pt idx="4">
                  <c:v>31.92</c:v>
                </c:pt>
                <c:pt idx="5">
                  <c:v>23.63</c:v>
                </c:pt>
                <c:pt idx="6">
                  <c:v>9.8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frames the operating review</a:t>
            </a:r>
          </a:p>
          <a:p>
            <a:r>
              <a:t>Observation: The adviser reports $12.4B of RAUM and 38 private funds [S1]. Why it matters: Scale raises the importance of ownership and provider controls. Uncertainty: The public sample omits detailed owner records. What would change the view: Corroborated ownership records changing the control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Regulatory detail remains an evidence gap</a:t>
            </a:r>
          </a:p>
          <a:p>
            <a:r>
              <a:t>Observation: Zero detailed conflict or custody rows are available in the reviewed evidence [S1]. Why it matters: The signal cannot be read as a clean bill of health. Uncertainty: Missing rows may contain neutral or adverse items. What would change the view: A complete validated ADV response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Percentiles do not close gaps</a:t>
            </a:r>
          </a:p>
          <a:p>
            <a:r>
              <a:t>Observation: No pillar reaches the 75th percentile, while events remain unavailable [S1]. Why it matters: Moderate peer positioning does not override unresolved findings. Uncertainty: Gradient-selected cohort coverage may not represent every comparable adviser. What would change the view: Refreshed results above the 75th percentile or new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Fund operations are not yet corroborated</a:t>
            </a:r>
          </a:p>
          <a:p>
            <a:r>
              <a:t>Observation: Zero fund-level provider records appear in the reviewed evidence [S1]. Why it matters: Independence among operating parties cannot yet be assessed. Uncertainty: Missing provider coverage is not affirmative adverse evidence. What would change the view: Validated records naming the administrator, auditor and custodian.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Holdings evidence remains partial</a:t>
            </a:r>
          </a:p>
          <a:p>
            <a:r>
              <a:t>Observation: One Form 13F snapshot exists, but its holding rows are unavailable [S3]. Why it matters: Concentration cannot be interpreted from the summary alone. Uncertainty: Form 13F coverage is lagged and partial. What would change the view: Complete holding records plus successful identity 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Event coverage limits the monitoring conclusion</a:t>
            </a:r>
          </a:p>
          <a:p>
            <a:r>
              <a:t>Observation: Three filing dates are known, but firm and fund events are unavailable [S1] [S2] [S3]. Why it matters: A quiet timeline cannot be inferred from missing publication. Uncertainty: Unpublished event coverage may conceal immaterial or significant changes. What would change the view: Complete event records plus validated open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OPERATIONAL DUE DILIGENCE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Ridgeview Advisors, 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Operational due diligence review · SEC-registered adviser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ADVISER CRD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999901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REGULATORY AUM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$12.40B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FORM ADV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 flags identified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5 of 7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PUBLIC SAMPLE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03490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03490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5502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reports $12.40B regulatory AUM, 38 private funds and no Item 11 disclosures [S1]. No cohort metric is in the top quartile; the highest is AUM per adviser representative at the 62.6th percentile [S1]. Firm events are not yet published, so completeness is degraded and this is not a clean bill of health.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4705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AUM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$12.4B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5.F [S1]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34705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FUNDS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Schedule D 7.B.1 [S1]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34705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Disciplinary disclosures [S1]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347051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COMPOSITE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32.4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Gradient risk profile [S1]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PUBLIC SAMPLE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4029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805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05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 2026-10-01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5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Aligned, 0 alerts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05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&amp; fund 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publication not ready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5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13F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Q2 2026 filing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112841"/>
            <a:ext cx="10908792" cy="109401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112841"/>
            <a:ext cx="54864" cy="109401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22256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506033"/>
            <a:ext cx="10616184" cy="60938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one clear headline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316584"/>
            <a:ext cx="10908792" cy="9013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5316584"/>
            <a:ext cx="54864" cy="90133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542631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709776"/>
            <a:ext cx="10616184" cy="4167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Regulatory AUM is $12.4B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PUBLIC SAMPLE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Composite is 32.4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profile &amp; ownership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AUM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$12.4B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5.F [S1]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CLIENTS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ADV profile [S1]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EMPLOYEES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1,135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ADV profile [S1]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FUNDS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Schedule D [S1]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profile &amp; ownership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IDENTITY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Legal name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Advisors, LP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1,135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Accounts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133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$127.22B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REPORTED CLIENT MIX ($B)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profile &amp; ownership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Scale frames the operating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adviser reports $12.4B of RAUM and 38 private funds [S1]. Why it matters: Scale raises the importance of ownership and provider controls. Uncertainty: The public sample…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FILING EVIDENCE IDENTIFIES CUSTODY AND CONFLICT ITEMS FOR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Regulatory, conflicts &amp; custody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Regulatory evidence unavailable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reviewed evidence does not include detailed regulatory rows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regulatory detail was not included in the reviewed evidence [S1].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Regulatory detail remains an evidence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Zero detailed conflict or custody rows are available in the reviewed evidence [S1]. Why it matters: The signal cannot be read as a clean bill of health…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COHORT ANALYTICS · 587 ADVISERS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 positioning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325880"/>
          <a:ext cx="10908792" cy="393572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Percentiles do not close gaps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pillar reaches the 75th percentile, while events remain unavailable [S1]. Why it matters: Moderate peer positioning does not override unresolved findings. Uncertainty: Gradient-selected cohort coverage may…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SERVICE-PROVIDER EVIDENCE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operations &amp; service providers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44463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44463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Service-provider evidence unavailable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9600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reviewed evidence does not include administrator, auditor or custodian rows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80240"/>
            <a:ext cx="10908792" cy="144463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2880240"/>
            <a:ext cx="54864" cy="144463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298996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273432"/>
            <a:ext cx="10616184" cy="9600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fund-operations detail was not included in the reviewed evidence [S1].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34601"/>
            <a:ext cx="10908792" cy="178331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434601"/>
            <a:ext cx="54864" cy="178331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54432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Fund operations are not yet corroborated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4827793"/>
            <a:ext cx="10616184" cy="129868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Zero fund-level provider records appear in the reviewed evidence [S1]. Why it matters: Independence among operating parties cannot yet be assessed. Uncertainty: Missing provider coverage is not…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LAGGED HOLDINGS PROVIDE A PARTIAL CONCENTRATION 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Reported equity holdings (Form 13F)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44463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44463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Holding rows unavailable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9600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governed Form 13F snapshot is present, but its holding rows are unavailable [S3].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80240"/>
            <a:ext cx="10908792" cy="144463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2880240"/>
            <a:ext cx="54864" cy="144463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298996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273432"/>
            <a:ext cx="10616184" cy="9600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holding rows were not included in the reviewed evidence [S3].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34601"/>
            <a:ext cx="10908792" cy="178331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434601"/>
            <a:ext cx="54864" cy="178331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54432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Holdings evidence remains partial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4827793"/>
            <a:ext cx="10616184" cy="129868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Form 13F snapshot exists, but its holding rows are unavailable [S3]. Why it matters: Concentration cannot be interpreted from the summary alone. Uncertainty: Form 13F coverage…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OPEN EVIDENCE GAPS DEFINE THE NEXT DILIGENCE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Monitoring, findings &amp; DDQ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EVENT TIMELINE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673352"/>
            <a:ext cx="22860" cy="2756153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1824228" y="1837944"/>
            <a:ext cx="128016" cy="128016"/>
          </a:xfrm>
          <a:prstGeom prst="ellipse">
            <a:avLst/>
          </a:prstGeom>
          <a:solidFill>
            <a:srgbClr val="0D111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1673352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2026-08-14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673352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snapshot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1938528"/>
            <a:ext cx="9491472" cy="47773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available lagged holdings evidence [S3].</a:t>
            </a:r>
          </a:p>
        </p:txBody>
      </p:sp>
      <p:sp>
        <p:nvSpPr>
          <p:cNvPr id="15" name="Oval 14"/>
          <p:cNvSpPr/>
          <p:nvPr/>
        </p:nvSpPr>
        <p:spPr>
          <a:xfrm>
            <a:off x="1824228" y="2756662"/>
            <a:ext cx="128016" cy="128016"/>
          </a:xfrm>
          <a:prstGeom prst="ellipse">
            <a:avLst/>
          </a:prstGeom>
          <a:solidFill>
            <a:srgbClr val="C6F4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2592070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592070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ADV profile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2857246"/>
            <a:ext cx="9491472" cy="47773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validated adviser filing evidence [S1].</a:t>
            </a:r>
          </a:p>
        </p:txBody>
      </p:sp>
      <p:sp>
        <p:nvSpPr>
          <p:cNvPr id="19" name="Oval 18"/>
          <p:cNvSpPr/>
          <p:nvPr/>
        </p:nvSpPr>
        <p:spPr>
          <a:xfrm>
            <a:off x="1824228" y="3675379"/>
            <a:ext cx="128016" cy="128016"/>
          </a:xfrm>
          <a:prstGeom prst="ellipse">
            <a:avLst/>
          </a:prstGeom>
          <a:solidFill>
            <a:srgbClr val="F2A9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3510788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510788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and fund events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3775964"/>
            <a:ext cx="9491472" cy="47773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Event publication is not yet available in the reviewed evidence [S2].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75810"/>
            <a:ext cx="10908792" cy="6858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40080" y="4575810"/>
            <a:ext cx="54864" cy="6858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804671" y="468553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" y="496900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monitoring details were not included in the reviewed evidence [S2].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Event coverage limits the monitoring conclusion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Three filing dates are known, but firm and fund events are unavailable [S1] [S2] [S3]. Why it matters: A quiet timeline cannot be inferred from missing publication…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questions &amp; open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3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follow-up questions are included in this review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981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4953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53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'not_run', 'status': 'not_run'}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sha256:273814b06d98b1737c111b83024663b8e8600d4b69330958b9c6b9c61b827814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53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get_manager_monitor_evidence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sha256:2bdcc27a6e4cd1e329899b4d04e170b5c8d8495ae3ac85508662595e0ddba249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53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13F snapshot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sha256:b978ab9ea42f3266f45899cd2105866e57f56016496c2bd775d7260eab4fd245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9979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92400"/>
            <a:ext cx="10908792" cy="23255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Method: the ODD signal applies the governed Item 11, finding, alert, ownership-change and cohort-percentile rules to available evidence; unavailable evidence degrades completeness rather than becoming zero [S1] [S2]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ADV is adviser-reported. Gradient cohort percentiles describe positioning, not quality or performance. Form 13F is firm-level, lagged and partial [S1]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sample report is a diligence aid, not investment, legal or compliance advice. No hire, fire, redemption, termination or allocation recommendation is made.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Ridgeview Advisors, LP</dc:title>
  <dc:subject>Operational Due Diligence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