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ns0:presentation xmlns:a="http://schemas.openxmlformats.org/drawingml/2006/main" xmlns:ns0="http://schemas.openxmlformats.org/presentationml/2006/main" xmlns:ns1="http://schemas.openxmlformats.org/officeDocument/2006/relationships" saveSubsetFonts="1" autoCompressPictures="0">
  <ns0:sldMasterIdLst>
    <ns0:sldMasterId id="2147483648" ns1:id="rId1"/>
  </ns0:sldMasterIdLst>
  <ns0:sldIdLst>
    <ns0:sldId id="256" ns1:id="rId7"/>
    <ns0:sldId id="257" ns1:id="rId8"/>
    <ns0:sldId id="258" ns1:id="rId9"/>
    <ns0:sldId id="259" ns1:id="rId10"/>
    <ns0:sldId id="260" ns1:id="rId11"/>
    <ns0:sldId id="261" ns1:id="rId12"/>
    <ns0:sldId id="262" ns1:id="rId13"/>
    <ns0:sldId id="263" ns1:id="rId14"/>
    <ns0:sldId id="264" ns1:id="rId15"/>
    <ns0:sldId id="265" ns1:id="rId16"/>
    <ns0:sldId id="266" ns1:id="rId17"/>
    <ns0:sldId id="267" ns1:id="rId18"/>
    <ns0:sldId id="268" ns1:id="rId19"/>
    <ns0:sldId id="269" ns1:id="rId20"/>
  </ns0:sldIdLst>
  <ns0:sldSz cx="12191695" cy="6858000" type="screen16x9"/>
  <ns0:notesSz cx="6858000" cy="9144000"/>
  <ns0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ns0:defaultTextStyle>
</ns0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notesMaster" Target="notesMasters/notesMaster1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Pooled vehicles</c:v>
                </c:pt>
              </c:strCache>
            </c:strRef>
          </c:tx>
          <c:spPr>
            <a:solidFill>
              <a:srgbClr val="0D1117"/>
            </a:solidFill>
          </c:spPr>
          <c:cat>
            <c:strRef>
              <c:f>Sheet1!$A$2:$A$2</c:f>
              <c:strCache>
                <c:ptCount val="1"/>
                <c:pt idx="0">
                  <c:v>Client assets</c:v>
                </c:pt>
              </c:strCache>
            </c:strRef>
          </c:cat>
          <c:val>
            <c:numRef>
              <c:f>Sheet1!$B$2:$B$2</c:f>
              <c:numCache>
                <c:formatCode>General</c:formatCode>
                <c:ptCount val="1"/>
                <c:pt idx="0">
                  <c:v>114.73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Other</c:v>
                </c:pt>
              </c:strCache>
            </c:strRef>
          </c:tx>
          <c:spPr>
            <a:solidFill>
              <a:srgbClr val="7FA600"/>
            </a:solidFill>
          </c:spPr>
          <c:cat>
            <c:strRef>
              <c:f>Sheet1!$A$2:$A$2</c:f>
              <c:strCache>
                <c:ptCount val="1"/>
                <c:pt idx="0">
                  <c:v>Client assets</c:v>
                </c:pt>
              </c:strCache>
            </c:strRef>
          </c:cat>
          <c:val>
            <c:numRef>
              <c:f>Sheet1!$C$2:$C$2</c:f>
              <c:numCache>
                <c:formatCode>General</c:formatCode>
                <c:ptCount val="1"/>
                <c:pt idx="0">
                  <c:v>12.6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Sovereign</c:v>
                </c:pt>
              </c:strCache>
            </c:strRef>
          </c:tx>
          <c:spPr>
            <a:solidFill>
              <a:srgbClr val="F2A93B"/>
            </a:solidFill>
          </c:spPr>
          <c:cat>
            <c:strRef>
              <c:f>Sheet1!$A$2:$A$2</c:f>
              <c:strCache>
                <c:ptCount val="1"/>
                <c:pt idx="0">
                  <c:v>Client assets</c:v>
                </c:pt>
              </c:strCache>
            </c:strRef>
          </c:cat>
          <c:val>
            <c:numRef>
              <c:f>Sheet1!$D$2:$D$2</c:f>
              <c:numCache>
                <c:formatCode>General</c:formatCode>
                <c:ptCount val="1"/>
                <c:pt idx="0">
                  <c:v>8.85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State &amp; municipal</c:v>
                </c:pt>
              </c:strCache>
            </c:strRef>
          </c:tx>
          <c:spPr>
            <a:solidFill>
              <a:srgbClr val="5B8DEF"/>
            </a:solidFill>
          </c:spPr>
          <c:cat>
            <c:strRef>
              <c:f>Sheet1!$A$2:$A$2</c:f>
              <c:strCache>
                <c:ptCount val="1"/>
                <c:pt idx="0">
                  <c:v>Client assets</c:v>
                </c:pt>
              </c:strCache>
            </c:strRef>
          </c:cat>
          <c:val>
            <c:numRef>
              <c:f>Sheet1!$E$2:$E$2</c:f>
              <c:numCache>
                <c:formatCode>General</c:formatCode>
                <c:ptCount val="1"/>
                <c:pt idx="0">
                  <c:v>7.96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Pension plans</c:v>
                </c:pt>
              </c:strCache>
            </c:strRef>
          </c:tx>
          <c:spPr>
            <a:solidFill>
              <a:srgbClr val="FF6B5E"/>
            </a:solidFill>
          </c:spPr>
          <c:cat>
            <c:strRef>
              <c:f>Sheet1!$A$2:$A$2</c:f>
              <c:strCache>
                <c:ptCount val="1"/>
                <c:pt idx="0">
                  <c:v>Client assets</c:v>
                </c:pt>
              </c:strCache>
            </c:strRef>
          </c:cat>
          <c:val>
            <c:numRef>
              <c:f>Sheet1!$F$2:$F$2</c:f>
              <c:numCache>
                <c:formatCode>General</c:formatCode>
                <c:ptCount val="1"/>
                <c:pt idx="0">
                  <c:v>5.32</c:v>
                </c:pt>
              </c:numCache>
            </c:numRef>
          </c:val>
        </c:ser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spPr>
            <a:solidFill>
              <a:srgbClr val="0D1117"/>
            </a:solidFill>
          </c:spPr>
          <c:dPt>
            <c:idx val="0"/>
            <c:spPr>
              <a:solidFill>
                <a:srgbClr val="C6F432"/>
              </a:solidFill>
            </c:spPr>
          </c:dPt>
          <c:dPt>
            <c:idx val="1"/>
            <c:spPr>
              <a:solidFill>
                <a:srgbClr val="C6F432"/>
              </a:solidFill>
            </c:spPr>
          </c:dPt>
          <c:dPt>
            <c:idx val="2"/>
            <c:spPr>
              <a:solidFill>
                <a:srgbClr val="C6F432"/>
              </a:solidFill>
            </c:spPr>
          </c:dPt>
          <c:dPt>
            <c:idx val="3"/>
            <c:spPr>
              <a:solidFill>
                <a:srgbClr val="C6F432"/>
              </a:solidFill>
            </c:spPr>
          </c:dPt>
          <c:dPt>
            <c:idx val="4"/>
            <c:spPr>
              <a:solidFill>
                <a:srgbClr val="C6F432"/>
              </a:solidFill>
            </c:spPr>
          </c:dPt>
          <c:dPt>
            <c:idx val="5"/>
            <c:spPr>
              <a:solidFill>
                <a:srgbClr val="C6F432"/>
              </a:solidFill>
            </c:spPr>
          </c:dPt>
          <c:dPt>
            <c:idx val="6"/>
            <c:spPr>
              <a:solidFill>
                <a:srgbClr val="C6F432"/>
              </a:solidFill>
            </c:spPr>
          </c:dPt>
          <c:dLbls>
            <c:dLbl>
              <c:idx val="0"/>
              <c:tx>
                <c:rich>
                  <a:bodyPr/>
                  <a:lstStyle/>
                  <a:p>
                    <a:r>
                      <a:rPr lang="en-US" sz="800"/>
                      <a:t>$589M</a:t>
                    </a:r>
                  </a:p>
                </c:rich>
              </c:tx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/>
                  <a:lstStyle/>
                  <a:p>
                    <a:r>
                      <a:rPr lang="en-US" sz="800"/>
                      <a:t>100%</a:t>
                    </a:r>
                  </a:p>
                </c:rich>
              </c:tx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/>
                  <a:lstStyle/>
                  <a:p>
                    <a:r>
                      <a:rPr lang="en-US" sz="800"/>
                      <a:t>0</a:t>
                    </a:r>
                  </a:p>
                </c:rich>
              </c:tx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tx>
                <c:rich>
                  <a:bodyPr/>
                  <a:lstStyle/>
                  <a:p>
                    <a:r>
                      <a:rPr lang="en-US" sz="800"/>
                      <a:t>84.7%</a:t>
                    </a:r>
                  </a:p>
                </c:rich>
              </c:tx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tx>
                <c:rich>
                  <a:bodyPr/>
                  <a:lstStyle/>
                  <a:p>
                    <a:r>
                      <a:rPr lang="en-US" sz="800"/>
                      <a:t>84.5%</a:t>
                    </a:r>
                  </a:p>
                </c:rich>
              </c:tx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tx>
                <c:rich>
                  <a:bodyPr/>
                  <a:lstStyle/>
                  <a:p>
                    <a:r>
                      <a:rPr lang="en-US" sz="800"/>
                      <a:t>$132M</a:t>
                    </a:r>
                  </a:p>
                </c:rich>
              </c:tx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6"/>
              <c:tx>
                <c:rich>
                  <a:bodyPr/>
                  <a:lstStyle/>
                  <a:p>
                    <a:r>
                      <a:rPr lang="en-US" sz="800"/>
                      <a:t>0.60</a:t>
                    </a:r>
                  </a:p>
                </c:rich>
              </c:tx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Pos val="outEnd"/>
            <c:showLegendKey val="0"/>
            <c:showVal val="0"/>
            <c:showCatName val="0"/>
            <c:showSerName val="0"/>
            <c:showPercent val="0"/>
            <c:showBubbleSize val="0"/>
          </c:dLbls>
          <c:cat>
            <c:strRef>
              <c:f>Sheet1!$A$2:$A$8</c:f>
              <c:strCache>
                <c:ptCount val="7"/>
                <c:pt idx="0">
                  <c:v>AUM per adviser rep</c:v>
                </c:pt>
                <c:pt idx="1">
                  <c:v>Discretionary share</c:v>
                </c:pt>
                <c:pt idx="2">
                  <c:v>Disclosure flag load</c:v>
                </c:pt>
                <c:pt idx="3">
                  <c:v>Custody asset share</c:v>
                </c:pt>
                <c:pt idx="4">
                  <c:v>Private fund share</c:v>
                </c:pt>
                <c:pt idx="5">
                  <c:v>AUM per employee</c:v>
                </c:pt>
                <c:pt idx="6">
                  <c:v>Client HHI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62.59</c:v>
                </c:pt>
                <c:pt idx="1">
                  <c:v>63.8</c:v>
                </c:pt>
                <c:pt idx="2">
                  <c:v>39.86</c:v>
                </c:pt>
                <c:pt idx="3">
                  <c:v>36.23</c:v>
                </c:pt>
                <c:pt idx="4">
                  <c:v>31.92</c:v>
                </c:pt>
                <c:pt idx="5">
                  <c:v>23.63</c:v>
                </c:pt>
                <c:pt idx="6">
                  <c:v>9.8</c:v>
                </c:pt>
              </c:numCache>
            </c:numRef>
          </c:val>
        </c:ser>
        <c:dLbls>
          <c:txPr>
            <a:bodyPr/>
            <a:lstStyle/>
            <a:p>
              <a:pPr>
                <a:defRPr sz="8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Analysis — Scale frames the operating review</a:t>
            </a:r>
          </a:p>
          <a:p>
            <a:r>
              <a:t>Observation: The adviser reports $12.4B of RAUM and 38 private funds [S1]. Why it matters: Scale raises the importance of ownership and provider controls. Uncertainty: The public sample omits detailed owner records. What would change the view: Corroborated ownership records changing the control assessment.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Analysis — Regulatory detail remains an evidence gap</a:t>
            </a:r>
          </a:p>
          <a:p>
            <a:r>
              <a:t>Observation: Zero detailed conflict or custody rows are available in the reviewed evidence [S1]. Why it matters: The signal cannot be read as a clean bill of health. Uncertainty: Missing rows may contain neutral or adverse items. What would change the view: A complete validated ADV response set.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Analysis — Percentiles do not close gaps</a:t>
            </a:r>
          </a:p>
          <a:p>
            <a:r>
              <a:t>Observation: No pillar reaches the 75th percentile, while events remain unavailable [S1]. Why it matters: Moderate peer positioning does not override unresolved findings. Uncertainty: Gradient-selected cohort coverage may not represent every comparable adviser. What would change the view: Refreshed results above the 75th percentile or new findings.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Analysis — Fund operations are not yet corroborated</a:t>
            </a:r>
          </a:p>
          <a:p>
            <a:r>
              <a:t>Observation: Zero fund-level provider records appear in the reviewed evidence [S1]. Why it matters: Independence among operating parties cannot yet be assessed. Uncertainty: Missing provider coverage is not affirmative adverse evidence. What would change the view: Validated records naming the administrator, auditor and custodian.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Analysis — Holdings evidence remains partial</a:t>
            </a:r>
          </a:p>
          <a:p>
            <a:r>
              <a:t>Observation: One Form 13F snapshot exists, but its holding rows are unavailable [S3]. Why it matters: Concentration cannot be interpreted from the summary alone. Uncertainty: Form 13F coverage is lagged and partial. What would change the view: Complete holding records plus successful identity reconciliation.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Analysis — Event coverage limits the monitoring conclusion</a:t>
            </a:r>
          </a:p>
          <a:p>
            <a:r>
              <a:t>Observation: Three filing dates are known, but firm and fund events are unavailable [S1] [S2] [S3]. Why it matters: A quiet timeline cannot be inferred from missing publication. Uncertainty: Unpublished event coverage may conceal immaterial or significant changes. What would change the view: Complete event records plus validated open findings.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Cov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Section divi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xhibi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-u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Appendix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Relationship Id="rId3" Type="http://schemas.openxmlformats.org/officeDocument/2006/relationships/notesSlide" Target="../notesSlides/notesSlide3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Oval 2"/>
          <p:cNvSpPr/>
          <p:nvPr/>
        </p:nvSpPr>
        <p:spPr>
          <a:xfrm>
            <a:off x="9372600" y="164592"/>
            <a:ext cx="2514600" cy="2514600"/>
          </a:xfrm>
          <a:prstGeom prst="ellipse">
            <a:avLst/>
          </a:prstGeom>
          <a:solidFill>
            <a:srgbClr val="161C24"/>
          </a:solidFill>
          <a:ln>
            <a:solidFill>
              <a:srgbClr val="161C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685800" y="457200"/>
            <a:ext cx="4754880" cy="32004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200" b="1">
                <a:solidFill>
                  <a:srgbClr val="FFFFFF"/>
                </a:solidFill>
                <a:latin typeface="Inter"/>
              </a:defRPr>
            </a:pPr>
            <a:r>
              <a:rPr>
                <a:latin typeface="Inter"/>
              </a:rPr>
              <a:t>GradientCIO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664208"/>
            <a:ext cx="9966960" cy="27432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850" b="1">
                <a:solidFill>
                  <a:srgbClr val="C6F432"/>
                </a:solidFill>
                <a:latin typeface="Inter"/>
              </a:defRPr>
            </a:pPr>
            <a:r>
              <a:rPr>
                <a:latin typeface="Inter"/>
              </a:rPr>
              <a:t>OPERATIONAL DUE DILIGENCE REPORT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2011680"/>
            <a:ext cx="9966960" cy="123444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3300" b="1">
                <a:solidFill>
                  <a:srgbClr val="FFFFFF"/>
                </a:solidFill>
                <a:latin typeface="Inter"/>
              </a:defRPr>
            </a:pPr>
            <a:r>
              <a:rPr>
                <a:latin typeface="Inter"/>
              </a:rPr>
              <a:t>Ridgeview Advisors, LP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273552"/>
            <a:ext cx="9692640" cy="59436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9AA5B1"/>
                </a:solidFill>
                <a:latin typeface="Inter"/>
              </a:defRPr>
            </a:pPr>
            <a:r>
              <a:rPr>
                <a:latin typeface="Inter"/>
              </a:rPr>
              <a:t>Operational due diligence review · SEC-registered adviser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4005072"/>
            <a:ext cx="822960" cy="45720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85800" y="4315968"/>
            <a:ext cx="470916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1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ADVISER CRD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4507992"/>
            <a:ext cx="4709160" cy="310896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FFFFFF"/>
                </a:solidFill>
                <a:latin typeface="Inter"/>
              </a:defRPr>
            </a:pPr>
            <a:r>
              <a:rPr>
                <a:latin typeface="Inter"/>
              </a:rPr>
              <a:t>999901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52160" y="4315968"/>
            <a:ext cx="470916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1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REGULATORY AUM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52160" y="4507992"/>
            <a:ext cx="4709160" cy="310896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FFFFFF"/>
                </a:solidFill>
                <a:latin typeface="Inter"/>
              </a:defRPr>
            </a:pPr>
            <a:r>
              <a:rPr>
                <a:latin typeface="Inter"/>
              </a:rPr>
              <a:t>$12.40B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4937759"/>
            <a:ext cx="470916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1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FORM ADV REPORT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5129783"/>
            <a:ext cx="4709160" cy="310896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FFFFFF"/>
                </a:solidFill>
                <a:latin typeface="Inter"/>
              </a:defRPr>
            </a:pPr>
            <a:r>
              <a:rPr>
                <a:latin typeface="Inter"/>
              </a:rPr>
              <a:t>2026-10-01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852160" y="4937759"/>
            <a:ext cx="470916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1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REPORT DATE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852160" y="5129783"/>
            <a:ext cx="4709160" cy="310896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FFFFFF"/>
                </a:solidFill>
                <a:latin typeface="Inter"/>
              </a:defRPr>
            </a:pPr>
            <a:r>
              <a:rPr>
                <a:latin typeface="Inter"/>
              </a:rPr>
              <a:t>2026-10-04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6400800"/>
            <a:ext cx="80467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operational due diligence review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6556248"/>
            <a:ext cx="8046720" cy="128016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Illustrative sample · not client data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778240" y="6473952"/>
            <a:ext cx="274320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70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GradientCIO.com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PUBLIC SAMPLE OF THE SHARED RENDERER WITH ODD BLOCKS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Executive summary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399032"/>
            <a:ext cx="73152" cy="1109837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896112" y="1371600"/>
            <a:ext cx="10588752" cy="728561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No operational flags in the filings reviewed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2691749"/>
            <a:ext cx="10908792" cy="1453721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Rectangle 10"/>
          <p:cNvSpPr/>
          <p:nvPr/>
        </p:nvSpPr>
        <p:spPr>
          <a:xfrm>
            <a:off x="640080" y="2691749"/>
            <a:ext cx="54864" cy="1453721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2" name="TextBox 11"/>
          <p:cNvSpPr txBox="1"/>
          <p:nvPr/>
        </p:nvSpPr>
        <p:spPr>
          <a:xfrm>
            <a:off x="804671" y="2801477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Bottom line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1" y="3084941"/>
            <a:ext cx="10616184" cy="969089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Ridgeview reports $12.40B regulatory AUM, 38 private funds and no Item 11 disclosures [S1]. No cohort metric is in the top quartile; the highest is AUM per adviser representative at the 62.6th percentile [S1]. Firm events are not yet published, so completeness is degraded and this is not a clean bill of health.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4255199"/>
            <a:ext cx="2644902" cy="1962720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5" name="Rectangle 14"/>
          <p:cNvSpPr/>
          <p:nvPr/>
        </p:nvSpPr>
        <p:spPr>
          <a:xfrm>
            <a:off x="640080" y="4255199"/>
            <a:ext cx="2644902" cy="45720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749808" y="4383215"/>
            <a:ext cx="2425446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REGULATORY AUM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9808" y="4639247"/>
            <a:ext cx="2425446" cy="47548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$12.4B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9808" y="5888736"/>
            <a:ext cx="2425446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Item 5.F [S1]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394710" y="4255199"/>
            <a:ext cx="2644902" cy="1962720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0" name="Rectangle 19"/>
          <p:cNvSpPr/>
          <p:nvPr/>
        </p:nvSpPr>
        <p:spPr>
          <a:xfrm>
            <a:off x="3394710" y="4255199"/>
            <a:ext cx="2644902" cy="45720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1" name="TextBox 20"/>
          <p:cNvSpPr txBox="1"/>
          <p:nvPr/>
        </p:nvSpPr>
        <p:spPr>
          <a:xfrm>
            <a:off x="3504438" y="4383215"/>
            <a:ext cx="2425446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PRIVATE FUNDS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504438" y="4639247"/>
            <a:ext cx="2425446" cy="47548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38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504438" y="5888736"/>
            <a:ext cx="2425446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Schedule D 7.B.1 [S1]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149340" y="4255199"/>
            <a:ext cx="2644902" cy="1962720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5" name="Rectangle 24"/>
          <p:cNvSpPr/>
          <p:nvPr/>
        </p:nvSpPr>
        <p:spPr>
          <a:xfrm>
            <a:off x="6149340" y="4255199"/>
            <a:ext cx="2644902" cy="45720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6" name="TextBox 25"/>
          <p:cNvSpPr txBox="1"/>
          <p:nvPr/>
        </p:nvSpPr>
        <p:spPr>
          <a:xfrm>
            <a:off x="6259068" y="4383215"/>
            <a:ext cx="2425446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ITEM 11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59068" y="4639247"/>
            <a:ext cx="2425446" cy="47548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59068" y="5888736"/>
            <a:ext cx="2425446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Disciplinary disclosures [S1]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903970" y="4255199"/>
            <a:ext cx="2644902" cy="1962720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0" name="Rectangle 29"/>
          <p:cNvSpPr/>
          <p:nvPr/>
        </p:nvSpPr>
        <p:spPr>
          <a:xfrm>
            <a:off x="8903970" y="4255199"/>
            <a:ext cx="2644902" cy="45720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1" name="TextBox 30"/>
          <p:cNvSpPr txBox="1"/>
          <p:nvPr/>
        </p:nvSpPr>
        <p:spPr>
          <a:xfrm>
            <a:off x="9013698" y="4383215"/>
            <a:ext cx="2425446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COMPOSITE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013698" y="4639247"/>
            <a:ext cx="2425446" cy="47548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32.4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013698" y="5888736"/>
            <a:ext cx="2425446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Gradient risk profile [S1]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5" name="TextBox 34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operational due diligence review · Data as of 2026-10-01 (Form ADV); 2026-08-14 (Form 13F)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PUBLIC SAMPLE OF THE SHARED RENDERER WITH ODD BLOCKS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Executive summary — continued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EVIDENCE COVERAGE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40080" y="1600200"/>
          <a:ext cx="10908792" cy="25180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4448556"/>
                <a:gridCol w="4448556"/>
              </a:tblGrid>
              <a:tr h="503612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Source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Status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Note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503612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Form ADV profile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Available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Report 2026-10-01 [S1]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503612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Manager Monitor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Available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Aligned, 0 alerts [S2]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503612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Firm &amp; fund events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6B5E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Not available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Event publication not ready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503612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Form 13F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Available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Q2 2026 filing [S3]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640080" y="4227988"/>
            <a:ext cx="10908792" cy="940101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Rectangle 10"/>
          <p:cNvSpPr/>
          <p:nvPr/>
        </p:nvSpPr>
        <p:spPr>
          <a:xfrm>
            <a:off x="640080" y="4227988"/>
            <a:ext cx="54864" cy="940101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2" name="TextBox 11"/>
          <p:cNvSpPr txBox="1"/>
          <p:nvPr/>
        </p:nvSpPr>
        <p:spPr>
          <a:xfrm>
            <a:off x="804671" y="4337716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Key judgment — Operational flags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1" y="4621180"/>
            <a:ext cx="10616184" cy="455469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Observation: The filings reviewed show no operational flags [S1]. Why it matters: Nothing in the regulatory record blocks the diligence from proceeding. Uncertainty: Areas the filings do not cover are listed under evidence coverage. What would change the view: Firm events or audit findings in those areas.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5277818"/>
            <a:ext cx="10908792" cy="940101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5" name="Rectangle 14"/>
          <p:cNvSpPr/>
          <p:nvPr/>
        </p:nvSpPr>
        <p:spPr>
          <a:xfrm>
            <a:off x="640080" y="5277818"/>
            <a:ext cx="54864" cy="940101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804671" y="5387546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Key judgment — Firm scale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4671" y="5671010"/>
            <a:ext cx="10616184" cy="455469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Observation: The adviser reports $12.4B of regulatory assets under management [S2]. Why it matters: Scale supports the custody, audit and compliance infrastructure expected for the mandate. Uncertainty: The figure is as of the latest Form ADV. What would change the view: A material change in the next annual amendment.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9" name="TextBox 18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 · S2 · S3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operational due diligence review · Data as of 2026-10-01 (Form ADV); 2026-08-14 (Form 13F)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PUBLIC SAMPLE OF THE SHARED RENDERER WITH ODD BLOCKS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Executive summary — continued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325880"/>
            <a:ext cx="10908792" cy="4892040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9" name="Rectangle 8"/>
          <p:cNvSpPr/>
          <p:nvPr/>
        </p:nvSpPr>
        <p:spPr>
          <a:xfrm>
            <a:off x="640080" y="1325880"/>
            <a:ext cx="54864" cy="4892040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804671" y="1435607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Key judgment — Operational score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1" y="1719072"/>
            <a:ext cx="10616184" cy="440740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Observation: The composite operational score is 32.4 [S3]. Why it matters: It sets the baseline for the next review of this manager. Uncertainty: The score covers only the evidence areas returned. What would change the view: New firm events or filings that move the score.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3" name="TextBox 12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operational due diligence review · Data as of 2026-10-01 (Form ADV); 2026-08-14 (Form 13F)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FORM ADV PART 1A, REPORT 2026-10-01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Firm profile &amp; ownership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02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325880"/>
            <a:ext cx="2644902" cy="4892040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9" name="Rectangle 8"/>
          <p:cNvSpPr/>
          <p:nvPr/>
        </p:nvSpPr>
        <p:spPr>
          <a:xfrm>
            <a:off x="640080" y="1325880"/>
            <a:ext cx="2644902" cy="45720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749808" y="1453895"/>
            <a:ext cx="2425446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REGULATORY AUM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8" y="1709928"/>
            <a:ext cx="2425446" cy="47548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$12.4B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8" y="5888736"/>
            <a:ext cx="2425446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Item 5.F [S1]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394710" y="1325880"/>
            <a:ext cx="2644902" cy="4892040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4" name="Rectangle 13"/>
          <p:cNvSpPr/>
          <p:nvPr/>
        </p:nvSpPr>
        <p:spPr>
          <a:xfrm>
            <a:off x="3394710" y="1325880"/>
            <a:ext cx="2644902" cy="45720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3504438" y="1453895"/>
            <a:ext cx="2425446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CLIENTS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04438" y="1709928"/>
            <a:ext cx="2425446" cy="47548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133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04438" y="5888736"/>
            <a:ext cx="2425446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ADV profile [S1]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49340" y="1325880"/>
            <a:ext cx="2644902" cy="4892040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9" name="Rectangle 18"/>
          <p:cNvSpPr/>
          <p:nvPr/>
        </p:nvSpPr>
        <p:spPr>
          <a:xfrm>
            <a:off x="6149340" y="1325880"/>
            <a:ext cx="2644902" cy="45720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0" name="TextBox 19"/>
          <p:cNvSpPr txBox="1"/>
          <p:nvPr/>
        </p:nvSpPr>
        <p:spPr>
          <a:xfrm>
            <a:off x="6259068" y="1453895"/>
            <a:ext cx="2425446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EMPLOYEES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59068" y="1709928"/>
            <a:ext cx="2425446" cy="47548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1,135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59068" y="5888736"/>
            <a:ext cx="2425446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ADV profile [S1]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903970" y="1325880"/>
            <a:ext cx="2644902" cy="4892040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4" name="Rectangle 23"/>
          <p:cNvSpPr/>
          <p:nvPr/>
        </p:nvSpPr>
        <p:spPr>
          <a:xfrm>
            <a:off x="8903970" y="1325880"/>
            <a:ext cx="2644902" cy="45720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5" name="TextBox 24"/>
          <p:cNvSpPr txBox="1"/>
          <p:nvPr/>
        </p:nvSpPr>
        <p:spPr>
          <a:xfrm>
            <a:off x="9013698" y="1453895"/>
            <a:ext cx="2425446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PRIVATE FUNDS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013698" y="1709928"/>
            <a:ext cx="2425446" cy="47548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38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013698" y="5888736"/>
            <a:ext cx="2425446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Schedule D [S1]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9" name="TextBox 28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operational due diligence review · Data as of 2026-10-01 (Form ADV); 2026-08-14 (Form 13F)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FORM ADV PART 1A, REPORT 2026-10-01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Firm profile &amp; ownership — continued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523951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IDENTITY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40080" y="1600200"/>
          <a:ext cx="5239512" cy="4617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19756"/>
                <a:gridCol w="2619756"/>
              </a:tblGrid>
              <a:tr h="115443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Legal name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Ridgeview Advisors, LP [S1]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115443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Employees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1,135 [S1]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115443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Accounts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133 [S1]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115443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Custody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$127.22B [S1]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6080760" y="1325880"/>
            <a:ext cx="9144" cy="4892040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309360" y="1325880"/>
            <a:ext cx="523951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REPORTED CLIENT MIX ($B)</a:t>
            </a:r>
          </a:p>
        </p:txBody>
      </p:sp>
      <p:graphicFrame>
        <p:nvGraphicFramePr>
          <p:cNvPr id="12" name="Chart 11"/>
          <p:cNvGraphicFramePr>
            <a:graphicFrameLocks noGrp="1"/>
          </p:cNvGraphicFramePr>
          <p:nvPr/>
        </p:nvGraphicFramePr>
        <p:xfrm>
          <a:off x="6309360" y="1600200"/>
          <a:ext cx="5239512" cy="4617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3" name="Rectangle 12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4" name="TextBox 13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operational due diligence review · Data as of 2026-10-01 (Form ADV); 2026-08-14 (Form 13F)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FORM ADV PART 1A, REPORT 2026-10-01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Firm profile &amp; ownership — continued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02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325880"/>
            <a:ext cx="10908792" cy="4892040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9" name="Rectangle 8"/>
          <p:cNvSpPr/>
          <p:nvPr/>
        </p:nvSpPr>
        <p:spPr>
          <a:xfrm>
            <a:off x="640080" y="1325880"/>
            <a:ext cx="54864" cy="4892040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804671" y="1435607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Analysis — Scale frames the operating review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1" y="1719072"/>
            <a:ext cx="10616184" cy="440740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Observation: The adviser reports $12.4B of RAUM and 38 private funds [S1]. Why it matters: Scale raises the importance of ownership and provider controls. Uncertainty: The public sample…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3" name="TextBox 12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operational due diligence review · Data as of 2026-10-01 (Form ADV); 2026-08-14 (Form 13F)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THE FILING EVIDENCE IDENTIFIES CUSTODY AND CONFLICT ITEMS FOR REVIEW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Regulatory, conflicts &amp; custody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03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325880"/>
            <a:ext cx="10908792" cy="1557527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9" name="Rectangle 8"/>
          <p:cNvSpPr/>
          <p:nvPr/>
        </p:nvSpPr>
        <p:spPr>
          <a:xfrm>
            <a:off x="640080" y="1325880"/>
            <a:ext cx="54864" cy="1557527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804671" y="1435607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Regulatory evidence unavailable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1" y="1719072"/>
            <a:ext cx="10616184" cy="1072895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Not available — the reviewed evidence does not include detailed regulatory rows [S1].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2993136"/>
            <a:ext cx="10908792" cy="1557527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3" name="Rectangle 12"/>
          <p:cNvSpPr/>
          <p:nvPr/>
        </p:nvSpPr>
        <p:spPr>
          <a:xfrm>
            <a:off x="640080" y="2993136"/>
            <a:ext cx="54864" cy="1557527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4" name="TextBox 13"/>
          <p:cNvSpPr txBox="1"/>
          <p:nvPr/>
        </p:nvSpPr>
        <p:spPr>
          <a:xfrm>
            <a:off x="804671" y="3102864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Not available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4671" y="3386328"/>
            <a:ext cx="10616184" cy="1072895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Regulatory detail was not included in the reviewed evidence [S1].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" y="4660392"/>
            <a:ext cx="10908792" cy="1557527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7" name="Rectangle 16"/>
          <p:cNvSpPr/>
          <p:nvPr/>
        </p:nvSpPr>
        <p:spPr>
          <a:xfrm>
            <a:off x="640080" y="4660392"/>
            <a:ext cx="54864" cy="1557527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8" name="TextBox 17"/>
          <p:cNvSpPr txBox="1"/>
          <p:nvPr/>
        </p:nvSpPr>
        <p:spPr>
          <a:xfrm>
            <a:off x="804671" y="4770120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Analysis — Regulatory detail remains an evidence gap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4671" y="5053584"/>
            <a:ext cx="10616184" cy="1072896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Observation: Zero detailed conflict or custody rows are available in the reviewed evidence [S1]. Why it matters: The signal cannot be read as a clean bill of health…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1" name="TextBox 20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operational due diligence review · Data as of 2026-10-01 (Form ADV); 2026-08-14 (Form 13F)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GRADIENT COHORT ANALYTICS · 587 ADVISERS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Peer positioning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04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640080" y="1325880"/>
          <a:ext cx="10908792" cy="3935729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Rectangle 8"/>
          <p:cNvSpPr/>
          <p:nvPr/>
        </p:nvSpPr>
        <p:spPr>
          <a:xfrm>
            <a:off x="640080" y="5371338"/>
            <a:ext cx="10908792" cy="846582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0" name="Rectangle 9"/>
          <p:cNvSpPr/>
          <p:nvPr/>
        </p:nvSpPr>
        <p:spPr>
          <a:xfrm>
            <a:off x="640080" y="5371338"/>
            <a:ext cx="54864" cy="846582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804671" y="5481066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Analysis — Percentiles do not close gaps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1" y="5764530"/>
            <a:ext cx="10616184" cy="36195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Observation: No pillar reaches the 75th percentile, while events remain unavailable [S1]. Why it matters: Moderate peer positioning does not override unresolved findings. Uncertainty: Gradient-selected cohort coverage may…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4" name="TextBox 13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operational due diligence review · Data as of 2026-10-01 (Form ADV); 2026-08-14 (Form 13F)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SERVICE-PROVIDER EVIDENCE REMAINS INCOMPLETE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Fund operations &amp; service providers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05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325880"/>
            <a:ext cx="10908792" cy="1444632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9" name="Rectangle 8"/>
          <p:cNvSpPr/>
          <p:nvPr/>
        </p:nvSpPr>
        <p:spPr>
          <a:xfrm>
            <a:off x="640080" y="1325880"/>
            <a:ext cx="54864" cy="1444632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804671" y="1435607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Service-provider evidence unavailable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1" y="1719072"/>
            <a:ext cx="10616184" cy="9600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Not available — the reviewed evidence does not include administrator, auditor or custodian rows [S1].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2880240"/>
            <a:ext cx="10908792" cy="1444632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3" name="Rectangle 12"/>
          <p:cNvSpPr/>
          <p:nvPr/>
        </p:nvSpPr>
        <p:spPr>
          <a:xfrm>
            <a:off x="640080" y="2880240"/>
            <a:ext cx="54864" cy="1444632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4" name="TextBox 13"/>
          <p:cNvSpPr txBox="1"/>
          <p:nvPr/>
        </p:nvSpPr>
        <p:spPr>
          <a:xfrm>
            <a:off x="804671" y="2989968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Not available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4671" y="3273432"/>
            <a:ext cx="10616184" cy="9600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Fund-operations detail was not included in the reviewed evidence [S1].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" y="4434601"/>
            <a:ext cx="10908792" cy="1783318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7" name="Rectangle 16"/>
          <p:cNvSpPr/>
          <p:nvPr/>
        </p:nvSpPr>
        <p:spPr>
          <a:xfrm>
            <a:off x="640080" y="4434601"/>
            <a:ext cx="54864" cy="1783318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8" name="TextBox 17"/>
          <p:cNvSpPr txBox="1"/>
          <p:nvPr/>
        </p:nvSpPr>
        <p:spPr>
          <a:xfrm>
            <a:off x="804671" y="4544329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Analysis — Fund operations are not yet corroborated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4671" y="4827793"/>
            <a:ext cx="10616184" cy="1298686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Observation: Zero fund-level provider records appear in the reviewed evidence [S1]. Why it matters: Independence among operating parties cannot yet be assessed. Uncertainty: Missing provider coverage is not…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1" name="TextBox 20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operational due diligence review · Data as of 2026-10-01 (Form ADV); 2026-08-14 (Form 13F)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LAGGED HOLDINGS PROVIDE A PARTIAL CONCENTRATION LENS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Reported equity holdings (Form 13F)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06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325880"/>
            <a:ext cx="10908792" cy="1444632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9" name="Rectangle 8"/>
          <p:cNvSpPr/>
          <p:nvPr/>
        </p:nvSpPr>
        <p:spPr>
          <a:xfrm>
            <a:off x="640080" y="1325880"/>
            <a:ext cx="54864" cy="1444632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804671" y="1435607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Holding rows unavailable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1" y="1719072"/>
            <a:ext cx="10616184" cy="9600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Not available — the governed Form 13F snapshot is present, but its holding rows are unavailable [S3].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2880240"/>
            <a:ext cx="10908792" cy="1444632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3" name="Rectangle 12"/>
          <p:cNvSpPr/>
          <p:nvPr/>
        </p:nvSpPr>
        <p:spPr>
          <a:xfrm>
            <a:off x="640080" y="2880240"/>
            <a:ext cx="54864" cy="1444632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4" name="TextBox 13"/>
          <p:cNvSpPr txBox="1"/>
          <p:nvPr/>
        </p:nvSpPr>
        <p:spPr>
          <a:xfrm>
            <a:off x="804671" y="2989968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Not available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4671" y="3273432"/>
            <a:ext cx="10616184" cy="9600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Holding rows were not included in the reviewed evidence [S3].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" y="4434601"/>
            <a:ext cx="10908792" cy="1783318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7" name="Rectangle 16"/>
          <p:cNvSpPr/>
          <p:nvPr/>
        </p:nvSpPr>
        <p:spPr>
          <a:xfrm>
            <a:off x="640080" y="4434601"/>
            <a:ext cx="54864" cy="178331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8" name="TextBox 17"/>
          <p:cNvSpPr txBox="1"/>
          <p:nvPr/>
        </p:nvSpPr>
        <p:spPr>
          <a:xfrm>
            <a:off x="804671" y="4544329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Analysis — Holdings evidence remains partial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4671" y="4827793"/>
            <a:ext cx="10616184" cy="1298686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Observation: One Form 13F snapshot exists, but its holding rows are unavailable [S3]. Why it matters: Concentration cannot be interpreted from the summary alone. Uncertainty: Form 13F coverage…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1" name="TextBox 20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operational due diligence review · Data as of 2026-10-01 (Form ADV); 2026-08-14 (Form 13F)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OPEN EVIDENCE GAPS DEFINE THE NEXT DILIGENCE WORK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Monitoring, findings &amp; DDQ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GOVERNED EVENT TIMELINE</a:t>
            </a:r>
          </a:p>
        </p:txBody>
      </p:sp>
      <p:sp>
        <p:nvSpPr>
          <p:cNvPr id="9" name="Rectangle 8"/>
          <p:cNvSpPr/>
          <p:nvPr/>
        </p:nvSpPr>
        <p:spPr>
          <a:xfrm>
            <a:off x="1874519" y="1673352"/>
            <a:ext cx="22860" cy="2756153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0" name="Oval 9"/>
          <p:cNvSpPr/>
          <p:nvPr/>
        </p:nvSpPr>
        <p:spPr>
          <a:xfrm>
            <a:off x="1824228" y="1837944"/>
            <a:ext cx="128016" cy="128016"/>
          </a:xfrm>
          <a:prstGeom prst="ellipse">
            <a:avLst/>
          </a:prstGeom>
          <a:solidFill>
            <a:srgbClr val="0D1117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40080" y="1673352"/>
            <a:ext cx="1106424" cy="27432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75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2026-08-14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57400" y="1673352"/>
            <a:ext cx="9491472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Form 13F snapshot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057400" y="1938528"/>
            <a:ext cx="9491472" cy="477733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8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Latest available lagged holdings evidence [S3].</a:t>
            </a:r>
          </a:p>
        </p:txBody>
      </p:sp>
      <p:sp>
        <p:nvSpPr>
          <p:cNvPr id="14" name="Oval 13"/>
          <p:cNvSpPr/>
          <p:nvPr/>
        </p:nvSpPr>
        <p:spPr>
          <a:xfrm>
            <a:off x="1824228" y="2756662"/>
            <a:ext cx="128016" cy="128016"/>
          </a:xfrm>
          <a:prstGeom prst="ellipse">
            <a:avLst/>
          </a:prstGeom>
          <a:solidFill>
            <a:srgbClr val="C6F432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640080" y="2592070"/>
            <a:ext cx="1106424" cy="27432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75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2026-10-01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057400" y="2592070"/>
            <a:ext cx="9491472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Form ADV profile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57400" y="2857246"/>
            <a:ext cx="9491472" cy="477733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8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Latest validated adviser filing evidence [S1].</a:t>
            </a:r>
          </a:p>
        </p:txBody>
      </p:sp>
      <p:sp>
        <p:nvSpPr>
          <p:cNvPr id="18" name="Oval 17"/>
          <p:cNvSpPr/>
          <p:nvPr/>
        </p:nvSpPr>
        <p:spPr>
          <a:xfrm>
            <a:off x="1824228" y="3675379"/>
            <a:ext cx="128016" cy="128016"/>
          </a:xfrm>
          <a:prstGeom prst="ellipse">
            <a:avLst/>
          </a:prstGeom>
          <a:solidFill>
            <a:srgbClr val="F2A93B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9" name="TextBox 18"/>
          <p:cNvSpPr txBox="1"/>
          <p:nvPr/>
        </p:nvSpPr>
        <p:spPr>
          <a:xfrm>
            <a:off x="640080" y="3510788"/>
            <a:ext cx="1106424" cy="27432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75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Not available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057400" y="3510788"/>
            <a:ext cx="9491472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Firm and fund events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057400" y="3775964"/>
            <a:ext cx="9491472" cy="477733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8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Event publication is not yet available in the reviewed evidence [S2].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40080" y="4575810"/>
            <a:ext cx="10908792" cy="685800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3" name="Rectangle 22"/>
          <p:cNvSpPr/>
          <p:nvPr/>
        </p:nvSpPr>
        <p:spPr>
          <a:xfrm>
            <a:off x="640080" y="4575810"/>
            <a:ext cx="54864" cy="685800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4" name="TextBox 23"/>
          <p:cNvSpPr txBox="1"/>
          <p:nvPr/>
        </p:nvSpPr>
        <p:spPr>
          <a:xfrm>
            <a:off x="804671" y="4685538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Not available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4671" y="4969001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Monitoring details were not included in the reviewed evidence [S2].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40080" y="5371338"/>
            <a:ext cx="10908792" cy="846582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7" name="Rectangle 26"/>
          <p:cNvSpPr/>
          <p:nvPr/>
        </p:nvSpPr>
        <p:spPr>
          <a:xfrm>
            <a:off x="640080" y="5371338"/>
            <a:ext cx="54864" cy="846582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8" name="TextBox 27"/>
          <p:cNvSpPr txBox="1"/>
          <p:nvPr/>
        </p:nvSpPr>
        <p:spPr>
          <a:xfrm>
            <a:off x="804671" y="5481066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Analysis — Event coverage limits the monitoring conclusion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04671" y="5764530"/>
            <a:ext cx="10616184" cy="36195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Observation: Three filing dates are known, but firm and fund events are unavailable [S1] [S2] [S3]. Why it matters: A quiet timeline cannot be inferred from missing publication…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1" name="TextBox 30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 · S2 · S3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operational due diligence review · Data as of 2026-10-01 (Form ADV); 2026-08-14 (Form 13F)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Follow-up questions &amp; open items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5" name="Rectangle 4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08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08792" cy="4892039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8" name="Rectangle 7"/>
          <p:cNvSpPr/>
          <p:nvPr/>
        </p:nvSpPr>
        <p:spPr>
          <a:xfrm>
            <a:off x="640080" y="1325880"/>
            <a:ext cx="54864" cy="4892039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804671" y="1435607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Not available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71" y="1719072"/>
            <a:ext cx="10616184" cy="4407407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No follow-up questions are included in this review [S1].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2" name="TextBox 11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operational due diligence review · Data as of 2026-10-01 (Form ADV); 2026-08-14 (Form 13F)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Appendix — Sources and methods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5" name="Rectangle 4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9AA5B1"/>
          </a:solidFill>
          <a:ln>
            <a:solidFill>
              <a:srgbClr val="9AA5B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SOURCES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1600200"/>
          <a:ext cx="10908792" cy="111028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224278"/>
                <a:gridCol w="2224278"/>
                <a:gridCol w="2224278"/>
                <a:gridCol w="2224278"/>
              </a:tblGrid>
              <a:tr h="277570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Tag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Evidence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Source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As of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Check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277570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Form ADV profile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get_manager_odd_profile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2026-10-01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9AA5B1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Not checked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277570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S2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Manager Monitor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get_manager_monitor_evidence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2026-10-01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Passed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277573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Form 13F snapshot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get_firm_13f_portfolio_review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2026-08-14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Passed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40080" y="2728771"/>
            <a:ext cx="10908792" cy="16459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8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managers. All organizations, portfolios, managers and results in this public example are illustrative.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021379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SOURCE AUDIT TRAIL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640080" y="3295699"/>
          <a:ext cx="10908792" cy="111028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8897112"/>
              </a:tblGrid>
              <a:tr h="277570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Tag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Digest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27757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sha256:273814b06d98b1737c111b83024663b8e8600d4b69330958b9c6b9c61b827814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27757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S2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sha256:2bdcc27a6e4cd1e329899b4d04e170b5c8d8495ae3ac85508662595e0ddba249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277573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sha256:b978ab9ea42f3266f45899cd2105866e57f56016496c2bd775d7260eab4fd245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640080" y="4424271"/>
            <a:ext cx="10908792" cy="16459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8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Data scope for every source: Illustrative sample data. Each digest is the SHA-256 fingerprint of the exact data the report used.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4716879"/>
            <a:ext cx="10908792" cy="150104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50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•  Method: the ODD signal applies the governed Item 11, finding, alert, ownership-change and cohort-percentile rules to available evidence; unavailable evidence degrades completeness rather than becoming zero [S1] [S2] [S3].</a:t>
            </a:r>
          </a:p>
          <a:p>
            <a:pPr algn="l">
              <a:spcAft>
                <a:spcPts val="50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•  Form ADV is adviser-reported. Gradient cohort percentiles describe positioning, not quality or performance. Form 13F is firm-level, lagged and partial [S1] [S3].</a:t>
            </a:r>
          </a:p>
          <a:p>
            <a:pPr algn="l">
              <a:spcAft>
                <a:spcPts val="50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•  This sample report is a diligence aid, not investment, legal or compliance advice. No hire, fire, redemption, termination or allocation recommendation is made.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 · S2 · S3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operational due diligence review · Data as of 2026-10-01 (Form ADV); 2026-08-14 (Form 13F)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14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D1117"/>
      </a:dk1>
      <a:lt1>
        <a:srgbClr val="FFFFFF"/>
      </a:lt1>
      <a:dk2>
        <a:srgbClr val="161C24"/>
      </a:dk2>
      <a:lt2>
        <a:srgbClr val="F5F7F9"/>
      </a:lt2>
      <a:accent1>
        <a:srgbClr val="C6F432"/>
      </a:accent1>
      <a:accent2>
        <a:srgbClr val="4F6B00"/>
      </a:accent2>
      <a:accent3>
        <a:srgbClr val="F2A93B"/>
      </a:accent3>
      <a:accent4>
        <a:srgbClr val="5B8DEF"/>
      </a:accent4>
      <a:accent5>
        <a:srgbClr val="FF6B5E"/>
      </a:accent5>
      <a:accent6>
        <a:srgbClr val="3FB8AF"/>
      </a:accent6>
      <a:hlink>
        <a:srgbClr val="0000FF"/>
      </a:hlink>
      <a:folHlink>
        <a:srgbClr val="800080"/>
      </a:folHlink>
    </a:clrScheme>
    <a:fontScheme name="Office">
      <a:majorFont>
        <a:latin typeface="Inter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Inter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Ridgeview Advisors, LP</dc:title>
  <dc:subject>Operational Due Diligence</dc:subject>
  <dc:creator>GradientCIO</dc:creator>
  <cp:keywords>Gradient report theme 2.3.0</cp:keywords>
  <dc:description>generated using python-pptx</dc:description>
  <cp:lastModifiedBy>GradientCIO</cp:lastModifiedBy>
  <cp:revision>1</cp:revision>
  <dcterms:created xsi:type="dcterms:W3CDTF">2020-01-01T00:00:00Z</dcterms:created>
  <dcterms:modified xsi:type="dcterms:W3CDTF">2020-01-01T00:00:00Z</dcterms:modified>
  <cp:category/>
</cp:coreProperties>
</file>