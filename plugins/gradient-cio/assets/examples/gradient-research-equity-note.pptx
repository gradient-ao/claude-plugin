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2022-12-31</c:v>
                </c:pt>
                <c:pt idx="1">
                  <c:v>2023-12-31</c:v>
                </c:pt>
                <c:pt idx="2">
                  <c:v>2024-12-31</c:v>
                </c:pt>
                <c:pt idx="3">
                  <c:v>2025-12-31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10.7</c:v>
                </c:pt>
                <c:pt idx="2">
                  <c:v>11.68</c:v>
                </c:pt>
                <c:pt idx="3">
                  <c:v>12.4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15.9</c:v>
                </c:pt>
                <c:pt idx="2">
                  <c:v>16.1</c:v>
                </c:pt>
                <c:pt idx="3">
                  <c:v>14.8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Prior period</c:v>
                </c:pt>
                <c:pt idx="1">
                  <c:v>Latest period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3.09</c:v>
                </c:pt>
                <c:pt idx="1">
                  <c:v>3.21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EXIC</c:v>
                </c:pt>
                <c:pt idx="1">
                  <c:v>PEER1</c:v>
                </c:pt>
                <c:pt idx="2">
                  <c:v>PEER2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5.1</c:v>
                </c:pt>
                <c:pt idx="1">
                  <c:v>9.8</c:v>
                </c:pt>
                <c:pt idx="2">
                  <c:v>7.2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Evidenced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Sheet1!$A$2:$A$4</c:f>
              <c:strCache>
                <c:ptCount val="3"/>
                <c:pt idx="0">
                  <c:v>Rivalry</c:v>
                </c:pt>
                <c:pt idx="1">
                  <c:v>Supplier power</c:v>
                </c:pt>
                <c:pt idx="2">
                  <c:v>Buyer power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Sheet1!$A$2:$A$4</c:f>
              <c:strCache>
                <c:ptCount val="3"/>
                <c:pt idx="0">
                  <c:v>Rivalry</c:v>
                </c:pt>
                <c:pt idx="1">
                  <c:v>Supplier power</c:v>
                </c:pt>
                <c:pt idx="2">
                  <c:v>Buyer power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Filer ownership</c:v>
                </c:pt>
                <c:pt idx="1">
                  <c:v>Median holder weight</c:v>
                </c:pt>
                <c:pt idx="2">
                  <c:v>Consensus percentile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62.1</c:v>
                </c:pt>
                <c:pt idx="1">
                  <c:v>0.84</c:v>
                </c:pt>
                <c:pt idx="2">
                  <c:v>44.0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Growth with margin pressure</a:t>
            </a:r>
          </a:p>
          <a:p>
            <a:r>
              <a:t>Observation: FY2025 revenue rose 6.2% while operating margin fell to 14.8% [S1]. Why it matters: Growth did not translate into stable operating profitability. Uncertainty: Annual statement coverage does not isolate margin drivers. What would change the view: Later filed statements showing measurable margin stabilization.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New passages merit review</a:t>
            </a:r>
          </a:p>
          <a:p>
            <a:r>
              <a:t>Observation: The 2026-08-05 10-Q added three passages and removed none [S3]. Why it matters: New language can identify changed disclosure emphasis. Uncertainty: Passage-count coverage does not measure the filing's economic impact. What would change the view: A later filing removing or quantifying the added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Supplier risk is newest</a:t>
            </a:r>
          </a:p>
          <a:p>
            <a:r>
              <a:t>Observation: One newest retrieved finding concerns single-source suppliers [S6]. Why it matters: That dependency can interrupt product shipment continuity. Uncertainty: The filing omits quantified probability and financial impact. What would change the view: Later filings documenting diversification or quantified supplier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Revenue advanced modestly</a:t>
            </a:r>
          </a:p>
          <a:p>
            <a:r>
              <a:t>Observation: Quarterly revenue rose 4.0% to $3.21B [S8]. Why it matters: The release confirms continued top-line growth. Uncertainty: Extracted release coverage omits guidance changes and one-time items. What would change the view: A later report showing a materially different revenue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Cash margin trails peers</a:t>
            </a:r>
          </a:p>
          <a:p>
            <a:r>
              <a:t>Observation: EXIC's 5.1% FY2025 free-cash-flow margin ranks third among three issuers [S4]. Why it matters: Cash conversion differs across the confirmed comparison set. Uncertainty: The comparison is dated 2026-08-05 and some metrics are incomparable. What would change the view: Period-aligned peer filings reporting a different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Supplier dependence leads disclosures</a:t>
            </a:r>
          </a:p>
          <a:p>
            <a:r>
              <a:t>Observation: Supplier concentration is evidenced while buyer power is not retrieved [S7]. Why it matters: Disclosed dependency can constrain operating resilience. Uncertainty: Filing coverage omits probability and quantified loss estimates. What would change the view: Later filings documenting diversification or quantified supplier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Broad ownership lacks direction</a:t>
            </a:r>
          </a:p>
          <a:p>
            <a:r>
              <a:t>Observation: 18 of 29 filers report the issuer, but it is absent from building and unwinding panels [S9]. Why it matters: Ownership breadth alone does not establish momentum. Uncertainty: Form 13F records are delayed and omit shorts. What would change the view: Refreshed panel results showing a sustained build or unwind.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EQUITY RESEARCH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Example Industrial Corp.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EXIC · Example Exchange · Industrial machinery · FY ends 12-31 · RENDER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0000000000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LATEST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10-Q, 2026-08-05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FISCAL YEAR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Example Allocator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REPORT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 items to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10 · Degraded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239512" cy="270165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70165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4946904" cy="22170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Example Industrial reported FY2025 revenue of $12.40B, up 6.2% year over year, with operating margin of 14.8% versus 16.1% a year earlier [S1]. Capital expenditures rose 58.0% to $1.32B while free cash flow margin fell to 5.1% [S1][S2], and the latest 10-Q added 3 risk-factor passages [S3]. 18 of 29 cohort hedge funds held the stock at 2026-06-30 [S9]. Sector signal context was unavailable, so completeness is degraded.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REVENUE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FY2025 vs FY2024, 10-K [S1]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7389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1977389" y="4137262"/>
            <a:ext cx="122758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087117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OPERATING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7117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117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16.1% prior year [S1]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4700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3314700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42442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NET DEBT / 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442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1.9x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42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FY2025 [S1]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52009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4652009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76173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FILING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173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10-Q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173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Filed 2026-08-05 [S5]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Unsupported block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Block type 'two_col' is not available in PowerPoint.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S5 · S9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197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FY2025 10-K facts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 ranked changes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 changes (10-Q vs 10-Q)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input missing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peers, some metrics incomparable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findings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Industry 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of 5 forces evidenced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Earnings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8-K 2026-07-30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Hedge-fund crowding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panel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Sector equity signal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equity_signal_stale_contributors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Roster holdings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CUSIP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S6 · S7 · S8 ·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63983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63983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1551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fictional TEST report carries a 2 items to review signal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75438"/>
            <a:ext cx="10908792" cy="14721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075438"/>
            <a:ext cx="54864" cy="14721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18516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468630"/>
            <a:ext cx="10616184" cy="987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Revenue growth is +6.2% in the TEST evidence [S2]. Why it matters: This measure establishes the baseline for comparing later governed results. Uncertainty: The source basis may omit newer observations outside this fixture. What would change the view: A refreshed source report showing a change above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57286"/>
            <a:ext cx="10908792" cy="15606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657286"/>
            <a:ext cx="54864" cy="156063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7670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050478"/>
            <a:ext cx="10616184" cy="10760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Latest filing is 10-Q in the TEST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REVENUE GROWTH CONTINUED WHILE OPERATING MARGIN DECLINED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Fundamentals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REVENUE (USD BILLIONS)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REVENUE GROWTH CONTINUED WHILE OPERATING MARGIN DECLINED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Fundamentals trend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ANNUAL CHANGES (FY2025 VS FY2024, 10-K)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360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FY2025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FY2024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$11.68B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Operating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$1.84B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$1.88B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Operating cash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$1.95B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Capital expenditures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$1.32B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$0.84B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+58.0%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Diluted 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All values as first filed; no revisions or amendments flagged [S1].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REVENUE GROWTH CONTINUED WHILE OPERATING MARGIN DECLINED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Fundamentals trend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OPERATING MARGIN BY FISCAL YEAR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CASH AND CAPITAL ALLOCATION (FY2025)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Free cash flow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Earnings cash conversion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1.24x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Dividends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$0.31B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Repurchases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$0.22B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Liabilities /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1.42x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REVENUE GROWTH CONTINUED WHILE OPERATING MARGIN DECLINED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Fundamentals trend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Growth with margin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FY2025 revenue rose 6.2% while operating margin fell to 14.8% [S1]. Why it matters: Growth did not translate into stable operating profitability. Uncertainty: Annual statement coverage does…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LATEST QUARTERLY FILING ADDED THREE DISCLOSURE PASSAGES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Filing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FILING-CHANGE INTENSITY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539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Removed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10-Q 2026-08-05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factors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5F6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LATEST QUARTERLY FILING ADDED THREE DISCLOSURE PASSAGES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Filing changes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10-Q VS PRIOR 10-Q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542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7121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 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Passages added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Passages removed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712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2026-05-06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160919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Counts of disclosure passages from the filing diff 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53527"/>
            <a:ext cx="10908792" cy="27643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453527"/>
            <a:ext cx="54864" cy="276439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56325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New passages merit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46719"/>
            <a:ext cx="10616184" cy="22797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2026-08-05 10-Q added three passages and removed none [S3]. Why it matters: New language can identify changed disclosure emphasis. Uncertainty: Passage-count coverage does not measure the…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SUPPLIER DEPENDENCE IS THE NEWEST RETRIEVED RISK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RETRIEVED RISK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57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2621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62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Supply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"Disruptions at single-source suppliers could delay shipments." — 10-Q filed 2026-08-05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2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Competitive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"We face competition from larger, diversified manufacturers." — 10-K filed 2026-02-20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8857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RISK-FACTOR FINDINGS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562893"/>
          <a:ext cx="10908792" cy="90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0193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 language (excerpt)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Freshness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193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Supply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"Disruptions at single-source suppliers could delay shipments."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10-Q 2026-08-05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193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Competitive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"We face competition from larger, diversified manufacturers."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10-K 2026-02-20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48699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Fictional sample sentences [S6].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79603"/>
            <a:ext cx="10908792" cy="14383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779603"/>
            <a:ext cx="54864" cy="143831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488933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Supplier risk is newest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172795"/>
            <a:ext cx="10616184" cy="9536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newest retrieved finding concerns single-source suppliers [S6]. Why it matters: That dependency can interrupt product shipment continuity. Uncertainty: The filing omits quantified probability and financial impact…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QUARTERLY REVENUE INCREASED FOUR PERCENT VERSUS THE PRIOR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Latest earnings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QUARTERLY REVENUE VERSUS PRIOR PERIOD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QUARTERLY REVENUE INCREASED FOUR PERCENT VERSUS THE PRIOR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Latest earnings release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1860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6202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2026-07-30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02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2.02, 9.01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202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Guidance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None extracted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296436"/>
            <a:ext cx="10908792" cy="145784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Quarterly revenue $3.21B, up 4.0% (GAAP) [S8]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One-time item: none returned [S8]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64010"/>
            <a:ext cx="10908792" cy="135390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864010"/>
            <a:ext cx="54864" cy="135390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97373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Revenue advanced modestly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257202"/>
            <a:ext cx="10616184" cy="8692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Quarterly revenue rose 4.0% to $3.21B [S8]. Why it matters: The release confirms continued top-line growth. Uncertainty: Extracted release coverage omits guidance changes and one-time items. What…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FREE-CASH-FLOW MARGIN TRAILS THE TWO CONFIRMED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Peers and dated valuation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FY2025 FREE-CASH-FLOW MARGIN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FREE-CASH-FLOW MARGIN TRAILS THE TWO CONFIRMED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Peers and dated valuation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0" cy="2414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0373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PEER1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PEER2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median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EXIC rank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373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Gross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73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FCF margin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0373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debt /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2.6x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59107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Annual periods ending 2025-12-31 [S4]. Rank 1 = most favourable per rank_direction.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51715"/>
            <a:ext cx="10908792" cy="21662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051715"/>
            <a:ext cx="54864" cy="21662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1614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Cash margin trails peers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44907"/>
            <a:ext cx="10616184" cy="16815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EXIC's 5.1% FY2025 free-cash-flow margin ranks third among three issuers [S4]. Why it matters: Cash conversion differs across the confirmed comparison set. Uncertainty: The comparison is dated…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RETRIEVED DISCLOSURES EMPHASIZE RIVALRY AND SUPPLIER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Industry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INDUSTRY EVIDENCE COVERAGE BY FORCE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RETRIEVED DISCLOSURES EMPHASIZE RIVALRY AND SUPPLIER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Industry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INDUSTRY STRUCTURE (DISCLOSURE EVIDENCE)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714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2853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853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Rivalry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Competition disclosure in Item 1A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853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Supplier power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Single-source supplier disclosure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85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Buyer power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matching sentence retrieved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missing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24086"/>
            <a:ext cx="10908792" cy="101323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24086"/>
            <a:ext cx="54864" cy="101323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338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How to read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17278"/>
            <a:ext cx="10616184" cy="52860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Filing sentences are issuer disclosures, not measurements of industry force strength or moat durability [S7].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47052"/>
            <a:ext cx="10908792" cy="16708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547052"/>
            <a:ext cx="54864" cy="167086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6567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Supplier dependence leads disclosures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940244"/>
            <a:ext cx="10616184" cy="11862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Supplier concentration is evidenced while buyer power is not retrieved [S7]. Why it matters: Disclosed dependency can constrain operating resilience. Uncertainty: Filing coverage omits probability and quantified…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COHORT OWNERSHIP IS BROAD BUT THE DIRECTIONAL PANELS ARE 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Positioning and crowding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CROWDING MEASURES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COHORT OWNERSHIP IS BROAD BUT THE DIRECTIONAL PANELS ARE 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Positioning and crowding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EXIC IN THE CROWDING PANELS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985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4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Consensus rank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 of 25 shown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4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 of 29 filers (62.1%)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4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Median weight (holders)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0.84%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4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Building / unwinding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in either top-25 panel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695889"/>
            <a:ext cx="10908792" cy="94671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695889"/>
            <a:ext cx="54864" cy="94671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80561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How to read 13F crowding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089081"/>
            <a:ext cx="10616184" cy="46208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13F filings are delayed (49 days at the report date), cover long U.S.-listed positions only, omit shorts and most non-U.S. exposure, and do not show intent [S9].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52332"/>
            <a:ext cx="10908792" cy="14655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752332"/>
            <a:ext cx="54864" cy="146558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8620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Broad ownership lacks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145524"/>
            <a:ext cx="10616184" cy="9809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18 of 29 filers report the issuer, but it is absent from building and unwinding panels [S9]. Why it matters: Ownership breadth alone does not establish momentum…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ROSTER MATCHING WAS NOT RUN WITHOUT AN ISSUER CUSIP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Roster 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Roster holders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issuer CUSIP was returned, so roster holdings were not checked. This bounded miss is not evidence that no rostered manager holds the issuer.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6177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 / 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aa11bb22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 / change_report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cc33dd44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 /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ee55ff66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fundamentals / peer_comparison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2026-08-05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11223344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 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filing_evidence / filings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55667788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filing_evidence / risk_findings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99aabbcc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Industry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filing_evidence / industry_structure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ddeeff00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Earnings release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filing_evidence / earnings_release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2026-07-30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0a1b2c3d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Hedge-fund crowding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market_positioning / hedge_fund_crowding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4e5f6a7b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 and method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188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9612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method /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61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debt /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get_public_equity_fundamentals.leverage_metric; preserve returned formula_id, formula_version, period_basis, units and source facts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1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Liabilities /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get_public_equity_change_report.leverage_metric; preserve returned formula_id, formula_version, period_basis, units and source facts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98306"/>
            <a:ext cx="10908792" cy="14626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Review flags: elevated = negative annual operating income or OCF, revised or amended facts, net debt / EBITDA ≥ 3.0x, or filed impairment / restatement / going-concern items; watch = revenue down, operating margin down ≥ 2.0 pts, capex up ≥ 50% with FCF margin down, risk passages added or removed, or ≥ 50% cohort holder share; clear = none; insufficient = fundamentals unavailable.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Sector mapping is SEC SIC to a Gradient sector, not GICS.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70732"/>
            <a:ext cx="10908792" cy="17471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470732"/>
            <a:ext cx="54864" cy="174718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5804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Disclaimer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863924"/>
            <a:ext cx="10616184" cy="12625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note summarizes public SEC filings and Gradient-normalized data as of the dates shown. It is not investment, legal, tax or accounting advice, not a recommendation to buy, sell or hold any security, and contains no price target or rating. Filed figures are issuer-reported; Form 13F data is delayed and incomplete. Verify against the source filings before relying on any figure.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fictional issuer and figures · Not investment advice · Data as of 2026-08-05 (10-Q); 2026-08-14 (Form 13F)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Industrial Corp. (TEST)</dc:title>
  <dc:subject>Equity Research Note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