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Listed real estate</c:v>
                </c:pt>
                <c:pt idx="1">
                  <c:v>Listed infrastructure</c:v>
                </c:pt>
                <c:pt idx="2">
                  <c:v>Private real estate</c:v>
                </c:pt>
                <c:pt idx="3">
                  <c:v>Private infrastructure</c:v>
                </c:pt>
                <c:pt idx="4">
                  <c:v>Natural resources</c:v>
                </c:pt>
                <c:pt idx="5">
                  <c:v>Commodity securities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50000000.0</c:v>
                </c:pt>
                <c:pt idx="1">
                  <c:v>30000000.0</c:v>
                </c:pt>
                <c:pt idx="2">
                  <c:v>30000000.0</c:v>
                </c:pt>
                <c:pt idx="3">
                  <c:v>25000000.0</c:v>
                </c:pt>
                <c:pt idx="4">
                  <c:v>10000000.0</c:v>
                </c:pt>
                <c:pt idx="5">
                  <c:v>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Listed real estate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Listed infrastructure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3.0</c:v>
                </c:pt>
                <c:pt idx="1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real estate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Private infrastructure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2.5</c:v>
                </c:pt>
                <c:pt idx="1">
                  <c:v>3.0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Natural resources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1.0</c:v>
                </c:pt>
                <c:pt idx="1">
                  <c:v>1.5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Commodity securities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0.12</c:v>
                </c:pt>
                <c:pt idx="1">
                  <c:v>0.36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Growth</c:v>
                </c:pt>
                <c:pt idx="1">
                  <c:v>Inflation</c:v>
                </c:pt>
                <c:pt idx="2">
                  <c:v>Rates</c:v>
                </c:pt>
                <c:pt idx="3">
                  <c:v>Commodity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</c:v>
                </c:pt>
                <c:pt idx="1">
                  <c:v>0.32</c:v>
                </c:pt>
                <c:pt idx="2">
                  <c:v>-0.18</c:v>
                </c:pt>
                <c:pt idx="3">
                  <c:v>0.11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14.2%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Real estate</c:v>
                </c:pt>
                <c:pt idx="1">
                  <c:v>Proposed ? 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6.9</c:v>
                </c:pt>
                <c:pt idx="1">
                  <c:v>14.2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2.0 percentage points from listed real estate toward infrastructure and natural resources [S3][S4]. Why it matters: The largest sub-segment declines under the proposed mix. Uncertainty: CMA, regime, findings, valuation and mapping coverage remain incomplete [S8]. What would change the view: Completed records showing no diversification improvement [S4][S8].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Context is not protection</a:t>
            </a:r>
          </a:p>
          <a:p>
            <a:r>
              <a:t>Observation: Two modeled exposures, inflation and commodities, are positive [S7]. Why it matters: These signals provide diversification context, not a guaranteed hedge. Uncertainty: Governed portfolio inflation sensitivity remains unavailable [S8]. What would change the view: Returned sensitivity results or mandate mappings contradicting both exposures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Infrastructure balances risk</a:t>
            </a:r>
          </a:p>
          <a:p>
            <a:r>
              <a:t>Observation: Infrastructure has lower expected volatility than real estate and natural resources in the selected assumptions [S6]. Why it matters: Its larger target role balances the broader mix. Uncertainty: Standalone governed mapping for commodity securities remains unavailable [S8]. What would change the view: Refreshed assumptions reversing the relative volatility results [S6][S8].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REAL ASSETS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Real Assets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03150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6831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Valuation lag and structure mix need monitoring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13415"/>
            <a:ext cx="10908792" cy="16544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13415"/>
            <a:ext cx="54864" cy="16544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23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006607"/>
            <a:ext cx="10616184" cy="1169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15.0% real-assets allocation while shifting 2.0 percentage points from listed real estate to infrastructure and natural resources across marketable and drawdown sleeves [S3][S4]. Committee action requested: approve the target structure and phased implementation, subject to valuation refresh, manager diligence and liquidity tests [S3][S7][S8].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15.0%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53.3% of real assets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2.8% of NAV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Near limit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valuation lag [S3][S4]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08799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shift from listed real estate to infrastructure and natural resources while holding the 15.0% total allocation.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440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18727"/>
          <a:ext cx="10908792" cy="1097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743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43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43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43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 and 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6.0% to 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725672"/>
            <a:ext cx="10908792" cy="6551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25672"/>
            <a:ext cx="54864" cy="6551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3540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18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Refresh private valuations, confirm the commodity and inflation-linked mandate mappings, and complete manager diligence before funding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90593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490593"/>
            <a:ext cx="54864" cy="80879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6003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Valuation 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883785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Valuation lag and the listed-versus-private mix both need monitoring [S1]. Why it matters: The 2.0pp shift to infrastructure and natural resources depends on current private marks. Uncertainty: Private valuations are reported with a lag. What would change the view: Refreshed marks that change the relative weights.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09120"/>
            <a:ext cx="10908792" cy="8087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5409120"/>
            <a:ext cx="54864" cy="8087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04671" y="5518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802312"/>
            <a:ext cx="10616184" cy="324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assets are 15.0% of total NAV [S2]. Why it matters: The proposal reshapes the sleeve without changing its total. Uncertainty: The weight moves with listed real estate prices. What would change the view: A drift of more than 1pp before funding.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S7 · S8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limit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real-assets allocation is near its policy limit [S3]. Why it matters: Funding must be staged so the sleeve stays inside its range. Uncertainty: The limit test uses lagged private valuations. What would change the view: A valuation refresh that moves the sleeve away from the limit.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Inflation Objective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 real-assets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Participate in inflation-sensitive cash flows without a guaranteed outcome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10.0%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most 90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ALLOCATION BY SUB-SEGMENT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7341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334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34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45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444083"/>
            <a:ext cx="10908792" cy="7738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exposures use returned market value; drawdown exposures use NAV. Unfunded commitments are shown separately and are not added to NAV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real estate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7806" y="1951146"/>
            <a:ext cx="2231745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4965039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3872026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infrastructure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7806" y="2874690"/>
            <a:ext cx="1673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3849166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429963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real estate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27806" y="3798234"/>
            <a:ext cx="1673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3849166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872026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infrastructure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27806" y="4721778"/>
            <a:ext cx="111587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3570198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872026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480413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Natural resources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1933" y="5645322"/>
            <a:ext cx="111587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Oval 26"/>
          <p:cNvSpPr/>
          <p:nvPr/>
        </p:nvSpPr>
        <p:spPr>
          <a:xfrm>
            <a:off x="2733294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3035122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7392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913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sub-segment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marketable infrastructure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while valuations refresh 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 after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132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sub-segment mix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32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Mandate-specific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pending mapping review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449177"/>
            <a:ext cx="10908792" cy="107724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49177"/>
            <a:ext cx="54864" cy="107724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589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42369"/>
            <a:ext cx="10616184" cy="59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2.0 percentage points from listed real estate toward infrastructure and natural resources [S3][S4]. Why it matters: The largest sub-segment declines under the proposed mix…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36149"/>
            <a:ext cx="10908792" cy="58177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304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8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8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real-assets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86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1453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88850"/>
          <a:ext cx="10908792" cy="2177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35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6081"/>
            <a:ext cx="10908792" cy="6418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INFLATION-SENSITIVITY 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HEADLINE INFLATION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2026-06-30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6002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EXPOSURE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RATES 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SENSITIVITY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governed result [S8]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REAL-ASSETS FACTORS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Indicator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/ sensitivity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Headline inflation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 year over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Energy positioning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long index at 58th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CFTC context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inflation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sensitivity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Context is not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modeled exposures, inflation and commodities, are positive [S7]. Why it matters: These signals provide diversification context, not a guaranteed hedge. Uncertainty: Governed portfolio inflation sensitivity remains…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and positioning evidence is context only; it does not establish inflation protection or explain portfolio performance [S5][S7].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test-ra-forward-2026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153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153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153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1535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Infrastructure balances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Infrastructure has lower expected volatility than real estate and natural resources in the selected assumptions [S6]. Why it matters: Its larger target role balances the broader mix…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63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0641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Mapping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64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64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Inflation-linked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348408"/>
            <a:ext cx="10908792" cy="8695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 REAL-ASSETS CALLS AND DISTRIBUTIONS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7,000,000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283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472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/ 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 unfunded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8270"/>
            <a:ext cx="10908792" cy="46725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 coverage metadata follow [S8].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15257"/>
          <a:ext cx="10908792" cy="2102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 of NAV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 of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 of NAV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0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liquidity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Fund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Real Estate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High findings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annual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Natural 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natural-resources manager requires comparison, operational diligence and performance-integrity review before funding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 6.2x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634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26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 to 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 and distributions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and valuation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natural resources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4459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18913"/>
          <a:ext cx="10908792" cy="1599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330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real-estate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structure objective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Drawdown-only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Potential long-duration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lock-up and pacing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balance preferred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 before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and linker mapping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IPS taxonomy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private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mandate mappings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IPS addendum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natural-resources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commitment-pacing include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valuation-age rules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value, NAV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classes and drawdown charts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and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Commodity, linker and shock mappings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 was skipped because peer allocation intelligence is not licensed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Real-assets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context and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0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commitments; 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581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6044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6044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604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 or NAV;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1258"/>
            <a:ext cx="10908792" cy="19266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 valuations may lag the report date [S4]; forward values are assumptions, not forecasts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Drawdown charts cover closed-end sleeves only [S6]; commodity and linker mappings were not provided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Strategy Lab results are calculated separately. AI-assisted;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Real Assets Portfolio</dc:title>
  <dc:subject>Real Assets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