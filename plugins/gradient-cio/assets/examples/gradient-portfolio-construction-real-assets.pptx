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</c:v>
                </c:pt>
                <c:pt idx="1">
                  <c:v>0.36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14.2%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Real estate</c:v>
                </c:pt>
                <c:pt idx="1">
                  <c:v>Proposed ? 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6.9</c:v>
                </c:pt>
                <c:pt idx="1">
                  <c:v>14.2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declines under the proposed mix. Uncertainty: CMA, regime, findings, valuation and mapping coverage remain incomplete [S8]. What would change the view: Completed records showing no diversification improvement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Two modeled exposures, inflation and commodities, are positive [S7]. Why it matters: These signals provide diversification context, not a guaranteed hedge. Uncertainty: Governed portfolio inflation sensitivity remains unavailable [S8]. What would change the view: Returned sensitivity results or mandate mappings contradicting both exposures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Standalone governed mapping for commodity securities remains unavailable [S8]. What would change the view: Refreshed assumptions reversing the relative volatility results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Real Assets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Valuation lag and structure mix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549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5491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645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15.0%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53.3% of real assets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2.8% of NAV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valuation lag [S3][S4]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779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77905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932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135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87833"/>
          <a:ext cx="10908792" cy="125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428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42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42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42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954698"/>
            <a:ext cx="10908792" cy="7803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954698"/>
            <a:ext cx="54864" cy="7803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644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347890"/>
            <a:ext cx="10616184" cy="2957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44786"/>
            <a:ext cx="10908792" cy="13731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844786"/>
            <a:ext cx="54864" cy="13731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9545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237978"/>
            <a:ext cx="10616184" cy="888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valuation-lag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041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0414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195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Real-assets weight is 15.0%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39749"/>
            <a:ext cx="10908792" cy="24781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39749"/>
            <a:ext cx="54864" cy="24781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49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32941"/>
            <a:ext cx="10616184" cy="19935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Inflation Objective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ALLOCATION BY SUB-SEGMENT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49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86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200406"/>
            <a:ext cx="10908792" cy="10175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real estate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9824" y="1951146"/>
            <a:ext cx="5779008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747504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880860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9824" y="2874690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858000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8325612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real estate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3798234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6858000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880860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infrastructure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9824" y="4721778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6135624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880860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Natural resources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645322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3968496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471373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254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220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964150"/>
            <a:ext cx="10908792" cy="14606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64150"/>
            <a:ext cx="54864" cy="14606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0738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57342"/>
            <a:ext cx="10616184" cy="9760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2.0 percentage points from listed real estate toward infrastructure and natural resources [S3][S4]. Why it matters: The largest sub-segment declines under the proposed mix…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34530"/>
            <a:ext cx="10908792" cy="6833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INFLATION-SENSITIVITY EVIDENCE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HEADLINE INFLATION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2026-06-30 [S7]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471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394710" y="16002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350443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14934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5906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RATES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397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890397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901369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SENSITIVITY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governed result [S8]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REAL-ASSETS FACTORS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24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11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11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34506"/>
            <a:ext cx="10908792" cy="17824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34506"/>
            <a:ext cx="54864" cy="17824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442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Context is not protection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27698"/>
            <a:ext cx="10616184" cy="1297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modeled exposures, inflation and commodities, are positive [S7]. Why it matters: These signals provide diversification context, not a guaranteed hedge. Uncertainty: Governed portfolio inflation sensitivity remains…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26691"/>
            <a:ext cx="10908792" cy="8912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723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723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Infrastructure balances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877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0795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282276"/>
          <a:ext cx="10908792" cy="2090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83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5482270"/>
            <a:ext cx="10908792" cy="7356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 REAL-ASSETS CALLS AND DISTRIBUTIONS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373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6220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083134"/>
            <a:ext cx="10908792" cy="11347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 coverage metadata follow 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Fund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Real Estate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Natural 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commitments pack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? Peer allocation context was skipped because peerIntelligence is not available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1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31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29504"/>
            <a:ext cx="10908792" cy="338841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real-assets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Commodity and inflation-linked CMA mappings are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Drawdown charts apply only to closed-end sleeves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</dc:title>
  <dc:subject>Real Assets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