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a="http://schemas.openxmlformats.org/drawingml/2006/main" xmlns:ns0="http://schemas.openxmlformats.org/presentationml/2006/main" xmlns:ns1="http://schemas.openxmlformats.org/officeDocument/2006/relationships" saveSubsetFonts="1" autoCompressPictures="0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  <ns0:sldId id="275" ns1:id="rId26"/>
    <ns0:sldId id="276" ns1:id="rId27"/>
    <ns0:sldId id="277" ns1:id="rId28"/>
    <ns0:sldId id="278" ns1:id="rId29"/>
    <ns0:sldId id="279" ns1:id="rId30"/>
    <ns0:sldId id="280" ns1:id="rId31"/>
    <ns0:sldId id="281" ns1:id="rId32"/>
    <ns0:sldId id="282" ns1:id="rId33"/>
    <ns0:sldId id="283" ns1:id="rId34"/>
    <ns0:sldId id="284" ns1:id="rId35"/>
    <ns0:sldId id="285" ns1:id="rId36"/>
    <ns0:sldId id="286" ns1:id="rId37"/>
    <ns0:sldId id="287" ns1:id="rId38"/>
  </ns0:sldIdLst>
  <ns0:sldSz cx="12191695" cy="6858000" type="screen16x9"/>
  <ns0:notesSz cx="6858000" cy="9144000"/>
  <ns0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dPt>
            <c:idx val="3"/>
            <c:spPr>
              <a:solidFill>
                <a:srgbClr val="C6F432"/>
              </a:solidFill>
            </c:spPr>
          </c:dPt>
          <c:dPt>
            <c:idx val="4"/>
            <c:spPr>
              <a:solidFill>
                <a:srgbClr val="C6F432"/>
              </a:solidFill>
            </c:spPr>
          </c:dPt>
          <c:dPt>
            <c:idx val="5"/>
            <c:spPr>
              <a:solidFill>
                <a:srgbClr val="C6F432"/>
              </a:solidFill>
            </c:spPr>
          </c:dPt>
          <c:cat>
            <c:strRef>
              <c:f>Sheet1!$A$2:$A$7</c:f>
              <c:strCache>
                <c:ptCount val="6"/>
                <c:pt idx="0">
                  <c:v>Listed real estate</c:v>
                </c:pt>
                <c:pt idx="1">
                  <c:v>Listed infrastructure</c:v>
                </c:pt>
                <c:pt idx="2">
                  <c:v>Private real estate</c:v>
                </c:pt>
                <c:pt idx="3">
                  <c:v>Private infrastructure</c:v>
                </c:pt>
                <c:pt idx="4">
                  <c:v>Natural resources</c:v>
                </c:pt>
                <c:pt idx="5">
                  <c:v>Commodity securities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50000000.0</c:v>
                </c:pt>
                <c:pt idx="1">
                  <c:v>30000000.0</c:v>
                </c:pt>
                <c:pt idx="2">
                  <c:v>30000000.0</c:v>
                </c:pt>
                <c:pt idx="3">
                  <c:v>25000000.0</c:v>
                </c:pt>
                <c:pt idx="4">
                  <c:v>10000000.0</c:v>
                </c:pt>
                <c:pt idx="5">
                  <c:v>5000000.0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Listed real estate</c:v>
                </c:pt>
              </c:strCache>
            </c:strRef>
          </c:tx>
          <c:spPr>
            <a:solidFill>
              <a:srgbClr val="0D1117"/>
            </a:solidFill>
          </c:spPr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5.0</c:v>
                </c:pt>
                <c:pt idx="1">
                  <c:v>3.0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Listed infrastructure</c:v>
                </c:pt>
              </c:strCache>
            </c:strRef>
          </c:tx>
          <c:spPr>
            <a:solidFill>
              <a:srgbClr val="7FA600"/>
            </a:solidFill>
          </c:spPr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3.0</c:v>
                </c:pt>
                <c:pt idx="1">
                  <c:v>4.0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Private real estate</c:v>
                </c:pt>
              </c:strCache>
            </c:strRef>
          </c:tx>
          <c:spPr>
            <a:solidFill>
              <a:srgbClr val="F2A93B"/>
            </a:solidFill>
          </c:spPr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3.0</c:v>
                </c:pt>
                <c:pt idx="1">
                  <c:v>3.0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Private infrastructure</c:v>
                </c:pt>
              </c:strCache>
            </c:strRef>
          </c:tx>
          <c:spPr>
            <a:solidFill>
              <a:srgbClr val="5B8DEF"/>
            </a:solidFill>
          </c:spPr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2.5</c:v>
                </c:pt>
                <c:pt idx="1">
                  <c:v>3.0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Natural resources</c:v>
                </c:pt>
              </c:strCache>
            </c:strRef>
          </c:tx>
          <c:spPr>
            <a:solidFill>
              <a:srgbClr val="FF6B5E"/>
            </a:solidFill>
          </c:spPr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1.0</c:v>
                </c:pt>
                <c:pt idx="1">
                  <c:v>1.5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Commodity securities</c:v>
                </c:pt>
              </c:strCache>
            </c:strRef>
          </c:tx>
          <c:spPr>
            <a:solidFill>
              <a:srgbClr val="9AA5B1"/>
            </a:solidFill>
          </c:spPr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Sheet1!$G$2:$G$3</c:f>
              <c:numCache>
                <c:formatCode>General</c:formatCode>
                <c:ptCount val="2"/>
                <c:pt idx="0">
                  <c:v>0.5</c:v>
                </c:pt>
                <c:pt idx="1">
                  <c:v>0.5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Listed real estate</c:v>
                </c:pt>
                <c:pt idx="1">
                  <c:v>Listed infrastructure</c:v>
                </c:pt>
                <c:pt idx="2">
                  <c:v>Private infrastructure</c:v>
                </c:pt>
                <c:pt idx="3">
                  <c:v>Natural resources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C6F432"/>
            </a:solidFill>
          </c:spPr>
          <c:cat>
            <c:strRef>
              <c:f>Sheet1!$A$2:$A$5</c:f>
              <c:strCache>
                <c:ptCount val="4"/>
                <c:pt idx="0">
                  <c:v>Listed real estate</c:v>
                </c:pt>
                <c:pt idx="1">
                  <c:v>Listed infrastructure</c:v>
                </c:pt>
                <c:pt idx="2">
                  <c:v>Private infrastructure</c:v>
                </c:pt>
                <c:pt idx="3">
                  <c:v>Natural resources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</c:v>
                </c:pt>
                <c:pt idx="1">
                  <c:v>1.0</c:v>
                </c:pt>
                <c:pt idx="2">
                  <c:v>0.5</c:v>
                </c:pt>
                <c:pt idx="3">
                  <c:v>0.5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FF6B5E"/>
            </a:solidFill>
          </c:spPr>
          <c:cat>
            <c:strRef>
              <c:f>Sheet1!$A$2:$A$5</c:f>
              <c:strCache>
                <c:ptCount val="4"/>
                <c:pt idx="0">
                  <c:v>Listed real estate</c:v>
                </c:pt>
                <c:pt idx="1">
                  <c:v>Listed infrastructure</c:v>
                </c:pt>
                <c:pt idx="2">
                  <c:v>Private infrastructure</c:v>
                </c:pt>
                <c:pt idx="3">
                  <c:v>Natural resources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Allocation</c:v>
                </c:pt>
                <c:pt idx="1">
                  <c:v>Selection</c:v>
                </c:pt>
                <c:pt idx="2">
                  <c:v>Interaction</c:v>
                </c:pt>
                <c:pt idx="3">
                  <c:v>Residual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C6F432"/>
            </a:solidFill>
          </c:spPr>
          <c:cat>
            <c:strRef>
              <c:f>Sheet1!$A$2:$A$5</c:f>
              <c:strCache>
                <c:ptCount val="4"/>
                <c:pt idx="0">
                  <c:v>Allocation</c:v>
                </c:pt>
                <c:pt idx="1">
                  <c:v>Selection</c:v>
                </c:pt>
                <c:pt idx="2">
                  <c:v>Interaction</c:v>
                </c:pt>
                <c:pt idx="3">
                  <c:v>Residual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FF6B5E"/>
            </a:solidFill>
          </c:spPr>
          <c:cat>
            <c:strRef>
              <c:f>Sheet1!$A$2:$A$5</c:f>
              <c:strCache>
                <c:ptCount val="4"/>
                <c:pt idx="0">
                  <c:v>Allocation</c:v>
                </c:pt>
                <c:pt idx="1">
                  <c:v>Selection</c:v>
                </c:pt>
                <c:pt idx="2">
                  <c:v>Interaction</c:v>
                </c:pt>
                <c:pt idx="3">
                  <c:v>Residual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0.12</c:v>
                </c:pt>
                <c:pt idx="1">
                  <c:v>0.36</c:v>
                </c:pt>
                <c:pt idx="2">
                  <c:v>0.02</c:v>
                </c:pt>
                <c:pt idx="3">
                  <c:v>0.0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FF6B5E"/>
              </a:solidFill>
            </c:spPr>
          </c:dPt>
          <c:dPt>
            <c:idx val="3"/>
            <c:spPr>
              <a:solidFill>
                <a:srgbClr val="C6F432"/>
              </a:solidFill>
            </c:spPr>
          </c:dPt>
          <c:cat>
            <c:strRef>
              <c:f>Sheet1!$A$2:$A$5</c:f>
              <c:strCache>
                <c:ptCount val="4"/>
                <c:pt idx="0">
                  <c:v>Growth</c:v>
                </c:pt>
                <c:pt idx="1">
                  <c:v>Inflation</c:v>
                </c:pt>
                <c:pt idx="2">
                  <c:v>Rates</c:v>
                </c:pt>
                <c:pt idx="3">
                  <c:v>Commodity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0.27</c:v>
                </c:pt>
                <c:pt idx="1">
                  <c:v>0.32</c:v>
                </c:pt>
                <c:pt idx="2">
                  <c:v>-0.18</c:v>
                </c:pt>
                <c:pt idx="3">
                  <c:v>0.11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/>
                      <a:t>6.9%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/>
                      <a:t>14.2%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Pos val="outEnd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Sheet1!$A$2:$A$3</c:f>
              <c:strCache>
                <c:ptCount val="2"/>
                <c:pt idx="0">
                  <c:v>Current ? Real estate</c:v>
                </c:pt>
                <c:pt idx="1">
                  <c:v>Proposed ? Real estate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6.9</c:v>
                </c:pt>
                <c:pt idx="1">
                  <c:v>14.2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/>
                      <a:t>+6.9%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Pos val="outEnd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Sheet1!$A$2:$A$2</c:f>
              <c:strCache>
                <c:ptCount val="1"/>
                <c:pt idx="0">
                  <c:v>Baseline expected return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6.9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Why this target</a:t>
            </a:r>
          </a:p>
          <a:p>
            <a:r>
              <a:t>Observation: The target shifts 2.0 percentage points from listed real estate toward infrastructure and natural resources [S3][S4]. Why it matters: The largest sub-segment declines under the proposed mix. Uncertainty: CMA, regime, findings, valuation and mapping coverage remain incomplete [S8]. What would change the view: Completed records showing no diversification improvement [S4][S8].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Context is not protection</a:t>
            </a:r>
          </a:p>
          <a:p>
            <a:r>
              <a:t>Observation: Two modeled exposures, inflation and commodities, are positive [S7]. Why it matters: These signals provide diversification context, not a guaranteed hedge. Uncertainty: Governed portfolio inflation sensitivity remains unavailable [S8]. What would change the view: Returned sensitivity results or mandate mappings contradicting both exposures [S7][S8].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Infrastructure balances risk</a:t>
            </a:r>
          </a:p>
          <a:p>
            <a:r>
              <a:t>Observation: Infrastructure has lower expected volatility than real estate and natural resources in the selected assumptions [S6]. Why it matters: Its larger target role balances the broader mix. Uncertainty: Standalone governed mapping for commodity securities remains unavailable [S8]. What would change the view: Refreshed assumptions reversing the relative volatility results [S6][S8].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xhib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9372600" y="164592"/>
            <a:ext cx="2514600" cy="2514600"/>
          </a:xfrm>
          <a:prstGeom prst="ellipse">
            <a:avLst/>
          </a:prstGeom>
          <a:solidFill>
            <a:srgbClr val="161C24"/>
          </a:solidFill>
          <a:ln>
            <a:solidFill>
              <a:srgbClr val="16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475488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GradientCIO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9966960" cy="2743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C6F432"/>
                </a:solidFill>
                <a:latin typeface="Inter"/>
              </a:defRPr>
            </a:pPr>
            <a:r>
              <a:rPr>
                <a:latin typeface="Inter"/>
              </a:rPr>
              <a:t>REAL ASSETS PORTFOLIO 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9966960" cy="12344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33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Northstar Real Assets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73552"/>
            <a:ext cx="9692640" cy="59436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9AA5B1"/>
                </a:solidFill>
                <a:latin typeface="Inter"/>
              </a:defRPr>
            </a:pPr>
            <a:r>
              <a:rPr>
                <a:latin typeface="Inter"/>
              </a:rPr>
              <a:t>Portfolio construction review · prepared for the Investment Committee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005072"/>
            <a:ext cx="822960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85800" y="4315968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AS 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07992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2026-06-30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315968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TOTAL NAV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4507992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$1,000.0M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937759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REAL-ASSETS WEIGHT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129783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15.0%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4937759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UNFUNDED COMMITMENTS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5129783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$28.0M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5687568"/>
            <a:ext cx="3337560" cy="530352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822960" y="5760720"/>
            <a:ext cx="3063240" cy="12801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2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OVERALL 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9161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Valuation lag and structure mix on watch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5733288"/>
            <a:ext cx="3108960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SCOPE REVIEWED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5934456"/>
            <a:ext cx="3108960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8 of 9 · Partial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00800"/>
            <a:ext cx="80467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556248"/>
            <a:ext cx="8046720" cy="12801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Illustrative sample · not client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6473952"/>
            <a:ext cx="274320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GradientCIO.com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254919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254919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Recommendation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206456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We recommend retaining the 15.0% real-assets allocation while shifting 2.0 percentage points from listed real estate to infrastructure and natural resources across marketable and drawdown sleeves [S3][S4]. Committee action requested: approve the target structure and phased implementation, subject to valuation refresh, manager diligence and liquidity tests [S3][S7][S8].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984800"/>
            <a:ext cx="2644902" cy="2233119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40080" y="3984800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749808" y="4112816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REAL-ASSETS WEIGHT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368848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15.0%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888735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Policy target 15.0% [S3]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4710" y="3984800"/>
            <a:ext cx="2644902" cy="2233119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3394710" y="3984800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3504438" y="4112816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MARKETABLE SHARE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4438" y="4368848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8.0%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4438" y="5888735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53.3% of real assets [S4]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9340" y="3984800"/>
            <a:ext cx="2644902" cy="2233119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6149340" y="3984800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6259068" y="4112816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UNFUNDED COMMITMENTS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9068" y="4368848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$28.0M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9068" y="5888735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2.8% of NAV [S4]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3970" y="3984800"/>
            <a:ext cx="2644902" cy="2233119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8" name="Rectangle 27"/>
          <p:cNvSpPr/>
          <p:nvPr/>
        </p:nvSpPr>
        <p:spPr>
          <a:xfrm>
            <a:off x="8903970" y="3984800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9013698" y="4112816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POLICY 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3698" y="4368848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Watch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3698" y="5888735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Private valuation lag [S3][S4]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 · S4 · S7 · S8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Decision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877905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877905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Recommendation and action requested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39327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We recommend a 2.0 percentage-point shift from listed real estate to infrastructure and natural resources while holding the 15.0% total allocation. Committee action requested: approve the target and staged implementation [S3][S4][S8].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13513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DECISION SUMMARY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" y="2587833"/>
          <a:ext cx="10908792" cy="1257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65704"/>
                <a:gridCol w="2965704"/>
                <a:gridCol w="2965704"/>
              </a:tblGrid>
              <a:tr h="31428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Decision element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Proposed action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1428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Total allocation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Hold at 15.0%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1428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Listed real estate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Reduce from 5.0% to 3.0%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[S3][S4]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Proposed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1428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Infrastructure and natural resources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Increase from 6.0% to 8.0%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[S3][S4]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Proposed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40080" y="3954698"/>
            <a:ext cx="10908792" cy="78036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640080" y="3954698"/>
            <a:ext cx="54864" cy="78036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04671" y="4064426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Conditions and limits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4347890"/>
            <a:ext cx="10616184" cy="29572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Refresh private valuations, confirm the commodity and inflation-linked mandate mappings, and complete manager diligence before funding [S7][S8].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844786"/>
            <a:ext cx="10908792" cy="137313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9" name="Rectangle 18"/>
          <p:cNvSpPr/>
          <p:nvPr/>
        </p:nvSpPr>
        <p:spPr>
          <a:xfrm>
            <a:off x="640080" y="4844786"/>
            <a:ext cx="54864" cy="1373133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804671" y="4954514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headline signal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5237978"/>
            <a:ext cx="10616184" cy="888501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The sample report carries a valuation-lag signal above the clear threshold [S1]. Why it matters: This signal focuses oversight on the report's most decision-relevant condition. Uncertainty: Evidence coverage may exclude newer or more detailed observations. What would change the view: A governed refresh showing a different signal or breached threshold.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S3 · S4 · S7 · S8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Decision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2304141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2304141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primary measure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181950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Real-assets weight is 15.0% in the review evidence [S2]. Why it matters: This measure establishes the baseline for comparing later governed results. Uncertainty: The source basis may omit newer observations outside the reviewed evidence. What would change the view: A refreshed source report showing a change above 1%.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739749"/>
            <a:ext cx="10908792" cy="247817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40080" y="3739749"/>
            <a:ext cx="54864" cy="247817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04671" y="384947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monitoring priority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4132941"/>
            <a:ext cx="10616184" cy="199353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Policy status is Watch rather than Clear in the review evidence [S3]. Why it matters: This result determines which item receives priority in the next monitoring cycle. Uncertainty: Supporting coverage may omit later filings or corroborating detail. What would change the view: A new filing or report that resolves the item or changes it by 1%.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S2 · S3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Mandate, Inflation Objective and Data Basis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29774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Northstar Total Fund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Mandate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Broad real-assets diversification 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Inflation objective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Participate in inflation-sensitive cash flows without a guaranteed outcome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Horizon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10 years 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Base currency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USD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62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Data scope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 data [S1] [S1]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413057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GOVERNED FRAMEWORK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4687377"/>
          <a:ext cx="10908792" cy="15305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38263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Area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Objective or limit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Observed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82635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Real assets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10.0%–20.0%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15.0%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2635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Locked assets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At or below 10.0% of NAV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7.0%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[S3][S4]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8263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Private valuation 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At most 90 days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91 days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Watch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[S3][S4]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 · S4 · S6 · S8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Current Real Assets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REAL-ASSETS ALLOCATION BY SUB-SEGMENT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Current Real Assets Portfolio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CURRENT SLEEVE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0" cy="34904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498639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Sub-segment / exposure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Structure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Value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Unfunded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% portfolio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As of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98639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Listed real estate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Marketable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$50.0M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n/a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8639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Listed infrastructure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Marketable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$30.0M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n/a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98639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Private real estate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Drawdown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$30.0M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$12.0M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2026-03-31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8639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Private infrastructure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Drawdown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$25.0M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$10.0M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2.5%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2026-03-31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98639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Natural resources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Mixed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$10.0M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$6.0M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2026-03-31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8644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Commodity securities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Marketable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$5.0M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n/a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0.5%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200406"/>
            <a:ext cx="10908792" cy="101751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Marketable exposures use returned market value; drawdown exposures use NAV. Unfunded commitments are shown separately and are not added to NAV [S4].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INFRASTRUCTURE AND NATURAL RESOURCES BROADEN THE REAL-ASSETS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Target Sub-Segment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CURRENT WEIGHT VERSUS POLICY RANGE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36776"/>
            <a:ext cx="1828800" cy="87782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Listed real estate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49824" y="1951146"/>
            <a:ext cx="5779008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Oval 11"/>
          <p:cNvSpPr/>
          <p:nvPr/>
        </p:nvSpPr>
        <p:spPr>
          <a:xfrm>
            <a:off x="9747504" y="1877263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880860" y="1784908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" y="2560320"/>
            <a:ext cx="1828800" cy="87782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Listed infrastructure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49824" y="2874690"/>
            <a:ext cx="4334256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Oval 15"/>
          <p:cNvSpPr/>
          <p:nvPr/>
        </p:nvSpPr>
        <p:spPr>
          <a:xfrm>
            <a:off x="6858000" y="2800807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8325612" y="2708452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40080" y="3483864"/>
            <a:ext cx="1828800" cy="87782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Private real estate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49824" y="3798234"/>
            <a:ext cx="4334256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0" name="Oval 19"/>
          <p:cNvSpPr/>
          <p:nvPr/>
        </p:nvSpPr>
        <p:spPr>
          <a:xfrm>
            <a:off x="6858000" y="3724351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1" name="Rectangle 20"/>
          <p:cNvSpPr/>
          <p:nvPr/>
        </p:nvSpPr>
        <p:spPr>
          <a:xfrm>
            <a:off x="6880860" y="3631996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640080" y="4407408"/>
            <a:ext cx="1828800" cy="87782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Private infrastructure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49824" y="4721778"/>
            <a:ext cx="2889504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4" name="Oval 23"/>
          <p:cNvSpPr/>
          <p:nvPr/>
        </p:nvSpPr>
        <p:spPr>
          <a:xfrm>
            <a:off x="6135624" y="4647895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5" name="Rectangle 24"/>
          <p:cNvSpPr/>
          <p:nvPr/>
        </p:nvSpPr>
        <p:spPr>
          <a:xfrm>
            <a:off x="6880860" y="4555540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640080" y="5330952"/>
            <a:ext cx="1828800" cy="87782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Natural resources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0" y="5645322"/>
            <a:ext cx="2889504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8" name="Oval 27"/>
          <p:cNvSpPr/>
          <p:nvPr/>
        </p:nvSpPr>
        <p:spPr>
          <a:xfrm>
            <a:off x="3968496" y="5571439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9" name="Rectangle 28"/>
          <p:cNvSpPr/>
          <p:nvPr/>
        </p:nvSpPr>
        <p:spPr>
          <a:xfrm>
            <a:off x="4713732" y="5479084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0" name="Rectangle 2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INFRASTRUCTURE AND NATURAL RESOURCES BROADEN THE REAL-ASSETS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Target Sub-Segment Structure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CURRENT AND TARGET MIX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INFRASTRUCTURE AND NATURAL RESOURCES BROADEN THE REAL-ASSETS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Target Sub-Segment Structure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TARGET ALLOCATION CHANGES (PERCENTAGE POINTS)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INFRASTRUCTURE AND NATURAL RESOURCES BROADEN THE REAL-ASSETS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Target Sub-Segment Structure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CURRENT VERSUS TARGET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600200"/>
          <a:ext cx="10908790" cy="2254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322031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Sub-segment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Current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Target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Change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Range / constraint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Rationale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22031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Listed real estate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-2.0pp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2.0%–6.0%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Reduce largest sub-segment [S3][S4]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2031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Listed infrastructure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+1.0pp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2.0%–5.0%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Increase marketable infrastructure role [S3][S4]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22031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Private real estate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2.0%–5.0%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Maintain while valuations refresh [S4][S8]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2031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Private infrastructure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2.5%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+0.5pp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2.0%–4.0%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Phase after diligence [S7][S8]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22031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Natural resources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1.5%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+0.5pp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0.0%–2.0%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Broaden sub-segment mix [S3][S7]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2036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Commodity securities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0.5%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0.5%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0.0pp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Mandate-specific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Maintain pending mapping review 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3964150"/>
            <a:ext cx="10908792" cy="1460651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40080" y="3964150"/>
            <a:ext cx="54864" cy="1460651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671" y="4073878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Why this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4357342"/>
            <a:ext cx="10616184" cy="97601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The target shifts 2.0 percentage points from listed real estate toward infrastructure and natural resources [S3][S4]. Why it matters: The largest sub-segment declines under the proposed mix…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534530"/>
            <a:ext cx="10908792" cy="68338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 target is a committee proposal and is not a saved portfolio change [S3][S8].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 · S4 · S7 · S8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Historical Performance and Attribution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GOVERNED ATTRIBUTION EFFECTS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Historical Performance and Attribution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STANDARD PERIODS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12223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40745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Period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 / sleeve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Benchmark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Excess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Coverage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07455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1Y real-assets sleeve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4.9%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5.4%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-0.5pp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Complete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745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3Y real-assets sleeve (ann.)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5.6%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5.2%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+0.4pp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Complete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2932295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ATTRIBUTION EFFECTS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3206615"/>
          <a:ext cx="10908792" cy="20498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40996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Effect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Contribution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099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Allocation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-0.12pp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99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Selection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-0.36pp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099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Interaction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-0.02pp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9963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Residual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0.00pp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" y="5366146"/>
            <a:ext cx="10908792" cy="85177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Governed attribution method and reconciliation metadata follow [S5].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Historical Performance and Attribution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12230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Method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Brinson-Fachler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2230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Linking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Symmetric Carino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12230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Net, monthly linked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2230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Tolerance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 bp; reconciled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POSITIVE SENSITIVITIES PROVIDE CONTEXT, NOT GUARANTEED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Inflation, Commodity and Diversification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INFLATION-SENSITIVITY EVIDENCE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600200"/>
            <a:ext cx="2644902" cy="461772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40080" y="1600200"/>
            <a:ext cx="2644902" cy="4572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749808" y="1728216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HEADLINE INFLATION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984248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2.8%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2026-06-30 [S7]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4710" y="1600200"/>
            <a:ext cx="2644902" cy="461772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3394710" y="1600200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3504438" y="1728216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INFLATION EXPOSURE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4438" y="1984248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0.32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443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Model-implied [S7]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9340" y="1600200"/>
            <a:ext cx="2644902" cy="461772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1" name="Rectangle 20"/>
          <p:cNvSpPr/>
          <p:nvPr/>
        </p:nvSpPr>
        <p:spPr>
          <a:xfrm>
            <a:off x="6149340" y="1600200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6259068" y="1728216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RATES EXPOSURE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9068" y="1984248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-0.18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906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Model-implied [S7]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3970" y="1600200"/>
            <a:ext cx="2644902" cy="461772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6" name="Rectangle 25"/>
          <p:cNvSpPr/>
          <p:nvPr/>
        </p:nvSpPr>
        <p:spPr>
          <a:xfrm>
            <a:off x="8903970" y="1600200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9013698" y="1728216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INFLATION SENSITIVITY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13698" y="1984248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Not 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1369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No governed result [S8]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S7 · S8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POSITIVE SENSITIVITIES PROVIDE CONTEXT, NOT GUARANTEED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Inflation, Commodity and Diversification Context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MODEL-IMPLIED REAL-ASSETS FACTORS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POSITIVE SENSITIVITIES PROVIDE CONTEXT, NOT GUARANTEED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Inflation, Commodity and Diversification Context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RETURNED CONTEXT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600200"/>
          <a:ext cx="10908792" cy="17245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43114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Indicator / exposure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Observation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Change / sensitivity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As of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3114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Headline inflation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-0.4pp year over year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114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Energy positioning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Net long index at 58th percentile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CFTC context only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2026-06-23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[S7]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3114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 inflation sensitivity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available — no governed sensitivity result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assessed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3434506"/>
            <a:ext cx="10908792" cy="178245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40080" y="3434506"/>
            <a:ext cx="54864" cy="1782457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671" y="3544234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Context is not protection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3827698"/>
            <a:ext cx="10616184" cy="129782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Two modeled exposures, inflation and commodities, are positive [S7]. Why it matters: These signals provide diversification context, not a guaranteed hedge. Uncertainty: Governed portfolio inflation sensitivity remains…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26691"/>
            <a:ext cx="10908792" cy="89122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Macro and positioning evidence is context only; it does not establish inflation protection or explain portfolio performance [S5][S7].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S5 · S7 · S8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GOVERNED ASSUMPTIONS FRAME TRADEOFFS RATHER THAN FORECASTS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Forward Return and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FORWARD EXPECTED-RETURN COMPARISON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GOVERNED ASSUMPTIONS FRAME TRADEOFFS RATHER THAN FORECASTS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Forward Return and Risk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Assumption set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 Strategic CMA 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Regime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Baseline 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Horizon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10 years 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Currency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USD 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Context fingerprint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test-ra-forward-2026 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GOVERNED ASSUMPTIONS FRAME TRADEOFFS RATHER THAN FORECASTS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Forward Return and Risk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REAL-ASSETS FORWARD ASSUMPTIONS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115443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Class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Expected return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Expected volatility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Real estate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6.9%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14.2%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Infrastructure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7.2%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11.8%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Natural resources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7.5%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16.8%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GOVERNED ASSUMPTIONS FRAME TRADEOFFS RATHER THAN FORECASTS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Forward Return and Risk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10908792" cy="1572348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54864" cy="157234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Infrastructure balances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1719072"/>
            <a:ext cx="10616184" cy="108771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Infrastructure has lower expected volatility than real estate and natural resources in the selected assumptions [S6]. Why it matters: Its larger target role balances the broader mix…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07956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FORWARD ASSUMPTIONS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80" y="3282276"/>
          <a:ext cx="10908792" cy="20902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348377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Sub-segment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Expected return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Expected volatility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Mapping 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4837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Real estate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6.9%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14.2%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Governed class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837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Infrastructure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7.2%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11.8%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Governed class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4837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Natural resources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7.5%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16.8%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Governed class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837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Commodity securities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assessed — mapping not provided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assessed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 standalone CMA class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48381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Inflation-linked assets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assessed — mapping not provided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assessed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 standalone CMA class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40080" y="5482270"/>
            <a:ext cx="10908792" cy="73564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These figures are assumptions under the selected context, not forecasts or guarantees [S6].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S6 · S8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Commitments, Liquidity and 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DRAWDOWN REAL-ASSETS CALLS AND DISTRIBUTIONS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115443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Period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Calls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Distributions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 H2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USD 9,000,000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USD 5,000,000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2027 H1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USD 8,000,000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USD 6,000,000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2027 H2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USD 6,000,000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USD 7,000,000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Commitments, Liquidity and Valuation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LIQUIDITY AND VALUATION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33732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562201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Sub-segment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Structure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Liquidity / unfunded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Valuation date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62201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Listed real estate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Marketable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Daily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62201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Listed infrastructure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Marketable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Daily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62201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Private real estate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Drawdown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$12.0M unfunded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2026-03-31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Watch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62201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Private infrastructure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Drawdown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$10.0M unfunded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2026-03-31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Watch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62201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Natural resources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Mixed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$6.0M unfunded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2026-03-31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Watch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083134"/>
            <a:ext cx="10908792" cy="113478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Liquidity and valuation coverage metadata follow [S8].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S4 · S8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Commitments, Liquidity and Valuation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Marketable share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8.0% of NAV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Locked share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7.0% of NAV [S3]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Unfunded ratio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2.8% of NAV 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Private valuation lag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91 days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Base liquidity coverage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6.2x 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S3 · S4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Manager and Fund Diligence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MANAGER EVIDENCE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0" cy="28937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723427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 / fund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Sub-segment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Exposure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Diligence 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Open findings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Next step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723427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Real Estate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Private real estate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$30.0M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Current 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 Medium 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Close valuation follow-up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23427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Infrastructure Manager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Private infrastructure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$25.0M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Current [S7]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 High findings [S7]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Refresh annual ODD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72342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Proposed Natural Resources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Natural resources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funded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assessed 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assessed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Run comparison and ODD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4603637"/>
            <a:ext cx="10908792" cy="161428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40080" y="4603637"/>
            <a:ext cx="54864" cy="1614282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04671" y="4713365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Diligence condition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4996829"/>
            <a:ext cx="10616184" cy="112965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 proposed natural-resources manager requires comparison, operational diligence and performance-integrity review before funding [S7].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Scenarios and Robustness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GOVERNED SCENARIO RESULTS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Scenarios and Robustness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SUPPORTED SCENARIOS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28937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723427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Scenario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 / loss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Liquidity effect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Basis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72342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Baseline assumptions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6.9% expected return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Base coverage 6.2x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Proposed sleeve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[S3][S6]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2342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Inflation shock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available — no governed shock result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Unavailable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723428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Denominator stress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available — no governed stress result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available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Unavailable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4603637"/>
            <a:ext cx="10908792" cy="161428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40080" y="4603637"/>
            <a:ext cx="54864" cy="161428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04671" y="4713365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Selected-series sandbox — not saved-portfolio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4996829"/>
            <a:ext cx="10616184" cy="112965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Not available — no Strategy Lab return series selected [S8].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 · S6 · S8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Implementation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IMPLEMENTATION STEPS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0" cy="26346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526933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Phase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Action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Size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Funding 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Condition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Owner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26933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Reduce listed real estate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2.0pp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Marketable sleeve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Transition review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Investment staff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6933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Increase listed infrastructure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1.0pp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Sale proceeds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Policy recheck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CIO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26933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Commit to private infrastructure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0.5pp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Sale proceeds and distributions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ODD and valuation refresh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Committee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6933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Add natural resources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0.5pp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Sale proceeds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 approved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Committee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4344593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ALTERNATIVES CONSIDERED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4618913"/>
          <a:ext cx="10908792" cy="1599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65704"/>
                <a:gridCol w="2965704"/>
                <a:gridCol w="2965704"/>
              </a:tblGrid>
              <a:tr h="533002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Alternative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Benefit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Cost / risk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Reason not selected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3300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 change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 transition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Listed real-estate concentration remains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Does not address structure objective [S3][S4]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3300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Drawdown-only shift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Potential long-duration exposure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Higher lock-up and pacing risk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Marketable balance preferred [S3][S4]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 · S4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Risks, Open Items and Approvals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DECISION RISKS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1883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47080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Priority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Risk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Mitigation / condition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Owner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7080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High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Private valuation lag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91 days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Refresh valuations before commitment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Operations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080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Commodity and linker mapping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assessed 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Document IPS taxonomy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CIO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70805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Medium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Proposed manager diligence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assessed 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Complete comparison and ODD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Investment staff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3593145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OPEN ITEMS AND APPROVALS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3867465"/>
          <a:ext cx="10908792" cy="23504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47009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Timing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Item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Required 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Owner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7009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Before approval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Refresh private valuations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 Q2 NAVs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Operations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Open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009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Before approval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Confirm mandate mappings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IPS addendum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CIO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Open 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7009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Within 30 days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Select natural-resources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Comparison and ODD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Investment staff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Open 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009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Next review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Refresh pacing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Returned commitment-pacing include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Private markets team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Open 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S4 · S6 · S7 · S8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54356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 and allocation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 data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Policy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Allocation, liquidity and valuation-age rules [S3]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Exposure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Market value, NAV and unfunded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Returns and attribution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degraded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Five-year sleeve period unavailable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Forward assumptions and pacing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Governed classes and drawdown charts 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Context and diligence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degraded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Proposed manager not assessed [S7]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Mandate mappings and scenarios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6B5E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unavailable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Commodity, linker and shock mappings not returned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Peer allocation intelligence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not licensed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licensed ? Peer allocation context was skipped because peerIntelligence is not available for this organization. This construction report uses portfolio evidence only. [S1]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 · S4 · S5 · S6 · S7 · S8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Sources and 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4690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12139"/>
                <a:gridCol w="1112139"/>
                <a:gridCol w="1112139"/>
                <a:gridCol w="1112139"/>
                <a:gridCol w="1112139"/>
                <a:gridCol w="1112139"/>
                <a:gridCol w="1112139"/>
                <a:gridCol w="1112139"/>
              </a:tblGrid>
              <a:tr h="521208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Tag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Basis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Tool / view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Key parameters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As of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Data scope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Validation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Digest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Organization and capabilities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list_organizations; get_gradient_capabilities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organization=test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 and allocation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list_portfolios; get_portfolio_structure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allocation_tree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 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Policy assessment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check_portfolio_policy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portfolio=test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Real-assets exposure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get_portfolio_exposure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all pages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 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Returns and attribution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get_portfolio_historical_returns; get_portfolio_attribution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all sections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degraded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Forward assumptions and pacing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get_portfolio_exposure; get_capital_market_assumptions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commitments; baseline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2026-06-15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 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Macro context and diligence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get_macro_conditions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degraded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S8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Mandate mappings and gaps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get_gradient_capabilities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 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advisory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6035040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managers. All organizations, portfolios, managers and results in this public example are illustrative.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 · S4 · S5 · S6 · S7 · S8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Server Metric Methods and Disclosures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SERVER METRIC METHODS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111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373192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Quantity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Method / formula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Version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Basis / units / tolerance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73192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Policy status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Governed assessment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portfolio-policy-v1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Returned status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3192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Exposure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Server exposure aggregation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portfolio-exposure-v1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Market value or NAV; unfunded separate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2829504"/>
            <a:ext cx="10908792" cy="338841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Private real-assets valuations may lag the report date [S4].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Forward values are assumptions, not forecasts or guarantees [S6].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Commodity and inflation-linked CMA mappings are not provided [S8].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Drawdown charts apply only to closed-end sleeves [S6].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Portfolio Analytics and Strategy Lab are separate analytical scopes.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This AI-assisted construction analysis is not investment, legal or compliance advice.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 · S4 · S6 · S8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D1117"/>
      </a:dk1>
      <a:lt1>
        <a:srgbClr val="FFFFFF"/>
      </a:lt1>
      <a:dk2>
        <a:srgbClr val="161C24"/>
      </a:dk2>
      <a:lt2>
        <a:srgbClr val="F5F7F9"/>
      </a:lt2>
      <a:accent1>
        <a:srgbClr val="C6F432"/>
      </a:accent1>
      <a:accent2>
        <a:srgbClr val="4F6B00"/>
      </a:accent2>
      <a:accent3>
        <a:srgbClr val="F2A93B"/>
      </a:accent3>
      <a:accent4>
        <a:srgbClr val="5B8DEF"/>
      </a:accent4>
      <a:accent5>
        <a:srgbClr val="FF6B5E"/>
      </a:accent5>
      <a:accent6>
        <a:srgbClr val="3FB8AF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Northstar Real Assets Portfolio</dc:title>
  <dc:subject>Real Assets Portfolio Construction</dc:subject>
  <dc:creator>GradientCIO</dc:creator>
  <cp:keywords>Gradient report theme 2.3.0</cp:keywords>
  <dc:description>generated using python-pptx</dc:description>
  <cp:lastModifiedBy>GradientCIO</cp:lastModifiedBy>
  <cp:revision>1</cp:revision>
  <dcterms:created xsi:type="dcterms:W3CDTF">2020-01-01T00:00:00Z</dcterms:created>
  <dcterms:modified xsi:type="dcterms:W3CDTF">2020-01-01T00:00:00Z</dcterms:modified>
  <cp:category/>
</cp:coreProperties>
</file>