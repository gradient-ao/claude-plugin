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cat>
            <c:strRef>
              <c:f>Sheet1!$A$2:$A$7</c:f>
              <c:strCache>
                <c:ptCount val="6"/>
                <c:pt idx="0">
                  <c:v>Listed real estate</c:v>
                </c:pt>
                <c:pt idx="1">
                  <c:v>Listed infrastructure</c:v>
                </c:pt>
                <c:pt idx="2">
                  <c:v>Private real estate</c:v>
                </c:pt>
                <c:pt idx="3">
                  <c:v>Private infrastructure</c:v>
                </c:pt>
                <c:pt idx="4">
                  <c:v>Natural resources</c:v>
                </c:pt>
                <c:pt idx="5">
                  <c:v>Commodity securities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50000000.0</c:v>
                </c:pt>
                <c:pt idx="1">
                  <c:v>30000000.0</c:v>
                </c:pt>
                <c:pt idx="2">
                  <c:v>30000000.0</c:v>
                </c:pt>
                <c:pt idx="3">
                  <c:v>25000000.0</c:v>
                </c:pt>
                <c:pt idx="4">
                  <c:v>10000000.0</c:v>
                </c:pt>
                <c:pt idx="5">
                  <c:v>5000000.0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Listed real estate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5.0</c:v>
                </c:pt>
                <c:pt idx="1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Listed infrastructure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3.0</c:v>
                </c:pt>
                <c:pt idx="1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Private real estate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3.0</c:v>
                </c:pt>
                <c:pt idx="1">
                  <c:v>3.0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Private infrastructure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2.5</c:v>
                </c:pt>
                <c:pt idx="1">
                  <c:v>3.0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Natural resources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1.0</c:v>
                </c:pt>
                <c:pt idx="1">
                  <c:v>1.5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Commodity securities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0.5</c:v>
                </c:pt>
                <c:pt idx="3">
                  <c:v>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0.12</c:v>
                </c:pt>
                <c:pt idx="1">
                  <c:v>0.36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Growth</c:v>
                </c:pt>
                <c:pt idx="1">
                  <c:v>Inflation</c:v>
                </c:pt>
                <c:pt idx="2">
                  <c:v>Rates</c:v>
                </c:pt>
                <c:pt idx="3">
                  <c:v>Commodity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0.27</c:v>
                </c:pt>
                <c:pt idx="1">
                  <c:v>0.32</c:v>
                </c:pt>
                <c:pt idx="2">
                  <c:v>-0.18</c:v>
                </c:pt>
                <c:pt idx="3">
                  <c:v>0.11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14.2%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Real estate</c:v>
                </c:pt>
                <c:pt idx="1">
                  <c:v>Proposed ? Real estate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6.9</c:v>
                </c:pt>
                <c:pt idx="1">
                  <c:v>14.2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+6.9%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shifts 2.0 percentage points from listed real estate toward infrastructure and natural resources [S3][S4]. Why it matters: The largest sub-segment declines under the proposed mix. Uncertainty: CMA, regime, findings, valuation and mapping coverage remain incomplete [S8]. What would change the view: Completed records showing no diversification improvement [S4][S8].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Context is not protection</a:t>
            </a:r>
          </a:p>
          <a:p>
            <a:r>
              <a:t>Observation: Two modeled exposures, inflation and commodities, are positive [S7]. Why it matters: These signals provide diversification context, not a guaranteed hedge. Uncertainty: Governed portfolio inflation sensitivity remains unavailable [S8]. What would change the view: Returned sensitivity results or mandate mappings contradicting both exposures [S7][S8].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Infrastructure balances risk</a:t>
            </a:r>
          </a:p>
          <a:p>
            <a:r>
              <a:t>Observation: Infrastructure has lower expected volatility than real estate and natural resources in the selected assumptions [S6]. Why it matters: Its larger target role balances the broader mix. Uncertainty: Standalone governed mapping for commodity securities remains unavailable [S8]. What would change the view: Refreshed assumptions reversing the relative volatility results [S6][S8].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REAL ASSETS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Real Assets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REAL-ASSETS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15.0%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$28.0M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Valuation lag and structure mix on watch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8 of 9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2639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2639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7793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15.0% real-assets allocation while shifting 2.0 percentage points from listed real estate to infrastructure and natural resources across marketable and drawdown sleeves [S3][S4]. Committee action requested: approve the target structure and phased implementation, subject to valuation refresh, manager diligence and liquidity tests [S3][S7][S8].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69958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15.0%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15.0%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69958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 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53.3% of real assets [S4]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69958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$28.0M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2.8% of NAV [S4]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69958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Watch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valuation lag [S3][S4]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9667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966784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821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2.0 percentage-point shift from listed real estate to infrastructure and natural resources while holding the 15.0% total allocation. Committee action requested: approve the target and staged implementation [S3][S4][S8].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0239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676712"/>
          <a:ext cx="10908792" cy="13651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128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12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2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5.0% to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28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 and 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6.0% to 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151563"/>
            <a:ext cx="10908792" cy="7831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151563"/>
            <a:ext cx="54864" cy="78317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2612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544755"/>
            <a:ext cx="10616184" cy="2985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Refresh private valuations, confirm the commodity and inflation-linked mandate mappings, and complete manager diligence before funding [S7][S8].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44464"/>
            <a:ext cx="10908792" cy="11734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5044464"/>
            <a:ext cx="54864" cy="117345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515419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437656"/>
            <a:ext cx="10616184" cy="6888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valuation-lag signal above the clear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602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6025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756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Real-assets weight is 15.0%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95863"/>
            <a:ext cx="10908792" cy="2622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95863"/>
            <a:ext cx="54864" cy="26220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7055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89055"/>
            <a:ext cx="10616184" cy="21374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Policy status is Watch rather than Clear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Inflation Objective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 real-assets diversification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Participate in inflation-sensitive cash flows without a guaranteed outcome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10.0%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most 90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Real Assets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ALLOCATION BY SUB-SEGMENT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Real Assets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37341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334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334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34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334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34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334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345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444083"/>
            <a:ext cx="10908792" cy="7738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 exposures use returned market value; drawdown exposures use NAV. Unfunded commitments are shown separately and are not added to NAV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480413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Listed real estate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7806" y="1951146"/>
            <a:ext cx="2231745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4965039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3872026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1480413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Listed infrastructure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7806" y="2874690"/>
            <a:ext cx="167380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3849166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4429963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3483864"/>
            <a:ext cx="1480413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real estate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27806" y="3798234"/>
            <a:ext cx="167380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3849166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3872026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4407408"/>
            <a:ext cx="1480413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infrastructure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27806" y="4721778"/>
            <a:ext cx="111587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Oval 23"/>
          <p:cNvSpPr/>
          <p:nvPr/>
        </p:nvSpPr>
        <p:spPr>
          <a:xfrm>
            <a:off x="3570198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3872026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480413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Natural resources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11933" y="5645322"/>
            <a:ext cx="111587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Oval 27"/>
          <p:cNvSpPr/>
          <p:nvPr/>
        </p:nvSpPr>
        <p:spPr>
          <a:xfrm>
            <a:off x="2733294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3035122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27392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9132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132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largest sub-segment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132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marketable infrastructure role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132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while valuations refresh 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132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 after diligence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132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0.0%–2.0%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Broaden sub-segment mix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132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Mandate-specific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pending mapping review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449177"/>
            <a:ext cx="10908792" cy="107724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449177"/>
            <a:ext cx="54864" cy="107724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55890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842369"/>
            <a:ext cx="10616184" cy="5926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shifts 2.0 percentage points from listed real estate toward infrastructure and natural resources [S3][S4]. Why it matters: The largest sub-segment declines under the proposed mix…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36149"/>
            <a:ext cx="10908792" cy="58177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3046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486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486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real-assets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86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real-assets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01453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288850"/>
          <a:ext cx="10908792" cy="21775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355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5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576081"/>
            <a:ext cx="10908792" cy="6418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INFLATION-SENSITIVITY EVIDENCE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4980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HEADLINE INFLATION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2026-06-30 [S7]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471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3394710" y="16002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350443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 EXPOSURE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[S7]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34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149340" y="16002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25906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RATES EXPOSURE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[S7]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397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8903970" y="16002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901369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 SENSITIVITY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governed result [S8]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REAL-ASSETS FACTORS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CONTEXT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174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435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Indicator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 / sensitivity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Headline inflation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 year over 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Energy positioning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long index at 58th percentile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CFTC context 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60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inflation sensitivity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sensitivity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884327"/>
            <a:ext cx="10908792" cy="14440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84327"/>
            <a:ext cx="54864" cy="14440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9940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Context is not protection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277519"/>
            <a:ext cx="10616184" cy="9593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modeled exposures, inflation and commodities, are positive [S7]. Why it matters: These signals provide diversification context, not a guaranteed hedge. Uncertainty: Governed portfolio inflation sensitivity remains…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38072"/>
            <a:ext cx="10908792" cy="7798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Macro and positioning evidence is context only; it does not establish inflation protection or explain portfolio performance [S5][S7].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S7 · S8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test-ra-forward-2026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FORWARD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3661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153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153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153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1535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Infrastructure balances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Infrastructure has lower expected volatility than real estate and natural resources in the selected assumptions [S6]. Why it matters: Its larger target role balances the broader mix…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3638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0641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Mapping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641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641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0641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641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— mapping not provided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standalone CMA class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064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Inflation-linked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— mapping not provided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standalone CMA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348408"/>
            <a:ext cx="10908792" cy="8695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DRAWDOWN REAL-ASSETS CALLS AND DISTRIBUTIONS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8,000,000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7,000,000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AND VALUATION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8283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0472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 / 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472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472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472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$12.0M unfunded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472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 unfunded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47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$6.0M unfunded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38270"/>
            <a:ext cx="10908792" cy="46725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and valuation coverage metadata follow [S8].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15257"/>
          <a:ext cx="10908792" cy="2102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205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 of NAV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5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 of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05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 of NAV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5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05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liquidity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Fund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EVIDENCE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961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404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Real Estate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Close valuation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Infrastructure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High findings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annual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404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Natural Resources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71913"/>
            <a:ext cx="10908792" cy="1546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71913"/>
            <a:ext cx="54864" cy="154600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81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Diligence condition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065105"/>
            <a:ext cx="10616184" cy="1061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proposed natural-resources manager requires comparison, operational diligence and performance-integrity review before funding [S7].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961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404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coverage 6.2x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 shock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4049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71913"/>
            <a:ext cx="10908792" cy="1546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71913"/>
            <a:ext cx="54864" cy="154600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81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065105"/>
            <a:ext cx="10616184" cy="1061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634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269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recheck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 to 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 and distributions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ODD and valuation refresh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natural resources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approved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34459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618913"/>
          <a:ext cx="10908792" cy="1599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53300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330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transition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real-estate 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structure objective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30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Drawdown-only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Potential long-duration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Higher lock-up and pacing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balance preferred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883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8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valuations before commitment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and linker mapping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IPS taxonomy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8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9314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867465"/>
          <a:ext cx="10908792" cy="235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09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private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mandate mappings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IPS addendum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 natural-resources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commitment-pacing include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S6 · S7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valuation-age rules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value, NAV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Five-year sleeve period unavailable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 and pacing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classes and drawdown charts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and diligence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mappings and scenarios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Commodity, linker and shock mappings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licensed ? Peer allocation context was skipped because peerIntelligence is not available for this organization. This construction report uses portfolio evidence only.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Real-assets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commitments; 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context and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mappings and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701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672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672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729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value or NAV;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411817"/>
            <a:ext cx="10908792" cy="280610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 real-assets valuations may lag the report date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Commodity and inflation-linked CMA mappings are not provided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Drawdown charts apply only to closed-end sleeves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Real Assets Portfolio</dc:title>
  <dc:subject>Real Assets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