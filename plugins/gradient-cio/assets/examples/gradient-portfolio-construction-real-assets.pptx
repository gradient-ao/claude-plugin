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cat>
            <c:strRef>
              <c:f>Sheet1!$A$2:$A$7</c:f>
              <c:strCache>
                <c:ptCount val="6"/>
                <c:pt idx="0">
                  <c:v>Listed real estate</c:v>
                </c:pt>
                <c:pt idx="1">
                  <c:v>Listed infrastructure</c:v>
                </c:pt>
                <c:pt idx="2">
                  <c:v>Private real estate</c:v>
                </c:pt>
                <c:pt idx="3">
                  <c:v>Private infrastructure</c:v>
                </c:pt>
                <c:pt idx="4">
                  <c:v>Natural resources</c:v>
                </c:pt>
                <c:pt idx="5">
                  <c:v>Commodity securities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50000000.0</c:v>
                </c:pt>
                <c:pt idx="1">
                  <c:v>30000000.0</c:v>
                </c:pt>
                <c:pt idx="2">
                  <c:v>30000000.0</c:v>
                </c:pt>
                <c:pt idx="3">
                  <c:v>25000000.0</c:v>
                </c:pt>
                <c:pt idx="4">
                  <c:v>10000000.0</c:v>
                </c:pt>
                <c:pt idx="5">
                  <c:v>5000000.0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Listed real estate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5.0</c:v>
                </c:pt>
                <c:pt idx="1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Listed infrastructure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3.0</c:v>
                </c:pt>
                <c:pt idx="1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Private real estate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3.0</c:v>
                </c:pt>
                <c:pt idx="1">
                  <c:v>3.0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Private infrastructure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2.5</c:v>
                </c:pt>
                <c:pt idx="1">
                  <c:v>3.0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Natural resources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1.0</c:v>
                </c:pt>
                <c:pt idx="1">
                  <c:v>1.5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Commodity securities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0.5</c:v>
                </c:pt>
                <c:pt idx="3">
                  <c:v>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0.12</c:v>
                </c:pt>
                <c:pt idx="1">
                  <c:v>0.36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Growth</c:v>
                </c:pt>
                <c:pt idx="1">
                  <c:v>Inflation</c:v>
                </c:pt>
                <c:pt idx="2">
                  <c:v>Rates</c:v>
                </c:pt>
                <c:pt idx="3">
                  <c:v>Commodity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0.27</c:v>
                </c:pt>
                <c:pt idx="1">
                  <c:v>0.32</c:v>
                </c:pt>
                <c:pt idx="2">
                  <c:v>-0.18</c:v>
                </c:pt>
                <c:pt idx="3">
                  <c:v>0.11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14.2%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Real estate</c:v>
                </c:pt>
                <c:pt idx="1">
                  <c:v>Proposed ? Real estate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6.9</c:v>
                </c:pt>
                <c:pt idx="1">
                  <c:v>14.2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+6.9%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shifts 2.0 percentage points from listed real estate toward infrastructure and natural resources [S3][S4]. Why it matters: The largest sub-segment declines under the proposed mix. Uncertainty: CMA, regime, findings, valuation and mapping coverage remain incomplete [S8]. What would change the view: Completed records showing no diversification improvement [S4][S8].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Context is not protection</a:t>
            </a:r>
          </a:p>
          <a:p>
            <a:r>
              <a:t>Observation: Two modeled exposures, inflation and commodities, are positive [S7]. Why it matters: These signals provide diversification context, not a guaranteed hedge. Uncertainty: Governed portfolio inflation sensitivity remains unavailable [S8]. What would change the view: Returned sensitivity results or mandate mappings contradicting both exposures [S7][S8].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Infrastructure balances risk</a:t>
            </a:r>
          </a:p>
          <a:p>
            <a:r>
              <a:t>Observation: Infrastructure has lower expected volatility than real estate and natural resources in the selected assumptions [S6]. Why it matters: Its larger target role balances the broader mix. Uncertainty: Standalone governed mapping for commodity securities remains unavailable [S8]. What would change the view: Refreshed assumptions reversing the relative volatility results [S6][S8].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REAL ASSETS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Real Assets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REAL-ASSETS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15.0%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$28.0M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92880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6235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Valuation lag and structure mix need monitoring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0715"/>
            <a:ext cx="10908792" cy="19176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510715"/>
            <a:ext cx="54864" cy="19176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6204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903907"/>
            <a:ext cx="10616184" cy="14329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15.0% real-assets allocation while shifting 2.0 percentage points from listed real estate to infrastructure and natural resources across marketable and drawdown sleeves [S3][S4]. Committee action requested: approve the target structure and phased implementation, subject to valuation refresh, manager diligence and liquidity tests [S3][S7][S8].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538064"/>
            <a:ext cx="2644902" cy="16798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538064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6660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9221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15.0%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15.0%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538064"/>
            <a:ext cx="2644902" cy="16798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538064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6660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 SHARE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9221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53.3% of real assets [S4]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538064"/>
            <a:ext cx="2644902" cy="16798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538064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6660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9221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$28.0M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2.8% of NAV [S4]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538064"/>
            <a:ext cx="2644902" cy="16798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538064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6660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9221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Near limit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valuation lag [S3][S4]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9062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906219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2158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2.0 percentage-point shift from listed real estate to infrastructure and natural resources while holding the 15.0% total allocation. Committee action requested: approve the target and staged implementation [S3][S4][S8].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4182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616147"/>
          <a:ext cx="10908792" cy="13065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2663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66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6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5.0% to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6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 and 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6.0% to 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032406"/>
            <a:ext cx="10908792" cy="80552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032406"/>
            <a:ext cx="54864" cy="80552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14213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425598"/>
            <a:ext cx="10616184" cy="32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Refresh private valuations, confirm the commodity and inflation-linked mandate mappings, and complete manager diligence before funding [S7][S8].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7663"/>
            <a:ext cx="10908792" cy="12702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947663"/>
            <a:ext cx="54864" cy="12702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50573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Valuation 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340855"/>
            <a:ext cx="10616184" cy="7856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Valuation lag and the listed-versus-private mix both need monitoring [S1]. Why it matters: The 2.0pp shift to infrastructure and natural resources depends on current private marks. Uncertainty: Private valuations are reported with a lag. What would change the view: Refreshed marks that change the relative weights.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23288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23288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Sleeve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74825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 assets are 15.0% of total NAV [S2]. Why it matters: The proposal reshapes the sleeve without changing its total. Uncertainty: The weight moves with listed real estate prices. What would change the view: A drift of more than 1pp before funding.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68494"/>
            <a:ext cx="10908792" cy="25494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668494"/>
            <a:ext cx="54864" cy="254942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77822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limit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061686"/>
            <a:ext cx="10616184" cy="20647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real-assets allocation is near its policy limit [S3]. Why it matters: Funding must be staged so the sleeve stays inside its range. Uncertainty: The limit test uses lagged private valuations. What would change the view: A valuation refresh that moves the sleeve away from the limit.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Inflation Objective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 real-assets diversification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Participate in inflation-sensitive cash flows without a guaranteed outcome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10.0%–20.0%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10.0%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most 90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Real Assets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ALLOCATION BY SUB-SEGMENT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Real Assets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4904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9863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64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200406"/>
            <a:ext cx="10908792" cy="10175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 exposures use returned market value; drawdown exposures use NAV. Unfunded commitments are shown separately and are not added to NAV [S4].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Listed real estate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9824" y="1951146"/>
            <a:ext cx="5779008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747504" y="1877263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880860" y="178490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560320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Listed infrastructure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9824" y="2874690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6858000" y="2800807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8325612" y="270845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483864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real estate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9824" y="3798234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6858000" y="372435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880860" y="363199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4407408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infrastructure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9824" y="4721778"/>
            <a:ext cx="28895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6135624" y="464789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880860" y="4555540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40080" y="5330952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Natural resources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5645322"/>
            <a:ext cx="28895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Oval 26"/>
          <p:cNvSpPr/>
          <p:nvPr/>
        </p:nvSpPr>
        <p:spPr>
          <a:xfrm>
            <a:off x="3968496" y="557143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4713732" y="547908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Sub-Segment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254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220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largest sub-segment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marketable infrastructure role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while valuations refresh [S4][S8]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 after diligence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20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0.0%–2.0%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Broaden sub-segment mix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0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Mandate-specific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pending mapping review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964150"/>
            <a:ext cx="10908792" cy="14606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964150"/>
            <a:ext cx="54864" cy="14606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07387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357342"/>
            <a:ext cx="10616184" cy="9760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shifts 2.0 percentage points from listed real estate toward infrastructure and natural resources [S3][S4]. Why it matters: The largest sub-segment declines under the proposed mix…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34530"/>
            <a:ext cx="10908792" cy="6833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2223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4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4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real-assets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45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real-assets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322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06615"/>
          <a:ext cx="10908792" cy="2049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099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366146"/>
            <a:ext cx="10908792" cy="8517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INFLATION-SENSITIVITY 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HEADLINE INFLATION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2026-06-30 [S7]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394710" y="160020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50443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 EXPOSURE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[S7]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934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149340" y="16002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25906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RATES EXPOSURE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[S7]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3970" y="1600200"/>
            <a:ext cx="2644902" cy="4617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8903970" y="16002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9013698" y="17282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INFLATION SENSITIVITY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19842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governed result [S8]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REAL-ASSETS FACTORS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Inflation, Commodity and Diversification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CONTEXT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724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11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Indicator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 / sensitivity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11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Headline inflation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 year over 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11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Energy positioning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long index at 58th percentile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CFTC context only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11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inflation sensitivity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sensitivity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34506"/>
            <a:ext cx="10908792" cy="17824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434506"/>
            <a:ext cx="54864" cy="178245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54423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Context is not protection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27698"/>
            <a:ext cx="10616184" cy="12978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modeled exposures, inflation and commodities, are positive [S7]. Why it matters: These signals provide diversification context, not a guaranteed hedge. Uncertainty: Governed portfolio inflation sensitivity remains…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26691"/>
            <a:ext cx="10908792" cy="8912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Macro and positioning evidence is context only; it does not establish inflation protection or explain portfolio performance [S5][S7].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test-ra-forward-2026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REAL-ASSETS FORWARD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723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7234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Infrastructure balances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877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Infrastructure has lower expected volatility than real estate and natural resources in the selected assumptions [S6]. Why it matters: Its larger target role balances the broader mix…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795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282276"/>
          <a:ext cx="10908792" cy="20902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483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Mapping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83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83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83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83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— mapping not provided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standalone CMA class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83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Inflation-linked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— mapping not provided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standalone CMA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5482270"/>
            <a:ext cx="10908792" cy="73564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Liquidity and 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DRAWDOWN REAL-ASSETS CALLS AND DISTRIBUTIONS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5,000,000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8,000,000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7,000,000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Liquidity and Valuation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AND VALUATION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33732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6220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 / 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$12.0M unfunded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$10.0M unfunded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6220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$6.0M unfunded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083134"/>
            <a:ext cx="10908792" cy="11347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and valuation coverage metadata follow [S8].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Liquidity and Valuation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 of NAV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share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 of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 of NAV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liquidity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Fund Diligence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EVIDENCE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Real Estate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Close valuation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Infrastructure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High findings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annual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Natural Resources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Diligence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proposed natural-resources manager requires comparison, operational diligence and performance-integrity review before funding 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coverage 6.2x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Inflation shock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634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2693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recheck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 to 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 and distributions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ODD and valuation refresh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natural resources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Sale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approved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34459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18913"/>
          <a:ext cx="10908792" cy="1599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53300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330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transition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Listed real-estate 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structure objective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30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Drawdown-only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Potential long-duration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Higher lock-up and pacing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balance preferred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883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8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valuation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91 days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valuations before commitment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 and linker mapping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IPS taxonomy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8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314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867465"/>
          <a:ext cx="10908792" cy="235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09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private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mandate mappings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IPS addendum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 natural-resources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commitment-pacing include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S6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valuation-age rules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value, NAV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Five-year sleeve period unavailable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 and pacing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classes and drawdown charts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and diligence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mappings and scenarios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Commodity, linker and shock mappings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context was skipped because peer allocation intelligence is not licensed for this organization. This construction report uses portfolio evidence only.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Real-assets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get_portfolio_exposure; 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context and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mappings and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907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commitments; 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754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8467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467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46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value or NAV;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63967"/>
            <a:ext cx="10908792" cy="27539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 valuations may lag the report date [S4]; forward values are assumptions, not forecasts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Drawdown charts cover closed-end sleeves only [S6]; commodity and linker mappings were not provided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Strategy Lab results are calculated separately. AI-assisted;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Real Assets Portfolio</dc:title>
  <dc:subject>Real Assets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