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Met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Claim &amp; verification</c:v>
                </c:pt>
                <c:pt idx="1">
                  <c:v>Report numbers &amp; disclosures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2.0</c:v>
                </c:pt>
                <c:pt idx="1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Partially met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Claim &amp; verification</c:v>
                </c:pt>
                <c:pt idx="1">
                  <c:v>Report numbers &amp; disclosures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1.0</c:v>
                </c:pt>
                <c:pt idx="1">
                  <c:v>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met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Claim &amp; verification</c:v>
                </c:pt>
                <c:pt idx="1">
                  <c:v>Report numbers &amp; disclosures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</c:v>
                </c:pt>
                <c:pt idx="1">
                  <c:v>1.0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Not found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Claim &amp; verification</c:v>
                </c:pt>
                <c:pt idx="1">
                  <c:v>Report numbers &amp; disclosures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1.0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2.0</c:v>
                </c:pt>
                <c:pt idx="2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Asset evidence needs reconciliation</a:t>
            </a:r>
          </a:p>
          <a:p>
            <a:r>
              <a:t>Observation: The DDQ and GIPS Report differ on composite assets [S1, S3]. Why it matters: the inconsistency limits reliance on the reported composite scale. Uncertainty: the effective date of any asset change is not documented. What would change the view: evidence closing follow-up request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274320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t>GIPS MANAGER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t>Northfield Example Capital — GIPS Manager Diligence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t>Global Value Equity Composite · data through 2025-12-31 · synthetic example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SUBJECT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Northfield Example Capital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DOCUMENT REVIEWED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GIPS Composite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DATA 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VERIFIER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Example Verifier LLP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PREPARED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Gradient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REVIEW 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2026-10-04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SYNTHETIC EXAMPLE — layout 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73952"/>
            <a:ext cx="16459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06508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06508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Bottom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5804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The firm-wide GIPS claim is correctly worded and verified through 2024 [S1] [S2]. Two Medium findings need answers before approval: composite assets in the DDQ do not match the GIPS Report, and the fee schedule omits the performance fee [S1] [S3].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00697"/>
            <a:ext cx="2644902" cy="27172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50069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62871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MET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88474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Four requirements evidenced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4710" y="3500697"/>
            <a:ext cx="2644902" cy="27172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94710" y="350069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4438" y="362871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PARTIALLY MET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4438" y="388474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Verification and fee disclosure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9340" y="3500697"/>
            <a:ext cx="2644902" cy="27172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9340" y="3500697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9068" y="362871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NOT MET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388474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DDQ asset inconsistency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3970" y="3500697"/>
            <a:ext cx="2644902" cy="27172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3970" y="350069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13698" y="362871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NOT FOUND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3698" y="388474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Composite descriptions list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EXAMPLE — layout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EVIDENCE STATUS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7922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4805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4805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GIPS Composite Report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Data through 2025-12-31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805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Verification letter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Coverage through 2024-12-31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805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DDQ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Composite assets conflict with the report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02142"/>
            <a:ext cx="10908792" cy="184735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Overall assessment:** Satisfactory with follow-ups.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Firm-wide compliance claim uses the required wording (4.C.1) and is verified through 2024-12-31.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Medium:** the DDQ states composite assets of $2.4B; the GIPS Report shows $2.1B at 2025-12-31 (1.A.7).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Medium:** the fee schedule disclosure omits the performance fee (4.C.11).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459227"/>
            <a:ext cx="10908792" cy="75869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5459227"/>
            <a:ext cx="54864" cy="75869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556895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evidence balance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852419"/>
            <a:ext cx="10616184" cy="2740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Met is 4 and Not met is 1 [S1]. Why it matters: The evidence is mixed. Uncertainty: The review is document-bound. What would change the view: Additional governed evidence that changes either count.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EXAMPLE — layout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139683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139683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partial support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91219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Partially met is 2 [S1]. Why it matters: Partial support limits a clean conclusion. Uncertainty: Missing documents may exist. What would change the view: Complete evidence for the partially supported requirements.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32438"/>
            <a:ext cx="10908792" cy="146481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2438"/>
            <a:ext cx="54864" cy="146481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9421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evidence gaps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225630"/>
            <a:ext cx="10616184" cy="98018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Not found is 1 [S1]. Why it matters: Unlocated evidence remains outside the assessment. Uncertainty: Absence from the supplied record is not proof of absence. What would change the view: A current document resolving the gap.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06984"/>
            <a:ext cx="10908792" cy="181093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06984"/>
            <a:ext cx="54864" cy="181093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1" y="451671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Asset evidence needs reconciliation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4800176"/>
            <a:ext cx="10616184" cy="132630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DDQ and GIPS Report differ on composite assets [S1, S3]. Why it matters: the inconsistency limits reliance on the reported composite scale. Uncertainty: the effective date…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EXAMPLE — layout 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Performance Integrity &amp; GIPS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REQUIREMENT EVIDENCE MATRIX (TEST)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4396"/>
                <a:gridCol w="5454396"/>
              </a:tblGrid>
              <a:tr h="115443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 score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Performance record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Disclosures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0.5</a:t>
                      </a:r>
                    </a:p>
                  </a:txBody>
                  <a:tcPr marL="54864" marR="54864" marT="27432" marB="27432" anchor="ctr">
                    <a:solidFill>
                      <a:srgbClr val="D6F574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Governance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EXAMPLE — layout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Performance Integrity &amp; GIPS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Overall assessment:** Satisfactory with follow-ups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GIPS status:** Northfield claims compliance with the GIPS standards. Verified by Example Verifier LLP for 2015-01-01 to 2024-12-31. No performance examination of the composite. Report reviewed: Global Value Equity Composite, data through 2025-12-31.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Key findings**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[Medium] DDQ composite assets differ from the GIPS Report by $0.3B (1.A.7)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[Medium] Fee schedule omits the performance fee (4.C.11)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[Low] Verification gap of 12 months to the latest year-end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Track record notes:** 11 years of annual returns, net of actual fees; global value equity benchmark; 14 portfolios; no carve-outs or portability.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Follow-ups before approval**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Reconcile composite assets between the DDQ and the GIPS Report.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Provide the full fee schedule including the performance fee.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EXAMPLE — layout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Follow-up Requests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Composite asset reconciliation between DDQ 7.3 and the GIPS Report (1.A.7).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Full fee schedule including the performance fee (4.C.11).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List of composite descriptions (4.C.15).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EXAMPLE — layout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Findings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CHECKLIST STATUS BY AREA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EXAMPLE — layout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Findings Checklist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FINDINGS BY SEVERITY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EXAMPLE — layout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Findings Checklist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Claim &amp; verification</a:t>
            </a:r>
            <a:br/>
            <a:br/>
            <a:r>
              <a:t> ·  Area  ·  Requirement  ·  Provision  ·  Status  ·  Evidence  ·  Finding / follow-up  · </a:t>
            </a:r>
            <a:br/>
            <a:br/>
            <a:r>
              <a:t> ·  Claim  ·  Compliance statement wording  ·  4.C.1  ·  Met  ·  GIPS Report p.2  ·  —  · </a:t>
            </a:r>
            <a:br/>
            <a:br/>
            <a:r>
              <a:t> ·  Claim  ·  Firm-wide claim  ·  1.A.1  ·  Met  ·  GIPS Report p.2  ·  —  · </a:t>
            </a:r>
            <a:br/>
            <a:br/>
            <a:r>
              <a:t> ·  Verification  ·  Verification covers recent periods  ·  Verification  ·  Partially met  ·  Letter 2026-03-15  ·  2025 not yet verified  · </a:t>
            </a:r>
            <a:br/>
            <a:br/>
            <a:r>
              <a:t>Report numbers &amp; disclosures</a:t>
            </a:r>
            <a:br/>
            <a:br/>
            <a:r>
              <a:t> ·  Area  ·  Requirement  ·  Provision  ·  Status  ·  Evidence  ·  Finding / follow-up  · </a:t>
            </a:r>
            <a:br/>
            <a:br/>
            <a:r>
              <a:t> ·  Numbers  ·  Composite assets each year  ·  4.A.1  ·  Met  ·  GIPS Report p.1  ·  —  · </a:t>
            </a:r>
            <a:br/>
            <a:br/>
            <a:r>
              <a:t> ·  Consistency  ·  DDQ agrees with GIPS Report  ·  1.A.7  ·  Not met  ·  DDQ 7.3 vs Report p.1  ·  $2.4B vs $2.1B  · </a:t>
            </a:r>
            <a:br/>
            <a:br/>
            <a:r>
              <a:t> ·  Disclosures  ·  Fee schedule  ·  4.C.11  ·  Partially met  ·  GIPS Report p.3  ·  Performance fee missing  · </a:t>
            </a:r>
            <a:br/>
            <a:br/>
            <a:r>
              <a:t> ·  Disclosures  ·  Benchmark description  ·  4.C.32  ·  Met  ·  GIPS Report p.3  ·  —  · </a:t>
            </a:r>
            <a:br/>
            <a:br/>
            <a:r>
              <a:t> ·  Policies  ·  List of composite descriptions available  ·  4.C.15  ·  Not found  ·  —  ·  Request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EXAMPLE — layout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Findings Checklist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PRIORITY FINDINGS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Composite assets conflict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The DDQ reports $2.4B while the GIPS Report reports $2.1B [S1, 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Fee schedule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The reviewed fee schedule omits the performance fee [S1].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Verification period gap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Verification evidence ends at 2024-12-31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EXAMPLE — layout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·  Tag  ·  Source  ·  Detail  ·  As of  ·  Validation  · </a:t>
            </a:r>
            <a:br/>
            <a:br/>
            <a:r>
              <a:t> ·  S1  ·  GIPS Composite Report  ·  Global Value Equity, pp.1–3  ·  2025-12-31  ·  Document  · </a:t>
            </a:r>
            <a:br/>
            <a:br/>
            <a:r>
              <a:t> ·  S2  ·  Verification letter  ·  Example Verifier LLP  ·  2026-03-15  ·  Document  · </a:t>
            </a:r>
            <a:br/>
            <a:br/>
            <a:r>
              <a:t> ·  S3  ·  DDQ  ·  Section 7  ·  2026-06-30  ·  Document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EXAMPLE — layout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Method &amp;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Ratings follow the High/Medium/Low scale and overall-assessment rules in the Gradient GIPS output format. This is a diligence review against the published 2020 GIPS standards, not a verification, compliance certification or legal opinion.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EXAMPLE — layout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Northfield Example Capital — GIPS Manager Diligence</dc:title>
  <dc:subject>GIPS Review</dc:subject>
  <dc:creator>GradientCIO</dc:creator>
  <cp:keywords/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