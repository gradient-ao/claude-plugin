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</c:v>
                </c:pt>
                <c:pt idx="1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Claim &amp; verification</c:v>
                </c:pt>
                <c:pt idx="1">
                  <c:v>Report numbers &amp; disclosures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composite scale is unresolved</a:t>
            </a:r>
          </a:p>
          <a:p>
            <a:r>
              <a:t>Observation: Composite assets differ by $0.3B across two records [S1, S3]. Why it matters: Scale changes the context for the presented track record. Uncertainty: Effective dates and reconciliation records were not supplied. What would change the view: Follow-up request 1 producing a dated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net-return fee basis is incomplete</a:t>
            </a:r>
          </a:p>
          <a:p>
            <a:r>
              <a:t>Observation: One stated performance fee is absent from the schedule [S1]. Why it matters: Net-return interpretation depends on a complete fee basis. Uncertainty: The supplied report may omit a separately approved schedule. What would change the view: Follow-up request 2 producing approved fee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MANAGER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Northfield Example Capital — GIPS Manager Diligence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Global Value Equity Composite · data through 2025-12-31 · synthetic 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Northfield Example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DOCUMENT REVIEWED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GIPS 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VERIFIER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Verifier LLP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REQUIREMENTS EVIDENCED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 of 8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9199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9199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4353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firm-wide claim is correctly worded and verified through 2024 [S1][S2]. The Performance Integrity Memo records two Medium follow-ups: reconcile composite assets and complete the performance-fee disclosure [S1][S3].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55578"/>
            <a:ext cx="2644902" cy="2862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35557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348359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73962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Claim, assets and benchmark evidenced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55578"/>
            <a:ext cx="2644902" cy="2862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35557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348359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73962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Verification and fee disclosure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55578"/>
            <a:ext cx="2644902" cy="2862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355578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348359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73962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 assets conflict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55578"/>
            <a:ext cx="2644902" cy="2862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35557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348359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73962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 descriptions 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18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96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96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GIPS 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Value Equity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6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letter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verification through 2024-12-31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96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section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assets conflict with the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628637"/>
            <a:ext cx="10908792" cy="14022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The compliance claim is supported, but composite-scale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40575"/>
            <a:ext cx="10908792" cy="10773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140575"/>
            <a:ext cx="54864" cy="107734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2503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claim wording is 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533767"/>
            <a:ext cx="10616184" cy="5927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firm-wide compliance statement follows the required wording in the reviewed report [S1]. This supports the presentation of the claim, but wording alone does not establish that every firm process, composite record and disclosure operated consistently during the covered periods.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723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7232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latest year is outside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876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Verification covers 2015–2024 while the composite report extends through 2025 [S1, S2]. The latest reported year therefore sits outside the stated verification period, so readers should not infer verifier coverage for 2025 from the earlier opinion.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07929"/>
            <a:ext cx="10908792" cy="15089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007929"/>
            <a:ext cx="54864" cy="1508921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1765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scale conflicts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01121"/>
            <a:ext cx="10616184" cy="10242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DDQ reports $2.4B of composite assets versus $2.1B in the year-end report [S1, S3]. The $0.3B difference remains unresolved because the records do not provide aligned effective dates or a reconciliation of flows and valuation changes.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26578"/>
            <a:ext cx="10908792" cy="1591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26578"/>
            <a:ext cx="54864" cy="159134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363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basis is incomplete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19770"/>
            <a:ext cx="10616184" cy="11067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describes management fees but does not identify the stated performance fee [S1]. This omission limits interpretation of net returns because the reviewed schedule does not establish whether that additional fee applies or how it is reflected.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076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1908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90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assets conflict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DDQ reports $2.4B while the GIPS Report reports $2.1B [S1, 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90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schedule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reviewed fee disclosure omits the performance fee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90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period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evidence ends at 2024-12-31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86283"/>
            <a:ext cx="10908792" cy="1068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Two Medium findings limit reliance on the supplied record: composite assets conflict across the DDQ and GIPS</a:t>
            </a:r>
            <a:br/>
            <a:br/>
            <a:r>
              <a:rPr>
                <a:latin typeface="Inter"/>
              </a:rPr>
              <a:t>Report, and the fee schedule does not identify the performance fee. Verification ends one year before the</a:t>
            </a:r>
            <a:br/>
            <a:br/>
            <a:r>
              <a:rPr>
                <a:latin typeface="Inter"/>
              </a:rPr>
              <a:t>latest report period, a Low finding [S1][S2][S3].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964500"/>
            <a:ext cx="10908792" cy="12534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964500"/>
            <a:ext cx="54864" cy="12534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07422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composite scale is unresolved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57692"/>
            <a:ext cx="10616184" cy="7687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Composite assets differ by $0.3B across two records [S1, S3]. Why it matters: Scale changes the context for the presented track record. Uncertainty: Effective dates and reconciliation…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net-return fee basis is incomplete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stated performance fee is absent from the schedule [S1]. Why it matters: Net-return interpretation depends on a complete fee basis. Uncertainty: The supplied report may omit…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memo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TRACK-RECORD RELIANCE BY EVIDENCE AREA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Supported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follow-up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Compliance claim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scale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memo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status:** Northfield claims compliance with the GIPS standards. Verified by Example Verifier LLP for 2015-01-01 to 2024-12-31. No performance examination of the composite. Report reviewed: Global Value Equity Composite, data through 2025-12-31.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findings**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[Medium] DDQ composite assets differ from the GIPS Report by $0.3B (1.A.7)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[Medium] Fee schedule omits the performance fee (4.C.11)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[Low] Verification gap of 12 months to the latest year-end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Track record notes:** 11 years of annual returns, net of actual fees; global value equity benchmark; 14 portfolios; no carve-outs or portability.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Follow-ups before approval**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Reconcile composite assets between the DDQ and the GIPS Report.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full fee schedule including the performance fee.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2878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a dated reconciliation of the $2.4B DDQ and $2.1B report composite assets.</a:t>
            </a:r>
            <a:br/>
            <a:r>
              <a:rPr>
                <a:latin typeface="Inter"/>
              </a:rPr>
              <a:t>      Closes the 1.A.7 inconsistency [S1][S3].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schedule, including the performance fee.</a:t>
            </a:r>
            <a:br/>
            <a:r>
              <a:rPr>
                <a:latin typeface="Inter"/>
              </a:rPr>
              <a:t>      Closes the 4.C.11 disclosure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Provide the current list of composite descriptions.</a:t>
            </a:r>
            <a:br/>
            <a:r>
              <a:rPr>
                <a:latin typeface="Inter"/>
              </a:rPr>
              <a:t>      Closes the 4.C.15 evidence request [S1].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23447"/>
            <a:ext cx="10908792" cy="1494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a dated composite-asset reconciliation between DDQ 7.3 and the GIPS Report (1.A.7) [S1][S3].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full fee schedule including the performance fee (4.C.11)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current list of composite descriptions (4.C.15)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Claim &amp; verification</a:t>
            </a:r>
            <a:br/>
            <a:br/>
            <a:r>
              <a:rPr>
                <a:latin typeface="Inter"/>
              </a:rPr>
              <a:t> 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Claim  ·  Compliance statement wording  ·  4.C.1  ·  Met  ·  GIPS Report p.2  ·  —  · </a:t>
            </a:r>
            <a:br/>
            <a:br/>
            <a:r>
              <a:rPr>
                <a:latin typeface="Inter"/>
              </a:rPr>
              <a:t> ·  Claim  ·  Firm-wide claim  ·  1.A.1  ·  Met  ·  GIPS Report p.2  ·  —  · </a:t>
            </a:r>
            <a:br/>
            <a:br/>
            <a:r>
              <a:rPr>
                <a:latin typeface="Inter"/>
              </a:rPr>
              <a:t> ·  Verification  ·  Verification covers recent periods  ·  Verification  ·  Partially met  ·  Letter 2026-03-15  ·  2025 not yet verified  · </a:t>
            </a:r>
            <a:br/>
            <a:br/>
            <a:r>
              <a:rPr>
                <a:latin typeface="Inter"/>
              </a:rPr>
              <a:t>Report numbers &amp; disclosures</a:t>
            </a:r>
            <a:br/>
            <a:br/>
            <a:r>
              <a:rPr>
                <a:latin typeface="Inter"/>
              </a:rPr>
              <a:t> 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Numbers  ·  Composite assets each year  ·  4.A.1  ·  Met  ·  GIPS Report p.1  ·  —  · </a:t>
            </a:r>
            <a:br/>
            <a:br/>
            <a:r>
              <a:rPr>
                <a:latin typeface="Inter"/>
              </a:rPr>
              <a:t> ·  Consistency  ·  DDQ agrees with GIPS Report  ·  1.A.7  ·  Not met  ·  DDQ 7.3 vs Report p.1  ·  $2.4B vs $2.1B  · </a:t>
            </a:r>
            <a:br/>
            <a:br/>
            <a:r>
              <a:rPr>
                <a:latin typeface="Inter"/>
              </a:rPr>
              <a:t> ·  Disclosures  ·  Fee schedule  ·  4.C.11  ·  Partially met  ·  GIPS Report p.3  ·  Performance fee missing  · </a:t>
            </a:r>
            <a:br/>
            <a:br/>
            <a:r>
              <a:rPr>
                <a:latin typeface="Inter"/>
              </a:rPr>
              <a:t> ·  Disclosures  ·  Benchmark description  ·  4.C.32  ·  Met  ·  GIPS Report p.3  ·  —  · </a:t>
            </a:r>
            <a:br/>
            <a:br/>
            <a:r>
              <a:rPr>
                <a:latin typeface="Inter"/>
              </a:rPr>
              <a:t> ·  Policies  ·  List of composite descriptions available  ·  4.C.15  ·  Not found  ·  —  ·  Request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Tag  ·  Source  ·  Detail  ·  As of  ·  Validation  · </a:t>
            </a:r>
            <a:br/>
            <a:br/>
            <a:r>
              <a:rPr>
                <a:latin typeface="Inter"/>
              </a:rPr>
              <a:t> ·  S1  ·  GIPS Composite Report  ·  Global Value Equity, pp.1–3  ·  2025-12-31  ·  Document  · </a:t>
            </a:r>
            <a:br/>
            <a:br/>
            <a:r>
              <a:rPr>
                <a:latin typeface="Inter"/>
              </a:rPr>
              <a:t> ·  S2  ·  Verification letter  ·  Example Verifier LLP  ·  2026-03-15  ·  Document  · </a:t>
            </a:r>
            <a:br/>
            <a:br/>
            <a:r>
              <a:rPr>
                <a:latin typeface="Inter"/>
              </a:rPr>
              <a:t> ·  S3  ·  DDQ  ·  Section 7  ·  2026-06-30  · 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Ratings follow the High/Medium/Low scale and overall-assessment rules in the Gradient GIPS output format. This is a diligence review against the published 2020 GIPS standards, not a verification, compliance certification or legal opinion.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EXAMPLE — layout test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Northfield Example Capital — GIPS Manager Diligence</dc:title>
  <dc:subject>GIPS Review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