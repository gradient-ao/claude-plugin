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Met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Claim &amp; verification</c:v>
                </c:pt>
                <c:pt idx="1">
                  <c:v>Report numbers &amp; disclosures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met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Claim &amp; verification</c:v>
                </c:pt>
                <c:pt idx="1">
                  <c:v>Report numbers &amp; disclosures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</c:v>
                </c:pt>
                <c:pt idx="1">
                  <c:v>1.0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met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Claim &amp; verification</c:v>
                </c:pt>
                <c:pt idx="1">
                  <c:v>Report numbers &amp; disclosures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</c:v>
                </c:pt>
                <c:pt idx="1">
                  <c:v>1.0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found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Claim &amp; verification</c:v>
                </c:pt>
                <c:pt idx="1">
                  <c:v>Report numbers &amp; disclosures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0.0</c:v>
                </c:pt>
                <c:pt idx="1">
                  <c:v>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composite scale is unresolved</a:t>
            </a:r>
          </a:p>
          <a:p>
            <a:r>
              <a:t>Observation: Composite assets differ by $0.3B across two records [S1, S3]. Why it matters: Scale changes the context for the presented track record. Uncertainty: Effective dates and reconciliation records were not supplied. What would change the view: Follow-up request 1 producing a dated reconciliation.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net-return fee basis is incomplete</a:t>
            </a:r>
          </a:p>
          <a:p>
            <a:r>
              <a:t>Observation: One stated performance fee is absent from the schedule [S1]. Why it matters: Net-return interpretation depends on a complete fee basis. Uncertainty: The supplied report may omit a separately approved schedule. What would change the view: Follow-up request 2 producing approved fee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GIPS MANAGER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Northfield Example Capital — GIPS Manager Diligence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Global Value Equity Composite · data through 2025-12-31 · synthetic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Northfield Example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DOCUMENT REVIEWED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GIPS Composite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2025-12-31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VERIFIER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Example Verifier LLP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Satisfactory with follow-ups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REQUIREMENTS EVIDENCED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7 of 8 · 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91997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91997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43533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firm-wide claim is correctly worded and verified through 2024 [S1][S2]. The Performance Integrity Memo records two Medium follow-ups: reconcile composite assets and complete the performance-fee disclosure [S1][S3].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55578"/>
            <a:ext cx="2644902" cy="286234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355578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49808" y="3483594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739626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Claim, assets and benchmark evidenced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355578"/>
            <a:ext cx="2644902" cy="286234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394710" y="3355578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04438" y="3483594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PARTIALLY 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3739626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Verification and fee disclosure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3355578"/>
            <a:ext cx="2644902" cy="286234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6149340" y="3355578"/>
            <a:ext cx="264490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259068" y="3483594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3739626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Composite assets conflict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3355578"/>
            <a:ext cx="2644902" cy="286234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8903970" y="3355578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013698" y="3483594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3739626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5888735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Composite descriptions 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EVIDENCE COVERAGE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918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7967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796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GIPS Composite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Global Value Equity through 2025-12-31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967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Verification letter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Firm verification through 2024-12-31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7967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DDQ section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Composite assets conflict with the report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628637"/>
            <a:ext cx="10908792" cy="140220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Overall assessment:** Satisfactory with follow-ups. The compliance claim is supported, but composite-scale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140575"/>
            <a:ext cx="10908792" cy="107734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5140575"/>
            <a:ext cx="54864" cy="107734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525030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claim wording is 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533767"/>
            <a:ext cx="10616184" cy="5927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firm-wide compliance statement follows the required wording in the reviewed report [S1]. This supports the presentation of the claim, but wording alone does not establish that every firm process, composite record and disclosure operated consistently during the covered periods.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7232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57232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latest year is outside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08768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Verification covers 2015–2024 while the composite report extends through 2025 [S1, S2]. The latest reported year therefore sits outside the stated verification period, so readers should not infer verifier coverage for 2025 from the earlier opinion.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07929"/>
            <a:ext cx="10908792" cy="150892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007929"/>
            <a:ext cx="54864" cy="1508921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11765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composite scale conflicts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401121"/>
            <a:ext cx="10616184" cy="102428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DDQ reports $2.4B of composite assets versus $2.1B in the year-end report [S1, S3]. The $0.3B difference remains unresolved because the records do not provide aligned effective dates or a reconciliation of flows and valuation changes.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26578"/>
            <a:ext cx="10908792" cy="159134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" y="4626578"/>
            <a:ext cx="54864" cy="1591341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04671" y="473630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fee basis is incomplete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019770"/>
            <a:ext cx="10616184" cy="110670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report describes management fees but does not identify the stated performance fee [S1]. This omission limits interpretation of net returns because the reviewed schedule does not establish whether that additional fee applies or how it is reflected.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CHECKLIST STATUS BY AREA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FINDINGS BY SEVERITY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PRIORITY FINDINGS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076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19088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190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Composite assets conflict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DDQ reports $2.4B while the GIPS Report reports $2.1B [S1, S3].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1908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Fee schedule incomplete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reviewed fee disclosure omits the performance fee [S1].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190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Verification period gap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Verification evidence ends at 2024-12-31 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786283"/>
            <a:ext cx="10908792" cy="1068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Two Medium findings limit reliance on the supplied record: composite assets conflict across the DDQ and GIPS</a:t>
            </a:r>
            <a:br/>
            <a:br/>
            <a:r>
              <a:rPr>
                <a:latin typeface="Inter"/>
              </a:rPr>
              <a:t>Report, and the fee schedule does not identify the performance fee. Verification ends one year before the</a:t>
            </a:r>
            <a:br/>
            <a:br/>
            <a:r>
              <a:rPr>
                <a:latin typeface="Inter"/>
              </a:rPr>
              <a:t>latest report period, a Low finding [S1][S2][S3].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64500"/>
            <a:ext cx="10908792" cy="125341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4964500"/>
            <a:ext cx="54864" cy="125341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507422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composite scale is unresolved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357692"/>
            <a:ext cx="10616184" cy="76878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Composite assets differ by $0.3B across two records [S1, S3]. Why it matters: Scale changes the context for the presented track record. Uncertainty: Effective dates and reconciliation…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net-return fee basis is incomplete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One stated performance fee is absent from the schedule [S1]. Why it matters: Net-return interpretation depends on a complete fee basis. Uncertainty: The supplied report may omit…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integrity memo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TRACK-RECORD RELIANCE BY EVIDENCE AREA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923544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Supported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Needs follow-up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Compliance claim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Verification 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Composite scale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Fee 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DEF69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integrity memo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Overall assessment:** Satisfactory with follow-ups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GIPS status:** Northfield claims compliance with the GIPS standards. Verified by Example Verifier LLP for 2015-01-01 to 2024-12-31. No performance examination of the composite. Report reviewed: Global Value Equity Composite, data through 2025-12-31.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Key findings**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[Medium] DDQ composite assets differ from the GIPS Report by $0.3B (1.A.7)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[Medium] Fee schedule omits the performance fee (4.C.11)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[Low] Verification gap of 12 months to the latest year-end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Track record notes:** 11 years of annual returns, net of actual fees; global value equity benchmark; 14 portfolios; no carve-outs or portability.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Follow-ups before approval**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Reconcile composite assets between the DDQ and the GIPS Report.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full fee schedule including the performance fee.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Follow-up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328783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Provide a dated reconciliation of the $2.4B DDQ and $2.1B report composite assets.</a:t>
            </a:r>
            <a:br/>
            <a:r>
              <a:rPr>
                <a:latin typeface="Inter"/>
              </a:rPr>
              <a:t>      Closes the 1.A.7 inconsistency [S1][S3].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  Provide the complete fee schedule, including the performance fee.</a:t>
            </a:r>
            <a:br/>
            <a:r>
              <a:rPr>
                <a:latin typeface="Inter"/>
              </a:rPr>
              <a:t>      Closes the 4.C.11 disclosure gap [S1].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  Provide the current list of composite descriptions.</a:t>
            </a:r>
            <a:br/>
            <a:r>
              <a:rPr>
                <a:latin typeface="Inter"/>
              </a:rPr>
              <a:t>      Closes the 4.C.15 evidence request [S1].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23447"/>
            <a:ext cx="10908792" cy="149447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a dated composite-asset reconciliation between DDQ 7.3 and the GIPS Report (1.A.7) [S1][S3].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full fee schedule including the performance fee (4.C.11) [S1].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current list of composite descriptions (4.C.15) [S1].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Findings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Claim &amp; verification</a:t>
            </a:r>
            <a:br/>
            <a:br/>
            <a:r>
              <a:rPr>
                <a:latin typeface="Inter"/>
              </a:rPr>
              <a:t> ·  Area  ·  Requirement  ·  Provision  ·  Status  ·  Evidence  ·  Finding / follow-up  · </a:t>
            </a:r>
            <a:br/>
            <a:br/>
            <a:r>
              <a:rPr>
                <a:latin typeface="Inter"/>
              </a:rPr>
              <a:t> ·  Claim  ·  Compliance statement wording  ·  4.C.1  ·  Met  ·  GIPS Report p.2  ·  —  · </a:t>
            </a:r>
            <a:br/>
            <a:br/>
            <a:r>
              <a:rPr>
                <a:latin typeface="Inter"/>
              </a:rPr>
              <a:t> ·  Claim  ·  Firm-wide claim  ·  1.A.1  ·  Met  ·  GIPS Report p.2  ·  —  · </a:t>
            </a:r>
            <a:br/>
            <a:br/>
            <a:r>
              <a:rPr>
                <a:latin typeface="Inter"/>
              </a:rPr>
              <a:t> ·  Verification  ·  Verification covers recent periods  ·  Verification  ·  Partially met  ·  Letter 2026-03-15  ·  2025 not yet verified  · </a:t>
            </a:r>
            <a:br/>
            <a:br/>
            <a:r>
              <a:rPr>
                <a:latin typeface="Inter"/>
              </a:rPr>
              <a:t>Report numbers &amp; disclosures</a:t>
            </a:r>
            <a:br/>
            <a:br/>
            <a:r>
              <a:rPr>
                <a:latin typeface="Inter"/>
              </a:rPr>
              <a:t> ·  Area  ·  Requirement  ·  Provision  ·  Status  ·  Evidence  ·  Finding / follow-up  · </a:t>
            </a:r>
            <a:br/>
            <a:br/>
            <a:r>
              <a:rPr>
                <a:latin typeface="Inter"/>
              </a:rPr>
              <a:t> ·  Numbers  ·  Composite assets each year  ·  4.A.1  ·  Met  ·  GIPS Report p.1  ·  —  · </a:t>
            </a:r>
            <a:br/>
            <a:br/>
            <a:r>
              <a:rPr>
                <a:latin typeface="Inter"/>
              </a:rPr>
              <a:t> ·  Consistency  ·  DDQ agrees with GIPS Report  ·  1.A.7  ·  Not met  ·  DDQ 7.3 vs Report p.1  ·  $2.4B vs $2.1B  · </a:t>
            </a:r>
            <a:br/>
            <a:br/>
            <a:r>
              <a:rPr>
                <a:latin typeface="Inter"/>
              </a:rPr>
              <a:t> ·  Disclosures  ·  Fee schedule  ·  4.C.11  ·  Partially met  ·  GIPS Report p.3  ·  Performance fee missing  · </a:t>
            </a:r>
            <a:br/>
            <a:br/>
            <a:r>
              <a:rPr>
                <a:latin typeface="Inter"/>
              </a:rPr>
              <a:t> ·  Disclosures  ·  Benchmark description  ·  4.C.32  ·  Met  ·  GIPS Report p.3  ·  —  · </a:t>
            </a:r>
            <a:br/>
            <a:br/>
            <a:r>
              <a:rPr>
                <a:latin typeface="Inter"/>
              </a:rPr>
              <a:t> ·  Policies  ·  List of composite descriptions available  ·  4.C.15  ·  Not found  ·  —  ·  Request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Tag  ·  Source  ·  Detail  ·  As of  ·  Validation  · </a:t>
            </a:r>
            <a:br/>
            <a:br/>
            <a:r>
              <a:rPr>
                <a:latin typeface="Inter"/>
              </a:rPr>
              <a:t> ·  S1  ·  GIPS Composite Report  ·  Global Value Equity, pp.1–3  ·  2025-12-31  ·  Document  · </a:t>
            </a:r>
            <a:br/>
            <a:br/>
            <a:r>
              <a:rPr>
                <a:latin typeface="Inter"/>
              </a:rPr>
              <a:t> ·  S2  ·  Verification letter  ·  Example Verifier LLP  ·  2026-03-15  ·  Document  · </a:t>
            </a:r>
            <a:br/>
            <a:br/>
            <a:r>
              <a:rPr>
                <a:latin typeface="Inter"/>
              </a:rPr>
              <a:t> ·  S3  ·  DDQ  ·  Section 7  ·  2026-06-30  ·  Document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Method &amp;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Ratings follow the High/Medium/Low scale and overall-assessment rules in the Gradient GIPS output format. This is a diligence review against the published 2020 GIPS standards, not a verification, compliance certification or legal opinion.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EXAMPLE — layout test · Data as of 2025-12-31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Northfield Example Capital — GIPS Manager Diligence</dc:title>
  <dc:subject>GIPS Review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