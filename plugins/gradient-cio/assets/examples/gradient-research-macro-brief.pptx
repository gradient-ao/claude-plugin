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ns0:presentation xmlns:a="http://schemas.openxmlformats.org/drawingml/2006/main" xmlns:ns0="http://schemas.openxmlformats.org/presentationml/2006/main" xmlns:ns1="http://schemas.openxmlformats.org/officeDocument/2006/relationships" saveSubsetFonts="1" autoCompressPictures="0">
  <ns0:sldMasterIdLst>
    <ns0:sldMasterId id="2147483648" ns1:id="rId1"/>
  </ns0:sldMasterIdLst>
  <ns0:sldIdLst>
    <ns0:sldId id="256" ns1:id="rId7"/>
    <ns0:sldId id="257" ns1:id="rId8"/>
    <ns0:sldId id="258" ns1:id="rId9"/>
    <ns0:sldId id="259" ns1:id="rId10"/>
    <ns0:sldId id="260" ns1:id="rId11"/>
    <ns0:sldId id="261" ns1:id="rId12"/>
    <ns0:sldId id="262" ns1:id="rId13"/>
    <ns0:sldId id="263" ns1:id="rId14"/>
    <ns0:sldId id="264" ns1:id="rId15"/>
    <ns0:sldId id="265" ns1:id="rId16"/>
    <ns0:sldId id="266" ns1:id="rId17"/>
    <ns0:sldId id="267" ns1:id="rId18"/>
    <ns0:sldId id="268" ns1:id="rId19"/>
  </ns0:sldIdLst>
  <ns0:sldSz cx="12191695" cy="6858000" type="screen16x9"/>
  <ns0:notesSz cx="6858000" cy="9144000"/>
  <ns0: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ns0:defaultTextStyle>
</ns0: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spPr>
            <a:solidFill>
              <a:srgbClr val="0D1117"/>
            </a:solidFill>
          </c:spPr>
          <c:dPt>
            <c:idx val="0"/>
            <c:spPr>
              <a:solidFill>
                <a:srgbClr val="C6F432"/>
              </a:solidFill>
            </c:spPr>
          </c:dPt>
          <c:dPt>
            <c:idx val="1"/>
            <c:spPr>
              <a:solidFill>
                <a:srgbClr val="C6F432"/>
              </a:solidFill>
            </c:spPr>
          </c:dPt>
          <c:dPt>
            <c:idx val="2"/>
            <c:spPr>
              <a:solidFill>
                <a:srgbClr val="C6F432"/>
              </a:solidFill>
            </c:spPr>
          </c:dPt>
          <c:dPt>
            <c:idx val="3"/>
            <c:spPr>
              <a:solidFill>
                <a:srgbClr val="C6F432"/>
              </a:solidFill>
            </c:spPr>
          </c:dPt>
          <c:dPt>
            <c:idx val="4"/>
            <c:spPr>
              <a:solidFill>
                <a:srgbClr val="C6F432"/>
              </a:solidFill>
            </c:spPr>
          </c:dPt>
          <c:dPt>
            <c:idx val="5"/>
            <c:spPr>
              <a:solidFill>
                <a:srgbClr val="C6F432"/>
              </a:solidFill>
            </c:spPr>
          </c:dPt>
          <c:dPt>
            <c:idx val="6"/>
            <c:spPr>
              <a:solidFill>
                <a:srgbClr val="C6F432"/>
              </a:solidFill>
            </c:spPr>
          </c:dPt>
          <c:dPt>
            <c:idx val="7"/>
            <c:spPr>
              <a:solidFill>
                <a:srgbClr val="C6F432"/>
              </a:solidFill>
            </c:spPr>
          </c:dPt>
          <c:cat>
            <c:strRef>
              <c:f>Sheet1!$A$2:$A$9</c:f>
              <c:strCache>
                <c:ptCount val="8"/>
                <c:pt idx="0">
                  <c:v>2-Year Treasury</c:v>
                </c:pt>
                <c:pt idx="1">
                  <c:v>1-Year Treasury</c:v>
                </c:pt>
                <c:pt idx="2">
                  <c:v>Fed funds effective</c:v>
                </c:pt>
                <c:pt idx="3">
                  <c:v>3-Month Treasury</c:v>
                </c:pt>
                <c:pt idx="4">
                  <c:v>10Y–3M spread</c:v>
                </c:pt>
                <c:pt idx="5">
                  <c:v>SOFR</c:v>
                </c:pt>
                <c:pt idx="6">
                  <c:v>10Y term premium (ACM)</c:v>
                </c:pt>
                <c:pt idx="7">
                  <c:v>10Y–2Y spread</c:v>
                </c:pt>
              </c:strCache>
            </c:strRef>
          </c:cat>
          <c:val>
            <c:numRef>
              <c:f>Sheet1!$B$2:$B$9</c:f>
              <c:numCache>
                <c:formatCode>General</c:formatCode>
                <c:ptCount val="8"/>
                <c:pt idx="0">
                  <c:v>39.0</c:v>
                </c:pt>
                <c:pt idx="1">
                  <c:v>26.0</c:v>
                </c:pt>
                <c:pt idx="2">
                  <c:v>25.0</c:v>
                </c:pt>
                <c:pt idx="3">
                  <c:v>25.0</c:v>
                </c:pt>
                <c:pt idx="4">
                  <c:v>22.0</c:v>
                </c:pt>
                <c:pt idx="5">
                  <c:v>21.0</c:v>
                </c:pt>
                <c:pt idx="6">
                  <c:v>18.09</c:v>
                </c:pt>
                <c:pt idx="7">
                  <c:v>5.0</c:v>
                </c:pt>
              </c:numCache>
            </c:numRef>
          </c:val>
        </c:ser>
        <c:dLbls>
          <c:txPr>
            <a:bodyPr/>
            <a:lstStyle/>
            <a:p>
              <a:pPr>
                <a:defRPr sz="800"/>
              </a:pPr>
            </a:p>
          </c:txPr>
          <c:dLblPos val="outEnd"/>
          <c:showLegendKey val="0"/>
          <c:showVal val="1"/>
          <c:showCatName val="0"/>
          <c:showSerName val="0"/>
          <c:showPercent val="0"/>
          <c:showBubbleSize val="0"/>
          <c:showLeaderLines val="1"/>
        </c:dLbls>
        <c:gapWidth val="55"/>
        <c:axId val="-2068027336"/>
        <c:axId val="-2113994440"/>
      </c:barChart>
      <c:catAx>
        <c:axId val="-2068027336"/>
        <c:scaling>
          <c:orientation val="minMax"/>
        </c:scaling>
        <c:delete val="0"/>
        <c:axPos val="l"/>
        <c:majorTickMark val="out"/>
        <c:minorTickMark val="none"/>
        <c:tickLblPos val="nextTo"/>
        <c:txPr>
          <a:bodyPr/>
          <a:lstStyle/>
          <a:p>
            <a:pPr>
              <a:defRPr sz="800"/>
            </a:pPr>
          </a:p>
        </c:txPr>
        <c:crossAx val="-2113994440"/>
        <c:crosses val="autoZero"/>
        <c:auto val="1"/>
        <c:lblAlgn val="ctr"/>
        <c:lblOffset val="100"/>
        <c:noMultiLvlLbl val="0"/>
      </c:catAx>
      <c:valAx>
        <c:axId val="-2113994440"/>
        <c:scaling/>
        <c:delete val="0"/>
        <c:axPos val="b"/>
        <c:majorGridlines/>
        <c:majorTickMark val="out"/>
        <c:minorTickMark val="none"/>
        <c:tickLblPos val="nextTo"/>
        <c:txPr>
          <a:bodyPr/>
          <a:lstStyle/>
          <a:p>
            <a:pPr>
              <a:defRPr sz="800"/>
            </a:pPr>
          </a:p>
        </c:txPr>
        <c:crossAx val="-2068027336"/>
        <c:crosses val="autoZero"/>
      </c:valAx>
    </c:plotArea>
    <c:dispBlanksAs val="gap"/>
  </c:chart>
  <c:txPr>
    <a:bodyPr/>
    <a:lstStyle/>
    <a:p>
      <a:pPr>
        <a:defRPr sz="1800"/>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spPr>
            <a:solidFill>
              <a:srgbClr val="0D1117"/>
            </a:solidFill>
          </c:spPr>
          <c:dPt>
            <c:idx val="0"/>
            <c:spPr>
              <a:solidFill>
                <a:srgbClr val="FF6B5E"/>
              </a:solidFill>
            </c:spPr>
          </c:dPt>
          <c:dPt>
            <c:idx val="1"/>
            <c:spPr>
              <a:solidFill>
                <a:srgbClr val="FF6B5E"/>
              </a:solidFill>
            </c:spPr>
          </c:dPt>
          <c:dPt>
            <c:idx val="2"/>
            <c:spPr>
              <a:solidFill>
                <a:srgbClr val="FF6B5E"/>
              </a:solidFill>
            </c:spPr>
          </c:dPt>
          <c:dPt>
            <c:idx val="3"/>
            <c:spPr>
              <a:solidFill>
                <a:srgbClr val="9AA5B1"/>
              </a:solidFill>
            </c:spPr>
          </c:dPt>
          <c:dPt>
            <c:idx val="4"/>
            <c:spPr>
              <a:solidFill>
                <a:srgbClr val="9AA5B1"/>
              </a:solidFill>
            </c:spPr>
          </c:dPt>
          <c:dPt>
            <c:idx val="5"/>
            <c:spPr>
              <a:solidFill>
                <a:srgbClr val="9AA5B1"/>
              </a:solidFill>
            </c:spPr>
          </c:dPt>
          <c:dPt>
            <c:idx val="6"/>
            <c:spPr>
              <a:solidFill>
                <a:srgbClr val="C6F432"/>
              </a:solidFill>
            </c:spPr>
          </c:dPt>
          <c:cat>
            <c:strRef>
              <c:f>Sheet1!$A$2:$A$8</c:f>
              <c:strCache>
                <c:ptCount val="7"/>
                <c:pt idx="0">
                  <c:v>Rates</c:v>
                </c:pt>
                <c:pt idx="1">
                  <c:v>Macro risk</c:v>
                </c:pt>
                <c:pt idx="2">
                  <c:v>Growth</c:v>
                </c:pt>
                <c:pt idx="3">
                  <c:v>Risk appetite</c:v>
                </c:pt>
                <c:pt idx="4">
                  <c:v>Credit</c:v>
                </c:pt>
                <c:pt idx="5">
                  <c:v>Liquidity</c:v>
                </c:pt>
                <c:pt idx="6">
                  <c:v>Inflation</c:v>
                </c:pt>
              </c:strCache>
            </c:strRef>
          </c:cat>
          <c:val>
            <c:numRef>
              <c:f>Sheet1!$B$2:$B$8</c:f>
              <c:numCache>
                <c:formatCode>General</c:formatCode>
                <c:ptCount val="7"/>
                <c:pt idx="0">
                  <c:v>76.7</c:v>
                </c:pt>
                <c:pt idx="1">
                  <c:v>68.0</c:v>
                </c:pt>
                <c:pt idx="2">
                  <c:v>67.7</c:v>
                </c:pt>
                <c:pt idx="3">
                  <c:v>61.1</c:v>
                </c:pt>
                <c:pt idx="4">
                  <c:v>57.5</c:v>
                </c:pt>
                <c:pt idx="5">
                  <c:v>49.4</c:v>
                </c:pt>
                <c:pt idx="6">
                  <c:v>21.9</c:v>
                </c:pt>
              </c:numCache>
            </c:numRef>
          </c:val>
        </c:ser>
        <c:dLbls>
          <c:txPr>
            <a:bodyPr/>
            <a:lstStyle/>
            <a:p>
              <a:pPr>
                <a:defRPr sz="800"/>
              </a:pPr>
            </a:p>
          </c:txPr>
          <c:dLblPos val="outEnd"/>
          <c:showLegendKey val="0"/>
          <c:showVal val="1"/>
          <c:showCatName val="0"/>
          <c:showSerName val="0"/>
          <c:showPercent val="0"/>
          <c:showBubbleSize val="0"/>
          <c:showLeaderLines val="1"/>
        </c:dLbls>
        <c:gapWidth val="55"/>
        <c:axId val="-2068027336"/>
        <c:axId val="-2113994440"/>
      </c:barChart>
      <c:catAx>
        <c:axId val="-2068027336"/>
        <c:scaling>
          <c:orientation val="minMax"/>
        </c:scaling>
        <c:delete val="0"/>
        <c:axPos val="l"/>
        <c:majorTickMark val="out"/>
        <c:minorTickMark val="none"/>
        <c:tickLblPos val="nextTo"/>
        <c:txPr>
          <a:bodyPr/>
          <a:lstStyle/>
          <a:p>
            <a:pPr>
              <a:defRPr sz="800"/>
            </a:pPr>
          </a:p>
        </c:txPr>
        <c:crossAx val="-2113994440"/>
        <c:crosses val="autoZero"/>
        <c:auto val="1"/>
        <c:lblAlgn val="ctr"/>
        <c:lblOffset val="100"/>
        <c:noMultiLvlLbl val="0"/>
      </c:catAx>
      <c:valAx>
        <c:axId val="-2113994440"/>
        <c:scaling/>
        <c:delete val="0"/>
        <c:axPos val="b"/>
        <c:majorGridlines/>
        <c:majorTickMark val="out"/>
        <c:minorTickMark val="none"/>
        <c:tickLblPos val="nextTo"/>
        <c:txPr>
          <a:bodyPr/>
          <a:lstStyle/>
          <a:p>
            <a:pPr>
              <a:defRPr sz="800"/>
            </a:pPr>
          </a:p>
        </c:txPr>
        <c:crossAx val="-2068027336"/>
        <c:crosses val="autoZero"/>
      </c:valAx>
    </c:plotArea>
    <c:dispBlanksAs val="gap"/>
  </c:chart>
  <c:txPr>
    <a:bodyPr/>
    <a:lstStyle/>
    <a:p>
      <a:pPr>
        <a:defRPr sz="1800"/>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spPr>
            <a:solidFill>
              <a:srgbClr val="0D1117"/>
            </a:solidFill>
          </c:spPr>
          <c:dPt>
            <c:idx val="0"/>
            <c:spPr>
              <a:solidFill>
                <a:srgbClr val="C6F432"/>
              </a:solidFill>
            </c:spPr>
          </c:dPt>
          <c:dPt>
            <c:idx val="1"/>
            <c:spPr>
              <a:solidFill>
                <a:srgbClr val="C6F432"/>
              </a:solidFill>
            </c:spPr>
          </c:dPt>
          <c:dPt>
            <c:idx val="2"/>
            <c:spPr>
              <a:solidFill>
                <a:srgbClr val="C6F432"/>
              </a:solidFill>
            </c:spPr>
          </c:dPt>
          <c:dPt>
            <c:idx val="3"/>
            <c:spPr>
              <a:solidFill>
                <a:srgbClr val="C6F432"/>
              </a:solidFill>
            </c:spPr>
          </c:dPt>
          <c:cat>
            <c:strRef>
              <c:f>Sheet1!$A$2:$A$5</c:f>
              <c:strCache>
                <c:ptCount val="4"/>
                <c:pt idx="0">
                  <c:v>Gold · swap dealers</c:v>
                </c:pt>
                <c:pt idx="1">
                  <c:v>British pound · asset managers</c:v>
                </c:pt>
                <c:pt idx="2">
                  <c:v>10-Year UST · asset managers</c:v>
                </c:pt>
                <c:pt idx="3">
                  <c:v>2-Year UST · leveraged funds</c:v>
                </c:pt>
              </c:strCache>
            </c:strRef>
          </c:cat>
          <c:val>
            <c:numRef>
              <c:f>Sheet1!$B$2:$B$5</c:f>
              <c:numCache>
                <c:formatCode>General</c:formatCode>
                <c:ptCount val="4"/>
                <c:pt idx="0">
                  <c:v>4.0</c:v>
                </c:pt>
                <c:pt idx="1">
                  <c:v>2.0</c:v>
                </c:pt>
                <c:pt idx="2">
                  <c:v>97.0</c:v>
                </c:pt>
                <c:pt idx="3">
                  <c:v>100.0</c:v>
                </c:pt>
              </c:numCache>
            </c:numRef>
          </c:val>
        </c:ser>
        <c:dLbls>
          <c:txPr>
            <a:bodyPr/>
            <a:lstStyle/>
            <a:p>
              <a:pPr>
                <a:defRPr sz="800"/>
              </a:pPr>
            </a:p>
          </c:txPr>
          <c:dLblPos val="outEnd"/>
          <c:showLegendKey val="0"/>
          <c:showVal val="1"/>
          <c:showCatName val="0"/>
          <c:showSerName val="0"/>
          <c:showPercent val="0"/>
          <c:showBubbleSize val="0"/>
          <c:showLeaderLines val="1"/>
        </c:dLbls>
        <c:gapWidth val="55"/>
        <c:axId val="-2068027336"/>
        <c:axId val="-2113994440"/>
      </c:barChart>
      <c:catAx>
        <c:axId val="-2068027336"/>
        <c:scaling>
          <c:orientation val="minMax"/>
        </c:scaling>
        <c:delete val="0"/>
        <c:axPos val="l"/>
        <c:majorTickMark val="out"/>
        <c:minorTickMark val="none"/>
        <c:tickLblPos val="nextTo"/>
        <c:txPr>
          <a:bodyPr/>
          <a:lstStyle/>
          <a:p>
            <a:pPr>
              <a:defRPr sz="800"/>
            </a:pPr>
          </a:p>
        </c:txPr>
        <c:crossAx val="-2113994440"/>
        <c:crosses val="autoZero"/>
        <c:auto val="1"/>
        <c:lblAlgn val="ctr"/>
        <c:lblOffset val="100"/>
        <c:noMultiLvlLbl val="0"/>
      </c:catAx>
      <c:valAx>
        <c:axId val="-2113994440"/>
        <c:scaling/>
        <c:delete val="0"/>
        <c:axPos val="b"/>
        <c:majorGridlines/>
        <c:majorTickMark val="out"/>
        <c:minorTickMark val="none"/>
        <c:tickLblPos val="nextTo"/>
        <c:txPr>
          <a:bodyPr/>
          <a:lstStyle/>
          <a:p>
            <a:pPr>
              <a:defRPr sz="800"/>
            </a:pPr>
          </a:p>
        </c:txPr>
        <c:crossAx val="-2068027336"/>
        <c:crosses val="autoZero"/>
      </c:valAx>
    </c:plotArea>
    <c:dispBlanksAs val="gap"/>
  </c:chart>
  <c:txPr>
    <a:bodyPr/>
    <a:lstStyle/>
    <a:p>
      <a:pPr>
        <a:defRPr sz="1800"/>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spPr>
            <a:solidFill>
              <a:srgbClr val="0D1117"/>
            </a:solidFill>
          </c:spPr>
          <c:dPt>
            <c:idx val="0"/>
            <c:spPr>
              <a:solidFill>
                <a:srgbClr val="C6F432"/>
              </a:solidFill>
            </c:spPr>
          </c:dPt>
          <c:dPt>
            <c:idx val="1"/>
            <c:spPr>
              <a:solidFill>
                <a:srgbClr val="C6F432"/>
              </a:solidFill>
            </c:spPr>
          </c:dPt>
          <c:dPt>
            <c:idx val="2"/>
            <c:spPr>
              <a:solidFill>
                <a:srgbClr val="C6F432"/>
              </a:solidFill>
            </c:spPr>
          </c:dPt>
          <c:dPt>
            <c:idx val="3"/>
            <c:spPr>
              <a:solidFill>
                <a:srgbClr val="C6F432"/>
              </a:solidFill>
            </c:spPr>
          </c:dPt>
          <c:dPt>
            <c:idx val="4"/>
            <c:spPr>
              <a:solidFill>
                <a:srgbClr val="C6F432"/>
              </a:solidFill>
            </c:spPr>
          </c:dPt>
          <c:dPt>
            <c:idx val="5"/>
            <c:spPr>
              <a:solidFill>
                <a:srgbClr val="C6F432"/>
              </a:solidFill>
            </c:spPr>
          </c:dPt>
          <c:dPt>
            <c:idx val="6"/>
            <c:spPr>
              <a:solidFill>
                <a:srgbClr val="C6F432"/>
              </a:solidFill>
            </c:spPr>
          </c:dPt>
          <c:dPt>
            <c:idx val="7"/>
            <c:spPr>
              <a:solidFill>
                <a:srgbClr val="C6F432"/>
              </a:solidFill>
            </c:spPr>
          </c:dPt>
          <c:dPt>
            <c:idx val="8"/>
            <c:spPr>
              <a:solidFill>
                <a:srgbClr val="C6F432"/>
              </a:solidFill>
            </c:spPr>
          </c:dPt>
          <c:cat>
            <c:strRef>
              <c:f>Sheet1!$A$2:$A$10</c:f>
              <c:strCache>
                <c:ptCount val="9"/>
                <c:pt idx="0">
                  <c:v>Global Small Cap DM</c:v>
                </c:pt>
                <c:pt idx="1">
                  <c:v>Global Value DM</c:v>
                </c:pt>
                <c:pt idx="2">
                  <c:v>Global Public Equity EM</c:v>
                </c:pt>
                <c:pt idx="3">
                  <c:v>Global Public Equity DM</c:v>
                </c:pt>
                <c:pt idx="4">
                  <c:v>Global Large Cap DM</c:v>
                </c:pt>
                <c:pt idx="5">
                  <c:v>Global Growth DM</c:v>
                </c:pt>
                <c:pt idx="6">
                  <c:v>Convertibles</c:v>
                </c:pt>
                <c:pt idx="7">
                  <c:v>Global Aggregate Bonds</c:v>
                </c:pt>
                <c:pt idx="8">
                  <c:v>Global Government Bonds</c:v>
                </c:pt>
              </c:strCache>
            </c:strRef>
          </c:cat>
          <c:val>
            <c:numRef>
              <c:f>Sheet1!$B$2:$B$10</c:f>
              <c:numCache>
                <c:formatCode>General</c:formatCode>
                <c:ptCount val="9"/>
                <c:pt idx="0">
                  <c:v>5.87</c:v>
                </c:pt>
                <c:pt idx="1">
                  <c:v>5.2</c:v>
                </c:pt>
                <c:pt idx="2">
                  <c:v>4.98</c:v>
                </c:pt>
                <c:pt idx="3">
                  <c:v>4.69</c:v>
                </c:pt>
                <c:pt idx="4">
                  <c:v>4.5</c:v>
                </c:pt>
                <c:pt idx="5">
                  <c:v>4.2</c:v>
                </c:pt>
                <c:pt idx="6">
                  <c:v>3.61</c:v>
                </c:pt>
                <c:pt idx="7">
                  <c:v>0.06</c:v>
                </c:pt>
                <c:pt idx="8">
                  <c:v>0.05</c:v>
                </c:pt>
              </c:numCache>
            </c:numRef>
          </c:val>
        </c:ser>
        <c:dLbls>
          <c:txPr>
            <a:bodyPr/>
            <a:lstStyle/>
            <a:p>
              <a:pPr>
                <a:defRPr sz="800"/>
              </a:pPr>
            </a:p>
          </c:txPr>
          <c:dLblPos val="outEnd"/>
          <c:showLegendKey val="0"/>
          <c:showVal val="1"/>
          <c:showCatName val="0"/>
          <c:showSerName val="0"/>
          <c:showPercent val="0"/>
          <c:showBubbleSize val="0"/>
          <c:showLeaderLines val="1"/>
        </c:dLbls>
        <c:gapWidth val="55"/>
        <c:axId val="-2068027336"/>
        <c:axId val="-2113994440"/>
      </c:barChart>
      <c:catAx>
        <c:axId val="-2068027336"/>
        <c:scaling>
          <c:orientation val="minMax"/>
        </c:scaling>
        <c:delete val="0"/>
        <c:axPos val="l"/>
        <c:majorTickMark val="out"/>
        <c:minorTickMark val="none"/>
        <c:tickLblPos val="nextTo"/>
        <c:txPr>
          <a:bodyPr/>
          <a:lstStyle/>
          <a:p>
            <a:pPr>
              <a:defRPr sz="800"/>
            </a:pPr>
          </a:p>
        </c:txPr>
        <c:crossAx val="-2113994440"/>
        <c:crosses val="autoZero"/>
        <c:auto val="1"/>
        <c:lblAlgn val="ctr"/>
        <c:lblOffset val="100"/>
        <c:noMultiLvlLbl val="0"/>
      </c:catAx>
      <c:valAx>
        <c:axId val="-2113994440"/>
        <c:scaling/>
        <c:delete val="0"/>
        <c:axPos val="b"/>
        <c:majorGridlines/>
        <c:majorTickMark val="out"/>
        <c:minorTickMark val="none"/>
        <c:tickLblPos val="nextTo"/>
        <c:txPr>
          <a:bodyPr/>
          <a:lstStyle/>
          <a:p>
            <a:pPr>
              <a:defRPr sz="800"/>
            </a:pPr>
          </a:p>
        </c:txPr>
        <c:crossAx val="-2068027336"/>
        <c:crosses val="autoZero"/>
      </c:valAx>
    </c:plotArea>
    <c:dispBlanksAs val="gap"/>
  </c:chart>
  <c:txPr>
    <a:bodyPr/>
    <a:lstStyle/>
    <a:p>
      <a:pPr>
        <a:defRPr sz="1800"/>
      </a:pPr>
      <a:endParaRPr lang="en-US"/>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Cover">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Section divider">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Exhibit">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up">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Table">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Appendix">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3" name="Oval 2"/>
          <p:cNvSpPr/>
          <p:nvPr/>
        </p:nvSpPr>
        <p:spPr>
          <a:xfrm>
            <a:off x="9372600" y="164592"/>
            <a:ext cx="2514600" cy="2514600"/>
          </a:xfrm>
          <a:prstGeom prst="ellipse">
            <a:avLst/>
          </a:prstGeom>
          <a:solidFill>
            <a:srgbClr val="161C24"/>
          </a:solidFill>
          <a:ln>
            <a:solidFill>
              <a:srgbClr val="161C24"/>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4" name="TextBox 3"/>
          <p:cNvSpPr txBox="1"/>
          <p:nvPr/>
        </p:nvSpPr>
        <p:spPr>
          <a:xfrm>
            <a:off x="685800" y="457200"/>
            <a:ext cx="4754880" cy="320040"/>
          </a:xfrm>
          <a:prstGeom prst="rect">
            <a:avLst/>
          </a:prstGeom>
          <a:noFill/>
        </p:spPr>
        <p:txBody>
          <a:bodyPr wrap="none" lIns="9144" rIns="9144" tIns="9144" bIns="9144" anchor="t">
            <a:spAutoFit/>
          </a:bodyPr>
          <a:lstStyle/>
          <a:p>
            <a:pPr algn="l">
              <a:spcAft>
                <a:spcPts val="0"/>
              </a:spcAft>
              <a:defRPr sz="1200" b="1">
                <a:solidFill>
                  <a:srgbClr val="FFFFFF"/>
                </a:solidFill>
                <a:latin typeface="Inter"/>
              </a:defRPr>
            </a:pPr>
            <a:r>
              <a:rPr>
                <a:latin typeface="Inter"/>
              </a:rPr>
              <a:t>GradientCIO</a:t>
            </a:r>
          </a:p>
        </p:txBody>
      </p:sp>
      <p:sp>
        <p:nvSpPr>
          <p:cNvPr id="5" name="TextBox 4"/>
          <p:cNvSpPr txBox="1"/>
          <p:nvPr/>
        </p:nvSpPr>
        <p:spPr>
          <a:xfrm>
            <a:off x="685800" y="1828800"/>
            <a:ext cx="9966960" cy="274320"/>
          </a:xfrm>
          <a:prstGeom prst="rect">
            <a:avLst/>
          </a:prstGeom>
          <a:noFill/>
        </p:spPr>
        <p:txBody>
          <a:bodyPr wrap="none" lIns="9144" rIns="9144" tIns="9144" bIns="9144" anchor="t">
            <a:spAutoFit/>
          </a:bodyPr>
          <a:lstStyle/>
          <a:p>
            <a:pPr algn="l">
              <a:spcAft>
                <a:spcPts val="0"/>
              </a:spcAft>
              <a:defRPr sz="900" b="1">
                <a:solidFill>
                  <a:srgbClr val="C6F432"/>
                </a:solidFill>
                <a:latin typeface="Inter"/>
              </a:defRPr>
            </a:pPr>
            <a:r>
              <a:rPr>
                <a:latin typeface="Inter"/>
              </a:rPr>
              <a:t>INVESTMENT COMMITTEE</a:t>
            </a:r>
          </a:p>
        </p:txBody>
      </p:sp>
      <p:sp>
        <p:nvSpPr>
          <p:cNvPr id="6" name="TextBox 5"/>
          <p:cNvSpPr txBox="1"/>
          <p:nvPr/>
        </p:nvSpPr>
        <p:spPr>
          <a:xfrm>
            <a:off x="685800" y="2176272"/>
            <a:ext cx="9966960" cy="1234440"/>
          </a:xfrm>
          <a:prstGeom prst="rect">
            <a:avLst/>
          </a:prstGeom>
          <a:noFill/>
        </p:spPr>
        <p:txBody>
          <a:bodyPr wrap="none" lIns="9144" rIns="9144" tIns="9144" bIns="9144" anchor="t">
            <a:spAutoFit/>
          </a:bodyPr>
          <a:lstStyle/>
          <a:p>
            <a:pPr algn="l">
              <a:spcAft>
                <a:spcPts val="0"/>
              </a:spcAft>
              <a:defRPr sz="3400" b="1">
                <a:solidFill>
                  <a:srgbClr val="FFFFFF"/>
                </a:solidFill>
                <a:latin typeface="Inter"/>
              </a:defRPr>
            </a:pPr>
            <a:r>
              <a:rPr>
                <a:latin typeface="Inter"/>
              </a:rPr>
              <a:t>Macro Briefing</a:t>
            </a:r>
          </a:p>
        </p:txBody>
      </p:sp>
      <p:sp>
        <p:nvSpPr>
          <p:cNvPr id="7" name="TextBox 6"/>
          <p:cNvSpPr txBox="1"/>
          <p:nvPr/>
        </p:nvSpPr>
        <p:spPr>
          <a:xfrm>
            <a:off x="685800" y="3456432"/>
            <a:ext cx="9692640" cy="640080"/>
          </a:xfrm>
          <a:prstGeom prst="rect">
            <a:avLst/>
          </a:prstGeom>
          <a:noFill/>
        </p:spPr>
        <p:txBody>
          <a:bodyPr wrap="none" lIns="9144" rIns="9144" tIns="9144" bIns="9144" anchor="t">
            <a:spAutoFit/>
          </a:bodyPr>
          <a:lstStyle/>
          <a:p>
            <a:pPr algn="l">
              <a:spcAft>
                <a:spcPts val="0"/>
              </a:spcAft>
              <a:defRPr sz="1500" b="0">
                <a:solidFill>
                  <a:srgbClr val="9AA5B1"/>
                </a:solidFill>
                <a:latin typeface="Inter"/>
              </a:defRPr>
            </a:pPr>
            <a:r>
              <a:rPr>
                <a:latin typeface="Inter"/>
              </a:rPr>
              <a:t>Gradient investment committee · data to 2026-10-02</a:t>
            </a:r>
          </a:p>
        </p:txBody>
      </p:sp>
      <p:sp>
        <p:nvSpPr>
          <p:cNvPr id="8" name="Rectangle 7"/>
          <p:cNvSpPr/>
          <p:nvPr/>
        </p:nvSpPr>
        <p:spPr>
          <a:xfrm>
            <a:off x="685800" y="4251960"/>
            <a:ext cx="1005840" cy="54864"/>
          </a:xfrm>
          <a:prstGeom prst="rect">
            <a:avLst/>
          </a:prstGeom>
          <a:solidFill>
            <a:srgbClr val="C6F432"/>
          </a:solidFill>
          <a:ln>
            <a:solidFill>
              <a:srgbClr val="C6F432"/>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9" name="TextBox 8"/>
          <p:cNvSpPr txBox="1"/>
          <p:nvPr/>
        </p:nvSpPr>
        <p:spPr>
          <a:xfrm>
            <a:off x="685800" y="4572000"/>
            <a:ext cx="3063240" cy="182880"/>
          </a:xfrm>
          <a:prstGeom prst="rect">
            <a:avLst/>
          </a:prstGeom>
          <a:noFill/>
        </p:spPr>
        <p:txBody>
          <a:bodyPr wrap="none" lIns="9144" rIns="9144" tIns="9144" bIns="9144" anchor="t">
            <a:spAutoFit/>
          </a:bodyPr>
          <a:lstStyle/>
          <a:p>
            <a:pPr algn="l">
              <a:spcAft>
                <a:spcPts val="0"/>
              </a:spcAft>
              <a:defRPr sz="700" b="1">
                <a:solidFill>
                  <a:srgbClr val="8A94A1"/>
                </a:solidFill>
                <a:latin typeface="Inter"/>
              </a:defRPr>
            </a:pPr>
            <a:r>
              <a:rPr>
                <a:latin typeface="Inter"/>
              </a:rPr>
              <a:t>AS OF</a:t>
            </a:r>
          </a:p>
        </p:txBody>
      </p:sp>
      <p:sp>
        <p:nvSpPr>
          <p:cNvPr id="10" name="TextBox 9"/>
          <p:cNvSpPr txBox="1"/>
          <p:nvPr/>
        </p:nvSpPr>
        <p:spPr>
          <a:xfrm>
            <a:off x="685800" y="4773168"/>
            <a:ext cx="3063240" cy="320040"/>
          </a:xfrm>
          <a:prstGeom prst="rect">
            <a:avLst/>
          </a:prstGeom>
          <a:noFill/>
        </p:spPr>
        <p:txBody>
          <a:bodyPr wrap="none" lIns="9144" rIns="9144" tIns="9144" bIns="9144" anchor="t">
            <a:spAutoFit/>
          </a:bodyPr>
          <a:lstStyle/>
          <a:p>
            <a:pPr algn="l">
              <a:spcAft>
                <a:spcPts val="0"/>
              </a:spcAft>
              <a:defRPr sz="1000" b="1">
                <a:solidFill>
                  <a:srgbClr val="FFFFFF"/>
                </a:solidFill>
                <a:latin typeface="Inter"/>
              </a:defRPr>
            </a:pPr>
            <a:r>
              <a:rPr>
                <a:latin typeface="Inter"/>
              </a:rPr>
              <a:t>2026-10-02</a:t>
            </a:r>
          </a:p>
        </p:txBody>
      </p:sp>
      <p:sp>
        <p:nvSpPr>
          <p:cNvPr id="11" name="TextBox 10"/>
          <p:cNvSpPr txBox="1"/>
          <p:nvPr/>
        </p:nvSpPr>
        <p:spPr>
          <a:xfrm>
            <a:off x="4160520" y="4572000"/>
            <a:ext cx="3063240" cy="182880"/>
          </a:xfrm>
          <a:prstGeom prst="rect">
            <a:avLst/>
          </a:prstGeom>
          <a:noFill/>
        </p:spPr>
        <p:txBody>
          <a:bodyPr wrap="none" lIns="9144" rIns="9144" tIns="9144" bIns="9144" anchor="t">
            <a:spAutoFit/>
          </a:bodyPr>
          <a:lstStyle/>
          <a:p>
            <a:pPr algn="l">
              <a:spcAft>
                <a:spcPts val="0"/>
              </a:spcAft>
              <a:defRPr sz="700" b="1">
                <a:solidFill>
                  <a:srgbClr val="8A94A1"/>
                </a:solidFill>
                <a:latin typeface="Inter"/>
              </a:defRPr>
            </a:pPr>
            <a:r>
              <a:rPr>
                <a:latin typeface="Inter"/>
              </a:rPr>
              <a:t>THE READ</a:t>
            </a:r>
          </a:p>
        </p:txBody>
      </p:sp>
      <p:sp>
        <p:nvSpPr>
          <p:cNvPr id="12" name="TextBox 11"/>
          <p:cNvSpPr txBox="1"/>
          <p:nvPr/>
        </p:nvSpPr>
        <p:spPr>
          <a:xfrm>
            <a:off x="4160520" y="4773168"/>
            <a:ext cx="3063240" cy="320040"/>
          </a:xfrm>
          <a:prstGeom prst="rect">
            <a:avLst/>
          </a:prstGeom>
          <a:noFill/>
        </p:spPr>
        <p:txBody>
          <a:bodyPr wrap="none" lIns="9144" rIns="9144" tIns="9144" bIns="9144" anchor="t">
            <a:spAutoFit/>
          </a:bodyPr>
          <a:lstStyle/>
          <a:p>
            <a:pPr algn="l">
              <a:spcAft>
                <a:spcPts val="0"/>
              </a:spcAft>
              <a:defRPr sz="1000" b="1">
                <a:solidFill>
                  <a:srgbClr val="FFFFFF"/>
                </a:solidFill>
                <a:latin typeface="Inter"/>
              </a:defRPr>
            </a:pPr>
            <a:r>
              <a:rPr>
                <a:latin typeface="Inter"/>
              </a:rPr>
              <a:t>AM edition</a:t>
            </a:r>
          </a:p>
        </p:txBody>
      </p:sp>
      <p:sp>
        <p:nvSpPr>
          <p:cNvPr id="13" name="TextBox 12"/>
          <p:cNvSpPr txBox="1"/>
          <p:nvPr/>
        </p:nvSpPr>
        <p:spPr>
          <a:xfrm>
            <a:off x="7635240" y="4572000"/>
            <a:ext cx="3063240" cy="182880"/>
          </a:xfrm>
          <a:prstGeom prst="rect">
            <a:avLst/>
          </a:prstGeom>
          <a:noFill/>
        </p:spPr>
        <p:txBody>
          <a:bodyPr wrap="none" lIns="9144" rIns="9144" tIns="9144" bIns="9144" anchor="t">
            <a:spAutoFit/>
          </a:bodyPr>
          <a:lstStyle/>
          <a:p>
            <a:pPr algn="l">
              <a:spcAft>
                <a:spcPts val="0"/>
              </a:spcAft>
              <a:defRPr sz="700" b="1">
                <a:solidFill>
                  <a:srgbClr val="8A94A1"/>
                </a:solidFill>
                <a:latin typeface="Inter"/>
              </a:defRPr>
            </a:pPr>
            <a:r>
              <a:rPr>
                <a:latin typeface="Inter"/>
              </a:rPr>
              <a:t>GRIP STANCE</a:t>
            </a:r>
          </a:p>
        </p:txBody>
      </p:sp>
      <p:sp>
        <p:nvSpPr>
          <p:cNvPr id="14" name="TextBox 13"/>
          <p:cNvSpPr txBox="1"/>
          <p:nvPr/>
        </p:nvSpPr>
        <p:spPr>
          <a:xfrm>
            <a:off x="7635240" y="4773168"/>
            <a:ext cx="3063240" cy="320040"/>
          </a:xfrm>
          <a:prstGeom prst="rect">
            <a:avLst/>
          </a:prstGeom>
          <a:noFill/>
        </p:spPr>
        <p:txBody>
          <a:bodyPr wrap="none" lIns="9144" rIns="9144" tIns="9144" bIns="9144" anchor="t">
            <a:spAutoFit/>
          </a:bodyPr>
          <a:lstStyle/>
          <a:p>
            <a:pPr algn="l">
              <a:spcAft>
                <a:spcPts val="0"/>
              </a:spcAft>
              <a:defRPr sz="1000" b="1">
                <a:solidFill>
                  <a:srgbClr val="FFFFFF"/>
                </a:solidFill>
                <a:latin typeface="Inter"/>
              </a:defRPr>
            </a:pPr>
            <a:r>
              <a:rPr>
                <a:latin typeface="Inter"/>
              </a:rPr>
              <a:t>Defensive · 78</a:t>
            </a:r>
          </a:p>
        </p:txBody>
      </p:sp>
      <p:sp>
        <p:nvSpPr>
          <p:cNvPr id="15" name="TextBox 14"/>
          <p:cNvSpPr txBox="1"/>
          <p:nvPr/>
        </p:nvSpPr>
        <p:spPr>
          <a:xfrm>
            <a:off x="685800" y="5230368"/>
            <a:ext cx="3063240" cy="182880"/>
          </a:xfrm>
          <a:prstGeom prst="rect">
            <a:avLst/>
          </a:prstGeom>
          <a:noFill/>
        </p:spPr>
        <p:txBody>
          <a:bodyPr wrap="none" lIns="9144" rIns="9144" tIns="9144" bIns="9144" anchor="t">
            <a:spAutoFit/>
          </a:bodyPr>
          <a:lstStyle/>
          <a:p>
            <a:pPr algn="l">
              <a:spcAft>
                <a:spcPts val="0"/>
              </a:spcAft>
              <a:defRPr sz="700" b="1">
                <a:solidFill>
                  <a:srgbClr val="8A94A1"/>
                </a:solidFill>
                <a:latin typeface="Inter"/>
              </a:defRPr>
            </a:pPr>
            <a:r>
              <a:rPr>
                <a:latin typeface="Inter"/>
              </a:rPr>
              <a:t>NEXT HIGH-IMPORTANCE EVENT</a:t>
            </a:r>
          </a:p>
        </p:txBody>
      </p:sp>
      <p:sp>
        <p:nvSpPr>
          <p:cNvPr id="16" name="TextBox 15"/>
          <p:cNvSpPr txBox="1"/>
          <p:nvPr/>
        </p:nvSpPr>
        <p:spPr>
          <a:xfrm>
            <a:off x="685800" y="5431536"/>
            <a:ext cx="3063240" cy="320040"/>
          </a:xfrm>
          <a:prstGeom prst="rect">
            <a:avLst/>
          </a:prstGeom>
          <a:noFill/>
        </p:spPr>
        <p:txBody>
          <a:bodyPr wrap="none" lIns="9144" rIns="9144" tIns="9144" bIns="9144" anchor="t">
            <a:spAutoFit/>
          </a:bodyPr>
          <a:lstStyle/>
          <a:p>
            <a:pPr algn="l">
              <a:spcAft>
                <a:spcPts val="0"/>
              </a:spcAft>
              <a:defRPr sz="1000" b="1">
                <a:solidFill>
                  <a:srgbClr val="FFFFFF"/>
                </a:solidFill>
                <a:latin typeface="Inter"/>
              </a:defRPr>
            </a:pPr>
            <a:r>
              <a:rPr>
                <a:latin typeface="Inter"/>
              </a:rPr>
              <a:t>ISM Services · 2026-10-05</a:t>
            </a:r>
          </a:p>
        </p:txBody>
      </p:sp>
      <p:sp>
        <p:nvSpPr>
          <p:cNvPr id="17" name="TextBox 16"/>
          <p:cNvSpPr txBox="1"/>
          <p:nvPr/>
        </p:nvSpPr>
        <p:spPr>
          <a:xfrm>
            <a:off x="685800" y="6473952"/>
            <a:ext cx="8046720" cy="182880"/>
          </a:xfrm>
          <a:prstGeom prst="rect">
            <a:avLst/>
          </a:prstGeom>
          <a:noFill/>
        </p:spPr>
        <p:txBody>
          <a:bodyPr wrap="none" lIns="9144" rIns="9144" tIns="9144" bIns="9144" anchor="t">
            <a:spAutoFit/>
          </a:bodyPr>
          <a:lstStyle/>
          <a:p>
            <a:pPr algn="l">
              <a:spcAft>
                <a:spcPts val="0"/>
              </a:spcAft>
              <a:defRPr sz="700" b="0">
                <a:solidFill>
                  <a:srgbClr val="8A94A1"/>
                </a:solidFill>
                <a:latin typeface="Inter"/>
              </a:defRPr>
            </a:pPr>
            <a:r>
              <a:rPr>
                <a:latin typeface="Inter"/>
              </a:rPr>
              <a:t>Confidential — prepared for internal investment use</a:t>
            </a:r>
          </a:p>
        </p:txBody>
      </p:sp>
      <p:sp>
        <p:nvSpPr>
          <p:cNvPr id="18" name="TextBox 17"/>
          <p:cNvSpPr txBox="1"/>
          <p:nvPr/>
        </p:nvSpPr>
        <p:spPr>
          <a:xfrm>
            <a:off x="8778240" y="6473952"/>
            <a:ext cx="2743200" cy="182880"/>
          </a:xfrm>
          <a:prstGeom prst="rect">
            <a:avLst/>
          </a:prstGeom>
          <a:noFill/>
        </p:spPr>
        <p:txBody>
          <a:bodyPr wrap="none" lIns="9144" rIns="9144" tIns="9144" bIns="9144" anchor="t">
            <a:spAutoFit/>
          </a:bodyPr>
          <a:lstStyle/>
          <a:p>
            <a:pPr algn="r">
              <a:spcAft>
                <a:spcPts val="0"/>
              </a:spcAft>
              <a:defRPr sz="700" b="0">
                <a:solidFill>
                  <a:srgbClr val="8A94A1"/>
                </a:solidFill>
                <a:latin typeface="Inter"/>
              </a:defRPr>
            </a:pPr>
            <a:r>
              <a:rPr>
                <a:latin typeface="Inter"/>
              </a:rPr>
              <a:t>GradientCIO.com</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3" name="TextBox 2"/>
          <p:cNvSpPr txBox="1"/>
          <p:nvPr/>
        </p:nvSpPr>
        <p:spPr>
          <a:xfrm>
            <a:off x="640080" y="329184"/>
            <a:ext cx="9875520" cy="182880"/>
          </a:xfrm>
          <a:prstGeom prst="rect">
            <a:avLst/>
          </a:prstGeom>
          <a:noFill/>
        </p:spPr>
        <p:txBody>
          <a:bodyPr wrap="none" lIns="9144" rIns="9144" tIns="9144" bIns="9144" anchor="t">
            <a:spAutoFit/>
          </a:bodyPr>
          <a:lstStyle/>
          <a:p>
            <a:pPr algn="l">
              <a:spcAft>
                <a:spcPts val="0"/>
              </a:spcAft>
              <a:defRPr sz="750" b="1">
                <a:solidFill>
                  <a:srgbClr val="4F6B00"/>
                </a:solidFill>
                <a:latin typeface="Inter"/>
              </a:defRPr>
            </a:pPr>
            <a:r>
              <a:rPr>
                <a:latin typeface="Inter"/>
              </a:rPr>
              <a:t>THE READ · 2026-10-02 [S1]</a:t>
            </a:r>
          </a:p>
        </p:txBody>
      </p:sp>
      <p:sp>
        <p:nvSpPr>
          <p:cNvPr id="4" name="TextBox 3"/>
          <p:cNvSpPr txBox="1"/>
          <p:nvPr/>
        </p:nvSpPr>
        <p:spPr>
          <a:xfrm>
            <a:off x="640080" y="566928"/>
            <a:ext cx="10058400" cy="530352"/>
          </a:xfrm>
          <a:prstGeom prst="rect">
            <a:avLst/>
          </a:prstGeom>
          <a:noFill/>
        </p:spPr>
        <p:txBody>
          <a:bodyPr wrap="none" lIns="9144" rIns="9144" tIns="9144" bIns="9144" anchor="t">
            <a:spAutoFit/>
          </a:bodyPr>
          <a:lstStyle/>
          <a:p>
            <a:pPr algn="l">
              <a:spcAft>
                <a:spcPts val="0"/>
              </a:spcAft>
              <a:defRPr sz="2300" b="1">
                <a:solidFill>
                  <a:srgbClr val="0D1117"/>
                </a:solidFill>
                <a:latin typeface="Inter"/>
              </a:defRPr>
            </a:pPr>
            <a:r>
              <a:rPr>
                <a:latin typeface="Inter"/>
              </a:rPr>
              <a:t>Diesel carries the Gulf premium</a:t>
            </a:r>
          </a:p>
        </p:txBody>
      </p:sp>
      <p:sp>
        <p:nvSpPr>
          <p:cNvPr id="5" name="Rectangle 4"/>
          <p:cNvSpPr/>
          <p:nvPr/>
        </p:nvSpPr>
        <p:spPr>
          <a:xfrm>
            <a:off x="640080" y="1115568"/>
            <a:ext cx="10908792" cy="18288"/>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6" name="Rectangle 5"/>
          <p:cNvSpPr/>
          <p:nvPr/>
        </p:nvSpPr>
        <p:spPr>
          <a:xfrm>
            <a:off x="11018520" y="502920"/>
            <a:ext cx="530352" cy="393192"/>
          </a:xfrm>
          <a:prstGeom prst="rect">
            <a:avLst/>
          </a:prstGeom>
          <a:solidFill>
            <a:srgbClr val="C6F432"/>
          </a:solidFill>
          <a:ln>
            <a:solidFill>
              <a:srgbClr val="C6F432"/>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7" name="TextBox 6"/>
          <p:cNvSpPr txBox="1"/>
          <p:nvPr/>
        </p:nvSpPr>
        <p:spPr>
          <a:xfrm>
            <a:off x="11045952" y="557784"/>
            <a:ext cx="475488" cy="182880"/>
          </a:xfrm>
          <a:prstGeom prst="rect">
            <a:avLst/>
          </a:prstGeom>
          <a:noFill/>
        </p:spPr>
        <p:txBody>
          <a:bodyPr wrap="none" lIns="9144" rIns="9144" tIns="9144" bIns="9144" anchor="t">
            <a:spAutoFit/>
          </a:bodyPr>
          <a:lstStyle/>
          <a:p>
            <a:pPr algn="ctr">
              <a:spcAft>
                <a:spcPts val="0"/>
              </a:spcAft>
              <a:defRPr sz="1000" b="1">
                <a:solidFill>
                  <a:srgbClr val="0D1117"/>
                </a:solidFill>
                <a:latin typeface="Inter"/>
              </a:defRPr>
            </a:pPr>
            <a:r>
              <a:rPr>
                <a:latin typeface="Inter"/>
              </a:rPr>
              <a:t>01</a:t>
            </a:r>
          </a:p>
        </p:txBody>
      </p:sp>
      <p:sp>
        <p:nvSpPr>
          <p:cNvPr id="8" name="Rectangle 7"/>
          <p:cNvSpPr/>
          <p:nvPr/>
        </p:nvSpPr>
        <p:spPr>
          <a:xfrm>
            <a:off x="640080" y="1399032"/>
            <a:ext cx="73152" cy="1719964"/>
          </a:xfrm>
          <a:prstGeom prst="rect">
            <a:avLst/>
          </a:prstGeom>
          <a:solidFill>
            <a:srgbClr val="C6F432"/>
          </a:solidFill>
          <a:ln>
            <a:solidFill>
              <a:srgbClr val="C6F432"/>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9" name="TextBox 8"/>
          <p:cNvSpPr txBox="1"/>
          <p:nvPr/>
        </p:nvSpPr>
        <p:spPr>
          <a:xfrm>
            <a:off x="896112" y="1371600"/>
            <a:ext cx="10588752" cy="1005840"/>
          </a:xfrm>
          <a:prstGeom prst="rect">
            <a:avLst/>
          </a:prstGeom>
          <a:noFill/>
        </p:spPr>
        <p:txBody>
          <a:bodyPr wrap="none" lIns="9144" rIns="9144" tIns="9144" bIns="9144" anchor="t">
            <a:spAutoFit/>
          </a:bodyPr>
          <a:lstStyle/>
          <a:p>
            <a:pPr algn="l">
              <a:spcAft>
                <a:spcPts val="0"/>
              </a:spcAft>
              <a:defRPr sz="1800" b="1">
                <a:solidFill>
                  <a:srgbClr val="0D1117"/>
                </a:solidFill>
                <a:latin typeface="Inter"/>
              </a:defRPr>
            </a:pPr>
            <a:r>
              <a:rPr>
                <a:latin typeface="Inter"/>
              </a:rPr>
              <a:t>Before the carrier report, the Gulf energy premium sat in Gulf Coast diesel margins rather than Brent — and no crude or diesel price since has tested whether that split holds.</a:t>
            </a:r>
          </a:p>
        </p:txBody>
      </p:sp>
      <p:sp>
        <p:nvSpPr>
          <p:cNvPr id="10" name="TextBox 9"/>
          <p:cNvSpPr txBox="1"/>
          <p:nvPr/>
        </p:nvSpPr>
        <p:spPr>
          <a:xfrm>
            <a:off x="896112" y="2423160"/>
            <a:ext cx="10588752" cy="559880"/>
          </a:xfrm>
          <a:prstGeom prst="rect">
            <a:avLst/>
          </a:prstGeom>
          <a:noFill/>
        </p:spPr>
        <p:txBody>
          <a:bodyPr wrap="none" lIns="9144" rIns="9144" tIns="9144" bIns="9144" anchor="t">
            <a:spAutoFit/>
          </a:bodyPr>
          <a:lstStyle/>
          <a:p>
            <a:pPr algn="l">
              <a:spcAft>
                <a:spcPts val="0"/>
              </a:spcAft>
              <a:defRPr sz="900" b="0">
                <a:solidFill>
                  <a:srgbClr val="4A5563"/>
                </a:solidFill>
                <a:latin typeface="Inter"/>
              </a:defRPr>
            </a:pPr>
            <a:r>
              <a:rPr>
                <a:latin typeface="Inter"/>
              </a:rPr>
              <a:t>Governing thesis of The Read, 2026-10-02 AM edition [S1]</a:t>
            </a:r>
          </a:p>
        </p:txBody>
      </p:sp>
      <p:sp>
        <p:nvSpPr>
          <p:cNvPr id="11" name="Rectangle 10"/>
          <p:cNvSpPr/>
          <p:nvPr/>
        </p:nvSpPr>
        <p:spPr>
          <a:xfrm>
            <a:off x="640080" y="3301876"/>
            <a:ext cx="2644902" cy="2916043"/>
          </a:xfrm>
          <a:prstGeom prst="rect">
            <a:avLst/>
          </a:prstGeom>
          <a:solidFill>
            <a:srgbClr val="F5F7F9"/>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2" name="Rectangle 11"/>
          <p:cNvSpPr/>
          <p:nvPr/>
        </p:nvSpPr>
        <p:spPr>
          <a:xfrm>
            <a:off x="640080" y="3301876"/>
            <a:ext cx="2644902" cy="45720"/>
          </a:xfrm>
          <a:prstGeom prst="rect">
            <a:avLst/>
          </a:prstGeom>
          <a:solidFill>
            <a:srgbClr val="F2A93B"/>
          </a:solidFill>
          <a:ln>
            <a:solidFill>
              <a:srgbClr val="F2A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3" name="TextBox 12"/>
          <p:cNvSpPr txBox="1"/>
          <p:nvPr/>
        </p:nvSpPr>
        <p:spPr>
          <a:xfrm>
            <a:off x="749808" y="3429892"/>
            <a:ext cx="2425446" cy="201168"/>
          </a:xfrm>
          <a:prstGeom prst="rect">
            <a:avLst/>
          </a:prstGeom>
          <a:noFill/>
        </p:spPr>
        <p:txBody>
          <a:bodyPr wrap="none" lIns="9144" rIns="9144" tIns="9144" bIns="9144" anchor="t">
            <a:spAutoFit/>
          </a:bodyPr>
          <a:lstStyle/>
          <a:p>
            <a:pPr algn="l">
              <a:spcAft>
                <a:spcPts val="0"/>
              </a:spcAft>
              <a:defRPr sz="650" b="1">
                <a:solidFill>
                  <a:srgbClr val="4A5563"/>
                </a:solidFill>
                <a:latin typeface="Inter"/>
              </a:defRPr>
            </a:pPr>
            <a:r>
              <a:rPr>
                <a:latin typeface="Inter"/>
              </a:rPr>
              <a:t>GULF DIESEL CRACK VS BRENT</a:t>
            </a:r>
          </a:p>
        </p:txBody>
      </p:sp>
      <p:sp>
        <p:nvSpPr>
          <p:cNvPr id="14" name="TextBox 13"/>
          <p:cNvSpPr txBox="1"/>
          <p:nvPr/>
        </p:nvSpPr>
        <p:spPr>
          <a:xfrm>
            <a:off x="749808" y="3685924"/>
            <a:ext cx="2425446" cy="475488"/>
          </a:xfrm>
          <a:prstGeom prst="rect">
            <a:avLst/>
          </a:prstGeom>
          <a:noFill/>
        </p:spPr>
        <p:txBody>
          <a:bodyPr wrap="none" lIns="9144" rIns="9144" tIns="9144" bIns="9144" anchor="t">
            <a:spAutoFit/>
          </a:bodyPr>
          <a:lstStyle/>
          <a:p>
            <a:pPr algn="l">
              <a:spcAft>
                <a:spcPts val="0"/>
              </a:spcAft>
              <a:defRPr sz="1800" b="1">
                <a:solidFill>
                  <a:srgbClr val="0D1117"/>
                </a:solidFill>
                <a:latin typeface="Inter"/>
              </a:defRPr>
            </a:pPr>
            <a:r>
              <a:rPr>
                <a:latin typeface="Inter"/>
              </a:rPr>
              <a:t>+$9.29/bbl</a:t>
            </a:r>
          </a:p>
        </p:txBody>
      </p:sp>
      <p:sp>
        <p:nvSpPr>
          <p:cNvPr id="15" name="TextBox 14"/>
          <p:cNvSpPr txBox="1"/>
          <p:nvPr/>
        </p:nvSpPr>
        <p:spPr>
          <a:xfrm>
            <a:off x="749808" y="5888736"/>
            <a:ext cx="2425446" cy="228600"/>
          </a:xfrm>
          <a:prstGeom prst="rect">
            <a:avLst/>
          </a:prstGeom>
          <a:noFill/>
        </p:spPr>
        <p:txBody>
          <a:bodyPr wrap="none" lIns="9144" rIns="9144" tIns="9144" bIns="9144" anchor="t">
            <a:spAutoFit/>
          </a:bodyPr>
          <a:lstStyle/>
          <a:p>
            <a:pPr algn="l">
              <a:spcAft>
                <a:spcPts val="0"/>
              </a:spcAft>
              <a:defRPr sz="700" b="0">
                <a:solidFill>
                  <a:srgbClr val="4A5563"/>
                </a:solidFill>
                <a:latin typeface="Inter"/>
              </a:defRPr>
            </a:pPr>
            <a:r>
              <a:rPr>
                <a:latin typeface="Inter"/>
              </a:rPr>
              <a:t>One session to 2026-09-29 [S1]</a:t>
            </a:r>
          </a:p>
        </p:txBody>
      </p:sp>
      <p:sp>
        <p:nvSpPr>
          <p:cNvPr id="16" name="Rectangle 15"/>
          <p:cNvSpPr/>
          <p:nvPr/>
        </p:nvSpPr>
        <p:spPr>
          <a:xfrm>
            <a:off x="3394710" y="3301876"/>
            <a:ext cx="2644902" cy="2916043"/>
          </a:xfrm>
          <a:prstGeom prst="rect">
            <a:avLst/>
          </a:prstGeom>
          <a:solidFill>
            <a:srgbClr val="F5F7F9"/>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7" name="Rectangle 16"/>
          <p:cNvSpPr/>
          <p:nvPr/>
        </p:nvSpPr>
        <p:spPr>
          <a:xfrm>
            <a:off x="3394710" y="3301876"/>
            <a:ext cx="2644902" cy="45720"/>
          </a:xfrm>
          <a:prstGeom prst="rect">
            <a:avLst/>
          </a:prstGeom>
          <a:solidFill>
            <a:srgbClr val="F2A93B"/>
          </a:solidFill>
          <a:ln>
            <a:solidFill>
              <a:srgbClr val="F2A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8" name="TextBox 17"/>
          <p:cNvSpPr txBox="1"/>
          <p:nvPr/>
        </p:nvSpPr>
        <p:spPr>
          <a:xfrm>
            <a:off x="3504438" y="3429892"/>
            <a:ext cx="2425446" cy="201168"/>
          </a:xfrm>
          <a:prstGeom prst="rect">
            <a:avLst/>
          </a:prstGeom>
          <a:noFill/>
        </p:spPr>
        <p:txBody>
          <a:bodyPr wrap="none" lIns="9144" rIns="9144" tIns="9144" bIns="9144" anchor="t">
            <a:spAutoFit/>
          </a:bodyPr>
          <a:lstStyle/>
          <a:p>
            <a:pPr algn="l">
              <a:spcAft>
                <a:spcPts val="0"/>
              </a:spcAft>
              <a:defRPr sz="650" b="1">
                <a:solidFill>
                  <a:srgbClr val="4A5563"/>
                </a:solidFill>
                <a:latin typeface="Inter"/>
              </a:defRPr>
            </a:pPr>
            <a:r>
              <a:rPr>
                <a:latin typeface="Inter"/>
              </a:rPr>
              <a:t>5Y5Y INFLATION EXPECTATION</a:t>
            </a:r>
          </a:p>
        </p:txBody>
      </p:sp>
      <p:sp>
        <p:nvSpPr>
          <p:cNvPr id="19" name="TextBox 18"/>
          <p:cNvSpPr txBox="1"/>
          <p:nvPr/>
        </p:nvSpPr>
        <p:spPr>
          <a:xfrm>
            <a:off x="3504438" y="3685924"/>
            <a:ext cx="2425446" cy="475488"/>
          </a:xfrm>
          <a:prstGeom prst="rect">
            <a:avLst/>
          </a:prstGeom>
          <a:noFill/>
        </p:spPr>
        <p:txBody>
          <a:bodyPr wrap="none" lIns="9144" rIns="9144" tIns="9144" bIns="9144" anchor="t">
            <a:spAutoFit/>
          </a:bodyPr>
          <a:lstStyle/>
          <a:p>
            <a:pPr algn="l">
              <a:spcAft>
                <a:spcPts val="0"/>
              </a:spcAft>
              <a:defRPr sz="1800" b="1">
                <a:solidFill>
                  <a:srgbClr val="0D1117"/>
                </a:solidFill>
                <a:latin typeface="Inter"/>
              </a:defRPr>
            </a:pPr>
            <a:r>
              <a:rPr>
                <a:latin typeface="Inter"/>
              </a:rPr>
              <a:t>2.36%</a:t>
            </a:r>
          </a:p>
        </p:txBody>
      </p:sp>
      <p:sp>
        <p:nvSpPr>
          <p:cNvPr id="20" name="TextBox 19"/>
          <p:cNvSpPr txBox="1"/>
          <p:nvPr/>
        </p:nvSpPr>
        <p:spPr>
          <a:xfrm>
            <a:off x="3504438" y="5888736"/>
            <a:ext cx="2425446" cy="228600"/>
          </a:xfrm>
          <a:prstGeom prst="rect">
            <a:avLst/>
          </a:prstGeom>
          <a:noFill/>
        </p:spPr>
        <p:txBody>
          <a:bodyPr wrap="none" lIns="9144" rIns="9144" tIns="9144" bIns="9144" anchor="t">
            <a:spAutoFit/>
          </a:bodyPr>
          <a:lstStyle/>
          <a:p>
            <a:pPr algn="l">
              <a:spcAft>
                <a:spcPts val="0"/>
              </a:spcAft>
              <a:defRPr sz="700" b="0">
                <a:solidFill>
                  <a:srgbClr val="4A5563"/>
                </a:solidFill>
                <a:latin typeface="Inter"/>
              </a:defRPr>
            </a:pPr>
            <a:r>
              <a:rPr>
                <a:latin typeface="Inter"/>
              </a:rPr>
              <a:t>2026-09-30; top of 12-week range [S1]</a:t>
            </a:r>
          </a:p>
        </p:txBody>
      </p:sp>
      <p:sp>
        <p:nvSpPr>
          <p:cNvPr id="21" name="Rectangle 20"/>
          <p:cNvSpPr/>
          <p:nvPr/>
        </p:nvSpPr>
        <p:spPr>
          <a:xfrm>
            <a:off x="6149340" y="3301876"/>
            <a:ext cx="2644902" cy="2916043"/>
          </a:xfrm>
          <a:prstGeom prst="rect">
            <a:avLst/>
          </a:prstGeom>
          <a:solidFill>
            <a:srgbClr val="F5F7F9"/>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22" name="Rectangle 21"/>
          <p:cNvSpPr/>
          <p:nvPr/>
        </p:nvSpPr>
        <p:spPr>
          <a:xfrm>
            <a:off x="6149340" y="3301876"/>
            <a:ext cx="2644902" cy="45720"/>
          </a:xfrm>
          <a:prstGeom prst="rect">
            <a:avLst/>
          </a:prstGeom>
          <a:solidFill>
            <a:srgbClr val="FF6B5E"/>
          </a:solidFill>
          <a:ln>
            <a:solidFill>
              <a:srgbClr val="FF6B5E"/>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23" name="TextBox 22"/>
          <p:cNvSpPr txBox="1"/>
          <p:nvPr/>
        </p:nvSpPr>
        <p:spPr>
          <a:xfrm>
            <a:off x="6259068" y="3429892"/>
            <a:ext cx="2425446" cy="201168"/>
          </a:xfrm>
          <a:prstGeom prst="rect">
            <a:avLst/>
          </a:prstGeom>
          <a:noFill/>
        </p:spPr>
        <p:txBody>
          <a:bodyPr wrap="none" lIns="9144" rIns="9144" tIns="9144" bIns="9144" anchor="t">
            <a:spAutoFit/>
          </a:bodyPr>
          <a:lstStyle/>
          <a:p>
            <a:pPr algn="l">
              <a:spcAft>
                <a:spcPts val="0"/>
              </a:spcAft>
              <a:defRPr sz="650" b="1">
                <a:solidFill>
                  <a:srgbClr val="4A5563"/>
                </a:solidFill>
                <a:latin typeface="Inter"/>
              </a:defRPr>
            </a:pPr>
            <a:r>
              <a:rPr>
                <a:latin typeface="Inter"/>
              </a:rPr>
              <a:t>5-YEAR TREASURY</a:t>
            </a:r>
          </a:p>
        </p:txBody>
      </p:sp>
      <p:sp>
        <p:nvSpPr>
          <p:cNvPr id="24" name="TextBox 23"/>
          <p:cNvSpPr txBox="1"/>
          <p:nvPr/>
        </p:nvSpPr>
        <p:spPr>
          <a:xfrm>
            <a:off x="6259068" y="3685924"/>
            <a:ext cx="2425446" cy="475488"/>
          </a:xfrm>
          <a:prstGeom prst="rect">
            <a:avLst/>
          </a:prstGeom>
          <a:noFill/>
        </p:spPr>
        <p:txBody>
          <a:bodyPr wrap="none" lIns="9144" rIns="9144" tIns="9144" bIns="9144" anchor="t">
            <a:spAutoFit/>
          </a:bodyPr>
          <a:lstStyle/>
          <a:p>
            <a:pPr algn="l">
              <a:spcAft>
                <a:spcPts val="0"/>
              </a:spcAft>
              <a:defRPr sz="1800" b="1">
                <a:solidFill>
                  <a:srgbClr val="0D1117"/>
                </a:solidFill>
                <a:latin typeface="Inter"/>
              </a:defRPr>
            </a:pPr>
            <a:r>
              <a:rPr>
                <a:latin typeface="Inter"/>
              </a:rPr>
              <a:t>+58 bps</a:t>
            </a:r>
          </a:p>
        </p:txBody>
      </p:sp>
      <p:sp>
        <p:nvSpPr>
          <p:cNvPr id="25" name="TextBox 24"/>
          <p:cNvSpPr txBox="1"/>
          <p:nvPr/>
        </p:nvSpPr>
        <p:spPr>
          <a:xfrm>
            <a:off x="6259068" y="5888736"/>
            <a:ext cx="2425446" cy="228600"/>
          </a:xfrm>
          <a:prstGeom prst="rect">
            <a:avLst/>
          </a:prstGeom>
          <a:noFill/>
        </p:spPr>
        <p:txBody>
          <a:bodyPr wrap="none" lIns="9144" rIns="9144" tIns="9144" bIns="9144" anchor="t">
            <a:spAutoFit/>
          </a:bodyPr>
          <a:lstStyle/>
          <a:p>
            <a:pPr algn="l">
              <a:spcAft>
                <a:spcPts val="0"/>
              </a:spcAft>
              <a:defRPr sz="700" b="0">
                <a:solidFill>
                  <a:srgbClr val="4A5563"/>
                </a:solidFill>
                <a:latin typeface="Inter"/>
              </a:defRPr>
            </a:pPr>
            <a:r>
              <a:rPr>
                <a:latin typeface="Inter"/>
              </a:rPr>
              <a:t>Month-over-month to 2026-09-29 [S1]</a:t>
            </a:r>
          </a:p>
        </p:txBody>
      </p:sp>
      <p:sp>
        <p:nvSpPr>
          <p:cNvPr id="26" name="Rectangle 25"/>
          <p:cNvSpPr/>
          <p:nvPr/>
        </p:nvSpPr>
        <p:spPr>
          <a:xfrm>
            <a:off x="8903970" y="3301876"/>
            <a:ext cx="2644902" cy="2916043"/>
          </a:xfrm>
          <a:prstGeom prst="rect">
            <a:avLst/>
          </a:prstGeom>
          <a:solidFill>
            <a:srgbClr val="F5F7F9"/>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27" name="Rectangle 26"/>
          <p:cNvSpPr/>
          <p:nvPr/>
        </p:nvSpPr>
        <p:spPr>
          <a:xfrm>
            <a:off x="8903970" y="3301876"/>
            <a:ext cx="2644902" cy="45720"/>
          </a:xfrm>
          <a:prstGeom prst="rect">
            <a:avLst/>
          </a:prstGeom>
          <a:solidFill>
            <a:srgbClr val="FF6B5E"/>
          </a:solidFill>
          <a:ln>
            <a:solidFill>
              <a:srgbClr val="FF6B5E"/>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28" name="TextBox 27"/>
          <p:cNvSpPr txBox="1"/>
          <p:nvPr/>
        </p:nvSpPr>
        <p:spPr>
          <a:xfrm>
            <a:off x="9013698" y="3429892"/>
            <a:ext cx="2425446" cy="201168"/>
          </a:xfrm>
          <a:prstGeom prst="rect">
            <a:avLst/>
          </a:prstGeom>
          <a:noFill/>
        </p:spPr>
        <p:txBody>
          <a:bodyPr wrap="none" lIns="9144" rIns="9144" tIns="9144" bIns="9144" anchor="t">
            <a:spAutoFit/>
          </a:bodyPr>
          <a:lstStyle/>
          <a:p>
            <a:pPr algn="l">
              <a:spcAft>
                <a:spcPts val="0"/>
              </a:spcAft>
              <a:defRPr sz="650" b="1">
                <a:solidFill>
                  <a:srgbClr val="4A5563"/>
                </a:solidFill>
                <a:latin typeface="Inter"/>
              </a:defRPr>
            </a:pPr>
            <a:r>
              <a:rPr>
                <a:latin typeface="Inter"/>
              </a:rPr>
              <a:t>CRUDE TANKER FREIGHT</a:t>
            </a:r>
          </a:p>
        </p:txBody>
      </p:sp>
      <p:sp>
        <p:nvSpPr>
          <p:cNvPr id="29" name="TextBox 28"/>
          <p:cNvSpPr txBox="1"/>
          <p:nvPr/>
        </p:nvSpPr>
        <p:spPr>
          <a:xfrm>
            <a:off x="9013698" y="3685924"/>
            <a:ext cx="2425446" cy="475488"/>
          </a:xfrm>
          <a:prstGeom prst="rect">
            <a:avLst/>
          </a:prstGeom>
          <a:noFill/>
        </p:spPr>
        <p:txBody>
          <a:bodyPr wrap="none" lIns="9144" rIns="9144" tIns="9144" bIns="9144" anchor="t">
            <a:spAutoFit/>
          </a:bodyPr>
          <a:lstStyle/>
          <a:p>
            <a:pPr algn="l">
              <a:spcAft>
                <a:spcPts val="0"/>
              </a:spcAft>
              <a:defRPr sz="1800" b="1">
                <a:solidFill>
                  <a:srgbClr val="0D1117"/>
                </a:solidFill>
                <a:latin typeface="Inter"/>
              </a:defRPr>
            </a:pPr>
            <a:r>
              <a:rPr>
                <a:latin typeface="Inter"/>
              </a:rPr>
              <a:t>+318.5%</a:t>
            </a:r>
          </a:p>
        </p:txBody>
      </p:sp>
      <p:sp>
        <p:nvSpPr>
          <p:cNvPr id="30" name="TextBox 29"/>
          <p:cNvSpPr txBox="1"/>
          <p:nvPr/>
        </p:nvSpPr>
        <p:spPr>
          <a:xfrm>
            <a:off x="9013698" y="5888736"/>
            <a:ext cx="2425446" cy="228600"/>
          </a:xfrm>
          <a:prstGeom prst="rect">
            <a:avLst/>
          </a:prstGeom>
          <a:noFill/>
        </p:spPr>
        <p:txBody>
          <a:bodyPr wrap="none" lIns="9144" rIns="9144" tIns="9144" bIns="9144" anchor="t">
            <a:spAutoFit/>
          </a:bodyPr>
          <a:lstStyle/>
          <a:p>
            <a:pPr algn="l">
              <a:spcAft>
                <a:spcPts val="0"/>
              </a:spcAft>
              <a:defRPr sz="700" b="0">
                <a:solidFill>
                  <a:srgbClr val="4A5563"/>
                </a:solidFill>
                <a:latin typeface="Inter"/>
              </a:defRPr>
            </a:pPr>
            <a:r>
              <a:rPr>
                <a:latin typeface="Inter"/>
              </a:rPr>
              <a:t>Quarter-over-quarter to 2026-09-30 [S1]</a:t>
            </a:r>
          </a:p>
        </p:txBody>
      </p:sp>
      <p:sp>
        <p:nvSpPr>
          <p:cNvPr id="31" name="Rectangle 30"/>
          <p:cNvSpPr/>
          <p:nvPr/>
        </p:nvSpPr>
        <p:spPr>
          <a:xfrm>
            <a:off x="640080" y="5806440"/>
            <a:ext cx="10908792" cy="502920"/>
          </a:xfrm>
          <a:prstGeom prst="rect">
            <a:avLst/>
          </a:prstGeom>
          <a:solidFill>
            <a:srgbClr val="F5F7F9"/>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32" name="Rectangle 31"/>
          <p:cNvSpPr/>
          <p:nvPr/>
        </p:nvSpPr>
        <p:spPr>
          <a:xfrm>
            <a:off x="640080" y="5806440"/>
            <a:ext cx="54864" cy="502920"/>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33" name="TextBox 32"/>
          <p:cNvSpPr txBox="1"/>
          <p:nvPr/>
        </p:nvSpPr>
        <p:spPr>
          <a:xfrm>
            <a:off x="804671" y="5916168"/>
            <a:ext cx="10616184" cy="228600"/>
          </a:xfrm>
          <a:prstGeom prst="rect">
            <a:avLst/>
          </a:prstGeom>
          <a:noFill/>
        </p:spPr>
        <p:txBody>
          <a:bodyPr wrap="none" lIns="9144" rIns="9144" tIns="9144" bIns="9144" anchor="t">
            <a:spAutoFit/>
          </a:bodyPr>
          <a:lstStyle/>
          <a:p>
            <a:pPr algn="l">
              <a:spcAft>
                <a:spcPts val="0"/>
              </a:spcAft>
              <a:defRPr sz="1000" b="1">
                <a:solidFill>
                  <a:srgbClr val="0D1117"/>
                </a:solidFill>
                <a:latin typeface="Inter"/>
              </a:defRPr>
            </a:pPr>
            <a:r>
              <a:rPr>
                <a:latin typeface="Inter"/>
              </a:rPr>
              <a:t>Takeaway</a:t>
            </a:r>
          </a:p>
        </p:txBody>
      </p:sp>
      <p:sp>
        <p:nvSpPr>
          <p:cNvPr id="34" name="TextBox 33"/>
          <p:cNvSpPr txBox="1"/>
          <p:nvPr/>
        </p:nvSpPr>
        <p:spPr>
          <a:xfrm>
            <a:off x="804671" y="6199631"/>
            <a:ext cx="10616184" cy="228600"/>
          </a:xfrm>
          <a:prstGeom prst="rect">
            <a:avLst/>
          </a:prstGeom>
          <a:noFill/>
        </p:spPr>
        <p:txBody>
          <a:bodyPr wrap="none" lIns="9144" rIns="9144" tIns="9144" bIns="9144" anchor="t">
            <a:spAutoFit/>
          </a:bodyPr>
          <a:lstStyle/>
          <a:p>
            <a:pPr algn="l">
              <a:spcAft>
                <a:spcPts val="0"/>
              </a:spcAft>
              <a:defRPr sz="950" b="0">
                <a:solidFill>
                  <a:srgbClr val="4A5563"/>
                </a:solidFill>
                <a:latin typeface="Inter"/>
              </a:defRPr>
            </a:pPr>
            <a:r>
              <a:rPr>
                <a:latin typeface="Inter"/>
              </a:rPr>
              <a:t>The energy shock is showing up in refined products, not crude — The Read holds this lean with low confidence until new prices print.</a:t>
            </a:r>
          </a:p>
        </p:txBody>
      </p:sp>
      <p:sp>
        <p:nvSpPr>
          <p:cNvPr id="35" name="Rectangle 34"/>
          <p:cNvSpPr/>
          <p:nvPr/>
        </p:nvSpPr>
        <p:spPr>
          <a:xfrm>
            <a:off x="640080" y="6446520"/>
            <a:ext cx="10908792" cy="9144"/>
          </a:xfrm>
          <a:prstGeom prst="rect">
            <a:avLst/>
          </a:prstGeom>
          <a:solidFill>
            <a:srgbClr val="E3E7EC"/>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36" name="TextBox 35"/>
          <p:cNvSpPr txBox="1"/>
          <p:nvPr/>
        </p:nvSpPr>
        <p:spPr>
          <a:xfrm>
            <a:off x="640080" y="6501384"/>
            <a:ext cx="4297680" cy="146304"/>
          </a:xfrm>
          <a:prstGeom prst="rect">
            <a:avLst/>
          </a:prstGeom>
          <a:noFill/>
        </p:spPr>
        <p:txBody>
          <a:bodyPr wrap="none" lIns="9144" rIns="9144" tIns="9144" bIns="9144" anchor="t">
            <a:spAutoFit/>
          </a:bodyPr>
          <a:lstStyle/>
          <a:p>
            <a:pPr algn="l">
              <a:spcAft>
                <a:spcPts val="0"/>
              </a:spcAft>
              <a:defRPr sz="650" b="0">
                <a:solidFill>
                  <a:srgbClr val="8A94A1"/>
                </a:solidFill>
                <a:latin typeface="Inter"/>
              </a:defRPr>
            </a:pPr>
            <a:r>
              <a:rPr>
                <a:latin typeface="Inter"/>
              </a:rPr>
              <a:t>Sources: S1</a:t>
            </a:r>
          </a:p>
        </p:txBody>
      </p:sp>
      <p:sp>
        <p:nvSpPr>
          <p:cNvPr id="37" name="TextBox 36"/>
          <p:cNvSpPr txBox="1"/>
          <p:nvPr/>
        </p:nvSpPr>
        <p:spPr>
          <a:xfrm>
            <a:off x="4480560" y="6501384"/>
            <a:ext cx="5303520" cy="146304"/>
          </a:xfrm>
          <a:prstGeom prst="rect">
            <a:avLst/>
          </a:prstGeom>
          <a:noFill/>
        </p:spPr>
        <p:txBody>
          <a:bodyPr wrap="none" lIns="9144" rIns="9144" tIns="9144" bIns="9144" anchor="t">
            <a:spAutoFit/>
          </a:bodyPr>
          <a:lstStyle/>
          <a:p>
            <a:pPr algn="ctr">
              <a:spcAft>
                <a:spcPts val="0"/>
              </a:spcAft>
              <a:defRPr sz="650" b="0">
                <a:solidFill>
                  <a:srgbClr val="8A94A1"/>
                </a:solidFill>
                <a:latin typeface="Inter"/>
              </a:defRPr>
            </a:pPr>
            <a:r>
              <a:rPr>
                <a:latin typeface="Inter"/>
              </a:rPr>
              <a:t>Confidential — prepared for internal investment use · Data as of 2026-10-02</a:t>
            </a:r>
          </a:p>
        </p:txBody>
      </p:sp>
      <p:sp>
        <p:nvSpPr>
          <p:cNvPr id="38" name="TextBox 37"/>
          <p:cNvSpPr txBox="1"/>
          <p:nvPr/>
        </p:nvSpPr>
        <p:spPr>
          <a:xfrm>
            <a:off x="10287000" y="6501384"/>
            <a:ext cx="1261872" cy="146304"/>
          </a:xfrm>
          <a:prstGeom prst="rect">
            <a:avLst/>
          </a:prstGeom>
          <a:noFill/>
        </p:spPr>
        <p:txBody>
          <a:bodyPr wrap="none" lIns="9144" rIns="9144" tIns="9144" bIns="9144" anchor="t">
            <a:spAutoFit/>
          </a:bodyPr>
          <a:lstStyle/>
          <a:p>
            <a:pPr algn="r">
              <a:spcAft>
                <a:spcPts val="0"/>
              </a:spcAft>
              <a:defRPr sz="650" b="0">
                <a:solidFill>
                  <a:srgbClr val="8A94A1"/>
                </a:solidFill>
                <a:latin typeface="Inter"/>
              </a:defRPr>
            </a:pPr>
            <a:r>
              <a:rPr>
                <a:latin typeface="Inter"/>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3" name="TextBox 2"/>
          <p:cNvSpPr txBox="1"/>
          <p:nvPr/>
        </p:nvSpPr>
        <p:spPr>
          <a:xfrm>
            <a:off x="640080" y="329184"/>
            <a:ext cx="9875520" cy="182880"/>
          </a:xfrm>
          <a:prstGeom prst="rect">
            <a:avLst/>
          </a:prstGeom>
          <a:noFill/>
        </p:spPr>
        <p:txBody>
          <a:bodyPr wrap="none" lIns="9144" rIns="9144" tIns="9144" bIns="9144" anchor="t">
            <a:spAutoFit/>
          </a:bodyPr>
          <a:lstStyle/>
          <a:p>
            <a:pPr algn="l">
              <a:spcAft>
                <a:spcPts val="0"/>
              </a:spcAft>
              <a:defRPr sz="750" b="1">
                <a:solidFill>
                  <a:srgbClr val="4F6B00"/>
                </a:solidFill>
                <a:latin typeface="Inter"/>
              </a:defRPr>
            </a:pPr>
            <a:r>
              <a:rPr>
                <a:latin typeface="Inter"/>
              </a:rPr>
              <a:t>RATES [S2]</a:t>
            </a:r>
          </a:p>
        </p:txBody>
      </p:sp>
      <p:sp>
        <p:nvSpPr>
          <p:cNvPr id="4" name="TextBox 3"/>
          <p:cNvSpPr txBox="1"/>
          <p:nvPr/>
        </p:nvSpPr>
        <p:spPr>
          <a:xfrm>
            <a:off x="640080" y="566928"/>
            <a:ext cx="10058400" cy="530352"/>
          </a:xfrm>
          <a:prstGeom prst="rect">
            <a:avLst/>
          </a:prstGeom>
          <a:noFill/>
        </p:spPr>
        <p:txBody>
          <a:bodyPr wrap="none" lIns="9144" rIns="9144" tIns="9144" bIns="9144" anchor="t">
            <a:spAutoFit/>
          </a:bodyPr>
          <a:lstStyle/>
          <a:p>
            <a:pPr algn="l">
              <a:spcAft>
                <a:spcPts val="0"/>
              </a:spcAft>
              <a:defRPr sz="2300" b="1">
                <a:solidFill>
                  <a:srgbClr val="0D1117"/>
                </a:solidFill>
                <a:latin typeface="Inter"/>
              </a:defRPr>
            </a:pPr>
            <a:r>
              <a:rPr>
                <a:latin typeface="Inter"/>
              </a:rPr>
              <a:t>Rates are doing the tightening: front end up 26–39 bps in a month</a:t>
            </a:r>
          </a:p>
        </p:txBody>
      </p:sp>
      <p:sp>
        <p:nvSpPr>
          <p:cNvPr id="5" name="Rectangle 4"/>
          <p:cNvSpPr/>
          <p:nvPr/>
        </p:nvSpPr>
        <p:spPr>
          <a:xfrm>
            <a:off x="640080" y="1115568"/>
            <a:ext cx="10908792" cy="18288"/>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6" name="Rectangle 5"/>
          <p:cNvSpPr/>
          <p:nvPr/>
        </p:nvSpPr>
        <p:spPr>
          <a:xfrm>
            <a:off x="11018520" y="502920"/>
            <a:ext cx="530352" cy="393192"/>
          </a:xfrm>
          <a:prstGeom prst="rect">
            <a:avLst/>
          </a:prstGeom>
          <a:solidFill>
            <a:srgbClr val="C6F432"/>
          </a:solidFill>
          <a:ln>
            <a:solidFill>
              <a:srgbClr val="C6F432"/>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7" name="TextBox 6"/>
          <p:cNvSpPr txBox="1"/>
          <p:nvPr/>
        </p:nvSpPr>
        <p:spPr>
          <a:xfrm>
            <a:off x="11045952" y="557784"/>
            <a:ext cx="475488" cy="182880"/>
          </a:xfrm>
          <a:prstGeom prst="rect">
            <a:avLst/>
          </a:prstGeom>
          <a:noFill/>
        </p:spPr>
        <p:txBody>
          <a:bodyPr wrap="none" lIns="9144" rIns="9144" tIns="9144" bIns="9144" anchor="t">
            <a:spAutoFit/>
          </a:bodyPr>
          <a:lstStyle/>
          <a:p>
            <a:pPr algn="ctr">
              <a:spcAft>
                <a:spcPts val="0"/>
              </a:spcAft>
              <a:defRPr sz="1000" b="1">
                <a:solidFill>
                  <a:srgbClr val="0D1117"/>
                </a:solidFill>
                <a:latin typeface="Inter"/>
              </a:defRPr>
            </a:pPr>
            <a:r>
              <a:rPr>
                <a:latin typeface="Inter"/>
              </a:rPr>
              <a:t>02</a:t>
            </a:r>
          </a:p>
        </p:txBody>
      </p:sp>
      <p:sp>
        <p:nvSpPr>
          <p:cNvPr id="8" name="TextBox 7"/>
          <p:cNvSpPr txBox="1"/>
          <p:nvPr/>
        </p:nvSpPr>
        <p:spPr>
          <a:xfrm>
            <a:off x="640080" y="1325880"/>
            <a:ext cx="5239512" cy="201168"/>
          </a:xfrm>
          <a:prstGeom prst="rect">
            <a:avLst/>
          </a:prstGeom>
          <a:noFill/>
        </p:spPr>
        <p:txBody>
          <a:bodyPr wrap="none" lIns="9144" rIns="9144" tIns="9144" bIns="9144" anchor="t">
            <a:spAutoFit/>
          </a:bodyPr>
          <a:lstStyle/>
          <a:p>
            <a:pPr algn="l">
              <a:spcAft>
                <a:spcPts val="0"/>
              </a:spcAft>
              <a:defRPr sz="720" b="1">
                <a:solidFill>
                  <a:srgbClr val="4A5563"/>
                </a:solidFill>
                <a:latin typeface="Inter"/>
              </a:defRPr>
            </a:pPr>
            <a:r>
              <a:rPr>
                <a:latin typeface="Inter"/>
              </a:rPr>
              <a:t>ONE-MONTH CHANGE TO 2026-10-01/02 (BPS)</a:t>
            </a:r>
          </a:p>
        </p:txBody>
      </p:sp>
      <p:graphicFrame>
        <p:nvGraphicFramePr>
          <p:cNvPr id="9" name="Chart 8"/>
          <p:cNvGraphicFramePr>
            <a:graphicFrameLocks noGrp="1"/>
          </p:cNvGraphicFramePr>
          <p:nvPr/>
        </p:nvGraphicFramePr>
        <p:xfrm>
          <a:off x="640080" y="1600200"/>
          <a:ext cx="5239512" cy="4617720"/>
        </p:xfrm>
        <a:graphic>
          <a:graphicData uri="http://schemas.openxmlformats.org/drawingml/2006/chart">
            <c:chart xmlns:c="http://schemas.openxmlformats.org/drawingml/2006/chart" r:id="rId2"/>
          </a:graphicData>
        </a:graphic>
      </p:graphicFrame>
      <p:sp>
        <p:nvSpPr>
          <p:cNvPr id="10" name="Rectangle 9"/>
          <p:cNvSpPr/>
          <p:nvPr/>
        </p:nvSpPr>
        <p:spPr>
          <a:xfrm>
            <a:off x="6080760" y="1325880"/>
            <a:ext cx="9144" cy="4892040"/>
          </a:xfrm>
          <a:prstGeom prst="rect">
            <a:avLst/>
          </a:prstGeom>
          <a:solidFill>
            <a:srgbClr val="E3E7EC"/>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1" name="TextBox 10"/>
          <p:cNvSpPr txBox="1"/>
          <p:nvPr/>
        </p:nvSpPr>
        <p:spPr>
          <a:xfrm>
            <a:off x="6309360" y="1325880"/>
            <a:ext cx="5239512" cy="201168"/>
          </a:xfrm>
          <a:prstGeom prst="rect">
            <a:avLst/>
          </a:prstGeom>
          <a:noFill/>
        </p:spPr>
        <p:txBody>
          <a:bodyPr wrap="none" lIns="9144" rIns="9144" tIns="9144" bIns="9144" anchor="t">
            <a:spAutoFit/>
          </a:bodyPr>
          <a:lstStyle/>
          <a:p>
            <a:pPr algn="l">
              <a:spcAft>
                <a:spcPts val="0"/>
              </a:spcAft>
              <a:defRPr sz="720" b="1">
                <a:solidFill>
                  <a:srgbClr val="4A5563"/>
                </a:solidFill>
                <a:latin typeface="Inter"/>
              </a:defRPr>
            </a:pPr>
            <a:r>
              <a:rPr>
                <a:latin typeface="Inter"/>
              </a:rPr>
              <a:t>WHERE LEVELS SIT</a:t>
            </a:r>
          </a:p>
        </p:txBody>
      </p:sp>
      <p:graphicFrame>
        <p:nvGraphicFramePr>
          <p:cNvPr id="12" name="Table 11"/>
          <p:cNvGraphicFramePr>
            <a:graphicFrameLocks noGrp="1"/>
          </p:cNvGraphicFramePr>
          <p:nvPr/>
        </p:nvGraphicFramePr>
        <p:xfrm>
          <a:off x="6309360" y="1600200"/>
          <a:ext cx="5239512" cy="4416552"/>
        </p:xfrm>
        <a:graphic>
          <a:graphicData uri="http://schemas.openxmlformats.org/drawingml/2006/table">
            <a:tbl>
              <a:tblPr firstRow="1" bandRow="1">
                <a:tableStyleId>{5C22544A-7EE6-4342-B048-85BDC9FD1C3A}</a:tableStyleId>
              </a:tblPr>
              <a:tblGrid>
                <a:gridCol w="1746504"/>
                <a:gridCol w="1746504"/>
                <a:gridCol w="1746504"/>
              </a:tblGrid>
              <a:tr h="736092">
                <a:tc>
                  <a:txBody>
                    <a:bodyPr/>
                    <a:lstStyle/>
                    <a:p>
                      <a:pPr>
                        <a:defRPr sz="750" b="1">
                          <a:solidFill>
                            <a:srgbClr val="FFFFFF"/>
                          </a:solidFill>
                          <a:latin typeface="Inter"/>
                        </a:defRPr>
                      </a:pPr>
                      <a:r>
                        <a:rPr>
                          <a:latin typeface="Inter"/>
                        </a:rPr>
                        <a:t>Series</a:t>
                      </a:r>
                    </a:p>
                  </a:txBody>
                  <a:tcPr marL="54864" marR="54864" marT="27432" marB="27432" anchor="ctr">
                    <a:solidFill>
                      <a:srgbClr val="0D1117"/>
                    </a:solidFill>
                  </a:tcPr>
                </a:tc>
                <a:tc>
                  <a:txBody>
                    <a:bodyPr/>
                    <a:lstStyle/>
                    <a:p>
                      <a:pPr>
                        <a:defRPr sz="750" b="1">
                          <a:solidFill>
                            <a:srgbClr val="FFFFFF"/>
                          </a:solidFill>
                          <a:latin typeface="Inter"/>
                        </a:defRPr>
                      </a:pPr>
                      <a:r>
                        <a:rPr>
                          <a:latin typeface="Inter"/>
                        </a:rPr>
                        <a:t>1y pct</a:t>
                      </a:r>
                    </a:p>
                  </a:txBody>
                  <a:tcPr marL="54864" marR="54864" marT="27432" marB="27432" anchor="ctr">
                    <a:solidFill>
                      <a:srgbClr val="0D1117"/>
                    </a:solidFill>
                  </a:tcPr>
                </a:tc>
                <a:tc>
                  <a:txBody>
                    <a:bodyPr/>
                    <a:lstStyle/>
                    <a:p>
                      <a:pPr>
                        <a:defRPr sz="750" b="1">
                          <a:solidFill>
                            <a:srgbClr val="FFFFFF"/>
                          </a:solidFill>
                          <a:latin typeface="Inter"/>
                        </a:defRPr>
                      </a:pPr>
                      <a:r>
                        <a:rPr>
                          <a:latin typeface="Inter"/>
                        </a:rPr>
                        <a:t>5y pct</a:t>
                      </a:r>
                    </a:p>
                  </a:txBody>
                  <a:tcPr marL="54864" marR="54864" marT="27432" marB="27432" anchor="ctr">
                    <a:solidFill>
                      <a:srgbClr val="0D1117"/>
                    </a:solidFill>
                  </a:tcPr>
                </a:tc>
              </a:tr>
              <a:tr h="736092">
                <a:tc>
                  <a:txBody>
                    <a:bodyPr/>
                    <a:lstStyle/>
                    <a:p>
                      <a:pPr>
                        <a:defRPr sz="800" b="1">
                          <a:solidFill>
                            <a:srgbClr val="0D1117"/>
                          </a:solidFill>
                          <a:latin typeface="Inter"/>
                        </a:defRPr>
                      </a:pPr>
                      <a:r>
                        <a:rPr>
                          <a:latin typeface="Inter"/>
                        </a:rPr>
                        <a:t>2-Year Treasury</a:t>
                      </a:r>
                    </a:p>
                  </a:txBody>
                  <a:tcPr marL="54864" marR="54864" marT="27432" marB="27432" anchor="ctr">
                    <a:solidFill>
                      <a:srgbClr val="FFFFFF"/>
                    </a:solidFill>
                  </a:tcPr>
                </a:tc>
                <a:tc>
                  <a:txBody>
                    <a:bodyPr/>
                    <a:lstStyle/>
                    <a:p>
                      <a:pPr>
                        <a:defRPr sz="800" b="0">
                          <a:solidFill>
                            <a:srgbClr val="0D1117"/>
                          </a:solidFill>
                          <a:latin typeface="Inter"/>
                        </a:defRPr>
                      </a:pPr>
                      <a:r>
                        <a:rPr>
                          <a:latin typeface="Inter"/>
                        </a:rPr>
                        <a:t>97.6</a:t>
                      </a:r>
                    </a:p>
                  </a:txBody>
                  <a:tcPr marL="54864" marR="54864" marT="27432" marB="27432" anchor="ctr">
                    <a:solidFill>
                      <a:srgbClr val="FFFFFF"/>
                    </a:solidFill>
                  </a:tcPr>
                </a:tc>
                <a:tc>
                  <a:txBody>
                    <a:bodyPr/>
                    <a:lstStyle/>
                    <a:p>
                      <a:pPr>
                        <a:defRPr sz="800" b="0">
                          <a:solidFill>
                            <a:srgbClr val="0D1117"/>
                          </a:solidFill>
                          <a:latin typeface="Inter"/>
                        </a:defRPr>
                      </a:pPr>
                      <a:r>
                        <a:rPr>
                          <a:latin typeface="Inter"/>
                        </a:rPr>
                        <a:t>88.2</a:t>
                      </a:r>
                    </a:p>
                  </a:txBody>
                  <a:tcPr marL="54864" marR="54864" marT="27432" marB="27432" anchor="ctr">
                    <a:solidFill>
                      <a:srgbClr val="FFFFFF"/>
                    </a:solidFill>
                  </a:tcPr>
                </a:tc>
              </a:tr>
              <a:tr h="736092">
                <a:tc>
                  <a:txBody>
                    <a:bodyPr/>
                    <a:lstStyle/>
                    <a:p>
                      <a:pPr>
                        <a:defRPr sz="800" b="1">
                          <a:solidFill>
                            <a:srgbClr val="0D1117"/>
                          </a:solidFill>
                          <a:latin typeface="Inter"/>
                        </a:defRPr>
                      </a:pPr>
                      <a:r>
                        <a:rPr>
                          <a:latin typeface="Inter"/>
                        </a:rPr>
                        <a:t>3-Month Treasury</a:t>
                      </a:r>
                    </a:p>
                  </a:txBody>
                  <a:tcPr marL="54864" marR="54864" marT="27432" marB="27432" anchor="ctr">
                    <a:solidFill>
                      <a:srgbClr val="F5F7F9"/>
                    </a:solidFill>
                  </a:tcPr>
                </a:tc>
                <a:tc>
                  <a:txBody>
                    <a:bodyPr/>
                    <a:lstStyle/>
                    <a:p>
                      <a:pPr>
                        <a:defRPr sz="800" b="0">
                          <a:solidFill>
                            <a:srgbClr val="0D1117"/>
                          </a:solidFill>
                          <a:latin typeface="Inter"/>
                        </a:defRPr>
                      </a:pPr>
                      <a:r>
                        <a:rPr>
                          <a:latin typeface="Inter"/>
                        </a:rPr>
                        <a:t>97.6</a:t>
                      </a:r>
                    </a:p>
                  </a:txBody>
                  <a:tcPr marL="54864" marR="54864" marT="27432" marB="27432" anchor="ctr">
                    <a:solidFill>
                      <a:srgbClr val="F5F7F9"/>
                    </a:solidFill>
                  </a:tcPr>
                </a:tc>
                <a:tc>
                  <a:txBody>
                    <a:bodyPr/>
                    <a:lstStyle/>
                    <a:p>
                      <a:pPr>
                        <a:defRPr sz="800" b="0">
                          <a:solidFill>
                            <a:srgbClr val="0D1117"/>
                          </a:solidFill>
                          <a:latin typeface="Inter"/>
                        </a:defRPr>
                      </a:pPr>
                      <a:r>
                        <a:rPr>
                          <a:latin typeface="Inter"/>
                        </a:rPr>
                        <a:t>42.6</a:t>
                      </a:r>
                    </a:p>
                  </a:txBody>
                  <a:tcPr marL="54864" marR="54864" marT="27432" marB="27432" anchor="ctr">
                    <a:solidFill>
                      <a:srgbClr val="F5F7F9"/>
                    </a:solidFill>
                  </a:tcPr>
                </a:tc>
              </a:tr>
              <a:tr h="736092">
                <a:tc>
                  <a:txBody>
                    <a:bodyPr/>
                    <a:lstStyle/>
                    <a:p>
                      <a:pPr>
                        <a:defRPr sz="800" b="1">
                          <a:solidFill>
                            <a:srgbClr val="0D1117"/>
                          </a:solidFill>
                          <a:latin typeface="Inter"/>
                        </a:defRPr>
                      </a:pPr>
                      <a:r>
                        <a:rPr>
                          <a:latin typeface="Inter"/>
                        </a:rPr>
                        <a:t>10Y term premium</a:t>
                      </a:r>
                    </a:p>
                  </a:txBody>
                  <a:tcPr marL="54864" marR="54864" marT="27432" marB="27432" anchor="ctr">
                    <a:solidFill>
                      <a:srgbClr val="FFFFFF"/>
                    </a:solidFill>
                  </a:tcPr>
                </a:tc>
                <a:tc>
                  <a:txBody>
                    <a:bodyPr/>
                    <a:lstStyle/>
                    <a:p>
                      <a:pPr>
                        <a:defRPr sz="800" b="0">
                          <a:solidFill>
                            <a:srgbClr val="0D1117"/>
                          </a:solidFill>
                          <a:latin typeface="Inter"/>
                        </a:defRPr>
                      </a:pPr>
                      <a:r>
                        <a:rPr>
                          <a:latin typeface="Inter"/>
                        </a:rPr>
                        <a:t>99.6</a:t>
                      </a:r>
                    </a:p>
                  </a:txBody>
                  <a:tcPr marL="54864" marR="54864" marT="27432" marB="27432" anchor="ctr">
                    <a:solidFill>
                      <a:srgbClr val="FFFFFF"/>
                    </a:solidFill>
                  </a:tcPr>
                </a:tc>
                <a:tc>
                  <a:txBody>
                    <a:bodyPr/>
                    <a:lstStyle/>
                    <a:p>
                      <a:pPr>
                        <a:defRPr sz="800" b="0">
                          <a:solidFill>
                            <a:srgbClr val="0D1117"/>
                          </a:solidFill>
                          <a:latin typeface="Inter"/>
                        </a:defRPr>
                      </a:pPr>
                      <a:r>
                        <a:rPr>
                          <a:latin typeface="Inter"/>
                        </a:rPr>
                        <a:t>99.9</a:t>
                      </a:r>
                    </a:p>
                  </a:txBody>
                  <a:tcPr marL="54864" marR="54864" marT="27432" marB="27432" anchor="ctr">
                    <a:solidFill>
                      <a:srgbClr val="FFFFFF"/>
                    </a:solidFill>
                  </a:tcPr>
                </a:tc>
              </a:tr>
              <a:tr h="736092">
                <a:tc>
                  <a:txBody>
                    <a:bodyPr/>
                    <a:lstStyle/>
                    <a:p>
                      <a:pPr>
                        <a:defRPr sz="800" b="1">
                          <a:solidFill>
                            <a:srgbClr val="0D1117"/>
                          </a:solidFill>
                          <a:latin typeface="Inter"/>
                        </a:defRPr>
                      </a:pPr>
                      <a:r>
                        <a:rPr>
                          <a:latin typeface="Inter"/>
                        </a:rPr>
                        <a:t>10Y–3M spread</a:t>
                      </a:r>
                    </a:p>
                  </a:txBody>
                  <a:tcPr marL="54864" marR="54864" marT="27432" marB="27432" anchor="ctr">
                    <a:solidFill>
                      <a:srgbClr val="F5F7F9"/>
                    </a:solidFill>
                  </a:tcPr>
                </a:tc>
                <a:tc>
                  <a:txBody>
                    <a:bodyPr/>
                    <a:lstStyle/>
                    <a:p>
                      <a:pPr>
                        <a:defRPr sz="800" b="0">
                          <a:solidFill>
                            <a:srgbClr val="0D1117"/>
                          </a:solidFill>
                          <a:latin typeface="Inter"/>
                        </a:defRPr>
                      </a:pPr>
                      <a:r>
                        <a:rPr>
                          <a:latin typeface="Inter"/>
                        </a:rPr>
                        <a:t>100.0</a:t>
                      </a:r>
                    </a:p>
                  </a:txBody>
                  <a:tcPr marL="54864" marR="54864" marT="27432" marB="27432" anchor="ctr">
                    <a:solidFill>
                      <a:srgbClr val="F5F7F9"/>
                    </a:solidFill>
                  </a:tcPr>
                </a:tc>
                <a:tc>
                  <a:txBody>
                    <a:bodyPr/>
                    <a:lstStyle/>
                    <a:p>
                      <a:pPr>
                        <a:defRPr sz="800" b="0">
                          <a:solidFill>
                            <a:srgbClr val="0D1117"/>
                          </a:solidFill>
                          <a:latin typeface="Inter"/>
                        </a:defRPr>
                      </a:pPr>
                      <a:r>
                        <a:rPr>
                          <a:latin typeface="Inter"/>
                        </a:rPr>
                        <a:t>85.0</a:t>
                      </a:r>
                    </a:p>
                  </a:txBody>
                  <a:tcPr marL="54864" marR="54864" marT="27432" marB="27432" anchor="ctr">
                    <a:solidFill>
                      <a:srgbClr val="F5F7F9"/>
                    </a:solidFill>
                  </a:tcPr>
                </a:tc>
              </a:tr>
              <a:tr h="736092">
                <a:tc>
                  <a:txBody>
                    <a:bodyPr/>
                    <a:lstStyle/>
                    <a:p>
                      <a:pPr>
                        <a:defRPr sz="800" b="1">
                          <a:solidFill>
                            <a:srgbClr val="0D1117"/>
                          </a:solidFill>
                          <a:latin typeface="Inter"/>
                        </a:defRPr>
                      </a:pPr>
                      <a:r>
                        <a:rPr>
                          <a:latin typeface="Inter"/>
                        </a:rPr>
                        <a:t>10Y–2Y spread</a:t>
                      </a:r>
                    </a:p>
                  </a:txBody>
                  <a:tcPr marL="54864" marR="54864" marT="27432" marB="27432" anchor="ctr">
                    <a:solidFill>
                      <a:srgbClr val="FFFFFF"/>
                    </a:solidFill>
                  </a:tcPr>
                </a:tc>
                <a:tc>
                  <a:txBody>
                    <a:bodyPr/>
                    <a:lstStyle/>
                    <a:p>
                      <a:pPr>
                        <a:defRPr sz="800" b="0">
                          <a:solidFill>
                            <a:srgbClr val="0D1117"/>
                          </a:solidFill>
                          <a:latin typeface="Inter"/>
                        </a:defRPr>
                      </a:pPr>
                      <a:r>
                        <a:rPr>
                          <a:latin typeface="Inter"/>
                        </a:rPr>
                        <a:t>28.2</a:t>
                      </a:r>
                    </a:p>
                  </a:txBody>
                  <a:tcPr marL="54864" marR="54864" marT="27432" marB="27432" anchor="ctr">
                    <a:solidFill>
                      <a:srgbClr val="FFFFFF"/>
                    </a:solidFill>
                  </a:tcPr>
                </a:tc>
                <a:tc>
                  <a:txBody>
                    <a:bodyPr/>
                    <a:lstStyle/>
                    <a:p>
                      <a:pPr>
                        <a:defRPr sz="800" b="0">
                          <a:solidFill>
                            <a:srgbClr val="0D1117"/>
                          </a:solidFill>
                          <a:latin typeface="Inter"/>
                        </a:defRPr>
                      </a:pPr>
                      <a:r>
                        <a:rPr>
                          <a:latin typeface="Inter"/>
                        </a:rPr>
                        <a:t>69.0</a:t>
                      </a:r>
                    </a:p>
                  </a:txBody>
                  <a:tcPr marL="54864" marR="54864" marT="27432" marB="27432" anchor="ctr">
                    <a:solidFill>
                      <a:srgbClr val="FFFFFF"/>
                    </a:solidFill>
                  </a:tcPr>
                </a:tc>
              </a:tr>
            </a:tbl>
          </a:graphicData>
        </a:graphic>
      </p:graphicFrame>
      <p:sp>
        <p:nvSpPr>
          <p:cNvPr id="13" name="TextBox 12"/>
          <p:cNvSpPr txBox="1"/>
          <p:nvPr/>
        </p:nvSpPr>
        <p:spPr>
          <a:xfrm>
            <a:off x="6309360" y="6035040"/>
            <a:ext cx="5239512" cy="164592"/>
          </a:xfrm>
          <a:prstGeom prst="rect">
            <a:avLst/>
          </a:prstGeom>
          <a:noFill/>
        </p:spPr>
        <p:txBody>
          <a:bodyPr wrap="none" lIns="9144" rIns="9144" tIns="9144" bIns="9144" anchor="t">
            <a:spAutoFit/>
          </a:bodyPr>
          <a:lstStyle/>
          <a:p>
            <a:pPr algn="l">
              <a:spcAft>
                <a:spcPts val="0"/>
              </a:spcAft>
              <a:defRPr sz="680" b="0">
                <a:solidFill>
                  <a:srgbClr val="8A94A1"/>
                </a:solidFill>
                <a:latin typeface="Inter"/>
              </a:defRPr>
            </a:pPr>
            <a:r>
              <a:rPr>
                <a:latin typeface="Inter"/>
              </a:rPr>
              <a:t>Percentile rank of the level over 1 and 5 years [S2]. Context, not fair value.</a:t>
            </a:r>
          </a:p>
        </p:txBody>
      </p:sp>
      <p:sp>
        <p:nvSpPr>
          <p:cNvPr id="14" name="Rectangle 13"/>
          <p:cNvSpPr/>
          <p:nvPr/>
        </p:nvSpPr>
        <p:spPr>
          <a:xfrm>
            <a:off x="640080" y="5806440"/>
            <a:ext cx="10908792" cy="502920"/>
          </a:xfrm>
          <a:prstGeom prst="rect">
            <a:avLst/>
          </a:prstGeom>
          <a:solidFill>
            <a:srgbClr val="F5F7F9"/>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5" name="Rectangle 14"/>
          <p:cNvSpPr/>
          <p:nvPr/>
        </p:nvSpPr>
        <p:spPr>
          <a:xfrm>
            <a:off x="640080" y="5806440"/>
            <a:ext cx="54864" cy="502920"/>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6" name="TextBox 15"/>
          <p:cNvSpPr txBox="1"/>
          <p:nvPr/>
        </p:nvSpPr>
        <p:spPr>
          <a:xfrm>
            <a:off x="804671" y="5916168"/>
            <a:ext cx="10616184" cy="228600"/>
          </a:xfrm>
          <a:prstGeom prst="rect">
            <a:avLst/>
          </a:prstGeom>
          <a:noFill/>
        </p:spPr>
        <p:txBody>
          <a:bodyPr wrap="none" lIns="9144" rIns="9144" tIns="9144" bIns="9144" anchor="t">
            <a:spAutoFit/>
          </a:bodyPr>
          <a:lstStyle/>
          <a:p>
            <a:pPr algn="l">
              <a:spcAft>
                <a:spcPts val="0"/>
              </a:spcAft>
              <a:defRPr sz="1000" b="1">
                <a:solidFill>
                  <a:srgbClr val="0D1117"/>
                </a:solidFill>
                <a:latin typeface="Inter"/>
              </a:defRPr>
            </a:pPr>
            <a:r>
              <a:rPr>
                <a:latin typeface="Inter"/>
              </a:rPr>
              <a:t>Takeaway</a:t>
            </a:r>
          </a:p>
        </p:txBody>
      </p:sp>
      <p:sp>
        <p:nvSpPr>
          <p:cNvPr id="17" name="TextBox 16"/>
          <p:cNvSpPr txBox="1"/>
          <p:nvPr/>
        </p:nvSpPr>
        <p:spPr>
          <a:xfrm>
            <a:off x="804671" y="6199631"/>
            <a:ext cx="10616184" cy="228600"/>
          </a:xfrm>
          <a:prstGeom prst="rect">
            <a:avLst/>
          </a:prstGeom>
          <a:noFill/>
        </p:spPr>
        <p:txBody>
          <a:bodyPr wrap="none" lIns="9144" rIns="9144" tIns="9144" bIns="9144" anchor="t">
            <a:spAutoFit/>
          </a:bodyPr>
          <a:lstStyle/>
          <a:p>
            <a:pPr algn="l">
              <a:spcAft>
                <a:spcPts val="0"/>
              </a:spcAft>
              <a:defRPr sz="950" b="0">
                <a:solidFill>
                  <a:srgbClr val="4A5563"/>
                </a:solidFill>
                <a:latin typeface="Inter"/>
              </a:defRPr>
            </a:pPr>
            <a:r>
              <a:rPr>
                <a:latin typeface="Inter"/>
              </a:rPr>
              <a:t>The front end and the term premium are both near one-year highs: financial conditions are tightening through rates, not credit.</a:t>
            </a:r>
          </a:p>
        </p:txBody>
      </p:sp>
      <p:sp>
        <p:nvSpPr>
          <p:cNvPr id="18" name="Rectangle 17"/>
          <p:cNvSpPr/>
          <p:nvPr/>
        </p:nvSpPr>
        <p:spPr>
          <a:xfrm>
            <a:off x="640080" y="6446520"/>
            <a:ext cx="10908792" cy="9144"/>
          </a:xfrm>
          <a:prstGeom prst="rect">
            <a:avLst/>
          </a:prstGeom>
          <a:solidFill>
            <a:srgbClr val="E3E7EC"/>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9" name="TextBox 18"/>
          <p:cNvSpPr txBox="1"/>
          <p:nvPr/>
        </p:nvSpPr>
        <p:spPr>
          <a:xfrm>
            <a:off x="640080" y="6501384"/>
            <a:ext cx="4297680" cy="146304"/>
          </a:xfrm>
          <a:prstGeom prst="rect">
            <a:avLst/>
          </a:prstGeom>
          <a:noFill/>
        </p:spPr>
        <p:txBody>
          <a:bodyPr wrap="none" lIns="9144" rIns="9144" tIns="9144" bIns="9144" anchor="t">
            <a:spAutoFit/>
          </a:bodyPr>
          <a:lstStyle/>
          <a:p>
            <a:pPr algn="l">
              <a:spcAft>
                <a:spcPts val="0"/>
              </a:spcAft>
              <a:defRPr sz="650" b="0">
                <a:solidFill>
                  <a:srgbClr val="8A94A1"/>
                </a:solidFill>
                <a:latin typeface="Inter"/>
              </a:defRPr>
            </a:pPr>
            <a:r>
              <a:rPr>
                <a:latin typeface="Inter"/>
              </a:rPr>
              <a:t>Sources: S2</a:t>
            </a:r>
          </a:p>
        </p:txBody>
      </p:sp>
      <p:sp>
        <p:nvSpPr>
          <p:cNvPr id="20" name="TextBox 19"/>
          <p:cNvSpPr txBox="1"/>
          <p:nvPr/>
        </p:nvSpPr>
        <p:spPr>
          <a:xfrm>
            <a:off x="4480560" y="6501384"/>
            <a:ext cx="5303520" cy="146304"/>
          </a:xfrm>
          <a:prstGeom prst="rect">
            <a:avLst/>
          </a:prstGeom>
          <a:noFill/>
        </p:spPr>
        <p:txBody>
          <a:bodyPr wrap="none" lIns="9144" rIns="9144" tIns="9144" bIns="9144" anchor="t">
            <a:spAutoFit/>
          </a:bodyPr>
          <a:lstStyle/>
          <a:p>
            <a:pPr algn="ctr">
              <a:spcAft>
                <a:spcPts val="0"/>
              </a:spcAft>
              <a:defRPr sz="650" b="0">
                <a:solidFill>
                  <a:srgbClr val="8A94A1"/>
                </a:solidFill>
                <a:latin typeface="Inter"/>
              </a:defRPr>
            </a:pPr>
            <a:r>
              <a:rPr>
                <a:latin typeface="Inter"/>
              </a:rPr>
              <a:t>Confidential — prepared for internal investment use · Data as of 2026-10-02</a:t>
            </a:r>
          </a:p>
        </p:txBody>
      </p:sp>
      <p:sp>
        <p:nvSpPr>
          <p:cNvPr id="21" name="TextBox 20"/>
          <p:cNvSpPr txBox="1"/>
          <p:nvPr/>
        </p:nvSpPr>
        <p:spPr>
          <a:xfrm>
            <a:off x="10287000" y="6501384"/>
            <a:ext cx="1261872" cy="146304"/>
          </a:xfrm>
          <a:prstGeom prst="rect">
            <a:avLst/>
          </a:prstGeom>
          <a:noFill/>
        </p:spPr>
        <p:txBody>
          <a:bodyPr wrap="none" lIns="9144" rIns="9144" tIns="9144" bIns="9144" anchor="t">
            <a:spAutoFit/>
          </a:bodyPr>
          <a:lstStyle/>
          <a:p>
            <a:pPr algn="r">
              <a:spcAft>
                <a:spcPts val="0"/>
              </a:spcAft>
              <a:defRPr sz="650" b="0">
                <a:solidFill>
                  <a:srgbClr val="8A94A1"/>
                </a:solidFill>
                <a:latin typeface="Inter"/>
              </a:defRPr>
            </a:pPr>
            <a:r>
              <a:rPr>
                <a:latin typeface="Inter"/>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3" name="TextBox 2"/>
          <p:cNvSpPr txBox="1"/>
          <p:nvPr/>
        </p:nvSpPr>
        <p:spPr>
          <a:xfrm>
            <a:off x="640080" y="329184"/>
            <a:ext cx="9875520" cy="182880"/>
          </a:xfrm>
          <a:prstGeom prst="rect">
            <a:avLst/>
          </a:prstGeom>
          <a:noFill/>
        </p:spPr>
        <p:txBody>
          <a:bodyPr wrap="none" lIns="9144" rIns="9144" tIns="9144" bIns="9144" anchor="t">
            <a:spAutoFit/>
          </a:bodyPr>
          <a:lstStyle/>
          <a:p>
            <a:pPr algn="l">
              <a:spcAft>
                <a:spcPts val="0"/>
              </a:spcAft>
              <a:defRPr sz="750" b="1">
                <a:solidFill>
                  <a:srgbClr val="4F6B00"/>
                </a:solidFill>
                <a:latin typeface="Inter"/>
              </a:defRPr>
            </a:pPr>
            <a:r>
              <a:rPr>
                <a:latin typeface="Inter"/>
              </a:rPr>
              <a:t>GRADIENT SIGNAL · 2026-10-02 [S3]</a:t>
            </a:r>
          </a:p>
        </p:txBody>
      </p:sp>
      <p:sp>
        <p:nvSpPr>
          <p:cNvPr id="4" name="TextBox 3"/>
          <p:cNvSpPr txBox="1"/>
          <p:nvPr/>
        </p:nvSpPr>
        <p:spPr>
          <a:xfrm>
            <a:off x="640080" y="566928"/>
            <a:ext cx="10058400" cy="530352"/>
          </a:xfrm>
          <a:prstGeom prst="rect">
            <a:avLst/>
          </a:prstGeom>
          <a:noFill/>
        </p:spPr>
        <p:txBody>
          <a:bodyPr wrap="none" lIns="9144" rIns="9144" tIns="9144" bIns="9144" anchor="t">
            <a:spAutoFit/>
          </a:bodyPr>
          <a:lstStyle/>
          <a:p>
            <a:pPr algn="l">
              <a:spcAft>
                <a:spcPts val="0"/>
              </a:spcAft>
              <a:defRPr sz="2300" b="1">
                <a:solidFill>
                  <a:srgbClr val="0D1117"/>
                </a:solidFill>
                <a:latin typeface="Inter"/>
              </a:defRPr>
            </a:pPr>
            <a:r>
              <a:rPr>
                <a:latin typeface="Inter"/>
              </a:rPr>
              <a:t>Risk posture: neutral composite, defensive GRIP, rates pressing</a:t>
            </a:r>
          </a:p>
        </p:txBody>
      </p:sp>
      <p:sp>
        <p:nvSpPr>
          <p:cNvPr id="5" name="Rectangle 4"/>
          <p:cNvSpPr/>
          <p:nvPr/>
        </p:nvSpPr>
        <p:spPr>
          <a:xfrm>
            <a:off x="640080" y="1115568"/>
            <a:ext cx="10908792" cy="18288"/>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6" name="Rectangle 5"/>
          <p:cNvSpPr/>
          <p:nvPr/>
        </p:nvSpPr>
        <p:spPr>
          <a:xfrm>
            <a:off x="11018520" y="502920"/>
            <a:ext cx="530352" cy="393192"/>
          </a:xfrm>
          <a:prstGeom prst="rect">
            <a:avLst/>
          </a:prstGeom>
          <a:solidFill>
            <a:srgbClr val="C6F432"/>
          </a:solidFill>
          <a:ln>
            <a:solidFill>
              <a:srgbClr val="C6F432"/>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7" name="TextBox 6"/>
          <p:cNvSpPr txBox="1"/>
          <p:nvPr/>
        </p:nvSpPr>
        <p:spPr>
          <a:xfrm>
            <a:off x="11045952" y="557784"/>
            <a:ext cx="475488" cy="182880"/>
          </a:xfrm>
          <a:prstGeom prst="rect">
            <a:avLst/>
          </a:prstGeom>
          <a:noFill/>
        </p:spPr>
        <p:txBody>
          <a:bodyPr wrap="none" lIns="9144" rIns="9144" tIns="9144" bIns="9144" anchor="t">
            <a:spAutoFit/>
          </a:bodyPr>
          <a:lstStyle/>
          <a:p>
            <a:pPr algn="ctr">
              <a:spcAft>
                <a:spcPts val="0"/>
              </a:spcAft>
              <a:defRPr sz="1000" b="1">
                <a:solidFill>
                  <a:srgbClr val="0D1117"/>
                </a:solidFill>
                <a:latin typeface="Inter"/>
              </a:defRPr>
            </a:pPr>
            <a:r>
              <a:rPr>
                <a:latin typeface="Inter"/>
              </a:rPr>
              <a:t>03</a:t>
            </a:r>
          </a:p>
        </p:txBody>
      </p:sp>
      <p:sp>
        <p:nvSpPr>
          <p:cNvPr id="8" name="TextBox 7"/>
          <p:cNvSpPr txBox="1"/>
          <p:nvPr/>
        </p:nvSpPr>
        <p:spPr>
          <a:xfrm>
            <a:off x="640080" y="1325880"/>
            <a:ext cx="5239512" cy="201168"/>
          </a:xfrm>
          <a:prstGeom prst="rect">
            <a:avLst/>
          </a:prstGeom>
          <a:noFill/>
        </p:spPr>
        <p:txBody>
          <a:bodyPr wrap="none" lIns="9144" rIns="9144" tIns="9144" bIns="9144" anchor="t">
            <a:spAutoFit/>
          </a:bodyPr>
          <a:lstStyle/>
          <a:p>
            <a:pPr algn="l">
              <a:spcAft>
                <a:spcPts val="0"/>
              </a:spcAft>
              <a:defRPr sz="720" b="1">
                <a:solidFill>
                  <a:srgbClr val="4A5563"/>
                </a:solidFill>
                <a:latin typeface="Inter"/>
              </a:defRPr>
            </a:pPr>
            <a:r>
              <a:rPr>
                <a:latin typeface="Inter"/>
              </a:rPr>
              <a:t>DRIVER SCORES (0–100; HIGHER = MORE RISK PRESSURE)</a:t>
            </a:r>
          </a:p>
        </p:txBody>
      </p:sp>
      <p:graphicFrame>
        <p:nvGraphicFramePr>
          <p:cNvPr id="9" name="Chart 8"/>
          <p:cNvGraphicFramePr>
            <a:graphicFrameLocks noGrp="1"/>
          </p:cNvGraphicFramePr>
          <p:nvPr/>
        </p:nvGraphicFramePr>
        <p:xfrm>
          <a:off x="640080" y="1600200"/>
          <a:ext cx="5239512" cy="4617720"/>
        </p:xfrm>
        <a:graphic>
          <a:graphicData uri="http://schemas.openxmlformats.org/drawingml/2006/chart">
            <c:chart xmlns:c="http://schemas.openxmlformats.org/drawingml/2006/chart" r:id="rId2"/>
          </a:graphicData>
        </a:graphic>
      </p:graphicFrame>
      <p:sp>
        <p:nvSpPr>
          <p:cNvPr id="10" name="Rectangle 9"/>
          <p:cNvSpPr/>
          <p:nvPr/>
        </p:nvSpPr>
        <p:spPr>
          <a:xfrm>
            <a:off x="6080760" y="1325880"/>
            <a:ext cx="9144" cy="4892040"/>
          </a:xfrm>
          <a:prstGeom prst="rect">
            <a:avLst/>
          </a:prstGeom>
          <a:solidFill>
            <a:srgbClr val="E3E7EC"/>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1" name="Rectangle 10"/>
          <p:cNvSpPr/>
          <p:nvPr/>
        </p:nvSpPr>
        <p:spPr>
          <a:xfrm>
            <a:off x="6309360" y="1325880"/>
            <a:ext cx="2564892" cy="2916043"/>
          </a:xfrm>
          <a:prstGeom prst="rect">
            <a:avLst/>
          </a:prstGeom>
          <a:solidFill>
            <a:srgbClr val="F5F7F9"/>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2" name="Rectangle 11"/>
          <p:cNvSpPr/>
          <p:nvPr/>
        </p:nvSpPr>
        <p:spPr>
          <a:xfrm>
            <a:off x="6309360" y="1325880"/>
            <a:ext cx="2564892" cy="45720"/>
          </a:xfrm>
          <a:prstGeom prst="rect">
            <a:avLst/>
          </a:prstGeom>
          <a:solidFill>
            <a:srgbClr val="F2A93B"/>
          </a:solidFill>
          <a:ln>
            <a:solidFill>
              <a:srgbClr val="F2A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3" name="TextBox 12"/>
          <p:cNvSpPr txBox="1"/>
          <p:nvPr/>
        </p:nvSpPr>
        <p:spPr>
          <a:xfrm>
            <a:off x="6419088" y="1453895"/>
            <a:ext cx="2345436" cy="201168"/>
          </a:xfrm>
          <a:prstGeom prst="rect">
            <a:avLst/>
          </a:prstGeom>
          <a:noFill/>
        </p:spPr>
        <p:txBody>
          <a:bodyPr wrap="none" lIns="9144" rIns="9144" tIns="9144" bIns="9144" anchor="t">
            <a:spAutoFit/>
          </a:bodyPr>
          <a:lstStyle/>
          <a:p>
            <a:pPr algn="l">
              <a:spcAft>
                <a:spcPts val="0"/>
              </a:spcAft>
              <a:defRPr sz="650" b="1">
                <a:solidFill>
                  <a:srgbClr val="4A5563"/>
                </a:solidFill>
                <a:latin typeface="Inter"/>
              </a:defRPr>
            </a:pPr>
            <a:r>
              <a:rPr>
                <a:latin typeface="Inter"/>
              </a:rPr>
              <a:t>COMPOSITE SCORE</a:t>
            </a:r>
          </a:p>
        </p:txBody>
      </p:sp>
      <p:sp>
        <p:nvSpPr>
          <p:cNvPr id="14" name="TextBox 13"/>
          <p:cNvSpPr txBox="1"/>
          <p:nvPr/>
        </p:nvSpPr>
        <p:spPr>
          <a:xfrm>
            <a:off x="6419088" y="1709928"/>
            <a:ext cx="2345436" cy="475488"/>
          </a:xfrm>
          <a:prstGeom prst="rect">
            <a:avLst/>
          </a:prstGeom>
          <a:noFill/>
        </p:spPr>
        <p:txBody>
          <a:bodyPr wrap="none" lIns="9144" rIns="9144" tIns="9144" bIns="9144" anchor="t">
            <a:spAutoFit/>
          </a:bodyPr>
          <a:lstStyle/>
          <a:p>
            <a:pPr algn="l">
              <a:spcAft>
                <a:spcPts val="0"/>
              </a:spcAft>
              <a:defRPr sz="1800" b="1">
                <a:solidFill>
                  <a:srgbClr val="0D1117"/>
                </a:solidFill>
                <a:latin typeface="Inter"/>
              </a:defRPr>
            </a:pPr>
            <a:r>
              <a:rPr>
                <a:latin typeface="Inter"/>
              </a:rPr>
              <a:t>57.2</a:t>
            </a:r>
          </a:p>
        </p:txBody>
      </p:sp>
      <p:sp>
        <p:nvSpPr>
          <p:cNvPr id="15" name="TextBox 14"/>
          <p:cNvSpPr txBox="1"/>
          <p:nvPr/>
        </p:nvSpPr>
        <p:spPr>
          <a:xfrm>
            <a:off x="6419088" y="3912739"/>
            <a:ext cx="2345436" cy="228600"/>
          </a:xfrm>
          <a:prstGeom prst="rect">
            <a:avLst/>
          </a:prstGeom>
          <a:noFill/>
        </p:spPr>
        <p:txBody>
          <a:bodyPr wrap="none" lIns="9144" rIns="9144" tIns="9144" bIns="9144" anchor="t">
            <a:spAutoFit/>
          </a:bodyPr>
          <a:lstStyle/>
          <a:p>
            <a:pPr algn="l">
              <a:spcAft>
                <a:spcPts val="0"/>
              </a:spcAft>
              <a:defRPr sz="700" b="0">
                <a:solidFill>
                  <a:srgbClr val="4A5563"/>
                </a:solidFill>
                <a:latin typeface="Inter"/>
              </a:defRPr>
            </a:pPr>
            <a:r>
              <a:rPr>
                <a:latin typeface="Inter"/>
              </a:rPr>
              <a:t>Regime neutral · confidence 0.35 [S3]</a:t>
            </a:r>
          </a:p>
        </p:txBody>
      </p:sp>
      <p:sp>
        <p:nvSpPr>
          <p:cNvPr id="16" name="Rectangle 15"/>
          <p:cNvSpPr/>
          <p:nvPr/>
        </p:nvSpPr>
        <p:spPr>
          <a:xfrm>
            <a:off x="8983980" y="1325880"/>
            <a:ext cx="2564892" cy="2916043"/>
          </a:xfrm>
          <a:prstGeom prst="rect">
            <a:avLst/>
          </a:prstGeom>
          <a:solidFill>
            <a:srgbClr val="F5F7F9"/>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7" name="Rectangle 16"/>
          <p:cNvSpPr/>
          <p:nvPr/>
        </p:nvSpPr>
        <p:spPr>
          <a:xfrm>
            <a:off x="8983980" y="1325880"/>
            <a:ext cx="2564892" cy="45720"/>
          </a:xfrm>
          <a:prstGeom prst="rect">
            <a:avLst/>
          </a:prstGeom>
          <a:solidFill>
            <a:srgbClr val="FF6B5E"/>
          </a:solidFill>
          <a:ln>
            <a:solidFill>
              <a:srgbClr val="FF6B5E"/>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8" name="TextBox 17"/>
          <p:cNvSpPr txBox="1"/>
          <p:nvPr/>
        </p:nvSpPr>
        <p:spPr>
          <a:xfrm>
            <a:off x="9093708" y="1453895"/>
            <a:ext cx="2345436" cy="201168"/>
          </a:xfrm>
          <a:prstGeom prst="rect">
            <a:avLst/>
          </a:prstGeom>
          <a:noFill/>
        </p:spPr>
        <p:txBody>
          <a:bodyPr wrap="none" lIns="9144" rIns="9144" tIns="9144" bIns="9144" anchor="t">
            <a:spAutoFit/>
          </a:bodyPr>
          <a:lstStyle/>
          <a:p>
            <a:pPr algn="l">
              <a:spcAft>
                <a:spcPts val="0"/>
              </a:spcAft>
              <a:defRPr sz="650" b="1">
                <a:solidFill>
                  <a:srgbClr val="4A5563"/>
                </a:solidFill>
                <a:latin typeface="Inter"/>
              </a:defRPr>
            </a:pPr>
            <a:r>
              <a:rPr>
                <a:latin typeface="Inter"/>
              </a:rPr>
              <a:t>GRIP INDEX</a:t>
            </a:r>
          </a:p>
        </p:txBody>
      </p:sp>
      <p:sp>
        <p:nvSpPr>
          <p:cNvPr id="19" name="TextBox 18"/>
          <p:cNvSpPr txBox="1"/>
          <p:nvPr/>
        </p:nvSpPr>
        <p:spPr>
          <a:xfrm>
            <a:off x="9093708" y="1709928"/>
            <a:ext cx="2345436" cy="475488"/>
          </a:xfrm>
          <a:prstGeom prst="rect">
            <a:avLst/>
          </a:prstGeom>
          <a:noFill/>
        </p:spPr>
        <p:txBody>
          <a:bodyPr wrap="none" lIns="9144" rIns="9144" tIns="9144" bIns="9144" anchor="t">
            <a:spAutoFit/>
          </a:bodyPr>
          <a:lstStyle/>
          <a:p>
            <a:pPr algn="l">
              <a:spcAft>
                <a:spcPts val="0"/>
              </a:spcAft>
              <a:defRPr sz="1800" b="1">
                <a:solidFill>
                  <a:srgbClr val="0D1117"/>
                </a:solidFill>
                <a:latin typeface="Inter"/>
              </a:defRPr>
            </a:pPr>
            <a:r>
              <a:rPr>
                <a:latin typeface="Inter"/>
              </a:rPr>
              <a:t>78</a:t>
            </a:r>
          </a:p>
        </p:txBody>
      </p:sp>
      <p:sp>
        <p:nvSpPr>
          <p:cNvPr id="20" name="TextBox 19"/>
          <p:cNvSpPr txBox="1"/>
          <p:nvPr/>
        </p:nvSpPr>
        <p:spPr>
          <a:xfrm>
            <a:off x="9093708" y="3912739"/>
            <a:ext cx="2345436" cy="228600"/>
          </a:xfrm>
          <a:prstGeom prst="rect">
            <a:avLst/>
          </a:prstGeom>
          <a:noFill/>
        </p:spPr>
        <p:txBody>
          <a:bodyPr wrap="none" lIns="9144" rIns="9144" tIns="9144" bIns="9144" anchor="t">
            <a:spAutoFit/>
          </a:bodyPr>
          <a:lstStyle/>
          <a:p>
            <a:pPr algn="l">
              <a:spcAft>
                <a:spcPts val="0"/>
              </a:spcAft>
              <a:defRPr sz="700" b="0">
                <a:solidFill>
                  <a:srgbClr val="4A5563"/>
                </a:solidFill>
                <a:latin typeface="Inter"/>
              </a:defRPr>
            </a:pPr>
            <a:r>
              <a:rPr>
                <a:latin typeface="Inter"/>
              </a:rPr>
              <a:t>Defensive · above average · coverage 95% [S3]</a:t>
            </a:r>
          </a:p>
        </p:txBody>
      </p:sp>
      <p:sp>
        <p:nvSpPr>
          <p:cNvPr id="21" name="Rectangle 20"/>
          <p:cNvSpPr/>
          <p:nvPr/>
        </p:nvSpPr>
        <p:spPr>
          <a:xfrm>
            <a:off x="6309360" y="4351651"/>
            <a:ext cx="5239512" cy="1866268"/>
          </a:xfrm>
          <a:prstGeom prst="rect">
            <a:avLst/>
          </a:prstGeom>
          <a:solidFill>
            <a:srgbClr val="F5F7F9"/>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22" name="Rectangle 21"/>
          <p:cNvSpPr/>
          <p:nvPr/>
        </p:nvSpPr>
        <p:spPr>
          <a:xfrm>
            <a:off x="6309360" y="4351651"/>
            <a:ext cx="54864" cy="1866268"/>
          </a:xfrm>
          <a:prstGeom prst="rect">
            <a:avLst/>
          </a:prstGeom>
          <a:solidFill>
            <a:srgbClr val="F2A93B"/>
          </a:solidFill>
          <a:ln>
            <a:solidFill>
              <a:srgbClr val="F2A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23" name="TextBox 22"/>
          <p:cNvSpPr txBox="1"/>
          <p:nvPr/>
        </p:nvSpPr>
        <p:spPr>
          <a:xfrm>
            <a:off x="6473952" y="4488811"/>
            <a:ext cx="4946904" cy="1637668"/>
          </a:xfrm>
          <a:prstGeom prst="rect">
            <a:avLst/>
          </a:prstGeom>
          <a:noFill/>
        </p:spPr>
        <p:txBody>
          <a:bodyPr wrap="none" lIns="9144" rIns="9144" tIns="9144" bIns="9144" anchor="t">
            <a:spAutoFit/>
          </a:bodyPr>
          <a:lstStyle/>
          <a:p>
            <a:pPr algn="l">
              <a:spcAft>
                <a:spcPts val="0"/>
              </a:spcAft>
              <a:defRPr sz="950" b="0">
                <a:solidFill>
                  <a:srgbClr val="4A5563"/>
                </a:solidFill>
                <a:latin typeface="Inter"/>
              </a:defRPr>
            </a:pPr>
            <a:r>
              <a:rPr>
                <a:latin typeface="Inter"/>
              </a:rPr>
              <a:t>GRIP is degraded: one stale input (GEBP, 93 days) was excluded and the GRIP Outlook calibration is missing [S3]. Signals describe modeled context; they are not return forecasts.</a:t>
            </a:r>
          </a:p>
        </p:txBody>
      </p:sp>
      <p:sp>
        <p:nvSpPr>
          <p:cNvPr id="24" name="Rectangle 23"/>
          <p:cNvSpPr/>
          <p:nvPr/>
        </p:nvSpPr>
        <p:spPr>
          <a:xfrm>
            <a:off x="640080" y="5806440"/>
            <a:ext cx="10908792" cy="502920"/>
          </a:xfrm>
          <a:prstGeom prst="rect">
            <a:avLst/>
          </a:prstGeom>
          <a:solidFill>
            <a:srgbClr val="F5F7F9"/>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25" name="Rectangle 24"/>
          <p:cNvSpPr/>
          <p:nvPr/>
        </p:nvSpPr>
        <p:spPr>
          <a:xfrm>
            <a:off x="640080" y="5806440"/>
            <a:ext cx="54864" cy="502920"/>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26" name="TextBox 25"/>
          <p:cNvSpPr txBox="1"/>
          <p:nvPr/>
        </p:nvSpPr>
        <p:spPr>
          <a:xfrm>
            <a:off x="804671" y="5916168"/>
            <a:ext cx="10616184" cy="228600"/>
          </a:xfrm>
          <a:prstGeom prst="rect">
            <a:avLst/>
          </a:prstGeom>
          <a:noFill/>
        </p:spPr>
        <p:txBody>
          <a:bodyPr wrap="none" lIns="9144" rIns="9144" tIns="9144" bIns="9144" anchor="t">
            <a:spAutoFit/>
          </a:bodyPr>
          <a:lstStyle/>
          <a:p>
            <a:pPr algn="l">
              <a:spcAft>
                <a:spcPts val="0"/>
              </a:spcAft>
              <a:defRPr sz="1000" b="1">
                <a:solidFill>
                  <a:srgbClr val="0D1117"/>
                </a:solidFill>
                <a:latin typeface="Inter"/>
              </a:defRPr>
            </a:pPr>
            <a:r>
              <a:rPr>
                <a:latin typeface="Inter"/>
              </a:rPr>
              <a:t>Takeaway</a:t>
            </a:r>
          </a:p>
        </p:txBody>
      </p:sp>
      <p:sp>
        <p:nvSpPr>
          <p:cNvPr id="27" name="TextBox 26"/>
          <p:cNvSpPr txBox="1"/>
          <p:nvPr/>
        </p:nvSpPr>
        <p:spPr>
          <a:xfrm>
            <a:off x="804671" y="6199631"/>
            <a:ext cx="10616184" cy="228600"/>
          </a:xfrm>
          <a:prstGeom prst="rect">
            <a:avLst/>
          </a:prstGeom>
          <a:noFill/>
        </p:spPr>
        <p:txBody>
          <a:bodyPr wrap="none" lIns="9144" rIns="9144" tIns="9144" bIns="9144" anchor="t">
            <a:spAutoFit/>
          </a:bodyPr>
          <a:lstStyle/>
          <a:p>
            <a:pPr algn="l">
              <a:spcAft>
                <a:spcPts val="0"/>
              </a:spcAft>
              <a:defRPr sz="950" b="0">
                <a:solidFill>
                  <a:srgbClr val="4A5563"/>
                </a:solidFill>
                <a:latin typeface="Inter"/>
              </a:defRPr>
            </a:pPr>
            <a:r>
              <a:rPr>
                <a:latin typeface="Inter"/>
              </a:rPr>
              <a:t>Rates are the main source of pressure; credit and inflation drivers are not adding to it.</a:t>
            </a:r>
          </a:p>
        </p:txBody>
      </p:sp>
      <p:sp>
        <p:nvSpPr>
          <p:cNvPr id="28" name="Rectangle 27"/>
          <p:cNvSpPr/>
          <p:nvPr/>
        </p:nvSpPr>
        <p:spPr>
          <a:xfrm>
            <a:off x="640080" y="6446520"/>
            <a:ext cx="10908792" cy="9144"/>
          </a:xfrm>
          <a:prstGeom prst="rect">
            <a:avLst/>
          </a:prstGeom>
          <a:solidFill>
            <a:srgbClr val="E3E7EC"/>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29" name="TextBox 28"/>
          <p:cNvSpPr txBox="1"/>
          <p:nvPr/>
        </p:nvSpPr>
        <p:spPr>
          <a:xfrm>
            <a:off x="640080" y="6501384"/>
            <a:ext cx="4297680" cy="146304"/>
          </a:xfrm>
          <a:prstGeom prst="rect">
            <a:avLst/>
          </a:prstGeom>
          <a:noFill/>
        </p:spPr>
        <p:txBody>
          <a:bodyPr wrap="none" lIns="9144" rIns="9144" tIns="9144" bIns="9144" anchor="t">
            <a:spAutoFit/>
          </a:bodyPr>
          <a:lstStyle/>
          <a:p>
            <a:pPr algn="l">
              <a:spcAft>
                <a:spcPts val="0"/>
              </a:spcAft>
              <a:defRPr sz="650" b="0">
                <a:solidFill>
                  <a:srgbClr val="8A94A1"/>
                </a:solidFill>
                <a:latin typeface="Inter"/>
              </a:defRPr>
            </a:pPr>
            <a:r>
              <a:rPr>
                <a:latin typeface="Inter"/>
              </a:rPr>
              <a:t>Sources: S3</a:t>
            </a:r>
          </a:p>
        </p:txBody>
      </p:sp>
      <p:sp>
        <p:nvSpPr>
          <p:cNvPr id="30" name="TextBox 29"/>
          <p:cNvSpPr txBox="1"/>
          <p:nvPr/>
        </p:nvSpPr>
        <p:spPr>
          <a:xfrm>
            <a:off x="4480560" y="6501384"/>
            <a:ext cx="5303520" cy="146304"/>
          </a:xfrm>
          <a:prstGeom prst="rect">
            <a:avLst/>
          </a:prstGeom>
          <a:noFill/>
        </p:spPr>
        <p:txBody>
          <a:bodyPr wrap="none" lIns="9144" rIns="9144" tIns="9144" bIns="9144" anchor="t">
            <a:spAutoFit/>
          </a:bodyPr>
          <a:lstStyle/>
          <a:p>
            <a:pPr algn="ctr">
              <a:spcAft>
                <a:spcPts val="0"/>
              </a:spcAft>
              <a:defRPr sz="650" b="0">
                <a:solidFill>
                  <a:srgbClr val="8A94A1"/>
                </a:solidFill>
                <a:latin typeface="Inter"/>
              </a:defRPr>
            </a:pPr>
            <a:r>
              <a:rPr>
                <a:latin typeface="Inter"/>
              </a:rPr>
              <a:t>Confidential — prepared for internal investment use · Data as of 2026-10-02</a:t>
            </a:r>
          </a:p>
        </p:txBody>
      </p:sp>
      <p:sp>
        <p:nvSpPr>
          <p:cNvPr id="31" name="TextBox 30"/>
          <p:cNvSpPr txBox="1"/>
          <p:nvPr/>
        </p:nvSpPr>
        <p:spPr>
          <a:xfrm>
            <a:off x="10287000" y="6501384"/>
            <a:ext cx="1261872" cy="146304"/>
          </a:xfrm>
          <a:prstGeom prst="rect">
            <a:avLst/>
          </a:prstGeom>
          <a:noFill/>
        </p:spPr>
        <p:txBody>
          <a:bodyPr wrap="none" lIns="9144" rIns="9144" tIns="9144" bIns="9144" anchor="t">
            <a:spAutoFit/>
          </a:bodyPr>
          <a:lstStyle/>
          <a:p>
            <a:pPr algn="r">
              <a:spcAft>
                <a:spcPts val="0"/>
              </a:spcAft>
              <a:defRPr sz="650" b="0">
                <a:solidFill>
                  <a:srgbClr val="8A94A1"/>
                </a:solidFill>
                <a:latin typeface="Inter"/>
              </a:defRPr>
            </a:pPr>
            <a:r>
              <a:rPr>
                <a:latin typeface="Inter"/>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3" name="TextBox 2"/>
          <p:cNvSpPr txBox="1"/>
          <p:nvPr/>
        </p:nvSpPr>
        <p:spPr>
          <a:xfrm>
            <a:off x="640080" y="329184"/>
            <a:ext cx="9875520" cy="182880"/>
          </a:xfrm>
          <a:prstGeom prst="rect">
            <a:avLst/>
          </a:prstGeom>
          <a:noFill/>
        </p:spPr>
        <p:txBody>
          <a:bodyPr wrap="none" lIns="9144" rIns="9144" tIns="9144" bIns="9144" anchor="t">
            <a:spAutoFit/>
          </a:bodyPr>
          <a:lstStyle/>
          <a:p>
            <a:pPr algn="l">
              <a:spcAft>
                <a:spcPts val="0"/>
              </a:spcAft>
              <a:defRPr sz="750" b="1">
                <a:solidFill>
                  <a:srgbClr val="4F6B00"/>
                </a:solidFill>
                <a:latin typeface="Inter"/>
              </a:defRPr>
            </a:pPr>
            <a:r>
              <a:rPr>
                <a:latin typeface="Inter"/>
              </a:rPr>
              <a:t>POSITIONING · CFTC REPORT 2026-09-29 [S6]</a:t>
            </a:r>
          </a:p>
        </p:txBody>
      </p:sp>
      <p:sp>
        <p:nvSpPr>
          <p:cNvPr id="4" name="TextBox 3"/>
          <p:cNvSpPr txBox="1"/>
          <p:nvPr/>
        </p:nvSpPr>
        <p:spPr>
          <a:xfrm>
            <a:off x="640080" y="566928"/>
            <a:ext cx="10058400" cy="530352"/>
          </a:xfrm>
          <a:prstGeom prst="rect">
            <a:avLst/>
          </a:prstGeom>
          <a:noFill/>
        </p:spPr>
        <p:txBody>
          <a:bodyPr wrap="none" lIns="9144" rIns="9144" tIns="9144" bIns="9144" anchor="t">
            <a:spAutoFit/>
          </a:bodyPr>
          <a:lstStyle/>
          <a:p>
            <a:pPr algn="l">
              <a:spcAft>
                <a:spcPts val="0"/>
              </a:spcAft>
              <a:defRPr sz="2300" b="1">
                <a:solidFill>
                  <a:srgbClr val="0D1117"/>
                </a:solidFill>
                <a:latin typeface="Inter"/>
              </a:defRPr>
            </a:pPr>
            <a:r>
              <a:rPr>
                <a:latin typeface="Inter"/>
              </a:rPr>
              <a:t>Positioning: crowded short gold dealers, long duration asset managers</a:t>
            </a:r>
          </a:p>
        </p:txBody>
      </p:sp>
      <p:sp>
        <p:nvSpPr>
          <p:cNvPr id="5" name="Rectangle 4"/>
          <p:cNvSpPr/>
          <p:nvPr/>
        </p:nvSpPr>
        <p:spPr>
          <a:xfrm>
            <a:off x="640080" y="1115568"/>
            <a:ext cx="10908792" cy="18288"/>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6" name="Rectangle 5"/>
          <p:cNvSpPr/>
          <p:nvPr/>
        </p:nvSpPr>
        <p:spPr>
          <a:xfrm>
            <a:off x="11018520" y="502920"/>
            <a:ext cx="530352" cy="393192"/>
          </a:xfrm>
          <a:prstGeom prst="rect">
            <a:avLst/>
          </a:prstGeom>
          <a:solidFill>
            <a:srgbClr val="C6F432"/>
          </a:solidFill>
          <a:ln>
            <a:solidFill>
              <a:srgbClr val="C6F432"/>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7" name="TextBox 6"/>
          <p:cNvSpPr txBox="1"/>
          <p:nvPr/>
        </p:nvSpPr>
        <p:spPr>
          <a:xfrm>
            <a:off x="11045952" y="557784"/>
            <a:ext cx="475488" cy="182880"/>
          </a:xfrm>
          <a:prstGeom prst="rect">
            <a:avLst/>
          </a:prstGeom>
          <a:noFill/>
        </p:spPr>
        <p:txBody>
          <a:bodyPr wrap="none" lIns="9144" rIns="9144" tIns="9144" bIns="9144" anchor="t">
            <a:spAutoFit/>
          </a:bodyPr>
          <a:lstStyle/>
          <a:p>
            <a:pPr algn="ctr">
              <a:spcAft>
                <a:spcPts val="0"/>
              </a:spcAft>
              <a:defRPr sz="1000" b="1">
                <a:solidFill>
                  <a:srgbClr val="0D1117"/>
                </a:solidFill>
                <a:latin typeface="Inter"/>
              </a:defRPr>
            </a:pPr>
            <a:r>
              <a:rPr>
                <a:latin typeface="Inter"/>
              </a:rPr>
              <a:t>04</a:t>
            </a:r>
          </a:p>
        </p:txBody>
      </p:sp>
      <p:sp>
        <p:nvSpPr>
          <p:cNvPr id="8" name="TextBox 7"/>
          <p:cNvSpPr txBox="1"/>
          <p:nvPr/>
        </p:nvSpPr>
        <p:spPr>
          <a:xfrm>
            <a:off x="640080" y="1325880"/>
            <a:ext cx="10908792" cy="201168"/>
          </a:xfrm>
          <a:prstGeom prst="rect">
            <a:avLst/>
          </a:prstGeom>
          <a:noFill/>
        </p:spPr>
        <p:txBody>
          <a:bodyPr wrap="none" lIns="9144" rIns="9144" tIns="9144" bIns="9144" anchor="t">
            <a:spAutoFit/>
          </a:bodyPr>
          <a:lstStyle/>
          <a:p>
            <a:pPr algn="l">
              <a:spcAft>
                <a:spcPts val="0"/>
              </a:spcAft>
              <a:defRPr sz="720" b="1">
                <a:solidFill>
                  <a:srgbClr val="4A5563"/>
                </a:solidFill>
                <a:latin typeface="Inter"/>
              </a:defRPr>
            </a:pPr>
            <a:r>
              <a:rPr>
                <a:latin typeface="Inter"/>
              </a:rPr>
              <a:t>MOST CROWDED FUTURES POSITIONS (156-WEEK PERCENTILE; TEST DATA)</a:t>
            </a:r>
          </a:p>
        </p:txBody>
      </p:sp>
      <p:graphicFrame>
        <p:nvGraphicFramePr>
          <p:cNvPr id="9" name="Chart 8"/>
          <p:cNvGraphicFramePr>
            <a:graphicFrameLocks noGrp="1"/>
          </p:cNvGraphicFramePr>
          <p:nvPr/>
        </p:nvGraphicFramePr>
        <p:xfrm>
          <a:off x="640080" y="1600200"/>
          <a:ext cx="10908792" cy="4617720"/>
        </p:xfrm>
        <a:graphic>
          <a:graphicData uri="http://schemas.openxmlformats.org/drawingml/2006/chart">
            <c:chart xmlns:c="http://schemas.openxmlformats.org/drawingml/2006/chart" r:id="rId2"/>
          </a:graphicData>
        </a:graphic>
      </p:graphicFrame>
      <p:sp>
        <p:nvSpPr>
          <p:cNvPr id="10" name="Rectangle 9"/>
          <p:cNvSpPr/>
          <p:nvPr/>
        </p:nvSpPr>
        <p:spPr>
          <a:xfrm>
            <a:off x="640080" y="5806440"/>
            <a:ext cx="10908792" cy="502920"/>
          </a:xfrm>
          <a:prstGeom prst="rect">
            <a:avLst/>
          </a:prstGeom>
          <a:solidFill>
            <a:srgbClr val="F5F7F9"/>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1" name="Rectangle 10"/>
          <p:cNvSpPr/>
          <p:nvPr/>
        </p:nvSpPr>
        <p:spPr>
          <a:xfrm>
            <a:off x="640080" y="5806440"/>
            <a:ext cx="54864" cy="502920"/>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2" name="TextBox 11"/>
          <p:cNvSpPr txBox="1"/>
          <p:nvPr/>
        </p:nvSpPr>
        <p:spPr>
          <a:xfrm>
            <a:off x="804671" y="5916168"/>
            <a:ext cx="10616184" cy="228600"/>
          </a:xfrm>
          <a:prstGeom prst="rect">
            <a:avLst/>
          </a:prstGeom>
          <a:noFill/>
        </p:spPr>
        <p:txBody>
          <a:bodyPr wrap="none" lIns="9144" rIns="9144" tIns="9144" bIns="9144" anchor="t">
            <a:spAutoFit/>
          </a:bodyPr>
          <a:lstStyle/>
          <a:p>
            <a:pPr algn="l">
              <a:spcAft>
                <a:spcPts val="0"/>
              </a:spcAft>
              <a:defRPr sz="1000" b="1">
                <a:solidFill>
                  <a:srgbClr val="0D1117"/>
                </a:solidFill>
                <a:latin typeface="Inter"/>
              </a:defRPr>
            </a:pPr>
            <a:r>
              <a:rPr>
                <a:latin typeface="Inter"/>
              </a:rPr>
              <a:t>Takeaway</a:t>
            </a:r>
          </a:p>
        </p:txBody>
      </p:sp>
      <p:sp>
        <p:nvSpPr>
          <p:cNvPr id="13" name="TextBox 12"/>
          <p:cNvSpPr txBox="1"/>
          <p:nvPr/>
        </p:nvSpPr>
        <p:spPr>
          <a:xfrm>
            <a:off x="804671" y="6199631"/>
            <a:ext cx="10616184" cy="228600"/>
          </a:xfrm>
          <a:prstGeom prst="rect">
            <a:avLst/>
          </a:prstGeom>
          <a:noFill/>
        </p:spPr>
        <p:txBody>
          <a:bodyPr wrap="none" lIns="9144" rIns="9144" tIns="9144" bIns="9144" anchor="t">
            <a:spAutoFit/>
          </a:bodyPr>
          <a:lstStyle/>
          <a:p>
            <a:pPr algn="l">
              <a:spcAft>
                <a:spcPts val="0"/>
              </a:spcAft>
              <a:defRPr sz="950" b="0">
                <a:solidFill>
                  <a:srgbClr val="4A5563"/>
                </a:solidFill>
                <a:latin typeface="Inter"/>
              </a:defRPr>
            </a:pPr>
            <a:r>
              <a:rPr>
                <a:latin typeface="Inter"/>
              </a:rPr>
              <a:t>The most extreme disclosed positions sit at both tails of their own 156-week histories; that is crowding context, not a directional forecast [S6].</a:t>
            </a:r>
          </a:p>
        </p:txBody>
      </p:sp>
      <p:sp>
        <p:nvSpPr>
          <p:cNvPr id="14" name="Rectangle 13"/>
          <p:cNvSpPr/>
          <p:nvPr/>
        </p:nvSpPr>
        <p:spPr>
          <a:xfrm>
            <a:off x="640080" y="6446520"/>
            <a:ext cx="10908792" cy="9144"/>
          </a:xfrm>
          <a:prstGeom prst="rect">
            <a:avLst/>
          </a:prstGeom>
          <a:solidFill>
            <a:srgbClr val="E3E7EC"/>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5" name="TextBox 14"/>
          <p:cNvSpPr txBox="1"/>
          <p:nvPr/>
        </p:nvSpPr>
        <p:spPr>
          <a:xfrm>
            <a:off x="640080" y="6501384"/>
            <a:ext cx="4297680" cy="146304"/>
          </a:xfrm>
          <a:prstGeom prst="rect">
            <a:avLst/>
          </a:prstGeom>
          <a:noFill/>
        </p:spPr>
        <p:txBody>
          <a:bodyPr wrap="none" lIns="9144" rIns="9144" tIns="9144" bIns="9144" anchor="t">
            <a:spAutoFit/>
          </a:bodyPr>
          <a:lstStyle/>
          <a:p>
            <a:pPr algn="l">
              <a:spcAft>
                <a:spcPts val="0"/>
              </a:spcAft>
              <a:defRPr sz="650" b="0">
                <a:solidFill>
                  <a:srgbClr val="8A94A1"/>
                </a:solidFill>
                <a:latin typeface="Inter"/>
              </a:defRPr>
            </a:pPr>
            <a:r>
              <a:rPr>
                <a:latin typeface="Inter"/>
              </a:rPr>
              <a:t>Sources: S6</a:t>
            </a:r>
          </a:p>
        </p:txBody>
      </p:sp>
      <p:sp>
        <p:nvSpPr>
          <p:cNvPr id="16" name="TextBox 15"/>
          <p:cNvSpPr txBox="1"/>
          <p:nvPr/>
        </p:nvSpPr>
        <p:spPr>
          <a:xfrm>
            <a:off x="4480560" y="6501384"/>
            <a:ext cx="5303520" cy="146304"/>
          </a:xfrm>
          <a:prstGeom prst="rect">
            <a:avLst/>
          </a:prstGeom>
          <a:noFill/>
        </p:spPr>
        <p:txBody>
          <a:bodyPr wrap="none" lIns="9144" rIns="9144" tIns="9144" bIns="9144" anchor="t">
            <a:spAutoFit/>
          </a:bodyPr>
          <a:lstStyle/>
          <a:p>
            <a:pPr algn="ctr">
              <a:spcAft>
                <a:spcPts val="0"/>
              </a:spcAft>
              <a:defRPr sz="650" b="0">
                <a:solidFill>
                  <a:srgbClr val="8A94A1"/>
                </a:solidFill>
                <a:latin typeface="Inter"/>
              </a:defRPr>
            </a:pPr>
            <a:r>
              <a:rPr>
                <a:latin typeface="Inter"/>
              </a:rPr>
              <a:t>Confidential — prepared for internal investment use · Data as of 2026-10-02</a:t>
            </a:r>
          </a:p>
        </p:txBody>
      </p:sp>
      <p:sp>
        <p:nvSpPr>
          <p:cNvPr id="17" name="TextBox 16"/>
          <p:cNvSpPr txBox="1"/>
          <p:nvPr/>
        </p:nvSpPr>
        <p:spPr>
          <a:xfrm>
            <a:off x="10287000" y="6501384"/>
            <a:ext cx="1261872" cy="146304"/>
          </a:xfrm>
          <a:prstGeom prst="rect">
            <a:avLst/>
          </a:prstGeom>
          <a:noFill/>
        </p:spPr>
        <p:txBody>
          <a:bodyPr wrap="none" lIns="9144" rIns="9144" tIns="9144" bIns="9144" anchor="t">
            <a:spAutoFit/>
          </a:bodyPr>
          <a:lstStyle/>
          <a:p>
            <a:pPr algn="r">
              <a:spcAft>
                <a:spcPts val="0"/>
              </a:spcAft>
              <a:defRPr sz="650" b="0">
                <a:solidFill>
                  <a:srgbClr val="8A94A1"/>
                </a:solidFill>
                <a:latin typeface="Inter"/>
              </a:defRPr>
            </a:pPr>
            <a:r>
              <a:rPr>
                <a:latin typeface="Inter"/>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3" name="TextBox 2"/>
          <p:cNvSpPr txBox="1"/>
          <p:nvPr/>
        </p:nvSpPr>
        <p:spPr>
          <a:xfrm>
            <a:off x="640080" y="329184"/>
            <a:ext cx="9875520" cy="182880"/>
          </a:xfrm>
          <a:prstGeom prst="rect">
            <a:avLst/>
          </a:prstGeom>
          <a:noFill/>
        </p:spPr>
        <p:txBody>
          <a:bodyPr wrap="none" lIns="9144" rIns="9144" tIns="9144" bIns="9144" anchor="t">
            <a:spAutoFit/>
          </a:bodyPr>
          <a:lstStyle/>
          <a:p>
            <a:pPr algn="l">
              <a:spcAft>
                <a:spcPts val="0"/>
              </a:spcAft>
              <a:defRPr sz="750" b="1">
                <a:solidFill>
                  <a:srgbClr val="4F6B00"/>
                </a:solidFill>
                <a:latin typeface="Inter"/>
              </a:defRPr>
            </a:pPr>
            <a:r>
              <a:rPr>
                <a:latin typeface="Inter"/>
              </a:rPr>
              <a:t>POSITIONING · CFTC REPORT 2026-09-29 [S6]</a:t>
            </a:r>
          </a:p>
        </p:txBody>
      </p:sp>
      <p:sp>
        <p:nvSpPr>
          <p:cNvPr id="4" name="TextBox 3"/>
          <p:cNvSpPr txBox="1"/>
          <p:nvPr/>
        </p:nvSpPr>
        <p:spPr>
          <a:xfrm>
            <a:off x="640080" y="566928"/>
            <a:ext cx="10058400" cy="530352"/>
          </a:xfrm>
          <a:prstGeom prst="rect">
            <a:avLst/>
          </a:prstGeom>
          <a:noFill/>
        </p:spPr>
        <p:txBody>
          <a:bodyPr wrap="none" lIns="9144" rIns="9144" tIns="9144" bIns="9144" anchor="t">
            <a:spAutoFit/>
          </a:bodyPr>
          <a:lstStyle/>
          <a:p>
            <a:pPr algn="l">
              <a:spcAft>
                <a:spcPts val="0"/>
              </a:spcAft>
              <a:defRPr sz="2300" b="1">
                <a:solidFill>
                  <a:srgbClr val="0D1117"/>
                </a:solidFill>
                <a:latin typeface="Inter"/>
              </a:defRPr>
            </a:pPr>
            <a:r>
              <a:rPr>
                <a:latin typeface="Inter"/>
              </a:rPr>
              <a:t>Positioning: crowded short gold dealers, long duration asset managers — continued</a:t>
            </a:r>
          </a:p>
        </p:txBody>
      </p:sp>
      <p:sp>
        <p:nvSpPr>
          <p:cNvPr id="5" name="Rectangle 4"/>
          <p:cNvSpPr/>
          <p:nvPr/>
        </p:nvSpPr>
        <p:spPr>
          <a:xfrm>
            <a:off x="640080" y="1115568"/>
            <a:ext cx="10908792" cy="18288"/>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6" name="Rectangle 5"/>
          <p:cNvSpPr/>
          <p:nvPr/>
        </p:nvSpPr>
        <p:spPr>
          <a:xfrm>
            <a:off x="11018520" y="502920"/>
            <a:ext cx="530352" cy="393192"/>
          </a:xfrm>
          <a:prstGeom prst="rect">
            <a:avLst/>
          </a:prstGeom>
          <a:solidFill>
            <a:srgbClr val="C6F432"/>
          </a:solidFill>
          <a:ln>
            <a:solidFill>
              <a:srgbClr val="C6F432"/>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7" name="TextBox 6"/>
          <p:cNvSpPr txBox="1"/>
          <p:nvPr/>
        </p:nvSpPr>
        <p:spPr>
          <a:xfrm>
            <a:off x="11045952" y="557784"/>
            <a:ext cx="475488" cy="182880"/>
          </a:xfrm>
          <a:prstGeom prst="rect">
            <a:avLst/>
          </a:prstGeom>
          <a:noFill/>
        </p:spPr>
        <p:txBody>
          <a:bodyPr wrap="none" lIns="9144" rIns="9144" tIns="9144" bIns="9144" anchor="t">
            <a:spAutoFit/>
          </a:bodyPr>
          <a:lstStyle/>
          <a:p>
            <a:pPr algn="ctr">
              <a:spcAft>
                <a:spcPts val="0"/>
              </a:spcAft>
              <a:defRPr sz="1000" b="1">
                <a:solidFill>
                  <a:srgbClr val="0D1117"/>
                </a:solidFill>
                <a:latin typeface="Inter"/>
              </a:defRPr>
            </a:pPr>
            <a:r>
              <a:rPr>
                <a:latin typeface="Inter"/>
              </a:rPr>
              <a:t>04</a:t>
            </a:r>
          </a:p>
        </p:txBody>
      </p:sp>
      <p:sp>
        <p:nvSpPr>
          <p:cNvPr id="8" name="Rectangle 7"/>
          <p:cNvSpPr/>
          <p:nvPr/>
        </p:nvSpPr>
        <p:spPr>
          <a:xfrm>
            <a:off x="640080" y="1325880"/>
            <a:ext cx="10908792" cy="4892040"/>
          </a:xfrm>
          <a:prstGeom prst="rect">
            <a:avLst/>
          </a:prstGeom>
          <a:solidFill>
            <a:srgbClr val="F5F7F9"/>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9" name="Rectangle 8"/>
          <p:cNvSpPr/>
          <p:nvPr/>
        </p:nvSpPr>
        <p:spPr>
          <a:xfrm>
            <a:off x="640080" y="1325880"/>
            <a:ext cx="54864" cy="4892040"/>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0" name="TextBox 9"/>
          <p:cNvSpPr txBox="1"/>
          <p:nvPr/>
        </p:nvSpPr>
        <p:spPr>
          <a:xfrm>
            <a:off x="804671" y="1435607"/>
            <a:ext cx="10616184" cy="228600"/>
          </a:xfrm>
          <a:prstGeom prst="rect">
            <a:avLst/>
          </a:prstGeom>
          <a:noFill/>
        </p:spPr>
        <p:txBody>
          <a:bodyPr wrap="none" lIns="9144" rIns="9144" tIns="9144" bIns="9144" anchor="t">
            <a:spAutoFit/>
          </a:bodyPr>
          <a:lstStyle/>
          <a:p>
            <a:pPr algn="l">
              <a:spcAft>
                <a:spcPts val="0"/>
              </a:spcAft>
              <a:defRPr sz="1000" b="1">
                <a:solidFill>
                  <a:srgbClr val="0D1117"/>
                </a:solidFill>
                <a:latin typeface="Inter"/>
              </a:defRPr>
            </a:pPr>
            <a:r>
              <a:rPr>
                <a:latin typeface="Inter"/>
              </a:rPr>
              <a:t>How to read this</a:t>
            </a:r>
          </a:p>
        </p:txBody>
      </p:sp>
      <p:sp>
        <p:nvSpPr>
          <p:cNvPr id="11" name="TextBox 10"/>
          <p:cNvSpPr txBox="1"/>
          <p:nvPr/>
        </p:nvSpPr>
        <p:spPr>
          <a:xfrm>
            <a:off x="804671" y="1719072"/>
            <a:ext cx="10616184" cy="4407408"/>
          </a:xfrm>
          <a:prstGeom prst="rect">
            <a:avLst/>
          </a:prstGeom>
          <a:noFill/>
        </p:spPr>
        <p:txBody>
          <a:bodyPr wrap="none" lIns="9144" rIns="9144" tIns="9144" bIns="9144" anchor="t">
            <a:spAutoFit/>
          </a:bodyPr>
          <a:lstStyle/>
          <a:p>
            <a:pPr algn="l">
              <a:spcAft>
                <a:spcPts val="0"/>
              </a:spcAft>
              <a:defRPr sz="950" b="0">
                <a:solidFill>
                  <a:srgbClr val="4A5563"/>
                </a:solidFill>
                <a:latin typeface="Inter"/>
              </a:defRPr>
            </a:pPr>
            <a:r>
              <a:rPr>
                <a:latin typeface="Inter"/>
              </a:rPr>
              <a:t>Positioning is disclosed exposure, not intent or a forecast. Hedge-fund 13F consensus covers 29 of 30 cohort managers for 2026-06-30 and lags by up to 45 days [S7].</a:t>
            </a:r>
          </a:p>
        </p:txBody>
      </p:sp>
      <p:sp>
        <p:nvSpPr>
          <p:cNvPr id="12" name="Rectangle 11"/>
          <p:cNvSpPr/>
          <p:nvPr/>
        </p:nvSpPr>
        <p:spPr>
          <a:xfrm>
            <a:off x="640080" y="5806440"/>
            <a:ext cx="10908792" cy="502920"/>
          </a:xfrm>
          <a:prstGeom prst="rect">
            <a:avLst/>
          </a:prstGeom>
          <a:solidFill>
            <a:srgbClr val="F5F7F9"/>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3" name="Rectangle 12"/>
          <p:cNvSpPr/>
          <p:nvPr/>
        </p:nvSpPr>
        <p:spPr>
          <a:xfrm>
            <a:off x="640080" y="5806440"/>
            <a:ext cx="54864" cy="502920"/>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4" name="TextBox 13"/>
          <p:cNvSpPr txBox="1"/>
          <p:nvPr/>
        </p:nvSpPr>
        <p:spPr>
          <a:xfrm>
            <a:off x="804671" y="5916168"/>
            <a:ext cx="10616184" cy="228600"/>
          </a:xfrm>
          <a:prstGeom prst="rect">
            <a:avLst/>
          </a:prstGeom>
          <a:noFill/>
        </p:spPr>
        <p:txBody>
          <a:bodyPr wrap="none" lIns="9144" rIns="9144" tIns="9144" bIns="9144" anchor="t">
            <a:spAutoFit/>
          </a:bodyPr>
          <a:lstStyle/>
          <a:p>
            <a:pPr algn="l">
              <a:spcAft>
                <a:spcPts val="0"/>
              </a:spcAft>
              <a:defRPr sz="1000" b="1">
                <a:solidFill>
                  <a:srgbClr val="0D1117"/>
                </a:solidFill>
                <a:latin typeface="Inter"/>
              </a:defRPr>
            </a:pPr>
            <a:r>
              <a:rPr>
                <a:latin typeface="Inter"/>
              </a:rPr>
              <a:t>Takeaway</a:t>
            </a:r>
          </a:p>
        </p:txBody>
      </p:sp>
      <p:sp>
        <p:nvSpPr>
          <p:cNvPr id="15" name="TextBox 14"/>
          <p:cNvSpPr txBox="1"/>
          <p:nvPr/>
        </p:nvSpPr>
        <p:spPr>
          <a:xfrm>
            <a:off x="804671" y="6199631"/>
            <a:ext cx="10616184" cy="228600"/>
          </a:xfrm>
          <a:prstGeom prst="rect">
            <a:avLst/>
          </a:prstGeom>
          <a:noFill/>
        </p:spPr>
        <p:txBody>
          <a:bodyPr wrap="none" lIns="9144" rIns="9144" tIns="9144" bIns="9144" anchor="t">
            <a:spAutoFit/>
          </a:bodyPr>
          <a:lstStyle/>
          <a:p>
            <a:pPr algn="l">
              <a:spcAft>
                <a:spcPts val="0"/>
              </a:spcAft>
              <a:defRPr sz="950" b="0">
                <a:solidFill>
                  <a:srgbClr val="4A5563"/>
                </a:solidFill>
                <a:latin typeface="Inter"/>
              </a:defRPr>
            </a:pPr>
            <a:r>
              <a:rPr>
                <a:latin typeface="Inter"/>
              </a:rPr>
              <a:t>The most extreme disclosed positions sit at both tails of their own 156-week histories; that is crowding context, not a directional forecast [S6].</a:t>
            </a:r>
          </a:p>
        </p:txBody>
      </p:sp>
      <p:sp>
        <p:nvSpPr>
          <p:cNvPr id="16" name="Rectangle 15"/>
          <p:cNvSpPr/>
          <p:nvPr/>
        </p:nvSpPr>
        <p:spPr>
          <a:xfrm>
            <a:off x="640080" y="6446520"/>
            <a:ext cx="10908792" cy="9144"/>
          </a:xfrm>
          <a:prstGeom prst="rect">
            <a:avLst/>
          </a:prstGeom>
          <a:solidFill>
            <a:srgbClr val="E3E7EC"/>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7" name="TextBox 16"/>
          <p:cNvSpPr txBox="1"/>
          <p:nvPr/>
        </p:nvSpPr>
        <p:spPr>
          <a:xfrm>
            <a:off x="640080" y="6501384"/>
            <a:ext cx="4297680" cy="146304"/>
          </a:xfrm>
          <a:prstGeom prst="rect">
            <a:avLst/>
          </a:prstGeom>
          <a:noFill/>
        </p:spPr>
        <p:txBody>
          <a:bodyPr wrap="none" lIns="9144" rIns="9144" tIns="9144" bIns="9144" anchor="t">
            <a:spAutoFit/>
          </a:bodyPr>
          <a:lstStyle/>
          <a:p>
            <a:pPr algn="l">
              <a:spcAft>
                <a:spcPts val="0"/>
              </a:spcAft>
              <a:defRPr sz="650" b="0">
                <a:solidFill>
                  <a:srgbClr val="8A94A1"/>
                </a:solidFill>
                <a:latin typeface="Inter"/>
              </a:defRPr>
            </a:pPr>
            <a:r>
              <a:rPr>
                <a:latin typeface="Inter"/>
              </a:rPr>
              <a:t>Sources: S6 · S7</a:t>
            </a:r>
          </a:p>
        </p:txBody>
      </p:sp>
      <p:sp>
        <p:nvSpPr>
          <p:cNvPr id="18" name="TextBox 17"/>
          <p:cNvSpPr txBox="1"/>
          <p:nvPr/>
        </p:nvSpPr>
        <p:spPr>
          <a:xfrm>
            <a:off x="4480560" y="6501384"/>
            <a:ext cx="5303520" cy="146304"/>
          </a:xfrm>
          <a:prstGeom prst="rect">
            <a:avLst/>
          </a:prstGeom>
          <a:noFill/>
        </p:spPr>
        <p:txBody>
          <a:bodyPr wrap="none" lIns="9144" rIns="9144" tIns="9144" bIns="9144" anchor="t">
            <a:spAutoFit/>
          </a:bodyPr>
          <a:lstStyle/>
          <a:p>
            <a:pPr algn="ctr">
              <a:spcAft>
                <a:spcPts val="0"/>
              </a:spcAft>
              <a:defRPr sz="650" b="0">
                <a:solidFill>
                  <a:srgbClr val="8A94A1"/>
                </a:solidFill>
                <a:latin typeface="Inter"/>
              </a:defRPr>
            </a:pPr>
            <a:r>
              <a:rPr>
                <a:latin typeface="Inter"/>
              </a:rPr>
              <a:t>Confidential — prepared for internal investment use · Data as of 2026-10-02</a:t>
            </a:r>
          </a:p>
        </p:txBody>
      </p:sp>
      <p:sp>
        <p:nvSpPr>
          <p:cNvPr id="19" name="TextBox 18"/>
          <p:cNvSpPr txBox="1"/>
          <p:nvPr/>
        </p:nvSpPr>
        <p:spPr>
          <a:xfrm>
            <a:off x="10287000" y="6501384"/>
            <a:ext cx="1261872" cy="146304"/>
          </a:xfrm>
          <a:prstGeom prst="rect">
            <a:avLst/>
          </a:prstGeom>
          <a:noFill/>
        </p:spPr>
        <p:txBody>
          <a:bodyPr wrap="none" lIns="9144" rIns="9144" tIns="9144" bIns="9144" anchor="t">
            <a:spAutoFit/>
          </a:bodyPr>
          <a:lstStyle/>
          <a:p>
            <a:pPr algn="r">
              <a:spcAft>
                <a:spcPts val="0"/>
              </a:spcAft>
              <a:defRPr sz="650" b="0">
                <a:solidFill>
                  <a:srgbClr val="8A94A1"/>
                </a:solidFill>
                <a:latin typeface="Inter"/>
              </a:defRPr>
            </a:pPr>
            <a:r>
              <a:rPr>
                <a:latin typeface="Inter"/>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3" name="TextBox 2"/>
          <p:cNvSpPr txBox="1"/>
          <p:nvPr/>
        </p:nvSpPr>
        <p:spPr>
          <a:xfrm>
            <a:off x="640080" y="329184"/>
            <a:ext cx="9875520" cy="182880"/>
          </a:xfrm>
          <a:prstGeom prst="rect">
            <a:avLst/>
          </a:prstGeom>
          <a:noFill/>
        </p:spPr>
        <p:txBody>
          <a:bodyPr wrap="none" lIns="9144" rIns="9144" tIns="9144" bIns="9144" anchor="t">
            <a:spAutoFit/>
          </a:bodyPr>
          <a:lstStyle/>
          <a:p>
            <a:pPr algn="l">
              <a:spcAft>
                <a:spcPts val="0"/>
              </a:spcAft>
              <a:defRPr sz="750" b="1">
                <a:solidFill>
                  <a:srgbClr val="4F6B00"/>
                </a:solidFill>
                <a:latin typeface="Inter"/>
              </a:defRPr>
            </a:pPr>
            <a:r>
              <a:rPr>
                <a:latin typeface="Inter"/>
              </a:rPr>
              <a:t>SIGNAL DETAIL [S3]</a:t>
            </a:r>
          </a:p>
        </p:txBody>
      </p:sp>
      <p:sp>
        <p:nvSpPr>
          <p:cNvPr id="4" name="TextBox 3"/>
          <p:cNvSpPr txBox="1"/>
          <p:nvPr/>
        </p:nvSpPr>
        <p:spPr>
          <a:xfrm>
            <a:off x="640080" y="566928"/>
            <a:ext cx="10058400" cy="530352"/>
          </a:xfrm>
          <a:prstGeom prst="rect">
            <a:avLst/>
          </a:prstGeom>
          <a:noFill/>
        </p:spPr>
        <p:txBody>
          <a:bodyPr wrap="none" lIns="9144" rIns="9144" tIns="9144" bIns="9144" anchor="t">
            <a:spAutoFit/>
          </a:bodyPr>
          <a:lstStyle/>
          <a:p>
            <a:pPr algn="l">
              <a:spcAft>
                <a:spcPts val="0"/>
              </a:spcAft>
              <a:defRPr sz="2300" b="1">
                <a:solidFill>
                  <a:srgbClr val="0D1117"/>
                </a:solidFill>
                <a:latin typeface="Inter"/>
              </a:defRPr>
            </a:pPr>
            <a:r>
              <a:rPr>
                <a:latin typeface="Inter"/>
              </a:rPr>
              <a:t>What supports risk and what detracts</a:t>
            </a:r>
          </a:p>
        </p:txBody>
      </p:sp>
      <p:sp>
        <p:nvSpPr>
          <p:cNvPr id="5" name="Rectangle 4"/>
          <p:cNvSpPr/>
          <p:nvPr/>
        </p:nvSpPr>
        <p:spPr>
          <a:xfrm>
            <a:off x="640080" y="1115568"/>
            <a:ext cx="10908792" cy="18288"/>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6" name="Rectangle 5"/>
          <p:cNvSpPr/>
          <p:nvPr/>
        </p:nvSpPr>
        <p:spPr>
          <a:xfrm>
            <a:off x="11018520" y="502920"/>
            <a:ext cx="530352" cy="393192"/>
          </a:xfrm>
          <a:prstGeom prst="rect">
            <a:avLst/>
          </a:prstGeom>
          <a:solidFill>
            <a:srgbClr val="C6F432"/>
          </a:solidFill>
          <a:ln>
            <a:solidFill>
              <a:srgbClr val="C6F432"/>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7" name="TextBox 6"/>
          <p:cNvSpPr txBox="1"/>
          <p:nvPr/>
        </p:nvSpPr>
        <p:spPr>
          <a:xfrm>
            <a:off x="11045952" y="557784"/>
            <a:ext cx="475488" cy="182880"/>
          </a:xfrm>
          <a:prstGeom prst="rect">
            <a:avLst/>
          </a:prstGeom>
          <a:noFill/>
        </p:spPr>
        <p:txBody>
          <a:bodyPr wrap="none" lIns="9144" rIns="9144" tIns="9144" bIns="9144" anchor="t">
            <a:spAutoFit/>
          </a:bodyPr>
          <a:lstStyle/>
          <a:p>
            <a:pPr algn="ctr">
              <a:spcAft>
                <a:spcPts val="0"/>
              </a:spcAft>
              <a:defRPr sz="1000" b="1">
                <a:solidFill>
                  <a:srgbClr val="0D1117"/>
                </a:solidFill>
                <a:latin typeface="Inter"/>
              </a:defRPr>
            </a:pPr>
            <a:r>
              <a:rPr>
                <a:latin typeface="Inter"/>
              </a:rPr>
              <a:t>05</a:t>
            </a:r>
          </a:p>
        </p:txBody>
      </p:sp>
      <p:sp>
        <p:nvSpPr>
          <p:cNvPr id="8" name="TextBox 7"/>
          <p:cNvSpPr txBox="1"/>
          <p:nvPr/>
        </p:nvSpPr>
        <p:spPr>
          <a:xfrm>
            <a:off x="640080" y="1325880"/>
            <a:ext cx="5239512" cy="201168"/>
          </a:xfrm>
          <a:prstGeom prst="rect">
            <a:avLst/>
          </a:prstGeom>
          <a:noFill/>
        </p:spPr>
        <p:txBody>
          <a:bodyPr wrap="none" lIns="9144" rIns="9144" tIns="9144" bIns="9144" anchor="t">
            <a:spAutoFit/>
          </a:bodyPr>
          <a:lstStyle/>
          <a:p>
            <a:pPr algn="l">
              <a:spcAft>
                <a:spcPts val="0"/>
              </a:spcAft>
              <a:defRPr sz="720" b="1">
                <a:solidFill>
                  <a:srgbClr val="4A5563"/>
                </a:solidFill>
                <a:latin typeface="Inter"/>
              </a:defRPr>
            </a:pPr>
            <a:r>
              <a:rPr>
                <a:latin typeface="Inter"/>
              </a:rPr>
              <a:t>DETRACTING (STRESS)</a:t>
            </a:r>
          </a:p>
        </p:txBody>
      </p:sp>
      <p:graphicFrame>
        <p:nvGraphicFramePr>
          <p:cNvPr id="9" name="Table 8"/>
          <p:cNvGraphicFramePr>
            <a:graphicFrameLocks noGrp="1"/>
          </p:cNvGraphicFramePr>
          <p:nvPr/>
        </p:nvGraphicFramePr>
        <p:xfrm>
          <a:off x="640080" y="1600200"/>
          <a:ext cx="5239512" cy="4617720"/>
        </p:xfrm>
        <a:graphic>
          <a:graphicData uri="http://schemas.openxmlformats.org/drawingml/2006/table">
            <a:tbl>
              <a:tblPr firstRow="1" bandRow="1">
                <a:tableStyleId>{5C22544A-7EE6-4342-B048-85BDC9FD1C3A}</a:tableStyleId>
              </a:tblPr>
              <a:tblGrid>
                <a:gridCol w="1746504"/>
                <a:gridCol w="1746504"/>
                <a:gridCol w="1746504"/>
              </a:tblGrid>
              <a:tr h="769620">
                <a:tc>
                  <a:txBody>
                    <a:bodyPr/>
                    <a:lstStyle/>
                    <a:p>
                      <a:pPr>
                        <a:defRPr sz="750" b="1">
                          <a:solidFill>
                            <a:srgbClr val="FFFFFF"/>
                          </a:solidFill>
                          <a:latin typeface="Inter"/>
                        </a:defRPr>
                      </a:pPr>
                      <a:r>
                        <a:rPr>
                          <a:latin typeface="Inter"/>
                        </a:rPr>
                        <a:t>Signal</a:t>
                      </a:r>
                    </a:p>
                  </a:txBody>
                  <a:tcPr marL="54864" marR="54864" marT="27432" marB="27432" anchor="ctr">
                    <a:solidFill>
                      <a:srgbClr val="0D1117"/>
                    </a:solidFill>
                  </a:tcPr>
                </a:tc>
                <a:tc>
                  <a:txBody>
                    <a:bodyPr/>
                    <a:lstStyle/>
                    <a:p>
                      <a:pPr>
                        <a:defRPr sz="750" b="1">
                          <a:solidFill>
                            <a:srgbClr val="FFFFFF"/>
                          </a:solidFill>
                          <a:latin typeface="Inter"/>
                        </a:defRPr>
                      </a:pPr>
                      <a:r>
                        <a:rPr>
                          <a:latin typeface="Inter"/>
                        </a:rPr>
                        <a:t>Driver</a:t>
                      </a:r>
                    </a:p>
                  </a:txBody>
                  <a:tcPr marL="54864" marR="54864" marT="27432" marB="27432" anchor="ctr">
                    <a:solidFill>
                      <a:srgbClr val="0D1117"/>
                    </a:solidFill>
                  </a:tcPr>
                </a:tc>
                <a:tc>
                  <a:txBody>
                    <a:bodyPr/>
                    <a:lstStyle/>
                    <a:p>
                      <a:pPr>
                        <a:defRPr sz="750" b="1">
                          <a:solidFill>
                            <a:srgbClr val="FFFFFF"/>
                          </a:solidFill>
                          <a:latin typeface="Inter"/>
                        </a:defRPr>
                      </a:pPr>
                      <a:r>
                        <a:rPr>
                          <a:latin typeface="Inter"/>
                        </a:rPr>
                        <a:t>z</a:t>
                      </a:r>
                    </a:p>
                  </a:txBody>
                  <a:tcPr marL="54864" marR="54864" marT="27432" marB="27432" anchor="ctr">
                    <a:solidFill>
                      <a:srgbClr val="0D1117"/>
                    </a:solidFill>
                  </a:tcPr>
                </a:tc>
              </a:tr>
              <a:tr h="769620">
                <a:tc>
                  <a:txBody>
                    <a:bodyPr/>
                    <a:lstStyle/>
                    <a:p>
                      <a:pPr>
                        <a:defRPr sz="800" b="1">
                          <a:solidFill>
                            <a:srgbClr val="0D1117"/>
                          </a:solidFill>
                          <a:latin typeface="Inter"/>
                        </a:defRPr>
                      </a:pPr>
                      <a:r>
                        <a:rPr>
                          <a:latin typeface="Inter"/>
                        </a:rPr>
                        <a:t>Gradient Term Premium Proxy</a:t>
                      </a:r>
                    </a:p>
                  </a:txBody>
                  <a:tcPr marL="54864" marR="54864" marT="27432" marB="27432" anchor="ctr">
                    <a:solidFill>
                      <a:srgbClr val="FFFFFF"/>
                    </a:solidFill>
                  </a:tcPr>
                </a:tc>
                <a:tc>
                  <a:txBody>
                    <a:bodyPr/>
                    <a:lstStyle/>
                    <a:p>
                      <a:pPr>
                        <a:defRPr sz="800" b="0">
                          <a:solidFill>
                            <a:srgbClr val="0D1117"/>
                          </a:solidFill>
                          <a:latin typeface="Inter"/>
                        </a:defRPr>
                      </a:pPr>
                      <a:r>
                        <a:rPr>
                          <a:latin typeface="Inter"/>
                        </a:rPr>
                        <a:t>Rates</a:t>
                      </a:r>
                    </a:p>
                  </a:txBody>
                  <a:tcPr marL="54864" marR="54864" marT="27432" marB="27432" anchor="ctr">
                    <a:solidFill>
                      <a:srgbClr val="FFFFFF"/>
                    </a:solidFill>
                  </a:tcPr>
                </a:tc>
                <a:tc>
                  <a:txBody>
                    <a:bodyPr/>
                    <a:lstStyle/>
                    <a:p>
                      <a:pPr>
                        <a:defRPr sz="800" b="0">
                          <a:solidFill>
                            <a:srgbClr val="0D1117"/>
                          </a:solidFill>
                          <a:latin typeface="Inter"/>
                        </a:defRPr>
                      </a:pPr>
                      <a:r>
                        <a:rPr>
                          <a:latin typeface="Inter"/>
                        </a:rPr>
                        <a:t>+2.48</a:t>
                      </a:r>
                    </a:p>
                  </a:txBody>
                  <a:tcPr marL="54864" marR="54864" marT="27432" marB="27432" anchor="ctr">
                    <a:solidFill>
                      <a:srgbClr val="FFFFFF"/>
                    </a:solidFill>
                  </a:tcPr>
                </a:tc>
              </a:tr>
              <a:tr h="769620">
                <a:tc>
                  <a:txBody>
                    <a:bodyPr/>
                    <a:lstStyle/>
                    <a:p>
                      <a:pPr>
                        <a:defRPr sz="800" b="1">
                          <a:solidFill>
                            <a:srgbClr val="0D1117"/>
                          </a:solidFill>
                          <a:latin typeface="Inter"/>
                        </a:defRPr>
                      </a:pPr>
                      <a:r>
                        <a:rPr>
                          <a:latin typeface="Inter"/>
                        </a:rPr>
                        <a:t>10-Year TIPS real yield</a:t>
                      </a:r>
                    </a:p>
                  </a:txBody>
                  <a:tcPr marL="54864" marR="54864" marT="27432" marB="27432" anchor="ctr">
                    <a:solidFill>
                      <a:srgbClr val="F5F7F9"/>
                    </a:solidFill>
                  </a:tcPr>
                </a:tc>
                <a:tc>
                  <a:txBody>
                    <a:bodyPr/>
                    <a:lstStyle/>
                    <a:p>
                      <a:pPr>
                        <a:defRPr sz="800" b="0">
                          <a:solidFill>
                            <a:srgbClr val="0D1117"/>
                          </a:solidFill>
                          <a:latin typeface="Inter"/>
                        </a:defRPr>
                      </a:pPr>
                      <a:r>
                        <a:rPr>
                          <a:latin typeface="Inter"/>
                        </a:rPr>
                        <a:t>Rates</a:t>
                      </a:r>
                    </a:p>
                  </a:txBody>
                  <a:tcPr marL="54864" marR="54864" marT="27432" marB="27432" anchor="ctr">
                    <a:solidFill>
                      <a:srgbClr val="F5F7F9"/>
                    </a:solidFill>
                  </a:tcPr>
                </a:tc>
                <a:tc>
                  <a:txBody>
                    <a:bodyPr/>
                    <a:lstStyle/>
                    <a:p>
                      <a:pPr>
                        <a:defRPr sz="800" b="0">
                          <a:solidFill>
                            <a:srgbClr val="0D1117"/>
                          </a:solidFill>
                          <a:latin typeface="Inter"/>
                        </a:defRPr>
                      </a:pPr>
                      <a:r>
                        <a:rPr>
                          <a:latin typeface="Inter"/>
                        </a:rPr>
                        <a:t>+2.91</a:t>
                      </a:r>
                    </a:p>
                  </a:txBody>
                  <a:tcPr marL="54864" marR="54864" marT="27432" marB="27432" anchor="ctr">
                    <a:solidFill>
                      <a:srgbClr val="F5F7F9"/>
                    </a:solidFill>
                  </a:tcPr>
                </a:tc>
              </a:tr>
              <a:tr h="769620">
                <a:tc>
                  <a:txBody>
                    <a:bodyPr/>
                    <a:lstStyle/>
                    <a:p>
                      <a:pPr>
                        <a:defRPr sz="800" b="1">
                          <a:solidFill>
                            <a:srgbClr val="0D1117"/>
                          </a:solidFill>
                          <a:latin typeface="Inter"/>
                        </a:defRPr>
                      </a:pPr>
                      <a:r>
                        <a:rPr>
                          <a:latin typeface="Inter"/>
                        </a:rPr>
                        <a:t>5-Year Treasury yield</a:t>
                      </a:r>
                    </a:p>
                  </a:txBody>
                  <a:tcPr marL="54864" marR="54864" marT="27432" marB="27432" anchor="ctr">
                    <a:solidFill>
                      <a:srgbClr val="FFFFFF"/>
                    </a:solidFill>
                  </a:tcPr>
                </a:tc>
                <a:tc>
                  <a:txBody>
                    <a:bodyPr/>
                    <a:lstStyle/>
                    <a:p>
                      <a:pPr>
                        <a:defRPr sz="800" b="0">
                          <a:solidFill>
                            <a:srgbClr val="0D1117"/>
                          </a:solidFill>
                          <a:latin typeface="Inter"/>
                        </a:defRPr>
                      </a:pPr>
                      <a:r>
                        <a:rPr>
                          <a:latin typeface="Inter"/>
                        </a:rPr>
                        <a:t>Rates</a:t>
                      </a:r>
                    </a:p>
                  </a:txBody>
                  <a:tcPr marL="54864" marR="54864" marT="27432" marB="27432" anchor="ctr">
                    <a:solidFill>
                      <a:srgbClr val="FFFFFF"/>
                    </a:solidFill>
                  </a:tcPr>
                </a:tc>
                <a:tc>
                  <a:txBody>
                    <a:bodyPr/>
                    <a:lstStyle/>
                    <a:p>
                      <a:pPr>
                        <a:defRPr sz="800" b="0">
                          <a:solidFill>
                            <a:srgbClr val="0D1117"/>
                          </a:solidFill>
                          <a:latin typeface="Inter"/>
                        </a:defRPr>
                      </a:pPr>
                      <a:r>
                        <a:rPr>
                          <a:latin typeface="Inter"/>
                        </a:rPr>
                        <a:t>+2.76</a:t>
                      </a:r>
                    </a:p>
                  </a:txBody>
                  <a:tcPr marL="54864" marR="54864" marT="27432" marB="27432" anchor="ctr">
                    <a:solidFill>
                      <a:srgbClr val="FFFFFF"/>
                    </a:solidFill>
                  </a:tcPr>
                </a:tc>
              </a:tr>
              <a:tr h="769620">
                <a:tc>
                  <a:txBody>
                    <a:bodyPr/>
                    <a:lstStyle/>
                    <a:p>
                      <a:pPr>
                        <a:defRPr sz="800" b="1">
                          <a:solidFill>
                            <a:srgbClr val="0D1117"/>
                          </a:solidFill>
                          <a:latin typeface="Inter"/>
                        </a:defRPr>
                      </a:pPr>
                      <a:r>
                        <a:rPr>
                          <a:latin typeface="Inter"/>
                        </a:rPr>
                        <a:t>Private markets carrying-mark pressure</a:t>
                      </a:r>
                    </a:p>
                  </a:txBody>
                  <a:tcPr marL="54864" marR="54864" marT="27432" marB="27432" anchor="ctr">
                    <a:solidFill>
                      <a:srgbClr val="F5F7F9"/>
                    </a:solidFill>
                  </a:tcPr>
                </a:tc>
                <a:tc>
                  <a:txBody>
                    <a:bodyPr/>
                    <a:lstStyle/>
                    <a:p>
                      <a:pPr>
                        <a:defRPr sz="800" b="0">
                          <a:solidFill>
                            <a:srgbClr val="0D1117"/>
                          </a:solidFill>
                          <a:latin typeface="Inter"/>
                        </a:defRPr>
                      </a:pPr>
                      <a:r>
                        <a:rPr>
                          <a:latin typeface="Inter"/>
                        </a:rPr>
                        <a:t>Growth</a:t>
                      </a:r>
                    </a:p>
                  </a:txBody>
                  <a:tcPr marL="54864" marR="54864" marT="27432" marB="27432" anchor="ctr">
                    <a:solidFill>
                      <a:srgbClr val="F5F7F9"/>
                    </a:solidFill>
                  </a:tcPr>
                </a:tc>
                <a:tc>
                  <a:txBody>
                    <a:bodyPr/>
                    <a:lstStyle/>
                    <a:p>
                      <a:pPr>
                        <a:defRPr sz="800" b="0">
                          <a:solidFill>
                            <a:srgbClr val="0D1117"/>
                          </a:solidFill>
                          <a:latin typeface="Inter"/>
                        </a:defRPr>
                      </a:pPr>
                      <a:r>
                        <a:rPr>
                          <a:latin typeface="Inter"/>
                        </a:rPr>
                        <a:t>+2.18</a:t>
                      </a:r>
                    </a:p>
                  </a:txBody>
                  <a:tcPr marL="54864" marR="54864" marT="27432" marB="27432" anchor="ctr">
                    <a:solidFill>
                      <a:srgbClr val="F5F7F9"/>
                    </a:solidFill>
                  </a:tcPr>
                </a:tc>
              </a:tr>
              <a:tr h="769620">
                <a:tc>
                  <a:txBody>
                    <a:bodyPr/>
                    <a:lstStyle/>
                    <a:p>
                      <a:pPr>
                        <a:defRPr sz="800" b="1">
                          <a:solidFill>
                            <a:srgbClr val="0D1117"/>
                          </a:solidFill>
                          <a:latin typeface="Inter"/>
                        </a:defRPr>
                      </a:pPr>
                      <a:r>
                        <a:rPr>
                          <a:latin typeface="Inter"/>
                        </a:rPr>
                        <a:t>Private markets alt-manager pressure</a:t>
                      </a:r>
                    </a:p>
                  </a:txBody>
                  <a:tcPr marL="54864" marR="54864" marT="27432" marB="27432" anchor="ctr">
                    <a:solidFill>
                      <a:srgbClr val="FFFFFF"/>
                    </a:solidFill>
                  </a:tcPr>
                </a:tc>
                <a:tc>
                  <a:txBody>
                    <a:bodyPr/>
                    <a:lstStyle/>
                    <a:p>
                      <a:pPr>
                        <a:defRPr sz="800" b="0">
                          <a:solidFill>
                            <a:srgbClr val="0D1117"/>
                          </a:solidFill>
                          <a:latin typeface="Inter"/>
                        </a:defRPr>
                      </a:pPr>
                      <a:r>
                        <a:rPr>
                          <a:latin typeface="Inter"/>
                        </a:rPr>
                        <a:t>Risk appetite</a:t>
                      </a:r>
                    </a:p>
                  </a:txBody>
                  <a:tcPr marL="54864" marR="54864" marT="27432" marB="27432" anchor="ctr">
                    <a:solidFill>
                      <a:srgbClr val="FFFFFF"/>
                    </a:solidFill>
                  </a:tcPr>
                </a:tc>
                <a:tc>
                  <a:txBody>
                    <a:bodyPr/>
                    <a:lstStyle/>
                    <a:p>
                      <a:pPr>
                        <a:defRPr sz="800" b="0">
                          <a:solidFill>
                            <a:srgbClr val="0D1117"/>
                          </a:solidFill>
                          <a:latin typeface="Inter"/>
                        </a:defRPr>
                      </a:pPr>
                      <a:r>
                        <a:rPr>
                          <a:latin typeface="Inter"/>
                        </a:rPr>
                        <a:t>+2.04</a:t>
                      </a:r>
                    </a:p>
                  </a:txBody>
                  <a:tcPr marL="54864" marR="54864" marT="27432" marB="27432" anchor="ctr">
                    <a:solidFill>
                      <a:srgbClr val="FFFFFF"/>
                    </a:solidFill>
                  </a:tcPr>
                </a:tc>
              </a:tr>
            </a:tbl>
          </a:graphicData>
        </a:graphic>
      </p:graphicFrame>
      <p:sp>
        <p:nvSpPr>
          <p:cNvPr id="10" name="Rectangle 9"/>
          <p:cNvSpPr/>
          <p:nvPr/>
        </p:nvSpPr>
        <p:spPr>
          <a:xfrm>
            <a:off x="6080760" y="1325880"/>
            <a:ext cx="9144" cy="4892040"/>
          </a:xfrm>
          <a:prstGeom prst="rect">
            <a:avLst/>
          </a:prstGeom>
          <a:solidFill>
            <a:srgbClr val="E3E7EC"/>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1" name="TextBox 10"/>
          <p:cNvSpPr txBox="1"/>
          <p:nvPr/>
        </p:nvSpPr>
        <p:spPr>
          <a:xfrm>
            <a:off x="6309360" y="1325880"/>
            <a:ext cx="5239512" cy="201168"/>
          </a:xfrm>
          <a:prstGeom prst="rect">
            <a:avLst/>
          </a:prstGeom>
          <a:noFill/>
        </p:spPr>
        <p:txBody>
          <a:bodyPr wrap="none" lIns="9144" rIns="9144" tIns="9144" bIns="9144" anchor="t">
            <a:spAutoFit/>
          </a:bodyPr>
          <a:lstStyle/>
          <a:p>
            <a:pPr algn="l">
              <a:spcAft>
                <a:spcPts val="0"/>
              </a:spcAft>
              <a:defRPr sz="720" b="1">
                <a:solidFill>
                  <a:srgbClr val="4A5563"/>
                </a:solidFill>
                <a:latin typeface="Inter"/>
              </a:defRPr>
            </a:pPr>
            <a:r>
              <a:rPr>
                <a:latin typeface="Inter"/>
              </a:rPr>
              <a:t>SUPPORTIVE (RISK-ON)</a:t>
            </a:r>
          </a:p>
        </p:txBody>
      </p:sp>
      <p:graphicFrame>
        <p:nvGraphicFramePr>
          <p:cNvPr id="12" name="Table 11"/>
          <p:cNvGraphicFramePr>
            <a:graphicFrameLocks noGrp="1"/>
          </p:cNvGraphicFramePr>
          <p:nvPr/>
        </p:nvGraphicFramePr>
        <p:xfrm>
          <a:off x="6309360" y="1600200"/>
          <a:ext cx="5239512" cy="4416552"/>
        </p:xfrm>
        <a:graphic>
          <a:graphicData uri="http://schemas.openxmlformats.org/drawingml/2006/table">
            <a:tbl>
              <a:tblPr firstRow="1" bandRow="1">
                <a:tableStyleId>{5C22544A-7EE6-4342-B048-85BDC9FD1C3A}</a:tableStyleId>
              </a:tblPr>
              <a:tblGrid>
                <a:gridCol w="1746504"/>
                <a:gridCol w="1746504"/>
                <a:gridCol w="1746504"/>
              </a:tblGrid>
              <a:tr h="883310">
                <a:tc>
                  <a:txBody>
                    <a:bodyPr/>
                    <a:lstStyle/>
                    <a:p>
                      <a:pPr>
                        <a:defRPr sz="750" b="1">
                          <a:solidFill>
                            <a:srgbClr val="FFFFFF"/>
                          </a:solidFill>
                          <a:latin typeface="Inter"/>
                        </a:defRPr>
                      </a:pPr>
                      <a:r>
                        <a:rPr>
                          <a:latin typeface="Inter"/>
                        </a:rPr>
                        <a:t>Signal</a:t>
                      </a:r>
                    </a:p>
                  </a:txBody>
                  <a:tcPr marL="54864" marR="54864" marT="27432" marB="27432" anchor="ctr">
                    <a:solidFill>
                      <a:srgbClr val="0D1117"/>
                    </a:solidFill>
                  </a:tcPr>
                </a:tc>
                <a:tc>
                  <a:txBody>
                    <a:bodyPr/>
                    <a:lstStyle/>
                    <a:p>
                      <a:pPr>
                        <a:defRPr sz="750" b="1">
                          <a:solidFill>
                            <a:srgbClr val="FFFFFF"/>
                          </a:solidFill>
                          <a:latin typeface="Inter"/>
                        </a:defRPr>
                      </a:pPr>
                      <a:r>
                        <a:rPr>
                          <a:latin typeface="Inter"/>
                        </a:rPr>
                        <a:t>Driver</a:t>
                      </a:r>
                    </a:p>
                  </a:txBody>
                  <a:tcPr marL="54864" marR="54864" marT="27432" marB="27432" anchor="ctr">
                    <a:solidFill>
                      <a:srgbClr val="0D1117"/>
                    </a:solidFill>
                  </a:tcPr>
                </a:tc>
                <a:tc>
                  <a:txBody>
                    <a:bodyPr/>
                    <a:lstStyle/>
                    <a:p>
                      <a:pPr>
                        <a:defRPr sz="750" b="1">
                          <a:solidFill>
                            <a:srgbClr val="FFFFFF"/>
                          </a:solidFill>
                          <a:latin typeface="Inter"/>
                        </a:defRPr>
                      </a:pPr>
                      <a:r>
                        <a:rPr>
                          <a:latin typeface="Inter"/>
                        </a:rPr>
                        <a:t>z</a:t>
                      </a:r>
                    </a:p>
                  </a:txBody>
                  <a:tcPr marL="54864" marR="54864" marT="27432" marB="27432" anchor="ctr">
                    <a:solidFill>
                      <a:srgbClr val="0D1117"/>
                    </a:solidFill>
                  </a:tcPr>
                </a:tc>
              </a:tr>
              <a:tr h="883310">
                <a:tc>
                  <a:txBody>
                    <a:bodyPr/>
                    <a:lstStyle/>
                    <a:p>
                      <a:pPr>
                        <a:defRPr sz="800" b="1">
                          <a:solidFill>
                            <a:srgbClr val="0D1117"/>
                          </a:solidFill>
                          <a:latin typeface="Inter"/>
                        </a:defRPr>
                      </a:pPr>
                      <a:r>
                        <a:rPr>
                          <a:latin typeface="Inter"/>
                        </a:rPr>
                        <a:t>Gradient High Yield Proxy</a:t>
                      </a:r>
                    </a:p>
                  </a:txBody>
                  <a:tcPr marL="54864" marR="54864" marT="27432" marB="27432" anchor="ctr">
                    <a:solidFill>
                      <a:srgbClr val="FFFFFF"/>
                    </a:solidFill>
                  </a:tcPr>
                </a:tc>
                <a:tc>
                  <a:txBody>
                    <a:bodyPr/>
                    <a:lstStyle/>
                    <a:p>
                      <a:pPr>
                        <a:defRPr sz="800" b="0">
                          <a:solidFill>
                            <a:srgbClr val="0D1117"/>
                          </a:solidFill>
                          <a:latin typeface="Inter"/>
                        </a:defRPr>
                      </a:pPr>
                      <a:r>
                        <a:rPr>
                          <a:latin typeface="Inter"/>
                        </a:rPr>
                        <a:t>Credit</a:t>
                      </a:r>
                    </a:p>
                  </a:txBody>
                  <a:tcPr marL="54864" marR="54864" marT="27432" marB="27432" anchor="ctr">
                    <a:solidFill>
                      <a:srgbClr val="FFFFFF"/>
                    </a:solidFill>
                  </a:tcPr>
                </a:tc>
                <a:tc>
                  <a:txBody>
                    <a:bodyPr/>
                    <a:lstStyle/>
                    <a:p>
                      <a:pPr>
                        <a:defRPr sz="800" b="0">
                          <a:solidFill>
                            <a:srgbClr val="0D1117"/>
                          </a:solidFill>
                          <a:latin typeface="Inter"/>
                        </a:defRPr>
                      </a:pPr>
                      <a:r>
                        <a:rPr>
                          <a:latin typeface="Inter"/>
                        </a:rPr>
                        <a:t>−1.28</a:t>
                      </a:r>
                    </a:p>
                  </a:txBody>
                  <a:tcPr marL="54864" marR="54864" marT="27432" marB="27432" anchor="ctr">
                    <a:solidFill>
                      <a:srgbClr val="FFFFFF"/>
                    </a:solidFill>
                  </a:tcPr>
                </a:tc>
              </a:tr>
              <a:tr h="883310">
                <a:tc>
                  <a:txBody>
                    <a:bodyPr/>
                    <a:lstStyle/>
                    <a:p>
                      <a:pPr>
                        <a:defRPr sz="800" b="1">
                          <a:solidFill>
                            <a:srgbClr val="0D1117"/>
                          </a:solidFill>
                          <a:latin typeface="Inter"/>
                        </a:defRPr>
                      </a:pPr>
                      <a:r>
                        <a:rPr>
                          <a:latin typeface="Inter"/>
                        </a:rPr>
                        <a:t>Commodity Cycle Composite</a:t>
                      </a:r>
                    </a:p>
                  </a:txBody>
                  <a:tcPr marL="54864" marR="54864" marT="27432" marB="27432" anchor="ctr">
                    <a:solidFill>
                      <a:srgbClr val="F5F7F9"/>
                    </a:solidFill>
                  </a:tcPr>
                </a:tc>
                <a:tc>
                  <a:txBody>
                    <a:bodyPr/>
                    <a:lstStyle/>
                    <a:p>
                      <a:pPr>
                        <a:defRPr sz="800" b="0">
                          <a:solidFill>
                            <a:srgbClr val="0D1117"/>
                          </a:solidFill>
                          <a:latin typeface="Inter"/>
                        </a:defRPr>
                      </a:pPr>
                      <a:r>
                        <a:rPr>
                          <a:latin typeface="Inter"/>
                        </a:rPr>
                        <a:t>Inflation</a:t>
                      </a:r>
                    </a:p>
                  </a:txBody>
                  <a:tcPr marL="54864" marR="54864" marT="27432" marB="27432" anchor="ctr">
                    <a:solidFill>
                      <a:srgbClr val="F5F7F9"/>
                    </a:solidFill>
                  </a:tcPr>
                </a:tc>
                <a:tc>
                  <a:txBody>
                    <a:bodyPr/>
                    <a:lstStyle/>
                    <a:p>
                      <a:pPr>
                        <a:defRPr sz="800" b="0">
                          <a:solidFill>
                            <a:srgbClr val="0D1117"/>
                          </a:solidFill>
                          <a:latin typeface="Inter"/>
                        </a:defRPr>
                      </a:pPr>
                      <a:r>
                        <a:rPr>
                          <a:latin typeface="Inter"/>
                        </a:rPr>
                        <a:t>+1.36</a:t>
                      </a:r>
                    </a:p>
                  </a:txBody>
                  <a:tcPr marL="54864" marR="54864" marT="27432" marB="27432" anchor="ctr">
                    <a:solidFill>
                      <a:srgbClr val="F5F7F9"/>
                    </a:solidFill>
                  </a:tcPr>
                </a:tc>
              </a:tr>
              <a:tr h="883310">
                <a:tc>
                  <a:txBody>
                    <a:bodyPr/>
                    <a:lstStyle/>
                    <a:p>
                      <a:pPr>
                        <a:defRPr sz="800" b="1">
                          <a:solidFill>
                            <a:srgbClr val="0D1117"/>
                          </a:solidFill>
                          <a:latin typeface="Inter"/>
                        </a:defRPr>
                      </a:pPr>
                      <a:r>
                        <a:rPr>
                          <a:latin typeface="Inter"/>
                        </a:rPr>
                        <a:t>Gold Conditions Proxy</a:t>
                      </a:r>
                    </a:p>
                  </a:txBody>
                  <a:tcPr marL="54864" marR="54864" marT="27432" marB="27432" anchor="ctr">
                    <a:solidFill>
                      <a:srgbClr val="FFFFFF"/>
                    </a:solidFill>
                  </a:tcPr>
                </a:tc>
                <a:tc>
                  <a:txBody>
                    <a:bodyPr/>
                    <a:lstStyle/>
                    <a:p>
                      <a:pPr>
                        <a:defRPr sz="800" b="0">
                          <a:solidFill>
                            <a:srgbClr val="0D1117"/>
                          </a:solidFill>
                          <a:latin typeface="Inter"/>
                        </a:defRPr>
                      </a:pPr>
                      <a:r>
                        <a:rPr>
                          <a:latin typeface="Inter"/>
                        </a:rPr>
                        <a:t>Inflation</a:t>
                      </a:r>
                    </a:p>
                  </a:txBody>
                  <a:tcPr marL="54864" marR="54864" marT="27432" marB="27432" anchor="ctr">
                    <a:solidFill>
                      <a:srgbClr val="FFFFFF"/>
                    </a:solidFill>
                  </a:tcPr>
                </a:tc>
                <a:tc>
                  <a:txBody>
                    <a:bodyPr/>
                    <a:lstStyle/>
                    <a:p>
                      <a:pPr>
                        <a:defRPr sz="800" b="0">
                          <a:solidFill>
                            <a:srgbClr val="0D1117"/>
                          </a:solidFill>
                          <a:latin typeface="Inter"/>
                        </a:defRPr>
                      </a:pPr>
                      <a:r>
                        <a:rPr>
                          <a:latin typeface="Inter"/>
                        </a:rPr>
                        <a:t>−3.65</a:t>
                      </a:r>
                    </a:p>
                  </a:txBody>
                  <a:tcPr marL="54864" marR="54864" marT="27432" marB="27432" anchor="ctr">
                    <a:solidFill>
                      <a:srgbClr val="FFFFFF"/>
                    </a:solidFill>
                  </a:tcPr>
                </a:tc>
              </a:tr>
              <a:tr h="883312">
                <a:tc>
                  <a:txBody>
                    <a:bodyPr/>
                    <a:lstStyle/>
                    <a:p>
                      <a:pPr>
                        <a:defRPr sz="800" b="1">
                          <a:solidFill>
                            <a:srgbClr val="0D1117"/>
                          </a:solidFill>
                          <a:latin typeface="Inter"/>
                        </a:defRPr>
                      </a:pPr>
                      <a:r>
                        <a:rPr>
                          <a:latin typeface="Inter"/>
                        </a:rPr>
                        <a:t>Livestock Proxy</a:t>
                      </a:r>
                    </a:p>
                  </a:txBody>
                  <a:tcPr marL="54864" marR="54864" marT="27432" marB="27432" anchor="ctr">
                    <a:solidFill>
                      <a:srgbClr val="F5F7F9"/>
                    </a:solidFill>
                  </a:tcPr>
                </a:tc>
                <a:tc>
                  <a:txBody>
                    <a:bodyPr/>
                    <a:lstStyle/>
                    <a:p>
                      <a:pPr>
                        <a:defRPr sz="800" b="0">
                          <a:solidFill>
                            <a:srgbClr val="0D1117"/>
                          </a:solidFill>
                          <a:latin typeface="Inter"/>
                        </a:defRPr>
                      </a:pPr>
                      <a:r>
                        <a:rPr>
                          <a:latin typeface="Inter"/>
                        </a:rPr>
                        <a:t>Inflation</a:t>
                      </a:r>
                    </a:p>
                  </a:txBody>
                  <a:tcPr marL="54864" marR="54864" marT="27432" marB="27432" anchor="ctr">
                    <a:solidFill>
                      <a:srgbClr val="F5F7F9"/>
                    </a:solidFill>
                  </a:tcPr>
                </a:tc>
                <a:tc>
                  <a:txBody>
                    <a:bodyPr/>
                    <a:lstStyle/>
                    <a:p>
                      <a:pPr>
                        <a:defRPr sz="800" b="0">
                          <a:solidFill>
                            <a:srgbClr val="0D1117"/>
                          </a:solidFill>
                          <a:latin typeface="Inter"/>
                        </a:defRPr>
                      </a:pPr>
                      <a:r>
                        <a:rPr>
                          <a:latin typeface="Inter"/>
                        </a:rPr>
                        <a:t>−3.83</a:t>
                      </a:r>
                    </a:p>
                  </a:txBody>
                  <a:tcPr marL="54864" marR="54864" marT="27432" marB="27432" anchor="ctr">
                    <a:solidFill>
                      <a:srgbClr val="F5F7F9"/>
                    </a:solidFill>
                  </a:tcPr>
                </a:tc>
              </a:tr>
            </a:tbl>
          </a:graphicData>
        </a:graphic>
      </p:graphicFrame>
      <p:sp>
        <p:nvSpPr>
          <p:cNvPr id="13" name="TextBox 12"/>
          <p:cNvSpPr txBox="1"/>
          <p:nvPr/>
        </p:nvSpPr>
        <p:spPr>
          <a:xfrm>
            <a:off x="6309360" y="6035040"/>
            <a:ext cx="5239512" cy="164592"/>
          </a:xfrm>
          <a:prstGeom prst="rect">
            <a:avLst/>
          </a:prstGeom>
          <a:noFill/>
        </p:spPr>
        <p:txBody>
          <a:bodyPr wrap="none" lIns="9144" rIns="9144" tIns="9144" bIns="9144" anchor="t">
            <a:spAutoFit/>
          </a:bodyPr>
          <a:lstStyle/>
          <a:p>
            <a:pPr algn="l">
              <a:spcAft>
                <a:spcPts val="0"/>
              </a:spcAft>
              <a:defRPr sz="680" b="0">
                <a:solidFill>
                  <a:srgbClr val="8A94A1"/>
                </a:solidFill>
                <a:latin typeface="Inter"/>
              </a:defRPr>
            </a:pPr>
            <a:r>
              <a:rPr>
                <a:latin typeface="Inter"/>
              </a:rPr>
              <a:t>z-scores as reported for each signal's own basis [S3].</a:t>
            </a:r>
          </a:p>
        </p:txBody>
      </p:sp>
      <p:sp>
        <p:nvSpPr>
          <p:cNvPr id="14" name="Rectangle 13"/>
          <p:cNvSpPr/>
          <p:nvPr/>
        </p:nvSpPr>
        <p:spPr>
          <a:xfrm>
            <a:off x="640080" y="5806440"/>
            <a:ext cx="10908792" cy="502920"/>
          </a:xfrm>
          <a:prstGeom prst="rect">
            <a:avLst/>
          </a:prstGeom>
          <a:solidFill>
            <a:srgbClr val="F5F7F9"/>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5" name="Rectangle 14"/>
          <p:cNvSpPr/>
          <p:nvPr/>
        </p:nvSpPr>
        <p:spPr>
          <a:xfrm>
            <a:off x="640080" y="5806440"/>
            <a:ext cx="54864" cy="502920"/>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6" name="TextBox 15"/>
          <p:cNvSpPr txBox="1"/>
          <p:nvPr/>
        </p:nvSpPr>
        <p:spPr>
          <a:xfrm>
            <a:off x="804671" y="5916168"/>
            <a:ext cx="10616184" cy="228600"/>
          </a:xfrm>
          <a:prstGeom prst="rect">
            <a:avLst/>
          </a:prstGeom>
          <a:noFill/>
        </p:spPr>
        <p:txBody>
          <a:bodyPr wrap="none" lIns="9144" rIns="9144" tIns="9144" bIns="9144" anchor="t">
            <a:spAutoFit/>
          </a:bodyPr>
          <a:lstStyle/>
          <a:p>
            <a:pPr algn="l">
              <a:spcAft>
                <a:spcPts val="0"/>
              </a:spcAft>
              <a:defRPr sz="1000" b="1">
                <a:solidFill>
                  <a:srgbClr val="0D1117"/>
                </a:solidFill>
                <a:latin typeface="Inter"/>
              </a:defRPr>
            </a:pPr>
            <a:r>
              <a:rPr>
                <a:latin typeface="Inter"/>
              </a:rPr>
              <a:t>Takeaway</a:t>
            </a:r>
          </a:p>
        </p:txBody>
      </p:sp>
      <p:sp>
        <p:nvSpPr>
          <p:cNvPr id="17" name="TextBox 16"/>
          <p:cNvSpPr txBox="1"/>
          <p:nvPr/>
        </p:nvSpPr>
        <p:spPr>
          <a:xfrm>
            <a:off x="804671" y="6199631"/>
            <a:ext cx="10616184" cy="228600"/>
          </a:xfrm>
          <a:prstGeom prst="rect">
            <a:avLst/>
          </a:prstGeom>
          <a:noFill/>
        </p:spPr>
        <p:txBody>
          <a:bodyPr wrap="none" lIns="9144" rIns="9144" tIns="9144" bIns="9144" anchor="t">
            <a:spAutoFit/>
          </a:bodyPr>
          <a:lstStyle/>
          <a:p>
            <a:pPr algn="l">
              <a:spcAft>
                <a:spcPts val="0"/>
              </a:spcAft>
              <a:defRPr sz="950" b="0">
                <a:solidFill>
                  <a:srgbClr val="4A5563"/>
                </a:solidFill>
                <a:latin typeface="Inter"/>
              </a:defRPr>
            </a:pPr>
            <a:r>
              <a:rPr>
                <a:latin typeface="Inter"/>
              </a:rPr>
              <a:t>Stress is concentrated in real yields and private-markets marks; credit spreads remain supportive.</a:t>
            </a:r>
          </a:p>
        </p:txBody>
      </p:sp>
      <p:sp>
        <p:nvSpPr>
          <p:cNvPr id="18" name="Rectangle 17"/>
          <p:cNvSpPr/>
          <p:nvPr/>
        </p:nvSpPr>
        <p:spPr>
          <a:xfrm>
            <a:off x="640080" y="6446520"/>
            <a:ext cx="10908792" cy="9144"/>
          </a:xfrm>
          <a:prstGeom prst="rect">
            <a:avLst/>
          </a:prstGeom>
          <a:solidFill>
            <a:srgbClr val="E3E7EC"/>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9" name="TextBox 18"/>
          <p:cNvSpPr txBox="1"/>
          <p:nvPr/>
        </p:nvSpPr>
        <p:spPr>
          <a:xfrm>
            <a:off x="640080" y="6501384"/>
            <a:ext cx="4297680" cy="146304"/>
          </a:xfrm>
          <a:prstGeom prst="rect">
            <a:avLst/>
          </a:prstGeom>
          <a:noFill/>
        </p:spPr>
        <p:txBody>
          <a:bodyPr wrap="none" lIns="9144" rIns="9144" tIns="9144" bIns="9144" anchor="t">
            <a:spAutoFit/>
          </a:bodyPr>
          <a:lstStyle/>
          <a:p>
            <a:pPr algn="l">
              <a:spcAft>
                <a:spcPts val="0"/>
              </a:spcAft>
              <a:defRPr sz="650" b="0">
                <a:solidFill>
                  <a:srgbClr val="8A94A1"/>
                </a:solidFill>
                <a:latin typeface="Inter"/>
              </a:defRPr>
            </a:pPr>
            <a:r>
              <a:rPr>
                <a:latin typeface="Inter"/>
              </a:rPr>
              <a:t>Sources: S3</a:t>
            </a:r>
          </a:p>
        </p:txBody>
      </p:sp>
      <p:sp>
        <p:nvSpPr>
          <p:cNvPr id="20" name="TextBox 19"/>
          <p:cNvSpPr txBox="1"/>
          <p:nvPr/>
        </p:nvSpPr>
        <p:spPr>
          <a:xfrm>
            <a:off x="4480560" y="6501384"/>
            <a:ext cx="5303520" cy="146304"/>
          </a:xfrm>
          <a:prstGeom prst="rect">
            <a:avLst/>
          </a:prstGeom>
          <a:noFill/>
        </p:spPr>
        <p:txBody>
          <a:bodyPr wrap="none" lIns="9144" rIns="9144" tIns="9144" bIns="9144" anchor="t">
            <a:spAutoFit/>
          </a:bodyPr>
          <a:lstStyle/>
          <a:p>
            <a:pPr algn="ctr">
              <a:spcAft>
                <a:spcPts val="0"/>
              </a:spcAft>
              <a:defRPr sz="650" b="0">
                <a:solidFill>
                  <a:srgbClr val="8A94A1"/>
                </a:solidFill>
                <a:latin typeface="Inter"/>
              </a:defRPr>
            </a:pPr>
            <a:r>
              <a:rPr>
                <a:latin typeface="Inter"/>
              </a:rPr>
              <a:t>Confidential — prepared for internal investment use · Data as of 2026-10-02</a:t>
            </a:r>
          </a:p>
        </p:txBody>
      </p:sp>
      <p:sp>
        <p:nvSpPr>
          <p:cNvPr id="21" name="TextBox 20"/>
          <p:cNvSpPr txBox="1"/>
          <p:nvPr/>
        </p:nvSpPr>
        <p:spPr>
          <a:xfrm>
            <a:off x="10287000" y="6501384"/>
            <a:ext cx="1261872" cy="146304"/>
          </a:xfrm>
          <a:prstGeom prst="rect">
            <a:avLst/>
          </a:prstGeom>
          <a:noFill/>
        </p:spPr>
        <p:txBody>
          <a:bodyPr wrap="none" lIns="9144" rIns="9144" tIns="9144" bIns="9144" anchor="t">
            <a:spAutoFit/>
          </a:bodyPr>
          <a:lstStyle/>
          <a:p>
            <a:pPr algn="r">
              <a:spcAft>
                <a:spcPts val="0"/>
              </a:spcAft>
              <a:defRPr sz="650" b="0">
                <a:solidFill>
                  <a:srgbClr val="8A94A1"/>
                </a:solidFill>
                <a:latin typeface="Inter"/>
              </a:defRPr>
            </a:pPr>
            <a:r>
              <a:rPr>
                <a:latin typeface="Inter"/>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3" name="TextBox 2"/>
          <p:cNvSpPr txBox="1"/>
          <p:nvPr/>
        </p:nvSpPr>
        <p:spPr>
          <a:xfrm>
            <a:off x="640080" y="329184"/>
            <a:ext cx="9875520" cy="182880"/>
          </a:xfrm>
          <a:prstGeom prst="rect">
            <a:avLst/>
          </a:prstGeom>
          <a:noFill/>
        </p:spPr>
        <p:txBody>
          <a:bodyPr wrap="none" lIns="9144" rIns="9144" tIns="9144" bIns="9144" anchor="t">
            <a:spAutoFit/>
          </a:bodyPr>
          <a:lstStyle/>
          <a:p>
            <a:pPr algn="l">
              <a:spcAft>
                <a:spcPts val="0"/>
              </a:spcAft>
              <a:defRPr sz="750" b="1">
                <a:solidFill>
                  <a:srgbClr val="4F6B00"/>
                </a:solidFill>
                <a:latin typeface="Inter"/>
              </a:defRPr>
            </a:pPr>
            <a:r>
              <a:rPr>
                <a:latin typeface="Inter"/>
              </a:rPr>
              <a:t>THE OTHER SIDE [S1]</a:t>
            </a:r>
          </a:p>
        </p:txBody>
      </p:sp>
      <p:sp>
        <p:nvSpPr>
          <p:cNvPr id="4" name="TextBox 3"/>
          <p:cNvSpPr txBox="1"/>
          <p:nvPr/>
        </p:nvSpPr>
        <p:spPr>
          <a:xfrm>
            <a:off x="640080" y="566928"/>
            <a:ext cx="10058400" cy="530352"/>
          </a:xfrm>
          <a:prstGeom prst="rect">
            <a:avLst/>
          </a:prstGeom>
          <a:noFill/>
        </p:spPr>
        <p:txBody>
          <a:bodyPr wrap="none" lIns="9144" rIns="9144" tIns="9144" bIns="9144" anchor="t">
            <a:spAutoFit/>
          </a:bodyPr>
          <a:lstStyle/>
          <a:p>
            <a:pPr algn="l">
              <a:spcAft>
                <a:spcPts val="0"/>
              </a:spcAft>
              <a:defRPr sz="2300" b="1">
                <a:solidFill>
                  <a:srgbClr val="0D1117"/>
                </a:solidFill>
                <a:latin typeface="Inter"/>
              </a:defRPr>
            </a:pPr>
            <a:r>
              <a:rPr>
                <a:latin typeface="Inter"/>
              </a:rPr>
              <a:t>What would confirm or break the thesis by CPI on 2026-10-14</a:t>
            </a:r>
          </a:p>
        </p:txBody>
      </p:sp>
      <p:sp>
        <p:nvSpPr>
          <p:cNvPr id="5" name="Rectangle 4"/>
          <p:cNvSpPr/>
          <p:nvPr/>
        </p:nvSpPr>
        <p:spPr>
          <a:xfrm>
            <a:off x="640080" y="1115568"/>
            <a:ext cx="10908792" cy="18288"/>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6" name="Rectangle 5"/>
          <p:cNvSpPr/>
          <p:nvPr/>
        </p:nvSpPr>
        <p:spPr>
          <a:xfrm>
            <a:off x="11018520" y="502920"/>
            <a:ext cx="530352" cy="393192"/>
          </a:xfrm>
          <a:prstGeom prst="rect">
            <a:avLst/>
          </a:prstGeom>
          <a:solidFill>
            <a:srgbClr val="C6F432"/>
          </a:solidFill>
          <a:ln>
            <a:solidFill>
              <a:srgbClr val="C6F432"/>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7" name="TextBox 6"/>
          <p:cNvSpPr txBox="1"/>
          <p:nvPr/>
        </p:nvSpPr>
        <p:spPr>
          <a:xfrm>
            <a:off x="11045952" y="557784"/>
            <a:ext cx="475488" cy="182880"/>
          </a:xfrm>
          <a:prstGeom prst="rect">
            <a:avLst/>
          </a:prstGeom>
          <a:noFill/>
        </p:spPr>
        <p:txBody>
          <a:bodyPr wrap="none" lIns="9144" rIns="9144" tIns="9144" bIns="9144" anchor="t">
            <a:spAutoFit/>
          </a:bodyPr>
          <a:lstStyle/>
          <a:p>
            <a:pPr algn="ctr">
              <a:spcAft>
                <a:spcPts val="0"/>
              </a:spcAft>
              <a:defRPr sz="1000" b="1">
                <a:solidFill>
                  <a:srgbClr val="0D1117"/>
                </a:solidFill>
                <a:latin typeface="Inter"/>
              </a:defRPr>
            </a:pPr>
            <a:r>
              <a:rPr>
                <a:latin typeface="Inter"/>
              </a:rPr>
              <a:t>06</a:t>
            </a:r>
          </a:p>
        </p:txBody>
      </p:sp>
      <p:sp>
        <p:nvSpPr>
          <p:cNvPr id="8" name="Rectangle 7"/>
          <p:cNvSpPr/>
          <p:nvPr/>
        </p:nvSpPr>
        <p:spPr>
          <a:xfrm>
            <a:off x="640080" y="1325880"/>
            <a:ext cx="5239512" cy="2406194"/>
          </a:xfrm>
          <a:prstGeom prst="rect">
            <a:avLst/>
          </a:prstGeom>
          <a:solidFill>
            <a:srgbClr val="F5F7F9"/>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9" name="Rectangle 8"/>
          <p:cNvSpPr/>
          <p:nvPr/>
        </p:nvSpPr>
        <p:spPr>
          <a:xfrm>
            <a:off x="640080" y="1325880"/>
            <a:ext cx="54864" cy="2406194"/>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0" name="TextBox 9"/>
          <p:cNvSpPr txBox="1"/>
          <p:nvPr/>
        </p:nvSpPr>
        <p:spPr>
          <a:xfrm>
            <a:off x="804671" y="1435607"/>
            <a:ext cx="4946904" cy="228600"/>
          </a:xfrm>
          <a:prstGeom prst="rect">
            <a:avLst/>
          </a:prstGeom>
          <a:noFill/>
        </p:spPr>
        <p:txBody>
          <a:bodyPr wrap="none" lIns="9144" rIns="9144" tIns="9144" bIns="9144" anchor="t">
            <a:spAutoFit/>
          </a:bodyPr>
          <a:lstStyle/>
          <a:p>
            <a:pPr algn="l">
              <a:spcAft>
                <a:spcPts val="0"/>
              </a:spcAft>
              <a:defRPr sz="1000" b="1">
                <a:solidFill>
                  <a:srgbClr val="0D1117"/>
                </a:solidFill>
                <a:latin typeface="Inter"/>
              </a:defRPr>
            </a:pPr>
            <a:r>
              <a:rPr>
                <a:latin typeface="Inter"/>
              </a:rPr>
              <a:t>The rival view (The Read)</a:t>
            </a:r>
          </a:p>
        </p:txBody>
      </p:sp>
      <p:sp>
        <p:nvSpPr>
          <p:cNvPr id="11" name="TextBox 10"/>
          <p:cNvSpPr txBox="1"/>
          <p:nvPr/>
        </p:nvSpPr>
        <p:spPr>
          <a:xfrm>
            <a:off x="804671" y="1719072"/>
            <a:ext cx="4946904" cy="1921562"/>
          </a:xfrm>
          <a:prstGeom prst="rect">
            <a:avLst/>
          </a:prstGeom>
          <a:noFill/>
        </p:spPr>
        <p:txBody>
          <a:bodyPr wrap="none" lIns="9144" rIns="9144" tIns="9144" bIns="9144" anchor="t">
            <a:spAutoFit/>
          </a:bodyPr>
          <a:lstStyle/>
          <a:p>
            <a:pPr algn="l">
              <a:spcAft>
                <a:spcPts val="0"/>
              </a:spcAft>
              <a:defRPr sz="950" b="0">
                <a:solidFill>
                  <a:srgbClr val="4A5563"/>
                </a:solidFill>
                <a:latin typeface="Inter"/>
              </a:defRPr>
            </a:pPr>
            <a:r>
              <a:rPr>
                <a:latin typeface="Inter"/>
              </a:rPr>
              <a:t>“The Gulf premium already lives in crude and has been fading … A domestic refinery or distillate-inventory squeeze could explain the margin spike just as well.” [S1]</a:t>
            </a:r>
          </a:p>
        </p:txBody>
      </p:sp>
      <p:sp>
        <p:nvSpPr>
          <p:cNvPr id="12" name="TextBox 11"/>
          <p:cNvSpPr txBox="1"/>
          <p:nvPr/>
        </p:nvSpPr>
        <p:spPr>
          <a:xfrm>
            <a:off x="640080" y="3841802"/>
            <a:ext cx="5239512" cy="2376117"/>
          </a:xfrm>
          <a:prstGeom prst="rect">
            <a:avLst/>
          </a:prstGeom>
          <a:noFill/>
        </p:spPr>
        <p:txBody>
          <a:bodyPr wrap="none" lIns="9144" rIns="9144" tIns="9144" bIns="9144" anchor="t">
            <a:spAutoFit/>
          </a:bodyPr>
          <a:lstStyle/>
          <a:p>
            <a:pPr algn="l">
              <a:spcAft>
                <a:spcPts val="0"/>
              </a:spcAft>
              <a:defRPr sz="1050" b="0">
                <a:solidFill>
                  <a:srgbClr val="0D1117"/>
                </a:solidFill>
                <a:latin typeface="Inter"/>
              </a:defRPr>
            </a:pPr>
            <a:r>
              <a:rPr>
                <a:latin typeface="Inter"/>
              </a:rPr>
              <a:t>•  No post-report reading of tanker transits, war-risk premia or Brent backwardation yet separates the two explanations [S1].</a:t>
            </a:r>
          </a:p>
        </p:txBody>
      </p:sp>
      <p:sp>
        <p:nvSpPr>
          <p:cNvPr id="13" name="Rectangle 12"/>
          <p:cNvSpPr/>
          <p:nvPr/>
        </p:nvSpPr>
        <p:spPr>
          <a:xfrm>
            <a:off x="6080760" y="1325880"/>
            <a:ext cx="9144" cy="4892040"/>
          </a:xfrm>
          <a:prstGeom prst="rect">
            <a:avLst/>
          </a:prstGeom>
          <a:solidFill>
            <a:srgbClr val="E3E7EC"/>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4" name="TextBox 13"/>
          <p:cNvSpPr txBox="1"/>
          <p:nvPr/>
        </p:nvSpPr>
        <p:spPr>
          <a:xfrm>
            <a:off x="6309360" y="1325880"/>
            <a:ext cx="5239512" cy="201168"/>
          </a:xfrm>
          <a:prstGeom prst="rect">
            <a:avLst/>
          </a:prstGeom>
          <a:noFill/>
        </p:spPr>
        <p:txBody>
          <a:bodyPr wrap="none" lIns="9144" rIns="9144" tIns="9144" bIns="9144" anchor="t">
            <a:spAutoFit/>
          </a:bodyPr>
          <a:lstStyle/>
          <a:p>
            <a:pPr algn="l">
              <a:spcAft>
                <a:spcPts val="0"/>
              </a:spcAft>
              <a:defRPr sz="720" b="1">
                <a:solidFill>
                  <a:srgbClr val="4A5563"/>
                </a:solidFill>
                <a:latin typeface="Inter"/>
              </a:defRPr>
            </a:pPr>
            <a:r>
              <a:rPr>
                <a:latin typeface="Inter"/>
              </a:rPr>
              <a:t>LEVELS THE READ IS WATCHING</a:t>
            </a:r>
          </a:p>
        </p:txBody>
      </p:sp>
      <p:graphicFrame>
        <p:nvGraphicFramePr>
          <p:cNvPr id="15" name="Table 14"/>
          <p:cNvGraphicFramePr>
            <a:graphicFrameLocks noGrp="1"/>
          </p:cNvGraphicFramePr>
          <p:nvPr/>
        </p:nvGraphicFramePr>
        <p:xfrm>
          <a:off x="6309360" y="1600200"/>
          <a:ext cx="5239512" cy="4416552"/>
        </p:xfrm>
        <a:graphic>
          <a:graphicData uri="http://schemas.openxmlformats.org/drawingml/2006/table">
            <a:tbl>
              <a:tblPr firstRow="1" bandRow="1">
                <a:tableStyleId>{5C22544A-7EE6-4342-B048-85BDC9FD1C3A}</a:tableStyleId>
              </a:tblPr>
              <a:tblGrid>
                <a:gridCol w="2619756"/>
                <a:gridCol w="2619756"/>
              </a:tblGrid>
              <a:tr h="1472184">
                <a:tc>
                  <a:txBody>
                    <a:bodyPr/>
                    <a:lstStyle/>
                    <a:p>
                      <a:pPr>
                        <a:defRPr sz="750" b="1">
                          <a:solidFill>
                            <a:srgbClr val="FFFFFF"/>
                          </a:solidFill>
                          <a:latin typeface="Inter"/>
                        </a:defRPr>
                      </a:pPr>
                      <a:r>
                        <a:rPr>
                          <a:latin typeface="Inter"/>
                        </a:rPr>
                        <a:t>Gulf diesel crack vs Brent</a:t>
                      </a:r>
                    </a:p>
                  </a:txBody>
                  <a:tcPr marL="54864" marR="54864" marT="27432" marB="27432" anchor="ctr">
                    <a:solidFill>
                      <a:srgbClr val="0D1117"/>
                    </a:solidFill>
                  </a:tcPr>
                </a:tc>
                <a:tc>
                  <a:txBody>
                    <a:bodyPr/>
                    <a:lstStyle/>
                    <a:p>
                      <a:pPr>
                        <a:defRPr sz="750" b="1">
                          <a:solidFill>
                            <a:srgbClr val="FFFFFF"/>
                          </a:solidFill>
                          <a:latin typeface="Inter"/>
                        </a:defRPr>
                      </a:pPr>
                      <a:r>
                        <a:rPr>
                          <a:latin typeface="Inter"/>
                        </a:rPr>
                        <a:t>Reading</a:t>
                      </a:r>
                    </a:p>
                  </a:txBody>
                  <a:tcPr marL="54864" marR="54864" marT="27432" marB="27432" anchor="ctr">
                    <a:solidFill>
                      <a:srgbClr val="0D1117"/>
                    </a:solidFill>
                  </a:tcPr>
                </a:tc>
              </a:tr>
              <a:tr h="1472184">
                <a:tc>
                  <a:txBody>
                    <a:bodyPr/>
                    <a:lstStyle/>
                    <a:p>
                      <a:pPr>
                        <a:defRPr sz="800" b="1">
                          <a:solidFill>
                            <a:srgbClr val="0D1117"/>
                          </a:solidFill>
                          <a:latin typeface="Inter"/>
                        </a:defRPr>
                      </a:pPr>
                      <a:r>
                        <a:rPr>
                          <a:latin typeface="Inter"/>
                        </a:rPr>
                        <a:t>$102/bbl or higher by 2026-10-14</a:t>
                      </a:r>
                    </a:p>
                  </a:txBody>
                  <a:tcPr marL="54864" marR="54864" marT="27432" marB="27432" anchor="ctr">
                    <a:solidFill>
                      <a:srgbClr val="FFFFFF"/>
                    </a:solidFill>
                  </a:tcPr>
                </a:tc>
                <a:tc>
                  <a:txBody>
                    <a:bodyPr/>
                    <a:lstStyle/>
                    <a:p>
                      <a:pPr>
                        <a:defRPr sz="800" b="0">
                          <a:solidFill>
                            <a:srgbClr val="0D1117"/>
                          </a:solidFill>
                          <a:latin typeface="Inter"/>
                        </a:defRPr>
                      </a:pPr>
                      <a:r>
                        <a:rPr>
                          <a:latin typeface="Inter"/>
                        </a:rPr>
                        <a:t>Refined products carry the Gulf premium</a:t>
                      </a:r>
                    </a:p>
                  </a:txBody>
                  <a:tcPr marL="54864" marR="54864" marT="27432" marB="27432" anchor="ctr">
                    <a:solidFill>
                      <a:srgbClr val="FFFFFF"/>
                    </a:solidFill>
                  </a:tcPr>
                </a:tc>
              </a:tr>
              <a:tr h="1472184">
                <a:tc>
                  <a:txBody>
                    <a:bodyPr/>
                    <a:lstStyle/>
                    <a:p>
                      <a:pPr>
                        <a:defRPr sz="800" b="1">
                          <a:solidFill>
                            <a:srgbClr val="0D1117"/>
                          </a:solidFill>
                          <a:latin typeface="Inter"/>
                        </a:defRPr>
                      </a:pPr>
                      <a:r>
                        <a:rPr>
                          <a:latin typeface="Inter"/>
                        </a:rPr>
                        <a:t>$78/bbl or lower by 2026-10-14</a:t>
                      </a:r>
                    </a:p>
                  </a:txBody>
                  <a:tcPr marL="54864" marR="54864" marT="27432" marB="27432" anchor="ctr">
                    <a:solidFill>
                      <a:srgbClr val="F5F7F9"/>
                    </a:solidFill>
                  </a:tcPr>
                </a:tc>
                <a:tc>
                  <a:txBody>
                    <a:bodyPr/>
                    <a:lstStyle/>
                    <a:p>
                      <a:pPr>
                        <a:defRPr sz="800" b="0">
                          <a:solidFill>
                            <a:srgbClr val="0D1117"/>
                          </a:solidFill>
                          <a:latin typeface="Inter"/>
                        </a:defRPr>
                      </a:pPr>
                      <a:r>
                        <a:rPr>
                          <a:latin typeface="Inter"/>
                        </a:rPr>
                        <a:t>Spike transitory; favours crude-or-fading view</a:t>
                      </a:r>
                    </a:p>
                  </a:txBody>
                  <a:tcPr marL="54864" marR="54864" marT="27432" marB="27432" anchor="ctr">
                    <a:solidFill>
                      <a:srgbClr val="F5F7F9"/>
                    </a:solidFill>
                  </a:tcPr>
                </a:tc>
              </a:tr>
            </a:tbl>
          </a:graphicData>
        </a:graphic>
      </p:graphicFrame>
      <p:sp>
        <p:nvSpPr>
          <p:cNvPr id="16" name="TextBox 15"/>
          <p:cNvSpPr txBox="1"/>
          <p:nvPr/>
        </p:nvSpPr>
        <p:spPr>
          <a:xfrm>
            <a:off x="6309360" y="6035040"/>
            <a:ext cx="5239512" cy="164592"/>
          </a:xfrm>
          <a:prstGeom prst="rect">
            <a:avLst/>
          </a:prstGeom>
          <a:noFill/>
        </p:spPr>
        <p:txBody>
          <a:bodyPr wrap="none" lIns="9144" rIns="9144" tIns="9144" bIns="9144" anchor="t">
            <a:spAutoFit/>
          </a:bodyPr>
          <a:lstStyle/>
          <a:p>
            <a:pPr algn="l">
              <a:spcAft>
                <a:spcPts val="0"/>
              </a:spcAft>
              <a:defRPr sz="680" b="0">
                <a:solidFill>
                  <a:srgbClr val="8A94A1"/>
                </a:solidFill>
                <a:latin typeface="Inter"/>
              </a:defRPr>
            </a:pPr>
            <a:r>
              <a:rPr>
                <a:latin typeface="Inter"/>
              </a:rPr>
              <a:t>Levels from The Read's monitoring unit [S1]; current level not restated here because it appears only in prose.</a:t>
            </a:r>
          </a:p>
        </p:txBody>
      </p:sp>
      <p:sp>
        <p:nvSpPr>
          <p:cNvPr id="17" name="Rectangle 16"/>
          <p:cNvSpPr/>
          <p:nvPr/>
        </p:nvSpPr>
        <p:spPr>
          <a:xfrm>
            <a:off x="640080" y="5806440"/>
            <a:ext cx="10908792" cy="502920"/>
          </a:xfrm>
          <a:prstGeom prst="rect">
            <a:avLst/>
          </a:prstGeom>
          <a:solidFill>
            <a:srgbClr val="F5F7F9"/>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8" name="Rectangle 17"/>
          <p:cNvSpPr/>
          <p:nvPr/>
        </p:nvSpPr>
        <p:spPr>
          <a:xfrm>
            <a:off x="640080" y="5806440"/>
            <a:ext cx="54864" cy="502920"/>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9" name="TextBox 18"/>
          <p:cNvSpPr txBox="1"/>
          <p:nvPr/>
        </p:nvSpPr>
        <p:spPr>
          <a:xfrm>
            <a:off x="804671" y="5916168"/>
            <a:ext cx="10616184" cy="228600"/>
          </a:xfrm>
          <a:prstGeom prst="rect">
            <a:avLst/>
          </a:prstGeom>
          <a:noFill/>
        </p:spPr>
        <p:txBody>
          <a:bodyPr wrap="none" lIns="9144" rIns="9144" tIns="9144" bIns="9144" anchor="t">
            <a:spAutoFit/>
          </a:bodyPr>
          <a:lstStyle/>
          <a:p>
            <a:pPr algn="l">
              <a:spcAft>
                <a:spcPts val="0"/>
              </a:spcAft>
              <a:defRPr sz="1000" b="1">
                <a:solidFill>
                  <a:srgbClr val="0D1117"/>
                </a:solidFill>
                <a:latin typeface="Inter"/>
              </a:defRPr>
            </a:pPr>
            <a:r>
              <a:rPr>
                <a:latin typeface="Inter"/>
              </a:rPr>
              <a:t>Takeaway</a:t>
            </a:r>
          </a:p>
        </p:txBody>
      </p:sp>
      <p:sp>
        <p:nvSpPr>
          <p:cNvPr id="20" name="TextBox 19"/>
          <p:cNvSpPr txBox="1"/>
          <p:nvPr/>
        </p:nvSpPr>
        <p:spPr>
          <a:xfrm>
            <a:off x="804671" y="6199631"/>
            <a:ext cx="10616184" cy="228600"/>
          </a:xfrm>
          <a:prstGeom prst="rect">
            <a:avLst/>
          </a:prstGeom>
          <a:noFill/>
        </p:spPr>
        <p:txBody>
          <a:bodyPr wrap="none" lIns="9144" rIns="9144" tIns="9144" bIns="9144" anchor="t">
            <a:spAutoFit/>
          </a:bodyPr>
          <a:lstStyle/>
          <a:p>
            <a:pPr algn="l">
              <a:spcAft>
                <a:spcPts val="0"/>
              </a:spcAft>
              <a:defRPr sz="950" b="0">
                <a:solidFill>
                  <a:srgbClr val="4A5563"/>
                </a:solidFill>
                <a:latin typeface="Inter"/>
              </a:defRPr>
            </a:pPr>
            <a:r>
              <a:rPr>
                <a:latin typeface="Inter"/>
              </a:rPr>
              <a:t>Treat the diesel thesis as a hypothesis with explicit tests, not a call.</a:t>
            </a:r>
          </a:p>
        </p:txBody>
      </p:sp>
      <p:sp>
        <p:nvSpPr>
          <p:cNvPr id="21" name="Rectangle 20"/>
          <p:cNvSpPr/>
          <p:nvPr/>
        </p:nvSpPr>
        <p:spPr>
          <a:xfrm>
            <a:off x="640080" y="6446520"/>
            <a:ext cx="10908792" cy="9144"/>
          </a:xfrm>
          <a:prstGeom prst="rect">
            <a:avLst/>
          </a:prstGeom>
          <a:solidFill>
            <a:srgbClr val="E3E7EC"/>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22" name="TextBox 21"/>
          <p:cNvSpPr txBox="1"/>
          <p:nvPr/>
        </p:nvSpPr>
        <p:spPr>
          <a:xfrm>
            <a:off x="640080" y="6501384"/>
            <a:ext cx="4297680" cy="146304"/>
          </a:xfrm>
          <a:prstGeom prst="rect">
            <a:avLst/>
          </a:prstGeom>
          <a:noFill/>
        </p:spPr>
        <p:txBody>
          <a:bodyPr wrap="none" lIns="9144" rIns="9144" tIns="9144" bIns="9144" anchor="t">
            <a:spAutoFit/>
          </a:bodyPr>
          <a:lstStyle/>
          <a:p>
            <a:pPr algn="l">
              <a:spcAft>
                <a:spcPts val="0"/>
              </a:spcAft>
              <a:defRPr sz="650" b="0">
                <a:solidFill>
                  <a:srgbClr val="8A94A1"/>
                </a:solidFill>
                <a:latin typeface="Inter"/>
              </a:defRPr>
            </a:pPr>
            <a:r>
              <a:rPr>
                <a:latin typeface="Inter"/>
              </a:rPr>
              <a:t>Sources: S1</a:t>
            </a:r>
          </a:p>
        </p:txBody>
      </p:sp>
      <p:sp>
        <p:nvSpPr>
          <p:cNvPr id="23" name="TextBox 22"/>
          <p:cNvSpPr txBox="1"/>
          <p:nvPr/>
        </p:nvSpPr>
        <p:spPr>
          <a:xfrm>
            <a:off x="4480560" y="6501384"/>
            <a:ext cx="5303520" cy="146304"/>
          </a:xfrm>
          <a:prstGeom prst="rect">
            <a:avLst/>
          </a:prstGeom>
          <a:noFill/>
        </p:spPr>
        <p:txBody>
          <a:bodyPr wrap="none" lIns="9144" rIns="9144" tIns="9144" bIns="9144" anchor="t">
            <a:spAutoFit/>
          </a:bodyPr>
          <a:lstStyle/>
          <a:p>
            <a:pPr algn="ctr">
              <a:spcAft>
                <a:spcPts val="0"/>
              </a:spcAft>
              <a:defRPr sz="650" b="0">
                <a:solidFill>
                  <a:srgbClr val="8A94A1"/>
                </a:solidFill>
                <a:latin typeface="Inter"/>
              </a:defRPr>
            </a:pPr>
            <a:r>
              <a:rPr>
                <a:latin typeface="Inter"/>
              </a:rPr>
              <a:t>Confidential — prepared for internal investment use · Data as of 2026-10-02</a:t>
            </a:r>
          </a:p>
        </p:txBody>
      </p:sp>
      <p:sp>
        <p:nvSpPr>
          <p:cNvPr id="24" name="TextBox 23"/>
          <p:cNvSpPr txBox="1"/>
          <p:nvPr/>
        </p:nvSpPr>
        <p:spPr>
          <a:xfrm>
            <a:off x="10287000" y="6501384"/>
            <a:ext cx="1261872" cy="146304"/>
          </a:xfrm>
          <a:prstGeom prst="rect">
            <a:avLst/>
          </a:prstGeom>
          <a:noFill/>
        </p:spPr>
        <p:txBody>
          <a:bodyPr wrap="none" lIns="9144" rIns="9144" tIns="9144" bIns="9144" anchor="t">
            <a:spAutoFit/>
          </a:bodyPr>
          <a:lstStyle/>
          <a:p>
            <a:pPr algn="r">
              <a:spcAft>
                <a:spcPts val="0"/>
              </a:spcAft>
              <a:defRPr sz="650" b="0">
                <a:solidFill>
                  <a:srgbClr val="8A94A1"/>
                </a:solidFill>
                <a:latin typeface="Inter"/>
              </a:defRPr>
            </a:pPr>
            <a:r>
              <a:rPr>
                <a:latin typeface="Inter"/>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3" name="TextBox 2"/>
          <p:cNvSpPr txBox="1"/>
          <p:nvPr/>
        </p:nvSpPr>
        <p:spPr>
          <a:xfrm>
            <a:off x="640080" y="329184"/>
            <a:ext cx="9875520" cy="182880"/>
          </a:xfrm>
          <a:prstGeom prst="rect">
            <a:avLst/>
          </a:prstGeom>
          <a:noFill/>
        </p:spPr>
        <p:txBody>
          <a:bodyPr wrap="none" lIns="9144" rIns="9144" tIns="9144" bIns="9144" anchor="t">
            <a:spAutoFit/>
          </a:bodyPr>
          <a:lstStyle/>
          <a:p>
            <a:pPr algn="l">
              <a:spcAft>
                <a:spcPts val="0"/>
              </a:spcAft>
              <a:defRPr sz="750" b="1">
                <a:solidFill>
                  <a:srgbClr val="4F6B00"/>
                </a:solidFill>
                <a:latin typeface="Inter"/>
              </a:defRPr>
            </a:pPr>
            <a:r>
              <a:rPr>
                <a:latin typeface="Inter"/>
              </a:rPr>
              <a:t>CALENDAR · NEXT 30 DAYS [S4]</a:t>
            </a:r>
          </a:p>
        </p:txBody>
      </p:sp>
      <p:sp>
        <p:nvSpPr>
          <p:cNvPr id="4" name="TextBox 3"/>
          <p:cNvSpPr txBox="1"/>
          <p:nvPr/>
        </p:nvSpPr>
        <p:spPr>
          <a:xfrm>
            <a:off x="640080" y="566928"/>
            <a:ext cx="10058400" cy="530352"/>
          </a:xfrm>
          <a:prstGeom prst="rect">
            <a:avLst/>
          </a:prstGeom>
          <a:noFill/>
        </p:spPr>
        <p:txBody>
          <a:bodyPr wrap="none" lIns="9144" rIns="9144" tIns="9144" bIns="9144" anchor="t">
            <a:spAutoFit/>
          </a:bodyPr>
          <a:lstStyle/>
          <a:p>
            <a:pPr algn="l">
              <a:spcAft>
                <a:spcPts val="0"/>
              </a:spcAft>
              <a:defRPr sz="2300" b="1">
                <a:solidFill>
                  <a:srgbClr val="0D1117"/>
                </a:solidFill>
                <a:latin typeface="Inter"/>
              </a:defRPr>
            </a:pPr>
            <a:r>
              <a:rPr>
                <a:latin typeface="Inter"/>
              </a:rPr>
              <a:t>A crowded window: CPI, FOMC, ECB and BOJ inside two weeks</a:t>
            </a:r>
          </a:p>
        </p:txBody>
      </p:sp>
      <p:sp>
        <p:nvSpPr>
          <p:cNvPr id="5" name="Rectangle 4"/>
          <p:cNvSpPr/>
          <p:nvPr/>
        </p:nvSpPr>
        <p:spPr>
          <a:xfrm>
            <a:off x="640080" y="1115568"/>
            <a:ext cx="10908792" cy="18288"/>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6" name="Rectangle 5"/>
          <p:cNvSpPr/>
          <p:nvPr/>
        </p:nvSpPr>
        <p:spPr>
          <a:xfrm>
            <a:off x="11018520" y="502920"/>
            <a:ext cx="530352" cy="393192"/>
          </a:xfrm>
          <a:prstGeom prst="rect">
            <a:avLst/>
          </a:prstGeom>
          <a:solidFill>
            <a:srgbClr val="C6F432"/>
          </a:solidFill>
          <a:ln>
            <a:solidFill>
              <a:srgbClr val="C6F432"/>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7" name="TextBox 6"/>
          <p:cNvSpPr txBox="1"/>
          <p:nvPr/>
        </p:nvSpPr>
        <p:spPr>
          <a:xfrm>
            <a:off x="11045952" y="557784"/>
            <a:ext cx="475488" cy="182880"/>
          </a:xfrm>
          <a:prstGeom prst="rect">
            <a:avLst/>
          </a:prstGeom>
          <a:noFill/>
        </p:spPr>
        <p:txBody>
          <a:bodyPr wrap="none" lIns="9144" rIns="9144" tIns="9144" bIns="9144" anchor="t">
            <a:spAutoFit/>
          </a:bodyPr>
          <a:lstStyle/>
          <a:p>
            <a:pPr algn="ctr">
              <a:spcAft>
                <a:spcPts val="0"/>
              </a:spcAft>
              <a:defRPr sz="1000" b="1">
                <a:solidFill>
                  <a:srgbClr val="0D1117"/>
                </a:solidFill>
                <a:latin typeface="Inter"/>
              </a:defRPr>
            </a:pPr>
            <a:r>
              <a:rPr>
                <a:latin typeface="Inter"/>
              </a:rPr>
              <a:t>07</a:t>
            </a:r>
          </a:p>
        </p:txBody>
      </p:sp>
      <p:sp>
        <p:nvSpPr>
          <p:cNvPr id="8" name="TextBox 7"/>
          <p:cNvSpPr txBox="1"/>
          <p:nvPr/>
        </p:nvSpPr>
        <p:spPr>
          <a:xfrm>
            <a:off x="640080" y="1325880"/>
            <a:ext cx="10908792" cy="201168"/>
          </a:xfrm>
          <a:prstGeom prst="rect">
            <a:avLst/>
          </a:prstGeom>
          <a:noFill/>
        </p:spPr>
        <p:txBody>
          <a:bodyPr wrap="none" lIns="9144" rIns="9144" tIns="9144" bIns="9144" anchor="t">
            <a:spAutoFit/>
          </a:bodyPr>
          <a:lstStyle/>
          <a:p>
            <a:pPr algn="l">
              <a:spcAft>
                <a:spcPts val="0"/>
              </a:spcAft>
              <a:defRPr sz="720" b="1">
                <a:solidFill>
                  <a:srgbClr val="4A5563"/>
                </a:solidFill>
                <a:latin typeface="Inter"/>
              </a:defRPr>
            </a:pPr>
            <a:r>
              <a:rPr>
                <a:latin typeface="Inter"/>
              </a:rPr>
              <a:t>HIGH- AND MEDIUM-IMPORTANCE EVENTS</a:t>
            </a:r>
          </a:p>
        </p:txBody>
      </p:sp>
      <p:sp>
        <p:nvSpPr>
          <p:cNvPr id="9" name="Rectangle 8"/>
          <p:cNvSpPr/>
          <p:nvPr/>
        </p:nvSpPr>
        <p:spPr>
          <a:xfrm>
            <a:off x="1874519" y="1673352"/>
            <a:ext cx="22860" cy="4507992"/>
          </a:xfrm>
          <a:prstGeom prst="rect">
            <a:avLst/>
          </a:prstGeom>
          <a:solidFill>
            <a:srgbClr val="E3E7EC"/>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0" name="Oval 9"/>
          <p:cNvSpPr/>
          <p:nvPr/>
        </p:nvSpPr>
        <p:spPr>
          <a:xfrm>
            <a:off x="1824228" y="1834351"/>
            <a:ext cx="128016" cy="128016"/>
          </a:xfrm>
          <a:prstGeom prst="ellipse">
            <a:avLst/>
          </a:prstGeom>
          <a:solidFill>
            <a:srgbClr val="F2A93B"/>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1" name="TextBox 10"/>
          <p:cNvSpPr txBox="1"/>
          <p:nvPr/>
        </p:nvSpPr>
        <p:spPr>
          <a:xfrm>
            <a:off x="640080" y="1673352"/>
            <a:ext cx="1106424" cy="274320"/>
          </a:xfrm>
          <a:prstGeom prst="rect">
            <a:avLst/>
          </a:prstGeom>
          <a:noFill/>
        </p:spPr>
        <p:txBody>
          <a:bodyPr wrap="none" lIns="9144" rIns="9144" tIns="9144" bIns="9144" anchor="t">
            <a:spAutoFit/>
          </a:bodyPr>
          <a:lstStyle/>
          <a:p>
            <a:pPr algn="r">
              <a:spcAft>
                <a:spcPts val="0"/>
              </a:spcAft>
              <a:defRPr sz="750" b="1">
                <a:solidFill>
                  <a:srgbClr val="4A5563"/>
                </a:solidFill>
                <a:latin typeface="Inter"/>
              </a:defRPr>
            </a:pPr>
            <a:r>
              <a:rPr>
                <a:latin typeface="Inter"/>
              </a:rPr>
              <a:t>2026-10-05</a:t>
            </a:r>
          </a:p>
        </p:txBody>
      </p:sp>
      <p:sp>
        <p:nvSpPr>
          <p:cNvPr id="12" name="TextBox 11"/>
          <p:cNvSpPr txBox="1"/>
          <p:nvPr/>
        </p:nvSpPr>
        <p:spPr>
          <a:xfrm>
            <a:off x="2057400" y="1673352"/>
            <a:ext cx="9491472" cy="256032"/>
          </a:xfrm>
          <a:prstGeom prst="rect">
            <a:avLst/>
          </a:prstGeom>
          <a:noFill/>
        </p:spPr>
        <p:txBody>
          <a:bodyPr wrap="none" lIns="9144" rIns="9144" tIns="9144" bIns="9144" anchor="t">
            <a:spAutoFit/>
          </a:bodyPr>
          <a:lstStyle/>
          <a:p>
            <a:pPr algn="l">
              <a:spcAft>
                <a:spcPts val="0"/>
              </a:spcAft>
              <a:defRPr sz="950" b="1">
                <a:solidFill>
                  <a:srgbClr val="0D1117"/>
                </a:solidFill>
                <a:latin typeface="Inter"/>
              </a:defRPr>
            </a:pPr>
            <a:r>
              <a:rPr>
                <a:latin typeface="Inter"/>
              </a:rPr>
              <a:t>U.S. ISM Services PMI · High</a:t>
            </a:r>
          </a:p>
        </p:txBody>
      </p:sp>
      <p:sp>
        <p:nvSpPr>
          <p:cNvPr id="13" name="TextBox 12"/>
          <p:cNvSpPr txBox="1"/>
          <p:nvPr/>
        </p:nvSpPr>
        <p:spPr>
          <a:xfrm>
            <a:off x="2057400" y="1938528"/>
            <a:ext cx="9491472" cy="334879"/>
          </a:xfrm>
          <a:prstGeom prst="rect">
            <a:avLst/>
          </a:prstGeom>
          <a:noFill/>
        </p:spPr>
        <p:txBody>
          <a:bodyPr wrap="none" lIns="9144" rIns="9144" tIns="9144" bIns="9144" anchor="t">
            <a:spAutoFit/>
          </a:bodyPr>
          <a:lstStyle/>
          <a:p>
            <a:pPr algn="l">
              <a:spcAft>
                <a:spcPts val="0"/>
              </a:spcAft>
              <a:defRPr sz="850" b="0">
                <a:solidFill>
                  <a:srgbClr val="4A5563"/>
                </a:solidFill>
                <a:latin typeface="Inter"/>
              </a:defRPr>
            </a:pPr>
            <a:r>
              <a:rPr>
                <a:latin typeface="Inter"/>
              </a:rPr>
              <a:t>Sub-50 activity with rising prices would break the cooling path [S4].</a:t>
            </a:r>
          </a:p>
        </p:txBody>
      </p:sp>
      <p:sp>
        <p:nvSpPr>
          <p:cNvPr id="14" name="Oval 13"/>
          <p:cNvSpPr/>
          <p:nvPr/>
        </p:nvSpPr>
        <p:spPr>
          <a:xfrm>
            <a:off x="1824228" y="2478350"/>
            <a:ext cx="128016" cy="128016"/>
          </a:xfrm>
          <a:prstGeom prst="ellipse">
            <a:avLst/>
          </a:prstGeom>
          <a:solidFill>
            <a:srgbClr val="F2A93B"/>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5" name="TextBox 14"/>
          <p:cNvSpPr txBox="1"/>
          <p:nvPr/>
        </p:nvSpPr>
        <p:spPr>
          <a:xfrm>
            <a:off x="640080" y="2317350"/>
            <a:ext cx="1106424" cy="274320"/>
          </a:xfrm>
          <a:prstGeom prst="rect">
            <a:avLst/>
          </a:prstGeom>
          <a:noFill/>
        </p:spPr>
        <p:txBody>
          <a:bodyPr wrap="none" lIns="9144" rIns="9144" tIns="9144" bIns="9144" anchor="t">
            <a:spAutoFit/>
          </a:bodyPr>
          <a:lstStyle/>
          <a:p>
            <a:pPr algn="r">
              <a:spcAft>
                <a:spcPts val="0"/>
              </a:spcAft>
              <a:defRPr sz="750" b="1">
                <a:solidFill>
                  <a:srgbClr val="4A5563"/>
                </a:solidFill>
                <a:latin typeface="Inter"/>
              </a:defRPr>
            </a:pPr>
            <a:r>
              <a:rPr>
                <a:latin typeface="Inter"/>
              </a:rPr>
              <a:t>2026-10-14</a:t>
            </a:r>
          </a:p>
        </p:txBody>
      </p:sp>
      <p:sp>
        <p:nvSpPr>
          <p:cNvPr id="16" name="TextBox 15"/>
          <p:cNvSpPr txBox="1"/>
          <p:nvPr/>
        </p:nvSpPr>
        <p:spPr>
          <a:xfrm>
            <a:off x="2057400" y="2317350"/>
            <a:ext cx="9491472" cy="256032"/>
          </a:xfrm>
          <a:prstGeom prst="rect">
            <a:avLst/>
          </a:prstGeom>
          <a:noFill/>
        </p:spPr>
        <p:txBody>
          <a:bodyPr wrap="none" lIns="9144" rIns="9144" tIns="9144" bIns="9144" anchor="t">
            <a:spAutoFit/>
          </a:bodyPr>
          <a:lstStyle/>
          <a:p>
            <a:pPr algn="l">
              <a:spcAft>
                <a:spcPts val="0"/>
              </a:spcAft>
              <a:defRPr sz="950" b="1">
                <a:solidFill>
                  <a:srgbClr val="0D1117"/>
                </a:solidFill>
                <a:latin typeface="Inter"/>
              </a:defRPr>
            </a:pPr>
            <a:r>
              <a:rPr>
                <a:latin typeface="Inter"/>
              </a:rPr>
              <a:t>U.S. CPI · High</a:t>
            </a:r>
          </a:p>
        </p:txBody>
      </p:sp>
      <p:sp>
        <p:nvSpPr>
          <p:cNvPr id="17" name="TextBox 16"/>
          <p:cNvSpPr txBox="1"/>
          <p:nvPr/>
        </p:nvSpPr>
        <p:spPr>
          <a:xfrm>
            <a:off x="2057400" y="2582526"/>
            <a:ext cx="9491472" cy="334879"/>
          </a:xfrm>
          <a:prstGeom prst="rect">
            <a:avLst/>
          </a:prstGeom>
          <a:noFill/>
        </p:spPr>
        <p:txBody>
          <a:bodyPr wrap="none" lIns="9144" rIns="9144" tIns="9144" bIns="9144" anchor="t">
            <a:spAutoFit/>
          </a:bodyPr>
          <a:lstStyle/>
          <a:p>
            <a:pPr algn="l">
              <a:spcAft>
                <a:spcPts val="0"/>
              </a:spcAft>
              <a:defRPr sz="850" b="0">
                <a:solidFill>
                  <a:srgbClr val="4A5563"/>
                </a:solidFill>
                <a:latin typeface="Inter"/>
              </a:defRPr>
            </a:pPr>
            <a:r>
              <a:rPr>
                <a:latin typeface="Inter"/>
              </a:rPr>
              <a:t>Services re-acceleration would lift front-end yields [S4].</a:t>
            </a:r>
          </a:p>
        </p:txBody>
      </p:sp>
      <p:sp>
        <p:nvSpPr>
          <p:cNvPr id="18" name="Oval 17"/>
          <p:cNvSpPr/>
          <p:nvPr/>
        </p:nvSpPr>
        <p:spPr>
          <a:xfrm>
            <a:off x="1824228" y="3122349"/>
            <a:ext cx="128016" cy="128016"/>
          </a:xfrm>
          <a:prstGeom prst="ellipse">
            <a:avLst/>
          </a:prstGeom>
          <a:solidFill>
            <a:srgbClr val="F2A93B"/>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9" name="TextBox 18"/>
          <p:cNvSpPr txBox="1"/>
          <p:nvPr/>
        </p:nvSpPr>
        <p:spPr>
          <a:xfrm>
            <a:off x="640080" y="2961349"/>
            <a:ext cx="1106424" cy="274320"/>
          </a:xfrm>
          <a:prstGeom prst="rect">
            <a:avLst/>
          </a:prstGeom>
          <a:noFill/>
        </p:spPr>
        <p:txBody>
          <a:bodyPr wrap="none" lIns="9144" rIns="9144" tIns="9144" bIns="9144" anchor="t">
            <a:spAutoFit/>
          </a:bodyPr>
          <a:lstStyle/>
          <a:p>
            <a:pPr algn="r">
              <a:spcAft>
                <a:spcPts val="0"/>
              </a:spcAft>
              <a:defRPr sz="750" b="1">
                <a:solidFill>
                  <a:srgbClr val="4A5563"/>
                </a:solidFill>
                <a:latin typeface="Inter"/>
              </a:defRPr>
            </a:pPr>
            <a:r>
              <a:rPr>
                <a:latin typeface="Inter"/>
              </a:rPr>
              <a:t>2026-10-15</a:t>
            </a:r>
          </a:p>
        </p:txBody>
      </p:sp>
      <p:sp>
        <p:nvSpPr>
          <p:cNvPr id="20" name="TextBox 19"/>
          <p:cNvSpPr txBox="1"/>
          <p:nvPr/>
        </p:nvSpPr>
        <p:spPr>
          <a:xfrm>
            <a:off x="2057400" y="2961349"/>
            <a:ext cx="9491472" cy="256032"/>
          </a:xfrm>
          <a:prstGeom prst="rect">
            <a:avLst/>
          </a:prstGeom>
          <a:noFill/>
        </p:spPr>
        <p:txBody>
          <a:bodyPr wrap="none" lIns="9144" rIns="9144" tIns="9144" bIns="9144" anchor="t">
            <a:spAutoFit/>
          </a:bodyPr>
          <a:lstStyle/>
          <a:p>
            <a:pPr algn="l">
              <a:spcAft>
                <a:spcPts val="0"/>
              </a:spcAft>
              <a:defRPr sz="950" b="1">
                <a:solidFill>
                  <a:srgbClr val="0D1117"/>
                </a:solidFill>
                <a:latin typeface="Inter"/>
              </a:defRPr>
            </a:pPr>
            <a:r>
              <a:rPr>
                <a:latin typeface="Inter"/>
              </a:rPr>
              <a:t>U.S. retail sales and PPI · High</a:t>
            </a:r>
          </a:p>
        </p:txBody>
      </p:sp>
      <p:sp>
        <p:nvSpPr>
          <p:cNvPr id="21" name="TextBox 20"/>
          <p:cNvSpPr txBox="1"/>
          <p:nvPr/>
        </p:nvSpPr>
        <p:spPr>
          <a:xfrm>
            <a:off x="2057400" y="3226525"/>
            <a:ext cx="9491472" cy="334879"/>
          </a:xfrm>
          <a:prstGeom prst="rect">
            <a:avLst/>
          </a:prstGeom>
          <a:noFill/>
        </p:spPr>
        <p:txBody>
          <a:bodyPr wrap="none" lIns="9144" rIns="9144" tIns="9144" bIns="9144" anchor="t">
            <a:spAutoFit/>
          </a:bodyPr>
          <a:lstStyle/>
          <a:p>
            <a:pPr algn="l">
              <a:spcAft>
                <a:spcPts val="0"/>
              </a:spcAft>
              <a:defRPr sz="850" b="0">
                <a:solidFill>
                  <a:srgbClr val="4A5563"/>
                </a:solidFill>
                <a:latin typeface="Inter"/>
              </a:defRPr>
            </a:pPr>
            <a:r>
              <a:rPr>
                <a:latin typeface="Inter"/>
              </a:rPr>
              <a:t>Watch the control group for real consumption and PPI margins for pass-through [S4].</a:t>
            </a:r>
          </a:p>
        </p:txBody>
      </p:sp>
      <p:sp>
        <p:nvSpPr>
          <p:cNvPr id="22" name="Oval 21"/>
          <p:cNvSpPr/>
          <p:nvPr/>
        </p:nvSpPr>
        <p:spPr>
          <a:xfrm>
            <a:off x="1824228" y="3766348"/>
            <a:ext cx="128016" cy="128016"/>
          </a:xfrm>
          <a:prstGeom prst="ellipse">
            <a:avLst/>
          </a:prstGeom>
          <a:solidFill>
            <a:srgbClr val="F2A93B"/>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23" name="TextBox 22"/>
          <p:cNvSpPr txBox="1"/>
          <p:nvPr/>
        </p:nvSpPr>
        <p:spPr>
          <a:xfrm>
            <a:off x="640080" y="3605348"/>
            <a:ext cx="1106424" cy="274320"/>
          </a:xfrm>
          <a:prstGeom prst="rect">
            <a:avLst/>
          </a:prstGeom>
          <a:noFill/>
        </p:spPr>
        <p:txBody>
          <a:bodyPr wrap="none" lIns="9144" rIns="9144" tIns="9144" bIns="9144" anchor="t">
            <a:spAutoFit/>
          </a:bodyPr>
          <a:lstStyle/>
          <a:p>
            <a:pPr algn="r">
              <a:spcAft>
                <a:spcPts val="0"/>
              </a:spcAft>
              <a:defRPr sz="750" b="1">
                <a:solidFill>
                  <a:srgbClr val="4A5563"/>
                </a:solidFill>
                <a:latin typeface="Inter"/>
              </a:defRPr>
            </a:pPr>
            <a:r>
              <a:rPr>
                <a:latin typeface="Inter"/>
              </a:rPr>
              <a:t>2026-10-28</a:t>
            </a:r>
          </a:p>
        </p:txBody>
      </p:sp>
      <p:sp>
        <p:nvSpPr>
          <p:cNvPr id="24" name="TextBox 23"/>
          <p:cNvSpPr txBox="1"/>
          <p:nvPr/>
        </p:nvSpPr>
        <p:spPr>
          <a:xfrm>
            <a:off x="2057400" y="3605348"/>
            <a:ext cx="9491472" cy="256032"/>
          </a:xfrm>
          <a:prstGeom prst="rect">
            <a:avLst/>
          </a:prstGeom>
          <a:noFill/>
        </p:spPr>
        <p:txBody>
          <a:bodyPr wrap="none" lIns="9144" rIns="9144" tIns="9144" bIns="9144" anchor="t">
            <a:spAutoFit/>
          </a:bodyPr>
          <a:lstStyle/>
          <a:p>
            <a:pPr algn="l">
              <a:spcAft>
                <a:spcPts val="0"/>
              </a:spcAft>
              <a:defRPr sz="950" b="1">
                <a:solidFill>
                  <a:srgbClr val="0D1117"/>
                </a:solidFill>
                <a:latin typeface="Inter"/>
              </a:defRPr>
            </a:pPr>
            <a:r>
              <a:rPr>
                <a:latin typeface="Inter"/>
              </a:rPr>
              <a:t>FOMC decision · High</a:t>
            </a:r>
          </a:p>
        </p:txBody>
      </p:sp>
      <p:sp>
        <p:nvSpPr>
          <p:cNvPr id="25" name="TextBox 24"/>
          <p:cNvSpPr txBox="1"/>
          <p:nvPr/>
        </p:nvSpPr>
        <p:spPr>
          <a:xfrm>
            <a:off x="2057400" y="3870524"/>
            <a:ext cx="9491472" cy="334879"/>
          </a:xfrm>
          <a:prstGeom prst="rect">
            <a:avLst/>
          </a:prstGeom>
          <a:noFill/>
        </p:spPr>
        <p:txBody>
          <a:bodyPr wrap="none" lIns="9144" rIns="9144" tIns="9144" bIns="9144" anchor="t">
            <a:spAutoFit/>
          </a:bodyPr>
          <a:lstStyle/>
          <a:p>
            <a:pPr algn="l">
              <a:spcAft>
                <a:spcPts val="0"/>
              </a:spcAft>
              <a:defRPr sz="850" b="0">
                <a:solidFill>
                  <a:srgbClr val="4A5563"/>
                </a:solidFill>
                <a:latin typeface="Inter"/>
              </a:defRPr>
            </a:pPr>
            <a:r>
              <a:rPr>
                <a:latin typeface="Inter"/>
              </a:rPr>
              <a:t>Projections and the press conference set the front-end path [S4].</a:t>
            </a:r>
          </a:p>
        </p:txBody>
      </p:sp>
      <p:sp>
        <p:nvSpPr>
          <p:cNvPr id="26" name="Oval 25"/>
          <p:cNvSpPr/>
          <p:nvPr/>
        </p:nvSpPr>
        <p:spPr>
          <a:xfrm>
            <a:off x="1824228" y="4410347"/>
            <a:ext cx="128016" cy="128016"/>
          </a:xfrm>
          <a:prstGeom prst="ellipse">
            <a:avLst/>
          </a:prstGeom>
          <a:solidFill>
            <a:srgbClr val="F2A93B"/>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27" name="TextBox 26"/>
          <p:cNvSpPr txBox="1"/>
          <p:nvPr/>
        </p:nvSpPr>
        <p:spPr>
          <a:xfrm>
            <a:off x="640080" y="4249347"/>
            <a:ext cx="1106424" cy="274320"/>
          </a:xfrm>
          <a:prstGeom prst="rect">
            <a:avLst/>
          </a:prstGeom>
          <a:noFill/>
        </p:spPr>
        <p:txBody>
          <a:bodyPr wrap="none" lIns="9144" rIns="9144" tIns="9144" bIns="9144" anchor="t">
            <a:spAutoFit/>
          </a:bodyPr>
          <a:lstStyle/>
          <a:p>
            <a:pPr algn="r">
              <a:spcAft>
                <a:spcPts val="0"/>
              </a:spcAft>
              <a:defRPr sz="750" b="1">
                <a:solidFill>
                  <a:srgbClr val="4A5563"/>
                </a:solidFill>
                <a:latin typeface="Inter"/>
              </a:defRPr>
            </a:pPr>
            <a:r>
              <a:rPr>
                <a:latin typeface="Inter"/>
              </a:rPr>
              <a:t>2026-10-29</a:t>
            </a:r>
          </a:p>
        </p:txBody>
      </p:sp>
      <p:sp>
        <p:nvSpPr>
          <p:cNvPr id="28" name="TextBox 27"/>
          <p:cNvSpPr txBox="1"/>
          <p:nvPr/>
        </p:nvSpPr>
        <p:spPr>
          <a:xfrm>
            <a:off x="2057400" y="4249347"/>
            <a:ext cx="9491472" cy="256032"/>
          </a:xfrm>
          <a:prstGeom prst="rect">
            <a:avLst/>
          </a:prstGeom>
          <a:noFill/>
        </p:spPr>
        <p:txBody>
          <a:bodyPr wrap="none" lIns="9144" rIns="9144" tIns="9144" bIns="9144" anchor="t">
            <a:spAutoFit/>
          </a:bodyPr>
          <a:lstStyle/>
          <a:p>
            <a:pPr algn="l">
              <a:spcAft>
                <a:spcPts val="0"/>
              </a:spcAft>
              <a:defRPr sz="950" b="1">
                <a:solidFill>
                  <a:srgbClr val="0D1117"/>
                </a:solidFill>
                <a:latin typeface="Inter"/>
              </a:defRPr>
            </a:pPr>
            <a:r>
              <a:rPr>
                <a:latin typeface="Inter"/>
              </a:rPr>
              <a:t>U.S. GDP, PCE and ECB decision · High</a:t>
            </a:r>
          </a:p>
        </p:txBody>
      </p:sp>
      <p:sp>
        <p:nvSpPr>
          <p:cNvPr id="29" name="TextBox 28"/>
          <p:cNvSpPr txBox="1"/>
          <p:nvPr/>
        </p:nvSpPr>
        <p:spPr>
          <a:xfrm>
            <a:off x="2057400" y="4514523"/>
            <a:ext cx="9491472" cy="334879"/>
          </a:xfrm>
          <a:prstGeom prst="rect">
            <a:avLst/>
          </a:prstGeom>
          <a:noFill/>
        </p:spPr>
        <p:txBody>
          <a:bodyPr wrap="none" lIns="9144" rIns="9144" tIns="9144" bIns="9144" anchor="t">
            <a:spAutoFit/>
          </a:bodyPr>
          <a:lstStyle/>
          <a:p>
            <a:pPr algn="l">
              <a:spcAft>
                <a:spcPts val="0"/>
              </a:spcAft>
              <a:defRPr sz="850" b="0">
                <a:solidFill>
                  <a:srgbClr val="4A5563"/>
                </a:solidFill>
                <a:latin typeface="Inter"/>
              </a:defRPr>
            </a:pPr>
            <a:r>
              <a:rPr>
                <a:latin typeface="Inter"/>
              </a:rPr>
              <a:t>Core PCE versus spending; ECB persistence versus growth [S4].</a:t>
            </a:r>
          </a:p>
        </p:txBody>
      </p:sp>
      <p:sp>
        <p:nvSpPr>
          <p:cNvPr id="30" name="Oval 29"/>
          <p:cNvSpPr/>
          <p:nvPr/>
        </p:nvSpPr>
        <p:spPr>
          <a:xfrm>
            <a:off x="1824228" y="5054346"/>
            <a:ext cx="128016" cy="128016"/>
          </a:xfrm>
          <a:prstGeom prst="ellipse">
            <a:avLst/>
          </a:prstGeom>
          <a:solidFill>
            <a:srgbClr val="F2A93B"/>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31" name="TextBox 30"/>
          <p:cNvSpPr txBox="1"/>
          <p:nvPr/>
        </p:nvSpPr>
        <p:spPr>
          <a:xfrm>
            <a:off x="640080" y="4893346"/>
            <a:ext cx="1106424" cy="274320"/>
          </a:xfrm>
          <a:prstGeom prst="rect">
            <a:avLst/>
          </a:prstGeom>
          <a:noFill/>
        </p:spPr>
        <p:txBody>
          <a:bodyPr wrap="none" lIns="9144" rIns="9144" tIns="9144" bIns="9144" anchor="t">
            <a:spAutoFit/>
          </a:bodyPr>
          <a:lstStyle/>
          <a:p>
            <a:pPr algn="r">
              <a:spcAft>
                <a:spcPts val="0"/>
              </a:spcAft>
              <a:defRPr sz="750" b="1">
                <a:solidFill>
                  <a:srgbClr val="4A5563"/>
                </a:solidFill>
                <a:latin typeface="Inter"/>
              </a:defRPr>
            </a:pPr>
            <a:r>
              <a:rPr>
                <a:latin typeface="Inter"/>
              </a:rPr>
              <a:t>2026-10-30</a:t>
            </a:r>
          </a:p>
        </p:txBody>
      </p:sp>
      <p:sp>
        <p:nvSpPr>
          <p:cNvPr id="32" name="TextBox 31"/>
          <p:cNvSpPr txBox="1"/>
          <p:nvPr/>
        </p:nvSpPr>
        <p:spPr>
          <a:xfrm>
            <a:off x="2057400" y="4893346"/>
            <a:ext cx="9491472" cy="256032"/>
          </a:xfrm>
          <a:prstGeom prst="rect">
            <a:avLst/>
          </a:prstGeom>
          <a:noFill/>
        </p:spPr>
        <p:txBody>
          <a:bodyPr wrap="none" lIns="9144" rIns="9144" tIns="9144" bIns="9144" anchor="t">
            <a:spAutoFit/>
          </a:bodyPr>
          <a:lstStyle/>
          <a:p>
            <a:pPr algn="l">
              <a:spcAft>
                <a:spcPts val="0"/>
              </a:spcAft>
              <a:defRPr sz="950" b="1">
                <a:solidFill>
                  <a:srgbClr val="0D1117"/>
                </a:solidFill>
                <a:latin typeface="Inter"/>
              </a:defRPr>
            </a:pPr>
            <a:r>
              <a:rPr>
                <a:latin typeface="Inter"/>
              </a:rPr>
              <a:t>BOJ decision · High</a:t>
            </a:r>
          </a:p>
        </p:txBody>
      </p:sp>
      <p:sp>
        <p:nvSpPr>
          <p:cNvPr id="33" name="TextBox 32"/>
          <p:cNvSpPr txBox="1"/>
          <p:nvPr/>
        </p:nvSpPr>
        <p:spPr>
          <a:xfrm>
            <a:off x="2057400" y="5158522"/>
            <a:ext cx="9491472" cy="334879"/>
          </a:xfrm>
          <a:prstGeom prst="rect">
            <a:avLst/>
          </a:prstGeom>
          <a:noFill/>
        </p:spPr>
        <p:txBody>
          <a:bodyPr wrap="none" lIns="9144" rIns="9144" tIns="9144" bIns="9144" anchor="t">
            <a:spAutoFit/>
          </a:bodyPr>
          <a:lstStyle/>
          <a:p>
            <a:pPr algn="l">
              <a:spcAft>
                <a:spcPts val="0"/>
              </a:spcAft>
              <a:defRPr sz="850" b="0">
                <a:solidFill>
                  <a:srgbClr val="4A5563"/>
                </a:solidFill>
                <a:latin typeface="Inter"/>
              </a:defRPr>
            </a:pPr>
            <a:r>
              <a:rPr>
                <a:latin typeface="Inter"/>
              </a:rPr>
              <a:t>An earlier hike signal would lift JGB yields and the yen [S4].</a:t>
            </a:r>
          </a:p>
        </p:txBody>
      </p:sp>
      <p:sp>
        <p:nvSpPr>
          <p:cNvPr id="34" name="Oval 33"/>
          <p:cNvSpPr/>
          <p:nvPr/>
        </p:nvSpPr>
        <p:spPr>
          <a:xfrm>
            <a:off x="1824228" y="5698344"/>
            <a:ext cx="128016" cy="128016"/>
          </a:xfrm>
          <a:prstGeom prst="ellipse">
            <a:avLst/>
          </a:prstGeom>
          <a:solidFill>
            <a:srgbClr val="0D1117"/>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35" name="TextBox 34"/>
          <p:cNvSpPr txBox="1"/>
          <p:nvPr/>
        </p:nvSpPr>
        <p:spPr>
          <a:xfrm>
            <a:off x="640080" y="5537345"/>
            <a:ext cx="1106424" cy="274320"/>
          </a:xfrm>
          <a:prstGeom prst="rect">
            <a:avLst/>
          </a:prstGeom>
          <a:noFill/>
        </p:spPr>
        <p:txBody>
          <a:bodyPr wrap="none" lIns="9144" rIns="9144" tIns="9144" bIns="9144" anchor="t">
            <a:spAutoFit/>
          </a:bodyPr>
          <a:lstStyle/>
          <a:p>
            <a:pPr algn="r">
              <a:spcAft>
                <a:spcPts val="0"/>
              </a:spcAft>
              <a:defRPr sz="750" b="1">
                <a:solidFill>
                  <a:srgbClr val="4A5563"/>
                </a:solidFill>
                <a:latin typeface="Inter"/>
              </a:defRPr>
            </a:pPr>
            <a:r>
              <a:rPr>
                <a:latin typeface="Inter"/>
              </a:rPr>
              <a:t>2026-10-31</a:t>
            </a:r>
          </a:p>
        </p:txBody>
      </p:sp>
      <p:sp>
        <p:nvSpPr>
          <p:cNvPr id="36" name="TextBox 35"/>
          <p:cNvSpPr txBox="1"/>
          <p:nvPr/>
        </p:nvSpPr>
        <p:spPr>
          <a:xfrm>
            <a:off x="2057400" y="5537345"/>
            <a:ext cx="9491472" cy="256032"/>
          </a:xfrm>
          <a:prstGeom prst="rect">
            <a:avLst/>
          </a:prstGeom>
          <a:noFill/>
        </p:spPr>
        <p:txBody>
          <a:bodyPr wrap="none" lIns="9144" rIns="9144" tIns="9144" bIns="9144" anchor="t">
            <a:spAutoFit/>
          </a:bodyPr>
          <a:lstStyle/>
          <a:p>
            <a:pPr algn="l">
              <a:spcAft>
                <a:spcPts val="0"/>
              </a:spcAft>
              <a:defRPr sz="950" b="1">
                <a:solidFill>
                  <a:srgbClr val="0D1117"/>
                </a:solidFill>
                <a:latin typeface="Inter"/>
              </a:defRPr>
            </a:pPr>
            <a:r>
              <a:rPr>
                <a:latin typeface="Inter"/>
              </a:rPr>
              <a:t>China NBS PMIs · Medium</a:t>
            </a:r>
          </a:p>
        </p:txBody>
      </p:sp>
      <p:sp>
        <p:nvSpPr>
          <p:cNvPr id="37" name="TextBox 36"/>
          <p:cNvSpPr txBox="1"/>
          <p:nvPr/>
        </p:nvSpPr>
        <p:spPr>
          <a:xfrm>
            <a:off x="2057400" y="5802521"/>
            <a:ext cx="9491472" cy="334879"/>
          </a:xfrm>
          <a:prstGeom prst="rect">
            <a:avLst/>
          </a:prstGeom>
          <a:noFill/>
        </p:spPr>
        <p:txBody>
          <a:bodyPr wrap="none" lIns="9144" rIns="9144" tIns="9144" bIns="9144" anchor="t">
            <a:spAutoFit/>
          </a:bodyPr>
          <a:lstStyle/>
          <a:p>
            <a:pPr algn="l">
              <a:spcAft>
                <a:spcPts val="0"/>
              </a:spcAft>
              <a:defRPr sz="850" b="0">
                <a:solidFill>
                  <a:srgbClr val="4A5563"/>
                </a:solidFill>
                <a:latin typeface="Inter"/>
              </a:defRPr>
            </a:pPr>
            <a:r>
              <a:rPr>
                <a:latin typeface="Inter"/>
              </a:rPr>
              <a:t>New orders below 50 would pressure commodities [S4].</a:t>
            </a:r>
          </a:p>
        </p:txBody>
      </p:sp>
      <p:sp>
        <p:nvSpPr>
          <p:cNvPr id="38" name="Rectangle 37"/>
          <p:cNvSpPr/>
          <p:nvPr/>
        </p:nvSpPr>
        <p:spPr>
          <a:xfrm>
            <a:off x="640080" y="5806440"/>
            <a:ext cx="10908792" cy="502920"/>
          </a:xfrm>
          <a:prstGeom prst="rect">
            <a:avLst/>
          </a:prstGeom>
          <a:solidFill>
            <a:srgbClr val="F5F7F9"/>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39" name="Rectangle 38"/>
          <p:cNvSpPr/>
          <p:nvPr/>
        </p:nvSpPr>
        <p:spPr>
          <a:xfrm>
            <a:off x="640080" y="5806440"/>
            <a:ext cx="54864" cy="502920"/>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40" name="TextBox 39"/>
          <p:cNvSpPr txBox="1"/>
          <p:nvPr/>
        </p:nvSpPr>
        <p:spPr>
          <a:xfrm>
            <a:off x="804671" y="5916168"/>
            <a:ext cx="10616184" cy="228600"/>
          </a:xfrm>
          <a:prstGeom prst="rect">
            <a:avLst/>
          </a:prstGeom>
          <a:noFill/>
        </p:spPr>
        <p:txBody>
          <a:bodyPr wrap="none" lIns="9144" rIns="9144" tIns="9144" bIns="9144" anchor="t">
            <a:spAutoFit/>
          </a:bodyPr>
          <a:lstStyle/>
          <a:p>
            <a:pPr algn="l">
              <a:spcAft>
                <a:spcPts val="0"/>
              </a:spcAft>
              <a:defRPr sz="1000" b="1">
                <a:solidFill>
                  <a:srgbClr val="0D1117"/>
                </a:solidFill>
                <a:latin typeface="Inter"/>
              </a:defRPr>
            </a:pPr>
            <a:r>
              <a:rPr>
                <a:latin typeface="Inter"/>
              </a:rPr>
              <a:t>Takeaway</a:t>
            </a:r>
          </a:p>
        </p:txBody>
      </p:sp>
      <p:sp>
        <p:nvSpPr>
          <p:cNvPr id="41" name="TextBox 40"/>
          <p:cNvSpPr txBox="1"/>
          <p:nvPr/>
        </p:nvSpPr>
        <p:spPr>
          <a:xfrm>
            <a:off x="804671" y="6199631"/>
            <a:ext cx="10616184" cy="228600"/>
          </a:xfrm>
          <a:prstGeom prst="rect">
            <a:avLst/>
          </a:prstGeom>
          <a:noFill/>
        </p:spPr>
        <p:txBody>
          <a:bodyPr wrap="none" lIns="9144" rIns="9144" tIns="9144" bIns="9144" anchor="t">
            <a:spAutoFit/>
          </a:bodyPr>
          <a:lstStyle/>
          <a:p>
            <a:pPr algn="l">
              <a:spcAft>
                <a:spcPts val="0"/>
              </a:spcAft>
              <a:defRPr sz="950" b="0">
                <a:solidFill>
                  <a:srgbClr val="4A5563"/>
                </a:solidFill>
                <a:latin typeface="Inter"/>
              </a:defRPr>
            </a:pPr>
            <a:r>
              <a:rPr>
                <a:latin typeface="Inter"/>
              </a:rPr>
              <a:t>The thesis test (CPI, 2026-10-14) lands two weeks before the FOMC.</a:t>
            </a:r>
          </a:p>
        </p:txBody>
      </p:sp>
      <p:sp>
        <p:nvSpPr>
          <p:cNvPr id="42" name="Rectangle 41"/>
          <p:cNvSpPr/>
          <p:nvPr/>
        </p:nvSpPr>
        <p:spPr>
          <a:xfrm>
            <a:off x="640080" y="6446520"/>
            <a:ext cx="10908792" cy="9144"/>
          </a:xfrm>
          <a:prstGeom prst="rect">
            <a:avLst/>
          </a:prstGeom>
          <a:solidFill>
            <a:srgbClr val="E3E7EC"/>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43" name="TextBox 42"/>
          <p:cNvSpPr txBox="1"/>
          <p:nvPr/>
        </p:nvSpPr>
        <p:spPr>
          <a:xfrm>
            <a:off x="640080" y="6501384"/>
            <a:ext cx="4297680" cy="146304"/>
          </a:xfrm>
          <a:prstGeom prst="rect">
            <a:avLst/>
          </a:prstGeom>
          <a:noFill/>
        </p:spPr>
        <p:txBody>
          <a:bodyPr wrap="none" lIns="9144" rIns="9144" tIns="9144" bIns="9144" anchor="t">
            <a:spAutoFit/>
          </a:bodyPr>
          <a:lstStyle/>
          <a:p>
            <a:pPr algn="l">
              <a:spcAft>
                <a:spcPts val="0"/>
              </a:spcAft>
              <a:defRPr sz="650" b="0">
                <a:solidFill>
                  <a:srgbClr val="8A94A1"/>
                </a:solidFill>
                <a:latin typeface="Inter"/>
              </a:defRPr>
            </a:pPr>
            <a:r>
              <a:rPr>
                <a:latin typeface="Inter"/>
              </a:rPr>
              <a:t>Sources: S4</a:t>
            </a:r>
          </a:p>
        </p:txBody>
      </p:sp>
      <p:sp>
        <p:nvSpPr>
          <p:cNvPr id="44" name="TextBox 43"/>
          <p:cNvSpPr txBox="1"/>
          <p:nvPr/>
        </p:nvSpPr>
        <p:spPr>
          <a:xfrm>
            <a:off x="4480560" y="6501384"/>
            <a:ext cx="5303520" cy="146304"/>
          </a:xfrm>
          <a:prstGeom prst="rect">
            <a:avLst/>
          </a:prstGeom>
          <a:noFill/>
        </p:spPr>
        <p:txBody>
          <a:bodyPr wrap="none" lIns="9144" rIns="9144" tIns="9144" bIns="9144" anchor="t">
            <a:spAutoFit/>
          </a:bodyPr>
          <a:lstStyle/>
          <a:p>
            <a:pPr algn="ctr">
              <a:spcAft>
                <a:spcPts val="0"/>
              </a:spcAft>
              <a:defRPr sz="650" b="0">
                <a:solidFill>
                  <a:srgbClr val="8A94A1"/>
                </a:solidFill>
                <a:latin typeface="Inter"/>
              </a:defRPr>
            </a:pPr>
            <a:r>
              <a:rPr>
                <a:latin typeface="Inter"/>
              </a:rPr>
              <a:t>Confidential — prepared for internal investment use · Data as of 2026-10-02</a:t>
            </a:r>
          </a:p>
        </p:txBody>
      </p:sp>
      <p:sp>
        <p:nvSpPr>
          <p:cNvPr id="45" name="TextBox 44"/>
          <p:cNvSpPr txBox="1"/>
          <p:nvPr/>
        </p:nvSpPr>
        <p:spPr>
          <a:xfrm>
            <a:off x="10287000" y="6501384"/>
            <a:ext cx="1261872" cy="146304"/>
          </a:xfrm>
          <a:prstGeom prst="rect">
            <a:avLst/>
          </a:prstGeom>
          <a:noFill/>
        </p:spPr>
        <p:txBody>
          <a:bodyPr wrap="none" lIns="9144" rIns="9144" tIns="9144" bIns="9144" anchor="t">
            <a:spAutoFit/>
          </a:bodyPr>
          <a:lstStyle/>
          <a:p>
            <a:pPr algn="r">
              <a:spcAft>
                <a:spcPts val="0"/>
              </a:spcAft>
              <a:defRPr sz="650" b="0">
                <a:solidFill>
                  <a:srgbClr val="8A94A1"/>
                </a:solidFill>
                <a:latin typeface="Inter"/>
              </a:defRPr>
            </a:pPr>
            <a:r>
              <a:rPr>
                <a:latin typeface="Inter"/>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3" name="TextBox 2"/>
          <p:cNvSpPr txBox="1"/>
          <p:nvPr/>
        </p:nvSpPr>
        <p:spPr>
          <a:xfrm>
            <a:off x="640080" y="329184"/>
            <a:ext cx="9875520" cy="182880"/>
          </a:xfrm>
          <a:prstGeom prst="rect">
            <a:avLst/>
          </a:prstGeom>
          <a:noFill/>
        </p:spPr>
        <p:txBody>
          <a:bodyPr wrap="none" lIns="9144" rIns="9144" tIns="9144" bIns="9144" anchor="t">
            <a:spAutoFit/>
          </a:bodyPr>
          <a:lstStyle/>
          <a:p>
            <a:pPr algn="l">
              <a:spcAft>
                <a:spcPts val="0"/>
              </a:spcAft>
              <a:defRPr sz="750" b="1">
                <a:solidFill>
                  <a:srgbClr val="4F6B00"/>
                </a:solidFill>
                <a:latin typeface="Inter"/>
              </a:defRPr>
            </a:pPr>
            <a:r>
              <a:rPr>
                <a:latin typeface="Inter"/>
              </a:rPr>
              <a:t>LONG-RUN ASSUMPTIONS · Q3-2026 POLICY V2.1 [S5]</a:t>
            </a:r>
          </a:p>
        </p:txBody>
      </p:sp>
      <p:sp>
        <p:nvSpPr>
          <p:cNvPr id="4" name="TextBox 3"/>
          <p:cNvSpPr txBox="1"/>
          <p:nvPr/>
        </p:nvSpPr>
        <p:spPr>
          <a:xfrm>
            <a:off x="640080" y="566928"/>
            <a:ext cx="10058400" cy="530352"/>
          </a:xfrm>
          <a:prstGeom prst="rect">
            <a:avLst/>
          </a:prstGeom>
          <a:noFill/>
        </p:spPr>
        <p:txBody>
          <a:bodyPr wrap="none" lIns="9144" rIns="9144" tIns="9144" bIns="9144" anchor="t">
            <a:spAutoFit/>
          </a:bodyPr>
          <a:lstStyle/>
          <a:p>
            <a:pPr algn="l">
              <a:spcAft>
                <a:spcPts val="0"/>
              </a:spcAft>
              <a:defRPr sz="2300" b="1">
                <a:solidFill>
                  <a:srgbClr val="0D1117"/>
                </a:solidFill>
                <a:latin typeface="Inter"/>
              </a:defRPr>
            </a:pPr>
            <a:r>
              <a:rPr>
                <a:latin typeface="Inter"/>
              </a:rPr>
              <a:t>10-year assumptions: equities ~4–6% over cash, bonds ≈ cash</a:t>
            </a:r>
          </a:p>
        </p:txBody>
      </p:sp>
      <p:sp>
        <p:nvSpPr>
          <p:cNvPr id="5" name="Rectangle 4"/>
          <p:cNvSpPr/>
          <p:nvPr/>
        </p:nvSpPr>
        <p:spPr>
          <a:xfrm>
            <a:off x="640080" y="1115568"/>
            <a:ext cx="10908792" cy="18288"/>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6" name="Rectangle 5"/>
          <p:cNvSpPr/>
          <p:nvPr/>
        </p:nvSpPr>
        <p:spPr>
          <a:xfrm>
            <a:off x="11018520" y="502920"/>
            <a:ext cx="530352" cy="393192"/>
          </a:xfrm>
          <a:prstGeom prst="rect">
            <a:avLst/>
          </a:prstGeom>
          <a:solidFill>
            <a:srgbClr val="C6F432"/>
          </a:solidFill>
          <a:ln>
            <a:solidFill>
              <a:srgbClr val="C6F432"/>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7" name="TextBox 6"/>
          <p:cNvSpPr txBox="1"/>
          <p:nvPr/>
        </p:nvSpPr>
        <p:spPr>
          <a:xfrm>
            <a:off x="11045952" y="557784"/>
            <a:ext cx="475488" cy="182880"/>
          </a:xfrm>
          <a:prstGeom prst="rect">
            <a:avLst/>
          </a:prstGeom>
          <a:noFill/>
        </p:spPr>
        <p:txBody>
          <a:bodyPr wrap="none" lIns="9144" rIns="9144" tIns="9144" bIns="9144" anchor="t">
            <a:spAutoFit/>
          </a:bodyPr>
          <a:lstStyle/>
          <a:p>
            <a:pPr algn="ctr">
              <a:spcAft>
                <a:spcPts val="0"/>
              </a:spcAft>
              <a:defRPr sz="1000" b="1">
                <a:solidFill>
                  <a:srgbClr val="0D1117"/>
                </a:solidFill>
                <a:latin typeface="Inter"/>
              </a:defRPr>
            </a:pPr>
            <a:r>
              <a:rPr>
                <a:latin typeface="Inter"/>
              </a:rPr>
              <a:t>08</a:t>
            </a:r>
          </a:p>
        </p:txBody>
      </p:sp>
      <p:sp>
        <p:nvSpPr>
          <p:cNvPr id="8" name="TextBox 7"/>
          <p:cNvSpPr txBox="1"/>
          <p:nvPr/>
        </p:nvSpPr>
        <p:spPr>
          <a:xfrm>
            <a:off x="640080" y="1325880"/>
            <a:ext cx="5239512" cy="201168"/>
          </a:xfrm>
          <a:prstGeom prst="rect">
            <a:avLst/>
          </a:prstGeom>
          <a:noFill/>
        </p:spPr>
        <p:txBody>
          <a:bodyPr wrap="none" lIns="9144" rIns="9144" tIns="9144" bIns="9144" anchor="t">
            <a:spAutoFit/>
          </a:bodyPr>
          <a:lstStyle/>
          <a:p>
            <a:pPr algn="l">
              <a:spcAft>
                <a:spcPts val="0"/>
              </a:spcAft>
              <a:defRPr sz="720" b="1">
                <a:solidFill>
                  <a:srgbClr val="4A5563"/>
                </a:solidFill>
                <a:latin typeface="Inter"/>
              </a:defRPr>
            </a:pPr>
            <a:r>
              <a:rPr>
                <a:latin typeface="Inter"/>
              </a:rPr>
              <a:t>EXPECTED EXCESS RETURN OVER USD CASH, 10 YEARS, ARITHMETIC</a:t>
            </a:r>
          </a:p>
        </p:txBody>
      </p:sp>
      <p:graphicFrame>
        <p:nvGraphicFramePr>
          <p:cNvPr id="9" name="Chart 8"/>
          <p:cNvGraphicFramePr>
            <a:graphicFrameLocks noGrp="1"/>
          </p:cNvGraphicFramePr>
          <p:nvPr/>
        </p:nvGraphicFramePr>
        <p:xfrm>
          <a:off x="640080" y="1600200"/>
          <a:ext cx="5239512" cy="4617720"/>
        </p:xfrm>
        <a:graphic>
          <a:graphicData uri="http://schemas.openxmlformats.org/drawingml/2006/chart">
            <c:chart xmlns:c="http://schemas.openxmlformats.org/drawingml/2006/chart" r:id="rId2"/>
          </a:graphicData>
        </a:graphic>
      </p:graphicFrame>
      <p:sp>
        <p:nvSpPr>
          <p:cNvPr id="10" name="Rectangle 9"/>
          <p:cNvSpPr/>
          <p:nvPr/>
        </p:nvSpPr>
        <p:spPr>
          <a:xfrm>
            <a:off x="6080760" y="1325880"/>
            <a:ext cx="9144" cy="4892040"/>
          </a:xfrm>
          <a:prstGeom prst="rect">
            <a:avLst/>
          </a:prstGeom>
          <a:solidFill>
            <a:srgbClr val="E3E7EC"/>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graphicFrame>
        <p:nvGraphicFramePr>
          <p:cNvPr id="11" name="Table 10"/>
          <p:cNvGraphicFramePr>
            <a:graphicFrameLocks noGrp="1"/>
          </p:cNvGraphicFramePr>
          <p:nvPr/>
        </p:nvGraphicFramePr>
        <p:xfrm>
          <a:off x="6309360" y="1325880"/>
          <a:ext cx="5239512" cy="3370559"/>
        </p:xfrm>
        <a:graphic>
          <a:graphicData uri="http://schemas.openxmlformats.org/drawingml/2006/table">
            <a:tbl>
              <a:tblPr firstRow="1" bandRow="1">
                <a:tableStyleId>{5C22544A-7EE6-4342-B048-85BDC9FD1C3A}</a:tableStyleId>
              </a:tblPr>
              <a:tblGrid>
                <a:gridCol w="2619756"/>
                <a:gridCol w="2619756"/>
              </a:tblGrid>
              <a:tr h="842639">
                <a:tc>
                  <a:txBody>
                    <a:bodyPr/>
                    <a:lstStyle/>
                    <a:p>
                      <a:pPr>
                        <a:defRPr sz="800" b="1">
                          <a:solidFill>
                            <a:srgbClr val="0D1117"/>
                          </a:solidFill>
                          <a:latin typeface="Inter"/>
                        </a:defRPr>
                      </a:pPr>
                      <a:r>
                        <a:rPr>
                          <a:latin typeface="Inter"/>
                        </a:rPr>
                        <a:t>Risk-free rate</a:t>
                      </a:r>
                    </a:p>
                  </a:txBody>
                  <a:tcPr marL="54864" marR="54864" marT="27432" marB="27432" anchor="ctr">
                    <a:solidFill>
                      <a:srgbClr val="FFFFFF"/>
                    </a:solidFill>
                  </a:tcPr>
                </a:tc>
                <a:tc>
                  <a:txBody>
                    <a:bodyPr/>
                    <a:lstStyle/>
                    <a:p>
                      <a:pPr>
                        <a:defRPr sz="800" b="0">
                          <a:solidFill>
                            <a:srgbClr val="0D1117"/>
                          </a:solidFill>
                          <a:latin typeface="Inter"/>
                        </a:defRPr>
                      </a:pPr>
                      <a:r>
                        <a:rPr>
                          <a:latin typeface="Inter"/>
                        </a:rPr>
                        <a:t>3.81% (3-month T-bill, 2026-10-01; fresh) [S5]</a:t>
                      </a:r>
                    </a:p>
                  </a:txBody>
                  <a:tcPr marL="54864" marR="54864" marT="27432" marB="27432" anchor="ctr">
                    <a:solidFill>
                      <a:srgbClr val="FFFFFF"/>
                    </a:solidFill>
                  </a:tcPr>
                </a:tc>
              </a:tr>
              <a:tr h="842639">
                <a:tc>
                  <a:txBody>
                    <a:bodyPr/>
                    <a:lstStyle/>
                    <a:p>
                      <a:pPr>
                        <a:defRPr sz="800" b="1">
                          <a:solidFill>
                            <a:srgbClr val="0D1117"/>
                          </a:solidFill>
                          <a:latin typeface="Inter"/>
                        </a:defRPr>
                      </a:pPr>
                      <a:r>
                        <a:rPr>
                          <a:latin typeface="Inter"/>
                        </a:rPr>
                        <a:t>Base currency</a:t>
                      </a:r>
                    </a:p>
                  </a:txBody>
                  <a:tcPr marL="54864" marR="54864" marT="27432" marB="27432" anchor="ctr">
                    <a:solidFill>
                      <a:srgbClr val="F5F7F9"/>
                    </a:solidFill>
                  </a:tcPr>
                </a:tc>
                <a:tc>
                  <a:txBody>
                    <a:bodyPr/>
                    <a:lstStyle/>
                    <a:p>
                      <a:pPr>
                        <a:defRPr sz="800" b="0">
                          <a:solidFill>
                            <a:srgbClr val="0D1117"/>
                          </a:solidFill>
                          <a:latin typeface="Inter"/>
                        </a:defRPr>
                      </a:pPr>
                      <a:r>
                        <a:rPr>
                          <a:latin typeface="Inter"/>
                        </a:rPr>
                        <a:t>USD, unhedged [S5]</a:t>
                      </a:r>
                    </a:p>
                  </a:txBody>
                  <a:tcPr marL="54864" marR="54864" marT="27432" marB="27432" anchor="ctr">
                    <a:solidFill>
                      <a:srgbClr val="F5F7F9"/>
                    </a:solidFill>
                  </a:tcPr>
                </a:tc>
              </a:tr>
              <a:tr h="842639">
                <a:tc>
                  <a:txBody>
                    <a:bodyPr/>
                    <a:lstStyle/>
                    <a:p>
                      <a:pPr>
                        <a:defRPr sz="800" b="1">
                          <a:solidFill>
                            <a:srgbClr val="0D1117"/>
                          </a:solidFill>
                          <a:latin typeface="Inter"/>
                        </a:defRPr>
                      </a:pPr>
                      <a:r>
                        <a:rPr>
                          <a:latin typeface="Inter"/>
                        </a:rPr>
                        <a:t>Horizon / basis</a:t>
                      </a:r>
                    </a:p>
                  </a:txBody>
                  <a:tcPr marL="54864" marR="54864" marT="27432" marB="27432" anchor="ctr">
                    <a:solidFill>
                      <a:srgbClr val="FFFFFF"/>
                    </a:solidFill>
                  </a:tcPr>
                </a:tc>
                <a:tc>
                  <a:txBody>
                    <a:bodyPr/>
                    <a:lstStyle/>
                    <a:p>
                      <a:pPr>
                        <a:defRPr sz="800" b="0">
                          <a:solidFill>
                            <a:srgbClr val="0D1117"/>
                          </a:solidFill>
                          <a:latin typeface="Inter"/>
                        </a:defRPr>
                      </a:pPr>
                      <a:r>
                        <a:rPr>
                          <a:latin typeface="Inter"/>
                        </a:rPr>
                        <a:t>10 years · excess over local cash · arithmetic [S5]</a:t>
                      </a:r>
                    </a:p>
                  </a:txBody>
                  <a:tcPr marL="54864" marR="54864" marT="27432" marB="27432" anchor="ctr">
                    <a:solidFill>
                      <a:srgbClr val="FFFFFF"/>
                    </a:solidFill>
                  </a:tcPr>
                </a:tc>
              </a:tr>
              <a:tr h="842642">
                <a:tc>
                  <a:txBody>
                    <a:bodyPr/>
                    <a:lstStyle/>
                    <a:p>
                      <a:pPr>
                        <a:defRPr sz="800" b="1">
                          <a:solidFill>
                            <a:srgbClr val="0D1117"/>
                          </a:solidFill>
                          <a:latin typeface="Inter"/>
                        </a:defRPr>
                      </a:pPr>
                      <a:r>
                        <a:rPr>
                          <a:latin typeface="Inter"/>
                        </a:rPr>
                        <a:t>Quality receipt</a:t>
                      </a:r>
                    </a:p>
                  </a:txBody>
                  <a:tcPr marL="54864" marR="54864" marT="27432" marB="27432" anchor="ctr">
                    <a:solidFill>
                      <a:srgbClr val="F5F7F9"/>
                    </a:solidFill>
                  </a:tcPr>
                </a:tc>
                <a:tc>
                  <a:txBody>
                    <a:bodyPr/>
                    <a:lstStyle/>
                    <a:p>
                      <a:pPr>
                        <a:defRPr sz="800" b="0">
                          <a:solidFill>
                            <a:srgbClr val="0D1117"/>
                          </a:solidFill>
                          <a:latin typeface="Inter"/>
                        </a:defRPr>
                      </a:pPr>
                      <a:r>
                        <a:rPr>
                          <a:latin typeface="Inter"/>
                        </a:rPr>
                        <a:t>Unvalidated [S5]</a:t>
                      </a:r>
                    </a:p>
                  </a:txBody>
                  <a:tcPr marL="54864" marR="54864" marT="27432" marB="27432" anchor="ctr">
                    <a:solidFill>
                      <a:srgbClr val="F5F7F9"/>
                    </a:solidFill>
                  </a:tcPr>
                </a:tc>
              </a:tr>
            </a:tbl>
          </a:graphicData>
        </a:graphic>
      </p:graphicFrame>
      <p:sp>
        <p:nvSpPr>
          <p:cNvPr id="12" name="Rectangle 11"/>
          <p:cNvSpPr/>
          <p:nvPr/>
        </p:nvSpPr>
        <p:spPr>
          <a:xfrm>
            <a:off x="6309360" y="4806167"/>
            <a:ext cx="5239512" cy="1411752"/>
          </a:xfrm>
          <a:prstGeom prst="rect">
            <a:avLst/>
          </a:prstGeom>
          <a:solidFill>
            <a:srgbClr val="F5F7F9"/>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3" name="Rectangle 12"/>
          <p:cNvSpPr/>
          <p:nvPr/>
        </p:nvSpPr>
        <p:spPr>
          <a:xfrm>
            <a:off x="6309360" y="4806167"/>
            <a:ext cx="54864" cy="1411752"/>
          </a:xfrm>
          <a:prstGeom prst="rect">
            <a:avLst/>
          </a:prstGeom>
          <a:solidFill>
            <a:srgbClr val="F2A93B"/>
          </a:solidFill>
          <a:ln>
            <a:solidFill>
              <a:srgbClr val="F2A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4" name="TextBox 13"/>
          <p:cNvSpPr txBox="1"/>
          <p:nvPr/>
        </p:nvSpPr>
        <p:spPr>
          <a:xfrm>
            <a:off x="6473952" y="4943327"/>
            <a:ext cx="4946904" cy="1183152"/>
          </a:xfrm>
          <a:prstGeom prst="rect">
            <a:avLst/>
          </a:prstGeom>
          <a:noFill/>
        </p:spPr>
        <p:txBody>
          <a:bodyPr wrap="none" lIns="9144" rIns="9144" tIns="9144" bIns="9144" anchor="t">
            <a:spAutoFit/>
          </a:bodyPr>
          <a:lstStyle/>
          <a:p>
            <a:pPr algn="l">
              <a:spcAft>
                <a:spcPts val="0"/>
              </a:spcAft>
              <a:defRPr sz="950" b="0">
                <a:solidFill>
                  <a:srgbClr val="4A5563"/>
                </a:solidFill>
                <a:latin typeface="Inter"/>
              </a:defRPr>
            </a:pPr>
            <a:r>
              <a:rPr>
                <a:latin typeface="Inter"/>
              </a:rPr>
              <a:t>Bond excess returns near zero rest on a policy value shared by both bond factors; Gradient flags these rows and raw kurtosis below 3 for review [S5]. Use for context, not comparison.</a:t>
            </a:r>
          </a:p>
        </p:txBody>
      </p:sp>
      <p:sp>
        <p:nvSpPr>
          <p:cNvPr id="15" name="Rectangle 14"/>
          <p:cNvSpPr/>
          <p:nvPr/>
        </p:nvSpPr>
        <p:spPr>
          <a:xfrm>
            <a:off x="640080" y="5806440"/>
            <a:ext cx="10908792" cy="502920"/>
          </a:xfrm>
          <a:prstGeom prst="rect">
            <a:avLst/>
          </a:prstGeom>
          <a:solidFill>
            <a:srgbClr val="F5F7F9"/>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6" name="Rectangle 15"/>
          <p:cNvSpPr/>
          <p:nvPr/>
        </p:nvSpPr>
        <p:spPr>
          <a:xfrm>
            <a:off x="640080" y="5806440"/>
            <a:ext cx="54864" cy="502920"/>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7" name="TextBox 16"/>
          <p:cNvSpPr txBox="1"/>
          <p:nvPr/>
        </p:nvSpPr>
        <p:spPr>
          <a:xfrm>
            <a:off x="804671" y="5916168"/>
            <a:ext cx="10616184" cy="228600"/>
          </a:xfrm>
          <a:prstGeom prst="rect">
            <a:avLst/>
          </a:prstGeom>
          <a:noFill/>
        </p:spPr>
        <p:txBody>
          <a:bodyPr wrap="none" lIns="9144" rIns="9144" tIns="9144" bIns="9144" anchor="t">
            <a:spAutoFit/>
          </a:bodyPr>
          <a:lstStyle/>
          <a:p>
            <a:pPr algn="l">
              <a:spcAft>
                <a:spcPts val="0"/>
              </a:spcAft>
              <a:defRPr sz="1000" b="1">
                <a:solidFill>
                  <a:srgbClr val="0D1117"/>
                </a:solidFill>
                <a:latin typeface="Inter"/>
              </a:defRPr>
            </a:pPr>
            <a:r>
              <a:rPr>
                <a:latin typeface="Inter"/>
              </a:rPr>
              <a:t>Takeaway</a:t>
            </a:r>
          </a:p>
        </p:txBody>
      </p:sp>
      <p:sp>
        <p:nvSpPr>
          <p:cNvPr id="18" name="TextBox 17"/>
          <p:cNvSpPr txBox="1"/>
          <p:nvPr/>
        </p:nvSpPr>
        <p:spPr>
          <a:xfrm>
            <a:off x="804671" y="6199631"/>
            <a:ext cx="10616184" cy="228600"/>
          </a:xfrm>
          <a:prstGeom prst="rect">
            <a:avLst/>
          </a:prstGeom>
          <a:noFill/>
        </p:spPr>
        <p:txBody>
          <a:bodyPr wrap="none" lIns="9144" rIns="9144" tIns="9144" bIns="9144" anchor="t">
            <a:spAutoFit/>
          </a:bodyPr>
          <a:lstStyle/>
          <a:p>
            <a:pPr algn="l">
              <a:spcAft>
                <a:spcPts val="0"/>
              </a:spcAft>
              <a:defRPr sz="950" b="0">
                <a:solidFill>
                  <a:srgbClr val="4A5563"/>
                </a:solidFill>
                <a:latin typeface="Inter"/>
              </a:defRPr>
            </a:pPr>
            <a:r>
              <a:rPr>
                <a:latin typeface="Inter"/>
              </a:rPr>
              <a:t>House assumptions favour equity risk premia; the fixed-income rows need methodology review before use in sizing.</a:t>
            </a:r>
          </a:p>
        </p:txBody>
      </p:sp>
      <p:sp>
        <p:nvSpPr>
          <p:cNvPr id="19" name="Rectangle 18"/>
          <p:cNvSpPr/>
          <p:nvPr/>
        </p:nvSpPr>
        <p:spPr>
          <a:xfrm>
            <a:off x="640080" y="6446520"/>
            <a:ext cx="10908792" cy="9144"/>
          </a:xfrm>
          <a:prstGeom prst="rect">
            <a:avLst/>
          </a:prstGeom>
          <a:solidFill>
            <a:srgbClr val="E3E7EC"/>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20" name="TextBox 19"/>
          <p:cNvSpPr txBox="1"/>
          <p:nvPr/>
        </p:nvSpPr>
        <p:spPr>
          <a:xfrm>
            <a:off x="640080" y="6501384"/>
            <a:ext cx="4297680" cy="146304"/>
          </a:xfrm>
          <a:prstGeom prst="rect">
            <a:avLst/>
          </a:prstGeom>
          <a:noFill/>
        </p:spPr>
        <p:txBody>
          <a:bodyPr wrap="none" lIns="9144" rIns="9144" tIns="9144" bIns="9144" anchor="t">
            <a:spAutoFit/>
          </a:bodyPr>
          <a:lstStyle/>
          <a:p>
            <a:pPr algn="l">
              <a:spcAft>
                <a:spcPts val="0"/>
              </a:spcAft>
              <a:defRPr sz="650" b="0">
                <a:solidFill>
                  <a:srgbClr val="8A94A1"/>
                </a:solidFill>
                <a:latin typeface="Inter"/>
              </a:defRPr>
            </a:pPr>
            <a:r>
              <a:rPr>
                <a:latin typeface="Inter"/>
              </a:rPr>
              <a:t>Sources: S5</a:t>
            </a:r>
          </a:p>
        </p:txBody>
      </p:sp>
      <p:sp>
        <p:nvSpPr>
          <p:cNvPr id="21" name="TextBox 20"/>
          <p:cNvSpPr txBox="1"/>
          <p:nvPr/>
        </p:nvSpPr>
        <p:spPr>
          <a:xfrm>
            <a:off x="4480560" y="6501384"/>
            <a:ext cx="5303520" cy="146304"/>
          </a:xfrm>
          <a:prstGeom prst="rect">
            <a:avLst/>
          </a:prstGeom>
          <a:noFill/>
        </p:spPr>
        <p:txBody>
          <a:bodyPr wrap="none" lIns="9144" rIns="9144" tIns="9144" bIns="9144" anchor="t">
            <a:spAutoFit/>
          </a:bodyPr>
          <a:lstStyle/>
          <a:p>
            <a:pPr algn="ctr">
              <a:spcAft>
                <a:spcPts val="0"/>
              </a:spcAft>
              <a:defRPr sz="650" b="0">
                <a:solidFill>
                  <a:srgbClr val="8A94A1"/>
                </a:solidFill>
                <a:latin typeface="Inter"/>
              </a:defRPr>
            </a:pPr>
            <a:r>
              <a:rPr>
                <a:latin typeface="Inter"/>
              </a:rPr>
              <a:t>Confidential — prepared for internal investment use · Data as of 2026-10-02</a:t>
            </a:r>
          </a:p>
        </p:txBody>
      </p:sp>
      <p:sp>
        <p:nvSpPr>
          <p:cNvPr id="22" name="TextBox 21"/>
          <p:cNvSpPr txBox="1"/>
          <p:nvPr/>
        </p:nvSpPr>
        <p:spPr>
          <a:xfrm>
            <a:off x="10287000" y="6501384"/>
            <a:ext cx="1261872" cy="146304"/>
          </a:xfrm>
          <a:prstGeom prst="rect">
            <a:avLst/>
          </a:prstGeom>
          <a:noFill/>
        </p:spPr>
        <p:txBody>
          <a:bodyPr wrap="none" lIns="9144" rIns="9144" tIns="9144" bIns="9144" anchor="t">
            <a:spAutoFit/>
          </a:bodyPr>
          <a:lstStyle/>
          <a:p>
            <a:pPr algn="r">
              <a:spcAft>
                <a:spcPts val="0"/>
              </a:spcAft>
              <a:defRPr sz="650" b="0">
                <a:solidFill>
                  <a:srgbClr val="8A94A1"/>
                </a:solidFill>
                <a:latin typeface="Inter"/>
              </a:defRPr>
            </a:pPr>
            <a:r>
              <a:rPr>
                <a:latin typeface="Inter"/>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3" name="TextBox 2"/>
          <p:cNvSpPr txBox="1"/>
          <p:nvPr/>
        </p:nvSpPr>
        <p:spPr>
          <a:xfrm>
            <a:off x="640080" y="329184"/>
            <a:ext cx="9875520" cy="182880"/>
          </a:xfrm>
          <a:prstGeom prst="rect">
            <a:avLst/>
          </a:prstGeom>
          <a:noFill/>
        </p:spPr>
        <p:txBody>
          <a:bodyPr wrap="none" lIns="9144" rIns="9144" tIns="9144" bIns="9144" anchor="t">
            <a:spAutoFit/>
          </a:bodyPr>
          <a:lstStyle/>
          <a:p>
            <a:pPr algn="l">
              <a:spcAft>
                <a:spcPts val="0"/>
              </a:spcAft>
              <a:defRPr sz="750" b="1">
                <a:solidFill>
                  <a:srgbClr val="4F6B00"/>
                </a:solidFill>
                <a:latin typeface="Inter"/>
              </a:defRPr>
            </a:pPr>
            <a:r>
              <a:rPr>
                <a:latin typeface="Inter"/>
              </a:rPr>
              <a:t>FOR DISCUSSION [S1]</a:t>
            </a:r>
          </a:p>
        </p:txBody>
      </p:sp>
      <p:sp>
        <p:nvSpPr>
          <p:cNvPr id="4" name="TextBox 3"/>
          <p:cNvSpPr txBox="1"/>
          <p:nvPr/>
        </p:nvSpPr>
        <p:spPr>
          <a:xfrm>
            <a:off x="640080" y="566928"/>
            <a:ext cx="10058400" cy="530352"/>
          </a:xfrm>
          <a:prstGeom prst="rect">
            <a:avLst/>
          </a:prstGeom>
          <a:noFill/>
        </p:spPr>
        <p:txBody>
          <a:bodyPr wrap="none" lIns="9144" rIns="9144" tIns="9144" bIns="9144" anchor="t">
            <a:spAutoFit/>
          </a:bodyPr>
          <a:lstStyle/>
          <a:p>
            <a:pPr algn="l">
              <a:spcAft>
                <a:spcPts val="0"/>
              </a:spcAft>
              <a:defRPr sz="2300" b="1">
                <a:solidFill>
                  <a:srgbClr val="0D1117"/>
                </a:solidFill>
                <a:latin typeface="Inter"/>
              </a:defRPr>
            </a:pPr>
            <a:r>
              <a:rPr>
                <a:latin typeface="Inter"/>
              </a:rPr>
              <a:t>Questions for the committee</a:t>
            </a:r>
          </a:p>
        </p:txBody>
      </p:sp>
      <p:sp>
        <p:nvSpPr>
          <p:cNvPr id="5" name="Rectangle 4"/>
          <p:cNvSpPr/>
          <p:nvPr/>
        </p:nvSpPr>
        <p:spPr>
          <a:xfrm>
            <a:off x="640080" y="1115568"/>
            <a:ext cx="10908792" cy="18288"/>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6" name="Rectangle 5"/>
          <p:cNvSpPr/>
          <p:nvPr/>
        </p:nvSpPr>
        <p:spPr>
          <a:xfrm>
            <a:off x="11018520" y="502920"/>
            <a:ext cx="530352" cy="393192"/>
          </a:xfrm>
          <a:prstGeom prst="rect">
            <a:avLst/>
          </a:prstGeom>
          <a:solidFill>
            <a:srgbClr val="C6F432"/>
          </a:solidFill>
          <a:ln>
            <a:solidFill>
              <a:srgbClr val="C6F432"/>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7" name="TextBox 6"/>
          <p:cNvSpPr txBox="1"/>
          <p:nvPr/>
        </p:nvSpPr>
        <p:spPr>
          <a:xfrm>
            <a:off x="11045952" y="557784"/>
            <a:ext cx="475488" cy="182880"/>
          </a:xfrm>
          <a:prstGeom prst="rect">
            <a:avLst/>
          </a:prstGeom>
          <a:noFill/>
        </p:spPr>
        <p:txBody>
          <a:bodyPr wrap="none" lIns="9144" rIns="9144" tIns="9144" bIns="9144" anchor="t">
            <a:spAutoFit/>
          </a:bodyPr>
          <a:lstStyle/>
          <a:p>
            <a:pPr algn="ctr">
              <a:spcAft>
                <a:spcPts val="0"/>
              </a:spcAft>
              <a:defRPr sz="1000" b="1">
                <a:solidFill>
                  <a:srgbClr val="0D1117"/>
                </a:solidFill>
                <a:latin typeface="Inter"/>
              </a:defRPr>
            </a:pPr>
            <a:r>
              <a:rPr>
                <a:latin typeface="Inter"/>
              </a:rPr>
              <a:t>09</a:t>
            </a:r>
          </a:p>
        </p:txBody>
      </p:sp>
      <p:sp>
        <p:nvSpPr>
          <p:cNvPr id="8" name="TextBox 7"/>
          <p:cNvSpPr txBox="1"/>
          <p:nvPr/>
        </p:nvSpPr>
        <p:spPr>
          <a:xfrm>
            <a:off x="640080" y="1325880"/>
            <a:ext cx="10908792" cy="4892040"/>
          </a:xfrm>
          <a:prstGeom prst="rect">
            <a:avLst/>
          </a:prstGeom>
          <a:noFill/>
        </p:spPr>
        <p:txBody>
          <a:bodyPr wrap="none" lIns="9144" rIns="9144" tIns="9144" bIns="9144" anchor="t">
            <a:spAutoFit/>
          </a:bodyPr>
          <a:lstStyle/>
          <a:p>
            <a:pPr algn="l">
              <a:spcAft>
                <a:spcPts val="500"/>
              </a:spcAft>
              <a:defRPr sz="1000" b="0">
                <a:solidFill>
                  <a:srgbClr val="0D1117"/>
                </a:solidFill>
                <a:latin typeface="Inter"/>
              </a:defRPr>
            </a:pPr>
            <a:r>
              <a:rPr>
                <a:latin typeface="Inter"/>
              </a:rPr>
              <a:t>01  How did real yields and credit spreads reprice around jumbo issuance and the FOMC run-up — and what does that imply for risk appetite?</a:t>
            </a:r>
            <a:br/>
            <a:r>
              <a:rPr>
                <a:latin typeface="Inter"/>
              </a:rPr>
              <a:t>      Rates are the dominant pressure in the Gradient signal; credit has not confirmed it.</a:t>
            </a:r>
          </a:p>
          <a:p>
            <a:pPr algn="l">
              <a:spcAft>
                <a:spcPts val="500"/>
              </a:spcAft>
              <a:defRPr sz="1000" b="0">
                <a:solidFill>
                  <a:srgbClr val="0D1117"/>
                </a:solidFill>
                <a:latin typeface="Inter"/>
              </a:defRPr>
            </a:pPr>
            <a:r>
              <a:rPr>
                <a:latin typeface="Inter"/>
              </a:rPr>
              <a:t>02  How likely is escalation to disrupt Gulf crude flows, and where are we exposed if it does?</a:t>
            </a:r>
            <a:br/>
            <a:r>
              <a:rPr>
                <a:latin typeface="Inter"/>
              </a:rPr>
              <a:t>      The Read's thesis depends on whether the premium moves from diesel into crude.</a:t>
            </a:r>
          </a:p>
          <a:p>
            <a:pPr algn="l">
              <a:spcAft>
                <a:spcPts val="500"/>
              </a:spcAft>
              <a:defRPr sz="1000" b="0">
                <a:solidFill>
                  <a:srgbClr val="0D1117"/>
                </a:solidFill>
                <a:latin typeface="Inter"/>
              </a:defRPr>
            </a:pPr>
            <a:r>
              <a:rPr>
                <a:latin typeface="Inter"/>
              </a:rPr>
              <a:t>03  What must the 2026-10-28 FOMC resolve about long-end real yields for the risk-off lean to hold?</a:t>
            </a:r>
            <a:br/>
            <a:r>
              <a:rPr>
                <a:latin typeface="Inter"/>
              </a:rPr>
              <a:t>      10-year TIPS real yield is a +2.9 z-score detractor.</a:t>
            </a:r>
          </a:p>
          <a:p>
            <a:pPr algn="l">
              <a:spcAft>
                <a:spcPts val="500"/>
              </a:spcAft>
              <a:defRPr sz="1000" b="0">
                <a:solidFill>
                  <a:srgbClr val="0D1117"/>
                </a:solidFill>
                <a:latin typeface="Inter"/>
              </a:defRPr>
            </a:pPr>
            <a:r>
              <a:rPr>
                <a:latin typeface="Inter"/>
              </a:rPr>
              <a:t>04  How would the Fed weigh a diesel squeeze against rising real yields?</a:t>
            </a:r>
            <a:br/>
            <a:r>
              <a:rPr>
                <a:latin typeface="Inter"/>
              </a:rPr>
              <a:t>      Determines whether energy is an inflation or a growth risk for the portfolio.</a:t>
            </a:r>
          </a:p>
        </p:txBody>
      </p:sp>
      <p:sp>
        <p:nvSpPr>
          <p:cNvPr id="9" name="Rectangle 8"/>
          <p:cNvSpPr/>
          <p:nvPr/>
        </p:nvSpPr>
        <p:spPr>
          <a:xfrm>
            <a:off x="640080" y="6446520"/>
            <a:ext cx="10908792" cy="9144"/>
          </a:xfrm>
          <a:prstGeom prst="rect">
            <a:avLst/>
          </a:prstGeom>
          <a:solidFill>
            <a:srgbClr val="E3E7EC"/>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0" name="TextBox 9"/>
          <p:cNvSpPr txBox="1"/>
          <p:nvPr/>
        </p:nvSpPr>
        <p:spPr>
          <a:xfrm>
            <a:off x="640080" y="6501384"/>
            <a:ext cx="4297680" cy="146304"/>
          </a:xfrm>
          <a:prstGeom prst="rect">
            <a:avLst/>
          </a:prstGeom>
          <a:noFill/>
        </p:spPr>
        <p:txBody>
          <a:bodyPr wrap="none" lIns="9144" rIns="9144" tIns="9144" bIns="9144" anchor="t">
            <a:spAutoFit/>
          </a:bodyPr>
          <a:lstStyle/>
          <a:p>
            <a:pPr algn="l">
              <a:spcAft>
                <a:spcPts val="0"/>
              </a:spcAft>
              <a:defRPr sz="650" b="0">
                <a:solidFill>
                  <a:srgbClr val="8A94A1"/>
                </a:solidFill>
                <a:latin typeface="Inter"/>
              </a:defRPr>
            </a:pPr>
            <a:r>
              <a:rPr>
                <a:latin typeface="Inter"/>
              </a:rPr>
              <a:t>Sources: S1</a:t>
            </a:r>
          </a:p>
        </p:txBody>
      </p:sp>
      <p:sp>
        <p:nvSpPr>
          <p:cNvPr id="11" name="TextBox 10"/>
          <p:cNvSpPr txBox="1"/>
          <p:nvPr/>
        </p:nvSpPr>
        <p:spPr>
          <a:xfrm>
            <a:off x="4480560" y="6501384"/>
            <a:ext cx="5303520" cy="146304"/>
          </a:xfrm>
          <a:prstGeom prst="rect">
            <a:avLst/>
          </a:prstGeom>
          <a:noFill/>
        </p:spPr>
        <p:txBody>
          <a:bodyPr wrap="none" lIns="9144" rIns="9144" tIns="9144" bIns="9144" anchor="t">
            <a:spAutoFit/>
          </a:bodyPr>
          <a:lstStyle/>
          <a:p>
            <a:pPr algn="ctr">
              <a:spcAft>
                <a:spcPts val="0"/>
              </a:spcAft>
              <a:defRPr sz="650" b="0">
                <a:solidFill>
                  <a:srgbClr val="8A94A1"/>
                </a:solidFill>
                <a:latin typeface="Inter"/>
              </a:defRPr>
            </a:pPr>
            <a:r>
              <a:rPr>
                <a:latin typeface="Inter"/>
              </a:rPr>
              <a:t>Confidential — prepared for internal investment use · Data as of 2026-10-02</a:t>
            </a:r>
          </a:p>
        </p:txBody>
      </p:sp>
      <p:sp>
        <p:nvSpPr>
          <p:cNvPr id="12" name="TextBox 11"/>
          <p:cNvSpPr txBox="1"/>
          <p:nvPr/>
        </p:nvSpPr>
        <p:spPr>
          <a:xfrm>
            <a:off x="10287000" y="6501384"/>
            <a:ext cx="1261872" cy="146304"/>
          </a:xfrm>
          <a:prstGeom prst="rect">
            <a:avLst/>
          </a:prstGeom>
          <a:noFill/>
        </p:spPr>
        <p:txBody>
          <a:bodyPr wrap="none" lIns="9144" rIns="9144" tIns="9144" bIns="9144" anchor="t">
            <a:spAutoFit/>
          </a:bodyPr>
          <a:lstStyle/>
          <a:p>
            <a:pPr algn="r">
              <a:spcAft>
                <a:spcPts val="0"/>
              </a:spcAft>
              <a:defRPr sz="650" b="0">
                <a:solidFill>
                  <a:srgbClr val="8A94A1"/>
                </a:solidFill>
                <a:latin typeface="Inter"/>
              </a:defRPr>
            </a:pPr>
            <a:r>
              <a:rPr>
                <a:latin typeface="Inter"/>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3" name="TextBox 2"/>
          <p:cNvSpPr txBox="1"/>
          <p:nvPr/>
        </p:nvSpPr>
        <p:spPr>
          <a:xfrm>
            <a:off x="640080" y="329184"/>
            <a:ext cx="9875520" cy="182880"/>
          </a:xfrm>
          <a:prstGeom prst="rect">
            <a:avLst/>
          </a:prstGeom>
          <a:noFill/>
        </p:spPr>
        <p:txBody>
          <a:bodyPr wrap="none" lIns="9144" rIns="9144" tIns="9144" bIns="9144" anchor="t">
            <a:spAutoFit/>
          </a:bodyPr>
          <a:lstStyle/>
          <a:p>
            <a:pPr algn="l">
              <a:spcAft>
                <a:spcPts val="0"/>
              </a:spcAft>
              <a:defRPr sz="750" b="1">
                <a:solidFill>
                  <a:srgbClr val="4F6B00"/>
                </a:solidFill>
                <a:latin typeface="Inter"/>
              </a:defRPr>
            </a:pPr>
            <a:r>
              <a:rPr>
                <a:latin typeface="Inter"/>
              </a:rPr>
              <a:t>SOURCES AND METHOD</a:t>
            </a:r>
          </a:p>
        </p:txBody>
      </p:sp>
      <p:sp>
        <p:nvSpPr>
          <p:cNvPr id="4" name="TextBox 3"/>
          <p:cNvSpPr txBox="1"/>
          <p:nvPr/>
        </p:nvSpPr>
        <p:spPr>
          <a:xfrm>
            <a:off x="640080" y="566928"/>
            <a:ext cx="10058400" cy="530352"/>
          </a:xfrm>
          <a:prstGeom prst="rect">
            <a:avLst/>
          </a:prstGeom>
          <a:noFill/>
        </p:spPr>
        <p:txBody>
          <a:bodyPr wrap="none" lIns="9144" rIns="9144" tIns="9144" bIns="9144" anchor="t">
            <a:spAutoFit/>
          </a:bodyPr>
          <a:lstStyle/>
          <a:p>
            <a:pPr algn="l">
              <a:spcAft>
                <a:spcPts val="0"/>
              </a:spcAft>
              <a:defRPr sz="2300" b="1">
                <a:solidFill>
                  <a:srgbClr val="0D1117"/>
                </a:solidFill>
                <a:latin typeface="Inter"/>
              </a:defRPr>
            </a:pPr>
            <a:r>
              <a:rPr>
                <a:latin typeface="Inter"/>
              </a:rPr>
              <a:t>Sources, data quality and limits</a:t>
            </a:r>
          </a:p>
        </p:txBody>
      </p:sp>
      <p:sp>
        <p:nvSpPr>
          <p:cNvPr id="5" name="Rectangle 4"/>
          <p:cNvSpPr/>
          <p:nvPr/>
        </p:nvSpPr>
        <p:spPr>
          <a:xfrm>
            <a:off x="640080" y="1115568"/>
            <a:ext cx="10908792" cy="18288"/>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6" name="Rectangle 5"/>
          <p:cNvSpPr/>
          <p:nvPr/>
        </p:nvSpPr>
        <p:spPr>
          <a:xfrm>
            <a:off x="11018520" y="502920"/>
            <a:ext cx="530352" cy="393192"/>
          </a:xfrm>
          <a:prstGeom prst="rect">
            <a:avLst/>
          </a:prstGeom>
          <a:solidFill>
            <a:srgbClr val="C6F432"/>
          </a:solidFill>
          <a:ln>
            <a:solidFill>
              <a:srgbClr val="C6F432"/>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7" name="TextBox 6"/>
          <p:cNvSpPr txBox="1"/>
          <p:nvPr/>
        </p:nvSpPr>
        <p:spPr>
          <a:xfrm>
            <a:off x="11045952" y="557784"/>
            <a:ext cx="475488" cy="182880"/>
          </a:xfrm>
          <a:prstGeom prst="rect">
            <a:avLst/>
          </a:prstGeom>
          <a:noFill/>
        </p:spPr>
        <p:txBody>
          <a:bodyPr wrap="none" lIns="9144" rIns="9144" tIns="9144" bIns="9144" anchor="t">
            <a:spAutoFit/>
          </a:bodyPr>
          <a:lstStyle/>
          <a:p>
            <a:pPr algn="ctr">
              <a:spcAft>
                <a:spcPts val="0"/>
              </a:spcAft>
              <a:defRPr sz="1000" b="1">
                <a:solidFill>
                  <a:srgbClr val="0D1117"/>
                </a:solidFill>
                <a:latin typeface="Inter"/>
              </a:defRPr>
            </a:pPr>
            <a:r>
              <a:rPr>
                <a:latin typeface="Inter"/>
              </a:rPr>
              <a:t>10</a:t>
            </a:r>
          </a:p>
        </p:txBody>
      </p:sp>
      <p:graphicFrame>
        <p:nvGraphicFramePr>
          <p:cNvPr id="8" name="Table 7"/>
          <p:cNvGraphicFramePr>
            <a:graphicFrameLocks noGrp="1"/>
          </p:cNvGraphicFramePr>
          <p:nvPr/>
        </p:nvGraphicFramePr>
        <p:xfrm>
          <a:off x="640080" y="1325880"/>
          <a:ext cx="10908792" cy="4892040"/>
        </p:xfrm>
        <a:graphic>
          <a:graphicData uri="http://schemas.openxmlformats.org/drawingml/2006/table">
            <a:tbl>
              <a:tblPr firstRow="1" bandRow="1">
                <a:tableStyleId>{5C22544A-7EE6-4342-B048-85BDC9FD1C3A}</a:tableStyleId>
              </a:tblPr>
              <a:tblGrid>
                <a:gridCol w="2011680"/>
                <a:gridCol w="2224278"/>
                <a:gridCol w="2224278"/>
                <a:gridCol w="2224278"/>
                <a:gridCol w="2224278"/>
              </a:tblGrid>
              <a:tr h="611505">
                <a:tc>
                  <a:txBody>
                    <a:bodyPr/>
                    <a:lstStyle/>
                    <a:p>
                      <a:pPr>
                        <a:defRPr sz="750" b="1">
                          <a:solidFill>
                            <a:srgbClr val="FFFFFF"/>
                          </a:solidFill>
                          <a:latin typeface="Inter"/>
                        </a:defRPr>
                      </a:pPr>
                      <a:r>
                        <a:rPr>
                          <a:latin typeface="Inter"/>
                        </a:rPr>
                        <a:t>Tag</a:t>
                      </a:r>
                    </a:p>
                  </a:txBody>
                  <a:tcPr marL="54864" marR="54864" marT="27432" marB="27432" anchor="ctr">
                    <a:solidFill>
                      <a:srgbClr val="0D1117"/>
                    </a:solidFill>
                  </a:tcPr>
                </a:tc>
                <a:tc>
                  <a:txBody>
                    <a:bodyPr/>
                    <a:lstStyle/>
                    <a:p>
                      <a:pPr>
                        <a:defRPr sz="750" b="1">
                          <a:solidFill>
                            <a:srgbClr val="FFFFFF"/>
                          </a:solidFill>
                          <a:latin typeface="Inter"/>
                        </a:defRPr>
                      </a:pPr>
                      <a:r>
                        <a:rPr>
                          <a:latin typeface="Inter"/>
                        </a:rPr>
                        <a:t>Source</a:t>
                      </a:r>
                    </a:p>
                  </a:txBody>
                  <a:tcPr marL="54864" marR="54864" marT="27432" marB="27432" anchor="ctr">
                    <a:solidFill>
                      <a:srgbClr val="0D1117"/>
                    </a:solidFill>
                  </a:tcPr>
                </a:tc>
                <a:tc>
                  <a:txBody>
                    <a:bodyPr/>
                    <a:lstStyle/>
                    <a:p>
                      <a:pPr>
                        <a:defRPr sz="750" b="1">
                          <a:solidFill>
                            <a:srgbClr val="FFFFFF"/>
                          </a:solidFill>
                          <a:latin typeface="Inter"/>
                        </a:defRPr>
                      </a:pPr>
                      <a:r>
                        <a:rPr>
                          <a:latin typeface="Inter"/>
                        </a:rPr>
                        <a:t>As of</a:t>
                      </a:r>
                    </a:p>
                  </a:txBody>
                  <a:tcPr marL="54864" marR="54864" marT="27432" marB="27432" anchor="ctr">
                    <a:solidFill>
                      <a:srgbClr val="0D1117"/>
                    </a:solidFill>
                  </a:tcPr>
                </a:tc>
                <a:tc>
                  <a:txBody>
                    <a:bodyPr/>
                    <a:lstStyle/>
                    <a:p>
                      <a:pPr>
                        <a:defRPr sz="750" b="1">
                          <a:solidFill>
                            <a:srgbClr val="FFFFFF"/>
                          </a:solidFill>
                          <a:latin typeface="Inter"/>
                        </a:defRPr>
                      </a:pPr>
                      <a:r>
                        <a:rPr>
                          <a:latin typeface="Inter"/>
                        </a:rPr>
                        <a:t>Validation</a:t>
                      </a:r>
                    </a:p>
                  </a:txBody>
                  <a:tcPr marL="54864" marR="54864" marT="27432" marB="27432" anchor="ctr">
                    <a:solidFill>
                      <a:srgbClr val="0D1117"/>
                    </a:solidFill>
                  </a:tcPr>
                </a:tc>
                <a:tc>
                  <a:txBody>
                    <a:bodyPr/>
                    <a:lstStyle/>
                    <a:p>
                      <a:pPr>
                        <a:defRPr sz="750" b="1">
                          <a:solidFill>
                            <a:srgbClr val="FFFFFF"/>
                          </a:solidFill>
                          <a:latin typeface="Inter"/>
                        </a:defRPr>
                      </a:pPr>
                      <a:r>
                        <a:rPr>
                          <a:latin typeface="Inter"/>
                        </a:rPr>
                        <a:t>Notes</a:t>
                      </a:r>
                    </a:p>
                  </a:txBody>
                  <a:tcPr marL="54864" marR="54864" marT="27432" marB="27432" anchor="ctr">
                    <a:solidFill>
                      <a:srgbClr val="0D1117"/>
                    </a:solidFill>
                  </a:tcPr>
                </a:tc>
              </a:tr>
              <a:tr h="611505">
                <a:tc>
                  <a:txBody>
                    <a:bodyPr/>
                    <a:lstStyle/>
                    <a:p>
                      <a:pPr>
                        <a:defRPr sz="720" b="1">
                          <a:solidFill>
                            <a:srgbClr val="0D1117"/>
                          </a:solidFill>
                          <a:latin typeface="Inter"/>
                        </a:defRPr>
                      </a:pPr>
                      <a:r>
                        <a:rPr>
                          <a:latin typeface="Inter"/>
                        </a:rPr>
                        <a:t>S1</a:t>
                      </a:r>
                    </a:p>
                  </a:txBody>
                  <a:tcPr marL="54864" marR="54864" marT="27432" marB="27432" anchor="ctr">
                    <a:solidFill>
                      <a:srgbClr val="FFFFFF"/>
                    </a:solidFill>
                  </a:tcPr>
                </a:tc>
                <a:tc>
                  <a:txBody>
                    <a:bodyPr/>
                    <a:lstStyle/>
                    <a:p>
                      <a:pPr>
                        <a:defRPr sz="720" b="0">
                          <a:solidFill>
                            <a:srgbClr val="0D1117"/>
                          </a:solidFill>
                          <a:latin typeface="Inter"/>
                        </a:defRPr>
                      </a:pPr>
                      <a:r>
                        <a:rPr>
                          <a:latin typeface="Inter"/>
                        </a:rPr>
                        <a:t>The Read (get_the_read, AM)</a:t>
                      </a:r>
                    </a:p>
                  </a:txBody>
                  <a:tcPr marL="54864" marR="54864" marT="27432" marB="27432" anchor="ctr">
                    <a:solidFill>
                      <a:srgbClr val="FFFFFF"/>
                    </a:solidFill>
                  </a:tcPr>
                </a:tc>
                <a:tc>
                  <a:txBody>
                    <a:bodyPr/>
                    <a:lstStyle/>
                    <a:p>
                      <a:pPr>
                        <a:defRPr sz="720" b="0">
                          <a:solidFill>
                            <a:srgbClr val="0D1117"/>
                          </a:solidFill>
                          <a:latin typeface="Inter"/>
                        </a:defRPr>
                      </a:pPr>
                      <a:r>
                        <a:rPr>
                          <a:latin typeface="Inter"/>
                        </a:rPr>
                        <a:t>2026-10-02</a:t>
                      </a:r>
                    </a:p>
                  </a:txBody>
                  <a:tcPr marL="54864" marR="54864" marT="27432" marB="27432" anchor="ctr">
                    <a:solidFill>
                      <a:srgbClr val="FFFFFF"/>
                    </a:solidFill>
                  </a:tcPr>
                </a:tc>
                <a:tc>
                  <a:txBody>
                    <a:bodyPr/>
                    <a:lstStyle/>
                    <a:p>
                      <a:pPr>
                        <a:defRPr sz="720" b="1">
                          <a:solidFill>
                            <a:srgbClr val="C6F432"/>
                          </a:solidFill>
                          <a:latin typeface="Inter"/>
                        </a:defRPr>
                      </a:pPr>
                      <a:r>
                        <a:rPr>
                          <a:latin typeface="Inter"/>
                        </a:rPr>
                        <a:t>● passed</a:t>
                      </a:r>
                    </a:p>
                  </a:txBody>
                  <a:tcPr marL="54864" marR="54864" marT="27432" marB="27432" anchor="ctr">
                    <a:solidFill>
                      <a:srgbClr val="F5F7F9"/>
                    </a:solidFill>
                  </a:tcPr>
                </a:tc>
                <a:tc>
                  <a:txBody>
                    <a:bodyPr/>
                    <a:lstStyle/>
                    <a:p>
                      <a:pPr>
                        <a:defRPr sz="720" b="0">
                          <a:solidFill>
                            <a:srgbClr val="0D1117"/>
                          </a:solidFill>
                          <a:latin typeface="Inter"/>
                        </a:defRPr>
                      </a:pPr>
                      <a:r>
                        <a:rPr>
                          <a:latin typeface="Inter"/>
                        </a:rPr>
                        <a:t>Coverage partial: analysis and chart history unavailable</a:t>
                      </a:r>
                    </a:p>
                  </a:txBody>
                  <a:tcPr marL="54864" marR="54864" marT="27432" marB="27432" anchor="ctr">
                    <a:solidFill>
                      <a:srgbClr val="FFFFFF"/>
                    </a:solidFill>
                  </a:tcPr>
                </a:tc>
              </a:tr>
              <a:tr h="611505">
                <a:tc>
                  <a:txBody>
                    <a:bodyPr/>
                    <a:lstStyle/>
                    <a:p>
                      <a:pPr>
                        <a:defRPr sz="720" b="1">
                          <a:solidFill>
                            <a:srgbClr val="0D1117"/>
                          </a:solidFill>
                          <a:latin typeface="Inter"/>
                        </a:defRPr>
                      </a:pPr>
                      <a:r>
                        <a:rPr>
                          <a:latin typeface="Inter"/>
                        </a:rPr>
                        <a:t>S2</a:t>
                      </a:r>
                    </a:p>
                  </a:txBody>
                  <a:tcPr marL="54864" marR="54864" marT="27432" marB="27432" anchor="ctr">
                    <a:solidFill>
                      <a:srgbClr val="F5F7F9"/>
                    </a:solidFill>
                  </a:tcPr>
                </a:tc>
                <a:tc>
                  <a:txBody>
                    <a:bodyPr/>
                    <a:lstStyle/>
                    <a:p>
                      <a:pPr>
                        <a:defRPr sz="720" b="0">
                          <a:solidFill>
                            <a:srgbClr val="0D1117"/>
                          </a:solidFill>
                          <a:latin typeface="Inter"/>
                        </a:defRPr>
                      </a:pPr>
                      <a:r>
                        <a:rPr>
                          <a:latin typeface="Inter"/>
                        </a:rPr>
                        <a:t>Rate indicators (get_macro_conditions)</a:t>
                      </a:r>
                    </a:p>
                  </a:txBody>
                  <a:tcPr marL="54864" marR="54864" marT="27432" marB="27432" anchor="ctr">
                    <a:solidFill>
                      <a:srgbClr val="F5F7F9"/>
                    </a:solidFill>
                  </a:tcPr>
                </a:tc>
                <a:tc>
                  <a:txBody>
                    <a:bodyPr/>
                    <a:lstStyle/>
                    <a:p>
                      <a:pPr>
                        <a:defRPr sz="720" b="0">
                          <a:solidFill>
                            <a:srgbClr val="0D1117"/>
                          </a:solidFill>
                          <a:latin typeface="Inter"/>
                        </a:defRPr>
                      </a:pPr>
                      <a:r>
                        <a:rPr>
                          <a:latin typeface="Inter"/>
                        </a:rPr>
                        <a:t>2026-10-02</a:t>
                      </a:r>
                    </a:p>
                  </a:txBody>
                  <a:tcPr marL="54864" marR="54864" marT="27432" marB="27432" anchor="ctr">
                    <a:solidFill>
                      <a:srgbClr val="F5F7F9"/>
                    </a:solidFill>
                  </a:tcPr>
                </a:tc>
                <a:tc>
                  <a:txBody>
                    <a:bodyPr/>
                    <a:lstStyle/>
                    <a:p>
                      <a:pPr>
                        <a:defRPr sz="720" b="1">
                          <a:solidFill>
                            <a:srgbClr val="C6F432"/>
                          </a:solidFill>
                          <a:latin typeface="Inter"/>
                        </a:defRPr>
                      </a:pPr>
                      <a:r>
                        <a:rPr>
                          <a:latin typeface="Inter"/>
                        </a:rPr>
                        <a:t>● passed</a:t>
                      </a:r>
                    </a:p>
                  </a:txBody>
                  <a:tcPr marL="54864" marR="54864" marT="27432" marB="27432" anchor="ctr">
                    <a:solidFill>
                      <a:srgbClr val="F5F7F9"/>
                    </a:solidFill>
                  </a:tcPr>
                </a:tc>
                <a:tc>
                  <a:txBody>
                    <a:bodyPr/>
                    <a:lstStyle/>
                    <a:p>
                      <a:pPr>
                        <a:defRPr sz="720" b="0">
                          <a:solidFill>
                            <a:srgbClr val="0D1117"/>
                          </a:solidFill>
                          <a:latin typeface="Inter"/>
                        </a:defRPr>
                      </a:pPr>
                      <a:r>
                        <a:rPr>
                          <a:latin typeface="Inter"/>
                        </a:rPr>
                        <a:t>FRED via Gradient; 8 series</a:t>
                      </a:r>
                    </a:p>
                  </a:txBody>
                  <a:tcPr marL="54864" marR="54864" marT="27432" marB="27432" anchor="ctr">
                    <a:solidFill>
                      <a:srgbClr val="F5F7F9"/>
                    </a:solidFill>
                  </a:tcPr>
                </a:tc>
              </a:tr>
              <a:tr h="611505">
                <a:tc>
                  <a:txBody>
                    <a:bodyPr/>
                    <a:lstStyle/>
                    <a:p>
                      <a:pPr>
                        <a:defRPr sz="720" b="1">
                          <a:solidFill>
                            <a:srgbClr val="0D1117"/>
                          </a:solidFill>
                          <a:latin typeface="Inter"/>
                        </a:defRPr>
                      </a:pPr>
                      <a:r>
                        <a:rPr>
                          <a:latin typeface="Inter"/>
                        </a:rPr>
                        <a:t>S3</a:t>
                      </a:r>
                    </a:p>
                  </a:txBody>
                  <a:tcPr marL="54864" marR="54864" marT="27432" marB="27432" anchor="ctr">
                    <a:solidFill>
                      <a:srgbClr val="FFFFFF"/>
                    </a:solidFill>
                  </a:tcPr>
                </a:tc>
                <a:tc>
                  <a:txBody>
                    <a:bodyPr/>
                    <a:lstStyle/>
                    <a:p>
                      <a:pPr>
                        <a:defRPr sz="720" b="0">
                          <a:solidFill>
                            <a:srgbClr val="0D1117"/>
                          </a:solidFill>
                          <a:latin typeface="Inter"/>
                        </a:defRPr>
                      </a:pPr>
                      <a:r>
                        <a:rPr>
                          <a:latin typeface="Inter"/>
                        </a:rPr>
                        <a:t>Gradient signal and GRIP (get_macro_signals)</a:t>
                      </a:r>
                    </a:p>
                  </a:txBody>
                  <a:tcPr marL="54864" marR="54864" marT="27432" marB="27432" anchor="ctr">
                    <a:solidFill>
                      <a:srgbClr val="FFFFFF"/>
                    </a:solidFill>
                  </a:tcPr>
                </a:tc>
                <a:tc>
                  <a:txBody>
                    <a:bodyPr/>
                    <a:lstStyle/>
                    <a:p>
                      <a:pPr>
                        <a:defRPr sz="720" b="0">
                          <a:solidFill>
                            <a:srgbClr val="0D1117"/>
                          </a:solidFill>
                          <a:latin typeface="Inter"/>
                        </a:defRPr>
                      </a:pPr>
                      <a:r>
                        <a:rPr>
                          <a:latin typeface="Inter"/>
                        </a:rPr>
                        <a:t>2026-10-02</a:t>
                      </a:r>
                    </a:p>
                  </a:txBody>
                  <a:tcPr marL="54864" marR="54864" marT="27432" marB="27432" anchor="ctr">
                    <a:solidFill>
                      <a:srgbClr val="FFFFFF"/>
                    </a:solidFill>
                  </a:tcPr>
                </a:tc>
                <a:tc>
                  <a:txBody>
                    <a:bodyPr/>
                    <a:lstStyle/>
                    <a:p>
                      <a:pPr>
                        <a:defRPr sz="720" b="1">
                          <a:solidFill>
                            <a:srgbClr val="C6F432"/>
                          </a:solidFill>
                          <a:latin typeface="Inter"/>
                        </a:defRPr>
                      </a:pPr>
                      <a:r>
                        <a:rPr>
                          <a:latin typeface="Inter"/>
                        </a:rPr>
                        <a:t>● passed</a:t>
                      </a:r>
                    </a:p>
                  </a:txBody>
                  <a:tcPr marL="54864" marR="54864" marT="27432" marB="27432" anchor="ctr">
                    <a:solidFill>
                      <a:srgbClr val="F5F7F9"/>
                    </a:solidFill>
                  </a:tcPr>
                </a:tc>
                <a:tc>
                  <a:txBody>
                    <a:bodyPr/>
                    <a:lstStyle/>
                    <a:p>
                      <a:pPr>
                        <a:defRPr sz="720" b="0">
                          <a:solidFill>
                            <a:srgbClr val="0D1117"/>
                          </a:solidFill>
                          <a:latin typeface="Inter"/>
                        </a:defRPr>
                      </a:pPr>
                      <a:r>
                        <a:rPr>
                          <a:latin typeface="Inter"/>
                        </a:rPr>
                        <a:t>GRIP degraded; regime-state view unavailable (500)</a:t>
                      </a:r>
                    </a:p>
                  </a:txBody>
                  <a:tcPr marL="54864" marR="54864" marT="27432" marB="27432" anchor="ctr">
                    <a:solidFill>
                      <a:srgbClr val="FFFFFF"/>
                    </a:solidFill>
                  </a:tcPr>
                </a:tc>
              </a:tr>
              <a:tr h="611505">
                <a:tc>
                  <a:txBody>
                    <a:bodyPr/>
                    <a:lstStyle/>
                    <a:p>
                      <a:pPr>
                        <a:defRPr sz="720" b="1">
                          <a:solidFill>
                            <a:srgbClr val="0D1117"/>
                          </a:solidFill>
                          <a:latin typeface="Inter"/>
                        </a:defRPr>
                      </a:pPr>
                      <a:r>
                        <a:rPr>
                          <a:latin typeface="Inter"/>
                        </a:rPr>
                        <a:t>S4</a:t>
                      </a:r>
                    </a:p>
                  </a:txBody>
                  <a:tcPr marL="54864" marR="54864" marT="27432" marB="27432" anchor="ctr">
                    <a:solidFill>
                      <a:srgbClr val="F5F7F9"/>
                    </a:solidFill>
                  </a:tcPr>
                </a:tc>
                <a:tc>
                  <a:txBody>
                    <a:bodyPr/>
                    <a:lstStyle/>
                    <a:p>
                      <a:pPr>
                        <a:defRPr sz="720" b="0">
                          <a:solidFill>
                            <a:srgbClr val="0D1117"/>
                          </a:solidFill>
                          <a:latin typeface="Inter"/>
                        </a:defRPr>
                      </a:pPr>
                      <a:r>
                        <a:rPr>
                          <a:latin typeface="Inter"/>
                        </a:rPr>
                        <a:t>Scheduled events (get_macro_calendar)</a:t>
                      </a:r>
                    </a:p>
                  </a:txBody>
                  <a:tcPr marL="54864" marR="54864" marT="27432" marB="27432" anchor="ctr">
                    <a:solidFill>
                      <a:srgbClr val="F5F7F9"/>
                    </a:solidFill>
                  </a:tcPr>
                </a:tc>
                <a:tc>
                  <a:txBody>
                    <a:bodyPr/>
                    <a:lstStyle/>
                    <a:p>
                      <a:pPr>
                        <a:defRPr sz="720" b="0">
                          <a:solidFill>
                            <a:srgbClr val="0D1117"/>
                          </a:solidFill>
                          <a:latin typeface="Inter"/>
                        </a:defRPr>
                      </a:pPr>
                      <a:r>
                        <a:rPr>
                          <a:latin typeface="Inter"/>
                        </a:rPr>
                        <a:t>2026-10-04</a:t>
                      </a:r>
                    </a:p>
                  </a:txBody>
                  <a:tcPr marL="54864" marR="54864" marT="27432" marB="27432" anchor="ctr">
                    <a:solidFill>
                      <a:srgbClr val="F5F7F9"/>
                    </a:solidFill>
                  </a:tcPr>
                </a:tc>
                <a:tc>
                  <a:txBody>
                    <a:bodyPr/>
                    <a:lstStyle/>
                    <a:p>
                      <a:pPr>
                        <a:defRPr sz="720" b="1">
                          <a:solidFill>
                            <a:srgbClr val="C6F432"/>
                          </a:solidFill>
                          <a:latin typeface="Inter"/>
                        </a:defRPr>
                      </a:pPr>
                      <a:r>
                        <a:rPr>
                          <a:latin typeface="Inter"/>
                        </a:rPr>
                        <a:t>● passed</a:t>
                      </a:r>
                    </a:p>
                  </a:txBody>
                  <a:tcPr marL="54864" marR="54864" marT="27432" marB="27432" anchor="ctr">
                    <a:solidFill>
                      <a:srgbClr val="F5F7F9"/>
                    </a:solidFill>
                  </a:tcPr>
                </a:tc>
                <a:tc>
                  <a:txBody>
                    <a:bodyPr/>
                    <a:lstStyle/>
                    <a:p>
                      <a:pPr>
                        <a:defRPr sz="720" b="0">
                          <a:solidFill>
                            <a:srgbClr val="0D1117"/>
                          </a:solidFill>
                          <a:latin typeface="Inter"/>
                        </a:defRPr>
                      </a:pPr>
                      <a:r>
                        <a:rPr>
                          <a:latin typeface="Inter"/>
                        </a:rPr>
                        <a:t>12 of 14 events retrieved</a:t>
                      </a:r>
                    </a:p>
                  </a:txBody>
                  <a:tcPr marL="54864" marR="54864" marT="27432" marB="27432" anchor="ctr">
                    <a:solidFill>
                      <a:srgbClr val="F5F7F9"/>
                    </a:solidFill>
                  </a:tcPr>
                </a:tc>
              </a:tr>
              <a:tr h="611505">
                <a:tc>
                  <a:txBody>
                    <a:bodyPr/>
                    <a:lstStyle/>
                    <a:p>
                      <a:pPr>
                        <a:defRPr sz="720" b="1">
                          <a:solidFill>
                            <a:srgbClr val="0D1117"/>
                          </a:solidFill>
                          <a:latin typeface="Inter"/>
                        </a:defRPr>
                      </a:pPr>
                      <a:r>
                        <a:rPr>
                          <a:latin typeface="Inter"/>
                        </a:rPr>
                        <a:t>S5</a:t>
                      </a:r>
                    </a:p>
                  </a:txBody>
                  <a:tcPr marL="54864" marR="54864" marT="27432" marB="27432" anchor="ctr">
                    <a:solidFill>
                      <a:srgbClr val="FFFFFF"/>
                    </a:solidFill>
                  </a:tcPr>
                </a:tc>
                <a:tc>
                  <a:txBody>
                    <a:bodyPr/>
                    <a:lstStyle/>
                    <a:p>
                      <a:pPr>
                        <a:defRPr sz="720" b="0">
                          <a:solidFill>
                            <a:srgbClr val="0D1117"/>
                          </a:solidFill>
                          <a:latin typeface="Inter"/>
                        </a:defRPr>
                      </a:pPr>
                      <a:r>
                        <a:rPr>
                          <a:latin typeface="Inter"/>
                        </a:rPr>
                        <a:t>CMA baseline (get_capital_market_assumptions)</a:t>
                      </a:r>
                    </a:p>
                  </a:txBody>
                  <a:tcPr marL="54864" marR="54864" marT="27432" marB="27432" anchor="ctr">
                    <a:solidFill>
                      <a:srgbClr val="FFFFFF"/>
                    </a:solidFill>
                  </a:tcPr>
                </a:tc>
                <a:tc>
                  <a:txBody>
                    <a:bodyPr/>
                    <a:lstStyle/>
                    <a:p>
                      <a:pPr>
                        <a:defRPr sz="720" b="0">
                          <a:solidFill>
                            <a:srgbClr val="0D1117"/>
                          </a:solidFill>
                          <a:latin typeface="Inter"/>
                        </a:defRPr>
                      </a:pPr>
                      <a:r>
                        <a:rPr>
                          <a:latin typeface="Inter"/>
                        </a:rPr>
                        <a:t>2026-10-04</a:t>
                      </a:r>
                    </a:p>
                  </a:txBody>
                  <a:tcPr marL="54864" marR="54864" marT="27432" marB="27432" anchor="ctr">
                    <a:solidFill>
                      <a:srgbClr val="FFFFFF"/>
                    </a:solidFill>
                  </a:tcPr>
                </a:tc>
                <a:tc>
                  <a:txBody>
                    <a:bodyPr/>
                    <a:lstStyle/>
                    <a:p>
                      <a:pPr>
                        <a:defRPr sz="720" b="1">
                          <a:solidFill>
                            <a:srgbClr val="F2A93B"/>
                          </a:solidFill>
                          <a:latin typeface="Inter"/>
                        </a:defRPr>
                      </a:pPr>
                      <a:r>
                        <a:rPr>
                          <a:latin typeface="Inter"/>
                        </a:rPr>
                        <a:t>● advisory</a:t>
                      </a:r>
                    </a:p>
                  </a:txBody>
                  <a:tcPr marL="54864" marR="54864" marT="27432" marB="27432" anchor="ctr">
                    <a:solidFill>
                      <a:srgbClr val="F5F7F9"/>
                    </a:solidFill>
                  </a:tcPr>
                </a:tc>
                <a:tc>
                  <a:txBody>
                    <a:bodyPr/>
                    <a:lstStyle/>
                    <a:p>
                      <a:pPr>
                        <a:defRPr sz="720" b="0">
                          <a:solidFill>
                            <a:srgbClr val="0D1117"/>
                          </a:solidFill>
                          <a:latin typeface="Inter"/>
                        </a:defRPr>
                      </a:pPr>
                      <a:r>
                        <a:rPr>
                          <a:latin typeface="Inter"/>
                        </a:rPr>
                        <a:t>Quality receipt unvalidated; 15 quality flags</a:t>
                      </a:r>
                    </a:p>
                  </a:txBody>
                  <a:tcPr marL="54864" marR="54864" marT="27432" marB="27432" anchor="ctr">
                    <a:solidFill>
                      <a:srgbClr val="FFFFFF"/>
                    </a:solidFill>
                  </a:tcPr>
                </a:tc>
              </a:tr>
              <a:tr h="611505">
                <a:tc>
                  <a:txBody>
                    <a:bodyPr/>
                    <a:lstStyle/>
                    <a:p>
                      <a:pPr>
                        <a:defRPr sz="720" b="1">
                          <a:solidFill>
                            <a:srgbClr val="0D1117"/>
                          </a:solidFill>
                          <a:latin typeface="Inter"/>
                        </a:defRPr>
                      </a:pPr>
                      <a:r>
                        <a:rPr>
                          <a:latin typeface="Inter"/>
                        </a:rPr>
                        <a:t>S6</a:t>
                      </a:r>
                    </a:p>
                  </a:txBody>
                  <a:tcPr marL="54864" marR="54864" marT="27432" marB="27432" anchor="ctr">
                    <a:solidFill>
                      <a:srgbClr val="F5F7F9"/>
                    </a:solidFill>
                  </a:tcPr>
                </a:tc>
                <a:tc>
                  <a:txBody>
                    <a:bodyPr/>
                    <a:lstStyle/>
                    <a:p>
                      <a:pPr>
                        <a:defRPr sz="720" b="0">
                          <a:solidFill>
                            <a:srgbClr val="0D1117"/>
                          </a:solidFill>
                          <a:latin typeface="Inter"/>
                        </a:defRPr>
                      </a:pPr>
                      <a:r>
                        <a:rPr>
                          <a:latin typeface="Inter"/>
                        </a:rPr>
                        <a:t>CFTC positioning (get_market_positioning, cftc)</a:t>
                      </a:r>
                    </a:p>
                  </a:txBody>
                  <a:tcPr marL="54864" marR="54864" marT="27432" marB="27432" anchor="ctr">
                    <a:solidFill>
                      <a:srgbClr val="F5F7F9"/>
                    </a:solidFill>
                  </a:tcPr>
                </a:tc>
                <a:tc>
                  <a:txBody>
                    <a:bodyPr/>
                    <a:lstStyle/>
                    <a:p>
                      <a:pPr>
                        <a:defRPr sz="720" b="0">
                          <a:solidFill>
                            <a:srgbClr val="0D1117"/>
                          </a:solidFill>
                          <a:latin typeface="Inter"/>
                        </a:defRPr>
                      </a:pPr>
                      <a:r>
                        <a:rPr>
                          <a:latin typeface="Inter"/>
                        </a:rPr>
                        <a:t>2026-09-29</a:t>
                      </a:r>
                    </a:p>
                  </a:txBody>
                  <a:tcPr marL="54864" marR="54864" marT="27432" marB="27432" anchor="ctr">
                    <a:solidFill>
                      <a:srgbClr val="F5F7F9"/>
                    </a:solidFill>
                  </a:tcPr>
                </a:tc>
                <a:tc>
                  <a:txBody>
                    <a:bodyPr/>
                    <a:lstStyle/>
                    <a:p>
                      <a:pPr>
                        <a:defRPr sz="720" b="1">
                          <a:solidFill>
                            <a:srgbClr val="C6F432"/>
                          </a:solidFill>
                          <a:latin typeface="Inter"/>
                        </a:defRPr>
                      </a:pPr>
                      <a:r>
                        <a:rPr>
                          <a:latin typeface="Inter"/>
                        </a:rPr>
                        <a:t>● passed</a:t>
                      </a:r>
                    </a:p>
                  </a:txBody>
                  <a:tcPr marL="54864" marR="54864" marT="27432" marB="27432" anchor="ctr">
                    <a:solidFill>
                      <a:srgbClr val="F5F7F9"/>
                    </a:solidFill>
                  </a:tcPr>
                </a:tc>
                <a:tc>
                  <a:txBody>
                    <a:bodyPr/>
                    <a:lstStyle/>
                    <a:p>
                      <a:pPr>
                        <a:defRPr sz="720" b="0">
                          <a:solidFill>
                            <a:srgbClr val="0D1117"/>
                          </a:solidFill>
                          <a:latin typeface="Inter"/>
                        </a:defRPr>
                      </a:pPr>
                      <a:r>
                        <a:rPr>
                          <a:latin typeface="Inter"/>
                        </a:rPr>
                        <a:t>Flags only; 156-week within-series percentiles</a:t>
                      </a:r>
                    </a:p>
                  </a:txBody>
                  <a:tcPr marL="54864" marR="54864" marT="27432" marB="27432" anchor="ctr">
                    <a:solidFill>
                      <a:srgbClr val="F5F7F9"/>
                    </a:solidFill>
                  </a:tcPr>
                </a:tc>
              </a:tr>
              <a:tr h="611505">
                <a:tc>
                  <a:txBody>
                    <a:bodyPr/>
                    <a:lstStyle/>
                    <a:p>
                      <a:pPr>
                        <a:defRPr sz="720" b="1">
                          <a:solidFill>
                            <a:srgbClr val="0D1117"/>
                          </a:solidFill>
                          <a:latin typeface="Inter"/>
                        </a:defRPr>
                      </a:pPr>
                      <a:r>
                        <a:rPr>
                          <a:latin typeface="Inter"/>
                        </a:rPr>
                        <a:t>S7</a:t>
                      </a:r>
                    </a:p>
                  </a:txBody>
                  <a:tcPr marL="54864" marR="54864" marT="27432" marB="27432" anchor="ctr">
                    <a:solidFill>
                      <a:srgbClr val="FFFFFF"/>
                    </a:solidFill>
                  </a:tcPr>
                </a:tc>
                <a:tc>
                  <a:txBody>
                    <a:bodyPr/>
                    <a:lstStyle/>
                    <a:p>
                      <a:pPr>
                        <a:defRPr sz="720" b="0">
                          <a:solidFill>
                            <a:srgbClr val="0D1117"/>
                          </a:solidFill>
                          <a:latin typeface="Inter"/>
                        </a:defRPr>
                      </a:pPr>
                      <a:r>
                        <a:rPr>
                          <a:latin typeface="Inter"/>
                        </a:rPr>
                        <a:t>Hedge-fund crowding (get_market_positioning)</a:t>
                      </a:r>
                    </a:p>
                  </a:txBody>
                  <a:tcPr marL="54864" marR="54864" marT="27432" marB="27432" anchor="ctr">
                    <a:solidFill>
                      <a:srgbClr val="FFFFFF"/>
                    </a:solidFill>
                  </a:tcPr>
                </a:tc>
                <a:tc>
                  <a:txBody>
                    <a:bodyPr/>
                    <a:lstStyle/>
                    <a:p>
                      <a:pPr>
                        <a:defRPr sz="720" b="0">
                          <a:solidFill>
                            <a:srgbClr val="0D1117"/>
                          </a:solidFill>
                          <a:latin typeface="Inter"/>
                        </a:defRPr>
                      </a:pPr>
                      <a:r>
                        <a:rPr>
                          <a:latin typeface="Inter"/>
                        </a:rPr>
                        <a:t>2026-06-30</a:t>
                      </a:r>
                    </a:p>
                  </a:txBody>
                  <a:tcPr marL="54864" marR="54864" marT="27432" marB="27432" anchor="ctr">
                    <a:solidFill>
                      <a:srgbClr val="FFFFFF"/>
                    </a:solidFill>
                  </a:tcPr>
                </a:tc>
                <a:tc>
                  <a:txBody>
                    <a:bodyPr/>
                    <a:lstStyle/>
                    <a:p>
                      <a:pPr>
                        <a:defRPr sz="720" b="1">
                          <a:solidFill>
                            <a:srgbClr val="C6F432"/>
                          </a:solidFill>
                          <a:latin typeface="Inter"/>
                        </a:defRPr>
                      </a:pPr>
                      <a:r>
                        <a:rPr>
                          <a:latin typeface="Inter"/>
                        </a:rPr>
                        <a:t>● passed</a:t>
                      </a:r>
                    </a:p>
                  </a:txBody>
                  <a:tcPr marL="54864" marR="54864" marT="27432" marB="27432" anchor="ctr">
                    <a:solidFill>
                      <a:srgbClr val="F5F7F9"/>
                    </a:solidFill>
                  </a:tcPr>
                </a:tc>
                <a:tc>
                  <a:txBody>
                    <a:bodyPr/>
                    <a:lstStyle/>
                    <a:p>
                      <a:pPr>
                        <a:defRPr sz="720" b="0">
                          <a:solidFill>
                            <a:srgbClr val="0D1117"/>
                          </a:solidFill>
                          <a:latin typeface="Inter"/>
                        </a:defRPr>
                      </a:pPr>
                      <a:r>
                        <a:rPr>
                          <a:latin typeface="Inter"/>
                        </a:rPr>
                        <a:t>29 of 30 managers; quarterly and lagged</a:t>
                      </a:r>
                    </a:p>
                  </a:txBody>
                  <a:tcPr marL="54864" marR="54864" marT="27432" marB="27432" anchor="ctr">
                    <a:solidFill>
                      <a:srgbClr val="FFFFFF"/>
                    </a:solidFill>
                  </a:tcPr>
                </a:tc>
              </a:tr>
            </a:tbl>
          </a:graphicData>
        </a:graphic>
      </p:graphicFrame>
      <p:sp>
        <p:nvSpPr>
          <p:cNvPr id="9" name="Rectangle 8"/>
          <p:cNvSpPr/>
          <p:nvPr/>
        </p:nvSpPr>
        <p:spPr>
          <a:xfrm>
            <a:off x="640080" y="6446520"/>
            <a:ext cx="10908792" cy="9144"/>
          </a:xfrm>
          <a:prstGeom prst="rect">
            <a:avLst/>
          </a:prstGeom>
          <a:solidFill>
            <a:srgbClr val="E3E7EC"/>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0" name="TextBox 9"/>
          <p:cNvSpPr txBox="1"/>
          <p:nvPr/>
        </p:nvSpPr>
        <p:spPr>
          <a:xfrm>
            <a:off x="640080" y="6501384"/>
            <a:ext cx="4297680" cy="146304"/>
          </a:xfrm>
          <a:prstGeom prst="rect">
            <a:avLst/>
          </a:prstGeom>
          <a:noFill/>
        </p:spPr>
        <p:txBody>
          <a:bodyPr wrap="none" lIns="9144" rIns="9144" tIns="9144" bIns="9144" anchor="t">
            <a:spAutoFit/>
          </a:bodyPr>
          <a:lstStyle/>
          <a:p>
            <a:pPr algn="l">
              <a:spcAft>
                <a:spcPts val="0"/>
              </a:spcAft>
              <a:defRPr sz="650" b="0">
                <a:solidFill>
                  <a:srgbClr val="8A94A1"/>
                </a:solidFill>
                <a:latin typeface="Inter"/>
              </a:defRPr>
            </a:pPr>
            <a:r>
              <a:rPr>
                <a:latin typeface="Inter"/>
              </a:rPr>
              <a:t>Sources: S1 · S2 · S3 · S4 · S5 · S6 · S7</a:t>
            </a:r>
          </a:p>
        </p:txBody>
      </p:sp>
      <p:sp>
        <p:nvSpPr>
          <p:cNvPr id="11" name="TextBox 10"/>
          <p:cNvSpPr txBox="1"/>
          <p:nvPr/>
        </p:nvSpPr>
        <p:spPr>
          <a:xfrm>
            <a:off x="4480560" y="6501384"/>
            <a:ext cx="5303520" cy="146304"/>
          </a:xfrm>
          <a:prstGeom prst="rect">
            <a:avLst/>
          </a:prstGeom>
          <a:noFill/>
        </p:spPr>
        <p:txBody>
          <a:bodyPr wrap="none" lIns="9144" rIns="9144" tIns="9144" bIns="9144" anchor="t">
            <a:spAutoFit/>
          </a:bodyPr>
          <a:lstStyle/>
          <a:p>
            <a:pPr algn="ctr">
              <a:spcAft>
                <a:spcPts val="0"/>
              </a:spcAft>
              <a:defRPr sz="650" b="0">
                <a:solidFill>
                  <a:srgbClr val="8A94A1"/>
                </a:solidFill>
                <a:latin typeface="Inter"/>
              </a:defRPr>
            </a:pPr>
            <a:r>
              <a:rPr>
                <a:latin typeface="Inter"/>
              </a:rPr>
              <a:t>Confidential — prepared for internal investment use · Data as of 2026-10-02</a:t>
            </a:r>
          </a:p>
        </p:txBody>
      </p:sp>
      <p:sp>
        <p:nvSpPr>
          <p:cNvPr id="12" name="TextBox 11"/>
          <p:cNvSpPr txBox="1"/>
          <p:nvPr/>
        </p:nvSpPr>
        <p:spPr>
          <a:xfrm>
            <a:off x="10287000" y="6501384"/>
            <a:ext cx="1261872" cy="146304"/>
          </a:xfrm>
          <a:prstGeom prst="rect">
            <a:avLst/>
          </a:prstGeom>
          <a:noFill/>
        </p:spPr>
        <p:txBody>
          <a:bodyPr wrap="none" lIns="9144" rIns="9144" tIns="9144" bIns="9144" anchor="t">
            <a:spAutoFit/>
          </a:bodyPr>
          <a:lstStyle/>
          <a:p>
            <a:pPr algn="r">
              <a:spcAft>
                <a:spcPts val="0"/>
              </a:spcAft>
              <a:defRPr sz="650" b="0">
                <a:solidFill>
                  <a:srgbClr val="8A94A1"/>
                </a:solidFill>
                <a:latin typeface="Inter"/>
              </a:defRPr>
            </a:pPr>
            <a:r>
              <a:rPr>
                <a:latin typeface="Inter"/>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3" name="TextBox 2"/>
          <p:cNvSpPr txBox="1"/>
          <p:nvPr/>
        </p:nvSpPr>
        <p:spPr>
          <a:xfrm>
            <a:off x="640080" y="329184"/>
            <a:ext cx="9875520" cy="182880"/>
          </a:xfrm>
          <a:prstGeom prst="rect">
            <a:avLst/>
          </a:prstGeom>
          <a:noFill/>
        </p:spPr>
        <p:txBody>
          <a:bodyPr wrap="none" lIns="9144" rIns="9144" tIns="9144" bIns="9144" anchor="t">
            <a:spAutoFit/>
          </a:bodyPr>
          <a:lstStyle/>
          <a:p>
            <a:pPr algn="l">
              <a:spcAft>
                <a:spcPts val="0"/>
              </a:spcAft>
              <a:defRPr sz="750" b="1">
                <a:solidFill>
                  <a:srgbClr val="4F6B00"/>
                </a:solidFill>
                <a:latin typeface="Inter"/>
              </a:defRPr>
            </a:pPr>
            <a:r>
              <a:rPr>
                <a:latin typeface="Inter"/>
              </a:rPr>
              <a:t>SOURCES AND METHOD</a:t>
            </a:r>
          </a:p>
        </p:txBody>
      </p:sp>
      <p:sp>
        <p:nvSpPr>
          <p:cNvPr id="4" name="TextBox 3"/>
          <p:cNvSpPr txBox="1"/>
          <p:nvPr/>
        </p:nvSpPr>
        <p:spPr>
          <a:xfrm>
            <a:off x="640080" y="566928"/>
            <a:ext cx="10058400" cy="530352"/>
          </a:xfrm>
          <a:prstGeom prst="rect">
            <a:avLst/>
          </a:prstGeom>
          <a:noFill/>
        </p:spPr>
        <p:txBody>
          <a:bodyPr wrap="none" lIns="9144" rIns="9144" tIns="9144" bIns="9144" anchor="t">
            <a:spAutoFit/>
          </a:bodyPr>
          <a:lstStyle/>
          <a:p>
            <a:pPr algn="l">
              <a:spcAft>
                <a:spcPts val="0"/>
              </a:spcAft>
              <a:defRPr sz="2300" b="1">
                <a:solidFill>
                  <a:srgbClr val="0D1117"/>
                </a:solidFill>
                <a:latin typeface="Inter"/>
              </a:defRPr>
            </a:pPr>
            <a:r>
              <a:rPr>
                <a:latin typeface="Inter"/>
              </a:rPr>
              <a:t>Sources, data quality and limits — continued</a:t>
            </a:r>
          </a:p>
        </p:txBody>
      </p:sp>
      <p:sp>
        <p:nvSpPr>
          <p:cNvPr id="5" name="Rectangle 4"/>
          <p:cNvSpPr/>
          <p:nvPr/>
        </p:nvSpPr>
        <p:spPr>
          <a:xfrm>
            <a:off x="640080" y="1115568"/>
            <a:ext cx="10908792" cy="18288"/>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6" name="Rectangle 5"/>
          <p:cNvSpPr/>
          <p:nvPr/>
        </p:nvSpPr>
        <p:spPr>
          <a:xfrm>
            <a:off x="11018520" y="502920"/>
            <a:ext cx="530352" cy="393192"/>
          </a:xfrm>
          <a:prstGeom prst="rect">
            <a:avLst/>
          </a:prstGeom>
          <a:solidFill>
            <a:srgbClr val="C6F432"/>
          </a:solidFill>
          <a:ln>
            <a:solidFill>
              <a:srgbClr val="C6F432"/>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7" name="TextBox 6"/>
          <p:cNvSpPr txBox="1"/>
          <p:nvPr/>
        </p:nvSpPr>
        <p:spPr>
          <a:xfrm>
            <a:off x="11045952" y="557784"/>
            <a:ext cx="475488" cy="182880"/>
          </a:xfrm>
          <a:prstGeom prst="rect">
            <a:avLst/>
          </a:prstGeom>
          <a:noFill/>
        </p:spPr>
        <p:txBody>
          <a:bodyPr wrap="none" lIns="9144" rIns="9144" tIns="9144" bIns="9144" anchor="t">
            <a:spAutoFit/>
          </a:bodyPr>
          <a:lstStyle/>
          <a:p>
            <a:pPr algn="ctr">
              <a:spcAft>
                <a:spcPts val="0"/>
              </a:spcAft>
              <a:defRPr sz="1000" b="1">
                <a:solidFill>
                  <a:srgbClr val="0D1117"/>
                </a:solidFill>
                <a:latin typeface="Inter"/>
              </a:defRPr>
            </a:pPr>
            <a:r>
              <a:rPr>
                <a:latin typeface="Inter"/>
              </a:rPr>
              <a:t>10</a:t>
            </a:r>
          </a:p>
        </p:txBody>
      </p:sp>
      <p:sp>
        <p:nvSpPr>
          <p:cNvPr id="8" name="TextBox 7"/>
          <p:cNvSpPr txBox="1"/>
          <p:nvPr/>
        </p:nvSpPr>
        <p:spPr>
          <a:xfrm>
            <a:off x="640080" y="1325880"/>
            <a:ext cx="10908792" cy="4892040"/>
          </a:xfrm>
          <a:prstGeom prst="rect">
            <a:avLst/>
          </a:prstGeom>
          <a:noFill/>
        </p:spPr>
        <p:txBody>
          <a:bodyPr wrap="none" lIns="9144" rIns="9144" tIns="9144" bIns="9144" anchor="t">
            <a:spAutoFit/>
          </a:bodyPr>
          <a:lstStyle/>
          <a:p>
            <a:pPr algn="l">
              <a:spcAft>
                <a:spcPts val="0"/>
              </a:spcAft>
              <a:defRPr sz="1100" b="0">
                <a:solidFill>
                  <a:srgbClr val="4A5563"/>
                </a:solidFill>
                <a:latin typeface="Inter"/>
              </a:defRPr>
            </a:pPr>
            <a:r>
              <a:rPr>
                <a:latin typeface="Inter"/>
              </a:rPr>
              <a:t>Numbers come only from structured fields; The Read's prose is quoted, not mined for figures. Signals, percentiles and GRIP describe historical or modeled context, not forecasts. CMAs are Gradient house assumptions, not realized performance. Not investment advice.</a:t>
            </a:r>
          </a:p>
        </p:txBody>
      </p:sp>
      <p:sp>
        <p:nvSpPr>
          <p:cNvPr id="9" name="Rectangle 8"/>
          <p:cNvSpPr/>
          <p:nvPr/>
        </p:nvSpPr>
        <p:spPr>
          <a:xfrm>
            <a:off x="640080" y="6446520"/>
            <a:ext cx="10908792" cy="9144"/>
          </a:xfrm>
          <a:prstGeom prst="rect">
            <a:avLst/>
          </a:prstGeom>
          <a:solidFill>
            <a:srgbClr val="E3E7EC"/>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0" name="TextBox 9"/>
          <p:cNvSpPr txBox="1"/>
          <p:nvPr/>
        </p:nvSpPr>
        <p:spPr>
          <a:xfrm>
            <a:off x="640080" y="6501384"/>
            <a:ext cx="4297680" cy="146304"/>
          </a:xfrm>
          <a:prstGeom prst="rect">
            <a:avLst/>
          </a:prstGeom>
          <a:noFill/>
        </p:spPr>
        <p:txBody>
          <a:bodyPr wrap="none" lIns="9144" rIns="9144" tIns="9144" bIns="9144" anchor="t">
            <a:spAutoFit/>
          </a:bodyPr>
          <a:lstStyle/>
          <a:p>
            <a:pPr algn="l">
              <a:spcAft>
                <a:spcPts val="0"/>
              </a:spcAft>
              <a:defRPr sz="650" b="0">
                <a:solidFill>
                  <a:srgbClr val="8A94A1"/>
                </a:solidFill>
                <a:latin typeface="Inter"/>
              </a:defRPr>
            </a:pPr>
            <a:r>
              <a:rPr>
                <a:latin typeface="Inter"/>
              </a:rPr>
              <a:t>Sources: none cited</a:t>
            </a:r>
          </a:p>
        </p:txBody>
      </p:sp>
      <p:sp>
        <p:nvSpPr>
          <p:cNvPr id="11" name="TextBox 10"/>
          <p:cNvSpPr txBox="1"/>
          <p:nvPr/>
        </p:nvSpPr>
        <p:spPr>
          <a:xfrm>
            <a:off x="4480560" y="6501384"/>
            <a:ext cx="5303520" cy="146304"/>
          </a:xfrm>
          <a:prstGeom prst="rect">
            <a:avLst/>
          </a:prstGeom>
          <a:noFill/>
        </p:spPr>
        <p:txBody>
          <a:bodyPr wrap="none" lIns="9144" rIns="9144" tIns="9144" bIns="9144" anchor="t">
            <a:spAutoFit/>
          </a:bodyPr>
          <a:lstStyle/>
          <a:p>
            <a:pPr algn="ctr">
              <a:spcAft>
                <a:spcPts val="0"/>
              </a:spcAft>
              <a:defRPr sz="650" b="0">
                <a:solidFill>
                  <a:srgbClr val="8A94A1"/>
                </a:solidFill>
                <a:latin typeface="Inter"/>
              </a:defRPr>
            </a:pPr>
            <a:r>
              <a:rPr>
                <a:latin typeface="Inter"/>
              </a:rPr>
              <a:t>Confidential — prepared for internal investment use · Data as of 2026-10-02</a:t>
            </a:r>
          </a:p>
        </p:txBody>
      </p:sp>
      <p:sp>
        <p:nvSpPr>
          <p:cNvPr id="12" name="TextBox 11"/>
          <p:cNvSpPr txBox="1"/>
          <p:nvPr/>
        </p:nvSpPr>
        <p:spPr>
          <a:xfrm>
            <a:off x="10287000" y="6501384"/>
            <a:ext cx="1261872" cy="146304"/>
          </a:xfrm>
          <a:prstGeom prst="rect">
            <a:avLst/>
          </a:prstGeom>
          <a:noFill/>
        </p:spPr>
        <p:txBody>
          <a:bodyPr wrap="none" lIns="9144" rIns="9144" tIns="9144" bIns="9144" anchor="t">
            <a:spAutoFit/>
          </a:bodyPr>
          <a:lstStyle/>
          <a:p>
            <a:pPr algn="r">
              <a:spcAft>
                <a:spcPts val="0"/>
              </a:spcAft>
              <a:defRPr sz="650" b="0">
                <a:solidFill>
                  <a:srgbClr val="8A94A1"/>
                </a:solidFill>
                <a:latin typeface="Inter"/>
              </a:defRPr>
            </a:pPr>
            <a:r>
              <a:rPr>
                <a:latin typeface="Inter"/>
              </a:rPr>
              <a:t>13</a:t>
            </a:r>
          </a:p>
        </p:txBody>
      </p:sp>
    </p:spTree>
  </p:cSld>
  <p:clrMapOvr>
    <a:masterClrMapping/>
  </p:clrMapOvr>
</p:sld>
</file>

<file path=ppt/theme/theme1.xml><?xml version="1.0" encoding="utf-8"?>
<a:theme xmlns:a="http://schemas.openxmlformats.org/drawingml/2006/main" name="Office Theme">
  <a:themeElements>
    <a:clrScheme name="Office">
      <a:dk1>
        <a:srgbClr val="0D1117"/>
      </a:dk1>
      <a:lt1>
        <a:srgbClr val="FFFFFF"/>
      </a:lt1>
      <a:dk2>
        <a:srgbClr val="161C24"/>
      </a:dk2>
      <a:lt2>
        <a:srgbClr val="F5F7F9"/>
      </a:lt2>
      <a:accent1>
        <a:srgbClr val="C6F432"/>
      </a:accent1>
      <a:accent2>
        <a:srgbClr val="4F6B00"/>
      </a:accent2>
      <a:accent3>
        <a:srgbClr val="F2A93B"/>
      </a:accent3>
      <a:accent4>
        <a:srgbClr val="5B8DEF"/>
      </a:accent4>
      <a:accent5>
        <a:srgbClr val="FF6B5E"/>
      </a:accent5>
      <a:accent6>
        <a:srgbClr val="3FB8AF"/>
      </a:accent6>
      <a:hlink>
        <a:srgbClr val="0000FF"/>
      </a:hlink>
      <a:folHlink>
        <a:srgbClr val="800080"/>
      </a:folHlink>
    </a:clrScheme>
    <a:fontScheme name="Office">
      <a:majorFont>
        <a:latin typeface="Inter"/>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Inter"/>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Macro Briefing</dc:title>
  <dc:subject>Macro Briefing</dc:subject>
  <dc:creator>GradientCIO</dc:creator>
  <cp:keywords>Gradient report theme 2.1.0</cp:keywords>
  <dc:description>generated using python-pptx</dc:description>
  <cp:lastModifiedBy>GradientCIO</cp:lastModifiedBy>
  <cp:revision>1</cp:revision>
  <dcterms:created xsi:type="dcterms:W3CDTF">2020-01-01T00:00:00Z</dcterms:created>
  <dcterms:modified xsi:type="dcterms:W3CDTF">2020-01-01T00:00:00Z</dcterms:modified>
  <cp:category/>
</cp:coreProperties>
</file>