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Pt>
            <c:idx val="4"/>
            <c:spPr>
              <a:solidFill>
                <a:srgbClr val="C6F432"/>
              </a:solidFill>
            </c:spPr>
          </c:dPt>
          <c:dPt>
            <c:idx val="5"/>
            <c:spPr>
              <a:solidFill>
                <a:srgbClr val="C6F432"/>
              </a:solidFill>
            </c:spPr>
          </c:dPt>
          <c:dPt>
            <c:idx val="6"/>
            <c:spPr>
              <a:solidFill>
                <a:srgbClr val="C6F432"/>
              </a:solidFill>
            </c:spPr>
          </c:dPt>
          <c:dPt>
            <c:idx val="7"/>
            <c:spPr>
              <a:solidFill>
                <a:srgbClr val="C6F432"/>
              </a:solidFill>
            </c:spPr>
          </c:dPt>
          <c:cat>
            <c:strRef>
              <c:f>Sheet1!$A$2:$A$9</c:f>
              <c:strCache>
                <c:ptCount val="8"/>
                <c:pt idx="0">
                  <c:v>2-Year Treasury</c:v>
                </c:pt>
                <c:pt idx="1">
                  <c:v>1-Year Treasury</c:v>
                </c:pt>
                <c:pt idx="2">
                  <c:v>Fed funds effective</c:v>
                </c:pt>
                <c:pt idx="3">
                  <c:v>3-Month Treasury</c:v>
                </c:pt>
                <c:pt idx="4">
                  <c:v>10Y–3M spread</c:v>
                </c:pt>
                <c:pt idx="5">
                  <c:v>SOFR</c:v>
                </c:pt>
                <c:pt idx="6">
                  <c:v>10Y term premium (ACM)</c:v>
                </c:pt>
                <c:pt idx="7">
                  <c:v>10Y–2Y spread</c:v>
                </c:pt>
              </c:strCache>
            </c:strRef>
          </c:cat>
          <c:val>
            <c:numRef>
              <c:f>Sheet1!$B$2:$B$9</c:f>
              <c:numCache>
                <c:formatCode>General</c:formatCode>
                <c:ptCount val="8"/>
                <c:pt idx="0">
                  <c:v>39.0</c:v>
                </c:pt>
                <c:pt idx="1">
                  <c:v>26.0</c:v>
                </c:pt>
                <c:pt idx="2">
                  <c:v>25.0</c:v>
                </c:pt>
                <c:pt idx="3">
                  <c:v>25.0</c:v>
                </c:pt>
                <c:pt idx="4">
                  <c:v>22.0</c:v>
                </c:pt>
                <c:pt idx="5">
                  <c:v>21.0</c:v>
                </c:pt>
                <c:pt idx="6">
                  <c:v>18.09</c:v>
                </c:pt>
                <c:pt idx="7">
                  <c:v>5.0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FF6B5E"/>
              </a:solidFill>
            </c:spPr>
          </c:dPt>
          <c:dPt>
            <c:idx val="1"/>
            <c:spPr>
              <a:solidFill>
                <a:srgbClr val="FF6B5E"/>
              </a:solidFill>
            </c:spPr>
          </c:dPt>
          <c:dPt>
            <c:idx val="2"/>
            <c:spPr>
              <a:solidFill>
                <a:srgbClr val="FF6B5E"/>
              </a:solidFill>
            </c:spPr>
          </c:dPt>
          <c:dPt>
            <c:idx val="3"/>
            <c:spPr>
              <a:solidFill>
                <a:srgbClr val="9AA5B1"/>
              </a:solidFill>
            </c:spPr>
          </c:dPt>
          <c:dPt>
            <c:idx val="4"/>
            <c:spPr>
              <a:solidFill>
                <a:srgbClr val="9AA5B1"/>
              </a:solidFill>
            </c:spPr>
          </c:dPt>
          <c:dPt>
            <c:idx val="5"/>
            <c:spPr>
              <a:solidFill>
                <a:srgbClr val="9AA5B1"/>
              </a:solidFill>
            </c:spPr>
          </c:dPt>
          <c:dPt>
            <c:idx val="6"/>
            <c:spPr>
              <a:solidFill>
                <a:srgbClr val="C6F432"/>
              </a:solidFill>
            </c:spPr>
          </c:dPt>
          <c:cat>
            <c:strRef>
              <c:f>Sheet1!$A$2:$A$8</c:f>
              <c:strCache>
                <c:ptCount val="7"/>
                <c:pt idx="0">
                  <c:v>Rates</c:v>
                </c:pt>
                <c:pt idx="1">
                  <c:v>Macro risk</c:v>
                </c:pt>
                <c:pt idx="2">
                  <c:v>Growth</c:v>
                </c:pt>
                <c:pt idx="3">
                  <c:v>Risk appetite</c:v>
                </c:pt>
                <c:pt idx="4">
                  <c:v>Credit</c:v>
                </c:pt>
                <c:pt idx="5">
                  <c:v>Liquidity</c:v>
                </c:pt>
                <c:pt idx="6">
                  <c:v>Inflation</c:v>
                </c:pt>
              </c:strCache>
            </c:strRef>
          </c:cat>
          <c:val>
            <c:numRef>
              <c:f>Sheet1!$B$2:$B$8</c:f>
              <c:numCache>
                <c:formatCode>General</c:formatCode>
                <c:ptCount val="7"/>
                <c:pt idx="0">
                  <c:v>76.7</c:v>
                </c:pt>
                <c:pt idx="1">
                  <c:v>68.0</c:v>
                </c:pt>
                <c:pt idx="2">
                  <c:v>67.7</c:v>
                </c:pt>
                <c:pt idx="3">
                  <c:v>61.1</c:v>
                </c:pt>
                <c:pt idx="4">
                  <c:v>57.5</c:v>
                </c:pt>
                <c:pt idx="5">
                  <c:v>49.4</c:v>
                </c:pt>
                <c:pt idx="6">
                  <c:v>21.9</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cat>
            <c:strRef>
              <c:f>Sheet1!$A$2:$A$5</c:f>
              <c:strCache>
                <c:ptCount val="4"/>
                <c:pt idx="0">
                  <c:v>Gold · swap dealers</c:v>
                </c:pt>
                <c:pt idx="1">
                  <c:v>British pound · asset managers</c:v>
                </c:pt>
                <c:pt idx="2">
                  <c:v>10-Year UST · asset managers</c:v>
                </c:pt>
                <c:pt idx="3">
                  <c:v>2-Year UST · leveraged funds</c:v>
                </c:pt>
              </c:strCache>
            </c:strRef>
          </c:cat>
          <c:val>
            <c:numRef>
              <c:f>Sheet1!$B$2:$B$5</c:f>
              <c:numCache>
                <c:formatCode>General</c:formatCode>
                <c:ptCount val="4"/>
                <c:pt idx="0">
                  <c:v>4.0</c:v>
                </c:pt>
                <c:pt idx="1">
                  <c:v>2.0</c:v>
                </c:pt>
                <c:pt idx="2">
                  <c:v>97.0</c:v>
                </c:pt>
                <c:pt idx="3">
                  <c:v>100.0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Pt>
            <c:idx val="4"/>
            <c:spPr>
              <a:solidFill>
                <a:srgbClr val="C6F432"/>
              </a:solidFill>
            </c:spPr>
          </c:dPt>
          <c:dPt>
            <c:idx val="5"/>
            <c:spPr>
              <a:solidFill>
                <a:srgbClr val="C6F432"/>
              </a:solidFill>
            </c:spPr>
          </c:dPt>
          <c:dPt>
            <c:idx val="6"/>
            <c:spPr>
              <a:solidFill>
                <a:srgbClr val="C6F432"/>
              </a:solidFill>
            </c:spPr>
          </c:dPt>
          <c:dPt>
            <c:idx val="7"/>
            <c:spPr>
              <a:solidFill>
                <a:srgbClr val="C6F432"/>
              </a:solidFill>
            </c:spPr>
          </c:dPt>
          <c:dPt>
            <c:idx val="8"/>
            <c:spPr>
              <a:solidFill>
                <a:srgbClr val="C6F432"/>
              </a:solidFill>
            </c:spPr>
          </c:dPt>
          <c:cat>
            <c:strRef>
              <c:f>Sheet1!$A$2:$A$10</c:f>
              <c:strCache>
                <c:ptCount val="9"/>
                <c:pt idx="0">
                  <c:v>Global Small Cap DM</c:v>
                </c:pt>
                <c:pt idx="1">
                  <c:v>Global Value DM</c:v>
                </c:pt>
                <c:pt idx="2">
                  <c:v>Global Public Equity EM</c:v>
                </c:pt>
                <c:pt idx="3">
                  <c:v>Global Public Equity DM</c:v>
                </c:pt>
                <c:pt idx="4">
                  <c:v>Global Large Cap DM</c:v>
                </c:pt>
                <c:pt idx="5">
                  <c:v>Global Growth DM</c:v>
                </c:pt>
                <c:pt idx="6">
                  <c:v>Convertibles</c:v>
                </c:pt>
                <c:pt idx="7">
                  <c:v>Global Aggregate Bonds</c:v>
                </c:pt>
                <c:pt idx="8">
                  <c:v>Global Government Bonds</c:v>
                </c:pt>
              </c:strCache>
            </c:strRef>
          </c:cat>
          <c:val>
            <c:numRef>
              <c:f>Sheet1!$B$2:$B$10</c:f>
              <c:numCache>
                <c:formatCode>General</c:formatCode>
                <c:ptCount val="9"/>
                <c:pt idx="0">
                  <c:v>5.87</c:v>
                </c:pt>
                <c:pt idx="1">
                  <c:v>5.2</c:v>
                </c:pt>
                <c:pt idx="2">
                  <c:v>4.98</c:v>
                </c:pt>
                <c:pt idx="3">
                  <c:v>4.69</c:v>
                </c:pt>
                <c:pt idx="4">
                  <c:v>4.5</c:v>
                </c:pt>
                <c:pt idx="5">
                  <c:v>4.2</c:v>
                </c:pt>
                <c:pt idx="6">
                  <c:v>3.61</c:v>
                </c:pt>
                <c:pt idx="7">
                  <c:v>0.06</c:v>
                </c:pt>
                <c:pt idx="8">
                  <c:v>0.05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828800"/>
            <a:ext cx="9966960" cy="274320"/>
          </a:xfrm>
          <a:prstGeom prst="rect">
            <a:avLst/>
          </a:prstGeom>
          <a:noFill/>
        </p:spPr>
        <p:txBody>
          <a:bodyPr wrap="none" lIns="9144" rIns="9144" tIns="9144" bIns="9144" anchor="t">
            <a:spAutoFit/>
          </a:bodyPr>
          <a:lstStyle/>
          <a:p>
            <a:pPr algn="l">
              <a:spcAft>
                <a:spcPts val="0"/>
              </a:spcAft>
              <a:defRPr sz="900" b="1">
                <a:solidFill>
                  <a:srgbClr val="C6F432"/>
                </a:solidFill>
                <a:latin typeface="Inter"/>
              </a:defRPr>
            </a:pPr>
            <a:r>
              <a:rPr>
                <a:latin typeface="Inter"/>
              </a:rPr>
              <a:t>INVESTMENT COMMITTEE</a:t>
            </a:r>
          </a:p>
        </p:txBody>
      </p:sp>
      <p:sp>
        <p:nvSpPr>
          <p:cNvPr id="6" name="TextBox 5"/>
          <p:cNvSpPr txBox="1"/>
          <p:nvPr/>
        </p:nvSpPr>
        <p:spPr>
          <a:xfrm>
            <a:off x="685800" y="2176272"/>
            <a:ext cx="9966960" cy="1234440"/>
          </a:xfrm>
          <a:prstGeom prst="rect">
            <a:avLst/>
          </a:prstGeom>
          <a:noFill/>
        </p:spPr>
        <p:txBody>
          <a:bodyPr wrap="none" lIns="9144" rIns="9144" tIns="9144" bIns="9144" anchor="t">
            <a:spAutoFit/>
          </a:bodyPr>
          <a:lstStyle/>
          <a:p>
            <a:pPr algn="l">
              <a:spcAft>
                <a:spcPts val="0"/>
              </a:spcAft>
              <a:defRPr sz="3400" b="1">
                <a:solidFill>
                  <a:srgbClr val="FFFFFF"/>
                </a:solidFill>
                <a:latin typeface="Inter"/>
              </a:defRPr>
            </a:pPr>
            <a:r>
              <a:rPr>
                <a:latin typeface="Inter"/>
              </a:rPr>
              <a:t>Macro Briefing</a:t>
            </a:r>
          </a:p>
        </p:txBody>
      </p:sp>
      <p:sp>
        <p:nvSpPr>
          <p:cNvPr id="7" name="TextBox 6"/>
          <p:cNvSpPr txBox="1"/>
          <p:nvPr/>
        </p:nvSpPr>
        <p:spPr>
          <a:xfrm>
            <a:off x="685800" y="3456432"/>
            <a:ext cx="9692640" cy="640080"/>
          </a:xfrm>
          <a:prstGeom prst="rect">
            <a:avLst/>
          </a:prstGeom>
          <a:noFill/>
        </p:spPr>
        <p:txBody>
          <a:bodyPr wrap="none" lIns="9144" rIns="9144" tIns="9144" bIns="9144" anchor="t">
            <a:spAutoFit/>
          </a:bodyPr>
          <a:lstStyle/>
          <a:p>
            <a:pPr algn="l">
              <a:spcAft>
                <a:spcPts val="0"/>
              </a:spcAft>
              <a:defRPr sz="1500" b="0">
                <a:solidFill>
                  <a:srgbClr val="9AA5B1"/>
                </a:solidFill>
                <a:latin typeface="Inter"/>
              </a:defRPr>
            </a:pPr>
            <a:r>
              <a:rPr>
                <a:latin typeface="Inter"/>
              </a:rPr>
              <a:t>Gradient investment committee · data to 2026-10-02</a:t>
            </a:r>
          </a:p>
        </p:txBody>
      </p:sp>
      <p:sp>
        <p:nvSpPr>
          <p:cNvPr id="8" name="Rectangle 7"/>
          <p:cNvSpPr/>
          <p:nvPr/>
        </p:nvSpPr>
        <p:spPr>
          <a:xfrm>
            <a:off x="685800" y="4251960"/>
            <a:ext cx="1005840" cy="548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AS OF</a:t>
            </a:r>
          </a:p>
        </p:txBody>
      </p:sp>
      <p:sp>
        <p:nvSpPr>
          <p:cNvPr id="10" name="TextBox 9"/>
          <p:cNvSpPr txBox="1"/>
          <p:nvPr/>
        </p:nvSpPr>
        <p:spPr>
          <a:xfrm>
            <a:off x="68580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2026-10-02</a:t>
            </a:r>
          </a:p>
        </p:txBody>
      </p:sp>
      <p:sp>
        <p:nvSpPr>
          <p:cNvPr id="11" name="TextBox 10"/>
          <p:cNvSpPr txBox="1"/>
          <p:nvPr/>
        </p:nvSpPr>
        <p:spPr>
          <a:xfrm>
            <a:off x="416052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THE READ</a:t>
            </a:r>
          </a:p>
        </p:txBody>
      </p:sp>
      <p:sp>
        <p:nvSpPr>
          <p:cNvPr id="12" name="TextBox 11"/>
          <p:cNvSpPr txBox="1"/>
          <p:nvPr/>
        </p:nvSpPr>
        <p:spPr>
          <a:xfrm>
            <a:off x="416052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AM edition</a:t>
            </a:r>
          </a:p>
        </p:txBody>
      </p:sp>
      <p:sp>
        <p:nvSpPr>
          <p:cNvPr id="13" name="TextBox 12"/>
          <p:cNvSpPr txBox="1"/>
          <p:nvPr/>
        </p:nvSpPr>
        <p:spPr>
          <a:xfrm>
            <a:off x="763524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GRIP STANCE</a:t>
            </a:r>
          </a:p>
        </p:txBody>
      </p:sp>
      <p:sp>
        <p:nvSpPr>
          <p:cNvPr id="14" name="TextBox 13"/>
          <p:cNvSpPr txBox="1"/>
          <p:nvPr/>
        </p:nvSpPr>
        <p:spPr>
          <a:xfrm>
            <a:off x="763524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Defensive · 78</a:t>
            </a:r>
          </a:p>
        </p:txBody>
      </p:sp>
      <p:sp>
        <p:nvSpPr>
          <p:cNvPr id="15" name="TextBox 14"/>
          <p:cNvSpPr txBox="1"/>
          <p:nvPr/>
        </p:nvSpPr>
        <p:spPr>
          <a:xfrm>
            <a:off x="685800" y="5230368"/>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NEXT HIGH-IMPORTANCE EVENT</a:t>
            </a:r>
          </a:p>
        </p:txBody>
      </p:sp>
      <p:sp>
        <p:nvSpPr>
          <p:cNvPr id="16" name="TextBox 15"/>
          <p:cNvSpPr txBox="1"/>
          <p:nvPr/>
        </p:nvSpPr>
        <p:spPr>
          <a:xfrm>
            <a:off x="685800" y="5431536"/>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ISM Services · 2026-10-05</a:t>
            </a:r>
          </a:p>
        </p:txBody>
      </p:sp>
      <p:sp>
        <p:nvSpPr>
          <p:cNvPr id="17" name="TextBox 16"/>
          <p:cNvSpPr txBox="1"/>
          <p:nvPr/>
        </p:nvSpPr>
        <p:spPr>
          <a:xfrm>
            <a:off x="685800" y="6473952"/>
            <a:ext cx="8046720" cy="182880"/>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prepared for internal investment use</a:t>
            </a:r>
          </a:p>
        </p:txBody>
      </p:sp>
      <p:sp>
        <p:nvSpPr>
          <p:cNvPr id="18" name="TextBox 17"/>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THE READ · 2026-10-02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Diesel carries the Gulf premium</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Rectangle 7"/>
          <p:cNvSpPr/>
          <p:nvPr/>
        </p:nvSpPr>
        <p:spPr>
          <a:xfrm>
            <a:off x="640080" y="1399032"/>
            <a:ext cx="73152" cy="17199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896112" y="1371600"/>
            <a:ext cx="10588752" cy="1005840"/>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Before the carrier report, the Gulf energy premium sat in Gulf Coast diesel margins rather than Brent — and no crude or diesel price since has tested whether that split holds.</a:t>
            </a:r>
          </a:p>
        </p:txBody>
      </p:sp>
      <p:sp>
        <p:nvSpPr>
          <p:cNvPr id="10" name="TextBox 9"/>
          <p:cNvSpPr txBox="1"/>
          <p:nvPr/>
        </p:nvSpPr>
        <p:spPr>
          <a:xfrm>
            <a:off x="896112" y="2423160"/>
            <a:ext cx="10588752" cy="559880"/>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Governing thesis of The Read, 2026-10-02 AM edition [S1]</a:t>
            </a:r>
          </a:p>
        </p:txBody>
      </p:sp>
      <p:sp>
        <p:nvSpPr>
          <p:cNvPr id="11" name="Rectangle 10"/>
          <p:cNvSpPr/>
          <p:nvPr/>
        </p:nvSpPr>
        <p:spPr>
          <a:xfrm>
            <a:off x="64008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Rectangle 11"/>
          <p:cNvSpPr/>
          <p:nvPr/>
        </p:nvSpPr>
        <p:spPr>
          <a:xfrm>
            <a:off x="640080" y="3301876"/>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74980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GULF DIESEL CRACK VS BRENT</a:t>
            </a:r>
          </a:p>
        </p:txBody>
      </p:sp>
      <p:sp>
        <p:nvSpPr>
          <p:cNvPr id="14" name="TextBox 13"/>
          <p:cNvSpPr txBox="1"/>
          <p:nvPr/>
        </p:nvSpPr>
        <p:spPr>
          <a:xfrm>
            <a:off x="74980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+$9.29/bbl</a:t>
            </a:r>
          </a:p>
        </p:txBody>
      </p:sp>
      <p:sp>
        <p:nvSpPr>
          <p:cNvPr id="15" name="TextBox 14"/>
          <p:cNvSpPr txBox="1"/>
          <p:nvPr/>
        </p:nvSpPr>
        <p:spPr>
          <a:xfrm>
            <a:off x="74980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One session to 2026-09-29 [S1]</a:t>
            </a:r>
          </a:p>
        </p:txBody>
      </p:sp>
      <p:sp>
        <p:nvSpPr>
          <p:cNvPr id="16" name="Rectangle 15"/>
          <p:cNvSpPr/>
          <p:nvPr/>
        </p:nvSpPr>
        <p:spPr>
          <a:xfrm>
            <a:off x="339471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3394710" y="3301876"/>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350443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5Y5Y INFLATION EXPECTATION</a:t>
            </a:r>
          </a:p>
        </p:txBody>
      </p:sp>
      <p:sp>
        <p:nvSpPr>
          <p:cNvPr id="19" name="TextBox 18"/>
          <p:cNvSpPr txBox="1"/>
          <p:nvPr/>
        </p:nvSpPr>
        <p:spPr>
          <a:xfrm>
            <a:off x="350443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2.36%</a:t>
            </a:r>
          </a:p>
        </p:txBody>
      </p:sp>
      <p:sp>
        <p:nvSpPr>
          <p:cNvPr id="20" name="TextBox 19"/>
          <p:cNvSpPr txBox="1"/>
          <p:nvPr/>
        </p:nvSpPr>
        <p:spPr>
          <a:xfrm>
            <a:off x="350443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2026-09-30; top of 12-week range [S1]</a:t>
            </a:r>
          </a:p>
        </p:txBody>
      </p:sp>
      <p:sp>
        <p:nvSpPr>
          <p:cNvPr id="21" name="Rectangle 20"/>
          <p:cNvSpPr/>
          <p:nvPr/>
        </p:nvSpPr>
        <p:spPr>
          <a:xfrm>
            <a:off x="614934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Rectangle 21"/>
          <p:cNvSpPr/>
          <p:nvPr/>
        </p:nvSpPr>
        <p:spPr>
          <a:xfrm>
            <a:off x="6149340" y="3301876"/>
            <a:ext cx="264490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TextBox 22"/>
          <p:cNvSpPr txBox="1"/>
          <p:nvPr/>
        </p:nvSpPr>
        <p:spPr>
          <a:xfrm>
            <a:off x="625906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5-YEAR TREASURY</a:t>
            </a:r>
          </a:p>
        </p:txBody>
      </p:sp>
      <p:sp>
        <p:nvSpPr>
          <p:cNvPr id="24" name="TextBox 23"/>
          <p:cNvSpPr txBox="1"/>
          <p:nvPr/>
        </p:nvSpPr>
        <p:spPr>
          <a:xfrm>
            <a:off x="625906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+58 bps</a:t>
            </a:r>
          </a:p>
        </p:txBody>
      </p:sp>
      <p:sp>
        <p:nvSpPr>
          <p:cNvPr id="25" name="TextBox 24"/>
          <p:cNvSpPr txBox="1"/>
          <p:nvPr/>
        </p:nvSpPr>
        <p:spPr>
          <a:xfrm>
            <a:off x="625906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Month-over-month to 2026-09-29 [S1]</a:t>
            </a:r>
          </a:p>
        </p:txBody>
      </p:sp>
      <p:sp>
        <p:nvSpPr>
          <p:cNvPr id="26" name="Rectangle 25"/>
          <p:cNvSpPr/>
          <p:nvPr/>
        </p:nvSpPr>
        <p:spPr>
          <a:xfrm>
            <a:off x="890397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7" name="Rectangle 26"/>
          <p:cNvSpPr/>
          <p:nvPr/>
        </p:nvSpPr>
        <p:spPr>
          <a:xfrm>
            <a:off x="8903970" y="3301876"/>
            <a:ext cx="264490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8" name="TextBox 27"/>
          <p:cNvSpPr txBox="1"/>
          <p:nvPr/>
        </p:nvSpPr>
        <p:spPr>
          <a:xfrm>
            <a:off x="901369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CRUDE TANKER FREIGHT</a:t>
            </a:r>
          </a:p>
        </p:txBody>
      </p:sp>
      <p:sp>
        <p:nvSpPr>
          <p:cNvPr id="29" name="TextBox 28"/>
          <p:cNvSpPr txBox="1"/>
          <p:nvPr/>
        </p:nvSpPr>
        <p:spPr>
          <a:xfrm>
            <a:off x="901369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+318.5%</a:t>
            </a:r>
          </a:p>
        </p:txBody>
      </p:sp>
      <p:sp>
        <p:nvSpPr>
          <p:cNvPr id="30" name="TextBox 29"/>
          <p:cNvSpPr txBox="1"/>
          <p:nvPr/>
        </p:nvSpPr>
        <p:spPr>
          <a:xfrm>
            <a:off x="901369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Quarter-over-quarter to 2026-09-30 [S1]</a:t>
            </a:r>
          </a:p>
        </p:txBody>
      </p:sp>
      <p:sp>
        <p:nvSpPr>
          <p:cNvPr id="31" name="Rectangle 30"/>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2" name="Rectangle 31"/>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3" name="TextBox 32"/>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34" name="TextBox 33"/>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energy shock is showing up in refined products, not crude — The Read holds this lean with low confidence until new prices print.</a:t>
            </a:r>
          </a:p>
        </p:txBody>
      </p:sp>
      <p:sp>
        <p:nvSpPr>
          <p:cNvPr id="35" name="Rectangle 34"/>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6" name="TextBox 35"/>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37" name="TextBox 36"/>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38" name="TextBox 37"/>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RATES [S2]</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Rates are doing the tightening: front end up 26–39 bps in a month</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ONE-MONTH CHANGE TO 2026-10-01/02 (BPS)</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WHERE LEVELS SIT</a:t>
            </a:r>
          </a:p>
        </p:txBody>
      </p:sp>
      <p:graphicFrame>
        <p:nvGraphicFramePr>
          <p:cNvPr id="12" name="Table 11"/>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1746504"/>
                <a:gridCol w="1746504"/>
                <a:gridCol w="1746504"/>
              </a:tblGrid>
              <a:tr h="736092">
                <a:tc>
                  <a:txBody>
                    <a:bodyPr/>
                    <a:lstStyle/>
                    <a:p>
                      <a:pPr>
                        <a:defRPr sz="750" b="1">
                          <a:solidFill>
                            <a:srgbClr val="FFFFFF"/>
                          </a:solidFill>
                          <a:latin typeface="Inter"/>
                        </a:defRPr>
                      </a:pPr>
                      <a:r>
                        <a:rPr>
                          <a:latin typeface="Inter"/>
                        </a:rPr>
                        <a:t>Series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1y pct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5y pct</a:t>
                      </a:r>
                    </a:p>
                  </a:txBody>
                  <a:tcPr marL="54864" marR="54864" marT="27432" marB="27432" anchor="ctr">
                    <a:solidFill>
                      <a:srgbClr val="0D1117"/>
                    </a:solidFill>
                  </a:tcPr>
                </a:tc>
              </a:tr>
              <a:tr h="736092">
                <a:tc>
                  <a:txBody>
                    <a:bodyPr/>
                    <a:lstStyle/>
                    <a:p>
                      <a:pPr>
                        <a:defRPr sz="800" b="1">
                          <a:solidFill>
                            <a:srgbClr val="0D1117"/>
                          </a:solidFill>
                          <a:latin typeface="Inter"/>
                        </a:defRPr>
                      </a:pPr>
                      <a:r>
                        <a:rPr>
                          <a:latin typeface="Inter"/>
                        </a:rPr>
                        <a:t>2-Year Treasury</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97.6</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88.2</a:t>
                      </a:r>
                    </a:p>
                  </a:txBody>
                  <a:tcPr marL="54864" marR="54864" marT="27432" marB="27432" anchor="ctr">
                    <a:solidFill>
                      <a:srgbClr val="FFFFFF"/>
                    </a:solidFill>
                  </a:tcPr>
                </a:tc>
              </a:tr>
              <a:tr h="736092">
                <a:tc>
                  <a:txBody>
                    <a:bodyPr/>
                    <a:lstStyle/>
                    <a:p>
                      <a:pPr>
                        <a:defRPr sz="800" b="1">
                          <a:solidFill>
                            <a:srgbClr val="0D1117"/>
                          </a:solidFill>
                          <a:latin typeface="Inter"/>
                        </a:defRPr>
                      </a:pPr>
                      <a:r>
                        <a:rPr>
                          <a:latin typeface="Inter"/>
                        </a:rPr>
                        <a:t>3-Month Treasury</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97.6</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42.6</a:t>
                      </a:r>
                    </a:p>
                  </a:txBody>
                  <a:tcPr marL="54864" marR="54864" marT="27432" marB="27432" anchor="ctr">
                    <a:solidFill>
                      <a:srgbClr val="F5F7F9"/>
                    </a:solidFill>
                  </a:tcPr>
                </a:tc>
              </a:tr>
              <a:tr h="736092">
                <a:tc>
                  <a:txBody>
                    <a:bodyPr/>
                    <a:lstStyle/>
                    <a:p>
                      <a:pPr>
                        <a:defRPr sz="800" b="1">
                          <a:solidFill>
                            <a:srgbClr val="0D1117"/>
                          </a:solidFill>
                          <a:latin typeface="Inter"/>
                        </a:defRPr>
                      </a:pPr>
                      <a:r>
                        <a:rPr>
                          <a:latin typeface="Inter"/>
                        </a:rPr>
                        <a:t>10Y term premium</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99.6</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99.9</a:t>
                      </a:r>
                    </a:p>
                  </a:txBody>
                  <a:tcPr marL="54864" marR="54864" marT="27432" marB="27432" anchor="ctr">
                    <a:solidFill>
                      <a:srgbClr val="FFFFFF"/>
                    </a:solidFill>
                  </a:tcPr>
                </a:tc>
              </a:tr>
              <a:tr h="736092">
                <a:tc>
                  <a:txBody>
                    <a:bodyPr/>
                    <a:lstStyle/>
                    <a:p>
                      <a:pPr>
                        <a:defRPr sz="800" b="1">
                          <a:solidFill>
                            <a:srgbClr val="0D1117"/>
                          </a:solidFill>
                          <a:latin typeface="Inter"/>
                        </a:defRPr>
                      </a:pPr>
                      <a:r>
                        <a:rPr>
                          <a:latin typeface="Inter"/>
                        </a:rPr>
                        <a:t>10Y–3M spread</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100.0</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85.0</a:t>
                      </a:r>
                    </a:p>
                  </a:txBody>
                  <a:tcPr marL="54864" marR="54864" marT="27432" marB="27432" anchor="ctr">
                    <a:solidFill>
                      <a:srgbClr val="F5F7F9"/>
                    </a:solidFill>
                  </a:tcPr>
                </a:tc>
              </a:tr>
              <a:tr h="736092">
                <a:tc>
                  <a:txBody>
                    <a:bodyPr/>
                    <a:lstStyle/>
                    <a:p>
                      <a:pPr>
                        <a:defRPr sz="800" b="1">
                          <a:solidFill>
                            <a:srgbClr val="0D1117"/>
                          </a:solidFill>
                          <a:latin typeface="Inter"/>
                        </a:defRPr>
                      </a:pPr>
                      <a:r>
                        <a:rPr>
                          <a:latin typeface="Inter"/>
                        </a:rPr>
                        <a:t>10Y–2Y spread</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28.2</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69.0</a:t>
                      </a:r>
                    </a:p>
                  </a:txBody>
                  <a:tcPr marL="54864" marR="54864" marT="27432" marB="27432" anchor="ctr">
                    <a:solidFill>
                      <a:srgbClr val="FFFFFF"/>
                    </a:solidFill>
                  </a:tcPr>
                </a:tc>
              </a:tr>
            </a:tbl>
          </a:graphicData>
        </a:graphic>
      </p:graphicFrame>
      <p:sp>
        <p:nvSpPr>
          <p:cNvPr id="13" name="TextBox 12"/>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Percentile rank of the level over 1 and 5 years [S2]. Context, not fair value.</a:t>
            </a:r>
          </a:p>
        </p:txBody>
      </p:sp>
      <p:sp>
        <p:nvSpPr>
          <p:cNvPr id="14" name="Rectangle 1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17" name="TextBox 1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front end and the term premium are both near one-year highs: financial conditions are tightening through rates, not credit.</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GRADIENT SIGNAL · 2026-10-02 [S3]</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Risk posture: neutral composite, defensive GRIP, rates pressing</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DRIVER SCORES (0–100; HIGHER = MORE RISK PRESSURE)</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Rectangle 10"/>
          <p:cNvSpPr/>
          <p:nvPr/>
        </p:nvSpPr>
        <p:spPr>
          <a:xfrm>
            <a:off x="6309360" y="1325880"/>
            <a:ext cx="256489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Rectangle 11"/>
          <p:cNvSpPr/>
          <p:nvPr/>
        </p:nvSpPr>
        <p:spPr>
          <a:xfrm>
            <a:off x="6309360" y="1325880"/>
            <a:ext cx="256489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19088" y="1453895"/>
            <a:ext cx="234543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COMPOSITE SCORE</a:t>
            </a:r>
          </a:p>
        </p:txBody>
      </p:sp>
      <p:sp>
        <p:nvSpPr>
          <p:cNvPr id="14" name="TextBox 13"/>
          <p:cNvSpPr txBox="1"/>
          <p:nvPr/>
        </p:nvSpPr>
        <p:spPr>
          <a:xfrm>
            <a:off x="6419088" y="1709928"/>
            <a:ext cx="234543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57.2</a:t>
            </a:r>
          </a:p>
        </p:txBody>
      </p:sp>
      <p:sp>
        <p:nvSpPr>
          <p:cNvPr id="15" name="TextBox 14"/>
          <p:cNvSpPr txBox="1"/>
          <p:nvPr/>
        </p:nvSpPr>
        <p:spPr>
          <a:xfrm>
            <a:off x="6419088" y="3912739"/>
            <a:ext cx="234543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Regime neutral · confidence 0.35 [S3]</a:t>
            </a:r>
          </a:p>
        </p:txBody>
      </p:sp>
      <p:sp>
        <p:nvSpPr>
          <p:cNvPr id="16" name="Rectangle 15"/>
          <p:cNvSpPr/>
          <p:nvPr/>
        </p:nvSpPr>
        <p:spPr>
          <a:xfrm>
            <a:off x="8983980" y="1325880"/>
            <a:ext cx="256489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8983980" y="1325880"/>
            <a:ext cx="256489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9093708" y="1453895"/>
            <a:ext cx="234543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GRIP INDEX</a:t>
            </a:r>
          </a:p>
        </p:txBody>
      </p:sp>
      <p:sp>
        <p:nvSpPr>
          <p:cNvPr id="19" name="TextBox 18"/>
          <p:cNvSpPr txBox="1"/>
          <p:nvPr/>
        </p:nvSpPr>
        <p:spPr>
          <a:xfrm>
            <a:off x="9093708" y="1709928"/>
            <a:ext cx="234543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78</a:t>
            </a:r>
          </a:p>
        </p:txBody>
      </p:sp>
      <p:sp>
        <p:nvSpPr>
          <p:cNvPr id="20" name="TextBox 19"/>
          <p:cNvSpPr txBox="1"/>
          <p:nvPr/>
        </p:nvSpPr>
        <p:spPr>
          <a:xfrm>
            <a:off x="9093708" y="3912739"/>
            <a:ext cx="234543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Defensive · above average · coverage 95% [S3]</a:t>
            </a:r>
          </a:p>
        </p:txBody>
      </p:sp>
      <p:sp>
        <p:nvSpPr>
          <p:cNvPr id="21" name="Rectangle 20"/>
          <p:cNvSpPr/>
          <p:nvPr/>
        </p:nvSpPr>
        <p:spPr>
          <a:xfrm>
            <a:off x="6309360" y="4351651"/>
            <a:ext cx="5239512" cy="186626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Rectangle 21"/>
          <p:cNvSpPr/>
          <p:nvPr/>
        </p:nvSpPr>
        <p:spPr>
          <a:xfrm>
            <a:off x="6309360" y="4351651"/>
            <a:ext cx="54864" cy="186626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TextBox 22"/>
          <p:cNvSpPr txBox="1"/>
          <p:nvPr/>
        </p:nvSpPr>
        <p:spPr>
          <a:xfrm>
            <a:off x="6473952" y="4488811"/>
            <a:ext cx="4946904" cy="163766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GRIP is degraded: one stale input (GEBP, 93 days) was excluded and the GRIP Outlook calibration is missing [S3]. Signals describe modeled context; they are not return forecasts.</a:t>
            </a:r>
          </a:p>
        </p:txBody>
      </p:sp>
      <p:sp>
        <p:nvSpPr>
          <p:cNvPr id="24" name="Rectangle 2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5" name="Rectangle 2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6" name="TextBox 2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27" name="TextBox 2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Rates are the main source of pressure; credit and inflation drivers are not adding to it.</a:t>
            </a:r>
          </a:p>
        </p:txBody>
      </p:sp>
      <p:sp>
        <p:nvSpPr>
          <p:cNvPr id="28" name="Rectangle 2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9" name="TextBox 2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30" name="TextBox 2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31" name="TextBox 3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POSITIONING · CFTC REPORT 2026-09-29 [S6]</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Positioning: crowded short gold dealers, long duration asset managers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MOST CROWDED FUTURES POSITIONS (156-WEEK PERCENTILE; TEST DATA)</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Rectangle 10"/>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13" name="TextBox 12"/>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most extreme disclosed positions sit at both tails of their own 156-week histories; that is crowding context, not a directional forecast [S6].</a:t>
            </a:r>
          </a:p>
        </p:txBody>
      </p:sp>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S6</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POSITIONING · CFTC REPORT 2026-09-29 [S6]</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Positioning: crowded short gold dealers, long duration asset managers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How to read this</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Positioning is disclosed exposure, not intent or a forecast. Hedge-fund 13F consensus covers 29 of 30 cohort managers for 2026-06-30 and lags by up to 45 days [S7].</a:t>
            </a:r>
          </a:p>
        </p:txBody>
      </p:sp>
      <p:sp>
        <p:nvSpPr>
          <p:cNvPr id="12" name="Rectangle 11"/>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15" name="TextBox 14"/>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most extreme disclosed positions sit at both tails of their own 156-week histories; that is crowding context, not a directional forecast [S6].</a:t>
            </a:r>
          </a:p>
        </p:txBody>
      </p:sp>
      <p:sp>
        <p:nvSpPr>
          <p:cNvPr id="16" name="Rectangle 15"/>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TextBox 16"/>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S6 · S7</a:t>
            </a:r>
          </a:p>
        </p:txBody>
      </p:sp>
      <p:sp>
        <p:nvSpPr>
          <p:cNvPr id="18" name="TextBox 17"/>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19" name="TextBox 18"/>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SIGNAL DETAIL [S3]</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What supports risk and what detracts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DETRACTING (STRESS)</a:t>
            </a:r>
          </a:p>
        </p:txBody>
      </p:sp>
      <p:graphicFrame>
        <p:nvGraphicFramePr>
          <p:cNvPr id="9" name="Table 8"/>
          <p:cNvGraphicFramePr>
            <a:graphicFrameLocks noGrp="1"/>
          </p:cNvGraphicFramePr>
          <p:nvPr/>
        </p:nvGraphicFramePr>
        <p:xfrm>
          <a:off x="640080" y="1600200"/>
          <a:ext cx="5239512" cy="4617720"/>
        </p:xfrm>
        <a:graphic>
          <a:graphicData uri="http://schemas.openxmlformats.org/drawingml/2006/table">
            <a:tbl>
              <a:tblPr firstRow="1" bandRow="1">
                <a:tableStyleId>{5C22544A-7EE6-4342-B048-85BDC9FD1C3A}</a:tableStyleId>
              </a:tblPr>
              <a:tblGrid>
                <a:gridCol w="1746504"/>
                <a:gridCol w="1746504"/>
                <a:gridCol w="1746504"/>
              </a:tblGrid>
              <a:tr h="769620">
                <a:tc>
                  <a:txBody>
                    <a:bodyPr/>
                    <a:lstStyle/>
                    <a:p>
                      <a:pPr>
                        <a:defRPr sz="750" b="1">
                          <a:solidFill>
                            <a:srgbClr val="FFFFFF"/>
                          </a:solidFill>
                          <a:latin typeface="Inter"/>
                        </a:defRPr>
                      </a:pPr>
                      <a:r>
                        <a:rPr>
                          <a:latin typeface="Inter"/>
                        </a:rPr>
                        <a:t>Signal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Driver</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z</a:t>
                      </a:r>
                    </a:p>
                  </a:txBody>
                  <a:tcPr marL="54864" marR="54864" marT="27432" marB="27432" anchor="ctr">
                    <a:solidFill>
                      <a:srgbClr val="0D1117"/>
                    </a:solidFill>
                  </a:tcPr>
                </a:tc>
              </a:tr>
              <a:tr h="769620">
                <a:tc>
                  <a:txBody>
                    <a:bodyPr/>
                    <a:lstStyle/>
                    <a:p>
                      <a:pPr>
                        <a:defRPr sz="800" b="1">
                          <a:solidFill>
                            <a:srgbClr val="0D1117"/>
                          </a:solidFill>
                          <a:latin typeface="Inter"/>
                        </a:defRPr>
                      </a:pPr>
                      <a:r>
                        <a:rPr>
                          <a:latin typeface="Inter"/>
                        </a:rPr>
                        <a:t>Gradient Term Premium Proxy</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Rates</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+2.48</a:t>
                      </a:r>
                    </a:p>
                  </a:txBody>
                  <a:tcPr marL="54864" marR="54864" marT="27432" marB="27432" anchor="ctr">
                    <a:solidFill>
                      <a:srgbClr val="FFFFFF"/>
                    </a:solidFill>
                  </a:tcPr>
                </a:tc>
              </a:tr>
              <a:tr h="769620">
                <a:tc>
                  <a:txBody>
                    <a:bodyPr/>
                    <a:lstStyle/>
                    <a:p>
                      <a:pPr>
                        <a:defRPr sz="800" b="1">
                          <a:solidFill>
                            <a:srgbClr val="0D1117"/>
                          </a:solidFill>
                          <a:latin typeface="Inter"/>
                        </a:defRPr>
                      </a:pPr>
                      <a:r>
                        <a:rPr>
                          <a:latin typeface="Inter"/>
                        </a:rPr>
                        <a:t>10-Year TIPS real yield</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Rates</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+2.91</a:t>
                      </a:r>
                    </a:p>
                  </a:txBody>
                  <a:tcPr marL="54864" marR="54864" marT="27432" marB="27432" anchor="ctr">
                    <a:solidFill>
                      <a:srgbClr val="F5F7F9"/>
                    </a:solidFill>
                  </a:tcPr>
                </a:tc>
              </a:tr>
              <a:tr h="769620">
                <a:tc>
                  <a:txBody>
                    <a:bodyPr/>
                    <a:lstStyle/>
                    <a:p>
                      <a:pPr>
                        <a:defRPr sz="800" b="1">
                          <a:solidFill>
                            <a:srgbClr val="0D1117"/>
                          </a:solidFill>
                          <a:latin typeface="Inter"/>
                        </a:defRPr>
                      </a:pPr>
                      <a:r>
                        <a:rPr>
                          <a:latin typeface="Inter"/>
                        </a:rPr>
                        <a:t>5-Year Treasury yield</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Rates</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+2.76</a:t>
                      </a:r>
                    </a:p>
                  </a:txBody>
                  <a:tcPr marL="54864" marR="54864" marT="27432" marB="27432" anchor="ctr">
                    <a:solidFill>
                      <a:srgbClr val="FFFFFF"/>
                    </a:solidFill>
                  </a:tcPr>
                </a:tc>
              </a:tr>
              <a:tr h="769620">
                <a:tc>
                  <a:txBody>
                    <a:bodyPr/>
                    <a:lstStyle/>
                    <a:p>
                      <a:pPr>
                        <a:defRPr sz="800" b="1">
                          <a:solidFill>
                            <a:srgbClr val="0D1117"/>
                          </a:solidFill>
                          <a:latin typeface="Inter"/>
                        </a:defRPr>
                      </a:pPr>
                      <a:r>
                        <a:rPr>
                          <a:latin typeface="Inter"/>
                        </a:rPr>
                        <a:t>Private markets carrying-mark pressure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Growth</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+2.18</a:t>
                      </a:r>
                    </a:p>
                  </a:txBody>
                  <a:tcPr marL="54864" marR="54864" marT="27432" marB="27432" anchor="ctr">
                    <a:solidFill>
                      <a:srgbClr val="F5F7F9"/>
                    </a:solidFill>
                  </a:tcPr>
                </a:tc>
              </a:tr>
              <a:tr h="769620">
                <a:tc>
                  <a:txBody>
                    <a:bodyPr/>
                    <a:lstStyle/>
                    <a:p>
                      <a:pPr>
                        <a:defRPr sz="800" b="1">
                          <a:solidFill>
                            <a:srgbClr val="0D1117"/>
                          </a:solidFill>
                          <a:latin typeface="Inter"/>
                        </a:defRPr>
                      </a:pPr>
                      <a:r>
                        <a:rPr>
                          <a:latin typeface="Inter"/>
                        </a:rPr>
                        <a:t>Private markets alt-manager pressure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Risk appetite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+2.04</a:t>
                      </a:r>
                    </a:p>
                  </a:txBody>
                  <a:tcPr marL="54864" marR="54864" marT="27432" marB="27432" anchor="ctr">
                    <a:solidFill>
                      <a:srgbClr val="FFFFFF"/>
                    </a:solidFill>
                  </a:tcPr>
                </a:tc>
              </a:tr>
            </a:tbl>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SUPPORTIVE (RISK-ON)</a:t>
            </a:r>
          </a:p>
        </p:txBody>
      </p:sp>
      <p:graphicFrame>
        <p:nvGraphicFramePr>
          <p:cNvPr id="12" name="Table 11"/>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1746504"/>
                <a:gridCol w="1746504"/>
                <a:gridCol w="1746504"/>
              </a:tblGrid>
              <a:tr h="883310">
                <a:tc>
                  <a:txBody>
                    <a:bodyPr/>
                    <a:lstStyle/>
                    <a:p>
                      <a:pPr>
                        <a:defRPr sz="750" b="1">
                          <a:solidFill>
                            <a:srgbClr val="FFFFFF"/>
                          </a:solidFill>
                          <a:latin typeface="Inter"/>
                        </a:defRPr>
                      </a:pPr>
                      <a:r>
                        <a:rPr>
                          <a:latin typeface="Inter"/>
                        </a:rPr>
                        <a:t>Signal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Driver</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z</a:t>
                      </a:r>
                    </a:p>
                  </a:txBody>
                  <a:tcPr marL="54864" marR="54864" marT="27432" marB="27432" anchor="ctr">
                    <a:solidFill>
                      <a:srgbClr val="0D1117"/>
                    </a:solidFill>
                  </a:tcPr>
                </a:tc>
              </a:tr>
              <a:tr h="883310">
                <a:tc>
                  <a:txBody>
                    <a:bodyPr/>
                    <a:lstStyle/>
                    <a:p>
                      <a:pPr>
                        <a:defRPr sz="800" b="1">
                          <a:solidFill>
                            <a:srgbClr val="0D1117"/>
                          </a:solidFill>
                          <a:latin typeface="Inter"/>
                        </a:defRPr>
                      </a:pPr>
                      <a:r>
                        <a:rPr>
                          <a:latin typeface="Inter"/>
                        </a:rPr>
                        <a:t>Gradient High Yield Proxy</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Credit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−1.28</a:t>
                      </a:r>
                    </a:p>
                  </a:txBody>
                  <a:tcPr marL="54864" marR="54864" marT="27432" marB="27432" anchor="ctr">
                    <a:solidFill>
                      <a:srgbClr val="FFFFFF"/>
                    </a:solidFill>
                  </a:tcPr>
                </a:tc>
              </a:tr>
              <a:tr h="883310">
                <a:tc>
                  <a:txBody>
                    <a:bodyPr/>
                    <a:lstStyle/>
                    <a:p>
                      <a:pPr>
                        <a:defRPr sz="800" b="1">
                          <a:solidFill>
                            <a:srgbClr val="0D1117"/>
                          </a:solidFill>
                          <a:latin typeface="Inter"/>
                        </a:defRPr>
                      </a:pPr>
                      <a:r>
                        <a:rPr>
                          <a:latin typeface="Inter"/>
                        </a:rPr>
                        <a:t>Commodity Cycle Composite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Inflation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+1.36</a:t>
                      </a:r>
                    </a:p>
                  </a:txBody>
                  <a:tcPr marL="54864" marR="54864" marT="27432" marB="27432" anchor="ctr">
                    <a:solidFill>
                      <a:srgbClr val="F5F7F9"/>
                    </a:solidFill>
                  </a:tcPr>
                </a:tc>
              </a:tr>
              <a:tr h="883310">
                <a:tc>
                  <a:txBody>
                    <a:bodyPr/>
                    <a:lstStyle/>
                    <a:p>
                      <a:pPr>
                        <a:defRPr sz="800" b="1">
                          <a:solidFill>
                            <a:srgbClr val="0D1117"/>
                          </a:solidFill>
                          <a:latin typeface="Inter"/>
                        </a:defRPr>
                      </a:pPr>
                      <a:r>
                        <a:rPr>
                          <a:latin typeface="Inter"/>
                        </a:rPr>
                        <a:t>Gold Conditions Proxy</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Inflation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−3.65</a:t>
                      </a:r>
                    </a:p>
                  </a:txBody>
                  <a:tcPr marL="54864" marR="54864" marT="27432" marB="27432" anchor="ctr">
                    <a:solidFill>
                      <a:srgbClr val="FFFFFF"/>
                    </a:solidFill>
                  </a:tcPr>
                </a:tc>
              </a:tr>
              <a:tr h="883312">
                <a:tc>
                  <a:txBody>
                    <a:bodyPr/>
                    <a:lstStyle/>
                    <a:p>
                      <a:pPr>
                        <a:defRPr sz="800" b="1">
                          <a:solidFill>
                            <a:srgbClr val="0D1117"/>
                          </a:solidFill>
                          <a:latin typeface="Inter"/>
                        </a:defRPr>
                      </a:pPr>
                      <a:r>
                        <a:rPr>
                          <a:latin typeface="Inter"/>
                        </a:rPr>
                        <a:t>Livestock Proxy</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Inflation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−3.83</a:t>
                      </a:r>
                    </a:p>
                  </a:txBody>
                  <a:tcPr marL="54864" marR="54864" marT="27432" marB="27432" anchor="ctr">
                    <a:solidFill>
                      <a:srgbClr val="F5F7F9"/>
                    </a:solidFill>
                  </a:tcPr>
                </a:tc>
              </a:tr>
            </a:tbl>
          </a:graphicData>
        </a:graphic>
      </p:graphicFrame>
      <p:sp>
        <p:nvSpPr>
          <p:cNvPr id="13" name="TextBox 12"/>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z-scores as reported for each signal's own basis [S3].</a:t>
            </a:r>
          </a:p>
        </p:txBody>
      </p:sp>
      <p:sp>
        <p:nvSpPr>
          <p:cNvPr id="14" name="Rectangle 1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17" name="TextBox 1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Stress is concentrated in real yields and private-markets marks; credit spreads remain supportive.</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THE OTHER SIDE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What would confirm or break the thesis by CPI on 2026-10-14</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Rectangle 7"/>
          <p:cNvSpPr/>
          <p:nvPr/>
        </p:nvSpPr>
        <p:spPr>
          <a:xfrm>
            <a:off x="640080" y="1325880"/>
            <a:ext cx="5239512" cy="2406194"/>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2406194"/>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494690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The rival view (The Read)</a:t>
            </a:r>
          </a:p>
        </p:txBody>
      </p:sp>
      <p:sp>
        <p:nvSpPr>
          <p:cNvPr id="11" name="TextBox 10"/>
          <p:cNvSpPr txBox="1"/>
          <p:nvPr/>
        </p:nvSpPr>
        <p:spPr>
          <a:xfrm>
            <a:off x="804671" y="1719072"/>
            <a:ext cx="4946904" cy="1921562"/>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Gulf premium already lives in crude and has been fading … A domestic refinery or distillate-inventory squeeze could explain the margin spike just as well.” [S1]</a:t>
            </a:r>
          </a:p>
        </p:txBody>
      </p:sp>
      <p:sp>
        <p:nvSpPr>
          <p:cNvPr id="12" name="TextBox 11"/>
          <p:cNvSpPr txBox="1"/>
          <p:nvPr/>
        </p:nvSpPr>
        <p:spPr>
          <a:xfrm>
            <a:off x="640080" y="3841802"/>
            <a:ext cx="5239512" cy="2376117"/>
          </a:xfrm>
          <a:prstGeom prst="rect">
            <a:avLst/>
          </a:prstGeom>
          <a:noFill/>
        </p:spPr>
        <p:txBody>
          <a:bodyPr wrap="none" lIns="9144" rIns="9144" tIns="9144" bIns="9144" anchor="t">
            <a:spAutoFit/>
          </a:bodyPr>
          <a:lstStyle/>
          <a:p>
            <a:pPr algn="l">
              <a:spcAft>
                <a:spcPts val="0"/>
              </a:spcAft>
              <a:defRPr sz="1050" b="0">
                <a:solidFill>
                  <a:srgbClr val="0D1117"/>
                </a:solidFill>
                <a:latin typeface="Inter"/>
              </a:defRPr>
            </a:pPr>
            <a:r>
              <a:rPr>
                <a:latin typeface="Inter"/>
              </a:rPr>
              <a:t>•  No post-report reading of tanker transits, war-risk premia or Brent backwardation yet separates the two explanations [S1].</a:t>
            </a:r>
          </a:p>
        </p:txBody>
      </p:sp>
      <p:sp>
        <p:nvSpPr>
          <p:cNvPr id="13" name="Rectangle 12"/>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LEVELS THE READ IS WATCHING</a:t>
            </a:r>
          </a:p>
        </p:txBody>
      </p:sp>
      <p:graphicFrame>
        <p:nvGraphicFramePr>
          <p:cNvPr id="15" name="Table 14"/>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2619756"/>
                <a:gridCol w="2619756"/>
              </a:tblGrid>
              <a:tr h="1472184">
                <a:tc>
                  <a:txBody>
                    <a:bodyPr/>
                    <a:lstStyle/>
                    <a:p>
                      <a:pPr>
                        <a:defRPr sz="750" b="1">
                          <a:solidFill>
                            <a:srgbClr val="FFFFFF"/>
                          </a:solidFill>
                          <a:latin typeface="Inter"/>
                        </a:defRPr>
                      </a:pPr>
                      <a:r>
                        <a:rPr>
                          <a:latin typeface="Inter"/>
                        </a:rPr>
                        <a:t>Gulf diesel crack vs Brent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Reading</a:t>
                      </a:r>
                    </a:p>
                  </a:txBody>
                  <a:tcPr marL="54864" marR="54864" marT="27432" marB="27432" anchor="ctr">
                    <a:solidFill>
                      <a:srgbClr val="0D1117"/>
                    </a:solidFill>
                  </a:tcPr>
                </a:tc>
              </a:tr>
              <a:tr h="1472184">
                <a:tc>
                  <a:txBody>
                    <a:bodyPr/>
                    <a:lstStyle/>
                    <a:p>
                      <a:pPr>
                        <a:defRPr sz="800" b="1">
                          <a:solidFill>
                            <a:srgbClr val="0D1117"/>
                          </a:solidFill>
                          <a:latin typeface="Inter"/>
                        </a:defRPr>
                      </a:pPr>
                      <a:r>
                        <a:rPr>
                          <a:latin typeface="Inter"/>
                        </a:rPr>
                        <a:t>$102/bbl or higher by 2026-10-14</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Refined products carry the Gulf premium</a:t>
                      </a:r>
                    </a:p>
                  </a:txBody>
                  <a:tcPr marL="54864" marR="54864" marT="27432" marB="27432" anchor="ctr">
                    <a:solidFill>
                      <a:srgbClr val="FFFFFF"/>
                    </a:solidFill>
                  </a:tcPr>
                </a:tc>
              </a:tr>
              <a:tr h="1472184">
                <a:tc>
                  <a:txBody>
                    <a:bodyPr/>
                    <a:lstStyle/>
                    <a:p>
                      <a:pPr>
                        <a:defRPr sz="800" b="1">
                          <a:solidFill>
                            <a:srgbClr val="0D1117"/>
                          </a:solidFill>
                          <a:latin typeface="Inter"/>
                        </a:defRPr>
                      </a:pPr>
                      <a:r>
                        <a:rPr>
                          <a:latin typeface="Inter"/>
                        </a:rPr>
                        <a:t>$78/bbl or lower by 2026-10-14</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Spike transitory; favours crude-or-fading view</a:t>
                      </a:r>
                    </a:p>
                  </a:txBody>
                  <a:tcPr marL="54864" marR="54864" marT="27432" marB="27432" anchor="ctr">
                    <a:solidFill>
                      <a:srgbClr val="F5F7F9"/>
                    </a:solidFill>
                  </a:tcPr>
                </a:tc>
              </a:tr>
            </a:tbl>
          </a:graphicData>
        </a:graphic>
      </p:graphicFrame>
      <p:sp>
        <p:nvSpPr>
          <p:cNvPr id="16" name="TextBox 15"/>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Levels from The Read's monitoring unit [S1]; current level not restated here because it appears only in prose.</a:t>
            </a:r>
          </a:p>
        </p:txBody>
      </p:sp>
      <p:sp>
        <p:nvSpPr>
          <p:cNvPr id="17" name="Rectangle 16"/>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20" name="TextBox 19"/>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Treat the diesel thesis as a hypothesis with explicit tests, not a call.</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CALENDAR · NEXT 30 DAYS [S4]</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 crowded window: CPI, FOMC, ECB and BOJ inside two weeks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07</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HIGH- AND MEDIUM-IMPORTANCE EVENTS</a:t>
            </a:r>
          </a:p>
        </p:txBody>
      </p:sp>
      <p:sp>
        <p:nvSpPr>
          <p:cNvPr id="9" name="Rectangle 8"/>
          <p:cNvSpPr/>
          <p:nvPr/>
        </p:nvSpPr>
        <p:spPr>
          <a:xfrm>
            <a:off x="1874519" y="1673352"/>
            <a:ext cx="22860" cy="4507992"/>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Oval 9"/>
          <p:cNvSpPr/>
          <p:nvPr/>
        </p:nvSpPr>
        <p:spPr>
          <a:xfrm>
            <a:off x="1824228" y="1834351"/>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1673352"/>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2026-10-05</a:t>
            </a:r>
          </a:p>
        </p:txBody>
      </p:sp>
      <p:sp>
        <p:nvSpPr>
          <p:cNvPr id="12" name="TextBox 11"/>
          <p:cNvSpPr txBox="1"/>
          <p:nvPr/>
        </p:nvSpPr>
        <p:spPr>
          <a:xfrm>
            <a:off x="2057400" y="1673352"/>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U.S. ISM Services PMI · High</a:t>
            </a:r>
          </a:p>
        </p:txBody>
      </p:sp>
      <p:sp>
        <p:nvSpPr>
          <p:cNvPr id="13" name="TextBox 12"/>
          <p:cNvSpPr txBox="1"/>
          <p:nvPr/>
        </p:nvSpPr>
        <p:spPr>
          <a:xfrm>
            <a:off x="2057400" y="1938528"/>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Sub-50 activity with rising prices would break the cooling path [S4].</a:t>
            </a:r>
          </a:p>
        </p:txBody>
      </p:sp>
      <p:sp>
        <p:nvSpPr>
          <p:cNvPr id="14" name="Oval 13"/>
          <p:cNvSpPr/>
          <p:nvPr/>
        </p:nvSpPr>
        <p:spPr>
          <a:xfrm>
            <a:off x="1824228" y="2478350"/>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2317350"/>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2026-10-14</a:t>
            </a:r>
          </a:p>
        </p:txBody>
      </p:sp>
      <p:sp>
        <p:nvSpPr>
          <p:cNvPr id="16" name="TextBox 15"/>
          <p:cNvSpPr txBox="1"/>
          <p:nvPr/>
        </p:nvSpPr>
        <p:spPr>
          <a:xfrm>
            <a:off x="2057400" y="2317350"/>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U.S. CPI · High</a:t>
            </a:r>
          </a:p>
        </p:txBody>
      </p:sp>
      <p:sp>
        <p:nvSpPr>
          <p:cNvPr id="17" name="TextBox 16"/>
          <p:cNvSpPr txBox="1"/>
          <p:nvPr/>
        </p:nvSpPr>
        <p:spPr>
          <a:xfrm>
            <a:off x="2057400" y="2582526"/>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Services re-acceleration would lift front-end yields [S4].</a:t>
            </a:r>
          </a:p>
        </p:txBody>
      </p:sp>
      <p:sp>
        <p:nvSpPr>
          <p:cNvPr id="18" name="Oval 17"/>
          <p:cNvSpPr/>
          <p:nvPr/>
        </p:nvSpPr>
        <p:spPr>
          <a:xfrm>
            <a:off x="1824228" y="3122349"/>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2961349"/>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2026-10-15</a:t>
            </a:r>
          </a:p>
        </p:txBody>
      </p:sp>
      <p:sp>
        <p:nvSpPr>
          <p:cNvPr id="20" name="TextBox 19"/>
          <p:cNvSpPr txBox="1"/>
          <p:nvPr/>
        </p:nvSpPr>
        <p:spPr>
          <a:xfrm>
            <a:off x="2057400" y="2961349"/>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U.S. retail sales and PPI · High</a:t>
            </a:r>
          </a:p>
        </p:txBody>
      </p:sp>
      <p:sp>
        <p:nvSpPr>
          <p:cNvPr id="21" name="TextBox 20"/>
          <p:cNvSpPr txBox="1"/>
          <p:nvPr/>
        </p:nvSpPr>
        <p:spPr>
          <a:xfrm>
            <a:off x="2057400" y="3226525"/>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Watch the control group for real consumption and PPI margins for pass-through [S4].</a:t>
            </a:r>
          </a:p>
        </p:txBody>
      </p:sp>
      <p:sp>
        <p:nvSpPr>
          <p:cNvPr id="22" name="Oval 21"/>
          <p:cNvSpPr/>
          <p:nvPr/>
        </p:nvSpPr>
        <p:spPr>
          <a:xfrm>
            <a:off x="1824228" y="3766348"/>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TextBox 22"/>
          <p:cNvSpPr txBox="1"/>
          <p:nvPr/>
        </p:nvSpPr>
        <p:spPr>
          <a:xfrm>
            <a:off x="640080" y="3605348"/>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2026-10-28</a:t>
            </a:r>
          </a:p>
        </p:txBody>
      </p:sp>
      <p:sp>
        <p:nvSpPr>
          <p:cNvPr id="24" name="TextBox 23"/>
          <p:cNvSpPr txBox="1"/>
          <p:nvPr/>
        </p:nvSpPr>
        <p:spPr>
          <a:xfrm>
            <a:off x="2057400" y="3605348"/>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FOMC decision · High</a:t>
            </a:r>
          </a:p>
        </p:txBody>
      </p:sp>
      <p:sp>
        <p:nvSpPr>
          <p:cNvPr id="25" name="TextBox 24"/>
          <p:cNvSpPr txBox="1"/>
          <p:nvPr/>
        </p:nvSpPr>
        <p:spPr>
          <a:xfrm>
            <a:off x="2057400" y="3870524"/>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Projections and the press conference set the front-end path [S4].</a:t>
            </a:r>
          </a:p>
        </p:txBody>
      </p:sp>
      <p:sp>
        <p:nvSpPr>
          <p:cNvPr id="26" name="Oval 25"/>
          <p:cNvSpPr/>
          <p:nvPr/>
        </p:nvSpPr>
        <p:spPr>
          <a:xfrm>
            <a:off x="1824228" y="4410347"/>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7" name="TextBox 26"/>
          <p:cNvSpPr txBox="1"/>
          <p:nvPr/>
        </p:nvSpPr>
        <p:spPr>
          <a:xfrm>
            <a:off x="640080" y="4249347"/>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2026-10-29</a:t>
            </a:r>
          </a:p>
        </p:txBody>
      </p:sp>
      <p:sp>
        <p:nvSpPr>
          <p:cNvPr id="28" name="TextBox 27"/>
          <p:cNvSpPr txBox="1"/>
          <p:nvPr/>
        </p:nvSpPr>
        <p:spPr>
          <a:xfrm>
            <a:off x="2057400" y="4249347"/>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U.S. GDP, PCE and ECB decision · High</a:t>
            </a:r>
          </a:p>
        </p:txBody>
      </p:sp>
      <p:sp>
        <p:nvSpPr>
          <p:cNvPr id="29" name="TextBox 28"/>
          <p:cNvSpPr txBox="1"/>
          <p:nvPr/>
        </p:nvSpPr>
        <p:spPr>
          <a:xfrm>
            <a:off x="2057400" y="4514523"/>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Core PCE versus spending; ECB persistence versus growth [S4].</a:t>
            </a:r>
          </a:p>
        </p:txBody>
      </p:sp>
      <p:sp>
        <p:nvSpPr>
          <p:cNvPr id="30" name="Oval 29"/>
          <p:cNvSpPr/>
          <p:nvPr/>
        </p:nvSpPr>
        <p:spPr>
          <a:xfrm>
            <a:off x="1824228" y="5054346"/>
            <a:ext cx="128016" cy="128016"/>
          </a:xfrm>
          <a:prstGeom prst="ellipse">
            <a:avLst/>
          </a:prstGeom>
          <a:solidFill>
            <a:srgbClr val="F2A93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1" name="TextBox 30"/>
          <p:cNvSpPr txBox="1"/>
          <p:nvPr/>
        </p:nvSpPr>
        <p:spPr>
          <a:xfrm>
            <a:off x="640080" y="4893346"/>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2026-10-30</a:t>
            </a:r>
          </a:p>
        </p:txBody>
      </p:sp>
      <p:sp>
        <p:nvSpPr>
          <p:cNvPr id="32" name="TextBox 31"/>
          <p:cNvSpPr txBox="1"/>
          <p:nvPr/>
        </p:nvSpPr>
        <p:spPr>
          <a:xfrm>
            <a:off x="2057400" y="4893346"/>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BOJ decision · High</a:t>
            </a:r>
          </a:p>
        </p:txBody>
      </p:sp>
      <p:sp>
        <p:nvSpPr>
          <p:cNvPr id="33" name="TextBox 32"/>
          <p:cNvSpPr txBox="1"/>
          <p:nvPr/>
        </p:nvSpPr>
        <p:spPr>
          <a:xfrm>
            <a:off x="2057400" y="5158522"/>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An earlier hike signal would lift JGB yields and the yen [S4].</a:t>
            </a:r>
          </a:p>
        </p:txBody>
      </p:sp>
      <p:sp>
        <p:nvSpPr>
          <p:cNvPr id="34" name="Oval 33"/>
          <p:cNvSpPr/>
          <p:nvPr/>
        </p:nvSpPr>
        <p:spPr>
          <a:xfrm>
            <a:off x="1824228" y="5698344"/>
            <a:ext cx="128016" cy="128016"/>
          </a:xfrm>
          <a:prstGeom prst="ellipse">
            <a:avLst/>
          </a:prstGeom>
          <a:solidFill>
            <a:srgbClr val="0D111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5" name="TextBox 34"/>
          <p:cNvSpPr txBox="1"/>
          <p:nvPr/>
        </p:nvSpPr>
        <p:spPr>
          <a:xfrm>
            <a:off x="640080" y="5537345"/>
            <a:ext cx="1106424" cy="274320"/>
          </a:xfrm>
          <a:prstGeom prst="rect">
            <a:avLst/>
          </a:prstGeom>
          <a:noFill/>
        </p:spPr>
        <p:txBody>
          <a:bodyPr wrap="none" lIns="9144" rIns="9144" tIns="9144" bIns="9144" anchor="t">
            <a:spAutoFit/>
          </a:bodyPr>
          <a:lstStyle/>
          <a:p>
            <a:pPr algn="r">
              <a:spcAft>
                <a:spcPts val="0"/>
              </a:spcAft>
              <a:defRPr sz="750" b="1">
                <a:solidFill>
                  <a:srgbClr val="4A5563"/>
                </a:solidFill>
                <a:latin typeface="Inter"/>
              </a:defRPr>
            </a:pPr>
            <a:r>
              <a:rPr>
                <a:latin typeface="Inter"/>
              </a:rPr>
              <a:t>2026-10-31</a:t>
            </a:r>
          </a:p>
        </p:txBody>
      </p:sp>
      <p:sp>
        <p:nvSpPr>
          <p:cNvPr id="36" name="TextBox 35"/>
          <p:cNvSpPr txBox="1"/>
          <p:nvPr/>
        </p:nvSpPr>
        <p:spPr>
          <a:xfrm>
            <a:off x="2057400" y="5537345"/>
            <a:ext cx="9491472" cy="256032"/>
          </a:xfrm>
          <a:prstGeom prst="rect">
            <a:avLst/>
          </a:prstGeom>
          <a:noFill/>
        </p:spPr>
        <p:txBody>
          <a:bodyPr wrap="none" lIns="9144" rIns="9144" tIns="9144" bIns="9144" anchor="t">
            <a:spAutoFit/>
          </a:bodyPr>
          <a:lstStyle/>
          <a:p>
            <a:pPr algn="l">
              <a:spcAft>
                <a:spcPts val="0"/>
              </a:spcAft>
              <a:defRPr sz="950" b="1">
                <a:solidFill>
                  <a:srgbClr val="0D1117"/>
                </a:solidFill>
                <a:latin typeface="Inter"/>
              </a:defRPr>
            </a:pPr>
            <a:r>
              <a:rPr>
                <a:latin typeface="Inter"/>
              </a:rPr>
              <a:t>China NBS PMIs · Medium</a:t>
            </a:r>
          </a:p>
        </p:txBody>
      </p:sp>
      <p:sp>
        <p:nvSpPr>
          <p:cNvPr id="37" name="TextBox 36"/>
          <p:cNvSpPr txBox="1"/>
          <p:nvPr/>
        </p:nvSpPr>
        <p:spPr>
          <a:xfrm>
            <a:off x="2057400" y="5802521"/>
            <a:ext cx="9491472" cy="334879"/>
          </a:xfrm>
          <a:prstGeom prst="rect">
            <a:avLst/>
          </a:prstGeom>
          <a:noFill/>
        </p:spPr>
        <p:txBody>
          <a:bodyPr wrap="none" lIns="9144" rIns="9144" tIns="9144" bIns="9144" anchor="t">
            <a:spAutoFit/>
          </a:bodyPr>
          <a:lstStyle/>
          <a:p>
            <a:pPr algn="l">
              <a:spcAft>
                <a:spcPts val="0"/>
              </a:spcAft>
              <a:defRPr sz="850" b="0">
                <a:solidFill>
                  <a:srgbClr val="4A5563"/>
                </a:solidFill>
                <a:latin typeface="Inter"/>
              </a:defRPr>
            </a:pPr>
            <a:r>
              <a:rPr>
                <a:latin typeface="Inter"/>
              </a:rPr>
              <a:t>New orders below 50 would pressure commodities [S4].</a:t>
            </a:r>
          </a:p>
        </p:txBody>
      </p:sp>
      <p:sp>
        <p:nvSpPr>
          <p:cNvPr id="38" name="Rectangle 37"/>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9" name="Rectangle 38"/>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0" name="TextBox 39"/>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41" name="TextBox 40"/>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The thesis test (CPI, 2026-10-14) lands two weeks before the FOMC.</a:t>
            </a:r>
          </a:p>
        </p:txBody>
      </p:sp>
      <p:sp>
        <p:nvSpPr>
          <p:cNvPr id="42" name="Rectangle 4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3" name="TextBox 4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S4</a:t>
            </a:r>
          </a:p>
        </p:txBody>
      </p:sp>
      <p:sp>
        <p:nvSpPr>
          <p:cNvPr id="44" name="TextBox 4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45" name="TextBox 4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LONG-RUN ASSUMPTIONS · Q3-2026 POLICY V2.1 [S5]</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10-year assumptions: equities ~4–6% over cash, bonds ≈ cash</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08</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EXCESS RETURN OVER USD CASH, 10 YEARS, ARITHMETIC</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graphicFrame>
        <p:nvGraphicFramePr>
          <p:cNvPr id="11" name="Table 10"/>
          <p:cNvGraphicFramePr>
            <a:graphicFrameLocks noGrp="1"/>
          </p:cNvGraphicFramePr>
          <p:nvPr/>
        </p:nvGraphicFramePr>
        <p:xfrm>
          <a:off x="6309360" y="1325880"/>
          <a:ext cx="5239512" cy="3370559"/>
        </p:xfrm>
        <a:graphic>
          <a:graphicData uri="http://schemas.openxmlformats.org/drawingml/2006/table">
            <a:tbl>
              <a:tblPr firstRow="1" bandRow="1">
                <a:tableStyleId>{5C22544A-7EE6-4342-B048-85BDC9FD1C3A}</a:tableStyleId>
              </a:tblPr>
              <a:tblGrid>
                <a:gridCol w="2619756"/>
                <a:gridCol w="2619756"/>
              </a:tblGrid>
              <a:tr h="842639">
                <a:tc>
                  <a:txBody>
                    <a:bodyPr/>
                    <a:lstStyle/>
                    <a:p>
                      <a:pPr>
                        <a:defRPr sz="800" b="1">
                          <a:solidFill>
                            <a:srgbClr val="0D1117"/>
                          </a:solidFill>
                          <a:latin typeface="Inter"/>
                        </a:defRPr>
                      </a:pPr>
                      <a:r>
                        <a:rPr>
                          <a:latin typeface="Inter"/>
                        </a:rPr>
                        <a:t>Risk-free rate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3.81% (3-month T-bill, 2026-10-01; fresh) [S5]</a:t>
                      </a:r>
                    </a:p>
                  </a:txBody>
                  <a:tcPr marL="54864" marR="54864" marT="27432" marB="27432" anchor="ctr">
                    <a:solidFill>
                      <a:srgbClr val="FFFFFF"/>
                    </a:solidFill>
                  </a:tcPr>
                </a:tc>
              </a:tr>
              <a:tr h="842639">
                <a:tc>
                  <a:txBody>
                    <a:bodyPr/>
                    <a:lstStyle/>
                    <a:p>
                      <a:pPr>
                        <a:defRPr sz="800" b="1">
                          <a:solidFill>
                            <a:srgbClr val="0D1117"/>
                          </a:solidFill>
                          <a:latin typeface="Inter"/>
                        </a:defRPr>
                      </a:pPr>
                      <a:r>
                        <a:rPr>
                          <a:latin typeface="Inter"/>
                        </a:rPr>
                        <a:t>Base currency</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USD, unhedged [S5]</a:t>
                      </a:r>
                    </a:p>
                  </a:txBody>
                  <a:tcPr marL="54864" marR="54864" marT="27432" marB="27432" anchor="ctr">
                    <a:solidFill>
                      <a:srgbClr val="F5F7F9"/>
                    </a:solidFill>
                  </a:tcPr>
                </a:tc>
              </a:tr>
              <a:tr h="842639">
                <a:tc>
                  <a:txBody>
                    <a:bodyPr/>
                    <a:lstStyle/>
                    <a:p>
                      <a:pPr>
                        <a:defRPr sz="800" b="1">
                          <a:solidFill>
                            <a:srgbClr val="0D1117"/>
                          </a:solidFill>
                          <a:latin typeface="Inter"/>
                        </a:defRPr>
                      </a:pPr>
                      <a:r>
                        <a:rPr>
                          <a:latin typeface="Inter"/>
                        </a:rPr>
                        <a:t>Horizon / basis</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10 years · excess over local cash · arithmetic [S5]</a:t>
                      </a:r>
                    </a:p>
                  </a:txBody>
                  <a:tcPr marL="54864" marR="54864" marT="27432" marB="27432" anchor="ctr">
                    <a:solidFill>
                      <a:srgbClr val="FFFFFF"/>
                    </a:solidFill>
                  </a:tcPr>
                </a:tc>
              </a:tr>
              <a:tr h="842642">
                <a:tc>
                  <a:txBody>
                    <a:bodyPr/>
                    <a:lstStyle/>
                    <a:p>
                      <a:pPr>
                        <a:defRPr sz="800" b="1">
                          <a:solidFill>
                            <a:srgbClr val="0D1117"/>
                          </a:solidFill>
                          <a:latin typeface="Inter"/>
                        </a:defRPr>
                      </a:pPr>
                      <a:r>
                        <a:rPr>
                          <a:latin typeface="Inter"/>
                        </a:rPr>
                        <a:t>Quality receipt</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Unvalidated [S5]</a:t>
                      </a:r>
                    </a:p>
                  </a:txBody>
                  <a:tcPr marL="54864" marR="54864" marT="27432" marB="27432" anchor="ctr">
                    <a:solidFill>
                      <a:srgbClr val="F5F7F9"/>
                    </a:solidFill>
                  </a:tcPr>
                </a:tc>
              </a:tr>
            </a:tbl>
          </a:graphicData>
        </a:graphic>
      </p:graphicFrame>
      <p:sp>
        <p:nvSpPr>
          <p:cNvPr id="12" name="Rectangle 11"/>
          <p:cNvSpPr/>
          <p:nvPr/>
        </p:nvSpPr>
        <p:spPr>
          <a:xfrm>
            <a:off x="6309360" y="4806167"/>
            <a:ext cx="5239512" cy="141175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309360" y="4806167"/>
            <a:ext cx="54864" cy="141175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73952" y="4943327"/>
            <a:ext cx="4946904" cy="1183152"/>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Bond excess returns near zero rest on a policy value shared by both bond factors; Gradient flags these rows and raw kurtosis below 3 for review [S5]. Use for context, not comparison.</a:t>
            </a:r>
          </a:p>
        </p:txBody>
      </p:sp>
      <p:sp>
        <p:nvSpPr>
          <p:cNvPr id="15" name="Rectangle 14"/>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Rectangle 15"/>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TextBox 16"/>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Takeaway</a:t>
            </a:r>
          </a:p>
        </p:txBody>
      </p:sp>
      <p:sp>
        <p:nvSpPr>
          <p:cNvPr id="18" name="TextBox 17"/>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House assumptions favour equity risk premia; the fixed-income rows need methodology review before use in sizing.</a:t>
            </a:r>
          </a:p>
        </p:txBody>
      </p:sp>
      <p:sp>
        <p:nvSpPr>
          <p:cNvPr id="19" name="Rectangle 1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TextBox 1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21" name="TextBox 2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22" name="TextBox 2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FOR DISCUSSION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Questions for the committee</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09</a:t>
            </a:r>
          </a:p>
        </p:txBody>
      </p:sp>
      <p:sp>
        <p:nvSpPr>
          <p:cNvPr id="8" name="TextBox 7"/>
          <p:cNvSpPr txBox="1"/>
          <p:nvPr/>
        </p:nvSpPr>
        <p:spPr>
          <a:xfrm>
            <a:off x="640080" y="1325880"/>
            <a:ext cx="10908792" cy="4892040"/>
          </a:xfrm>
          <a:prstGeom prst="rect">
            <a:avLst/>
          </a:prstGeom>
          <a:noFill/>
        </p:spPr>
        <p:txBody>
          <a:bodyPr wrap="none" lIns="9144" rIns="9144" tIns="9144" bIns="9144" anchor="t">
            <a:spAutoFit/>
          </a:bodyPr>
          <a:lstStyle/>
          <a:p>
            <a:pPr algn="l">
              <a:spcAft>
                <a:spcPts val="500"/>
              </a:spcAft>
              <a:defRPr sz="1000" b="0">
                <a:solidFill>
                  <a:srgbClr val="0D1117"/>
                </a:solidFill>
                <a:latin typeface="Inter"/>
              </a:defRPr>
            </a:pPr>
            <a:r>
              <a:rPr>
                <a:latin typeface="Inter"/>
              </a:rPr>
              <a:t>01  How did real yields and credit spreads reprice around jumbo issuance and the FOMC run-up — and what does that imply for risk appetite?</a:t>
            </a:r>
            <a:br/>
            <a:r>
              <a:rPr>
                <a:latin typeface="Inter"/>
              </a:rPr>
              <a:t>      Rates are the dominant pressure in the Gradient signal; credit has not confirmed it.</a:t>
            </a:r>
          </a:p>
          <a:p>
            <a:pPr algn="l">
              <a:spcAft>
                <a:spcPts val="500"/>
              </a:spcAft>
              <a:defRPr sz="1000" b="0">
                <a:solidFill>
                  <a:srgbClr val="0D1117"/>
                </a:solidFill>
                <a:latin typeface="Inter"/>
              </a:defRPr>
            </a:pPr>
            <a:r>
              <a:rPr>
                <a:latin typeface="Inter"/>
              </a:rPr>
              <a:t>02  How likely is escalation to disrupt Gulf crude flows, and where are we exposed if it does?</a:t>
            </a:r>
            <a:br/>
            <a:r>
              <a:rPr>
                <a:latin typeface="Inter"/>
              </a:rPr>
              <a:t>      The Read's thesis depends on whether the premium moves from diesel into crude.</a:t>
            </a:r>
          </a:p>
          <a:p>
            <a:pPr algn="l">
              <a:spcAft>
                <a:spcPts val="500"/>
              </a:spcAft>
              <a:defRPr sz="1000" b="0">
                <a:solidFill>
                  <a:srgbClr val="0D1117"/>
                </a:solidFill>
                <a:latin typeface="Inter"/>
              </a:defRPr>
            </a:pPr>
            <a:r>
              <a:rPr>
                <a:latin typeface="Inter"/>
              </a:rPr>
              <a:t>03  What must the 2026-10-28 FOMC resolve about long-end real yields for the risk-off lean to hold?</a:t>
            </a:r>
            <a:br/>
            <a:r>
              <a:rPr>
                <a:latin typeface="Inter"/>
              </a:rPr>
              <a:t>      10-year TIPS real yield is a +2.9 z-score detractor.</a:t>
            </a:r>
          </a:p>
          <a:p>
            <a:pPr algn="l">
              <a:spcAft>
                <a:spcPts val="500"/>
              </a:spcAft>
              <a:defRPr sz="1000" b="0">
                <a:solidFill>
                  <a:srgbClr val="0D1117"/>
                </a:solidFill>
                <a:latin typeface="Inter"/>
              </a:defRPr>
            </a:pPr>
            <a:r>
              <a:rPr>
                <a:latin typeface="Inter"/>
              </a:rPr>
              <a:t>04  How would the Fed weigh a diesel squeeze against rising real yields?</a:t>
            </a:r>
            <a:br/>
            <a:r>
              <a:rPr>
                <a:latin typeface="Inter"/>
              </a:rPr>
              <a:t>      Determines whether energy is an inflation or a growth risk for the portfolio.</a:t>
            </a:r>
          </a:p>
        </p:txBody>
      </p:sp>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SOURCES AND METHOD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Sources, data quality and limits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10</a:t>
            </a:r>
          </a:p>
        </p:txBody>
      </p:sp>
      <p:graphicFrame>
        <p:nvGraphicFramePr>
          <p:cNvPr id="8" name="Table 7"/>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611505">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Notes</a:t>
                      </a:r>
                    </a:p>
                  </a:txBody>
                  <a:tcPr marL="54864" marR="54864" marT="27432" marB="27432" anchor="ctr">
                    <a:solidFill>
                      <a:srgbClr val="0D1117"/>
                    </a:solidFill>
                  </a:tcPr>
                </a:tc>
              </a:tr>
              <a:tr h="611505">
                <a:tc>
                  <a:txBody>
                    <a:bodyPr/>
                    <a:lstStyle/>
                    <a:p>
                      <a:pPr>
                        <a:defRPr sz="72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The Read (get_the_read, AM)</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Coverage partial: analysis and chart history unavailable</a:t>
                      </a:r>
                    </a:p>
                  </a:txBody>
                  <a:tcPr marL="54864" marR="54864" marT="27432" marB="27432" anchor="ctr">
                    <a:solidFill>
                      <a:srgbClr val="FFFFFF"/>
                    </a:solidFill>
                  </a:tcPr>
                </a:tc>
              </a:tr>
              <a:tr h="611505">
                <a:tc>
                  <a:txBody>
                    <a:bodyPr/>
                    <a:lstStyle/>
                    <a:p>
                      <a:pPr>
                        <a:defRPr sz="72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Rate indicators (get_macro_conditions)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FRED via Gradient; 8 series</a:t>
                      </a:r>
                    </a:p>
                  </a:txBody>
                  <a:tcPr marL="54864" marR="54864" marT="27432" marB="27432" anchor="ctr">
                    <a:solidFill>
                      <a:srgbClr val="F5F7F9"/>
                    </a:solidFill>
                  </a:tcPr>
                </a:tc>
              </a:tr>
              <a:tr h="611505">
                <a:tc>
                  <a:txBody>
                    <a:bodyPr/>
                    <a:lstStyle/>
                    <a:p>
                      <a:pPr>
                        <a:defRPr sz="72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Gradient signal and GRIP (get_macro_signals)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GRIP degraded; regime-state view unavailable (500)</a:t>
                      </a:r>
                    </a:p>
                  </a:txBody>
                  <a:tcPr marL="54864" marR="54864" marT="27432" marB="27432" anchor="ctr">
                    <a:solidFill>
                      <a:srgbClr val="FFFFFF"/>
                    </a:solidFill>
                  </a:tcPr>
                </a:tc>
              </a:tr>
              <a:tr h="611505">
                <a:tc>
                  <a:txBody>
                    <a:bodyPr/>
                    <a:lstStyle/>
                    <a:p>
                      <a:pPr>
                        <a:defRPr sz="720" b="1">
                          <a:solidFill>
                            <a:srgbClr val="0D1117"/>
                          </a:solidFill>
                          <a:latin typeface="Inter"/>
                        </a:defRPr>
                      </a:pPr>
                      <a:r>
                        <a:rPr>
                          <a:latin typeface="Inter"/>
                        </a:rPr>
                        <a:t>S4</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Scheduled events (get_macro_calendar)</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12 of 14 events retrieved</a:t>
                      </a:r>
                    </a:p>
                  </a:txBody>
                  <a:tcPr marL="54864" marR="54864" marT="27432" marB="27432" anchor="ctr">
                    <a:solidFill>
                      <a:srgbClr val="F5F7F9"/>
                    </a:solidFill>
                  </a:tcPr>
                </a:tc>
              </a:tr>
              <a:tr h="611505">
                <a:tc>
                  <a:txBody>
                    <a:bodyPr/>
                    <a:lstStyle/>
                    <a:p>
                      <a:pPr>
                        <a:defRPr sz="720" b="1">
                          <a:solidFill>
                            <a:srgbClr val="0D1117"/>
                          </a:solidFill>
                          <a:latin typeface="Inter"/>
                        </a:defRPr>
                      </a:pPr>
                      <a:r>
                        <a:rPr>
                          <a:latin typeface="Inter"/>
                        </a:rPr>
                        <a:t>S5</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CMA baseline (get_capital_market_assumptions)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1">
                          <a:solidFill>
                            <a:srgbClr val="F2A93B"/>
                          </a:solidFill>
                          <a:latin typeface="Inter"/>
                        </a:defRPr>
                      </a:pPr>
                      <a:r>
                        <a:rPr>
                          <a:latin typeface="Inter"/>
                        </a:rPr>
                        <a:t>● advisory</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Quality receipt unvalidated; 15 quality flags</a:t>
                      </a:r>
                    </a:p>
                  </a:txBody>
                  <a:tcPr marL="54864" marR="54864" marT="27432" marB="27432" anchor="ctr">
                    <a:solidFill>
                      <a:srgbClr val="FFFFFF"/>
                    </a:solidFill>
                  </a:tcPr>
                </a:tc>
              </a:tr>
              <a:tr h="611505">
                <a:tc>
                  <a:txBody>
                    <a:bodyPr/>
                    <a:lstStyle/>
                    <a:p>
                      <a:pPr>
                        <a:defRPr sz="720" b="1">
                          <a:solidFill>
                            <a:srgbClr val="0D1117"/>
                          </a:solidFill>
                          <a:latin typeface="Inter"/>
                        </a:defRPr>
                      </a:pPr>
                      <a:r>
                        <a:rPr>
                          <a:latin typeface="Inter"/>
                        </a:rPr>
                        <a:t>S6</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CFTC positioning (get_market_positioning, cftc)</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2026-09-29</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Flags only; 156-week within-series percentiles</a:t>
                      </a:r>
                    </a:p>
                  </a:txBody>
                  <a:tcPr marL="54864" marR="54864" marT="27432" marB="27432" anchor="ctr">
                    <a:solidFill>
                      <a:srgbClr val="F5F7F9"/>
                    </a:solidFill>
                  </a:tcPr>
                </a:tc>
              </a:tr>
              <a:tr h="611505">
                <a:tc>
                  <a:txBody>
                    <a:bodyPr/>
                    <a:lstStyle/>
                    <a:p>
                      <a:pPr>
                        <a:defRPr sz="720" b="1">
                          <a:solidFill>
                            <a:srgbClr val="0D1117"/>
                          </a:solidFill>
                          <a:latin typeface="Inter"/>
                        </a:defRPr>
                      </a:pPr>
                      <a:r>
                        <a:rPr>
                          <a:latin typeface="Inter"/>
                        </a:rPr>
                        <a:t>S7</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Hedge-fund crowding (get_market_positioning)</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2026-06-30</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29 of 30 managers; quarterly and lagged</a:t>
                      </a:r>
                    </a:p>
                  </a:txBody>
                  <a:tcPr marL="54864" marR="54864" marT="27432" marB="27432" anchor="ctr">
                    <a:solidFill>
                      <a:srgbClr val="FFFFFF"/>
                    </a:solidFill>
                  </a:tcPr>
                </a:tc>
              </a:tr>
            </a:tbl>
          </a:graphicData>
        </a:graphic>
      </p:graphicFrame>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 · S5 · S6 · S7</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SOURCES AND METHOD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Sources, data quality and limits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10</a:t>
            </a:r>
          </a:p>
        </p:txBody>
      </p:sp>
      <p:sp>
        <p:nvSpPr>
          <p:cNvPr id="8" name="TextBox 7"/>
          <p:cNvSpPr txBox="1"/>
          <p:nvPr/>
        </p:nvSpPr>
        <p:spPr>
          <a:xfrm>
            <a:off x="640080" y="1325880"/>
            <a:ext cx="10908792" cy="4892040"/>
          </a:xfrm>
          <a:prstGeom prst="rect">
            <a:avLst/>
          </a:prstGeom>
          <a:noFill/>
        </p:spPr>
        <p:txBody>
          <a:bodyPr wrap="none" lIns="9144" rIns="9144" tIns="9144" bIns="9144" anchor="t">
            <a:spAutoFit/>
          </a:bodyPr>
          <a:lstStyle/>
          <a:p>
            <a:pPr algn="l">
              <a:spcAft>
                <a:spcPts val="0"/>
              </a:spcAft>
              <a:defRPr sz="1100" b="0">
                <a:solidFill>
                  <a:srgbClr val="4A5563"/>
                </a:solidFill>
                <a:latin typeface="Inter"/>
              </a:defRPr>
            </a:pPr>
            <a:r>
              <a:rPr>
                <a:latin typeface="Inter"/>
              </a:rPr>
              <a:t>Numbers come only from structured fields; The Read's prose is quoted, not mined for figures. Signals, percentiles and GRIP describe historical or modeled context, not forecasts. CMAs are Gradient house assumptions, not realized performance. Not investment advice.</a:t>
            </a:r>
          </a:p>
        </p:txBody>
      </p:sp>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2026-10-02</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13</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 Briefing</dc:title>
  <dc:subject>Macro Briefing</dc:subject>
  <dc:creator>GradientCIO</dc:creator>
  <cp:keywords>Gradient report theme 2.1.0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