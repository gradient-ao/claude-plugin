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 id="266" ns1:id="rId17"/>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FF6B5E"/>
              </a:solidFill>
            </c:spPr>
          </c:dPt>
          <c:dPt>
            <c:idx val="1"/>
            <c:spPr>
              <a:solidFill>
                <a:srgbClr val="C6F432"/>
              </a:solidFill>
            </c:spPr>
          </c:dPt>
          <c:cat>
            <c:strRef>
              <c:f>Sheet1!$A$2:$A$3</c:f>
              <c:strCache>
                <c:ptCount val="2"/>
                <c:pt idx="0">
                  <c:v>Selection</c:v>
                </c:pt>
                <c:pt idx="1">
                  <c:v>Allocation</c:v>
                </c:pt>
              </c:strCache>
            </c:strRef>
          </c:cat>
          <c:val>
            <c:numRef>
              <c:f>Sheet1!$B$2:$B$3</c:f>
              <c:numCache>
                <c:formatCode>General</c:formatCode>
                <c:ptCount val="2"/>
                <c:pt idx="0">
                  <c:v>-0.8</c:v>
                </c:pt>
                <c:pt idx="1">
                  <c:v>0.2</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cat>
            <c:strRef>
              <c:f>Sheet1!$A$2:$A$3</c:f>
              <c:strCache>
                <c:ptCount val="2"/>
                <c:pt idx="0">
                  <c:v>Allocation</c:v>
                </c:pt>
                <c:pt idx="1">
                  <c:v>Selection</c:v>
                </c:pt>
              </c:strCache>
            </c:strRef>
          </c:cat>
          <c:val>
            <c:numRef>
              <c:f>Sheet1!$B$2:$B$3</c:f>
              <c:numCache>
                <c:formatCode>General</c:formatCode>
                <c:ptCount val="2"/>
                <c:pt idx="0">
                  <c:v>0.4</c:v>
                </c:pt>
                <c:pt idx="1">
                  <c:v>-0.1</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Selection leads detractors</a:t>
            </a:r>
          </a:p>
          <a:p>
            <a:r>
              <a:t>Observation: Returned selection is negative [S2]. Why it matters: Selection leads realized detractors. Uncertainty: The evidence covers one linked period. What would change the view: A later historical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Allocation leads expectations</a:t>
            </a:r>
          </a:p>
          <a:p>
            <a:r>
              <a:t>Observation: Returned allocation is positive [S3]. Why it matters: Allocation leads expected effects. Uncertainty: Inputs are assumptions. What would change the view: A refreshed ex ante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Simulation unavailable</a:t>
            </a:r>
          </a:p>
          <a:p>
            <a:r>
              <a:t>Observation: Simulation is unavailable [S1]. Why it matters: Scenario effects cannot be assessed. Uncertainty: Capability may be added later. What would change the view: A published governed simulation tool.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Server comparison is unavailable [S1]. Why it matters: No persistence claim is supported. Uncertainty: Future metrics may alter context.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rPr>
                <a:latin typeface="Inter"/>
              </a:rPr>
              <a:t>PORTFOLIO ATTRIBUTION COMPARISON</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rPr>
                <a:latin typeface="Inter"/>
              </a:rPr>
              <a:t>Northstar Attribution Comparison (TEST)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rPr>
                <a:latin typeface="Inter"/>
              </a:rPr>
              <a:t>Historical and ex ante lanes · planned capabilities unavailable</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PORTFOLIO</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(TEST)</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MODE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Fallback</a:t>
            </a:r>
          </a:p>
        </p:txBody>
      </p:sp>
      <p:sp>
        <p:nvSpPr>
          <p:cNvPr id="13" name="Rectangle 12"/>
          <p:cNvSpPr/>
          <p:nvPr/>
        </p:nvSpPr>
        <p:spPr>
          <a:xfrm>
            <a:off x="685800" y="5833872"/>
            <a:ext cx="3063240" cy="38404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22960" y="5934456"/>
            <a:ext cx="2788920" cy="164592"/>
          </a:xfrm>
          <a:prstGeom prst="rect">
            <a:avLst/>
          </a:prstGeom>
          <a:noFill/>
        </p:spPr>
        <p:txBody>
          <a:bodyPr wrap="none" lIns="9144" rIns="9144" tIns="9144" bIns="9144" anchor="t">
            <a:spAutoFit/>
          </a:bodyPr>
          <a:lstStyle/>
          <a:p>
            <a:pPr algn="l">
              <a:spcAft>
                <a:spcPts val="0"/>
              </a:spcAft>
              <a:defRPr sz="800" b="1">
                <a:solidFill>
                  <a:srgbClr val="0D1117"/>
                </a:solidFill>
                <a:latin typeface="Inter"/>
              </a:defRPr>
            </a:pPr>
            <a:r>
              <a:rPr>
                <a:latin typeface="Inter"/>
              </a:rPr>
              <a:t>Two governed lanes available</a:t>
            </a:r>
          </a:p>
        </p:txBody>
      </p:sp>
      <p:sp>
        <p:nvSpPr>
          <p:cNvPr id="15" name="TextBox 14"/>
          <p:cNvSpPr txBox="1"/>
          <p:nvPr/>
        </p:nvSpPr>
        <p:spPr>
          <a:xfrm>
            <a:off x="3977639" y="582472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EVIDENCE COMPLETENESS</a:t>
            </a:r>
          </a:p>
        </p:txBody>
      </p:sp>
      <p:sp>
        <p:nvSpPr>
          <p:cNvPr id="16" name="TextBox 15"/>
          <p:cNvSpPr txBox="1"/>
          <p:nvPr/>
        </p:nvSpPr>
        <p:spPr>
          <a:xfrm>
            <a:off x="3977639" y="5998464"/>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2 of 4 · Partial</a:t>
            </a:r>
          </a:p>
        </p:txBody>
      </p:sp>
      <p:sp>
        <p:nvSpPr>
          <p:cNvPr id="17" name="TextBox 16"/>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prepared for internal investment use</a:t>
            </a:r>
          </a:p>
        </p:txBody>
      </p:sp>
      <p:sp>
        <p:nvSpPr>
          <p:cNvPr id="18" name="TextBox 17"/>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80056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80056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1" name="TextBox 10"/>
          <p:cNvSpPr txBox="1"/>
          <p:nvPr/>
        </p:nvSpPr>
        <p:spPr>
          <a:xfrm>
            <a:off x="804671" y="1719072"/>
            <a:ext cx="10616184" cy="31593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and ex ante effects are available, while simulation and server comparison capabilities are not published [S1][S2][S3].</a:t>
            </a:r>
          </a:p>
        </p:txBody>
      </p:sp>
      <p:sp>
        <p:nvSpPr>
          <p:cNvPr id="12" name="Rectangle 11"/>
          <p:cNvSpPr/>
          <p:nvPr/>
        </p:nvSpPr>
        <p:spPr>
          <a:xfrm>
            <a:off x="640080" y="2236170"/>
            <a:ext cx="2644902" cy="12508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223617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749808" y="236418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HISTORICAL LANE</a:t>
            </a:r>
          </a:p>
        </p:txBody>
      </p:sp>
      <p:sp>
        <p:nvSpPr>
          <p:cNvPr id="15" name="TextBox 14"/>
          <p:cNvSpPr txBox="1"/>
          <p:nvPr/>
        </p:nvSpPr>
        <p:spPr>
          <a:xfrm>
            <a:off x="749808" y="2620218"/>
            <a:ext cx="2425446" cy="437807"/>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16" name="TextBox 15"/>
          <p:cNvSpPr txBox="1"/>
          <p:nvPr/>
        </p:nvSpPr>
        <p:spPr>
          <a:xfrm>
            <a:off x="749808" y="3157864"/>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Realized effects [S2]</a:t>
            </a:r>
          </a:p>
        </p:txBody>
      </p:sp>
      <p:sp>
        <p:nvSpPr>
          <p:cNvPr id="17" name="Rectangle 16"/>
          <p:cNvSpPr/>
          <p:nvPr/>
        </p:nvSpPr>
        <p:spPr>
          <a:xfrm>
            <a:off x="3394710" y="2236170"/>
            <a:ext cx="2644902" cy="12508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3394710" y="223617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3504438" y="236418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EX ANTE LANE</a:t>
            </a:r>
          </a:p>
        </p:txBody>
      </p:sp>
      <p:sp>
        <p:nvSpPr>
          <p:cNvPr id="20" name="TextBox 19"/>
          <p:cNvSpPr txBox="1"/>
          <p:nvPr/>
        </p:nvSpPr>
        <p:spPr>
          <a:xfrm>
            <a:off x="3504438" y="2620218"/>
            <a:ext cx="2425446" cy="437807"/>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1" name="TextBox 20"/>
          <p:cNvSpPr txBox="1"/>
          <p:nvPr/>
        </p:nvSpPr>
        <p:spPr>
          <a:xfrm>
            <a:off x="3504438" y="3157864"/>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Expected effects [S3]</a:t>
            </a:r>
          </a:p>
        </p:txBody>
      </p:sp>
      <p:sp>
        <p:nvSpPr>
          <p:cNvPr id="22" name="Rectangle 21"/>
          <p:cNvSpPr/>
          <p:nvPr/>
        </p:nvSpPr>
        <p:spPr>
          <a:xfrm>
            <a:off x="6149340" y="2236170"/>
            <a:ext cx="2644902" cy="12508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Rectangle 22"/>
          <p:cNvSpPr/>
          <p:nvPr/>
        </p:nvSpPr>
        <p:spPr>
          <a:xfrm>
            <a:off x="6149340" y="223617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TextBox 23"/>
          <p:cNvSpPr txBox="1"/>
          <p:nvPr/>
        </p:nvSpPr>
        <p:spPr>
          <a:xfrm>
            <a:off x="6259068" y="236418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SIMULATED LANE</a:t>
            </a:r>
          </a:p>
        </p:txBody>
      </p:sp>
      <p:sp>
        <p:nvSpPr>
          <p:cNvPr id="25" name="TextBox 24"/>
          <p:cNvSpPr txBox="1"/>
          <p:nvPr/>
        </p:nvSpPr>
        <p:spPr>
          <a:xfrm>
            <a:off x="6259068" y="2620218"/>
            <a:ext cx="2425446" cy="437807"/>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Unavailable</a:t>
            </a:r>
          </a:p>
        </p:txBody>
      </p:sp>
      <p:sp>
        <p:nvSpPr>
          <p:cNvPr id="26" name="TextBox 25"/>
          <p:cNvSpPr txBox="1"/>
          <p:nvPr/>
        </p:nvSpPr>
        <p:spPr>
          <a:xfrm>
            <a:off x="6259068" y="3157864"/>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Capability not published [S1]</a:t>
            </a:r>
          </a:p>
        </p:txBody>
      </p:sp>
      <p:sp>
        <p:nvSpPr>
          <p:cNvPr id="27" name="Rectangle 26"/>
          <p:cNvSpPr/>
          <p:nvPr/>
        </p:nvSpPr>
        <p:spPr>
          <a:xfrm>
            <a:off x="8903970" y="2236170"/>
            <a:ext cx="2644902" cy="12508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8" name="Rectangle 27"/>
          <p:cNvSpPr/>
          <p:nvPr/>
        </p:nvSpPr>
        <p:spPr>
          <a:xfrm>
            <a:off x="8903970" y="223617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TextBox 28"/>
          <p:cNvSpPr txBox="1"/>
          <p:nvPr/>
        </p:nvSpPr>
        <p:spPr>
          <a:xfrm>
            <a:off x="9013698" y="236418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COMPARISON COVERAGE</a:t>
            </a:r>
          </a:p>
        </p:txBody>
      </p:sp>
      <p:sp>
        <p:nvSpPr>
          <p:cNvPr id="30" name="TextBox 29"/>
          <p:cNvSpPr txBox="1"/>
          <p:nvPr/>
        </p:nvSpPr>
        <p:spPr>
          <a:xfrm>
            <a:off x="9013698" y="2620218"/>
            <a:ext cx="2425446" cy="437807"/>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Fallback</a:t>
            </a:r>
          </a:p>
        </p:txBody>
      </p:sp>
      <p:sp>
        <p:nvSpPr>
          <p:cNvPr id="31" name="TextBox 30"/>
          <p:cNvSpPr txBox="1"/>
          <p:nvPr/>
        </p:nvSpPr>
        <p:spPr>
          <a:xfrm>
            <a:off x="9013698" y="3157864"/>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No server metrics [S1]</a:t>
            </a:r>
          </a:p>
        </p:txBody>
      </p:sp>
      <p:sp>
        <p:nvSpPr>
          <p:cNvPr id="32" name="Rectangle 31"/>
          <p:cNvSpPr/>
          <p:nvPr/>
        </p:nvSpPr>
        <p:spPr>
          <a:xfrm>
            <a:off x="640080" y="3596776"/>
            <a:ext cx="10908792" cy="80056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3" name="Rectangle 32"/>
          <p:cNvSpPr/>
          <p:nvPr/>
        </p:nvSpPr>
        <p:spPr>
          <a:xfrm>
            <a:off x="640080" y="3596776"/>
            <a:ext cx="54864" cy="80056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TextBox 33"/>
          <p:cNvSpPr txBox="1"/>
          <p:nvPr/>
        </p:nvSpPr>
        <p:spPr>
          <a:xfrm>
            <a:off x="804671" y="370650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Historical</a:t>
            </a:r>
          </a:p>
        </p:txBody>
      </p:sp>
      <p:sp>
        <p:nvSpPr>
          <p:cNvPr id="35" name="TextBox 34"/>
          <p:cNvSpPr txBox="1"/>
          <p:nvPr/>
        </p:nvSpPr>
        <p:spPr>
          <a:xfrm>
            <a:off x="804671" y="3989968"/>
            <a:ext cx="10616184" cy="31593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Historical effects are returned [S2]. Why it matters: Realized sources can be described. Uncertainty: One period may not persist. What would change the view: A later governed period.</a:t>
            </a:r>
          </a:p>
        </p:txBody>
      </p:sp>
      <p:sp>
        <p:nvSpPr>
          <p:cNvPr id="36" name="Rectangle 35"/>
          <p:cNvSpPr/>
          <p:nvPr/>
        </p:nvSpPr>
        <p:spPr>
          <a:xfrm>
            <a:off x="640080" y="4507067"/>
            <a:ext cx="10908792" cy="80056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7" name="Rectangle 36"/>
          <p:cNvSpPr/>
          <p:nvPr/>
        </p:nvSpPr>
        <p:spPr>
          <a:xfrm>
            <a:off x="640080" y="4507067"/>
            <a:ext cx="54864" cy="80056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8" name="TextBox 37"/>
          <p:cNvSpPr txBox="1"/>
          <p:nvPr/>
        </p:nvSpPr>
        <p:spPr>
          <a:xfrm>
            <a:off x="804671" y="461679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Ex ante</a:t>
            </a:r>
          </a:p>
        </p:txBody>
      </p:sp>
      <p:sp>
        <p:nvSpPr>
          <p:cNvPr id="39" name="TextBox 38"/>
          <p:cNvSpPr txBox="1"/>
          <p:nvPr/>
        </p:nvSpPr>
        <p:spPr>
          <a:xfrm>
            <a:off x="804671" y="4900259"/>
            <a:ext cx="10616184" cy="31593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Ex ante effects are returned [S3]. Why it matters: Expected sources can be described. Uncertainty: Inputs are assumptions. What would change the view: Refreshed governed inputs.</a:t>
            </a:r>
          </a:p>
        </p:txBody>
      </p:sp>
      <p:sp>
        <p:nvSpPr>
          <p:cNvPr id="40" name="Rectangle 39"/>
          <p:cNvSpPr/>
          <p:nvPr/>
        </p:nvSpPr>
        <p:spPr>
          <a:xfrm>
            <a:off x="640080" y="5417357"/>
            <a:ext cx="10908792" cy="80056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1" name="Rectangle 40"/>
          <p:cNvSpPr/>
          <p:nvPr/>
        </p:nvSpPr>
        <p:spPr>
          <a:xfrm>
            <a:off x="640080" y="5417357"/>
            <a:ext cx="54864" cy="80056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2" name="TextBox 41"/>
          <p:cNvSpPr txBox="1"/>
          <p:nvPr/>
        </p:nvSpPr>
        <p:spPr>
          <a:xfrm>
            <a:off x="804671" y="552708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Comparison</a:t>
            </a:r>
          </a:p>
        </p:txBody>
      </p:sp>
      <p:sp>
        <p:nvSpPr>
          <p:cNvPr id="43" name="TextBox 42"/>
          <p:cNvSpPr txBox="1"/>
          <p:nvPr/>
        </p:nvSpPr>
        <p:spPr>
          <a:xfrm>
            <a:off x="804671" y="5810549"/>
            <a:ext cx="10616184" cy="31593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Comparison capability is unavailable [S1]. Why it matters: Persistence cannot be assessed. Uncertainty: A future tool may return metrics. What would change the view: Published capability.</a:t>
            </a:r>
          </a:p>
        </p:txBody>
      </p:sp>
      <p:sp>
        <p:nvSpPr>
          <p:cNvPr id="44" name="Rectangle 4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5" name="TextBox 4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46" name="TextBox 4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47" name="TextBox 4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PORTFOLIO, BENCHMARK, COHORT AND CURRENCY IDENTIFIERS MATCH</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Scope and Compatibility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244602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446020">
                <a:tc>
                  <a:txBody>
                    <a:bodyPr/>
                    <a:lstStyle/>
                    <a:p>
                      <a:pPr>
                        <a:defRPr sz="800" b="1">
                          <a:solidFill>
                            <a:srgbClr val="0D1117"/>
                          </a:solidFill>
                          <a:latin typeface="Inter"/>
                        </a:defRPr>
                      </a:pPr>
                      <a:r>
                        <a:rPr>
                          <a:latin typeface="Inter"/>
                        </a:rPr>
                        <a:t>Compatibility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Four identifiers match [S2][S3]</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EFFECTS</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Selection leads detractors</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selection is negative [S2]. Why it matters: Selection leads realized detractors. Uncertainty: The evidence covers one linked period. What would change the view: A later historical…</a:t>
            </a:r>
          </a:p>
        </p:txBody>
      </p:sp>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 ANTE EFFECTS</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Allocation leads expectations</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allocation is positive [S3]. Why it matters: Allocation leads expected effects. Uncertainty: Inputs are assumptions. What would change the view: A refreshed ex ante result.</a:t>
            </a:r>
          </a:p>
        </p:txBody>
      </p:sp>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SIMULATION CAPABILITY IS NOT PUBLISHED</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Rectangle 7"/>
          <p:cNvSpPr/>
          <p:nvPr/>
        </p:nvSpPr>
        <p:spPr>
          <a:xfrm>
            <a:off x="640080" y="1325880"/>
            <a:ext cx="10908792" cy="85932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85932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37469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simulation capability not published [S1]. No simulated payload, uncertainty interval, or scenario identifier was returned.</a:t>
            </a:r>
          </a:p>
        </p:txBody>
      </p:sp>
      <p:graphicFrame>
        <p:nvGraphicFramePr>
          <p:cNvPr id="12" name="Table 11"/>
          <p:cNvGraphicFramePr>
            <a:graphicFrameLocks noGrp="1"/>
          </p:cNvGraphicFramePr>
          <p:nvPr/>
        </p:nvGraphicFramePr>
        <p:xfrm>
          <a:off x="640080" y="2294933"/>
          <a:ext cx="10908792" cy="2953932"/>
        </p:xfrm>
        <a:graphic>
          <a:graphicData uri="http://schemas.openxmlformats.org/drawingml/2006/table">
            <a:tbl>
              <a:tblPr firstRow="1" bandRow="1">
                <a:tableStyleId>{5C22544A-7EE6-4342-B048-85BDC9FD1C3A}</a:tableStyleId>
              </a:tblPr>
              <a:tblGrid>
                <a:gridCol w="2011680"/>
                <a:gridCol w="4448556"/>
                <a:gridCol w="4448556"/>
              </a:tblGrid>
              <a:tr h="590786">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90786">
                <a:tc>
                  <a:txBody>
                    <a:bodyPr/>
                    <a:lstStyle/>
                    <a:p>
                      <a:pPr>
                        <a:defRPr sz="800" b="1">
                          <a:solidFill>
                            <a:srgbClr val="0D1117"/>
                          </a:solidFill>
                          <a:latin typeface="Inter"/>
                        </a:defRPr>
                      </a:pPr>
                      <a:r>
                        <a:rPr>
                          <a:latin typeface="Inter"/>
                        </a:rPr>
                        <a:t>Capability</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Capability-gated before invocation [S1]</a:t>
                      </a:r>
                    </a:p>
                  </a:txBody>
                  <a:tcPr marL="54864" marR="54864" marT="27432" marB="27432" anchor="ctr">
                    <a:solidFill>
                      <a:srgbClr val="FFFFFF"/>
                    </a:solidFill>
                  </a:tcPr>
                </a:tc>
              </a:tr>
              <a:tr h="590786">
                <a:tc>
                  <a:txBody>
                    <a:bodyPr/>
                    <a:lstStyle/>
                    <a:p>
                      <a:pPr>
                        <a:defRPr sz="800" b="1">
                          <a:solidFill>
                            <a:srgbClr val="0D1117"/>
                          </a:solidFill>
                          <a:latin typeface="Inter"/>
                        </a:defRPr>
                      </a:pPr>
                      <a:r>
                        <a:rPr>
                          <a:latin typeface="Inter"/>
                        </a:rPr>
                        <a:t>Invocation</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called because capability is absent [S1]</a:t>
                      </a:r>
                    </a:p>
                  </a:txBody>
                  <a:tcPr marL="54864" marR="54864" marT="27432" marB="27432" anchor="ctr">
                    <a:solidFill>
                      <a:srgbClr val="F5F7F9"/>
                    </a:solidFill>
                  </a:tcPr>
                </a:tc>
              </a:tr>
              <a:tr h="590786">
                <a:tc>
                  <a:txBody>
                    <a:bodyPr/>
                    <a:lstStyle/>
                    <a:p>
                      <a:pPr>
                        <a:defRPr sz="800" b="1">
                          <a:solidFill>
                            <a:srgbClr val="0D1117"/>
                          </a:solidFill>
                          <a:latin typeface="Inter"/>
                        </a:defRPr>
                      </a:pPr>
                      <a:r>
                        <a:rPr>
                          <a:latin typeface="Inter"/>
                        </a:rPr>
                        <a:t>Lane identity</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simulated payload [S1]</a:t>
                      </a:r>
                    </a:p>
                  </a:txBody>
                  <a:tcPr marL="54864" marR="54864" marT="27432" marB="27432" anchor="ctr">
                    <a:solidFill>
                      <a:srgbClr val="FFFFFF"/>
                    </a:solidFill>
                  </a:tcPr>
                </a:tc>
              </a:tr>
              <a:tr h="590788">
                <a:tc>
                  <a:txBody>
                    <a:bodyPr/>
                    <a:lstStyle/>
                    <a:p>
                      <a:pPr>
                        <a:defRPr sz="800" b="1">
                          <a:solidFill>
                            <a:srgbClr val="0D1117"/>
                          </a:solidFill>
                          <a:latin typeface="Inter"/>
                        </a:defRPr>
                      </a:pPr>
                      <a:r>
                        <a:rPr>
                          <a:latin typeface="Inter"/>
                        </a:rPr>
                        <a:t>Uncertainty</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server uncertainty result [S1]</a:t>
                      </a:r>
                    </a:p>
                  </a:txBody>
                  <a:tcPr marL="54864" marR="54864" marT="27432" marB="27432" anchor="ctr">
                    <a:solidFill>
                      <a:srgbClr val="F5F7F9"/>
                    </a:solidFill>
                  </a:tcPr>
                </a:tc>
              </a:tr>
            </a:tbl>
          </a:graphicData>
        </a:graphic>
      </p:graphicFrame>
      <p:sp>
        <p:nvSpPr>
          <p:cNvPr id="13" name="Rectangle 12"/>
          <p:cNvSpPr/>
          <p:nvPr/>
        </p:nvSpPr>
        <p:spPr>
          <a:xfrm>
            <a:off x="640080" y="5358594"/>
            <a:ext cx="10908792" cy="85932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5358594"/>
            <a:ext cx="54864" cy="859325"/>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5468322"/>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Simulation unavailable</a:t>
            </a:r>
          </a:p>
        </p:txBody>
      </p:sp>
      <p:sp>
        <p:nvSpPr>
          <p:cNvPr id="16" name="TextBox 15"/>
          <p:cNvSpPr txBox="1"/>
          <p:nvPr/>
        </p:nvSpPr>
        <p:spPr>
          <a:xfrm>
            <a:off x="804671" y="5751786"/>
            <a:ext cx="10616184" cy="37469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Simulation is unavailable [S1]. Why it matters: Scenario effects cannot be assessed. Uncertainty: Capability may be added later. What would change the view: A published governed simulation…</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SERVER-DERIVED COMPARISON METRICS ARE NOT PUBLISHED</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Rectangle 7"/>
          <p:cNvSpPr/>
          <p:nvPr/>
        </p:nvSpPr>
        <p:spPr>
          <a:xfrm>
            <a:off x="640080" y="1325880"/>
            <a:ext cx="10908792" cy="85932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85932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37469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differences, concentration, persistence, and Sources that persist are unavailable because comparison capability is not published [S1].</a:t>
            </a:r>
          </a:p>
        </p:txBody>
      </p:sp>
      <p:graphicFrame>
        <p:nvGraphicFramePr>
          <p:cNvPr id="12" name="Table 11"/>
          <p:cNvGraphicFramePr>
            <a:graphicFrameLocks noGrp="1"/>
          </p:cNvGraphicFramePr>
          <p:nvPr/>
        </p:nvGraphicFramePr>
        <p:xfrm>
          <a:off x="640080" y="2294933"/>
          <a:ext cx="10908792" cy="2953932"/>
        </p:xfrm>
        <a:graphic>
          <a:graphicData uri="http://schemas.openxmlformats.org/drawingml/2006/table">
            <a:tbl>
              <a:tblPr firstRow="1" bandRow="1">
                <a:tableStyleId>{5C22544A-7EE6-4342-B048-85BDC9FD1C3A}</a:tableStyleId>
              </a:tblPr>
              <a:tblGrid>
                <a:gridCol w="2011680"/>
                <a:gridCol w="4448556"/>
                <a:gridCol w="4448556"/>
              </a:tblGrid>
              <a:tr h="590786">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90786">
                <a:tc>
                  <a:txBody>
                    <a:bodyPr/>
                    <a:lstStyle/>
                    <a:p>
                      <a:pPr>
                        <a:defRPr sz="800" b="1">
                          <a:solidFill>
                            <a:srgbClr val="0D1117"/>
                          </a:solidFill>
                          <a:latin typeface="Inter"/>
                        </a:defRPr>
                      </a:pPr>
                      <a:r>
                        <a:rPr>
                          <a:latin typeface="Inter"/>
                        </a:rPr>
                        <a:t>Lane differences</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Requires governed comparison output [S1]</a:t>
                      </a:r>
                    </a:p>
                  </a:txBody>
                  <a:tcPr marL="54864" marR="54864" marT="27432" marB="27432" anchor="ctr">
                    <a:solidFill>
                      <a:srgbClr val="FFFFFF"/>
                    </a:solidFill>
                  </a:tcPr>
                </a:tc>
              </a:tr>
              <a:tr h="590786">
                <a:tc>
                  <a:txBody>
                    <a:bodyPr/>
                    <a:lstStyle/>
                    <a:p>
                      <a:pPr>
                        <a:defRPr sz="800" b="1">
                          <a:solidFill>
                            <a:srgbClr val="0D1117"/>
                          </a:solidFill>
                          <a:latin typeface="Inter"/>
                        </a:defRPr>
                      </a:pPr>
                      <a:r>
                        <a:rPr>
                          <a:latin typeface="Inter"/>
                        </a:rPr>
                        <a:t>Concentration</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local aggregation permitted [S1]</a:t>
                      </a:r>
                    </a:p>
                  </a:txBody>
                  <a:tcPr marL="54864" marR="54864" marT="27432" marB="27432" anchor="ctr">
                    <a:solidFill>
                      <a:srgbClr val="F5F7F9"/>
                    </a:solidFill>
                  </a:tcPr>
                </a:tc>
              </a:tr>
              <a:tr h="590786">
                <a:tc>
                  <a:txBody>
                    <a:bodyPr/>
                    <a:lstStyle/>
                    <a:p>
                      <a:pPr>
                        <a:defRPr sz="800" b="1">
                          <a:solidFill>
                            <a:srgbClr val="0D1117"/>
                          </a:solidFill>
                          <a:latin typeface="Inter"/>
                        </a:defRPr>
                      </a:pPr>
                      <a:r>
                        <a:rPr>
                          <a:latin typeface="Inter"/>
                        </a:rPr>
                        <a:t>Persistence</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server persistence metric [S1]</a:t>
                      </a:r>
                    </a:p>
                  </a:txBody>
                  <a:tcPr marL="54864" marR="54864" marT="27432" marB="27432" anchor="ctr">
                    <a:solidFill>
                      <a:srgbClr val="FFFFFF"/>
                    </a:solidFill>
                  </a:tcPr>
                </a:tc>
              </a:tr>
              <a:tr h="590788">
                <a:tc>
                  <a:txBody>
                    <a:bodyPr/>
                    <a:lstStyle/>
                    <a:p>
                      <a:pPr>
                        <a:defRPr sz="800" b="1">
                          <a:solidFill>
                            <a:srgbClr val="0D1117"/>
                          </a:solidFill>
                          <a:latin typeface="Inter"/>
                        </a:defRPr>
                      </a:pPr>
                      <a:r>
                        <a:rPr>
                          <a:latin typeface="Inter"/>
                        </a:rPr>
                        <a:t>Sources that persist</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governed comparison result [S1]</a:t>
                      </a:r>
                    </a:p>
                  </a:txBody>
                  <a:tcPr marL="54864" marR="54864" marT="27432" marB="27432" anchor="ctr">
                    <a:solidFill>
                      <a:srgbClr val="F5F7F9"/>
                    </a:solidFill>
                  </a:tcPr>
                </a:tc>
              </a:tr>
            </a:tbl>
          </a:graphicData>
        </a:graphic>
      </p:graphicFrame>
      <p:sp>
        <p:nvSpPr>
          <p:cNvPr id="13" name="Rectangle 12"/>
          <p:cNvSpPr/>
          <p:nvPr/>
        </p:nvSpPr>
        <p:spPr>
          <a:xfrm>
            <a:off x="640080" y="5358594"/>
            <a:ext cx="10908792" cy="85932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5358594"/>
            <a:ext cx="54864" cy="859325"/>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5468322"/>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6" name="TextBox 15"/>
          <p:cNvSpPr txBox="1"/>
          <p:nvPr/>
        </p:nvSpPr>
        <p:spPr>
          <a:xfrm>
            <a:off x="804671" y="5751786"/>
            <a:ext cx="10616184" cy="37469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Server comparison is unavailable [S1]. Why it matters: No persistence claim is supported. Uncertainty: Future metrics may alter context. What would change the view: A governed comparison…</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LIVE LANES AND TWO CAPABILITY GAPS DEFINE COVERAGE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Limitations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07</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122301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223010">
                <a:tc>
                  <a:txBody>
                    <a:bodyPr/>
                    <a:lstStyle/>
                    <a:p>
                      <a:pPr>
                        <a:defRPr sz="80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[S2]</a:t>
                      </a:r>
                    </a:p>
                  </a:txBody>
                  <a:tcPr marL="54864" marR="54864" marT="27432" marB="27432" anchor="ctr">
                    <a:solidFill>
                      <a:srgbClr val="FFFFFF"/>
                    </a:solidFill>
                  </a:tcPr>
                </a:tc>
              </a:tr>
              <a:tr h="1223010">
                <a:tc>
                  <a:txBody>
                    <a:bodyPr/>
                    <a:lstStyle/>
                    <a:p>
                      <a:pPr>
                        <a:defRPr sz="800" b="1">
                          <a:solidFill>
                            <a:srgbClr val="0D1117"/>
                          </a:solidFill>
                          <a:latin typeface="Inter"/>
                        </a:defRPr>
                      </a:pPr>
                      <a:r>
                        <a:rPr>
                          <a:latin typeface="Inter"/>
                        </a:rPr>
                        <a:t>Ex ante</a:t>
                      </a:r>
                    </a:p>
                  </a:txBody>
                  <a:tcPr marL="54864" marR="54864" marT="27432" marB="27432" anchor="ctr">
                    <a:solidFill>
                      <a:srgbClr val="F5F7F9"/>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[S3]</a:t>
                      </a:r>
                    </a:p>
                  </a:txBody>
                  <a:tcPr marL="54864" marR="54864" marT="27432" marB="27432" anchor="ctr">
                    <a:solidFill>
                      <a:srgbClr val="F5F7F9"/>
                    </a:solidFill>
                  </a:tcPr>
                </a:tc>
              </a:tr>
              <a:tr h="1223010">
                <a:tc>
                  <a:txBody>
                    <a:bodyPr/>
                    <a:lstStyle/>
                    <a:p>
                      <a:pPr>
                        <a:defRPr sz="800" b="1">
                          <a:solidFill>
                            <a:srgbClr val="0D1117"/>
                          </a:solidFill>
                          <a:latin typeface="Inter"/>
                        </a:defRPr>
                      </a:pPr>
                      <a:r>
                        <a:rPr>
                          <a:latin typeface="Inter"/>
                        </a:rPr>
                        <a:t>Planned tools</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published [S1]</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A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08</a:t>
            </a:r>
          </a:p>
        </p:txBody>
      </p:sp>
      <p:graphicFrame>
        <p:nvGraphicFramePr>
          <p:cNvPr id="8" name="Table 7"/>
          <p:cNvGraphicFramePr>
            <a:graphicFrameLocks noGrp="1"/>
          </p:cNvGraphicFramePr>
          <p:nvPr/>
        </p:nvGraphicFramePr>
        <p:xfrm>
          <a:off x="640080" y="1325880"/>
          <a:ext cx="10908792" cy="1797350"/>
        </p:xfrm>
        <a:graphic>
          <a:graphicData uri="http://schemas.openxmlformats.org/drawingml/2006/table">
            <a:tbl>
              <a:tblPr firstRow="1" bandRow="1">
                <a:tableStyleId>{5C22544A-7EE6-4342-B048-85BDC9FD1C3A}</a:tableStyleId>
              </a:tblPr>
              <a:tblGrid>
                <a:gridCol w="2011680"/>
                <a:gridCol w="4448556"/>
                <a:gridCol w="4448556"/>
              </a:tblGrid>
              <a:tr h="449337">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r>
              <a:tr h="449337">
                <a:tc>
                  <a:txBody>
                    <a:bodyPr/>
                    <a:lstStyle/>
                    <a:p>
                      <a:pPr>
                        <a:defRPr sz="80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get_gradient_capabilities</a:t>
                      </a:r>
                    </a:p>
                  </a:txBody>
                  <a:tcPr marL="54864" marR="54864" marT="27432" marB="27432" anchor="ctr">
                    <a:solidFill>
                      <a:srgbClr val="FFFFFF"/>
                    </a:solidFill>
                  </a:tcPr>
                </a:tc>
              </a:tr>
              <a:tr h="449337">
                <a:tc>
                  <a:txBody>
                    <a:bodyPr/>
                    <a:lstStyle/>
                    <a:p>
                      <a:pPr>
                        <a:defRPr sz="80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Historical attribution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get_portfolio_attribution</a:t>
                      </a:r>
                    </a:p>
                  </a:txBody>
                  <a:tcPr marL="54864" marR="54864" marT="27432" marB="27432" anchor="ctr">
                    <a:solidFill>
                      <a:srgbClr val="F5F7F9"/>
                    </a:solidFill>
                  </a:tcPr>
                </a:tc>
              </a:tr>
              <a:tr h="449339">
                <a:tc>
                  <a:txBody>
                    <a:bodyPr/>
                    <a:lstStyle/>
                    <a:p>
                      <a:pPr>
                        <a:defRPr sz="80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Ex ante attribution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get_portfolio_ex_ante_attribution</a:t>
                      </a:r>
                    </a:p>
                  </a:txBody>
                  <a:tcPr marL="54864" marR="54864" marT="27432" marB="27432" anchor="ctr">
                    <a:solidFill>
                      <a:srgbClr val="FFFFFF"/>
                    </a:solidFill>
                  </a:tcPr>
                </a:tc>
              </a:tr>
            </a:tbl>
          </a:graphicData>
        </a:graphic>
      </p:graphicFrame>
      <p:sp>
        <p:nvSpPr>
          <p:cNvPr id="9" name="Rectangle 8"/>
          <p:cNvSpPr/>
          <p:nvPr/>
        </p:nvSpPr>
        <p:spPr>
          <a:xfrm>
            <a:off x="640080" y="3232958"/>
            <a:ext cx="10908792" cy="143541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3232958"/>
            <a:ext cx="54864" cy="143541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334268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Method boundary</a:t>
            </a:r>
          </a:p>
        </p:txBody>
      </p:sp>
      <p:sp>
        <p:nvSpPr>
          <p:cNvPr id="12" name="TextBox 11"/>
          <p:cNvSpPr txBox="1"/>
          <p:nvPr/>
        </p:nvSpPr>
        <p:spPr>
          <a:xfrm>
            <a:off x="804671" y="3626150"/>
            <a:ext cx="10616184" cy="95078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Each lane remains on its returned method, period or horizon, benchmark role, parent cohort and calculation currency. Historical evidence is realized, ex ante evidence is expected, and simulated evidence is scenario-based. Values are displayed without local reconciliation, attribution arithmetic or substitutions [S1][S2][S3].</a:t>
            </a:r>
          </a:p>
        </p:txBody>
      </p:sp>
      <p:sp>
        <p:nvSpPr>
          <p:cNvPr id="13" name="Rectangle 12"/>
          <p:cNvSpPr/>
          <p:nvPr/>
        </p:nvSpPr>
        <p:spPr>
          <a:xfrm>
            <a:off x="640080" y="4778101"/>
            <a:ext cx="10908792" cy="143981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4778101"/>
            <a:ext cx="54864" cy="143981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4887829"/>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Comparison boundary</a:t>
            </a:r>
          </a:p>
        </p:txBody>
      </p:sp>
      <p:sp>
        <p:nvSpPr>
          <p:cNvPr id="16" name="TextBox 15"/>
          <p:cNvSpPr txBox="1"/>
          <p:nvPr/>
        </p:nvSpPr>
        <p:spPr>
          <a:xfrm>
            <a:off x="804671" y="5171293"/>
            <a:ext cx="10616184" cy="95518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Cross-lane differences, concentration, overlap, reconciliation and persistence are reported only when the governed comparison capability returns them. Capability absence is an evidence limitation, not a zero value or a failed lane. Request IDs, diagnostics, residuals and coverage remain attached to their source payloads [S1].</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11</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Attribution Comparison (TEST)</dc:title>
  <dc:subject>Attribution Comparison</dc:subject>
  <dc:creator>GradientCIO</dc:creator>
  <cp:keywords>Gradient report theme 2.1.0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