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 id="266" ns1:id="rId17"/>
    <ns0:sldId id="267" ns1:id="rId18"/>
    <ns0:sldId id="268" ns1:id="rId19"/>
    <ns0:sldId id="269" ns1:id="rId20"/>
    <ns0:sldId id="270" ns1:id="rId21"/>
    <ns0:sldId id="271" ns1:id="rId22"/>
    <ns0:sldId id="272" ns1:id="rId23"/>
    <ns0:sldId id="273" ns1:id="rId24"/>
    <ns0:sldId id="274" ns1:id="rId25"/>
    <ns0:sldId id="275" ns1:id="rId26"/>
    <ns0:sldId id="276" ns1:id="rId27"/>
    <ns0:sldId id="277" ns1:id="rId28"/>
    <ns0:sldId id="278" ns1:id="rId29"/>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Sheet1!$A$2:$A$6</c:f>
              <c:strCache>
                <c:ptCount val="5"/>
                <c:pt idx="0">
                  <c:v>Benchmark return</c:v>
                </c:pt>
                <c:pt idx="1">
                  <c:v>Allocation</c:v>
                </c:pt>
                <c:pt idx="2">
                  <c:v>Selection</c:v>
                </c:pt>
                <c:pt idx="3">
                  <c:v>Interaction</c:v>
                </c:pt>
                <c:pt idx="4">
                  <c:v>Portfolio return</c:v>
                </c:pt>
              </c:strCache>
            </c:strRef>
          </c:cat>
          <c:val>
            <c:numRef>
              <c:f>Sheet1!$B$2:$B$6</c:f>
              <c:numCache>
                <c:formatCode>General</c:formatCode>
                <c:ptCount val="5"/>
                <c:pt idx="0">
                  <c:v>0.0</c:v>
                </c:pt>
                <c:pt idx="1">
                  <c:v>2.3</c:v>
                </c:pt>
                <c:pt idx="2">
                  <c:v>0.0</c:v>
                </c:pt>
                <c:pt idx="3">
                  <c:v>0.0</c:v>
                </c:pt>
                <c:pt idx="4">
                  <c:v>0.0</c:v>
                </c:pt>
              </c:numCache>
            </c:numRef>
          </c:val>
        </c:ser>
        <c:ser>
          <c:idx val="1"/>
          <c:order val="1"/>
          <c:tx>
            <c:strRef>
              <c:f>Sheet1!$C$1</c:f>
              <c:strCache>
                <c:ptCount val="1"/>
                <c:pt idx="0">
                  <c:v>Increase</c:v>
                </c:pt>
              </c:strCache>
            </c:strRef>
          </c:tx>
          <c:spPr>
            <a:solidFill>
              <a:srgbClr val="C6F432"/>
            </a:solidFill>
          </c:spPr>
          <c:cat>
            <c:strRef>
              <c:f>Sheet1!$A$2:$A$6</c:f>
              <c:strCache>
                <c:ptCount val="5"/>
                <c:pt idx="0">
                  <c:v>Benchmark return</c:v>
                </c:pt>
                <c:pt idx="1">
                  <c:v>Allocation</c:v>
                </c:pt>
                <c:pt idx="2">
                  <c:v>Selection</c:v>
                </c:pt>
                <c:pt idx="3">
                  <c:v>Interaction</c:v>
                </c:pt>
                <c:pt idx="4">
                  <c:v>Portfolio return</c:v>
                </c:pt>
              </c:strCache>
            </c:strRef>
          </c:cat>
          <c:val>
            <c:numRef>
              <c:f>Sheet1!$C$2:$C$6</c:f>
              <c:numCache>
                <c:formatCode>General</c:formatCode>
                <c:ptCount val="5"/>
                <c:pt idx="0">
                  <c:v>2.75</c:v>
                </c:pt>
                <c:pt idx="1">
                  <c:v>0.0</c:v>
                </c:pt>
                <c:pt idx="2">
                  <c:v>0.0</c:v>
                </c:pt>
                <c:pt idx="3">
                  <c:v>0.0</c:v>
                </c:pt>
                <c:pt idx="4">
                  <c:v>0.0</c:v>
                </c:pt>
              </c:numCache>
            </c:numRef>
          </c:val>
        </c:ser>
        <c:ser>
          <c:idx val="2"/>
          <c:order val="2"/>
          <c:tx>
            <c:strRef>
              <c:f>Sheet1!$D$1</c:f>
              <c:strCache>
                <c:ptCount val="1"/>
                <c:pt idx="0">
                  <c:v>Decrease</c:v>
                </c:pt>
              </c:strCache>
            </c:strRef>
          </c:tx>
          <c:spPr>
            <a:solidFill>
              <a:srgbClr val="FF6B5E"/>
            </a:solidFill>
          </c:spPr>
          <c:cat>
            <c:strRef>
              <c:f>Sheet1!$A$2:$A$6</c:f>
              <c:strCache>
                <c:ptCount val="5"/>
                <c:pt idx="0">
                  <c:v>Benchmark return</c:v>
                </c:pt>
                <c:pt idx="1">
                  <c:v>Allocation</c:v>
                </c:pt>
                <c:pt idx="2">
                  <c:v>Selection</c:v>
                </c:pt>
                <c:pt idx="3">
                  <c:v>Interaction</c:v>
                </c:pt>
                <c:pt idx="4">
                  <c:v>Portfolio return</c:v>
                </c:pt>
              </c:strCache>
            </c:strRef>
          </c:cat>
          <c:val>
            <c:numRef>
              <c:f>Sheet1!$D$2:$D$6</c:f>
              <c:numCache>
                <c:formatCode>General</c:formatCode>
                <c:ptCount val="5"/>
                <c:pt idx="0">
                  <c:v>0.0</c:v>
                </c:pt>
                <c:pt idx="1">
                  <c:v>0.45</c:v>
                </c:pt>
                <c:pt idx="2">
                  <c:v>5.4</c:v>
                </c:pt>
                <c:pt idx="3">
                  <c:v>0.25</c:v>
                </c:pt>
                <c:pt idx="4">
                  <c:v>3.35</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Sheet1!$A$2:$A$6</c:f>
              <c:strCache>
                <c:ptCount val="5"/>
                <c:pt idx="0">
                  <c:v>Benchmark return</c:v>
                </c:pt>
                <c:pt idx="1">
                  <c:v>Allocation</c:v>
                </c:pt>
                <c:pt idx="2">
                  <c:v>Selection</c:v>
                </c:pt>
                <c:pt idx="3">
                  <c:v>Interaction</c:v>
                </c:pt>
                <c:pt idx="4">
                  <c:v>Portfolio return</c:v>
                </c:pt>
              </c:strCache>
            </c:strRef>
          </c:cat>
          <c:val>
            <c:numRef>
              <c:f>Sheet1!$B$2:$B$6</c:f>
              <c:numCache>
                <c:formatCode>General</c:formatCode>
                <c:ptCount val="5"/>
                <c:pt idx="0">
                  <c:v>0.0</c:v>
                </c:pt>
                <c:pt idx="1">
                  <c:v>6.2</c:v>
                </c:pt>
                <c:pt idx="2">
                  <c:v>6.48</c:v>
                </c:pt>
                <c:pt idx="3">
                  <c:v>7.73</c:v>
                </c:pt>
                <c:pt idx="4">
                  <c:v>0.0</c:v>
                </c:pt>
              </c:numCache>
            </c:numRef>
          </c:val>
        </c:ser>
        <c:ser>
          <c:idx val="1"/>
          <c:order val="1"/>
          <c:tx>
            <c:strRef>
              <c:f>Sheet1!$C$1</c:f>
              <c:strCache>
                <c:ptCount val="1"/>
                <c:pt idx="0">
                  <c:v>Increase</c:v>
                </c:pt>
              </c:strCache>
            </c:strRef>
          </c:tx>
          <c:spPr>
            <a:solidFill>
              <a:srgbClr val="C6F432"/>
            </a:solidFill>
          </c:spPr>
          <c:cat>
            <c:strRef>
              <c:f>Sheet1!$A$2:$A$6</c:f>
              <c:strCache>
                <c:ptCount val="5"/>
                <c:pt idx="0">
                  <c:v>Benchmark return</c:v>
                </c:pt>
                <c:pt idx="1">
                  <c:v>Allocation</c:v>
                </c:pt>
                <c:pt idx="2">
                  <c:v>Selection</c:v>
                </c:pt>
                <c:pt idx="3">
                  <c:v>Interaction</c:v>
                </c:pt>
                <c:pt idx="4">
                  <c:v>Portfolio return</c:v>
                </c:pt>
              </c:strCache>
            </c:strRef>
          </c:cat>
          <c:val>
            <c:numRef>
              <c:f>Sheet1!$C$2:$C$6</c:f>
              <c:numCache>
                <c:formatCode>General</c:formatCode>
                <c:ptCount val="5"/>
                <c:pt idx="0">
                  <c:v>6.2</c:v>
                </c:pt>
                <c:pt idx="1">
                  <c:v>0.28</c:v>
                </c:pt>
                <c:pt idx="2">
                  <c:v>1.25</c:v>
                </c:pt>
                <c:pt idx="3">
                  <c:v>0.15</c:v>
                </c:pt>
                <c:pt idx="4">
                  <c:v>7.88</c:v>
                </c:pt>
              </c:numCache>
            </c:numRef>
          </c:val>
        </c:ser>
        <c:ser>
          <c:idx val="2"/>
          <c:order val="2"/>
          <c:tx>
            <c:strRef>
              <c:f>Sheet1!$D$1</c:f>
              <c:strCache>
                <c:ptCount val="1"/>
                <c:pt idx="0">
                  <c:v>Decrease</c:v>
                </c:pt>
              </c:strCache>
            </c:strRef>
          </c:tx>
          <c:spPr>
            <a:solidFill>
              <a:srgbClr val="FF6B5E"/>
            </a:solidFill>
          </c:spPr>
          <c:cat>
            <c:strRef>
              <c:f>Sheet1!$A$2:$A$6</c:f>
              <c:strCache>
                <c:ptCount val="5"/>
                <c:pt idx="0">
                  <c:v>Benchmark return</c:v>
                </c:pt>
                <c:pt idx="1">
                  <c:v>Allocation</c:v>
                </c:pt>
                <c:pt idx="2">
                  <c:v>Selection</c:v>
                </c:pt>
                <c:pt idx="3">
                  <c:v>Interaction</c:v>
                </c:pt>
                <c:pt idx="4">
                  <c:v>Portfolio return</c:v>
                </c:pt>
              </c:strCache>
            </c:strRef>
          </c:cat>
          <c:val>
            <c:numRef>
              <c:f>Sheet1!$D$2:$D$6</c:f>
              <c:numCache>
                <c:formatCode>General</c:formatCode>
                <c:ptCount val="5"/>
                <c:pt idx="0">
                  <c:v>0.0</c:v>
                </c:pt>
                <c:pt idx="1">
                  <c:v>0.0</c:v>
                </c:pt>
                <c:pt idx="2">
                  <c:v>0.0</c:v>
                </c:pt>
                <c:pt idx="3">
                  <c:v>0.0</c:v>
                </c:pt>
                <c:pt idx="4">
                  <c:v>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-0.1</c:v>
                </c:pt>
                <c:pt idx="1">
                  <c:v>-0.35</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-0.55</c:v>
                </c:pt>
                <c:pt idx="1">
                  <c:v>-4.85</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-0.05</c:v>
                </c:pt>
                <c:pt idx="1">
                  <c:v>-0.2</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Lbls>
            <c:dLbl>
              <c:idx val="0"/>
              <c:tx>
                <c:rich>
                  <a:bodyPr/>
                  <a:lstStyle/>
                  <a:p>
                    <a:r>
                      <a:rPr lang="en-US" sz="800"/>
                      <a:t>60.0%</a:t>
                    </a:r>
                  </a:p>
                </c:rich>
              </c:tx>
              <c:dLblPos val="outEnd"/>
              <c:showLegendKey val="0"/>
              <c:showVal val="0"/>
              <c:showCatName val="0"/>
              <c:showSerName val="0"/>
              <c:showPercent val="0"/>
              <c:showBubbleSize val="0"/>
            </c:dLbl>
            <c:dLbl>
              <c:idx val="1"/>
              <c:tx>
                <c:rich>
                  <a:bodyPr/>
                  <a:lstStyle/>
                  <a:p>
                    <a:r>
                      <a:rPr lang="en-US" sz="800"/>
                      <a:t>55.0%</a:t>
                    </a:r>
                  </a:p>
                </c:rich>
              </c:tx>
              <c:dLblPos val="outEnd"/>
              <c:showLegendKey val="0"/>
              <c:showVal val="0"/>
              <c:showCatName val="0"/>
              <c:showSerName val="0"/>
              <c:showPercent val="0"/>
              <c:showBubbleSize val="0"/>
            </c:dLbl>
            <c:dLbl>
              <c:idx val="2"/>
              <c:tx>
                <c:rich>
                  <a:bodyPr/>
                  <a:lstStyle/>
                  <a:p>
                    <a:r>
                      <a:rPr lang="en-US" sz="800"/>
                      <a:t>40.0%</a:t>
                    </a:r>
                  </a:p>
                </c:rich>
              </c:tx>
              <c:dLblPos val="outEnd"/>
              <c:showLegendKey val="0"/>
              <c:showVal val="0"/>
              <c:showCatName val="0"/>
              <c:showSerName val="0"/>
              <c:showPercent val="0"/>
              <c:showBubbleSize val="0"/>
            </c:dLbl>
            <c:dLbl>
              <c:idx val="3"/>
              <c:tx>
                <c:rich>
                  <a:bodyPr/>
                  <a:lstStyle/>
                  <a:p>
                    <a:r>
                      <a:rPr lang="en-US" sz="800"/>
                      <a:t>45.0%</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60.0</c:v>
                </c:pt>
                <c:pt idx="1">
                  <c:v>55.0</c:v>
                </c:pt>
                <c:pt idx="2">
                  <c:v>40.0</c:v>
                </c:pt>
                <c:pt idx="3">
                  <c:v>45.0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Allocation</c:v>
                </c:pt>
              </c:strCache>
            </c:strRef>
          </c:tx>
          <c:spPr>
            <a:ln w="22860">
              <a:solidFill>
                <a:srgbClr val="0D1117"/>
              </a:solidFill>
            </a:ln>
          </c:spPr>
          <c:cat>
            <c:strRef>
              <c:f>Sheet1!$A$2:$A$4</c:f>
              <c:strCache>
                <c:ptCount val="3"/>
                <c:pt idx="0">
                  <c:v>2025-10-31</c:v>
                </c:pt>
                <c:pt idx="1">
                  <c:v>2026-03-31</c:v>
                </c:pt>
                <c:pt idx="2">
                  <c:v>2026-09-30</c:v>
                </c:pt>
              </c:strCache>
            </c:strRef>
          </c:cat>
          <c:val>
            <c:numRef>
              <c:f>Sheet1!$B$2:$B$4</c:f>
              <c:numCache>
                <c:formatCode>General</c:formatCode>
                <c:ptCount val="3"/>
                <c:pt idx="0">
                  <c:v>-0.05</c:v>
                </c:pt>
                <c:pt idx="1">
                  <c:v>-0.22</c:v>
                </c:pt>
                <c:pt idx="2">
                  <c:v>-0.45</c:v>
                </c:pt>
              </c:numCache>
            </c:numRef>
          </c:val>
          <c:smooth val="0"/>
        </c:ser>
        <c:ser>
          <c:idx val="1"/>
          <c:order val="1"/>
          <c:tx>
            <c:strRef>
              <c:f>Sheet1!$C$1</c:f>
              <c:strCache>
                <c:ptCount val="1"/>
                <c:pt idx="0">
                  <c:v>Selection</c:v>
                </c:pt>
              </c:strCache>
            </c:strRef>
          </c:tx>
          <c:spPr>
            <a:ln w="22860">
              <a:solidFill>
                <a:srgbClr val="7FA600"/>
              </a:solidFill>
            </a:ln>
          </c:spPr>
          <c:cat>
            <c:strRef>
              <c:f>Sheet1!$A$2:$A$4</c:f>
              <c:strCache>
                <c:ptCount val="3"/>
                <c:pt idx="0">
                  <c:v>2025-10-31</c:v>
                </c:pt>
                <c:pt idx="1">
                  <c:v>2026-03-31</c:v>
                </c:pt>
                <c:pt idx="2">
                  <c:v>2026-09-30</c:v>
                </c:pt>
              </c:strCache>
            </c:strRef>
          </c:cat>
          <c:val>
            <c:numRef>
              <c:f>Sheet1!$C$2:$C$4</c:f>
              <c:numCache>
                <c:formatCode>General</c:formatCode>
                <c:ptCount val="3"/>
                <c:pt idx="0">
                  <c:v>-0.4</c:v>
                </c:pt>
                <c:pt idx="1">
                  <c:v>-2.75</c:v>
                </c:pt>
                <c:pt idx="2">
                  <c:v>-5.4</c:v>
                </c:pt>
              </c:numCache>
            </c:numRef>
          </c:val>
          <c:smooth val="0"/>
        </c:ser>
        <c:ser>
          <c:idx val="2"/>
          <c:order val="2"/>
          <c:tx>
            <c:strRef>
              <c:f>Sheet1!$D$1</c:f>
              <c:strCache>
                <c:ptCount val="1"/>
                <c:pt idx="0">
                  <c:v>Interaction</c:v>
                </c:pt>
              </c:strCache>
            </c:strRef>
          </c:tx>
          <c:spPr>
            <a:ln w="22860">
              <a:solidFill>
                <a:srgbClr val="F2A93B"/>
              </a:solidFill>
            </a:ln>
          </c:spPr>
          <c:cat>
            <c:strRef>
              <c:f>Sheet1!$A$2:$A$4</c:f>
              <c:strCache>
                <c:ptCount val="3"/>
                <c:pt idx="0">
                  <c:v>2025-10-31</c:v>
                </c:pt>
                <c:pt idx="1">
                  <c:v>2026-03-31</c:v>
                </c:pt>
                <c:pt idx="2">
                  <c:v>2026-09-30</c:v>
                </c:pt>
              </c:strCache>
            </c:strRef>
          </c:cat>
          <c:val>
            <c:numRef>
              <c:f>Sheet1!$D$2:$D$4</c:f>
              <c:numCache>
                <c:formatCode>General</c:formatCode>
                <c:ptCount val="3"/>
                <c:pt idx="0">
                  <c:v>-0.02</c:v>
                </c:pt>
                <c:pt idx="1">
                  <c:v>-0.11</c:v>
                </c:pt>
                <c:pt idx="2">
                  <c:v>-0.25</c:v>
                </c:pt>
              </c:numCache>
            </c:numRef>
          </c:val>
          <c:smooth val="0"/>
        </c:ser>
        <c:ser>
          <c:idx val="3"/>
          <c:order val="3"/>
          <c:tx>
            <c:strRef>
              <c:f>Sheet1!$E$1</c:f>
              <c:strCache>
                <c:ptCount val="1"/>
                <c:pt idx="0">
                  <c:v>Total</c:v>
                </c:pt>
              </c:strCache>
            </c:strRef>
          </c:tx>
          <c:spPr>
            <a:ln w="22860">
              <a:solidFill>
                <a:srgbClr val="5B8DEF"/>
              </a:solidFill>
            </a:ln>
          </c:spPr>
          <c:cat>
            <c:strRef>
              <c:f>Sheet1!$A$2:$A$4</c:f>
              <c:strCache>
                <c:ptCount val="3"/>
                <c:pt idx="0">
                  <c:v>2025-10-31</c:v>
                </c:pt>
                <c:pt idx="1">
                  <c:v>2026-03-31</c:v>
                </c:pt>
                <c:pt idx="2">
                  <c:v>2026-09-30</c:v>
                </c:pt>
              </c:strCache>
            </c:strRef>
          </c:cat>
          <c:val>
            <c:numRef>
              <c:f>Sheet1!$E$2:$E$4</c:f>
              <c:numCache>
                <c:formatCode>General</c:formatCode>
                <c:ptCount val="3"/>
                <c:pt idx="0">
                  <c:v>-0.47</c:v>
                </c:pt>
                <c:pt idx="1">
                  <c:v>-3.08</c:v>
                </c:pt>
                <c:pt idx="2">
                  <c:v>-6.1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delete val="0"/>
        <c:axPos val="l"/>
        <c:majorGridlines/>
        <c:numFmt formatCode="0.00&quot;pp&quot;" sourceLinked="0"/>
        <c:majorTickMark val="out"/>
        <c:minorTickMark val="none"/>
        <c:tickLblPos val="nextTo"/>
        <c:txPr>
          <a:bodyPr/>
          <a:lstStyle/>
          <a:p>
            <a:pPr>
              <a:defRPr sz="800"/>
            </a:pPr>
          </a:p>
        </c:txPr>
        <c:crossAx val="2118791784"/>
        <c:crosses val="autoZero"/>
      </c:valAx>
    </c:plotArea>
    <c:legend>
      <c:legendPos val="b"/>
      <c:layout/>
      <c:overlay val="0"/>
      <c:txPr>
        <a:bodyPr/>
        <a:lstStyle/>
        <a:p>
          <a:pPr>
            <a:defRPr sz="700"/>
          </a:pPr>
        </a:p>
      </c:txPr>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Alternatives selection</c:v>
                </c:pt>
              </c:strCache>
            </c:strRef>
          </c:tx>
          <c:spPr>
            <a:ln w="22860">
              <a:solidFill>
                <a:srgbClr val="0D1117"/>
              </a:solidFill>
            </a:ln>
          </c:spPr>
          <c:cat>
            <c:strRef>
              <c:f>Sheet1!$A$2:$A$4</c:f>
              <c:strCache>
                <c:ptCount val="3"/>
                <c:pt idx="0">
                  <c:v>2025-10-31</c:v>
                </c:pt>
                <c:pt idx="1">
                  <c:v>2026-03-31</c:v>
                </c:pt>
                <c:pt idx="2">
                  <c:v>2026-09-30</c:v>
                </c:pt>
              </c:strCache>
            </c:strRef>
          </c:cat>
          <c:val>
            <c:numRef>
              <c:f>Sheet1!$B$2:$B$4</c:f>
              <c:numCache>
                <c:formatCode>General</c:formatCode>
                <c:ptCount val="3"/>
                <c:pt idx="0">
                  <c:v>-0.35</c:v>
                </c:pt>
                <c:pt idx="1">
                  <c:v>-2.4</c:v>
                </c:pt>
                <c:pt idx="2">
                  <c:v>-4.85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delete val="0"/>
        <c:axPos val="l"/>
        <c:majorGridlines/>
        <c:numFmt formatCode="0.00&quot;pp&quot;" sourceLinked="0"/>
        <c:majorTickMark val="out"/>
        <c:minorTickMark val="none"/>
        <c:tickLblPos val="nextTo"/>
        <c:txPr>
          <a:bodyPr/>
          <a:lstStyle/>
          <a:p>
            <a:pPr>
              <a:defRPr sz="8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0.15</c:v>
                </c:pt>
                <c:pt idx="1">
                  <c:v>0.13</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0.2</c:v>
                </c:pt>
                <c:pt idx="1">
                  <c:v>1.05</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0.05</c:v>
                </c:pt>
                <c:pt idx="1">
                  <c:v>0.1</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Lbls>
            <c:dLbl>
              <c:idx val="0"/>
              <c:tx>
                <c:rich>
                  <a:bodyPr/>
                  <a:lstStyle/>
                  <a:p>
                    <a:r>
                      <a:rPr lang="en-US" sz="800"/>
                      <a:t>6.50%</a:t>
                    </a:r>
                  </a:p>
                </c:rich>
              </c:tx>
              <c:dLblPos val="outEnd"/>
              <c:showLegendKey val="0"/>
              <c:showVal val="0"/>
              <c:showCatName val="0"/>
              <c:showSerName val="0"/>
              <c:showPercent val="0"/>
              <c:showBubbleSize val="0"/>
            </c:dLbl>
            <c:dLbl>
              <c:idx val="1"/>
              <c:tx>
                <c:rich>
                  <a:bodyPr/>
                  <a:lstStyle/>
                  <a:p>
                    <a:r>
                      <a:rPr lang="en-US" sz="800"/>
                      <a:t>6.30%</a:t>
                    </a:r>
                  </a:p>
                </c:rich>
              </c:tx>
              <c:dLblPos val="outEnd"/>
              <c:showLegendKey val="0"/>
              <c:showVal val="0"/>
              <c:showCatName val="0"/>
              <c:showSerName val="0"/>
              <c:showPercent val="0"/>
              <c:showBubbleSize val="0"/>
            </c:dLbl>
            <c:dLbl>
              <c:idx val="2"/>
              <c:tx>
                <c:rich>
                  <a:bodyPr/>
                  <a:lstStyle/>
                  <a:p>
                    <a:r>
                      <a:rPr lang="en-US" sz="800"/>
                      <a:t>9.95%</a:t>
                    </a:r>
                  </a:p>
                </c:rich>
              </c:tx>
              <c:dLblPos val="outEnd"/>
              <c:showLegendKey val="0"/>
              <c:showVal val="0"/>
              <c:showCatName val="0"/>
              <c:showSerName val="0"/>
              <c:showPercent val="0"/>
              <c:showBubbleSize val="0"/>
            </c:dLbl>
            <c:dLbl>
              <c:idx val="3"/>
              <c:tx>
                <c:rich>
                  <a:bodyPr/>
                  <a:lstStyle/>
                  <a:p>
                    <a:r>
                      <a:rPr lang="en-US" sz="800"/>
                      <a:t>6.05%</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6.5</c:v>
                </c:pt>
                <c:pt idx="1">
                  <c:v>6.3</c:v>
                </c:pt>
                <c:pt idx="2">
                  <c:v>9.95</c:v>
                </c:pt>
                <c:pt idx="3">
                  <c:v>6.05</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dLbls>
            <c:dLbl>
              <c:idx val="0"/>
              <c:tx>
                <c:rich>
                  <a:bodyPr/>
                  <a:lstStyle/>
                  <a:p>
                    <a:r>
                      <a:rPr lang="en-US" sz="800"/>
                      <a:t>+0.2pp</a:t>
                    </a:r>
                  </a:p>
                </c:rich>
              </c:tx>
              <c:dLblPos val="outEnd"/>
              <c:showLegendKey val="0"/>
              <c:showVal val="0"/>
              <c:showCatName val="0"/>
              <c:showSerName val="0"/>
              <c:showPercent val="0"/>
              <c:showBubbleSize val="0"/>
            </c:dLbl>
            <c:dLbl>
              <c:idx val="1"/>
              <c:tx>
                <c:rich>
                  <a:bodyPr/>
                  <a:lstStyle/>
                  <a:p>
                    <a:r>
                      <a:rPr lang="en-US" sz="800"/>
                      <a:t>-0.8pp</a:t>
                    </a:r>
                  </a:p>
                </c:rich>
              </c:tx>
              <c:dLblPos val="outEnd"/>
              <c:showLegendKey val="0"/>
              <c:showVal val="0"/>
              <c:showCatName val="0"/>
              <c:showSerName val="0"/>
              <c:showPercent val="0"/>
              <c:showBubbleSize val="0"/>
            </c:dLbl>
            <c:dLbl>
              <c:idx val="2"/>
              <c:tx>
                <c:rich>
                  <a:bodyPr/>
                  <a:lstStyle/>
                  <a:p>
                    <a:r>
                      <a:rPr lang="en-US" sz="800"/>
                      <a:t>0.0pp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Allocation</c:v>
                </c:pt>
                <c:pt idx="1">
                  <c:v>Selection</c:v>
                </c:pt>
                <c:pt idx="2">
                  <c:v>Interaction</c:v>
                </c:pt>
              </c:strCache>
            </c:strRef>
          </c:cat>
          <c:val>
            <c:numRef>
              <c:f>Sheet1!$B$2:$B$4</c:f>
              <c:numCache>
                <c:formatCode>General</c:formatCode>
                <c:ptCount val="3"/>
                <c:pt idx="0">
                  <c:v>0.2</c:v>
                </c:pt>
                <c:pt idx="1">
                  <c:v>-0.8</c:v>
                </c:pt>
                <c:pt idx="2">
                  <c:v>0.0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dLbls>
            <c:dLbl>
              <c:idx val="0"/>
              <c:tx>
                <c:rich>
                  <a:bodyPr/>
                  <a:lstStyle/>
                  <a:p>
                    <a:r>
                      <a:rPr lang="en-US" sz="800"/>
                      <a:t>+0.4pp</a:t>
                    </a:r>
                  </a:p>
                </c:rich>
              </c:tx>
              <c:dLblPos val="outEnd"/>
              <c:showLegendKey val="0"/>
              <c:showVal val="0"/>
              <c:showCatName val="0"/>
              <c:showSerName val="0"/>
              <c:showPercent val="0"/>
              <c:showBubbleSize val="0"/>
            </c:dLbl>
            <c:dLbl>
              <c:idx val="1"/>
              <c:tx>
                <c:rich>
                  <a:bodyPr/>
                  <a:lstStyle/>
                  <a:p>
                    <a:r>
                      <a:rPr lang="en-US" sz="800"/>
                      <a:t>-0.1pp</a:t>
                    </a:r>
                  </a:p>
                </c:rich>
              </c:tx>
              <c:dLblPos val="outEnd"/>
              <c:showLegendKey val="0"/>
              <c:showVal val="0"/>
              <c:showCatName val="0"/>
              <c:showSerName val="0"/>
              <c:showPercent val="0"/>
              <c:showBubbleSize val="0"/>
            </c:dLbl>
            <c:dLbl>
              <c:idx val="2"/>
              <c:tx>
                <c:rich>
                  <a:bodyPr/>
                  <a:lstStyle/>
                  <a:p>
                    <a:r>
                      <a:rPr lang="en-US" sz="800"/>
                      <a:t>+0.05pp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Allocation</c:v>
                </c:pt>
                <c:pt idx="1">
                  <c:v>Selection</c:v>
                </c:pt>
                <c:pt idx="2">
                  <c:v>Interaction</c:v>
                </c:pt>
              </c:strCache>
            </c:strRef>
          </c:cat>
          <c:val>
            <c:numRef>
              <c:f>Sheet1!$B$2:$B$4</c:f>
              <c:numCache>
                <c:formatCode>General</c:formatCode>
                <c:ptCount val="3"/>
                <c:pt idx="0">
                  <c:v>0.4</c:v>
                </c:pt>
                <c:pt idx="1">
                  <c:v>-0.1</c:v>
                </c:pt>
                <c:pt idx="2">
                  <c:v>0.05</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Selection leads detractors</a:t>
            </a:r>
          </a:p>
          <a:p>
            <a:r>
              <a:t>Observation: Returned selection is the -5.40pp dominant realized shortfall and Alternatives contributes -4.85pp [S2]. Why it matters: Selection drives the returned bridge from +2.75% benchmark return to -3.35% portfolio return. Uncertainty: The evidence covers one linked window. What would change the view: A later historical result with a different returned selection effect.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Selection leads expectations</a:t>
            </a:r>
          </a:p>
          <a:p>
            <a:r>
              <a:t>Observation: Returned selection is the +1.25pp dominant expected gain and Alternatives contributes +1.05pp [S3]. Why it matters: Selection drives the returned bridge from 6.20% expected benchmark return to 7.88% expected portfolio return. Uncertainty: Inputs are governed assumptions. What would change the view: A refreshed ex ante result with a different returned selection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Simulation unavailable</a:t>
            </a:r>
          </a:p>
          <a:p>
            <a:r>
              <a:t>Observation: Simulation is planned per the capability source [S1]. Why it matters: Scenario effects cannot be assessed. Uncertainty: Capability readiness may change. What would change the view: A capability response marking the exact simulation tool available.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Comparison is planned per get_gradient_capabilities [S1]. Why it matters: No persistence claim is supported. Uncertainty: Planned capability timing is not returned.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PORTFOLIO ATTRIBUTION COMPARISON</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Total Fund Attribution Comparison</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Historical and forward attribution · available evidence review</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PORTFOLIO</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Northstar Total Fund</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BENCHMARK</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Policy benchmark</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COHORT</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Total fund</a:t>
            </a:r>
          </a:p>
        </p:txBody>
      </p:sp>
      <p:sp>
        <p:nvSpPr>
          <p:cNvPr id="15" name="TextBox 14"/>
          <p:cNvSpPr txBox="1"/>
          <p:nvPr/>
        </p:nvSpPr>
        <p:spPr>
          <a:xfrm>
            <a:off x="585216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AVAILABLE VIEWS</a:t>
            </a:r>
          </a:p>
        </p:txBody>
      </p:sp>
      <p:sp>
        <p:nvSpPr>
          <p:cNvPr id="16" name="TextBox 15"/>
          <p:cNvSpPr txBox="1"/>
          <p:nvPr/>
        </p:nvSpPr>
        <p:spPr>
          <a:xfrm>
            <a:off x="585216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Historical and forward</a:t>
            </a:r>
          </a:p>
        </p:txBody>
      </p:sp>
      <p:sp>
        <p:nvSpPr>
          <p:cNvPr id="17" name="Rectangle 16"/>
          <p:cNvSpPr/>
          <p:nvPr/>
        </p:nvSpPr>
        <p:spPr>
          <a:xfrm>
            <a:off x="685800" y="5687568"/>
            <a:ext cx="3337560" cy="53035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22960" y="5760720"/>
            <a:ext cx="3063240" cy="128016"/>
          </a:xfrm>
          <a:prstGeom prst="rect">
            <a:avLst/>
          </a:prstGeom>
          <a:noFill/>
        </p:spPr>
        <p:txBody>
          <a:bodyPr wrap="none" lIns="9144" rIns="9144" tIns="9144" bIns="9144" anchor="t">
            <a:spAutoFit/>
          </a:bodyPr>
          <a:lstStyle/>
          <a:p>
            <a:pPr algn="l">
              <a:spcAft>
                <a:spcPts val="0"/>
              </a:spcAft>
              <a:defRPr sz="620" b="1">
                <a:solidFill>
                  <a:srgbClr val="0D1117"/>
                </a:solidFill>
                <a:latin typeface="Inter"/>
              </a:defRPr>
            </a:pPr>
            <a:r>
              <a:rPr>
                <a:latin typeface="Inter"/>
              </a:rPr>
              <a:t>OVERALL VIEW</a:t>
            </a:r>
          </a:p>
        </p:txBody>
      </p:sp>
      <p:sp>
        <p:nvSpPr>
          <p:cNvPr id="19" name="TextBox 18"/>
          <p:cNvSpPr txBox="1"/>
          <p:nvPr/>
        </p:nvSpPr>
        <p:spPr>
          <a:xfrm>
            <a:off x="822960" y="5916168"/>
            <a:ext cx="3063240" cy="182880"/>
          </a:xfrm>
          <a:prstGeom prst="rect">
            <a:avLst/>
          </a:prstGeom>
          <a:noFill/>
        </p:spPr>
        <p:txBody>
          <a:bodyPr wrap="none" lIns="9144" rIns="9144" tIns="9144" bIns="9144" anchor="t">
            <a:spAutoFit/>
          </a:bodyPr>
          <a:lstStyle/>
          <a:p>
            <a:pPr algn="l">
              <a:spcAft>
                <a:spcPts val="0"/>
              </a:spcAft>
              <a:defRPr sz="900" b="1">
                <a:solidFill>
                  <a:srgbClr val="0D1117"/>
                </a:solidFill>
                <a:latin typeface="Inter"/>
              </a:defRPr>
            </a:pPr>
            <a:r>
              <a:rPr>
                <a:latin typeface="Inter"/>
              </a:rPr>
              <a:t>Two governed lanes available</a:t>
            </a:r>
          </a:p>
        </p:txBody>
      </p:sp>
      <p:sp>
        <p:nvSpPr>
          <p:cNvPr id="20" name="TextBox 19"/>
          <p:cNvSpPr txBox="1"/>
          <p:nvPr/>
        </p:nvSpPr>
        <p:spPr>
          <a:xfrm>
            <a:off x="4297680" y="573328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SCOPE REVIEWED</a:t>
            </a:r>
          </a:p>
        </p:txBody>
      </p:sp>
      <p:sp>
        <p:nvSpPr>
          <p:cNvPr id="21" name="TextBox 20"/>
          <p:cNvSpPr txBox="1"/>
          <p:nvPr/>
        </p:nvSpPr>
        <p:spPr>
          <a:xfrm>
            <a:off x="4297680" y="5934456"/>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2 of 4 · Partial</a:t>
            </a:r>
          </a:p>
        </p:txBody>
      </p:sp>
      <p:sp>
        <p:nvSpPr>
          <p:cNvPr id="22" name="TextBox 21"/>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Investment Committee</a:t>
            </a:r>
          </a:p>
        </p:txBody>
      </p:sp>
      <p:sp>
        <p:nvSpPr>
          <p:cNvPr id="23" name="TextBox 22"/>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24" name="TextBox 23"/>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GOVERNED LANES ARE AVAILABLE WITHOUT SERVER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31160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31160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2" name="TextBox 11"/>
          <p:cNvSpPr txBox="1"/>
          <p:nvPr/>
        </p:nvSpPr>
        <p:spPr>
          <a:xfrm>
            <a:off x="804671" y="1719072"/>
            <a:ext cx="10616184" cy="82697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Realized shortfall comes from selection; expected gain comes from selection; Alternatives drives both [S2][S3].</a:t>
            </a:r>
          </a:p>
        </p:txBody>
      </p:sp>
      <p:sp>
        <p:nvSpPr>
          <p:cNvPr id="13" name="Rectangle 12"/>
          <p:cNvSpPr/>
          <p:nvPr/>
        </p:nvSpPr>
        <p:spPr>
          <a:xfrm>
            <a:off x="64008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74980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HISTORICAL LANE</a:t>
            </a:r>
          </a:p>
        </p:txBody>
      </p:sp>
      <p:sp>
        <p:nvSpPr>
          <p:cNvPr id="16" name="TextBox 15"/>
          <p:cNvSpPr txBox="1"/>
          <p:nvPr/>
        </p:nvSpPr>
        <p:spPr>
          <a:xfrm>
            <a:off x="74980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17" name="TextBox 16"/>
          <p:cNvSpPr txBox="1"/>
          <p:nvPr/>
        </p:nvSpPr>
        <p:spPr>
          <a:xfrm>
            <a:off x="74980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Realized 12 months · 2025-10-31 to 2026-09-30 [S2]</a:t>
            </a:r>
          </a:p>
        </p:txBody>
      </p:sp>
      <p:sp>
        <p:nvSpPr>
          <p:cNvPr id="18" name="Rectangle 17"/>
          <p:cNvSpPr/>
          <p:nvPr/>
        </p:nvSpPr>
        <p:spPr>
          <a:xfrm>
            <a:off x="339471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Rectangle 18"/>
          <p:cNvSpPr/>
          <p:nvPr/>
        </p:nvSpPr>
        <p:spPr>
          <a:xfrm>
            <a:off x="339471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350443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EX ANTE LANE</a:t>
            </a:r>
          </a:p>
        </p:txBody>
      </p:sp>
      <p:sp>
        <p:nvSpPr>
          <p:cNvPr id="21" name="TextBox 20"/>
          <p:cNvSpPr txBox="1"/>
          <p:nvPr/>
        </p:nvSpPr>
        <p:spPr>
          <a:xfrm>
            <a:off x="350443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22" name="TextBox 21"/>
          <p:cNvSpPr txBox="1"/>
          <p:nvPr/>
        </p:nvSpPr>
        <p:spPr>
          <a:xfrm>
            <a:off x="350443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1-year expected [S3]</a:t>
            </a:r>
          </a:p>
        </p:txBody>
      </p:sp>
      <p:sp>
        <p:nvSpPr>
          <p:cNvPr id="23" name="Rectangle 22"/>
          <p:cNvSpPr/>
          <p:nvPr/>
        </p:nvSpPr>
        <p:spPr>
          <a:xfrm>
            <a:off x="614934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Rectangle 23"/>
          <p:cNvSpPr/>
          <p:nvPr/>
        </p:nvSpPr>
        <p:spPr>
          <a:xfrm>
            <a:off x="614934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5" name="TextBox 24"/>
          <p:cNvSpPr txBox="1"/>
          <p:nvPr/>
        </p:nvSpPr>
        <p:spPr>
          <a:xfrm>
            <a:off x="625906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SIMULATED LANE</a:t>
            </a:r>
          </a:p>
        </p:txBody>
      </p:sp>
      <p:sp>
        <p:nvSpPr>
          <p:cNvPr id="26" name="TextBox 25"/>
          <p:cNvSpPr txBox="1"/>
          <p:nvPr/>
        </p:nvSpPr>
        <p:spPr>
          <a:xfrm>
            <a:off x="625906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Unavailable</a:t>
            </a:r>
          </a:p>
        </p:txBody>
      </p:sp>
      <p:sp>
        <p:nvSpPr>
          <p:cNvPr id="27" name="TextBox 26"/>
          <p:cNvSpPr txBox="1"/>
          <p:nvPr/>
        </p:nvSpPr>
        <p:spPr>
          <a:xfrm>
            <a:off x="625906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Not available — planned per get_gradient_capabilities [S1]</a:t>
            </a:r>
          </a:p>
        </p:txBody>
      </p:sp>
      <p:sp>
        <p:nvSpPr>
          <p:cNvPr id="28" name="Rectangle 27"/>
          <p:cNvSpPr/>
          <p:nvPr/>
        </p:nvSpPr>
        <p:spPr>
          <a:xfrm>
            <a:off x="890397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Rectangle 28"/>
          <p:cNvSpPr/>
          <p:nvPr/>
        </p:nvSpPr>
        <p:spPr>
          <a:xfrm>
            <a:off x="890397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0" name="TextBox 29"/>
          <p:cNvSpPr txBox="1"/>
          <p:nvPr/>
        </p:nvSpPr>
        <p:spPr>
          <a:xfrm>
            <a:off x="901369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COMPARISON COVERAGE</a:t>
            </a:r>
          </a:p>
        </p:txBody>
      </p:sp>
      <p:sp>
        <p:nvSpPr>
          <p:cNvPr id="31" name="TextBox 30"/>
          <p:cNvSpPr txBox="1"/>
          <p:nvPr/>
        </p:nvSpPr>
        <p:spPr>
          <a:xfrm>
            <a:off x="901369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Fallback</a:t>
            </a:r>
          </a:p>
        </p:txBody>
      </p:sp>
      <p:sp>
        <p:nvSpPr>
          <p:cNvPr id="32" name="TextBox 31"/>
          <p:cNvSpPr txBox="1"/>
          <p:nvPr/>
        </p:nvSpPr>
        <p:spPr>
          <a:xfrm>
            <a:off x="901369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Not available — planned per get_gradient_capabilities [S1]</a:t>
            </a:r>
          </a:p>
        </p:txBody>
      </p:sp>
      <p:sp>
        <p:nvSpPr>
          <p:cNvPr id="33" name="Rectangle 32"/>
          <p:cNvSpPr/>
          <p:nvPr/>
        </p:nvSpPr>
        <p:spPr>
          <a:xfrm>
            <a:off x="640080" y="4979469"/>
            <a:ext cx="73152" cy="116529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4" name="TextBox 33"/>
          <p:cNvSpPr txBox="1"/>
          <p:nvPr/>
        </p:nvSpPr>
        <p:spPr>
          <a:xfrm>
            <a:off x="896112" y="4952037"/>
            <a:ext cx="10588752" cy="760729"/>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Realized shortfall from selection; expected gain from selection; Alternatives drives both [S2][S3].</a:t>
            </a:r>
          </a:p>
        </p:txBody>
      </p:sp>
      <p:sp>
        <p:nvSpPr>
          <p:cNvPr id="35" name="TextBox 34"/>
          <p:cNvSpPr txBox="1"/>
          <p:nvPr/>
        </p:nvSpPr>
        <p:spPr>
          <a:xfrm>
            <a:off x="896112" y="5693278"/>
            <a:ext cx="10588752" cy="393480"/>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Returned evidence only; no local subtraction or accumulation.</a:t>
            </a:r>
          </a:p>
        </p:txBody>
      </p:sp>
      <p:sp>
        <p:nvSpPr>
          <p:cNvPr id="36" name="Rectangle 3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7" name="TextBox 3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38" name="TextBox 3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39" name="TextBox 3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GOVERNED LANES ARE AVAILABLE WITHOUT SERVER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SUMMARY EFFECTS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GOVERNED LANES ARE AVAILABLE WITHOUT SERVER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SUMMARY EFFECTS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GOVERNED LANES ARE AVAILABLE WITHOUT SERVER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77515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77515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Historical</a:t>
            </a:r>
          </a:p>
        </p:txBody>
      </p:sp>
      <p:sp>
        <p:nvSpPr>
          <p:cNvPr id="12" name="TextBox 11"/>
          <p:cNvSpPr txBox="1"/>
          <p:nvPr/>
        </p:nvSpPr>
        <p:spPr>
          <a:xfrm>
            <a:off x="804671" y="1719072"/>
            <a:ext cx="10616184" cy="129051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Selection is the dominant returned realized shortfall, driven by Alternatives [S2]. Why it matters: It bridges the +2.75% benchmark return to the -3.35% portfolio return. Uncertainty: One realized window may not persist. What would change the view: A later governed period with a different returned selection effect.</a:t>
            </a:r>
          </a:p>
        </p:txBody>
      </p:sp>
      <p:sp>
        <p:nvSpPr>
          <p:cNvPr id="13" name="Rectangle 12"/>
          <p:cNvSpPr/>
          <p:nvPr/>
        </p:nvSpPr>
        <p:spPr>
          <a:xfrm>
            <a:off x="640080" y="3210758"/>
            <a:ext cx="10908792" cy="177515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210758"/>
            <a:ext cx="54864" cy="177515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32048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Ex ante</a:t>
            </a:r>
          </a:p>
        </p:txBody>
      </p:sp>
      <p:sp>
        <p:nvSpPr>
          <p:cNvPr id="16" name="TextBox 15"/>
          <p:cNvSpPr txBox="1"/>
          <p:nvPr/>
        </p:nvSpPr>
        <p:spPr>
          <a:xfrm>
            <a:off x="804671" y="3603950"/>
            <a:ext cx="10616184" cy="129051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Selection is the dominant returned expected gain, driven by Alternatives [S3]. Why it matters: It bridges the 6.20% expected benchmark return to the 7.88% expected portfolio return. Uncertainty: Inputs are governed assumptions. What would change the view: Refreshed inputs with a different returned selection effect.</a:t>
            </a:r>
          </a:p>
        </p:txBody>
      </p:sp>
      <p:sp>
        <p:nvSpPr>
          <p:cNvPr id="17" name="Rectangle 16"/>
          <p:cNvSpPr/>
          <p:nvPr/>
        </p:nvSpPr>
        <p:spPr>
          <a:xfrm>
            <a:off x="640080" y="5095636"/>
            <a:ext cx="10908792" cy="112228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640080" y="5095636"/>
            <a:ext cx="54864" cy="1122283"/>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804671" y="5205364"/>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Comparison</a:t>
            </a:r>
          </a:p>
        </p:txBody>
      </p:sp>
      <p:sp>
        <p:nvSpPr>
          <p:cNvPr id="20" name="TextBox 19"/>
          <p:cNvSpPr txBox="1"/>
          <p:nvPr/>
        </p:nvSpPr>
        <p:spPr>
          <a:xfrm>
            <a:off x="804671" y="5488828"/>
            <a:ext cx="10616184" cy="637651"/>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Comparison capability is unavailable [S1]. Why it matters: Persistence cannot be assessed. Uncertainty: A future tool may return metrics. What would change the view: Published capability.</a:t>
            </a: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PORTFOLIO, BENCHMARK, COHORT AND CURRENCY IDENTIFIERS MATCH</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Scope and Compatibility</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9" name="Rectangle 8"/>
          <p:cNvSpPr/>
          <p:nvPr/>
        </p:nvSpPr>
        <p:spPr>
          <a:xfrm>
            <a:off x="640080" y="1399032"/>
            <a:ext cx="73152" cy="1867301"/>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96112" y="1371600"/>
            <a:ext cx="10588752" cy="1005840"/>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Compatible for display-only fallback</a:t>
            </a:r>
          </a:p>
        </p:txBody>
      </p:sp>
      <p:sp>
        <p:nvSpPr>
          <p:cNvPr id="11" name="TextBox 10"/>
          <p:cNvSpPr txBox="1"/>
          <p:nvPr/>
        </p:nvSpPr>
        <p:spPr>
          <a:xfrm>
            <a:off x="896112" y="2423160"/>
            <a:ext cx="10588752" cy="604081"/>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Portfolio, benchmark role, parent cohort and calculation currency match [S2][S3].</a:t>
            </a:r>
          </a:p>
        </p:txBody>
      </p:sp>
      <p:graphicFrame>
        <p:nvGraphicFramePr>
          <p:cNvPr id="12" name="Table 11"/>
          <p:cNvGraphicFramePr>
            <a:graphicFrameLocks noGrp="1"/>
          </p:cNvGraphicFramePr>
          <p:nvPr/>
        </p:nvGraphicFramePr>
        <p:xfrm>
          <a:off x="640080" y="3449213"/>
          <a:ext cx="10908792" cy="2768706"/>
        </p:xfrm>
        <a:graphic>
          <a:graphicData uri="http://schemas.openxmlformats.org/drawingml/2006/table">
            <a:tbl>
              <a:tblPr firstRow="1" bandRow="1">
                <a:tableStyleId>{5C22544A-7EE6-4342-B048-85BDC9FD1C3A}</a:tableStyleId>
              </a:tblPr>
              <a:tblGrid>
                <a:gridCol w="2011680"/>
                <a:gridCol w="4448556"/>
                <a:gridCol w="4448556"/>
              </a:tblGrid>
              <a:tr h="1384353">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384353">
                <a:tc>
                  <a:txBody>
                    <a:bodyPr/>
                    <a:lstStyle/>
                    <a:p>
                      <a:pPr>
                        <a:defRPr sz="800" b="1">
                          <a:solidFill>
                            <a:srgbClr val="0D1117"/>
                          </a:solidFill>
                          <a:latin typeface="Inter"/>
                        </a:defRPr>
                      </a:pPr>
                      <a:r>
                        <a:rPr>
                          <a:latin typeface="Inter"/>
                        </a:rPr>
                        <a:t>Compatibility gate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Four identifiers match [S2][S3]</a:t>
                      </a:r>
                    </a:p>
                  </a:txBody>
                  <a:tcPr marL="54864" marR="54864" marT="27432" marB="27432" anchor="ctr">
                    <a:solidFill>
                      <a:srgbClr val="FFFFFF"/>
                    </a:solidFill>
                  </a:tcPr>
                </a:tc>
              </a:tr>
            </a:tbl>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EFFECTS BY SEGMENT</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PORTFOLIO AND BENCHMARK AVERAGE WEIGHTS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LINKED EFFECTS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ALTERNATIVES SELECTION</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Rectangle 8"/>
          <p:cNvSpPr/>
          <p:nvPr/>
        </p:nvSpPr>
        <p:spPr>
          <a:xfrm>
            <a:off x="640080" y="1325880"/>
            <a:ext cx="10908792" cy="122251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22251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Returned cumulative growth context</a:t>
            </a:r>
          </a:p>
        </p:txBody>
      </p:sp>
      <p:sp>
        <p:nvSpPr>
          <p:cNvPr id="12" name="TextBox 11"/>
          <p:cNvSpPr txBox="1"/>
          <p:nvPr/>
        </p:nvSpPr>
        <p:spPr>
          <a:xfrm>
            <a:off x="804671" y="1719072"/>
            <a:ext cx="10616184" cy="73788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cumulative_growth was not returned.</a:t>
            </a:r>
          </a:p>
        </p:txBody>
      </p:sp>
      <p:sp>
        <p:nvSpPr>
          <p:cNvPr id="13" name="Rectangle 12"/>
          <p:cNvSpPr/>
          <p:nvPr/>
        </p:nvSpPr>
        <p:spPr>
          <a:xfrm>
            <a:off x="640080" y="2658120"/>
            <a:ext cx="10908792" cy="2215803"/>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2658120"/>
            <a:ext cx="54864" cy="2215803"/>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276784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Selection leads detractors</a:t>
            </a:r>
          </a:p>
        </p:txBody>
      </p:sp>
      <p:sp>
        <p:nvSpPr>
          <p:cNvPr id="16" name="TextBox 15"/>
          <p:cNvSpPr txBox="1"/>
          <p:nvPr/>
        </p:nvSpPr>
        <p:spPr>
          <a:xfrm>
            <a:off x="804671" y="3051312"/>
            <a:ext cx="10616184" cy="1731171"/>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selection is the -5.40pp dominant realized shortfall and Alternatives contributes -4.85pp [S2]. Why it matters: Selection drives the returned bridge from +2.75% benchmark return to -3.35%…</a:t>
            </a:r>
          </a:p>
        </p:txBody>
      </p:sp>
      <p:sp>
        <p:nvSpPr>
          <p:cNvPr id="17" name="Rectangle 16"/>
          <p:cNvSpPr/>
          <p:nvPr/>
        </p:nvSpPr>
        <p:spPr>
          <a:xfrm>
            <a:off x="640080" y="4983652"/>
            <a:ext cx="10908792" cy="123426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640080" y="4983652"/>
            <a:ext cx="54864" cy="1234267"/>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804671" y="509338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Benchmark and excess boundary</a:t>
            </a:r>
          </a:p>
        </p:txBody>
      </p:sp>
      <p:sp>
        <p:nvSpPr>
          <p:cNvPr id="20" name="TextBox 19"/>
          <p:cNvSpPr txBox="1"/>
          <p:nvPr/>
        </p:nvSpPr>
        <p:spPr>
          <a:xfrm>
            <a:off x="804671" y="5376844"/>
            <a:ext cx="10616184" cy="74963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Returned diagnostics.entity_return_reconciliation keeps attribution-summary excess against the linked segment benchmark composite separate from historical-return excess against the policy benchmark entity [S2].</a:t>
            </a: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EFFECTS BY SEGMENT</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 ANTE ASSUMPTIONS</a:t>
            </a:r>
          </a:p>
        </p:txBody>
      </p:sp>
      <p:graphicFrame>
        <p:nvGraphicFramePr>
          <p:cNvPr id="10" name="Table 9"/>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011680"/>
                <a:gridCol w="8897112"/>
              </a:tblGrid>
              <a:tr h="923544">
                <a:tc>
                  <a:txBody>
                    <a:bodyPr/>
                    <a:lstStyle/>
                    <a:p>
                      <a:pPr>
                        <a:defRPr sz="800" b="1">
                          <a:solidFill>
                            <a:srgbClr val="0D1117"/>
                          </a:solidFill>
                          <a:latin typeface="Inter"/>
                        </a:defRPr>
                      </a:pPr>
                      <a:r>
                        <a:rPr>
                          <a:latin typeface="Inter"/>
                        </a:rPr>
                        <a:t>assumption_set_name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2026 Strategic CMA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regime_name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user-defined regime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horizon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year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portfolio_return_source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allocation_expected_return_base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benchmark_return_source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benchmark_expected_return_base [S3]</a:t>
                      </a:r>
                    </a:p>
                  </a:txBody>
                  <a:tcPr marL="54864" marR="54864" marT="27432" marB="27432" anchor="ctr">
                    <a:solidFill>
                      <a:srgbClr val="FFFFFF"/>
                    </a:solidFill>
                  </a:tcPr>
                </a:tc>
              </a:tr>
            </a:tbl>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PORTFOLIO AND BENCHMARK RETURNS</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Selection leads expectations</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selection is the +1.25pp dominant expected gain and Alternatives contributes +1.05pp [S3]. Why it matters: Selection drives the returned bridge from 6.20% expected benchmark return to…</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SIMULATION CAPABILITY IS PLANNED</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Simulated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Rectangle 8"/>
          <p:cNvSpPr/>
          <p:nvPr/>
        </p:nvSpPr>
        <p:spPr>
          <a:xfrm>
            <a:off x="640080" y="1325880"/>
            <a:ext cx="10908792" cy="108349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08349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59886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planned per get_gradient_capabilities [S1].</a:t>
            </a:r>
          </a:p>
        </p:txBody>
      </p:sp>
      <p:graphicFrame>
        <p:nvGraphicFramePr>
          <p:cNvPr id="13" name="Table 12"/>
          <p:cNvGraphicFramePr>
            <a:graphicFrameLocks noGrp="1"/>
          </p:cNvGraphicFramePr>
          <p:nvPr/>
        </p:nvGraphicFramePr>
        <p:xfrm>
          <a:off x="640080" y="2519105"/>
          <a:ext cx="10908792" cy="2234714"/>
        </p:xfrm>
        <a:graphic>
          <a:graphicData uri="http://schemas.openxmlformats.org/drawingml/2006/table">
            <a:tbl>
              <a:tblPr firstRow="1" bandRow="1">
                <a:tableStyleId>{5C22544A-7EE6-4342-B048-85BDC9FD1C3A}</a:tableStyleId>
              </a:tblPr>
              <a:tblGrid>
                <a:gridCol w="2011680"/>
                <a:gridCol w="4448556"/>
                <a:gridCol w="4448556"/>
              </a:tblGrid>
              <a:tr h="744904">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744904">
                <a:tc>
                  <a:txBody>
                    <a:bodyPr/>
                    <a:lstStyle/>
                    <a:p>
                      <a:pPr>
                        <a:defRPr sz="800" b="1">
                          <a:solidFill>
                            <a:srgbClr val="0D1117"/>
                          </a:solidFill>
                          <a:latin typeface="Inter"/>
                        </a:defRPr>
                      </a:pPr>
                      <a:r>
                        <a:rPr>
                          <a:latin typeface="Inter"/>
                        </a:rPr>
                        <a:t>Capability</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Planned per capability source [S1]</a:t>
                      </a:r>
                    </a:p>
                  </a:txBody>
                  <a:tcPr marL="54864" marR="54864" marT="27432" marB="27432" anchor="ctr">
                    <a:solidFill>
                      <a:srgbClr val="FFFFFF"/>
                    </a:solidFill>
                  </a:tcPr>
                </a:tc>
              </a:tr>
              <a:tr h="744906">
                <a:tc>
                  <a:txBody>
                    <a:bodyPr/>
                    <a:lstStyle/>
                    <a:p>
                      <a:pPr>
                        <a:defRPr sz="800" b="1">
                          <a:solidFill>
                            <a:srgbClr val="0D1117"/>
                          </a:solidFill>
                          <a:latin typeface="Inter"/>
                        </a:defRPr>
                      </a:pPr>
                      <a:r>
                        <a:rPr>
                          <a:latin typeface="Inter"/>
                        </a:rPr>
                        <a:t>Invocation</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Not called because capability is unavailable [S1]</a:t>
                      </a:r>
                    </a:p>
                  </a:txBody>
                  <a:tcPr marL="54864" marR="54864" marT="27432" marB="27432" anchor="ctr">
                    <a:solidFill>
                      <a:srgbClr val="F5F7F9"/>
                    </a:solidFill>
                  </a:tcPr>
                </a:tc>
              </a:tr>
            </a:tbl>
          </a:graphicData>
        </a:graphic>
      </p:graphicFrame>
      <p:sp>
        <p:nvSpPr>
          <p:cNvPr id="14" name="Rectangle 13"/>
          <p:cNvSpPr/>
          <p:nvPr/>
        </p:nvSpPr>
        <p:spPr>
          <a:xfrm>
            <a:off x="640080" y="4863547"/>
            <a:ext cx="10908792" cy="135437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40080" y="4863547"/>
            <a:ext cx="54864" cy="13543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804671" y="497327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Simulation unavailable</a:t>
            </a:r>
          </a:p>
        </p:txBody>
      </p:sp>
      <p:sp>
        <p:nvSpPr>
          <p:cNvPr id="17" name="TextBox 16"/>
          <p:cNvSpPr txBox="1"/>
          <p:nvPr/>
        </p:nvSpPr>
        <p:spPr>
          <a:xfrm>
            <a:off x="804671" y="5256739"/>
            <a:ext cx="10616184" cy="86974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Simulation is planned per the capability source [S1]. Why it matters: Scenario effects cannot be assessed. Uncertainty: Capability readiness may change. What would change the view: A…</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LANES ARE DISPLAYED WHILE COMPARISON REMAINS PLANNED</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planned per get_gradient_capabilities [S1].</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LANES ARE DISPLAYED WHILE COMPARISON REMAINS PLANNED</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CROSS-LANE EFFECT MATRIX</a:t>
            </a:r>
          </a:p>
        </p:txBody>
      </p:sp>
      <p:graphicFrame>
        <p:nvGraphicFramePr>
          <p:cNvPr id="10" name="Table 9"/>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3636264"/>
                <a:gridCol w="3636264"/>
                <a:gridCol w="3636264"/>
              </a:tblGrid>
              <a:tr h="1154430">
                <a:tc>
                  <a:txBody>
                    <a:bodyPr/>
                    <a:lstStyle/>
                    <a:p>
                      <a:pPr>
                        <a:defRPr sz="700" b="1">
                          <a:solidFill>
                            <a:srgbClr val="FFFFFF"/>
                          </a:solidFill>
                          <a:latin typeface="Inter"/>
                        </a:defRPr>
                      </a:pP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Realized</a:t>
                      </a: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Expected</a:t>
                      </a:r>
                    </a:p>
                  </a:txBody>
                  <a:tcPr marL="54864" marR="54864" marT="27432" marB="27432" anchor="ctr">
                    <a:solidFill>
                      <a:srgbClr val="0D1117"/>
                    </a:solidFill>
                  </a:tcPr>
                </a:tc>
              </a:tr>
              <a:tr h="1154430">
                <a:tc>
                  <a:txBody>
                    <a:bodyPr/>
                    <a:lstStyle/>
                    <a:p>
                      <a:pPr>
                        <a:defRPr sz="750" b="1">
                          <a:solidFill>
                            <a:srgbClr val="FFFFFF"/>
                          </a:solidFill>
                          <a:latin typeface="Inter"/>
                        </a:defRPr>
                      </a:pPr>
                      <a:r>
                        <a:rPr>
                          <a:latin typeface="Inter"/>
                        </a:rPr>
                        <a:t>Allocation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0.2</a:t>
                      </a:r>
                    </a:p>
                  </a:txBody>
                  <a:tcPr marL="54864" marR="54864" marT="27432" marB="27432" anchor="ctr">
                    <a:solidFill>
                      <a:srgbClr val="CEF453"/>
                    </a:solidFill>
                  </a:tcPr>
                </a:tc>
                <a:tc>
                  <a:txBody>
                    <a:bodyPr/>
                    <a:lstStyle/>
                    <a:p>
                      <a:pPr>
                        <a:defRPr sz="750" b="0">
                          <a:solidFill>
                            <a:srgbClr val="0D1117"/>
                          </a:solidFill>
                          <a:latin typeface="Inter"/>
                        </a:defRPr>
                      </a:pPr>
                      <a:r>
                        <a:rPr>
                          <a:latin typeface="Inter"/>
                        </a:rPr>
                        <a:t>0.4</a:t>
                      </a:r>
                    </a:p>
                  </a:txBody>
                  <a:tcPr marL="54864" marR="54864" marT="27432" marB="27432" anchor="ctr">
                    <a:solidFill>
                      <a:srgbClr val="C6F432"/>
                    </a:solidFill>
                  </a:tcPr>
                </a:tc>
              </a:tr>
              <a:tr h="1154430">
                <a:tc>
                  <a:txBody>
                    <a:bodyPr/>
                    <a:lstStyle/>
                    <a:p>
                      <a:pPr>
                        <a:defRPr sz="750" b="1">
                          <a:solidFill>
                            <a:srgbClr val="FFFFFF"/>
                          </a:solidFill>
                          <a:latin typeface="Inter"/>
                        </a:defRPr>
                      </a:pPr>
                      <a:r>
                        <a:rPr>
                          <a:latin typeface="Inter"/>
                        </a:rPr>
                        <a:t>Selection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-0.8</a:t>
                      </a:r>
                    </a:p>
                  </a:txBody>
                  <a:tcPr marL="54864" marR="54864" marT="27432" marB="27432" anchor="ctr">
                    <a:solidFill>
                      <a:srgbClr val="F5F7F9"/>
                    </a:solidFill>
                  </a:tcPr>
                </a:tc>
                <a:tc>
                  <a:txBody>
                    <a:bodyPr/>
                    <a:lstStyle/>
                    <a:p>
                      <a:pPr>
                        <a:defRPr sz="750" b="0">
                          <a:solidFill>
                            <a:srgbClr val="0D1117"/>
                          </a:solidFill>
                          <a:latin typeface="Inter"/>
                        </a:defRPr>
                      </a:pPr>
                      <a:r>
                        <a:rPr>
                          <a:latin typeface="Inter"/>
                        </a:rPr>
                        <a:t>-0.1</a:t>
                      </a:r>
                    </a:p>
                  </a:txBody>
                  <a:tcPr marL="54864" marR="54864" marT="27432" marB="27432" anchor="ctr">
                    <a:solidFill>
                      <a:srgbClr val="DAF585"/>
                    </a:solidFill>
                  </a:tcPr>
                </a:tc>
              </a:tr>
              <a:tr h="1154430">
                <a:tc>
                  <a:txBody>
                    <a:bodyPr/>
                    <a:lstStyle/>
                    <a:p>
                      <a:pPr>
                        <a:defRPr sz="750" b="1">
                          <a:solidFill>
                            <a:srgbClr val="FFFFFF"/>
                          </a:solidFill>
                          <a:latin typeface="Inter"/>
                        </a:defRPr>
                      </a:pPr>
                      <a:r>
                        <a:rPr>
                          <a:latin typeface="Inter"/>
                        </a:rPr>
                        <a:t>Interaction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0.0</a:t>
                      </a:r>
                    </a:p>
                  </a:txBody>
                  <a:tcPr marL="54864" marR="54864" marT="27432" marB="27432" anchor="ctr">
                    <a:solidFill>
                      <a:srgbClr val="D6F574"/>
                    </a:solidFill>
                  </a:tcPr>
                </a:tc>
                <a:tc>
                  <a:txBody>
                    <a:bodyPr/>
                    <a:lstStyle/>
                    <a:p>
                      <a:pPr>
                        <a:defRPr sz="750" b="0">
                          <a:solidFill>
                            <a:srgbClr val="0D1117"/>
                          </a:solidFill>
                          <a:latin typeface="Inter"/>
                        </a:defRPr>
                      </a:pPr>
                      <a:r>
                        <a:rPr>
                          <a:latin typeface="Inter"/>
                        </a:rPr>
                        <a:t>0.05</a:t>
                      </a:r>
                    </a:p>
                  </a:txBody>
                  <a:tcPr marL="54864" marR="54864" marT="27432" marB="27432" anchor="ctr">
                    <a:solidFill>
                      <a:srgbClr val="D4F56C"/>
                    </a:solidFill>
                  </a:tcPr>
                </a:tc>
              </a:tr>
            </a:tbl>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LANES ARE DISPLAYED WHILE COMPARISON REMAINS PLANNED</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RETURNED EFFECTS</a:t>
            </a:r>
          </a:p>
        </p:txBody>
      </p:sp>
      <p:graphicFrame>
        <p:nvGraphicFramePr>
          <p:cNvPr id="10" name="Chart 9"/>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RETURNED EFFECTS</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3"/>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LANES ARE DISPLAYED WHILE COMPARISON REMAINS PLANNED</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Rectangle 8"/>
          <p:cNvSpPr/>
          <p:nvPr/>
        </p:nvSpPr>
        <p:spPr>
          <a:xfrm>
            <a:off x="640080" y="1325880"/>
            <a:ext cx="10908792" cy="83928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839289"/>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Unavailable comparison metrics</a:t>
            </a:r>
          </a:p>
        </p:txBody>
      </p:sp>
      <p:sp>
        <p:nvSpPr>
          <p:cNvPr id="12" name="TextBox 11"/>
          <p:cNvSpPr txBox="1"/>
          <p:nvPr/>
        </p:nvSpPr>
        <p:spPr>
          <a:xfrm>
            <a:off x="804671" y="1719072"/>
            <a:ext cx="10616184" cy="354657"/>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Differences, concentration, persistence, and Sources that persist are unavailable without a governed comparison result [S1].</a:t>
            </a:r>
          </a:p>
        </p:txBody>
      </p:sp>
      <p:graphicFrame>
        <p:nvGraphicFramePr>
          <p:cNvPr id="13" name="Table 12"/>
          <p:cNvGraphicFramePr>
            <a:graphicFrameLocks noGrp="1"/>
          </p:cNvGraphicFramePr>
          <p:nvPr/>
        </p:nvGraphicFramePr>
        <p:xfrm>
          <a:off x="640080" y="2274897"/>
          <a:ext cx="10908792" cy="2885058"/>
        </p:xfrm>
        <a:graphic>
          <a:graphicData uri="http://schemas.openxmlformats.org/drawingml/2006/table">
            <a:tbl>
              <a:tblPr firstRow="1" bandRow="1">
                <a:tableStyleId>{5C22544A-7EE6-4342-B048-85BDC9FD1C3A}</a:tableStyleId>
              </a:tblPr>
              <a:tblGrid>
                <a:gridCol w="2011680"/>
                <a:gridCol w="4448556"/>
                <a:gridCol w="4448556"/>
              </a:tblGrid>
              <a:tr h="577011">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577011">
                <a:tc>
                  <a:txBody>
                    <a:bodyPr/>
                    <a:lstStyle/>
                    <a:p>
                      <a:pPr>
                        <a:defRPr sz="800" b="1">
                          <a:solidFill>
                            <a:srgbClr val="0D1117"/>
                          </a:solidFill>
                          <a:latin typeface="Inter"/>
                        </a:defRPr>
                      </a:pPr>
                      <a:r>
                        <a:rPr>
                          <a:latin typeface="Inter"/>
                        </a:rPr>
                        <a:t>Lane differences</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Requires governed comparison output [S1]</a:t>
                      </a:r>
                    </a:p>
                  </a:txBody>
                  <a:tcPr marL="54864" marR="54864" marT="27432" marB="27432" anchor="ctr">
                    <a:solidFill>
                      <a:srgbClr val="FFFFFF"/>
                    </a:solidFill>
                  </a:tcPr>
                </a:tc>
              </a:tr>
              <a:tr h="577011">
                <a:tc>
                  <a:txBody>
                    <a:bodyPr/>
                    <a:lstStyle/>
                    <a:p>
                      <a:pPr>
                        <a:defRPr sz="800" b="1">
                          <a:solidFill>
                            <a:srgbClr val="0D1117"/>
                          </a:solidFill>
                          <a:latin typeface="Inter"/>
                        </a:defRPr>
                      </a:pPr>
                      <a:r>
                        <a:rPr>
                          <a:latin typeface="Inter"/>
                        </a:rPr>
                        <a:t>Concentration</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local aggregation permitted [S1]</a:t>
                      </a:r>
                    </a:p>
                  </a:txBody>
                  <a:tcPr marL="54864" marR="54864" marT="27432" marB="27432" anchor="ctr">
                    <a:solidFill>
                      <a:srgbClr val="F5F7F9"/>
                    </a:solidFill>
                  </a:tcPr>
                </a:tc>
              </a:tr>
              <a:tr h="577011">
                <a:tc>
                  <a:txBody>
                    <a:bodyPr/>
                    <a:lstStyle/>
                    <a:p>
                      <a:pPr>
                        <a:defRPr sz="800" b="1">
                          <a:solidFill>
                            <a:srgbClr val="0D1117"/>
                          </a:solidFill>
                          <a:latin typeface="Inter"/>
                        </a:defRPr>
                      </a:pPr>
                      <a:r>
                        <a:rPr>
                          <a:latin typeface="Inter"/>
                        </a:rPr>
                        <a:t>Persistence</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server persistence metric [S1]</a:t>
                      </a:r>
                    </a:p>
                  </a:txBody>
                  <a:tcPr marL="54864" marR="54864" marT="27432" marB="27432" anchor="ctr">
                    <a:solidFill>
                      <a:srgbClr val="FFFFFF"/>
                    </a:solidFill>
                  </a:tcPr>
                </a:tc>
              </a:tr>
              <a:tr h="577014">
                <a:tc>
                  <a:txBody>
                    <a:bodyPr/>
                    <a:lstStyle/>
                    <a:p>
                      <a:pPr>
                        <a:defRPr sz="800" b="1">
                          <a:solidFill>
                            <a:srgbClr val="0D1117"/>
                          </a:solidFill>
                          <a:latin typeface="Inter"/>
                        </a:defRPr>
                      </a:pPr>
                      <a:r>
                        <a:rPr>
                          <a:latin typeface="Inter"/>
                        </a:rPr>
                        <a:t>Sources that persist</a:t>
                      </a:r>
                    </a:p>
                  </a:txBody>
                  <a:tcPr marL="54864" marR="54864" marT="27432" marB="27432" anchor="ctr">
                    <a:solidFill>
                      <a:srgbClr val="F5F7F9"/>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 governed comparison result [S1]</a:t>
                      </a:r>
                    </a:p>
                  </a:txBody>
                  <a:tcPr marL="54864" marR="54864" marT="27432" marB="27432" anchor="ctr">
                    <a:solidFill>
                      <a:srgbClr val="F5F7F9"/>
                    </a:solidFill>
                  </a:tcPr>
                </a:tc>
              </a:tr>
            </a:tbl>
          </a:graphicData>
        </a:graphic>
      </p:graphicFrame>
      <p:sp>
        <p:nvSpPr>
          <p:cNvPr id="14" name="Rectangle 13"/>
          <p:cNvSpPr/>
          <p:nvPr/>
        </p:nvSpPr>
        <p:spPr>
          <a:xfrm>
            <a:off x="640080" y="5269684"/>
            <a:ext cx="10908792" cy="94823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40080" y="5269684"/>
            <a:ext cx="54864" cy="948235"/>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804671" y="5379412"/>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7" name="TextBox 16"/>
          <p:cNvSpPr txBox="1"/>
          <p:nvPr/>
        </p:nvSpPr>
        <p:spPr>
          <a:xfrm>
            <a:off x="804671" y="5662876"/>
            <a:ext cx="10616184" cy="46360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Comparison is planned per get_gradient_capabilities [S1]. Why it matters: No persistence claim is supported. Uncertainty: Planned capability timing is not returned. What would change the view: A…</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LIVE LANES AND TWO PLANNED CAPABILITIES DEFINE COVERAGE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Coverage and Limitations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07</a:t>
            </a:r>
          </a:p>
        </p:txBody>
      </p:sp>
      <p:graphicFrame>
        <p:nvGraphicFramePr>
          <p:cNvPr id="9" name="Table 8"/>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122301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223010">
                <a:tc>
                  <a:txBody>
                    <a:bodyPr/>
                    <a:lstStyle/>
                    <a:p>
                      <a:pPr>
                        <a:defRPr sz="80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[S2]</a:t>
                      </a:r>
                    </a:p>
                  </a:txBody>
                  <a:tcPr marL="54864" marR="54864" marT="27432" marB="27432" anchor="ctr">
                    <a:solidFill>
                      <a:srgbClr val="FFFFFF"/>
                    </a:solidFill>
                  </a:tcPr>
                </a:tc>
              </a:tr>
              <a:tr h="1223010">
                <a:tc>
                  <a:txBody>
                    <a:bodyPr/>
                    <a:lstStyle/>
                    <a:p>
                      <a:pPr>
                        <a:defRPr sz="800" b="1">
                          <a:solidFill>
                            <a:srgbClr val="0D1117"/>
                          </a:solidFill>
                          <a:latin typeface="Inter"/>
                        </a:defRPr>
                      </a:pPr>
                      <a:r>
                        <a:rPr>
                          <a:latin typeface="Inter"/>
                        </a:rPr>
                        <a:t>Ex ante</a:t>
                      </a:r>
                    </a:p>
                  </a:txBody>
                  <a:tcPr marL="54864" marR="54864" marT="27432" marB="27432" anchor="ctr">
                    <a:solidFill>
                      <a:srgbClr val="F5F7F9"/>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[S3]</a:t>
                      </a:r>
                    </a:p>
                  </a:txBody>
                  <a:tcPr marL="54864" marR="54864" marT="27432" marB="27432" anchor="ctr">
                    <a:solidFill>
                      <a:srgbClr val="F5F7F9"/>
                    </a:solidFill>
                  </a:tcPr>
                </a:tc>
              </a:tr>
              <a:tr h="1223010">
                <a:tc>
                  <a:txBody>
                    <a:bodyPr/>
                    <a:lstStyle/>
                    <a:p>
                      <a:pPr>
                        <a:defRPr sz="800" b="1">
                          <a:solidFill>
                            <a:srgbClr val="0D1117"/>
                          </a:solidFill>
                          <a:latin typeface="Inter"/>
                        </a:defRPr>
                      </a:pPr>
                      <a:r>
                        <a:rPr>
                          <a:latin typeface="Inter"/>
                        </a:rPr>
                        <a:t>Planned tools</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Simulation and comparison are planned [S1]</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9" name="Table 8"/>
          <p:cNvGraphicFramePr>
            <a:graphicFrameLocks noGrp="1"/>
          </p:cNvGraphicFramePr>
          <p:nvPr/>
        </p:nvGraphicFramePr>
        <p:xfrm>
          <a:off x="640080" y="1325880"/>
          <a:ext cx="10908792" cy="1348514"/>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337128">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337128">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Capability gate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2026-09-30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r h="337128">
                <a:tc>
                  <a:txBody>
                    <a:bodyPr/>
                    <a:lstStyle/>
                    <a:p>
                      <a:pPr>
                        <a:defRPr sz="65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Historical 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get_portfolio_attribution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2026-09-30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sha256:bbbbbbbbbbbbbbbbbbbbbbbbbbbbbbbbbbbbbbbbbbbbbbbbbbbbbbbbbbbbbbbb</a:t>
                      </a:r>
                    </a:p>
                  </a:txBody>
                  <a:tcPr marL="54864" marR="54864" marT="27432" marB="27432" anchor="ctr">
                    <a:solidFill>
                      <a:srgbClr val="F5F7F9"/>
                    </a:solidFill>
                  </a:tcPr>
                </a:tc>
              </a:tr>
              <a:tr h="337130">
                <a:tc>
                  <a:txBody>
                    <a:bodyPr/>
                    <a:lstStyle/>
                    <a:p>
                      <a:pPr>
                        <a:defRPr sz="65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Ex ante 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get_portfolio_ex_ante_attribution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2026-09-30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sha256:cccccccccccccccccccccccccccccccccccccccccccccccccccccccccccccccc</a:t>
                      </a:r>
                    </a:p>
                  </a:txBody>
                  <a:tcPr marL="54864" marR="54864" marT="27432" marB="27432" anchor="ctr">
                    <a:solidFill>
                      <a:srgbClr val="FFFFFF"/>
                    </a:solidFill>
                  </a:tcPr>
                </a:tc>
              </a:tr>
            </a:tbl>
          </a:graphicData>
        </a:graphic>
      </p:graphicFrame>
      <p:sp>
        <p:nvSpPr>
          <p:cNvPr id="10" name="TextBox 9"/>
          <p:cNvSpPr txBox="1"/>
          <p:nvPr/>
        </p:nvSpPr>
        <p:spPr>
          <a:xfrm>
            <a:off x="640080" y="2692682"/>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1" name="TextBox 10"/>
          <p:cNvSpPr txBox="1"/>
          <p:nvPr/>
        </p:nvSpPr>
        <p:spPr>
          <a:xfrm>
            <a:off x="640080" y="298529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SIGN BY SEGMENT</a:t>
            </a:r>
          </a:p>
        </p:txBody>
      </p:sp>
      <p:graphicFrame>
        <p:nvGraphicFramePr>
          <p:cNvPr id="12" name="Table 11"/>
          <p:cNvGraphicFramePr>
            <a:graphicFrameLocks noGrp="1"/>
          </p:cNvGraphicFramePr>
          <p:nvPr/>
        </p:nvGraphicFramePr>
        <p:xfrm>
          <a:off x="640080" y="3259610"/>
          <a:ext cx="10908792" cy="1409794"/>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281958">
                <a:tc>
                  <a:txBody>
                    <a:bodyPr/>
                    <a:lstStyle/>
                    <a:p>
                      <a:pPr>
                        <a:defRPr sz="750" b="1">
                          <a:solidFill>
                            <a:srgbClr val="FFFFFF"/>
                          </a:solidFill>
                          <a:latin typeface="Inter"/>
                        </a:defRPr>
                      </a:pPr>
                      <a:r>
                        <a:rPr>
                          <a:latin typeface="Inter"/>
                        </a:rPr>
                        <a:t>Lane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Segment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effect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sign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r>
              <a:tr h="281958">
                <a:tc>
                  <a:txBody>
                    <a:bodyPr/>
                    <a:lstStyle/>
                    <a:p>
                      <a:pPr>
                        <a:defRPr sz="72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FFFFF"/>
                    </a:solidFill>
                  </a:tcPr>
                </a:tc>
              </a:tr>
              <a:tr h="281958">
                <a:tc>
                  <a:txBody>
                    <a:bodyPr/>
                    <a:lstStyle/>
                    <a:p>
                      <a:pPr>
                        <a:defRPr sz="720" b="1">
                          <a:solidFill>
                            <a:srgbClr val="0D1117"/>
                          </a:solidFill>
                          <a:latin typeface="Inter"/>
                        </a:defRPr>
                      </a:pPr>
                      <a:r>
                        <a:rPr>
                          <a:latin typeface="Inter"/>
                        </a:rPr>
                        <a:t>Historical</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Negative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5F7F9"/>
                    </a:solidFill>
                  </a:tcPr>
                </a:tc>
              </a:tr>
              <a:tr h="281958">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+0.27pp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FFFFF"/>
                    </a:solidFill>
                  </a:tcPr>
                </a:tc>
              </a:tr>
              <a:tr h="281962">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5F7F9"/>
                    </a:solidFill>
                  </a:tcPr>
                </a:tc>
              </a:tr>
            </a:tbl>
          </a:graphicData>
        </a:graphic>
      </p:graphicFrame>
      <p:sp>
        <p:nvSpPr>
          <p:cNvPr id="13" name="TextBox 12"/>
          <p:cNvSpPr txBox="1"/>
          <p:nvPr/>
        </p:nvSpPr>
        <p:spPr>
          <a:xfrm>
            <a:off x="640080" y="4687692"/>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Signs classify returned effects only; no cross-lane arithmetic [S2][S3].</a:t>
            </a:r>
          </a:p>
        </p:txBody>
      </p:sp>
      <p:sp>
        <p:nvSpPr>
          <p:cNvPr id="14" name="Rectangle 13"/>
          <p:cNvSpPr/>
          <p:nvPr/>
        </p:nvSpPr>
        <p:spPr>
          <a:xfrm>
            <a:off x="640080" y="4980300"/>
            <a:ext cx="10908792" cy="123761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Rectangle 14"/>
          <p:cNvSpPr/>
          <p:nvPr/>
        </p:nvSpPr>
        <p:spPr>
          <a:xfrm>
            <a:off x="640080" y="4980300"/>
            <a:ext cx="54864" cy="1237619"/>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804671" y="509002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Method boundary</a:t>
            </a:r>
          </a:p>
        </p:txBody>
      </p:sp>
      <p:sp>
        <p:nvSpPr>
          <p:cNvPr id="17" name="TextBox 16"/>
          <p:cNvSpPr txBox="1"/>
          <p:nvPr/>
        </p:nvSpPr>
        <p:spPr>
          <a:xfrm>
            <a:off x="804671" y="5373492"/>
            <a:ext cx="10616184" cy="752987"/>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Each lane remains on its returned method, period or horizon, benchmark role, parent cohort and calculation currency. Historical evidence is realized, ex ante evidence is expected, and simulated evidence is scenario-based. Values are displayed without local reconciliation, attribution arithmetic or substitutions [S1][S2][S3].</a:t>
            </a:r>
          </a:p>
        </p:txBody>
      </p:sp>
      <p:sp>
        <p:nvSpPr>
          <p:cNvPr id="18" name="Rectangle 17"/>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a:t>
            </a:r>
          </a:p>
        </p:txBody>
      </p:sp>
      <p:sp>
        <p:nvSpPr>
          <p:cNvPr id="20" name="TextBox 19"/>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21" name="TextBox 20"/>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Comparison boundary</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Cross-lane differences, concentration, overlap, reconciliation and persistence are reported only when the governed comparison capability returns them. Capability absence is an evidence limitation, not a zero value or a failed lane. Request IDs, diagnostics, residuals and coverage remain attached to their source payloads [S1].</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2026-09-30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23</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Total Fund Attribution Comparison</dc:title>
  <dc:subject>Attribution Comparison</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