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a="http://schemas.openxmlformats.org/drawingml/2006/main" xmlns:ns0="http://schemas.openxmlformats.org/presentationml/2006/main" xmlns:ns1="http://schemas.openxmlformats.org/officeDocument/2006/relationships" saveSubsetFonts="1" autoCompressPictures="0">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 id="267" ns1:id="rId18"/>
    <ns0:sldId id="268" ns1:id="rId19"/>
    <ns0:sldId id="269" ns1:id="rId20"/>
    <ns0:sldId id="270" ns1:id="rId21"/>
    <ns0:sldId id="271" ns1:id="rId22"/>
    <ns0:sldId id="272" ns1:id="rId23"/>
    <ns0:sldId id="273" ns1:id="rId24"/>
    <ns0:sldId id="274" ns1:id="rId25"/>
    <ns0:sldId id="275" ns1:id="rId26"/>
    <ns0:sldId id="276" ns1:id="rId27"/>
    <ns0:sldId id="277" ns1:id="rId28"/>
    <ns0:sldId id="278" ns1:id="rId29"/>
  </ns0:sldIdLst>
  <ns0:sldSz cx="12191695" cy="6858000" type="screen16x9"/>
  <ns0:notesSz cx="6858000" cy="9144000"/>
  <ns0: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noFill/>
            <a:ln>
              <a:noFill/>
            </a:ln>
          </c:spPr>
          <c:cat>
            <c:strRef>
              <c:f>Sheet1!$A$2:$A$6</c:f>
              <c:strCache>
                <c:ptCount val="5"/>
                <c:pt idx="0">
                  <c:v>Benchmark return</c:v>
                </c:pt>
                <c:pt idx="1">
                  <c:v>Allocation</c:v>
                </c:pt>
                <c:pt idx="2">
                  <c:v>Selection</c:v>
                </c:pt>
                <c:pt idx="3">
                  <c:v>Interaction</c:v>
                </c:pt>
                <c:pt idx="4">
                  <c:v>Portfolio return</c:v>
                </c:pt>
              </c:strCache>
            </c:strRef>
          </c:cat>
          <c:val>
            <c:numRef>
              <c:f>Sheet1!$B$2:$B$6</c:f>
              <c:numCache>
                <c:formatCode>General</c:formatCode>
                <c:ptCount val="5"/>
                <c:pt idx="0">
                  <c:v>0.0</c:v>
                </c:pt>
                <c:pt idx="1">
                  <c:v>2.3</c:v>
                </c:pt>
                <c:pt idx="2">
                  <c:v>0.0</c:v>
                </c:pt>
                <c:pt idx="3">
                  <c:v>0.0</c:v>
                </c:pt>
                <c:pt idx="4">
                  <c:v>0.0</c:v>
                </c:pt>
              </c:numCache>
            </c:numRef>
          </c:val>
        </c:ser>
        <c:ser>
          <c:idx val="1"/>
          <c:order val="1"/>
          <c:tx>
            <c:strRef>
              <c:f>Sheet1!$C$1</c:f>
              <c:strCache>
                <c:ptCount val="1"/>
                <c:pt idx="0">
                  <c:v>Increase</c:v>
                </c:pt>
              </c:strCache>
            </c:strRef>
          </c:tx>
          <c:spPr>
            <a:solidFill>
              <a:srgbClr val="C6F432"/>
            </a:solidFill>
          </c:spPr>
          <c:cat>
            <c:strRef>
              <c:f>Sheet1!$A$2:$A$6</c:f>
              <c:strCache>
                <c:ptCount val="5"/>
                <c:pt idx="0">
                  <c:v>Benchmark return</c:v>
                </c:pt>
                <c:pt idx="1">
                  <c:v>Allocation</c:v>
                </c:pt>
                <c:pt idx="2">
                  <c:v>Selection</c:v>
                </c:pt>
                <c:pt idx="3">
                  <c:v>Interaction</c:v>
                </c:pt>
                <c:pt idx="4">
                  <c:v>Portfolio return</c:v>
                </c:pt>
              </c:strCache>
            </c:strRef>
          </c:cat>
          <c:val>
            <c:numRef>
              <c:f>Sheet1!$C$2:$C$6</c:f>
              <c:numCache>
                <c:formatCode>General</c:formatCode>
                <c:ptCount val="5"/>
                <c:pt idx="0">
                  <c:v>2.75</c:v>
                </c:pt>
                <c:pt idx="1">
                  <c:v>0.0</c:v>
                </c:pt>
                <c:pt idx="2">
                  <c:v>0.0</c:v>
                </c:pt>
                <c:pt idx="3">
                  <c:v>0.0</c:v>
                </c:pt>
                <c:pt idx="4">
                  <c:v>0.0</c:v>
                </c:pt>
              </c:numCache>
            </c:numRef>
          </c:val>
        </c:ser>
        <c:ser>
          <c:idx val="2"/>
          <c:order val="2"/>
          <c:tx>
            <c:strRef>
              <c:f>Sheet1!$D$1</c:f>
              <c:strCache>
                <c:ptCount val="1"/>
                <c:pt idx="0">
                  <c:v>Decrease</c:v>
                </c:pt>
              </c:strCache>
            </c:strRef>
          </c:tx>
          <c:spPr>
            <a:solidFill>
              <a:srgbClr val="FF6B5E"/>
            </a:solidFill>
          </c:spPr>
          <c:cat>
            <c:strRef>
              <c:f>Sheet1!$A$2:$A$6</c:f>
              <c:strCache>
                <c:ptCount val="5"/>
                <c:pt idx="0">
                  <c:v>Benchmark return</c:v>
                </c:pt>
                <c:pt idx="1">
                  <c:v>Allocation</c:v>
                </c:pt>
                <c:pt idx="2">
                  <c:v>Selection</c:v>
                </c:pt>
                <c:pt idx="3">
                  <c:v>Interaction</c:v>
                </c:pt>
                <c:pt idx="4">
                  <c:v>Portfolio return</c:v>
                </c:pt>
              </c:strCache>
            </c:strRef>
          </c:cat>
          <c:val>
            <c:numRef>
              <c:f>Sheet1!$D$2:$D$6</c:f>
              <c:numCache>
                <c:formatCode>General</c:formatCode>
                <c:ptCount val="5"/>
                <c:pt idx="0">
                  <c:v>0.0</c:v>
                </c:pt>
                <c:pt idx="1">
                  <c:v>0.45</c:v>
                </c:pt>
                <c:pt idx="2">
                  <c:v>5.4</c:v>
                </c:pt>
                <c:pt idx="3">
                  <c:v>0.25</c:v>
                </c:pt>
                <c:pt idx="4">
                  <c:v>3.35</c:v>
                </c:pt>
              </c:numCache>
            </c:numRef>
          </c:val>
        </c:ser>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stacked"/>
        <c:ser>
          <c:idx val="0"/>
          <c:order val="0"/>
          <c:tx>
            <c:strRef>
              <c:f>Sheet1!$B$1</c:f>
              <c:strCache>
                <c:ptCount val="1"/>
                <c:pt idx="0">
                  <c:v>Base</c:v>
                </c:pt>
              </c:strCache>
            </c:strRef>
          </c:tx>
          <c:spPr>
            <a:noFill/>
            <a:ln>
              <a:noFill/>
            </a:ln>
          </c:spPr>
          <c:cat>
            <c:strRef>
              <c:f>Sheet1!$A$2:$A$6</c:f>
              <c:strCache>
                <c:ptCount val="5"/>
                <c:pt idx="0">
                  <c:v>Benchmark return</c:v>
                </c:pt>
                <c:pt idx="1">
                  <c:v>Allocation</c:v>
                </c:pt>
                <c:pt idx="2">
                  <c:v>Selection</c:v>
                </c:pt>
                <c:pt idx="3">
                  <c:v>Interaction</c:v>
                </c:pt>
                <c:pt idx="4">
                  <c:v>Portfolio return</c:v>
                </c:pt>
              </c:strCache>
            </c:strRef>
          </c:cat>
          <c:val>
            <c:numRef>
              <c:f>Sheet1!$B$2:$B$6</c:f>
              <c:numCache>
                <c:formatCode>General</c:formatCode>
                <c:ptCount val="5"/>
                <c:pt idx="0">
                  <c:v>0.0</c:v>
                </c:pt>
                <c:pt idx="1">
                  <c:v>6.2</c:v>
                </c:pt>
                <c:pt idx="2">
                  <c:v>6.48</c:v>
                </c:pt>
                <c:pt idx="3">
                  <c:v>7.73</c:v>
                </c:pt>
                <c:pt idx="4">
                  <c:v>0.0</c:v>
                </c:pt>
              </c:numCache>
            </c:numRef>
          </c:val>
        </c:ser>
        <c:ser>
          <c:idx val="1"/>
          <c:order val="1"/>
          <c:tx>
            <c:strRef>
              <c:f>Sheet1!$C$1</c:f>
              <c:strCache>
                <c:ptCount val="1"/>
                <c:pt idx="0">
                  <c:v>Increase</c:v>
                </c:pt>
              </c:strCache>
            </c:strRef>
          </c:tx>
          <c:spPr>
            <a:solidFill>
              <a:srgbClr val="C6F432"/>
            </a:solidFill>
          </c:spPr>
          <c:cat>
            <c:strRef>
              <c:f>Sheet1!$A$2:$A$6</c:f>
              <c:strCache>
                <c:ptCount val="5"/>
                <c:pt idx="0">
                  <c:v>Benchmark return</c:v>
                </c:pt>
                <c:pt idx="1">
                  <c:v>Allocation</c:v>
                </c:pt>
                <c:pt idx="2">
                  <c:v>Selection</c:v>
                </c:pt>
                <c:pt idx="3">
                  <c:v>Interaction</c:v>
                </c:pt>
                <c:pt idx="4">
                  <c:v>Portfolio return</c:v>
                </c:pt>
              </c:strCache>
            </c:strRef>
          </c:cat>
          <c:val>
            <c:numRef>
              <c:f>Sheet1!$C$2:$C$6</c:f>
              <c:numCache>
                <c:formatCode>General</c:formatCode>
                <c:ptCount val="5"/>
                <c:pt idx="0">
                  <c:v>6.2</c:v>
                </c:pt>
                <c:pt idx="1">
                  <c:v>0.28</c:v>
                </c:pt>
                <c:pt idx="2">
                  <c:v>1.25</c:v>
                </c:pt>
                <c:pt idx="3">
                  <c:v>0.15</c:v>
                </c:pt>
                <c:pt idx="4">
                  <c:v>7.88</c:v>
                </c:pt>
              </c:numCache>
            </c:numRef>
          </c:val>
        </c:ser>
        <c:ser>
          <c:idx val="2"/>
          <c:order val="2"/>
          <c:tx>
            <c:strRef>
              <c:f>Sheet1!$D$1</c:f>
              <c:strCache>
                <c:ptCount val="1"/>
                <c:pt idx="0">
                  <c:v>Decrease</c:v>
                </c:pt>
              </c:strCache>
            </c:strRef>
          </c:tx>
          <c:spPr>
            <a:solidFill>
              <a:srgbClr val="FF6B5E"/>
            </a:solidFill>
          </c:spPr>
          <c:cat>
            <c:strRef>
              <c:f>Sheet1!$A$2:$A$6</c:f>
              <c:strCache>
                <c:ptCount val="5"/>
                <c:pt idx="0">
                  <c:v>Benchmark return</c:v>
                </c:pt>
                <c:pt idx="1">
                  <c:v>Allocation</c:v>
                </c:pt>
                <c:pt idx="2">
                  <c:v>Selection</c:v>
                </c:pt>
                <c:pt idx="3">
                  <c:v>Interaction</c:v>
                </c:pt>
                <c:pt idx="4">
                  <c:v>Portfolio return</c:v>
                </c:pt>
              </c:strCache>
            </c:strRef>
          </c:cat>
          <c:val>
            <c:numRef>
              <c:f>Sheet1!$D$2:$D$6</c:f>
              <c:numCache>
                <c:formatCode>General</c:formatCode>
                <c:ptCount val="5"/>
                <c:pt idx="0">
                  <c:v>0.0</c:v>
                </c:pt>
                <c:pt idx="1">
                  <c:v>0.0</c:v>
                </c:pt>
                <c:pt idx="2">
                  <c:v>0.0</c:v>
                </c:pt>
                <c:pt idx="3">
                  <c:v>0.0</c:v>
                </c:pt>
                <c:pt idx="4">
                  <c:v>0.0</c:v>
                </c:pt>
              </c:numCache>
            </c:numRef>
          </c:val>
        </c:ser>
        <c:overlap val="100"/>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Allocation</c:v>
                </c:pt>
              </c:strCache>
            </c:strRef>
          </c:tx>
          <c:spPr>
            <a:solidFill>
              <a:srgbClr val="0D1117"/>
            </a:solidFill>
          </c:spPr>
          <c:cat>
            <c:strRef>
              <c:f>Sheet1!$A$2:$A$3</c:f>
              <c:strCache>
                <c:ptCount val="2"/>
                <c:pt idx="0">
                  <c:v>Public Equity</c:v>
                </c:pt>
                <c:pt idx="1">
                  <c:v>Alternatives</c:v>
                </c:pt>
              </c:strCache>
            </c:strRef>
          </c:cat>
          <c:val>
            <c:numRef>
              <c:f>Sheet1!$B$2:$B$3</c:f>
              <c:numCache>
                <c:formatCode>General</c:formatCode>
                <c:ptCount val="2"/>
                <c:pt idx="0">
                  <c:v>-0.1</c:v>
                </c:pt>
                <c:pt idx="1">
                  <c:v>-0.35</c:v>
                </c:pt>
              </c:numCache>
            </c:numRef>
          </c:val>
        </c:ser>
        <c:ser>
          <c:idx val="1"/>
          <c:order val="1"/>
          <c:tx>
            <c:strRef>
              <c:f>Sheet1!$C$1</c:f>
              <c:strCache>
                <c:ptCount val="1"/>
                <c:pt idx="0">
                  <c:v>Selection</c:v>
                </c:pt>
              </c:strCache>
            </c:strRef>
          </c:tx>
          <c:spPr>
            <a:solidFill>
              <a:srgbClr val="7FA600"/>
            </a:solidFill>
          </c:spPr>
          <c:cat>
            <c:strRef>
              <c:f>Sheet1!$A$2:$A$3</c:f>
              <c:strCache>
                <c:ptCount val="2"/>
                <c:pt idx="0">
                  <c:v>Public Equity</c:v>
                </c:pt>
                <c:pt idx="1">
                  <c:v>Alternatives</c:v>
                </c:pt>
              </c:strCache>
            </c:strRef>
          </c:cat>
          <c:val>
            <c:numRef>
              <c:f>Sheet1!$C$2:$C$3</c:f>
              <c:numCache>
                <c:formatCode>General</c:formatCode>
                <c:ptCount val="2"/>
                <c:pt idx="0">
                  <c:v>-0.55</c:v>
                </c:pt>
                <c:pt idx="1">
                  <c:v>-4.85</c:v>
                </c:pt>
              </c:numCache>
            </c:numRef>
          </c:val>
        </c:ser>
        <c:ser>
          <c:idx val="2"/>
          <c:order val="2"/>
          <c:tx>
            <c:strRef>
              <c:f>Sheet1!$D$1</c:f>
              <c:strCache>
                <c:ptCount val="1"/>
                <c:pt idx="0">
                  <c:v>Interaction</c:v>
                </c:pt>
              </c:strCache>
            </c:strRef>
          </c:tx>
          <c:spPr>
            <a:solidFill>
              <a:srgbClr val="F2A93B"/>
            </a:solidFill>
          </c:spPr>
          <c:cat>
            <c:strRef>
              <c:f>Sheet1!$A$2:$A$3</c:f>
              <c:strCache>
                <c:ptCount val="2"/>
                <c:pt idx="0">
                  <c:v>Public Equity</c:v>
                </c:pt>
                <c:pt idx="1">
                  <c:v>Alternatives</c:v>
                </c:pt>
              </c:strCache>
            </c:strRef>
          </c:cat>
          <c:val>
            <c:numRef>
              <c:f>Sheet1!$D$2:$D$3</c:f>
              <c:numCache>
                <c:formatCode>General</c:formatCode>
                <c:ptCount val="2"/>
                <c:pt idx="0">
                  <c:v>-0.05</c:v>
                </c:pt>
                <c:pt idx="1">
                  <c:v>-0.2</c:v>
                </c:pt>
              </c:numCache>
            </c:numRef>
          </c:val>
        </c:ser>
        <c:overlap val="100"/>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legend>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C6F432"/>
              </a:solidFill>
            </c:spPr>
          </c:dPt>
          <c:dPt>
            <c:idx val="3"/>
            <c:spPr>
              <a:solidFill>
                <a:srgbClr val="C6F432"/>
              </a:solidFill>
            </c:spPr>
          </c:dPt>
          <c:cat>
            <c:strRef>
              <c:f>Sheet1!$A$2:$A$5</c:f>
              <c:strCache>
                <c:ptCount val="4"/>
                <c:pt idx="0">
                  <c:v>Public Equity · portfolio</c:v>
                </c:pt>
                <c:pt idx="1">
                  <c:v>Public Equity · benchmark</c:v>
                </c:pt>
                <c:pt idx="2">
                  <c:v>Alternatives · portfolio</c:v>
                </c:pt>
                <c:pt idx="3">
                  <c:v>Alternatives · benchmark</c:v>
                </c:pt>
              </c:strCache>
            </c:strRef>
          </c:cat>
          <c:val>
            <c:numRef>
              <c:f>Sheet1!$B$2:$B$5</c:f>
              <c:numCache>
                <c:formatCode>General</c:formatCode>
                <c:ptCount val="4"/>
                <c:pt idx="0">
                  <c:v>60.0</c:v>
                </c:pt>
                <c:pt idx="1">
                  <c:v>55.0</c:v>
                </c:pt>
                <c:pt idx="2">
                  <c:v>40.0</c:v>
                </c:pt>
                <c:pt idx="3">
                  <c:v>45.0</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Allocation</c:v>
                </c:pt>
              </c:strCache>
            </c:strRef>
          </c:tx>
          <c:spPr>
            <a:ln w="22860">
              <a:solidFill>
                <a:srgbClr val="0D1117"/>
              </a:solidFill>
            </a:ln>
          </c:spPr>
          <c:cat>
            <c:strRef>
              <c:f>Sheet1!$A$2:$A$4</c:f>
              <c:strCache>
                <c:ptCount val="3"/>
                <c:pt idx="0">
                  <c:v>2025-10-31</c:v>
                </c:pt>
                <c:pt idx="1">
                  <c:v>2026-03-31</c:v>
                </c:pt>
                <c:pt idx="2">
                  <c:v>2026-09-30</c:v>
                </c:pt>
              </c:strCache>
            </c:strRef>
          </c:cat>
          <c:val>
            <c:numRef>
              <c:f>Sheet1!$B$2:$B$4</c:f>
              <c:numCache>
                <c:formatCode>General</c:formatCode>
                <c:ptCount val="3"/>
                <c:pt idx="0">
                  <c:v>-0.05</c:v>
                </c:pt>
                <c:pt idx="1">
                  <c:v>-0.22</c:v>
                </c:pt>
                <c:pt idx="2">
                  <c:v>-0.45</c:v>
                </c:pt>
              </c:numCache>
            </c:numRef>
          </c:val>
          <c:smooth val="0"/>
        </c:ser>
        <c:ser>
          <c:idx val="1"/>
          <c:order val="1"/>
          <c:tx>
            <c:strRef>
              <c:f>Sheet1!$C$1</c:f>
              <c:strCache>
                <c:ptCount val="1"/>
                <c:pt idx="0">
                  <c:v>Selection</c:v>
                </c:pt>
              </c:strCache>
            </c:strRef>
          </c:tx>
          <c:spPr>
            <a:ln w="22860">
              <a:solidFill>
                <a:srgbClr val="7FA600"/>
              </a:solidFill>
            </a:ln>
          </c:spPr>
          <c:cat>
            <c:strRef>
              <c:f>Sheet1!$A$2:$A$4</c:f>
              <c:strCache>
                <c:ptCount val="3"/>
                <c:pt idx="0">
                  <c:v>2025-10-31</c:v>
                </c:pt>
                <c:pt idx="1">
                  <c:v>2026-03-31</c:v>
                </c:pt>
                <c:pt idx="2">
                  <c:v>2026-09-30</c:v>
                </c:pt>
              </c:strCache>
            </c:strRef>
          </c:cat>
          <c:val>
            <c:numRef>
              <c:f>Sheet1!$C$2:$C$4</c:f>
              <c:numCache>
                <c:formatCode>General</c:formatCode>
                <c:ptCount val="3"/>
                <c:pt idx="0">
                  <c:v>-0.4</c:v>
                </c:pt>
                <c:pt idx="1">
                  <c:v>-2.75</c:v>
                </c:pt>
                <c:pt idx="2">
                  <c:v>-5.4</c:v>
                </c:pt>
              </c:numCache>
            </c:numRef>
          </c:val>
          <c:smooth val="0"/>
        </c:ser>
        <c:ser>
          <c:idx val="2"/>
          <c:order val="2"/>
          <c:tx>
            <c:strRef>
              <c:f>Sheet1!$D$1</c:f>
              <c:strCache>
                <c:ptCount val="1"/>
                <c:pt idx="0">
                  <c:v>Interaction</c:v>
                </c:pt>
              </c:strCache>
            </c:strRef>
          </c:tx>
          <c:spPr>
            <a:ln w="22860">
              <a:solidFill>
                <a:srgbClr val="F2A93B"/>
              </a:solidFill>
            </a:ln>
          </c:spPr>
          <c:cat>
            <c:strRef>
              <c:f>Sheet1!$A$2:$A$4</c:f>
              <c:strCache>
                <c:ptCount val="3"/>
                <c:pt idx="0">
                  <c:v>2025-10-31</c:v>
                </c:pt>
                <c:pt idx="1">
                  <c:v>2026-03-31</c:v>
                </c:pt>
                <c:pt idx="2">
                  <c:v>2026-09-30</c:v>
                </c:pt>
              </c:strCache>
            </c:strRef>
          </c:cat>
          <c:val>
            <c:numRef>
              <c:f>Sheet1!$D$2:$D$4</c:f>
              <c:numCache>
                <c:formatCode>General</c:formatCode>
                <c:ptCount val="3"/>
                <c:pt idx="0">
                  <c:v>-0.02</c:v>
                </c:pt>
                <c:pt idx="1">
                  <c:v>-0.11</c:v>
                </c:pt>
                <c:pt idx="2">
                  <c:v>-0.25</c:v>
                </c:pt>
              </c:numCache>
            </c:numRef>
          </c:val>
          <c:smooth val="0"/>
        </c:ser>
        <c:ser>
          <c:idx val="3"/>
          <c:order val="3"/>
          <c:tx>
            <c:strRef>
              <c:f>Sheet1!$E$1</c:f>
              <c:strCache>
                <c:ptCount val="1"/>
                <c:pt idx="0">
                  <c:v>Total</c:v>
                </c:pt>
              </c:strCache>
            </c:strRef>
          </c:tx>
          <c:spPr>
            <a:ln w="22860">
              <a:solidFill>
                <a:srgbClr val="5B8DEF"/>
              </a:solidFill>
            </a:ln>
          </c:spPr>
          <c:cat>
            <c:strRef>
              <c:f>Sheet1!$A$2:$A$4</c:f>
              <c:strCache>
                <c:ptCount val="3"/>
                <c:pt idx="0">
                  <c:v>2025-10-31</c:v>
                </c:pt>
                <c:pt idx="1">
                  <c:v>2026-03-31</c:v>
                </c:pt>
                <c:pt idx="2">
                  <c:v>2026-09-30</c:v>
                </c:pt>
              </c:strCache>
            </c:strRef>
          </c:cat>
          <c:val>
            <c:numRef>
              <c:f>Sheet1!$E$2:$E$4</c:f>
              <c:numCache>
                <c:formatCode>General</c:formatCode>
                <c:ptCount val="3"/>
                <c:pt idx="0">
                  <c:v>-0.47</c:v>
                </c:pt>
                <c:pt idx="1">
                  <c:v>-3.08</c:v>
                </c:pt>
                <c:pt idx="2">
                  <c:v>-6.1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700"/>
            </a:pPr>
          </a:p>
        </c:txPr>
        <c:crossAx val="2140495176"/>
        <c:crosses val="autoZero"/>
        <c:auto val="1"/>
        <c:lblAlgn val="ctr"/>
        <c:lblOffset val="100"/>
        <c:noMultiLvlLbl val="0"/>
      </c:catAx>
      <c:valAx>
        <c:axId val="2140495176"/>
        <c:scaling/>
        <c:delete val="0"/>
        <c:axPos val="l"/>
        <c:majorGridlines/>
        <c:numFmt formatCode="0.00&quot;pp&quot;" sourceLinked="0"/>
        <c:majorTickMark val="out"/>
        <c:minorTickMark val="none"/>
        <c:tickLblPos val="nextTo"/>
        <c:txPr>
          <a:bodyPr/>
          <a:lstStyle/>
          <a:p>
            <a:pPr>
              <a:defRPr sz="800"/>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Alternatives selection</c:v>
                </c:pt>
              </c:strCache>
            </c:strRef>
          </c:tx>
          <c:spPr>
            <a:ln w="22860">
              <a:solidFill>
                <a:srgbClr val="0D1117"/>
              </a:solidFill>
            </a:ln>
          </c:spPr>
          <c:cat>
            <c:strRef>
              <c:f>Sheet1!$A$2:$A$4</c:f>
              <c:strCache>
                <c:ptCount val="3"/>
                <c:pt idx="0">
                  <c:v>2025-10-31</c:v>
                </c:pt>
                <c:pt idx="1">
                  <c:v>2026-03-31</c:v>
                </c:pt>
                <c:pt idx="2">
                  <c:v>2026-09-30</c:v>
                </c:pt>
              </c:strCache>
            </c:strRef>
          </c:cat>
          <c:val>
            <c:numRef>
              <c:f>Sheet1!$B$2:$B$4</c:f>
              <c:numCache>
                <c:formatCode>General</c:formatCode>
                <c:ptCount val="3"/>
                <c:pt idx="0">
                  <c:v>-0.35</c:v>
                </c:pt>
                <c:pt idx="1">
                  <c:v>-2.4</c:v>
                </c:pt>
                <c:pt idx="2">
                  <c:v>-4.85</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700"/>
            </a:pPr>
          </a:p>
        </c:txPr>
        <c:crossAx val="2140495176"/>
        <c:crosses val="autoZero"/>
        <c:auto val="1"/>
        <c:lblAlgn val="ctr"/>
        <c:lblOffset val="100"/>
        <c:noMultiLvlLbl val="0"/>
      </c:catAx>
      <c:valAx>
        <c:axId val="2140495176"/>
        <c:scaling/>
        <c:delete val="0"/>
        <c:axPos val="l"/>
        <c:majorGridlines/>
        <c:numFmt formatCode="0.00&quot;pp&quot;" sourceLinked="0"/>
        <c:majorTickMark val="out"/>
        <c:minorTickMark val="none"/>
        <c:tickLblPos val="nextTo"/>
        <c:txPr>
          <a:bodyPr/>
          <a:lstStyle/>
          <a:p>
            <a:pPr>
              <a:defRPr sz="800"/>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Allocation</c:v>
                </c:pt>
              </c:strCache>
            </c:strRef>
          </c:tx>
          <c:spPr>
            <a:solidFill>
              <a:srgbClr val="0D1117"/>
            </a:solidFill>
          </c:spPr>
          <c:cat>
            <c:strRef>
              <c:f>Sheet1!$A$2:$A$3</c:f>
              <c:strCache>
                <c:ptCount val="2"/>
                <c:pt idx="0">
                  <c:v>Public Equity</c:v>
                </c:pt>
                <c:pt idx="1">
                  <c:v>Alternatives</c:v>
                </c:pt>
              </c:strCache>
            </c:strRef>
          </c:cat>
          <c:val>
            <c:numRef>
              <c:f>Sheet1!$B$2:$B$3</c:f>
              <c:numCache>
                <c:formatCode>General</c:formatCode>
                <c:ptCount val="2"/>
                <c:pt idx="0">
                  <c:v>0.15</c:v>
                </c:pt>
                <c:pt idx="1">
                  <c:v>0.13</c:v>
                </c:pt>
              </c:numCache>
            </c:numRef>
          </c:val>
        </c:ser>
        <c:ser>
          <c:idx val="1"/>
          <c:order val="1"/>
          <c:tx>
            <c:strRef>
              <c:f>Sheet1!$C$1</c:f>
              <c:strCache>
                <c:ptCount val="1"/>
                <c:pt idx="0">
                  <c:v>Selection</c:v>
                </c:pt>
              </c:strCache>
            </c:strRef>
          </c:tx>
          <c:spPr>
            <a:solidFill>
              <a:srgbClr val="7FA600"/>
            </a:solidFill>
          </c:spPr>
          <c:cat>
            <c:strRef>
              <c:f>Sheet1!$A$2:$A$3</c:f>
              <c:strCache>
                <c:ptCount val="2"/>
                <c:pt idx="0">
                  <c:v>Public Equity</c:v>
                </c:pt>
                <c:pt idx="1">
                  <c:v>Alternatives</c:v>
                </c:pt>
              </c:strCache>
            </c:strRef>
          </c:cat>
          <c:val>
            <c:numRef>
              <c:f>Sheet1!$C$2:$C$3</c:f>
              <c:numCache>
                <c:formatCode>General</c:formatCode>
                <c:ptCount val="2"/>
                <c:pt idx="0">
                  <c:v>0.2</c:v>
                </c:pt>
                <c:pt idx="1">
                  <c:v>1.05</c:v>
                </c:pt>
              </c:numCache>
            </c:numRef>
          </c:val>
        </c:ser>
        <c:ser>
          <c:idx val="2"/>
          <c:order val="2"/>
          <c:tx>
            <c:strRef>
              <c:f>Sheet1!$D$1</c:f>
              <c:strCache>
                <c:ptCount val="1"/>
                <c:pt idx="0">
                  <c:v>Interaction</c:v>
                </c:pt>
              </c:strCache>
            </c:strRef>
          </c:tx>
          <c:spPr>
            <a:solidFill>
              <a:srgbClr val="F2A93B"/>
            </a:solidFill>
          </c:spPr>
          <c:cat>
            <c:strRef>
              <c:f>Sheet1!$A$2:$A$3</c:f>
              <c:strCache>
                <c:ptCount val="2"/>
                <c:pt idx="0">
                  <c:v>Public Equity</c:v>
                </c:pt>
                <c:pt idx="1">
                  <c:v>Alternatives</c:v>
                </c:pt>
              </c:strCache>
            </c:strRef>
          </c:cat>
          <c:val>
            <c:numRef>
              <c:f>Sheet1!$D$2:$D$3</c:f>
              <c:numCache>
                <c:formatCode>General</c:formatCode>
                <c:ptCount val="2"/>
                <c:pt idx="0">
                  <c:v>0.05</c:v>
                </c:pt>
                <c:pt idx="1">
                  <c:v>0.1</c:v>
                </c:pt>
              </c:numCache>
            </c:numRef>
          </c:val>
        </c:ser>
        <c:overlap val="100"/>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crossAx val="-2068027336"/>
        <c:crosses val="autoZero"/>
      </c:valAx>
    </c:plotArea>
    <c:legend>
      <c:legendPos val="b"/>
    </c:legend>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C6F432"/>
              </a:solidFill>
            </c:spPr>
          </c:dPt>
          <c:dPt>
            <c:idx val="2"/>
            <c:spPr>
              <a:solidFill>
                <a:srgbClr val="C6F432"/>
              </a:solidFill>
            </c:spPr>
          </c:dPt>
          <c:dPt>
            <c:idx val="3"/>
            <c:spPr>
              <a:solidFill>
                <a:srgbClr val="C6F432"/>
              </a:solidFill>
            </c:spPr>
          </c:dPt>
          <c:cat>
            <c:strRef>
              <c:f>Sheet1!$A$2:$A$5</c:f>
              <c:strCache>
                <c:ptCount val="4"/>
                <c:pt idx="0">
                  <c:v>Public Equity · portfolio</c:v>
                </c:pt>
                <c:pt idx="1">
                  <c:v>Public Equity · benchmark</c:v>
                </c:pt>
                <c:pt idx="2">
                  <c:v>Alternatives · portfolio</c:v>
                </c:pt>
                <c:pt idx="3">
                  <c:v>Alternatives · benchmark</c:v>
                </c:pt>
              </c:strCache>
            </c:strRef>
          </c:cat>
          <c:val>
            <c:numRef>
              <c:f>Sheet1!$B$2:$B$5</c:f>
              <c:numCache>
                <c:formatCode>General</c:formatCode>
                <c:ptCount val="4"/>
                <c:pt idx="0">
                  <c:v>6.5</c:v>
                </c:pt>
                <c:pt idx="1">
                  <c:v>6.3</c:v>
                </c:pt>
                <c:pt idx="2">
                  <c:v>9.95</c:v>
                </c:pt>
                <c:pt idx="3">
                  <c:v>6.05</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FF6B5E"/>
              </a:solidFill>
            </c:spPr>
          </c:dPt>
          <c:dPt>
            <c:idx val="2"/>
            <c:spPr>
              <a:solidFill>
                <a:srgbClr val="C6F432"/>
              </a:solidFill>
            </c:spPr>
          </c:dPt>
          <c:cat>
            <c:strRef>
              <c:f>Sheet1!$A$2:$A$4</c:f>
              <c:strCache>
                <c:ptCount val="3"/>
                <c:pt idx="0">
                  <c:v>Allocation</c:v>
                </c:pt>
                <c:pt idx="1">
                  <c:v>Selection</c:v>
                </c:pt>
                <c:pt idx="2">
                  <c:v>Interaction</c:v>
                </c:pt>
              </c:strCache>
            </c:strRef>
          </c:cat>
          <c:val>
            <c:numRef>
              <c:f>Sheet1!$B$2:$B$4</c:f>
              <c:numCache>
                <c:formatCode>General</c:formatCode>
                <c:ptCount val="3"/>
                <c:pt idx="0">
                  <c:v>0.2</c:v>
                </c:pt>
                <c:pt idx="1">
                  <c:v>-0.8</c:v>
                </c:pt>
                <c:pt idx="2">
                  <c:v>0.0</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spPr>
            <a:solidFill>
              <a:srgbClr val="0D1117"/>
            </a:solidFill>
          </c:spPr>
          <c:dPt>
            <c:idx val="0"/>
            <c:spPr>
              <a:solidFill>
                <a:srgbClr val="C6F432"/>
              </a:solidFill>
            </c:spPr>
          </c:dPt>
          <c:dPt>
            <c:idx val="1"/>
            <c:spPr>
              <a:solidFill>
                <a:srgbClr val="FF6B5E"/>
              </a:solidFill>
            </c:spPr>
          </c:dPt>
          <c:dPt>
            <c:idx val="2"/>
            <c:spPr>
              <a:solidFill>
                <a:srgbClr val="C6F432"/>
              </a:solidFill>
            </c:spPr>
          </c:dPt>
          <c:cat>
            <c:strRef>
              <c:f>Sheet1!$A$2:$A$4</c:f>
              <c:strCache>
                <c:ptCount val="3"/>
                <c:pt idx="0">
                  <c:v>Allocation</c:v>
                </c:pt>
                <c:pt idx="1">
                  <c:v>Selection</c:v>
                </c:pt>
                <c:pt idx="2">
                  <c:v>Interaction</c:v>
                </c:pt>
              </c:strCache>
            </c:strRef>
          </c:cat>
          <c:val>
            <c:numRef>
              <c:f>Sheet1!$B$2:$B$4</c:f>
              <c:numCache>
                <c:formatCode>General</c:formatCode>
                <c:ptCount val="3"/>
                <c:pt idx="0">
                  <c:v>0.4</c:v>
                </c:pt>
                <c:pt idx="1">
                  <c:v>-0.1</c:v>
                </c:pt>
                <c:pt idx="2">
                  <c:v>0.05</c:v>
                </c:pt>
              </c:numCache>
            </c:numRef>
          </c:val>
        </c:ser>
        <c:dLbls>
          <c:txPr>
            <a:bodyPr/>
            <a:lstStyle/>
            <a:p>
              <a:pPr>
                <a:defRPr sz="800"/>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l"/>
        <c:majorTickMark val="out"/>
        <c:minorTickMark val="none"/>
        <c:tickLblPos val="nextTo"/>
        <c:txPr>
          <a:bodyPr/>
          <a:lstStyle/>
          <a:p>
            <a:pPr>
              <a:defRPr sz="800"/>
            </a:pPr>
          </a:p>
        </c:txPr>
        <c:crossAx val="-2113994440"/>
        <c:crosses val="autoZero"/>
        <c:auto val="1"/>
        <c:lblAlgn val="ctr"/>
        <c:lblOffset val="100"/>
        <c:noMultiLvlLbl val="0"/>
      </c:catAx>
      <c:valAx>
        <c:axId val="-2113994440"/>
        <c:scaling/>
        <c:delete val="0"/>
        <c:axPos val="b"/>
        <c:majorGridlines/>
        <c:majorTickMark val="out"/>
        <c:minorTickMark val="none"/>
        <c:tickLblPos val="nextTo"/>
        <c:txPr>
          <a:bodyPr/>
          <a:lstStyle/>
          <a:p>
            <a:pPr>
              <a:defRPr sz="8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Selection leads detractors</a:t>
            </a:r>
          </a:p>
          <a:p>
            <a:r>
              <a:t>Observation: Returned selection is the -5.40pp dominant realized shortfall and Alternatives contributes -4.85pp [S2]. Why it matters: Selection drives the returned bridge from +2.75% benchmark return to -3.35% portfolio return. Uncertainty: The evidence covers one linked window. What would change the view: A later historical result with a different returned selection effect.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Selection leads expectations</a:t>
            </a:r>
          </a:p>
          <a:p>
            <a:r>
              <a:t>Observation: Returned selection is the +1.25pp dominant expected gain and Alternatives contributes +1.05pp [S3]. Why it matters: Selection drives the returned bridge from 6.20% expected benchmark return to 7.88% expected portfolio return. Uncertainty: Inputs are governed assumptions. What would change the view: A refreshed ex ante result with a different returned selection effect.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Simulation unavailable</a:t>
            </a:r>
          </a:p>
          <a:p>
            <a:r>
              <a:t>Observation: Simulation is planned per the capability source [S1]. Why it matters: Scenario effects cannot be assessed. Uncertainty: Capability readiness may change. What would change the view: A capability response marking the exact simulation tool available.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Analysis — Comparison unavailable</a:t>
            </a:r>
          </a:p>
          <a:p>
            <a:r>
              <a:t>Observation: Comparison is planned per get_gradient_capabilities [S1]. Why it matters: No persistence claim is supported. Uncertainty: Planned capability timing is not returned. What would change the view: A governed comparison result.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Cover">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Section divider">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xhibit">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up">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Appendix">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 Id="rId3" Type="http://schemas.openxmlformats.org/officeDocument/2006/relationships/chart" Target="../charts/char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Oval 2"/>
          <p:cNvSpPr/>
          <p:nvPr/>
        </p:nvSpPr>
        <p:spPr>
          <a:xfrm>
            <a:off x="9372600" y="164592"/>
            <a:ext cx="2514600" cy="2514600"/>
          </a:xfrm>
          <a:prstGeom prst="ellipse">
            <a:avLst/>
          </a:prstGeom>
          <a:solidFill>
            <a:srgbClr val="161C24"/>
          </a:solidFill>
          <a:ln>
            <a:solidFill>
              <a:srgbClr val="161C24"/>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4" name="TextBox 3"/>
          <p:cNvSpPr txBox="1"/>
          <p:nvPr/>
        </p:nvSpPr>
        <p:spPr>
          <a:xfrm>
            <a:off x="685800" y="457200"/>
            <a:ext cx="4754880" cy="320040"/>
          </a:xfrm>
          <a:prstGeom prst="rect">
            <a:avLst/>
          </a:prstGeom>
          <a:noFill/>
        </p:spPr>
        <p:txBody>
          <a:bodyPr wrap="none" lIns="9144" rIns="9144" tIns="9144" bIns="9144" anchor="t">
            <a:spAutoFit/>
          </a:bodyPr>
          <a:lstStyle/>
          <a:p>
            <a:pPr algn="l">
              <a:spcAft>
                <a:spcPts val="0"/>
              </a:spcAft>
              <a:defRPr sz="1200" b="1">
                <a:solidFill>
                  <a:srgbClr val="FFFFFF"/>
                </a:solidFill>
                <a:latin typeface="Inter"/>
              </a:defRPr>
            </a:pPr>
            <a:r>
              <a:rPr>
                <a:latin typeface="Inter"/>
              </a:rPr>
              <a:t>GradientCIO</a:t>
            </a:r>
          </a:p>
        </p:txBody>
      </p:sp>
      <p:sp>
        <p:nvSpPr>
          <p:cNvPr id="5" name="TextBox 4"/>
          <p:cNvSpPr txBox="1"/>
          <p:nvPr/>
        </p:nvSpPr>
        <p:spPr>
          <a:xfrm>
            <a:off x="685800" y="1828800"/>
            <a:ext cx="9966960" cy="274320"/>
          </a:xfrm>
          <a:prstGeom prst="rect">
            <a:avLst/>
          </a:prstGeom>
          <a:noFill/>
        </p:spPr>
        <p:txBody>
          <a:bodyPr wrap="none" lIns="9144" rIns="9144" tIns="9144" bIns="9144" anchor="t">
            <a:spAutoFit/>
          </a:bodyPr>
          <a:lstStyle/>
          <a:p>
            <a:pPr algn="l">
              <a:spcAft>
                <a:spcPts val="0"/>
              </a:spcAft>
              <a:defRPr sz="900" b="1">
                <a:solidFill>
                  <a:srgbClr val="C6F432"/>
                </a:solidFill>
                <a:latin typeface="Inter"/>
              </a:defRPr>
            </a:pPr>
            <a:r>
              <a:rPr>
                <a:latin typeface="Inter"/>
              </a:rPr>
              <a:t>PORTFOLIO ATTRIBUTION COMPARISON</a:t>
            </a:r>
          </a:p>
        </p:txBody>
      </p:sp>
      <p:sp>
        <p:nvSpPr>
          <p:cNvPr id="6" name="TextBox 5"/>
          <p:cNvSpPr txBox="1"/>
          <p:nvPr/>
        </p:nvSpPr>
        <p:spPr>
          <a:xfrm>
            <a:off x="685800" y="2176272"/>
            <a:ext cx="9966960" cy="1234440"/>
          </a:xfrm>
          <a:prstGeom prst="rect">
            <a:avLst/>
          </a:prstGeom>
          <a:noFill/>
        </p:spPr>
        <p:txBody>
          <a:bodyPr wrap="none" lIns="9144" rIns="9144" tIns="9144" bIns="9144" anchor="t">
            <a:spAutoFit/>
          </a:bodyPr>
          <a:lstStyle/>
          <a:p>
            <a:pPr algn="l">
              <a:spcAft>
                <a:spcPts val="0"/>
              </a:spcAft>
              <a:defRPr sz="3400" b="1">
                <a:solidFill>
                  <a:srgbClr val="FFFFFF"/>
                </a:solidFill>
                <a:latin typeface="Inter"/>
              </a:defRPr>
            </a:pPr>
            <a:r>
              <a:rPr>
                <a:latin typeface="Inter"/>
              </a:rPr>
              <a:t>Total Plan - Demo Portfolio (Illustrative, Gradient Maintained) Attribution Comparison</a:t>
            </a:r>
          </a:p>
        </p:txBody>
      </p:sp>
      <p:sp>
        <p:nvSpPr>
          <p:cNvPr id="7" name="TextBox 6"/>
          <p:cNvSpPr txBox="1"/>
          <p:nvPr/>
        </p:nvSpPr>
        <p:spPr>
          <a:xfrm>
            <a:off x="685800" y="3456432"/>
            <a:ext cx="9692640" cy="640080"/>
          </a:xfrm>
          <a:prstGeom prst="rect">
            <a:avLst/>
          </a:prstGeom>
          <a:noFill/>
        </p:spPr>
        <p:txBody>
          <a:bodyPr wrap="none" lIns="9144" rIns="9144" tIns="9144" bIns="9144" anchor="t">
            <a:spAutoFit/>
          </a:bodyPr>
          <a:lstStyle/>
          <a:p>
            <a:pPr algn="l">
              <a:spcAft>
                <a:spcPts val="0"/>
              </a:spcAft>
              <a:defRPr sz="1500" b="0">
                <a:solidFill>
                  <a:srgbClr val="9AA5B1"/>
                </a:solidFill>
                <a:latin typeface="Inter"/>
              </a:defRPr>
            </a:pPr>
            <a:r>
              <a:rPr>
                <a:latin typeface="Inter"/>
              </a:rPr>
              <a:t>Historical and ex ante lanes · planned capabilities unavailable</a:t>
            </a:r>
          </a:p>
        </p:txBody>
      </p:sp>
      <p:sp>
        <p:nvSpPr>
          <p:cNvPr id="8" name="Rectangle 7"/>
          <p:cNvSpPr/>
          <p:nvPr/>
        </p:nvSpPr>
        <p:spPr>
          <a:xfrm>
            <a:off x="685800" y="4251960"/>
            <a:ext cx="1005840" cy="54864"/>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TextBox 8"/>
          <p:cNvSpPr txBox="1"/>
          <p:nvPr/>
        </p:nvSpPr>
        <p:spPr>
          <a:xfrm>
            <a:off x="685800" y="4572000"/>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PORTFOLIO</a:t>
            </a:r>
          </a:p>
        </p:txBody>
      </p:sp>
      <p:sp>
        <p:nvSpPr>
          <p:cNvPr id="10" name="TextBox 9"/>
          <p:cNvSpPr txBox="1"/>
          <p:nvPr/>
        </p:nvSpPr>
        <p:spPr>
          <a:xfrm>
            <a:off x="685800" y="4773168"/>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Total Plan - Demo Portfolio (Illustrative, Gradient Maintained)</a:t>
            </a:r>
          </a:p>
        </p:txBody>
      </p:sp>
      <p:sp>
        <p:nvSpPr>
          <p:cNvPr id="11" name="TextBox 10"/>
          <p:cNvSpPr txBox="1"/>
          <p:nvPr/>
        </p:nvSpPr>
        <p:spPr>
          <a:xfrm>
            <a:off x="4160520" y="4572000"/>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BENCHMARK</a:t>
            </a:r>
          </a:p>
        </p:txBody>
      </p:sp>
      <p:sp>
        <p:nvSpPr>
          <p:cNvPr id="12" name="TextBox 11"/>
          <p:cNvSpPr txBox="1"/>
          <p:nvPr/>
        </p:nvSpPr>
        <p:spPr>
          <a:xfrm>
            <a:off x="4160520" y="4773168"/>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Policy benchmark</a:t>
            </a:r>
          </a:p>
        </p:txBody>
      </p:sp>
      <p:sp>
        <p:nvSpPr>
          <p:cNvPr id="13" name="TextBox 12"/>
          <p:cNvSpPr txBox="1"/>
          <p:nvPr/>
        </p:nvSpPr>
        <p:spPr>
          <a:xfrm>
            <a:off x="7635240" y="4572000"/>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COHORT</a:t>
            </a:r>
          </a:p>
        </p:txBody>
      </p:sp>
      <p:sp>
        <p:nvSpPr>
          <p:cNvPr id="14" name="TextBox 13"/>
          <p:cNvSpPr txBox="1"/>
          <p:nvPr/>
        </p:nvSpPr>
        <p:spPr>
          <a:xfrm>
            <a:off x="7635240" y="4773168"/>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Root cohort</a:t>
            </a:r>
          </a:p>
        </p:txBody>
      </p:sp>
      <p:sp>
        <p:nvSpPr>
          <p:cNvPr id="15" name="TextBox 14"/>
          <p:cNvSpPr txBox="1"/>
          <p:nvPr/>
        </p:nvSpPr>
        <p:spPr>
          <a:xfrm>
            <a:off x="685800" y="5230368"/>
            <a:ext cx="3063240" cy="182880"/>
          </a:xfrm>
          <a:prstGeom prst="rect">
            <a:avLst/>
          </a:prstGeom>
          <a:noFill/>
        </p:spPr>
        <p:txBody>
          <a:bodyPr wrap="none" lIns="9144" rIns="9144" tIns="9144" bIns="9144" anchor="t">
            <a:spAutoFit/>
          </a:bodyPr>
          <a:lstStyle/>
          <a:p>
            <a:pPr algn="l">
              <a:spcAft>
                <a:spcPts val="0"/>
              </a:spcAft>
              <a:defRPr sz="700" b="1">
                <a:solidFill>
                  <a:srgbClr val="8A94A1"/>
                </a:solidFill>
                <a:latin typeface="Inter"/>
              </a:defRPr>
            </a:pPr>
            <a:r>
              <a:rPr>
                <a:latin typeface="Inter"/>
              </a:rPr>
              <a:t>MODE</a:t>
            </a:r>
          </a:p>
        </p:txBody>
      </p:sp>
      <p:sp>
        <p:nvSpPr>
          <p:cNvPr id="16" name="TextBox 15"/>
          <p:cNvSpPr txBox="1"/>
          <p:nvPr/>
        </p:nvSpPr>
        <p:spPr>
          <a:xfrm>
            <a:off x="685800" y="5431536"/>
            <a:ext cx="3063240" cy="320040"/>
          </a:xfrm>
          <a:prstGeom prst="rect">
            <a:avLst/>
          </a:prstGeom>
          <a:noFill/>
        </p:spPr>
        <p:txBody>
          <a:bodyPr wrap="none" lIns="9144" rIns="9144" tIns="9144" bIns="9144" anchor="t">
            <a:spAutoFit/>
          </a:bodyPr>
          <a:lstStyle/>
          <a:p>
            <a:pPr algn="l">
              <a:spcAft>
                <a:spcPts val="0"/>
              </a:spcAft>
              <a:defRPr sz="1000" b="1">
                <a:solidFill>
                  <a:srgbClr val="FFFFFF"/>
                </a:solidFill>
                <a:latin typeface="Inter"/>
              </a:defRPr>
            </a:pPr>
            <a:r>
              <a:rPr>
                <a:latin typeface="Inter"/>
              </a:rPr>
              <a:t>Fallback</a:t>
            </a:r>
          </a:p>
        </p:txBody>
      </p:sp>
      <p:sp>
        <p:nvSpPr>
          <p:cNvPr id="17" name="Rectangle 16"/>
          <p:cNvSpPr/>
          <p:nvPr/>
        </p:nvSpPr>
        <p:spPr>
          <a:xfrm>
            <a:off x="685800" y="5833872"/>
            <a:ext cx="3063240" cy="384048"/>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822960" y="5934456"/>
            <a:ext cx="2788920" cy="164592"/>
          </a:xfrm>
          <a:prstGeom prst="rect">
            <a:avLst/>
          </a:prstGeom>
          <a:noFill/>
        </p:spPr>
        <p:txBody>
          <a:bodyPr wrap="none" lIns="9144" rIns="9144" tIns="9144" bIns="9144" anchor="t">
            <a:spAutoFit/>
          </a:bodyPr>
          <a:lstStyle/>
          <a:p>
            <a:pPr algn="l">
              <a:spcAft>
                <a:spcPts val="0"/>
              </a:spcAft>
              <a:defRPr sz="800" b="1">
                <a:solidFill>
                  <a:srgbClr val="0D1117"/>
                </a:solidFill>
                <a:latin typeface="Inter"/>
              </a:defRPr>
            </a:pPr>
            <a:r>
              <a:rPr>
                <a:latin typeface="Inter"/>
              </a:rPr>
              <a:t>Two governed lanes available</a:t>
            </a:r>
          </a:p>
        </p:txBody>
      </p:sp>
      <p:sp>
        <p:nvSpPr>
          <p:cNvPr id="19" name="TextBox 18"/>
          <p:cNvSpPr txBox="1"/>
          <p:nvPr/>
        </p:nvSpPr>
        <p:spPr>
          <a:xfrm>
            <a:off x="3977639" y="5824728"/>
            <a:ext cx="3108960" cy="164592"/>
          </a:xfrm>
          <a:prstGeom prst="rect">
            <a:avLst/>
          </a:prstGeom>
          <a:noFill/>
        </p:spPr>
        <p:txBody>
          <a:bodyPr wrap="none" lIns="9144" rIns="9144" tIns="9144" bIns="9144" anchor="t">
            <a:spAutoFit/>
          </a:bodyPr>
          <a:lstStyle/>
          <a:p>
            <a:pPr algn="l">
              <a:spcAft>
                <a:spcPts val="0"/>
              </a:spcAft>
              <a:defRPr sz="650" b="1">
                <a:solidFill>
                  <a:srgbClr val="8A94A1"/>
                </a:solidFill>
                <a:latin typeface="Inter"/>
              </a:defRPr>
            </a:pPr>
            <a:r>
              <a:rPr>
                <a:latin typeface="Inter"/>
              </a:rPr>
              <a:t>EVIDENCE COMPLETENESS</a:t>
            </a:r>
          </a:p>
        </p:txBody>
      </p:sp>
      <p:sp>
        <p:nvSpPr>
          <p:cNvPr id="20" name="TextBox 19"/>
          <p:cNvSpPr txBox="1"/>
          <p:nvPr/>
        </p:nvSpPr>
        <p:spPr>
          <a:xfrm>
            <a:off x="3977639" y="5998464"/>
            <a:ext cx="3108960" cy="201168"/>
          </a:xfrm>
          <a:prstGeom prst="rect">
            <a:avLst/>
          </a:prstGeom>
          <a:noFill/>
        </p:spPr>
        <p:txBody>
          <a:bodyPr wrap="none" lIns="9144" rIns="9144" tIns="9144" bIns="9144" anchor="t">
            <a:spAutoFit/>
          </a:bodyPr>
          <a:lstStyle/>
          <a:p>
            <a:pPr algn="l">
              <a:spcAft>
                <a:spcPts val="0"/>
              </a:spcAft>
              <a:defRPr sz="800" b="1">
                <a:solidFill>
                  <a:srgbClr val="FFFFFF"/>
                </a:solidFill>
                <a:latin typeface="Inter"/>
              </a:defRPr>
            </a:pPr>
            <a:r>
              <a:rPr>
                <a:latin typeface="Inter"/>
              </a:rPr>
              <a:t>2 of 4 · Partial</a:t>
            </a:r>
          </a:p>
        </p:txBody>
      </p:sp>
      <p:sp>
        <p:nvSpPr>
          <p:cNvPr id="21" name="TextBox 20"/>
          <p:cNvSpPr txBox="1"/>
          <p:nvPr/>
        </p:nvSpPr>
        <p:spPr>
          <a:xfrm>
            <a:off x="685800" y="6473952"/>
            <a:ext cx="8046720" cy="182880"/>
          </a:xfrm>
          <a:prstGeom prst="rect">
            <a:avLst/>
          </a:prstGeom>
          <a:noFill/>
        </p:spPr>
        <p:txBody>
          <a:bodyPr wrap="none" lIns="9144" rIns="9144" tIns="9144" bIns="9144" anchor="t">
            <a:spAutoFit/>
          </a:bodyPr>
          <a:lstStyle/>
          <a:p>
            <a:pPr algn="l">
              <a:spcAft>
                <a:spcPts val="0"/>
              </a:spcAft>
              <a:defRPr sz="700" b="0">
                <a:solidFill>
                  <a:srgbClr val="8A94A1"/>
                </a:solidFill>
                <a:latin typeface="Inter"/>
              </a:defRPr>
            </a:pPr>
            <a:r>
              <a:rPr>
                <a:latin typeface="Inter"/>
              </a:rPr>
              <a:t>Confidential — prepared for internal investment use</a:t>
            </a:r>
          </a:p>
        </p:txBody>
      </p:sp>
      <p:sp>
        <p:nvSpPr>
          <p:cNvPr id="22" name="TextBox 21"/>
          <p:cNvSpPr txBox="1"/>
          <p:nvPr/>
        </p:nvSpPr>
        <p:spPr>
          <a:xfrm>
            <a:off x="8778240" y="6473952"/>
            <a:ext cx="2743200" cy="182880"/>
          </a:xfrm>
          <a:prstGeom prst="rect">
            <a:avLst/>
          </a:prstGeom>
          <a:noFill/>
        </p:spPr>
        <p:txBody>
          <a:bodyPr wrap="none" lIns="9144" rIns="9144" tIns="9144" bIns="9144" anchor="t">
            <a:spAutoFit/>
          </a:bodyPr>
          <a:lstStyle/>
          <a:p>
            <a:pPr algn="r">
              <a:spcAft>
                <a:spcPts val="0"/>
              </a:spcAft>
              <a:defRPr sz="700" b="0">
                <a:solidFill>
                  <a:srgbClr val="8A94A1"/>
                </a:solidFill>
                <a:latin typeface="Inter"/>
              </a:defRPr>
            </a:pPr>
            <a:r>
              <a:rPr>
                <a:latin typeface="Inter"/>
              </a:rPr>
              <a:t>GradientCIO.com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GOVERNED LANES ARE AVAILABLE WITHOUT SERVER COMPARISON METRICS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8" name="Rectangle 7"/>
          <p:cNvSpPr/>
          <p:nvPr/>
        </p:nvSpPr>
        <p:spPr>
          <a:xfrm>
            <a:off x="640080" y="1325880"/>
            <a:ext cx="10908792" cy="131160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131160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Bottom line</a:t>
            </a:r>
          </a:p>
        </p:txBody>
      </p:sp>
      <p:sp>
        <p:nvSpPr>
          <p:cNvPr id="11" name="TextBox 10"/>
          <p:cNvSpPr txBox="1"/>
          <p:nvPr/>
        </p:nvSpPr>
        <p:spPr>
          <a:xfrm>
            <a:off x="804671" y="1719072"/>
            <a:ext cx="10616184" cy="82697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Realized shortfall comes from selection; expected gain comes from selection; Alternatives drives both [S2][S3].</a:t>
            </a:r>
          </a:p>
        </p:txBody>
      </p:sp>
      <p:sp>
        <p:nvSpPr>
          <p:cNvPr id="12" name="Rectangle 11"/>
          <p:cNvSpPr/>
          <p:nvPr/>
        </p:nvSpPr>
        <p:spPr>
          <a:xfrm>
            <a:off x="640080" y="2747210"/>
            <a:ext cx="2644902" cy="20493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Rectangle 12"/>
          <p:cNvSpPr/>
          <p:nvPr/>
        </p:nvSpPr>
        <p:spPr>
          <a:xfrm>
            <a:off x="640080" y="274721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749808" y="287522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HISTORICAL LANE</a:t>
            </a:r>
          </a:p>
        </p:txBody>
      </p:sp>
      <p:sp>
        <p:nvSpPr>
          <p:cNvPr id="15" name="TextBox 14"/>
          <p:cNvSpPr txBox="1"/>
          <p:nvPr/>
        </p:nvSpPr>
        <p:spPr>
          <a:xfrm>
            <a:off x="749808" y="3131258"/>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Available</a:t>
            </a:r>
          </a:p>
        </p:txBody>
      </p:sp>
      <p:sp>
        <p:nvSpPr>
          <p:cNvPr id="16" name="TextBox 15"/>
          <p:cNvSpPr txBox="1"/>
          <p:nvPr/>
        </p:nvSpPr>
        <p:spPr>
          <a:xfrm>
            <a:off x="749808" y="4467405"/>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Realized 12 months · 2025-10-31 to 2026-09-30 [S2]</a:t>
            </a:r>
          </a:p>
        </p:txBody>
      </p:sp>
      <p:sp>
        <p:nvSpPr>
          <p:cNvPr id="17" name="Rectangle 16"/>
          <p:cNvSpPr/>
          <p:nvPr/>
        </p:nvSpPr>
        <p:spPr>
          <a:xfrm>
            <a:off x="3394710" y="2747210"/>
            <a:ext cx="2644902" cy="20493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Rectangle 17"/>
          <p:cNvSpPr/>
          <p:nvPr/>
        </p:nvSpPr>
        <p:spPr>
          <a:xfrm>
            <a:off x="3394710" y="274721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9" name="TextBox 18"/>
          <p:cNvSpPr txBox="1"/>
          <p:nvPr/>
        </p:nvSpPr>
        <p:spPr>
          <a:xfrm>
            <a:off x="3504438" y="287522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EX ANTE LANE</a:t>
            </a:r>
          </a:p>
        </p:txBody>
      </p:sp>
      <p:sp>
        <p:nvSpPr>
          <p:cNvPr id="20" name="TextBox 19"/>
          <p:cNvSpPr txBox="1"/>
          <p:nvPr/>
        </p:nvSpPr>
        <p:spPr>
          <a:xfrm>
            <a:off x="3504438" y="3131258"/>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Available</a:t>
            </a:r>
          </a:p>
        </p:txBody>
      </p:sp>
      <p:sp>
        <p:nvSpPr>
          <p:cNvPr id="21" name="TextBox 20"/>
          <p:cNvSpPr txBox="1"/>
          <p:nvPr/>
        </p:nvSpPr>
        <p:spPr>
          <a:xfrm>
            <a:off x="3504438" y="4467405"/>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1-year expected [S3]</a:t>
            </a:r>
          </a:p>
        </p:txBody>
      </p:sp>
      <p:sp>
        <p:nvSpPr>
          <p:cNvPr id="22" name="Rectangle 21"/>
          <p:cNvSpPr/>
          <p:nvPr/>
        </p:nvSpPr>
        <p:spPr>
          <a:xfrm>
            <a:off x="6149340" y="2747210"/>
            <a:ext cx="2644902" cy="20493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3" name="Rectangle 22"/>
          <p:cNvSpPr/>
          <p:nvPr/>
        </p:nvSpPr>
        <p:spPr>
          <a:xfrm>
            <a:off x="6149340" y="274721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4" name="TextBox 23"/>
          <p:cNvSpPr txBox="1"/>
          <p:nvPr/>
        </p:nvSpPr>
        <p:spPr>
          <a:xfrm>
            <a:off x="6259068" y="287522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SIMULATED LANE</a:t>
            </a:r>
          </a:p>
        </p:txBody>
      </p:sp>
      <p:sp>
        <p:nvSpPr>
          <p:cNvPr id="25" name="TextBox 24"/>
          <p:cNvSpPr txBox="1"/>
          <p:nvPr/>
        </p:nvSpPr>
        <p:spPr>
          <a:xfrm>
            <a:off x="6259068" y="3131258"/>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Unavailable</a:t>
            </a:r>
          </a:p>
        </p:txBody>
      </p:sp>
      <p:sp>
        <p:nvSpPr>
          <p:cNvPr id="26" name="TextBox 25"/>
          <p:cNvSpPr txBox="1"/>
          <p:nvPr/>
        </p:nvSpPr>
        <p:spPr>
          <a:xfrm>
            <a:off x="6259068" y="4467405"/>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Not available — planned per get_gradient_capabilities [S1]</a:t>
            </a:r>
          </a:p>
        </p:txBody>
      </p:sp>
      <p:sp>
        <p:nvSpPr>
          <p:cNvPr id="27" name="Rectangle 26"/>
          <p:cNvSpPr/>
          <p:nvPr/>
        </p:nvSpPr>
        <p:spPr>
          <a:xfrm>
            <a:off x="8903970" y="2747210"/>
            <a:ext cx="2644902" cy="2049378"/>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8" name="Rectangle 27"/>
          <p:cNvSpPr/>
          <p:nvPr/>
        </p:nvSpPr>
        <p:spPr>
          <a:xfrm>
            <a:off x="8903970" y="2747210"/>
            <a:ext cx="2644902" cy="45720"/>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9" name="TextBox 28"/>
          <p:cNvSpPr txBox="1"/>
          <p:nvPr/>
        </p:nvSpPr>
        <p:spPr>
          <a:xfrm>
            <a:off x="9013698" y="2875226"/>
            <a:ext cx="2425446" cy="201168"/>
          </a:xfrm>
          <a:prstGeom prst="rect">
            <a:avLst/>
          </a:prstGeom>
          <a:noFill/>
        </p:spPr>
        <p:txBody>
          <a:bodyPr wrap="none" lIns="9144" rIns="9144" tIns="9144" bIns="9144" anchor="t">
            <a:spAutoFit/>
          </a:bodyPr>
          <a:lstStyle/>
          <a:p>
            <a:pPr algn="l">
              <a:spcAft>
                <a:spcPts val="0"/>
              </a:spcAft>
              <a:defRPr sz="650" b="1">
                <a:solidFill>
                  <a:srgbClr val="4A5563"/>
                </a:solidFill>
                <a:latin typeface="Inter"/>
              </a:defRPr>
            </a:pPr>
            <a:r>
              <a:rPr>
                <a:latin typeface="Inter"/>
              </a:rPr>
              <a:t>COMPARISON COVERAGE</a:t>
            </a:r>
          </a:p>
        </p:txBody>
      </p:sp>
      <p:sp>
        <p:nvSpPr>
          <p:cNvPr id="30" name="TextBox 29"/>
          <p:cNvSpPr txBox="1"/>
          <p:nvPr/>
        </p:nvSpPr>
        <p:spPr>
          <a:xfrm>
            <a:off x="9013698" y="3131258"/>
            <a:ext cx="2425446" cy="475488"/>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Fallback</a:t>
            </a:r>
          </a:p>
        </p:txBody>
      </p:sp>
      <p:sp>
        <p:nvSpPr>
          <p:cNvPr id="31" name="TextBox 30"/>
          <p:cNvSpPr txBox="1"/>
          <p:nvPr/>
        </p:nvSpPr>
        <p:spPr>
          <a:xfrm>
            <a:off x="9013698" y="4467405"/>
            <a:ext cx="2425446" cy="228600"/>
          </a:xfrm>
          <a:prstGeom prst="rect">
            <a:avLst/>
          </a:prstGeom>
          <a:noFill/>
        </p:spPr>
        <p:txBody>
          <a:bodyPr wrap="none" lIns="9144" rIns="9144" tIns="9144" bIns="9144" anchor="t">
            <a:spAutoFit/>
          </a:bodyPr>
          <a:lstStyle/>
          <a:p>
            <a:pPr algn="l">
              <a:spcAft>
                <a:spcPts val="0"/>
              </a:spcAft>
              <a:defRPr sz="700" b="0">
                <a:solidFill>
                  <a:srgbClr val="4A5563"/>
                </a:solidFill>
                <a:latin typeface="Inter"/>
              </a:defRPr>
            </a:pPr>
            <a:r>
              <a:rPr>
                <a:latin typeface="Inter"/>
              </a:rPr>
              <a:t>Not available — planned per get_gradient_capabilities [S1]</a:t>
            </a:r>
          </a:p>
        </p:txBody>
      </p:sp>
      <p:sp>
        <p:nvSpPr>
          <p:cNvPr id="32" name="Rectangle 31"/>
          <p:cNvSpPr/>
          <p:nvPr/>
        </p:nvSpPr>
        <p:spPr>
          <a:xfrm>
            <a:off x="640080" y="4979469"/>
            <a:ext cx="73152" cy="1165298"/>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3" name="TextBox 32"/>
          <p:cNvSpPr txBox="1"/>
          <p:nvPr/>
        </p:nvSpPr>
        <p:spPr>
          <a:xfrm>
            <a:off x="896112" y="4952037"/>
            <a:ext cx="10588752" cy="760729"/>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Realized shortfall from selection; expected gain from selection; Alternatives drives both [S2][S3].</a:t>
            </a:r>
          </a:p>
        </p:txBody>
      </p:sp>
      <p:sp>
        <p:nvSpPr>
          <p:cNvPr id="34" name="TextBox 33"/>
          <p:cNvSpPr txBox="1"/>
          <p:nvPr/>
        </p:nvSpPr>
        <p:spPr>
          <a:xfrm>
            <a:off x="896112" y="5693278"/>
            <a:ext cx="10588752" cy="393480"/>
          </a:xfrm>
          <a:prstGeom prst="rect">
            <a:avLst/>
          </a:prstGeom>
          <a:noFill/>
        </p:spPr>
        <p:txBody>
          <a:bodyPr wrap="none" lIns="9144" rIns="9144" tIns="9144" bIns="9144" anchor="t">
            <a:spAutoFit/>
          </a:bodyPr>
          <a:lstStyle/>
          <a:p>
            <a:pPr algn="l">
              <a:spcAft>
                <a:spcPts val="0"/>
              </a:spcAft>
              <a:defRPr sz="900" b="0">
                <a:solidFill>
                  <a:srgbClr val="4A5563"/>
                </a:solidFill>
                <a:latin typeface="Inter"/>
              </a:defRPr>
            </a:pPr>
            <a:r>
              <a:rPr>
                <a:latin typeface="Inter"/>
              </a:rPr>
              <a:t>Returned evidence only; no local subtraction or accumulation.</a:t>
            </a:r>
          </a:p>
        </p:txBody>
      </p:sp>
      <p:sp>
        <p:nvSpPr>
          <p:cNvPr id="35" name="Rectangle 34"/>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6" name="TextBox 35"/>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a:t>
            </a:r>
          </a:p>
        </p:txBody>
      </p:sp>
      <p:sp>
        <p:nvSpPr>
          <p:cNvPr id="37" name="TextBox 36"/>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38" name="TextBox 37"/>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GOVERNED LANES ARE AVAILABLE WITHOUT SERVER COMPARISON METRICS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REALIZED SUMMARY EFFECTS</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GOVERNED LANES ARE AVAILABLE WITHOUT SERVER COMPARISON METRICS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SUMMARY EFFECTS</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GOVERNED LANES ARE AVAILABLE WITHOUT SERVER COMPARISON METRICS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Executive Comparison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01</a:t>
            </a:r>
          </a:p>
        </p:txBody>
      </p:sp>
      <p:sp>
        <p:nvSpPr>
          <p:cNvPr id="8" name="Rectangle 7"/>
          <p:cNvSpPr/>
          <p:nvPr/>
        </p:nvSpPr>
        <p:spPr>
          <a:xfrm>
            <a:off x="640080" y="1325880"/>
            <a:ext cx="10908792" cy="177515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177515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Historical</a:t>
            </a:r>
          </a:p>
        </p:txBody>
      </p:sp>
      <p:sp>
        <p:nvSpPr>
          <p:cNvPr id="11" name="TextBox 10"/>
          <p:cNvSpPr txBox="1"/>
          <p:nvPr/>
        </p:nvSpPr>
        <p:spPr>
          <a:xfrm>
            <a:off x="804671" y="1719072"/>
            <a:ext cx="10616184" cy="129051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Selection is the dominant returned realized shortfall, driven by Alternatives [S2]. Why it matters: It bridges the +2.75% benchmark return to the -3.35% portfolio return. Uncertainty: One realized window may not persist. What would change the view: A later governed period with a different returned selection effect.</a:t>
            </a:r>
          </a:p>
        </p:txBody>
      </p:sp>
      <p:sp>
        <p:nvSpPr>
          <p:cNvPr id="12" name="Rectangle 11"/>
          <p:cNvSpPr/>
          <p:nvPr/>
        </p:nvSpPr>
        <p:spPr>
          <a:xfrm>
            <a:off x="640080" y="3210758"/>
            <a:ext cx="10908792" cy="177515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Rectangle 12"/>
          <p:cNvSpPr/>
          <p:nvPr/>
        </p:nvSpPr>
        <p:spPr>
          <a:xfrm>
            <a:off x="640080" y="3210758"/>
            <a:ext cx="54864" cy="177515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804671" y="3320486"/>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Ex ante</a:t>
            </a:r>
          </a:p>
        </p:txBody>
      </p:sp>
      <p:sp>
        <p:nvSpPr>
          <p:cNvPr id="15" name="TextBox 14"/>
          <p:cNvSpPr txBox="1"/>
          <p:nvPr/>
        </p:nvSpPr>
        <p:spPr>
          <a:xfrm>
            <a:off x="804671" y="3603950"/>
            <a:ext cx="10616184" cy="129051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Selection is the dominant returned expected gain, driven by Alternatives [S3]. Why it matters: It bridges the 6.20% expected benchmark return to the 7.88% expected portfolio return. Uncertainty: Inputs are governed assumptions. What would change the view: Refreshed inputs with a different returned selection effect.</a:t>
            </a:r>
          </a:p>
        </p:txBody>
      </p:sp>
      <p:sp>
        <p:nvSpPr>
          <p:cNvPr id="16" name="Rectangle 15"/>
          <p:cNvSpPr/>
          <p:nvPr/>
        </p:nvSpPr>
        <p:spPr>
          <a:xfrm>
            <a:off x="640080" y="5095636"/>
            <a:ext cx="10908792" cy="112228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7" name="Rectangle 16"/>
          <p:cNvSpPr/>
          <p:nvPr/>
        </p:nvSpPr>
        <p:spPr>
          <a:xfrm>
            <a:off x="640080" y="5095636"/>
            <a:ext cx="54864" cy="1122283"/>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804671" y="5205364"/>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Key judgment — Comparison</a:t>
            </a:r>
          </a:p>
        </p:txBody>
      </p:sp>
      <p:sp>
        <p:nvSpPr>
          <p:cNvPr id="19" name="TextBox 18"/>
          <p:cNvSpPr txBox="1"/>
          <p:nvPr/>
        </p:nvSpPr>
        <p:spPr>
          <a:xfrm>
            <a:off x="804671" y="5488828"/>
            <a:ext cx="10616184" cy="637651"/>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Comparison capability is unavailable [S1]. Why it matters: Persistence cannot be assessed. Uncertainty: A future tool may return metrics. What would change the view: Published capability.</a:t>
            </a:r>
          </a:p>
        </p:txBody>
      </p:sp>
      <p:sp>
        <p:nvSpPr>
          <p:cNvPr id="20" name="Rectangle 1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1" name="TextBox 2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a:t>
            </a:r>
          </a:p>
        </p:txBody>
      </p:sp>
      <p:sp>
        <p:nvSpPr>
          <p:cNvPr id="22" name="TextBox 2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23" name="TextBox 2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PORTFOLIO, BENCHMARK, COHORT AND CURRENCY IDENTIFIERS MATCH</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Scope and Compatibility</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02</a:t>
            </a:r>
          </a:p>
        </p:txBody>
      </p:sp>
      <p:sp>
        <p:nvSpPr>
          <p:cNvPr id="8" name="Rectangle 7"/>
          <p:cNvSpPr/>
          <p:nvPr/>
        </p:nvSpPr>
        <p:spPr>
          <a:xfrm>
            <a:off x="640080" y="1399032"/>
            <a:ext cx="73152" cy="1867301"/>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TextBox 8"/>
          <p:cNvSpPr txBox="1"/>
          <p:nvPr/>
        </p:nvSpPr>
        <p:spPr>
          <a:xfrm>
            <a:off x="896112" y="1371600"/>
            <a:ext cx="10588752" cy="1005840"/>
          </a:xfrm>
          <a:prstGeom prst="rect">
            <a:avLst/>
          </a:prstGeom>
          <a:noFill/>
        </p:spPr>
        <p:txBody>
          <a:bodyPr wrap="none" lIns="9144" rIns="9144" tIns="9144" bIns="9144" anchor="t">
            <a:spAutoFit/>
          </a:bodyPr>
          <a:lstStyle/>
          <a:p>
            <a:pPr algn="l">
              <a:spcAft>
                <a:spcPts val="0"/>
              </a:spcAft>
              <a:defRPr sz="1800" b="1">
                <a:solidFill>
                  <a:srgbClr val="0D1117"/>
                </a:solidFill>
                <a:latin typeface="Inter"/>
              </a:defRPr>
            </a:pPr>
            <a:r>
              <a:rPr>
                <a:latin typeface="Inter"/>
              </a:rPr>
              <a:t>Compatible for display-only fallback</a:t>
            </a:r>
          </a:p>
        </p:txBody>
      </p:sp>
      <p:sp>
        <p:nvSpPr>
          <p:cNvPr id="10" name="TextBox 9"/>
          <p:cNvSpPr txBox="1"/>
          <p:nvPr/>
        </p:nvSpPr>
        <p:spPr>
          <a:xfrm>
            <a:off x="896112" y="2423160"/>
            <a:ext cx="10588752" cy="604081"/>
          </a:xfrm>
          <a:prstGeom prst="rect">
            <a:avLst/>
          </a:prstGeom>
          <a:noFill/>
        </p:spPr>
        <p:txBody>
          <a:bodyPr wrap="none" lIns="9144" rIns="9144" tIns="9144" bIns="9144" anchor="t">
            <a:spAutoFit/>
          </a:bodyPr>
          <a:lstStyle/>
          <a:p>
            <a:pPr algn="l">
              <a:spcAft>
                <a:spcPts val="0"/>
              </a:spcAft>
              <a:defRPr sz="900" b="0">
                <a:solidFill>
                  <a:srgbClr val="4A5563"/>
                </a:solidFill>
                <a:latin typeface="Inter"/>
              </a:defRPr>
            </a:pPr>
            <a:r>
              <a:rPr>
                <a:latin typeface="Inter"/>
              </a:rPr>
              <a:t>Portfolio, benchmark role, parent cohort and calculation currency match [S2][S3].</a:t>
            </a:r>
          </a:p>
        </p:txBody>
      </p:sp>
      <p:graphicFrame>
        <p:nvGraphicFramePr>
          <p:cNvPr id="11" name="Table 10"/>
          <p:cNvGraphicFramePr>
            <a:graphicFrameLocks noGrp="1"/>
          </p:cNvGraphicFramePr>
          <p:nvPr/>
        </p:nvGraphicFramePr>
        <p:xfrm>
          <a:off x="640080" y="3449213"/>
          <a:ext cx="10908792" cy="2768706"/>
        </p:xfrm>
        <a:graphic>
          <a:graphicData uri="http://schemas.openxmlformats.org/drawingml/2006/table">
            <a:tbl>
              <a:tblPr firstRow="1" bandRow="1">
                <a:tableStyleId>{5C22544A-7EE6-4342-B048-85BDC9FD1C3A}</a:tableStyleId>
              </a:tblPr>
              <a:tblGrid>
                <a:gridCol w="2011680"/>
                <a:gridCol w="4448556"/>
                <a:gridCol w="4448556"/>
              </a:tblGrid>
              <a:tr h="1384353">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1384353">
                <a:tc>
                  <a:txBody>
                    <a:bodyPr/>
                    <a:lstStyle/>
                    <a:p>
                      <a:pPr>
                        <a:defRPr sz="800" b="1">
                          <a:solidFill>
                            <a:srgbClr val="0D1117"/>
                          </a:solidFill>
                          <a:latin typeface="Inter"/>
                        </a:defRPr>
                      </a:pPr>
                      <a:r>
                        <a:rPr>
                          <a:latin typeface="Inter"/>
                        </a:rPr>
                        <a:t>Compatibility gate</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Four identifiers match [S2][S3]</a:t>
                      </a:r>
                    </a:p>
                  </a:txBody>
                  <a:tcPr marL="54864" marR="54864" marT="27432" marB="27432" anchor="ctr">
                    <a:solidFill>
                      <a:srgbClr val="FFFFFF"/>
                    </a:solidFill>
                  </a:tcPr>
                </a:tc>
              </a:tr>
            </a:tbl>
          </a:graphicData>
        </a:graphic>
      </p:graphicFrame>
      <p:sp>
        <p:nvSpPr>
          <p:cNvPr id="12" name="Rectangle 11"/>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TextBox 12"/>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a:t>
            </a:r>
          </a:p>
        </p:txBody>
      </p:sp>
      <p:sp>
        <p:nvSpPr>
          <p:cNvPr id="14" name="TextBox 13"/>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5" name="TextBox 14"/>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HISTORICAL EFFECTS BY SEGMENT</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HISTORICAL PORTFOLIO AND BENCHMARK AVERAGE WEIGHTS</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CUMULATIVE LINKED EFFECTS</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CUMULATIVE ALTERNATIVES SELECTION</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REALIZED EFFECTS ARE SHOWN WITHOUT RECALCULATION</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Historical Attribution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03</a:t>
            </a:r>
          </a:p>
        </p:txBody>
      </p:sp>
      <p:sp>
        <p:nvSpPr>
          <p:cNvPr id="8" name="Rectangle 7"/>
          <p:cNvSpPr/>
          <p:nvPr/>
        </p:nvSpPr>
        <p:spPr>
          <a:xfrm>
            <a:off x="640080" y="1325880"/>
            <a:ext cx="10908792" cy="122251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1222512"/>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Returned cumulative growth context</a:t>
            </a:r>
          </a:p>
        </p:txBody>
      </p:sp>
      <p:sp>
        <p:nvSpPr>
          <p:cNvPr id="11" name="TextBox 10"/>
          <p:cNvSpPr txBox="1"/>
          <p:nvPr/>
        </p:nvSpPr>
        <p:spPr>
          <a:xfrm>
            <a:off x="804671" y="1719072"/>
            <a:ext cx="10616184" cy="73788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Not available — cumulative_growth was not returned.</a:t>
            </a:r>
          </a:p>
        </p:txBody>
      </p:sp>
      <p:sp>
        <p:nvSpPr>
          <p:cNvPr id="12" name="Rectangle 11"/>
          <p:cNvSpPr/>
          <p:nvPr/>
        </p:nvSpPr>
        <p:spPr>
          <a:xfrm>
            <a:off x="640080" y="2658120"/>
            <a:ext cx="10908792" cy="2215803"/>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Rectangle 12"/>
          <p:cNvSpPr/>
          <p:nvPr/>
        </p:nvSpPr>
        <p:spPr>
          <a:xfrm>
            <a:off x="640080" y="2658120"/>
            <a:ext cx="54864" cy="2215803"/>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804671" y="276784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Selection leads detractors</a:t>
            </a:r>
          </a:p>
        </p:txBody>
      </p:sp>
      <p:sp>
        <p:nvSpPr>
          <p:cNvPr id="15" name="TextBox 14"/>
          <p:cNvSpPr txBox="1"/>
          <p:nvPr/>
        </p:nvSpPr>
        <p:spPr>
          <a:xfrm>
            <a:off x="804671" y="3051312"/>
            <a:ext cx="10616184" cy="1731171"/>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Returned selection is the -5.40pp dominant realized shortfall and Alternatives contributes -4.85pp [S2]. Why it matters: Selection drives the returned bridge from +2.75% benchmark return to -3.35%…</a:t>
            </a:r>
          </a:p>
        </p:txBody>
      </p:sp>
      <p:sp>
        <p:nvSpPr>
          <p:cNvPr id="16" name="Rectangle 15"/>
          <p:cNvSpPr/>
          <p:nvPr/>
        </p:nvSpPr>
        <p:spPr>
          <a:xfrm>
            <a:off x="640080" y="4983652"/>
            <a:ext cx="10908792" cy="1234267"/>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7" name="Rectangle 16"/>
          <p:cNvSpPr/>
          <p:nvPr/>
        </p:nvSpPr>
        <p:spPr>
          <a:xfrm>
            <a:off x="640080" y="4983652"/>
            <a:ext cx="54864" cy="1234267"/>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804671" y="5093380"/>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Benchmark and excess boundary</a:t>
            </a:r>
          </a:p>
        </p:txBody>
      </p:sp>
      <p:sp>
        <p:nvSpPr>
          <p:cNvPr id="19" name="TextBox 18"/>
          <p:cNvSpPr txBox="1"/>
          <p:nvPr/>
        </p:nvSpPr>
        <p:spPr>
          <a:xfrm>
            <a:off x="804671" y="5376844"/>
            <a:ext cx="10616184" cy="749635"/>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Returned diagnostics.entity_return_reconciliation keeps attribution-summary excess against the linked segment benchmark composite separate from historical-return excess against the policy benchmark entity [S2].</a:t>
            </a:r>
          </a:p>
        </p:txBody>
      </p:sp>
      <p:sp>
        <p:nvSpPr>
          <p:cNvPr id="20" name="Rectangle 1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21" name="TextBox 2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a:t>
            </a:r>
          </a:p>
        </p:txBody>
      </p:sp>
      <p:sp>
        <p:nvSpPr>
          <p:cNvPr id="22" name="TextBox 2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23" name="TextBox 2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EFFECTS BY SEGMENT</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 ANTE ASSUMPTIONS</a:t>
            </a:r>
          </a:p>
        </p:txBody>
      </p:sp>
      <p:graphicFrame>
        <p:nvGraphicFramePr>
          <p:cNvPr id="9" name="Table 8"/>
          <p:cNvGraphicFramePr>
            <a:graphicFrameLocks noGrp="1"/>
          </p:cNvGraphicFramePr>
          <p:nvPr/>
        </p:nvGraphicFramePr>
        <p:xfrm>
          <a:off x="640080" y="1600200"/>
          <a:ext cx="10908792" cy="4617720"/>
        </p:xfrm>
        <a:graphic>
          <a:graphicData uri="http://schemas.openxmlformats.org/drawingml/2006/table">
            <a:tbl>
              <a:tblPr firstRow="1" bandRow="1">
                <a:tableStyleId>{5C22544A-7EE6-4342-B048-85BDC9FD1C3A}</a:tableStyleId>
              </a:tblPr>
              <a:tblGrid>
                <a:gridCol w="2011680"/>
                <a:gridCol w="8897112"/>
              </a:tblGrid>
              <a:tr h="923544">
                <a:tc>
                  <a:txBody>
                    <a:bodyPr/>
                    <a:lstStyle/>
                    <a:p>
                      <a:pPr>
                        <a:defRPr sz="800" b="1">
                          <a:solidFill>
                            <a:srgbClr val="0D1117"/>
                          </a:solidFill>
                          <a:latin typeface="Inter"/>
                        </a:defRPr>
                      </a:pPr>
                      <a:r>
                        <a:rPr>
                          <a:latin typeface="Inter"/>
                        </a:rPr>
                        <a:t>assumption_set_name</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2026 Strategic CMA (TEST) [S3]</a:t>
                      </a:r>
                    </a:p>
                  </a:txBody>
                  <a:tcPr marL="54864" marR="54864" marT="27432" marB="27432" anchor="ctr">
                    <a:solidFill>
                      <a:srgbClr val="FFFFFF"/>
                    </a:solidFill>
                  </a:tcPr>
                </a:tc>
              </a:tr>
              <a:tr h="923544">
                <a:tc>
                  <a:txBody>
                    <a:bodyPr/>
                    <a:lstStyle/>
                    <a:p>
                      <a:pPr>
                        <a:defRPr sz="800" b="1">
                          <a:solidFill>
                            <a:srgbClr val="0D1117"/>
                          </a:solidFill>
                          <a:latin typeface="Inter"/>
                        </a:defRPr>
                      </a:pPr>
                      <a:r>
                        <a:rPr>
                          <a:latin typeface="Inter"/>
                        </a:rPr>
                        <a:t>regime_name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user-defined regime [S3]</a:t>
                      </a:r>
                    </a:p>
                  </a:txBody>
                  <a:tcPr marL="54864" marR="54864" marT="27432" marB="27432" anchor="ctr">
                    <a:solidFill>
                      <a:srgbClr val="F5F7F9"/>
                    </a:solidFill>
                  </a:tcPr>
                </a:tc>
              </a:tr>
              <a:tr h="923544">
                <a:tc>
                  <a:txBody>
                    <a:bodyPr/>
                    <a:lstStyle/>
                    <a:p>
                      <a:pPr>
                        <a:defRPr sz="800" b="1">
                          <a:solidFill>
                            <a:srgbClr val="0D1117"/>
                          </a:solidFill>
                          <a:latin typeface="Inter"/>
                        </a:defRPr>
                      </a:pPr>
                      <a:r>
                        <a:rPr>
                          <a:latin typeface="Inter"/>
                        </a:rPr>
                        <a:t>horizon</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1 year [S3]</a:t>
                      </a:r>
                    </a:p>
                  </a:txBody>
                  <a:tcPr marL="54864" marR="54864" marT="27432" marB="27432" anchor="ctr">
                    <a:solidFill>
                      <a:srgbClr val="FFFFFF"/>
                    </a:solidFill>
                  </a:tcPr>
                </a:tc>
              </a:tr>
              <a:tr h="923544">
                <a:tc>
                  <a:txBody>
                    <a:bodyPr/>
                    <a:lstStyle/>
                    <a:p>
                      <a:pPr>
                        <a:defRPr sz="800" b="1">
                          <a:solidFill>
                            <a:srgbClr val="0D1117"/>
                          </a:solidFill>
                          <a:latin typeface="Inter"/>
                        </a:defRPr>
                      </a:pPr>
                      <a:r>
                        <a:rPr>
                          <a:latin typeface="Inter"/>
                        </a:rPr>
                        <a:t>portfolio_return_source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allocation_expected_return_base [S3]</a:t>
                      </a:r>
                    </a:p>
                  </a:txBody>
                  <a:tcPr marL="54864" marR="54864" marT="27432" marB="27432" anchor="ctr">
                    <a:solidFill>
                      <a:srgbClr val="F5F7F9"/>
                    </a:solidFill>
                  </a:tcPr>
                </a:tc>
              </a:tr>
              <a:tr h="923544">
                <a:tc>
                  <a:txBody>
                    <a:bodyPr/>
                    <a:lstStyle/>
                    <a:p>
                      <a:pPr>
                        <a:defRPr sz="800" b="1">
                          <a:solidFill>
                            <a:srgbClr val="0D1117"/>
                          </a:solidFill>
                          <a:latin typeface="Inter"/>
                        </a:defRPr>
                      </a:pPr>
                      <a:r>
                        <a:rPr>
                          <a:latin typeface="Inter"/>
                        </a:rPr>
                        <a:t>benchmark_return_source</a:t>
                      </a:r>
                    </a:p>
                  </a:txBody>
                  <a:tcPr marL="54864" marR="54864" marT="27432" marB="27432" anchor="ctr">
                    <a:solidFill>
                      <a:srgbClr val="FFFFFF"/>
                    </a:solidFill>
                  </a:tcPr>
                </a:tc>
                <a:tc>
                  <a:txBody>
                    <a:bodyPr/>
                    <a:lstStyle/>
                    <a:p>
                      <a:pPr>
                        <a:defRPr sz="800" b="0">
                          <a:solidFill>
                            <a:srgbClr val="0D1117"/>
                          </a:solidFill>
                          <a:latin typeface="Inter"/>
                        </a:defRPr>
                      </a:pPr>
                      <a:r>
                        <a:rPr>
                          <a:latin typeface="Inter"/>
                        </a:rPr>
                        <a:t>benchmark_expected_return_base [S3]</a:t>
                      </a:r>
                    </a:p>
                  </a:txBody>
                  <a:tcPr marL="54864" marR="54864" marT="27432" marB="27432" anchor="ctr">
                    <a:solidFill>
                      <a:srgbClr val="FFFFFF"/>
                    </a:solidFill>
                  </a:tcPr>
                </a:tc>
              </a:tr>
            </a:tbl>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PORTFOLIO AND BENCHMARK RETURNS</a:t>
            </a:r>
          </a:p>
        </p:txBody>
      </p:sp>
      <p:graphicFrame>
        <p:nvGraphicFramePr>
          <p:cNvPr id="9" name="Chart 8"/>
          <p:cNvGraphicFramePr>
            <a:graphicFrameLocks noGrp="1"/>
          </p:cNvGraphicFramePr>
          <p:nvPr/>
        </p:nvGraphicFramePr>
        <p:xfrm>
          <a:off x="640080" y="1600200"/>
          <a:ext cx="10908792" cy="4617720"/>
        </p:xfrm>
        <a:graphic>
          <a:graphicData uri="http://schemas.openxmlformats.org/drawingml/2006/chart">
            <c:chart xmlns:c="http://schemas.openxmlformats.org/drawingml/2006/chart" r:id="rId2"/>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EXPECTED EFFECTS ARE SHOWN AS ASSUMPTIONS</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Governed Ex Ante Attribution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04</a:t>
            </a:r>
          </a:p>
        </p:txBody>
      </p:sp>
      <p:sp>
        <p:nvSpPr>
          <p:cNvPr id="8" name="Rectangle 7"/>
          <p:cNvSpPr/>
          <p:nvPr/>
        </p:nvSpPr>
        <p:spPr>
          <a:xfrm>
            <a:off x="640080" y="1325880"/>
            <a:ext cx="10908792" cy="489204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489204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Selection leads expectations</a:t>
            </a:r>
          </a:p>
        </p:txBody>
      </p:sp>
      <p:sp>
        <p:nvSpPr>
          <p:cNvPr id="11" name="TextBox 10"/>
          <p:cNvSpPr txBox="1"/>
          <p:nvPr/>
        </p:nvSpPr>
        <p:spPr>
          <a:xfrm>
            <a:off x="804671" y="1719072"/>
            <a:ext cx="10616184" cy="440740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Returned selection is the +1.25pp dominant expected gain and Alternatives contributes +1.05pp [S3]. Why it matters: Selection drives the returned bridge from 6.20% expected benchmark return to…</a:t>
            </a:r>
          </a:p>
        </p:txBody>
      </p:sp>
      <p:sp>
        <p:nvSpPr>
          <p:cNvPr id="12" name="Rectangle 11"/>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TextBox 12"/>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S3</a:t>
            </a:r>
          </a:p>
        </p:txBody>
      </p:sp>
      <p:sp>
        <p:nvSpPr>
          <p:cNvPr id="14" name="TextBox 13"/>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5" name="TextBox 14"/>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SIMULATION CAPABILITY IS PLANNED</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Simulated Attribution</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05</a:t>
            </a:r>
          </a:p>
        </p:txBody>
      </p:sp>
      <p:sp>
        <p:nvSpPr>
          <p:cNvPr id="8" name="Rectangle 7"/>
          <p:cNvSpPr/>
          <p:nvPr/>
        </p:nvSpPr>
        <p:spPr>
          <a:xfrm>
            <a:off x="640080" y="1325880"/>
            <a:ext cx="10908792" cy="1083497"/>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1083497"/>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Not available</a:t>
            </a:r>
          </a:p>
        </p:txBody>
      </p:sp>
      <p:sp>
        <p:nvSpPr>
          <p:cNvPr id="11" name="TextBox 10"/>
          <p:cNvSpPr txBox="1"/>
          <p:nvPr/>
        </p:nvSpPr>
        <p:spPr>
          <a:xfrm>
            <a:off x="804671" y="1719072"/>
            <a:ext cx="10616184" cy="598865"/>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Not available — planned per get_gradient_capabilities [S1].</a:t>
            </a:r>
          </a:p>
        </p:txBody>
      </p:sp>
      <p:graphicFrame>
        <p:nvGraphicFramePr>
          <p:cNvPr id="12" name="Table 11"/>
          <p:cNvGraphicFramePr>
            <a:graphicFrameLocks noGrp="1"/>
          </p:cNvGraphicFramePr>
          <p:nvPr/>
        </p:nvGraphicFramePr>
        <p:xfrm>
          <a:off x="640080" y="2519105"/>
          <a:ext cx="10908792" cy="2234714"/>
        </p:xfrm>
        <a:graphic>
          <a:graphicData uri="http://schemas.openxmlformats.org/drawingml/2006/table">
            <a:tbl>
              <a:tblPr firstRow="1" bandRow="1">
                <a:tableStyleId>{5C22544A-7EE6-4342-B048-85BDC9FD1C3A}</a:tableStyleId>
              </a:tblPr>
              <a:tblGrid>
                <a:gridCol w="2011680"/>
                <a:gridCol w="4448556"/>
                <a:gridCol w="4448556"/>
              </a:tblGrid>
              <a:tr h="744904">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744904">
                <a:tc>
                  <a:txBody>
                    <a:bodyPr/>
                    <a:lstStyle/>
                    <a:p>
                      <a:pPr>
                        <a:defRPr sz="800" b="1">
                          <a:solidFill>
                            <a:srgbClr val="0D1117"/>
                          </a:solidFill>
                          <a:latin typeface="Inter"/>
                        </a:defRPr>
                      </a:pPr>
                      <a:r>
                        <a:rPr>
                          <a:latin typeface="Inter"/>
                        </a:rPr>
                        <a:t>Capability</a:t>
                      </a:r>
                    </a:p>
                  </a:txBody>
                  <a:tcPr marL="54864" marR="54864" marT="27432" marB="27432" anchor="ctr">
                    <a:solidFill>
                      <a:srgbClr val="FFFFFF"/>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Planned per capability source [S1]</a:t>
                      </a:r>
                    </a:p>
                  </a:txBody>
                  <a:tcPr marL="54864" marR="54864" marT="27432" marB="27432" anchor="ctr">
                    <a:solidFill>
                      <a:srgbClr val="FFFFFF"/>
                    </a:solidFill>
                  </a:tcPr>
                </a:tc>
              </a:tr>
              <a:tr h="744906">
                <a:tc>
                  <a:txBody>
                    <a:bodyPr/>
                    <a:lstStyle/>
                    <a:p>
                      <a:pPr>
                        <a:defRPr sz="800" b="1">
                          <a:solidFill>
                            <a:srgbClr val="0D1117"/>
                          </a:solidFill>
                          <a:latin typeface="Inter"/>
                        </a:defRPr>
                      </a:pPr>
                      <a:r>
                        <a:rPr>
                          <a:latin typeface="Inter"/>
                        </a:rPr>
                        <a:t>Invocation</a:t>
                      </a:r>
                    </a:p>
                  </a:txBody>
                  <a:tcPr marL="54864" marR="54864" marT="27432" marB="27432" anchor="ctr">
                    <a:solidFill>
                      <a:srgbClr val="F5F7F9"/>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Not called because capability is unavailable [S1]</a:t>
                      </a:r>
                    </a:p>
                  </a:txBody>
                  <a:tcPr marL="54864" marR="54864" marT="27432" marB="27432" anchor="ctr">
                    <a:solidFill>
                      <a:srgbClr val="F5F7F9"/>
                    </a:solidFill>
                  </a:tcPr>
                </a:tc>
              </a:tr>
            </a:tbl>
          </a:graphicData>
        </a:graphic>
      </p:graphicFrame>
      <p:sp>
        <p:nvSpPr>
          <p:cNvPr id="13" name="Rectangle 12"/>
          <p:cNvSpPr/>
          <p:nvPr/>
        </p:nvSpPr>
        <p:spPr>
          <a:xfrm>
            <a:off x="640080" y="4863547"/>
            <a:ext cx="10908792" cy="1354372"/>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4863547"/>
            <a:ext cx="54864" cy="1354372"/>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804671" y="4973275"/>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Simulation unavailable</a:t>
            </a:r>
          </a:p>
        </p:txBody>
      </p:sp>
      <p:sp>
        <p:nvSpPr>
          <p:cNvPr id="16" name="TextBox 15"/>
          <p:cNvSpPr txBox="1"/>
          <p:nvPr/>
        </p:nvSpPr>
        <p:spPr>
          <a:xfrm>
            <a:off x="804671" y="5256739"/>
            <a:ext cx="10616184" cy="869740"/>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Simulation is planned per the capability source [S1]. Why it matters: Scenario effects cannot be assessed. Uncertainty: Capability readiness may change. What would change the view: A…</a:t>
            </a:r>
          </a:p>
        </p:txBody>
      </p:sp>
      <p:sp>
        <p:nvSpPr>
          <p:cNvPr id="17" name="Rectangle 16"/>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9" name="TextBox 18"/>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20" name="TextBox 19"/>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LANES ARE DISPLAYED WHILE COMPARISON REMAINS PLANNED</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8" name="Rectangle 7"/>
          <p:cNvSpPr/>
          <p:nvPr/>
        </p:nvSpPr>
        <p:spPr>
          <a:xfrm>
            <a:off x="640080" y="1325880"/>
            <a:ext cx="10908792" cy="489204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4892040"/>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Not available</a:t>
            </a:r>
          </a:p>
        </p:txBody>
      </p:sp>
      <p:sp>
        <p:nvSpPr>
          <p:cNvPr id="11" name="TextBox 10"/>
          <p:cNvSpPr txBox="1"/>
          <p:nvPr/>
        </p:nvSpPr>
        <p:spPr>
          <a:xfrm>
            <a:off x="804671" y="1719072"/>
            <a:ext cx="10616184" cy="440740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Not available — planned per get_gradient_capabilities [S1].</a:t>
            </a:r>
          </a:p>
        </p:txBody>
      </p:sp>
      <p:sp>
        <p:nvSpPr>
          <p:cNvPr id="12" name="Rectangle 11"/>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TextBox 12"/>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4" name="TextBox 13"/>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5" name="TextBox 14"/>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LANES ARE DISPLAYED WHILE COMPARISON REMAINS PLANNED</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8" name="TextBox 7"/>
          <p:cNvSpPr txBox="1"/>
          <p:nvPr/>
        </p:nvSpPr>
        <p:spPr>
          <a:xfrm>
            <a:off x="640080" y="132588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RETURNED CROSS-LANE EFFECT MATRIX</a:t>
            </a:r>
          </a:p>
        </p:txBody>
      </p:sp>
      <p:graphicFrame>
        <p:nvGraphicFramePr>
          <p:cNvPr id="9" name="Table 8"/>
          <p:cNvGraphicFramePr>
            <a:graphicFrameLocks noGrp="1"/>
          </p:cNvGraphicFramePr>
          <p:nvPr/>
        </p:nvGraphicFramePr>
        <p:xfrm>
          <a:off x="640080" y="1600200"/>
          <a:ext cx="10908792" cy="4617720"/>
        </p:xfrm>
        <a:graphic>
          <a:graphicData uri="http://schemas.openxmlformats.org/drawingml/2006/table">
            <a:tbl>
              <a:tblPr firstRow="1" bandRow="1">
                <a:tableStyleId>{5C22544A-7EE6-4342-B048-85BDC9FD1C3A}</a:tableStyleId>
              </a:tblPr>
              <a:tblGrid>
                <a:gridCol w="3636264"/>
                <a:gridCol w="3636264"/>
                <a:gridCol w="3636264"/>
              </a:tblGrid>
              <a:tr h="1154430">
                <a:tc>
                  <a:txBody>
                    <a:bodyPr/>
                    <a:lstStyle/>
                    <a:p>
                      <a:pPr>
                        <a:defRPr sz="700" b="1">
                          <a:solidFill>
                            <a:srgbClr val="FFFFFF"/>
                          </a:solidFill>
                          <a:latin typeface="Inter"/>
                        </a:defRPr>
                      </a:pPr>
                    </a:p>
                  </a:txBody>
                  <a:tcPr marL="54864" marR="54864" marT="27432" marB="27432" anchor="ctr">
                    <a:solidFill>
                      <a:srgbClr val="0D1117"/>
                    </a:solidFill>
                  </a:tcPr>
                </a:tc>
                <a:tc>
                  <a:txBody>
                    <a:bodyPr/>
                    <a:lstStyle/>
                    <a:p>
                      <a:pPr>
                        <a:defRPr sz="700" b="1">
                          <a:solidFill>
                            <a:srgbClr val="FFFFFF"/>
                          </a:solidFill>
                          <a:latin typeface="Inter"/>
                        </a:defRPr>
                      </a:pPr>
                      <a:r>
                        <a:rPr>
                          <a:latin typeface="Inter"/>
                        </a:rPr>
                        <a:t>Realized</a:t>
                      </a:r>
                    </a:p>
                  </a:txBody>
                  <a:tcPr marL="54864" marR="54864" marT="27432" marB="27432" anchor="ctr">
                    <a:solidFill>
                      <a:srgbClr val="0D1117"/>
                    </a:solidFill>
                  </a:tcPr>
                </a:tc>
                <a:tc>
                  <a:txBody>
                    <a:bodyPr/>
                    <a:lstStyle/>
                    <a:p>
                      <a:pPr>
                        <a:defRPr sz="700" b="1">
                          <a:solidFill>
                            <a:srgbClr val="FFFFFF"/>
                          </a:solidFill>
                          <a:latin typeface="Inter"/>
                        </a:defRPr>
                      </a:pPr>
                      <a:r>
                        <a:rPr>
                          <a:latin typeface="Inter"/>
                        </a:rPr>
                        <a:t>Expected</a:t>
                      </a:r>
                    </a:p>
                  </a:txBody>
                  <a:tcPr marL="54864" marR="54864" marT="27432" marB="27432" anchor="ctr">
                    <a:solidFill>
                      <a:srgbClr val="0D1117"/>
                    </a:solidFill>
                  </a:tcPr>
                </a:tc>
              </a:tr>
              <a:tr h="1154430">
                <a:tc>
                  <a:txBody>
                    <a:bodyPr/>
                    <a:lstStyle/>
                    <a:p>
                      <a:pPr>
                        <a:defRPr sz="750" b="1">
                          <a:solidFill>
                            <a:srgbClr val="FFFFFF"/>
                          </a:solidFill>
                          <a:latin typeface="Inter"/>
                        </a:defRPr>
                      </a:pPr>
                      <a:r>
                        <a:rPr>
                          <a:latin typeface="Inter"/>
                        </a:rPr>
                        <a:t>Allocation</a:t>
                      </a:r>
                    </a:p>
                  </a:txBody>
                  <a:tcPr marL="54864" marR="54864" marT="27432" marB="27432" anchor="ctr">
                    <a:solidFill>
                      <a:srgbClr val="0D1117"/>
                    </a:solidFill>
                  </a:tcPr>
                </a:tc>
                <a:tc>
                  <a:txBody>
                    <a:bodyPr/>
                    <a:lstStyle/>
                    <a:p>
                      <a:pPr>
                        <a:defRPr sz="750" b="0">
                          <a:solidFill>
                            <a:srgbClr val="0D1117"/>
                          </a:solidFill>
                          <a:latin typeface="Inter"/>
                        </a:defRPr>
                      </a:pPr>
                      <a:r>
                        <a:rPr>
                          <a:latin typeface="Inter"/>
                        </a:rPr>
                        <a:t>0.2</a:t>
                      </a:r>
                    </a:p>
                  </a:txBody>
                  <a:tcPr marL="54864" marR="54864" marT="27432" marB="27432" anchor="ctr">
                    <a:solidFill>
                      <a:srgbClr val="CEF453"/>
                    </a:solidFill>
                  </a:tcPr>
                </a:tc>
                <a:tc>
                  <a:txBody>
                    <a:bodyPr/>
                    <a:lstStyle/>
                    <a:p>
                      <a:pPr>
                        <a:defRPr sz="750" b="0">
                          <a:solidFill>
                            <a:srgbClr val="0D1117"/>
                          </a:solidFill>
                          <a:latin typeface="Inter"/>
                        </a:defRPr>
                      </a:pPr>
                      <a:r>
                        <a:rPr>
                          <a:latin typeface="Inter"/>
                        </a:rPr>
                        <a:t>0.4</a:t>
                      </a:r>
                    </a:p>
                  </a:txBody>
                  <a:tcPr marL="54864" marR="54864" marT="27432" marB="27432" anchor="ctr">
                    <a:solidFill>
                      <a:srgbClr val="C6F432"/>
                    </a:solidFill>
                  </a:tcPr>
                </a:tc>
              </a:tr>
              <a:tr h="1154430">
                <a:tc>
                  <a:txBody>
                    <a:bodyPr/>
                    <a:lstStyle/>
                    <a:p>
                      <a:pPr>
                        <a:defRPr sz="750" b="1">
                          <a:solidFill>
                            <a:srgbClr val="FFFFFF"/>
                          </a:solidFill>
                          <a:latin typeface="Inter"/>
                        </a:defRPr>
                      </a:pPr>
                      <a:r>
                        <a:rPr>
                          <a:latin typeface="Inter"/>
                        </a:rPr>
                        <a:t>Selection</a:t>
                      </a:r>
                    </a:p>
                  </a:txBody>
                  <a:tcPr marL="54864" marR="54864" marT="27432" marB="27432" anchor="ctr">
                    <a:solidFill>
                      <a:srgbClr val="0D1117"/>
                    </a:solidFill>
                  </a:tcPr>
                </a:tc>
                <a:tc>
                  <a:txBody>
                    <a:bodyPr/>
                    <a:lstStyle/>
                    <a:p>
                      <a:pPr>
                        <a:defRPr sz="750" b="0">
                          <a:solidFill>
                            <a:srgbClr val="0D1117"/>
                          </a:solidFill>
                          <a:latin typeface="Inter"/>
                        </a:defRPr>
                      </a:pPr>
                      <a:r>
                        <a:rPr>
                          <a:latin typeface="Inter"/>
                        </a:rPr>
                        <a:t>-0.8</a:t>
                      </a:r>
                    </a:p>
                  </a:txBody>
                  <a:tcPr marL="54864" marR="54864" marT="27432" marB="27432" anchor="ctr">
                    <a:solidFill>
                      <a:srgbClr val="F5F7F9"/>
                    </a:solidFill>
                  </a:tcPr>
                </a:tc>
                <a:tc>
                  <a:txBody>
                    <a:bodyPr/>
                    <a:lstStyle/>
                    <a:p>
                      <a:pPr>
                        <a:defRPr sz="750" b="0">
                          <a:solidFill>
                            <a:srgbClr val="0D1117"/>
                          </a:solidFill>
                          <a:latin typeface="Inter"/>
                        </a:defRPr>
                      </a:pPr>
                      <a:r>
                        <a:rPr>
                          <a:latin typeface="Inter"/>
                        </a:rPr>
                        <a:t>-0.1</a:t>
                      </a:r>
                    </a:p>
                  </a:txBody>
                  <a:tcPr marL="54864" marR="54864" marT="27432" marB="27432" anchor="ctr">
                    <a:solidFill>
                      <a:srgbClr val="DAF585"/>
                    </a:solidFill>
                  </a:tcPr>
                </a:tc>
              </a:tr>
              <a:tr h="1154430">
                <a:tc>
                  <a:txBody>
                    <a:bodyPr/>
                    <a:lstStyle/>
                    <a:p>
                      <a:pPr>
                        <a:defRPr sz="750" b="1">
                          <a:solidFill>
                            <a:srgbClr val="FFFFFF"/>
                          </a:solidFill>
                          <a:latin typeface="Inter"/>
                        </a:defRPr>
                      </a:pPr>
                      <a:r>
                        <a:rPr>
                          <a:latin typeface="Inter"/>
                        </a:rPr>
                        <a:t>Interaction</a:t>
                      </a:r>
                    </a:p>
                  </a:txBody>
                  <a:tcPr marL="54864" marR="54864" marT="27432" marB="27432" anchor="ctr">
                    <a:solidFill>
                      <a:srgbClr val="0D1117"/>
                    </a:solidFill>
                  </a:tcPr>
                </a:tc>
                <a:tc>
                  <a:txBody>
                    <a:bodyPr/>
                    <a:lstStyle/>
                    <a:p>
                      <a:pPr>
                        <a:defRPr sz="750" b="0">
                          <a:solidFill>
                            <a:srgbClr val="0D1117"/>
                          </a:solidFill>
                          <a:latin typeface="Inter"/>
                        </a:defRPr>
                      </a:pPr>
                      <a:r>
                        <a:rPr>
                          <a:latin typeface="Inter"/>
                        </a:rPr>
                        <a:t>0.0</a:t>
                      </a:r>
                    </a:p>
                  </a:txBody>
                  <a:tcPr marL="54864" marR="54864" marT="27432" marB="27432" anchor="ctr">
                    <a:solidFill>
                      <a:srgbClr val="D6F574"/>
                    </a:solidFill>
                  </a:tcPr>
                </a:tc>
                <a:tc>
                  <a:txBody>
                    <a:bodyPr/>
                    <a:lstStyle/>
                    <a:p>
                      <a:pPr>
                        <a:defRPr sz="750" b="0">
                          <a:solidFill>
                            <a:srgbClr val="0D1117"/>
                          </a:solidFill>
                          <a:latin typeface="Inter"/>
                        </a:defRPr>
                      </a:pPr>
                      <a:r>
                        <a:rPr>
                          <a:latin typeface="Inter"/>
                        </a:rPr>
                        <a:t>0.05</a:t>
                      </a:r>
                    </a:p>
                  </a:txBody>
                  <a:tcPr marL="54864" marR="54864" marT="27432" marB="27432" anchor="ctr">
                    <a:solidFill>
                      <a:srgbClr val="D4F56C"/>
                    </a:solidFill>
                  </a:tcPr>
                </a:tc>
              </a:tr>
            </a:tbl>
          </a:graphicData>
        </a:graphic>
      </p:graphicFrame>
      <p:sp>
        <p:nvSpPr>
          <p:cNvPr id="10" name="Rectangle 9"/>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a:t>
            </a:r>
          </a:p>
        </p:txBody>
      </p:sp>
      <p:sp>
        <p:nvSpPr>
          <p:cNvPr id="12" name="TextBox 11"/>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3" name="TextBox 12"/>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LANES ARE DISPLAYED WHILE COMPARISON REMAINS PLANNED</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8" name="TextBox 7"/>
          <p:cNvSpPr txBox="1"/>
          <p:nvPr/>
        </p:nvSpPr>
        <p:spPr>
          <a:xfrm>
            <a:off x="64008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REALIZED RETURNED EFFECTS</a:t>
            </a:r>
          </a:p>
        </p:txBody>
      </p:sp>
      <p:graphicFrame>
        <p:nvGraphicFramePr>
          <p:cNvPr id="9" name="Chart 8"/>
          <p:cNvGraphicFramePr>
            <a:graphicFrameLocks noGrp="1"/>
          </p:cNvGraphicFramePr>
          <p:nvPr/>
        </p:nvGraphicFramePr>
        <p:xfrm>
          <a:off x="640080" y="1600200"/>
          <a:ext cx="5239512" cy="4617720"/>
        </p:xfrm>
        <a:graphic>
          <a:graphicData uri="http://schemas.openxmlformats.org/drawingml/2006/chart">
            <c:chart xmlns:c="http://schemas.openxmlformats.org/drawingml/2006/chart" r:id="rId2"/>
          </a:graphicData>
        </a:graphic>
      </p:graphicFrame>
      <p:sp>
        <p:nvSpPr>
          <p:cNvPr id="10" name="Rectangle 9"/>
          <p:cNvSpPr/>
          <p:nvPr/>
        </p:nvSpPr>
        <p:spPr>
          <a:xfrm>
            <a:off x="6080760" y="1325880"/>
            <a:ext cx="9144" cy="4892040"/>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1" name="TextBox 10"/>
          <p:cNvSpPr txBox="1"/>
          <p:nvPr/>
        </p:nvSpPr>
        <p:spPr>
          <a:xfrm>
            <a:off x="6309360" y="1325880"/>
            <a:ext cx="523951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EXPECTED RETURNED EFFECTS</a:t>
            </a:r>
          </a:p>
        </p:txBody>
      </p:sp>
      <p:graphicFrame>
        <p:nvGraphicFramePr>
          <p:cNvPr id="12" name="Chart 11"/>
          <p:cNvGraphicFramePr>
            <a:graphicFrameLocks noGrp="1"/>
          </p:cNvGraphicFramePr>
          <p:nvPr/>
        </p:nvGraphicFramePr>
        <p:xfrm>
          <a:off x="6309360" y="1600200"/>
          <a:ext cx="5239512" cy="4617720"/>
        </p:xfrm>
        <a:graphic>
          <a:graphicData uri="http://schemas.openxmlformats.org/drawingml/2006/chart">
            <c:chart xmlns:c="http://schemas.openxmlformats.org/drawingml/2006/chart" r:id="rId3"/>
          </a:graphicData>
        </a:graphic>
      </p:graphicFrame>
      <p:sp>
        <p:nvSpPr>
          <p:cNvPr id="13" name="Rectangle 12"/>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S2 · S3</a:t>
            </a:r>
          </a:p>
        </p:txBody>
      </p:sp>
      <p:sp>
        <p:nvSpPr>
          <p:cNvPr id="15" name="TextBox 14"/>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6" name="TextBox 15"/>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RETURNED LANES ARE DISPLAYED WHILE COMPARISON REMAINS PLANNED</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Cross-Lane Comparison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06</a:t>
            </a:r>
          </a:p>
        </p:txBody>
      </p:sp>
      <p:sp>
        <p:nvSpPr>
          <p:cNvPr id="8" name="Rectangle 7"/>
          <p:cNvSpPr/>
          <p:nvPr/>
        </p:nvSpPr>
        <p:spPr>
          <a:xfrm>
            <a:off x="640080" y="1325880"/>
            <a:ext cx="10908792" cy="839289"/>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839289"/>
          </a:xfrm>
          <a:prstGeom prst="rect">
            <a:avLst/>
          </a:prstGeom>
          <a:solidFill>
            <a:srgbClr val="F2A93B"/>
          </a:solidFill>
          <a:ln>
            <a:solidFill>
              <a:srgbClr val="F2A93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Unavailable comparison metrics</a:t>
            </a:r>
          </a:p>
        </p:txBody>
      </p:sp>
      <p:sp>
        <p:nvSpPr>
          <p:cNvPr id="11" name="TextBox 10"/>
          <p:cNvSpPr txBox="1"/>
          <p:nvPr/>
        </p:nvSpPr>
        <p:spPr>
          <a:xfrm>
            <a:off x="804671" y="1719072"/>
            <a:ext cx="10616184" cy="354657"/>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Differences, concentration, persistence, and Sources that persist are unavailable without a governed comparison result [S1].</a:t>
            </a:r>
          </a:p>
        </p:txBody>
      </p:sp>
      <p:graphicFrame>
        <p:nvGraphicFramePr>
          <p:cNvPr id="12" name="Table 11"/>
          <p:cNvGraphicFramePr>
            <a:graphicFrameLocks noGrp="1"/>
          </p:cNvGraphicFramePr>
          <p:nvPr/>
        </p:nvGraphicFramePr>
        <p:xfrm>
          <a:off x="640080" y="2274897"/>
          <a:ext cx="10908792" cy="2885058"/>
        </p:xfrm>
        <a:graphic>
          <a:graphicData uri="http://schemas.openxmlformats.org/drawingml/2006/table">
            <a:tbl>
              <a:tblPr firstRow="1" bandRow="1">
                <a:tableStyleId>{5C22544A-7EE6-4342-B048-85BDC9FD1C3A}</a:tableStyleId>
              </a:tblPr>
              <a:tblGrid>
                <a:gridCol w="2011680"/>
                <a:gridCol w="4448556"/>
                <a:gridCol w="4448556"/>
              </a:tblGrid>
              <a:tr h="577011">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577011">
                <a:tc>
                  <a:txBody>
                    <a:bodyPr/>
                    <a:lstStyle/>
                    <a:p>
                      <a:pPr>
                        <a:defRPr sz="800" b="1">
                          <a:solidFill>
                            <a:srgbClr val="0D1117"/>
                          </a:solidFill>
                          <a:latin typeface="Inter"/>
                        </a:defRPr>
                      </a:pPr>
                      <a:r>
                        <a:rPr>
                          <a:latin typeface="Inter"/>
                        </a:rPr>
                        <a:t>Lane differences</a:t>
                      </a:r>
                    </a:p>
                  </a:txBody>
                  <a:tcPr marL="54864" marR="54864" marT="27432" marB="27432" anchor="ctr">
                    <a:solidFill>
                      <a:srgbClr val="FFFFFF"/>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Requires governed comparison output [S1]</a:t>
                      </a:r>
                    </a:p>
                  </a:txBody>
                  <a:tcPr marL="54864" marR="54864" marT="27432" marB="27432" anchor="ctr">
                    <a:solidFill>
                      <a:srgbClr val="FFFFFF"/>
                    </a:solidFill>
                  </a:tcPr>
                </a:tc>
              </a:tr>
              <a:tr h="577011">
                <a:tc>
                  <a:txBody>
                    <a:bodyPr/>
                    <a:lstStyle/>
                    <a:p>
                      <a:pPr>
                        <a:defRPr sz="800" b="1">
                          <a:solidFill>
                            <a:srgbClr val="0D1117"/>
                          </a:solidFill>
                          <a:latin typeface="Inter"/>
                        </a:defRPr>
                      </a:pPr>
                      <a:r>
                        <a:rPr>
                          <a:latin typeface="Inter"/>
                        </a:rPr>
                        <a:t>Concentration</a:t>
                      </a:r>
                    </a:p>
                  </a:txBody>
                  <a:tcPr marL="54864" marR="54864" marT="27432" marB="27432" anchor="ctr">
                    <a:solidFill>
                      <a:srgbClr val="F5F7F9"/>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No local aggregation permitted [S1]</a:t>
                      </a:r>
                    </a:p>
                  </a:txBody>
                  <a:tcPr marL="54864" marR="54864" marT="27432" marB="27432" anchor="ctr">
                    <a:solidFill>
                      <a:srgbClr val="F5F7F9"/>
                    </a:solidFill>
                  </a:tcPr>
                </a:tc>
              </a:tr>
              <a:tr h="577011">
                <a:tc>
                  <a:txBody>
                    <a:bodyPr/>
                    <a:lstStyle/>
                    <a:p>
                      <a:pPr>
                        <a:defRPr sz="800" b="1">
                          <a:solidFill>
                            <a:srgbClr val="0D1117"/>
                          </a:solidFill>
                          <a:latin typeface="Inter"/>
                        </a:defRPr>
                      </a:pPr>
                      <a:r>
                        <a:rPr>
                          <a:latin typeface="Inter"/>
                        </a:rPr>
                        <a:t>Persistence</a:t>
                      </a:r>
                    </a:p>
                  </a:txBody>
                  <a:tcPr marL="54864" marR="54864" marT="27432" marB="27432" anchor="ctr">
                    <a:solidFill>
                      <a:srgbClr val="FFFFFF"/>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No server persistence metric [S1]</a:t>
                      </a:r>
                    </a:p>
                  </a:txBody>
                  <a:tcPr marL="54864" marR="54864" marT="27432" marB="27432" anchor="ctr">
                    <a:solidFill>
                      <a:srgbClr val="FFFFFF"/>
                    </a:solidFill>
                  </a:tcPr>
                </a:tc>
              </a:tr>
              <a:tr h="577014">
                <a:tc>
                  <a:txBody>
                    <a:bodyPr/>
                    <a:lstStyle/>
                    <a:p>
                      <a:pPr>
                        <a:defRPr sz="800" b="1">
                          <a:solidFill>
                            <a:srgbClr val="0D1117"/>
                          </a:solidFill>
                          <a:latin typeface="Inter"/>
                        </a:defRPr>
                      </a:pPr>
                      <a:r>
                        <a:rPr>
                          <a:latin typeface="Inter"/>
                        </a:rPr>
                        <a:t>Sources that persist</a:t>
                      </a:r>
                    </a:p>
                  </a:txBody>
                  <a:tcPr marL="54864" marR="54864" marT="27432" marB="27432" anchor="ctr">
                    <a:solidFill>
                      <a:srgbClr val="F5F7F9"/>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No governed comparison result [S1]</a:t>
                      </a:r>
                    </a:p>
                  </a:txBody>
                  <a:tcPr marL="54864" marR="54864" marT="27432" marB="27432" anchor="ctr">
                    <a:solidFill>
                      <a:srgbClr val="F5F7F9"/>
                    </a:solidFill>
                  </a:tcPr>
                </a:tc>
              </a:tr>
            </a:tbl>
          </a:graphicData>
        </a:graphic>
      </p:graphicFrame>
      <p:sp>
        <p:nvSpPr>
          <p:cNvPr id="13" name="Rectangle 12"/>
          <p:cNvSpPr/>
          <p:nvPr/>
        </p:nvSpPr>
        <p:spPr>
          <a:xfrm>
            <a:off x="640080" y="5269684"/>
            <a:ext cx="10908792" cy="948235"/>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Rectangle 13"/>
          <p:cNvSpPr/>
          <p:nvPr/>
        </p:nvSpPr>
        <p:spPr>
          <a:xfrm>
            <a:off x="640080" y="5269684"/>
            <a:ext cx="54864" cy="948235"/>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5" name="TextBox 14"/>
          <p:cNvSpPr txBox="1"/>
          <p:nvPr/>
        </p:nvSpPr>
        <p:spPr>
          <a:xfrm>
            <a:off x="804671" y="5379412"/>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Analysis — Comparison unavailable</a:t>
            </a:r>
          </a:p>
        </p:txBody>
      </p:sp>
      <p:sp>
        <p:nvSpPr>
          <p:cNvPr id="16" name="TextBox 15"/>
          <p:cNvSpPr txBox="1"/>
          <p:nvPr/>
        </p:nvSpPr>
        <p:spPr>
          <a:xfrm>
            <a:off x="804671" y="5662876"/>
            <a:ext cx="10616184" cy="463603"/>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Observation: Comparison is planned per get_gradient_capabilities [S1]. Why it matters: No persistence claim is supported. Uncertainty: Planned capability timing is not returned. What would change the view: A…</a:t>
            </a:r>
          </a:p>
        </p:txBody>
      </p:sp>
      <p:sp>
        <p:nvSpPr>
          <p:cNvPr id="17" name="Rectangle 16"/>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8" name="TextBox 17"/>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9" name="TextBox 18"/>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20" name="TextBox 19"/>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TWO LIVE LANES AND TWO PLANNED CAPABILITIES DEFINE COVERAGE</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Coverage and Limitations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C6F432"/>
          </a:solidFill>
          <a:ln>
            <a:solidFill>
              <a:srgbClr val="C6F43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07</a:t>
            </a:r>
          </a:p>
        </p:txBody>
      </p:sp>
      <p:graphicFrame>
        <p:nvGraphicFramePr>
          <p:cNvPr id="8" name="Table 7"/>
          <p:cNvGraphicFramePr>
            <a:graphicFrameLocks noGrp="1"/>
          </p:cNvGraphicFramePr>
          <p:nvPr/>
        </p:nvGraphicFramePr>
        <p:xfrm>
          <a:off x="640080" y="1325880"/>
          <a:ext cx="10908792" cy="4892040"/>
        </p:xfrm>
        <a:graphic>
          <a:graphicData uri="http://schemas.openxmlformats.org/drawingml/2006/table">
            <a:tbl>
              <a:tblPr firstRow="1" bandRow="1">
                <a:tableStyleId>{5C22544A-7EE6-4342-B048-85BDC9FD1C3A}</a:tableStyleId>
              </a:tblPr>
              <a:tblGrid>
                <a:gridCol w="2011680"/>
                <a:gridCol w="4448556"/>
                <a:gridCol w="4448556"/>
              </a:tblGrid>
              <a:tr h="1223010">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Status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Note</a:t>
                      </a:r>
                    </a:p>
                  </a:txBody>
                  <a:tcPr marL="54864" marR="54864" marT="27432" marB="27432" anchor="ctr">
                    <a:solidFill>
                      <a:srgbClr val="0D1117"/>
                    </a:solidFill>
                  </a:tcPr>
                </a:tc>
              </a:tr>
              <a:tr h="1223010">
                <a:tc>
                  <a:txBody>
                    <a:bodyPr/>
                    <a:lstStyle/>
                    <a:p>
                      <a:pPr>
                        <a:defRPr sz="800" b="1">
                          <a:solidFill>
                            <a:srgbClr val="0D1117"/>
                          </a:solidFill>
                          <a:latin typeface="Inter"/>
                        </a:defRPr>
                      </a:pPr>
                      <a:r>
                        <a:rPr>
                          <a:latin typeface="Inter"/>
                        </a:rPr>
                        <a:t>Historical</a:t>
                      </a:r>
                    </a:p>
                  </a:txBody>
                  <a:tcPr marL="54864" marR="54864" marT="27432" marB="27432" anchor="ctr">
                    <a:solidFill>
                      <a:srgbClr val="FFFFFF"/>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Governed result [S2]</a:t>
                      </a:r>
                    </a:p>
                  </a:txBody>
                  <a:tcPr marL="54864" marR="54864" marT="27432" marB="27432" anchor="ctr">
                    <a:solidFill>
                      <a:srgbClr val="FFFFFF"/>
                    </a:solidFill>
                  </a:tcPr>
                </a:tc>
              </a:tr>
              <a:tr h="1223010">
                <a:tc>
                  <a:txBody>
                    <a:bodyPr/>
                    <a:lstStyle/>
                    <a:p>
                      <a:pPr>
                        <a:defRPr sz="800" b="1">
                          <a:solidFill>
                            <a:srgbClr val="0D1117"/>
                          </a:solidFill>
                          <a:latin typeface="Inter"/>
                        </a:defRPr>
                      </a:pPr>
                      <a:r>
                        <a:rPr>
                          <a:latin typeface="Inter"/>
                        </a:rPr>
                        <a:t>Ex ante</a:t>
                      </a:r>
                    </a:p>
                  </a:txBody>
                  <a:tcPr marL="54864" marR="54864" marT="27432" marB="27432" anchor="ctr">
                    <a:solidFill>
                      <a:srgbClr val="F5F7F9"/>
                    </a:solidFill>
                  </a:tcPr>
                </a:tc>
                <a:tc>
                  <a:txBody>
                    <a:bodyPr/>
                    <a:lstStyle/>
                    <a:p>
                      <a:pPr>
                        <a:defRPr sz="800" b="1">
                          <a:solidFill>
                            <a:srgbClr val="C6F432"/>
                          </a:solidFill>
                          <a:latin typeface="Inter"/>
                        </a:defRPr>
                      </a:pPr>
                      <a:r>
                        <a:rPr>
                          <a:latin typeface="Inter"/>
                        </a:rPr>
                        <a:t>● 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Governed result [S3]</a:t>
                      </a:r>
                    </a:p>
                  </a:txBody>
                  <a:tcPr marL="54864" marR="54864" marT="27432" marB="27432" anchor="ctr">
                    <a:solidFill>
                      <a:srgbClr val="F5F7F9"/>
                    </a:solidFill>
                  </a:tcPr>
                </a:tc>
              </a:tr>
              <a:tr h="1223010">
                <a:tc>
                  <a:txBody>
                    <a:bodyPr/>
                    <a:lstStyle/>
                    <a:p>
                      <a:pPr>
                        <a:defRPr sz="800" b="1">
                          <a:solidFill>
                            <a:srgbClr val="0D1117"/>
                          </a:solidFill>
                          <a:latin typeface="Inter"/>
                        </a:defRPr>
                      </a:pPr>
                      <a:r>
                        <a:rPr>
                          <a:latin typeface="Inter"/>
                        </a:rPr>
                        <a:t>Planned tools</a:t>
                      </a:r>
                    </a:p>
                  </a:txBody>
                  <a:tcPr marL="54864" marR="54864" marT="27432" marB="27432" anchor="ctr">
                    <a:solidFill>
                      <a:srgbClr val="FFFFFF"/>
                    </a:solidFill>
                  </a:tcPr>
                </a:tc>
                <a:tc>
                  <a:txBody>
                    <a:bodyPr/>
                    <a:lstStyle/>
                    <a:p>
                      <a:pPr>
                        <a:defRPr sz="800" b="1">
                          <a:solidFill>
                            <a:srgbClr val="FF6B5E"/>
                          </a:solidFill>
                          <a:latin typeface="Inter"/>
                        </a:defRPr>
                      </a:pPr>
                      <a:r>
                        <a:rPr>
                          <a:latin typeface="Inter"/>
                        </a:rPr>
                        <a:t>● unavailable</a:t>
                      </a:r>
                    </a:p>
                  </a:txBody>
                  <a:tcPr marL="54864" marR="54864" marT="27432" marB="27432" anchor="ctr">
                    <a:solidFill>
                      <a:srgbClr val="F5F7F9"/>
                    </a:solidFill>
                  </a:tcPr>
                </a:tc>
                <a:tc>
                  <a:txBody>
                    <a:bodyPr/>
                    <a:lstStyle/>
                    <a:p>
                      <a:pPr>
                        <a:defRPr sz="800" b="0">
                          <a:solidFill>
                            <a:srgbClr val="0D1117"/>
                          </a:solidFill>
                          <a:latin typeface="Inter"/>
                        </a:defRPr>
                      </a:pPr>
                      <a:r>
                        <a:rPr>
                          <a:latin typeface="Inter"/>
                        </a:rPr>
                        <a:t>Simulation and comparison are planned [S1]</a:t>
                      </a:r>
                    </a:p>
                  </a:txBody>
                  <a:tcPr marL="54864" marR="54864" marT="27432" marB="27432" anchor="ctr">
                    <a:solidFill>
                      <a:srgbClr val="FFFFFF"/>
                    </a:solidFill>
                  </a:tcPr>
                </a:tc>
              </a:tr>
            </a:tbl>
          </a:graphicData>
        </a:graphic>
      </p:graphicFrame>
      <p:sp>
        <p:nvSpPr>
          <p:cNvPr id="9" name="Rectangle 8"/>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a:t>
            </a:r>
          </a:p>
        </p:txBody>
      </p:sp>
      <p:sp>
        <p:nvSpPr>
          <p:cNvPr id="11" name="TextBox 10"/>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2" name="TextBox 11"/>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SOURCE INVENTORY</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Appendix — Sources and methods</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A</a:t>
            </a:r>
          </a:p>
        </p:txBody>
      </p:sp>
      <p:graphicFrame>
        <p:nvGraphicFramePr>
          <p:cNvPr id="8" name="Table 7"/>
          <p:cNvGraphicFramePr>
            <a:graphicFrameLocks noGrp="1"/>
          </p:cNvGraphicFramePr>
          <p:nvPr/>
        </p:nvGraphicFramePr>
        <p:xfrm>
          <a:off x="640080" y="1325880"/>
          <a:ext cx="10908792" cy="1549682"/>
        </p:xfrm>
        <a:graphic>
          <a:graphicData uri="http://schemas.openxmlformats.org/drawingml/2006/table">
            <a:tbl>
              <a:tblPr firstRow="1" bandRow="1">
                <a:tableStyleId>{5C22544A-7EE6-4342-B048-85BDC9FD1C3A}</a:tableStyleId>
              </a:tblPr>
              <a:tblGrid>
                <a:gridCol w="2011680"/>
                <a:gridCol w="1112139"/>
                <a:gridCol w="1112139"/>
                <a:gridCol w="1112139"/>
                <a:gridCol w="1112139"/>
                <a:gridCol w="1112139"/>
                <a:gridCol w="1112139"/>
                <a:gridCol w="1112139"/>
                <a:gridCol w="1112139"/>
              </a:tblGrid>
              <a:tr h="387420">
                <a:tc>
                  <a:txBody>
                    <a:bodyPr/>
                    <a:lstStyle/>
                    <a:p>
                      <a:pPr>
                        <a:defRPr sz="750" b="1">
                          <a:solidFill>
                            <a:srgbClr val="FFFFFF"/>
                          </a:solidFill>
                          <a:latin typeface="Inter"/>
                        </a:defRPr>
                      </a:pPr>
                      <a:r>
                        <a:rPr>
                          <a:latin typeface="Inter"/>
                        </a:rPr>
                        <a:t>Tag</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Evidence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Basis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Tool / view</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Key parameters</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As of</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Data scope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Validation</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Digest</a:t>
                      </a:r>
                    </a:p>
                  </a:txBody>
                  <a:tcPr marL="54864" marR="54864" marT="27432" marB="27432" anchor="ctr">
                    <a:solidFill>
                      <a:srgbClr val="0D1117"/>
                    </a:solidFill>
                  </a:tcPr>
                </a:tc>
              </a:tr>
              <a:tr h="387420">
                <a:tc>
                  <a:txBody>
                    <a:bodyPr/>
                    <a:lstStyle/>
                    <a:p>
                      <a:pPr>
                        <a:defRPr sz="650" b="1">
                          <a:solidFill>
                            <a:srgbClr val="0D1117"/>
                          </a:solidFill>
                          <a:latin typeface="Inter"/>
                        </a:defRPr>
                      </a:pPr>
                      <a:r>
                        <a:rPr>
                          <a:latin typeface="Inter"/>
                        </a:rPr>
                        <a:t>S1</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Capability gate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get_gradient_capabilities</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fixture=true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2026-09-30</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Gradient-governed TEST evidence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sha256:aaaaaaaaaaaaaaaaaaaaaaaaaaaaaaaaaaaaaaaaaaaaaaaaaaaaaaaaaaaaaaaa</a:t>
                      </a:r>
                    </a:p>
                  </a:txBody>
                  <a:tcPr marL="54864" marR="54864" marT="27432" marB="27432" anchor="ctr">
                    <a:solidFill>
                      <a:srgbClr val="FFFFFF"/>
                    </a:solidFill>
                  </a:tcPr>
                </a:tc>
              </a:tr>
              <a:tr h="387420">
                <a:tc>
                  <a:txBody>
                    <a:bodyPr/>
                    <a:lstStyle/>
                    <a:p>
                      <a:pPr>
                        <a:defRPr sz="650" b="1">
                          <a:solidFill>
                            <a:srgbClr val="0D1117"/>
                          </a:solidFill>
                          <a:latin typeface="Inter"/>
                        </a:defRPr>
                      </a:pPr>
                      <a:r>
                        <a:rPr>
                          <a:latin typeface="Inter"/>
                        </a:rPr>
                        <a:t>S2</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Historical attribution</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get_portfolio_attribution</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fixture=true</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2026-09-30</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Gradient-governed TEST evidence</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5F7F9"/>
                    </a:solidFill>
                  </a:tcPr>
                </a:tc>
                <a:tc>
                  <a:txBody>
                    <a:bodyPr/>
                    <a:lstStyle/>
                    <a:p>
                      <a:pPr>
                        <a:defRPr sz="650" b="0">
                          <a:solidFill>
                            <a:srgbClr val="0D1117"/>
                          </a:solidFill>
                          <a:latin typeface="Inter"/>
                        </a:defRPr>
                      </a:pPr>
                      <a:r>
                        <a:rPr>
                          <a:latin typeface="Inter"/>
                        </a:rPr>
                        <a:t>sha256:bbbbbbbbbbbbbbbbbbbbbbbbbbbbbbbbbbbbbbbbbbbbbbbbbbbbbbbbbbbbbbbb</a:t>
                      </a:r>
                    </a:p>
                  </a:txBody>
                  <a:tcPr marL="54864" marR="54864" marT="27432" marB="27432" anchor="ctr">
                    <a:solidFill>
                      <a:srgbClr val="F5F7F9"/>
                    </a:solidFill>
                  </a:tcPr>
                </a:tc>
              </a:tr>
              <a:tr h="387422">
                <a:tc>
                  <a:txBody>
                    <a:bodyPr/>
                    <a:lstStyle/>
                    <a:p>
                      <a:pPr>
                        <a:defRPr sz="650" b="1">
                          <a:solidFill>
                            <a:srgbClr val="0D1117"/>
                          </a:solidFill>
                          <a:latin typeface="Inter"/>
                        </a:defRPr>
                      </a:pPr>
                      <a:r>
                        <a:rPr>
                          <a:latin typeface="Inter"/>
                        </a:rPr>
                        <a:t>S3</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Ex ante attribution</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gradient_tool</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get_portfolio_ex_ante_attribution</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fixture=true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2026-09-30</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Gradient-governed TEST evidence</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passed</a:t>
                      </a:r>
                    </a:p>
                  </a:txBody>
                  <a:tcPr marL="54864" marR="54864" marT="27432" marB="27432" anchor="ctr">
                    <a:solidFill>
                      <a:srgbClr val="FFFFFF"/>
                    </a:solidFill>
                  </a:tcPr>
                </a:tc>
                <a:tc>
                  <a:txBody>
                    <a:bodyPr/>
                    <a:lstStyle/>
                    <a:p>
                      <a:pPr>
                        <a:defRPr sz="650" b="0">
                          <a:solidFill>
                            <a:srgbClr val="0D1117"/>
                          </a:solidFill>
                          <a:latin typeface="Inter"/>
                        </a:defRPr>
                      </a:pPr>
                      <a:r>
                        <a:rPr>
                          <a:latin typeface="Inter"/>
                        </a:rPr>
                        <a:t>sha256:cccccccccccccccccccccccccccccccccccccccccccccccccccccccccccccccc</a:t>
                      </a:r>
                    </a:p>
                  </a:txBody>
                  <a:tcPr marL="54864" marR="54864" marT="27432" marB="27432" anchor="ctr">
                    <a:solidFill>
                      <a:srgbClr val="FFFFFF"/>
                    </a:solidFill>
                  </a:tcPr>
                </a:tc>
              </a:tr>
            </a:tbl>
          </a:graphicData>
        </a:graphic>
      </p:graphicFrame>
      <p:sp>
        <p:nvSpPr>
          <p:cNvPr id="9" name="TextBox 8"/>
          <p:cNvSpPr txBox="1"/>
          <p:nvPr/>
        </p:nvSpPr>
        <p:spPr>
          <a:xfrm>
            <a:off x="640080" y="2985290"/>
            <a:ext cx="10908792" cy="201168"/>
          </a:xfrm>
          <a:prstGeom prst="rect">
            <a:avLst/>
          </a:prstGeom>
          <a:noFill/>
        </p:spPr>
        <p:txBody>
          <a:bodyPr wrap="none" lIns="9144" rIns="9144" tIns="9144" bIns="9144" anchor="t">
            <a:spAutoFit/>
          </a:bodyPr>
          <a:lstStyle/>
          <a:p>
            <a:pPr algn="l">
              <a:spcAft>
                <a:spcPts val="0"/>
              </a:spcAft>
              <a:defRPr sz="720" b="1">
                <a:solidFill>
                  <a:srgbClr val="4A5563"/>
                </a:solidFill>
                <a:latin typeface="Inter"/>
              </a:defRPr>
            </a:pPr>
            <a:r>
              <a:rPr>
                <a:latin typeface="Inter"/>
              </a:rPr>
              <a:t>RETURNED SIGN BY SEGMENT</a:t>
            </a:r>
          </a:p>
        </p:txBody>
      </p:sp>
      <p:graphicFrame>
        <p:nvGraphicFramePr>
          <p:cNvPr id="10" name="Table 9"/>
          <p:cNvGraphicFramePr>
            <a:graphicFrameLocks noGrp="1"/>
          </p:cNvGraphicFramePr>
          <p:nvPr/>
        </p:nvGraphicFramePr>
        <p:xfrm>
          <a:off x="640080" y="3259610"/>
          <a:ext cx="10908792" cy="1409794"/>
        </p:xfrm>
        <a:graphic>
          <a:graphicData uri="http://schemas.openxmlformats.org/drawingml/2006/table">
            <a:tbl>
              <a:tblPr firstRow="1" bandRow="1">
                <a:tableStyleId>{5C22544A-7EE6-4342-B048-85BDC9FD1C3A}</a:tableStyleId>
              </a:tblPr>
              <a:tblGrid>
                <a:gridCol w="2011680"/>
                <a:gridCol w="2224278"/>
                <a:gridCol w="2224278"/>
                <a:gridCol w="2224278"/>
                <a:gridCol w="2224278"/>
              </a:tblGrid>
              <a:tr h="281958">
                <a:tc>
                  <a:txBody>
                    <a:bodyPr/>
                    <a:lstStyle/>
                    <a:p>
                      <a:pPr>
                        <a:defRPr sz="750" b="1">
                          <a:solidFill>
                            <a:srgbClr val="FFFFFF"/>
                          </a:solidFill>
                          <a:latin typeface="Inter"/>
                        </a:defRPr>
                      </a:pPr>
                      <a:r>
                        <a:rPr>
                          <a:latin typeface="Inter"/>
                        </a:rPr>
                        <a:t>Lane</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Segment</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Returned effect</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Returned sign</a:t>
                      </a:r>
                    </a:p>
                  </a:txBody>
                  <a:tcPr marL="54864" marR="54864" marT="27432" marB="27432" anchor="ctr">
                    <a:solidFill>
                      <a:srgbClr val="0D1117"/>
                    </a:solidFill>
                  </a:tcPr>
                </a:tc>
                <a:tc>
                  <a:txBody>
                    <a:bodyPr/>
                    <a:lstStyle/>
                    <a:p>
                      <a:pPr>
                        <a:defRPr sz="750" b="1">
                          <a:solidFill>
                            <a:srgbClr val="FFFFFF"/>
                          </a:solidFill>
                          <a:latin typeface="Inter"/>
                        </a:defRPr>
                      </a:pPr>
                      <a:r>
                        <a:rPr>
                          <a:latin typeface="Inter"/>
                        </a:rPr>
                        <a:t>Source</a:t>
                      </a:r>
                    </a:p>
                  </a:txBody>
                  <a:tcPr marL="54864" marR="54864" marT="27432" marB="27432" anchor="ctr">
                    <a:solidFill>
                      <a:srgbClr val="0D1117"/>
                    </a:solidFill>
                  </a:tcPr>
                </a:tc>
              </a:tr>
              <a:tr h="281958">
                <a:tc>
                  <a:txBody>
                    <a:bodyPr/>
                    <a:lstStyle/>
                    <a:p>
                      <a:pPr>
                        <a:defRPr sz="720" b="1">
                          <a:solidFill>
                            <a:srgbClr val="0D1117"/>
                          </a:solidFill>
                          <a:latin typeface="Inter"/>
                        </a:defRPr>
                      </a:pPr>
                      <a:r>
                        <a:rPr>
                          <a:latin typeface="Inter"/>
                        </a:rPr>
                        <a:t>Historical</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Public Equity</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+0.2pp</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Positive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[S2]</a:t>
                      </a:r>
                    </a:p>
                  </a:txBody>
                  <a:tcPr marL="54864" marR="54864" marT="27432" marB="27432" anchor="ctr">
                    <a:solidFill>
                      <a:srgbClr val="FFFFFF"/>
                    </a:solidFill>
                  </a:tcPr>
                </a:tc>
              </a:tr>
              <a:tr h="281958">
                <a:tc>
                  <a:txBody>
                    <a:bodyPr/>
                    <a:lstStyle/>
                    <a:p>
                      <a:pPr>
                        <a:defRPr sz="720" b="1">
                          <a:solidFill>
                            <a:srgbClr val="0D1117"/>
                          </a:solidFill>
                          <a:latin typeface="Inter"/>
                        </a:defRPr>
                      </a:pPr>
                      <a:r>
                        <a:rPr>
                          <a:latin typeface="Inter"/>
                        </a:rPr>
                        <a:t>Historical</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Alternatives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-0.8pp</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Negative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[S2]</a:t>
                      </a:r>
                    </a:p>
                  </a:txBody>
                  <a:tcPr marL="54864" marR="54864" marT="27432" marB="27432" anchor="ctr">
                    <a:solidFill>
                      <a:srgbClr val="F5F7F9"/>
                    </a:solidFill>
                  </a:tcPr>
                </a:tc>
              </a:tr>
              <a:tr h="281958">
                <a:tc>
                  <a:txBody>
                    <a:bodyPr/>
                    <a:lstStyle/>
                    <a:p>
                      <a:pPr>
                        <a:defRPr sz="720" b="1">
                          <a:solidFill>
                            <a:srgbClr val="0D1117"/>
                          </a:solidFill>
                          <a:latin typeface="Inter"/>
                        </a:defRPr>
                      </a:pPr>
                      <a:r>
                        <a:rPr>
                          <a:latin typeface="Inter"/>
                        </a:rPr>
                        <a:t>Governed ex ante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Public Equity</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+0.27pp</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Positive</a:t>
                      </a:r>
                    </a:p>
                  </a:txBody>
                  <a:tcPr marL="54864" marR="54864" marT="27432" marB="27432" anchor="ctr">
                    <a:solidFill>
                      <a:srgbClr val="FFFFFF"/>
                    </a:solidFill>
                  </a:tcPr>
                </a:tc>
                <a:tc>
                  <a:txBody>
                    <a:bodyPr/>
                    <a:lstStyle/>
                    <a:p>
                      <a:pPr>
                        <a:defRPr sz="720" b="0">
                          <a:solidFill>
                            <a:srgbClr val="0D1117"/>
                          </a:solidFill>
                          <a:latin typeface="Inter"/>
                        </a:defRPr>
                      </a:pPr>
                      <a:r>
                        <a:rPr>
                          <a:latin typeface="Inter"/>
                        </a:rPr>
                        <a:t>[S3]</a:t>
                      </a:r>
                    </a:p>
                  </a:txBody>
                  <a:tcPr marL="54864" marR="54864" marT="27432" marB="27432" anchor="ctr">
                    <a:solidFill>
                      <a:srgbClr val="FFFFFF"/>
                    </a:solidFill>
                  </a:tcPr>
                </a:tc>
              </a:tr>
              <a:tr h="281962">
                <a:tc>
                  <a:txBody>
                    <a:bodyPr/>
                    <a:lstStyle/>
                    <a:p>
                      <a:pPr>
                        <a:defRPr sz="720" b="1">
                          <a:solidFill>
                            <a:srgbClr val="0D1117"/>
                          </a:solidFill>
                          <a:latin typeface="Inter"/>
                        </a:defRPr>
                      </a:pPr>
                      <a:r>
                        <a:rPr>
                          <a:latin typeface="Inter"/>
                        </a:rPr>
                        <a:t>Governed ex ante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Alternatives</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+0.08pp</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Positive</a:t>
                      </a:r>
                    </a:p>
                  </a:txBody>
                  <a:tcPr marL="54864" marR="54864" marT="27432" marB="27432" anchor="ctr">
                    <a:solidFill>
                      <a:srgbClr val="F5F7F9"/>
                    </a:solidFill>
                  </a:tcPr>
                </a:tc>
                <a:tc>
                  <a:txBody>
                    <a:bodyPr/>
                    <a:lstStyle/>
                    <a:p>
                      <a:pPr>
                        <a:defRPr sz="720" b="0">
                          <a:solidFill>
                            <a:srgbClr val="0D1117"/>
                          </a:solidFill>
                          <a:latin typeface="Inter"/>
                        </a:defRPr>
                      </a:pPr>
                      <a:r>
                        <a:rPr>
                          <a:latin typeface="Inter"/>
                        </a:rPr>
                        <a:t>[S3]</a:t>
                      </a:r>
                    </a:p>
                  </a:txBody>
                  <a:tcPr marL="54864" marR="54864" marT="27432" marB="27432" anchor="ctr">
                    <a:solidFill>
                      <a:srgbClr val="F5F7F9"/>
                    </a:solidFill>
                  </a:tcPr>
                </a:tc>
              </a:tr>
            </a:tbl>
          </a:graphicData>
        </a:graphic>
      </p:graphicFrame>
      <p:sp>
        <p:nvSpPr>
          <p:cNvPr id="11" name="TextBox 10"/>
          <p:cNvSpPr txBox="1"/>
          <p:nvPr/>
        </p:nvSpPr>
        <p:spPr>
          <a:xfrm>
            <a:off x="640080" y="4687692"/>
            <a:ext cx="10908792" cy="164592"/>
          </a:xfrm>
          <a:prstGeom prst="rect">
            <a:avLst/>
          </a:prstGeom>
          <a:noFill/>
        </p:spPr>
        <p:txBody>
          <a:bodyPr wrap="none" lIns="9144" rIns="9144" tIns="9144" bIns="9144" anchor="t">
            <a:spAutoFit/>
          </a:bodyPr>
          <a:lstStyle/>
          <a:p>
            <a:pPr algn="l">
              <a:spcAft>
                <a:spcPts val="0"/>
              </a:spcAft>
              <a:defRPr sz="680" b="0">
                <a:solidFill>
                  <a:srgbClr val="8A94A1"/>
                </a:solidFill>
                <a:latin typeface="Inter"/>
              </a:defRPr>
            </a:pPr>
            <a:r>
              <a:rPr>
                <a:latin typeface="Inter"/>
              </a:rPr>
              <a:t>Signs classify returned effects only; no cross-lane arithmetic [S2][S3].</a:t>
            </a:r>
          </a:p>
        </p:txBody>
      </p:sp>
      <p:sp>
        <p:nvSpPr>
          <p:cNvPr id="12" name="Rectangle 11"/>
          <p:cNvSpPr/>
          <p:nvPr/>
        </p:nvSpPr>
        <p:spPr>
          <a:xfrm>
            <a:off x="640080" y="4980300"/>
            <a:ext cx="10908792" cy="1237619"/>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Rectangle 12"/>
          <p:cNvSpPr/>
          <p:nvPr/>
        </p:nvSpPr>
        <p:spPr>
          <a:xfrm>
            <a:off x="640080" y="4980300"/>
            <a:ext cx="54864" cy="1237619"/>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4" name="TextBox 13"/>
          <p:cNvSpPr txBox="1"/>
          <p:nvPr/>
        </p:nvSpPr>
        <p:spPr>
          <a:xfrm>
            <a:off x="804671" y="5090028"/>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Method boundary</a:t>
            </a:r>
          </a:p>
        </p:txBody>
      </p:sp>
      <p:sp>
        <p:nvSpPr>
          <p:cNvPr id="15" name="TextBox 14"/>
          <p:cNvSpPr txBox="1"/>
          <p:nvPr/>
        </p:nvSpPr>
        <p:spPr>
          <a:xfrm>
            <a:off x="804671" y="5373492"/>
            <a:ext cx="10616184" cy="752987"/>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Each lane remains on its returned method, period or horizon, benchmark role, parent cohort and calculation currency. Historical evidence is realized, ex ante evidence is expected, and simulated evidence is scenario-based. Values are displayed without local reconciliation, attribution arithmetic or substitutions [S1][S2][S3].</a:t>
            </a:r>
          </a:p>
        </p:txBody>
      </p:sp>
      <p:sp>
        <p:nvSpPr>
          <p:cNvPr id="16" name="Rectangle 15"/>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7" name="TextBox 16"/>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 · S2 · S3</a:t>
            </a:r>
          </a:p>
        </p:txBody>
      </p:sp>
      <p:sp>
        <p:nvSpPr>
          <p:cNvPr id="18" name="TextBox 17"/>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9" name="TextBox 18"/>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3" name="TextBox 2"/>
          <p:cNvSpPr txBox="1"/>
          <p:nvPr/>
        </p:nvSpPr>
        <p:spPr>
          <a:xfrm>
            <a:off x="640080" y="329184"/>
            <a:ext cx="9875520" cy="182880"/>
          </a:xfrm>
          <a:prstGeom prst="rect">
            <a:avLst/>
          </a:prstGeom>
          <a:noFill/>
        </p:spPr>
        <p:txBody>
          <a:bodyPr wrap="none" lIns="9144" rIns="9144" tIns="9144" bIns="9144" anchor="t">
            <a:spAutoFit/>
          </a:bodyPr>
          <a:lstStyle/>
          <a:p>
            <a:pPr algn="l">
              <a:spcAft>
                <a:spcPts val="0"/>
              </a:spcAft>
              <a:defRPr sz="750" b="1">
                <a:solidFill>
                  <a:srgbClr val="4F6B00"/>
                </a:solidFill>
                <a:latin typeface="Inter"/>
              </a:defRPr>
            </a:pPr>
            <a:r>
              <a:rPr>
                <a:latin typeface="Inter"/>
              </a:rPr>
              <a:t>GOVERNED SOURCE INVENTORY</a:t>
            </a:r>
          </a:p>
        </p:txBody>
      </p:sp>
      <p:sp>
        <p:nvSpPr>
          <p:cNvPr id="4" name="TextBox 3"/>
          <p:cNvSpPr txBox="1"/>
          <p:nvPr/>
        </p:nvSpPr>
        <p:spPr>
          <a:xfrm>
            <a:off x="640080" y="566928"/>
            <a:ext cx="10058400" cy="530352"/>
          </a:xfrm>
          <a:prstGeom prst="rect">
            <a:avLst/>
          </a:prstGeom>
          <a:noFill/>
        </p:spPr>
        <p:txBody>
          <a:bodyPr wrap="none" lIns="9144" rIns="9144" tIns="9144" bIns="9144" anchor="t">
            <a:spAutoFit/>
          </a:bodyPr>
          <a:lstStyle/>
          <a:p>
            <a:pPr algn="l">
              <a:spcAft>
                <a:spcPts val="0"/>
              </a:spcAft>
              <a:defRPr sz="2300" b="1">
                <a:solidFill>
                  <a:srgbClr val="0D1117"/>
                </a:solidFill>
                <a:latin typeface="Inter"/>
              </a:defRPr>
            </a:pPr>
            <a:r>
              <a:rPr>
                <a:latin typeface="Inter"/>
              </a:rPr>
              <a:t>Appendix — Sources and methods — continued</a:t>
            </a:r>
          </a:p>
        </p:txBody>
      </p:sp>
      <p:sp>
        <p:nvSpPr>
          <p:cNvPr id="5" name="Rectangle 4"/>
          <p:cNvSpPr/>
          <p:nvPr/>
        </p:nvSpPr>
        <p:spPr>
          <a:xfrm>
            <a:off x="640080" y="1115568"/>
            <a:ext cx="10908792" cy="18288"/>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6" name="Rectangle 5"/>
          <p:cNvSpPr/>
          <p:nvPr/>
        </p:nvSpPr>
        <p:spPr>
          <a:xfrm>
            <a:off x="11018520" y="502920"/>
            <a:ext cx="530352" cy="393192"/>
          </a:xfrm>
          <a:prstGeom prst="rect">
            <a:avLst/>
          </a:prstGeom>
          <a:solidFill>
            <a:srgbClr val="9AA5B1"/>
          </a:solidFill>
          <a:ln>
            <a:solidFill>
              <a:srgbClr val="9AA5B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7" name="TextBox 6"/>
          <p:cNvSpPr txBox="1"/>
          <p:nvPr/>
        </p:nvSpPr>
        <p:spPr>
          <a:xfrm>
            <a:off x="11045952" y="557784"/>
            <a:ext cx="475488" cy="182880"/>
          </a:xfrm>
          <a:prstGeom prst="rect">
            <a:avLst/>
          </a:prstGeom>
          <a:noFill/>
        </p:spPr>
        <p:txBody>
          <a:bodyPr wrap="none" lIns="9144" rIns="9144" tIns="9144" bIns="9144" anchor="t">
            <a:spAutoFit/>
          </a:bodyPr>
          <a:lstStyle/>
          <a:p>
            <a:pPr algn="ctr">
              <a:spcAft>
                <a:spcPts val="0"/>
              </a:spcAft>
              <a:defRPr sz="1000" b="1">
                <a:solidFill>
                  <a:srgbClr val="0D1117"/>
                </a:solidFill>
                <a:latin typeface="Inter"/>
              </a:defRPr>
            </a:pPr>
            <a:r>
              <a:rPr>
                <a:latin typeface="Inter"/>
              </a:rPr>
              <a:t>A</a:t>
            </a:r>
          </a:p>
        </p:txBody>
      </p:sp>
      <p:sp>
        <p:nvSpPr>
          <p:cNvPr id="8" name="Rectangle 7"/>
          <p:cNvSpPr/>
          <p:nvPr/>
        </p:nvSpPr>
        <p:spPr>
          <a:xfrm>
            <a:off x="640080" y="1325880"/>
            <a:ext cx="10908792" cy="4892040"/>
          </a:xfrm>
          <a:prstGeom prst="rect">
            <a:avLst/>
          </a:prstGeom>
          <a:solidFill>
            <a:srgbClr val="F5F7F9"/>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9" name="Rectangle 8"/>
          <p:cNvSpPr/>
          <p:nvPr/>
        </p:nvSpPr>
        <p:spPr>
          <a:xfrm>
            <a:off x="640080" y="1325880"/>
            <a:ext cx="54864" cy="4892040"/>
          </a:xfrm>
          <a:prstGeom prst="rect">
            <a:avLst/>
          </a:prstGeom>
          <a:solidFill>
            <a:srgbClr val="0D1117"/>
          </a:solidFill>
          <a:ln>
            <a:solidFill>
              <a:srgbClr val="0D1117"/>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0" name="TextBox 9"/>
          <p:cNvSpPr txBox="1"/>
          <p:nvPr/>
        </p:nvSpPr>
        <p:spPr>
          <a:xfrm>
            <a:off x="804671" y="1435607"/>
            <a:ext cx="10616184" cy="228600"/>
          </a:xfrm>
          <a:prstGeom prst="rect">
            <a:avLst/>
          </a:prstGeom>
          <a:noFill/>
        </p:spPr>
        <p:txBody>
          <a:bodyPr wrap="none" lIns="9144" rIns="9144" tIns="9144" bIns="9144" anchor="t">
            <a:spAutoFit/>
          </a:bodyPr>
          <a:lstStyle/>
          <a:p>
            <a:pPr algn="l">
              <a:spcAft>
                <a:spcPts val="0"/>
              </a:spcAft>
              <a:defRPr sz="1000" b="1">
                <a:solidFill>
                  <a:srgbClr val="0D1117"/>
                </a:solidFill>
                <a:latin typeface="Inter"/>
              </a:defRPr>
            </a:pPr>
            <a:r>
              <a:rPr>
                <a:latin typeface="Inter"/>
              </a:rPr>
              <a:t>Comparison boundary</a:t>
            </a:r>
          </a:p>
        </p:txBody>
      </p:sp>
      <p:sp>
        <p:nvSpPr>
          <p:cNvPr id="11" name="TextBox 10"/>
          <p:cNvSpPr txBox="1"/>
          <p:nvPr/>
        </p:nvSpPr>
        <p:spPr>
          <a:xfrm>
            <a:off x="804671" y="1719072"/>
            <a:ext cx="10616184" cy="4407408"/>
          </a:xfrm>
          <a:prstGeom prst="rect">
            <a:avLst/>
          </a:prstGeom>
          <a:noFill/>
        </p:spPr>
        <p:txBody>
          <a:bodyPr wrap="none" lIns="9144" rIns="9144" tIns="9144" bIns="9144" anchor="t">
            <a:spAutoFit/>
          </a:bodyPr>
          <a:lstStyle/>
          <a:p>
            <a:pPr algn="l">
              <a:spcAft>
                <a:spcPts val="0"/>
              </a:spcAft>
              <a:defRPr sz="950" b="0">
                <a:solidFill>
                  <a:srgbClr val="4A5563"/>
                </a:solidFill>
                <a:latin typeface="Inter"/>
              </a:defRPr>
            </a:pPr>
            <a:r>
              <a:rPr>
                <a:latin typeface="Inter"/>
              </a:rPr>
              <a:t>Cross-lane differences, concentration, overlap, reconciliation and persistence are reported only when the governed comparison capability returns them. Capability absence is an evidence limitation, not a zero value or a failed lane. Request IDs, diagnostics, residuals and coverage remain attached to their source payloads [S1].</a:t>
            </a:r>
          </a:p>
        </p:txBody>
      </p:sp>
      <p:sp>
        <p:nvSpPr>
          <p:cNvPr id="12" name="Rectangle 11"/>
          <p:cNvSpPr/>
          <p:nvPr/>
        </p:nvSpPr>
        <p:spPr>
          <a:xfrm>
            <a:off x="640080" y="6446520"/>
            <a:ext cx="10908792" cy="9144"/>
          </a:xfrm>
          <a:prstGeom prst="rect">
            <a:avLst/>
          </a:prstGeom>
          <a:solidFill>
            <a:srgbClr val="E3E7EC"/>
          </a:solidFill>
          <a:ln>
            <a:solidFill>
              <a:srgbClr val="E3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Inter"/>
              </a:defRPr>
            </a:pPr>
          </a:p>
        </p:txBody>
      </p:sp>
      <p:sp>
        <p:nvSpPr>
          <p:cNvPr id="13" name="TextBox 12"/>
          <p:cNvSpPr txBox="1"/>
          <p:nvPr/>
        </p:nvSpPr>
        <p:spPr>
          <a:xfrm>
            <a:off x="640080" y="6501384"/>
            <a:ext cx="4297680" cy="146304"/>
          </a:xfrm>
          <a:prstGeom prst="rect">
            <a:avLst/>
          </a:prstGeom>
          <a:noFill/>
        </p:spPr>
        <p:txBody>
          <a:bodyPr wrap="none" lIns="9144" rIns="9144" tIns="9144" bIns="9144" anchor="t">
            <a:spAutoFit/>
          </a:bodyPr>
          <a:lstStyle/>
          <a:p>
            <a:pPr algn="l">
              <a:spcAft>
                <a:spcPts val="0"/>
              </a:spcAft>
              <a:defRPr sz="650" b="0">
                <a:solidFill>
                  <a:srgbClr val="8A94A1"/>
                </a:solidFill>
                <a:latin typeface="Inter"/>
              </a:defRPr>
            </a:pPr>
            <a:r>
              <a:rPr>
                <a:latin typeface="Inter"/>
              </a:rPr>
              <a:t>Sources: S1</a:t>
            </a:r>
          </a:p>
        </p:txBody>
      </p:sp>
      <p:sp>
        <p:nvSpPr>
          <p:cNvPr id="14" name="TextBox 13"/>
          <p:cNvSpPr txBox="1"/>
          <p:nvPr/>
        </p:nvSpPr>
        <p:spPr>
          <a:xfrm>
            <a:off x="4480560" y="6501384"/>
            <a:ext cx="5303520" cy="146304"/>
          </a:xfrm>
          <a:prstGeom prst="rect">
            <a:avLst/>
          </a:prstGeom>
          <a:noFill/>
        </p:spPr>
        <p:txBody>
          <a:bodyPr wrap="none" lIns="9144" rIns="9144" tIns="9144" bIns="9144" anchor="t">
            <a:spAutoFit/>
          </a:bodyPr>
          <a:lstStyle/>
          <a:p>
            <a:pPr algn="ctr">
              <a:spcAft>
                <a:spcPts val="0"/>
              </a:spcAft>
              <a:defRPr sz="650" b="0">
                <a:solidFill>
                  <a:srgbClr val="8A94A1"/>
                </a:solidFill>
                <a:latin typeface="Inter"/>
              </a:defRPr>
            </a:pPr>
            <a:r>
              <a:rPr>
                <a:latin typeface="Inter"/>
              </a:rPr>
              <a:t>Confidential — prepared for internal investment use · Data as of 2026-09-30</a:t>
            </a:r>
          </a:p>
        </p:txBody>
      </p:sp>
      <p:sp>
        <p:nvSpPr>
          <p:cNvPr id="15" name="TextBox 14"/>
          <p:cNvSpPr txBox="1"/>
          <p:nvPr/>
        </p:nvSpPr>
        <p:spPr>
          <a:xfrm>
            <a:off x="10287000" y="6501384"/>
            <a:ext cx="1261872" cy="146304"/>
          </a:xfrm>
          <a:prstGeom prst="rect">
            <a:avLst/>
          </a:prstGeom>
          <a:noFill/>
        </p:spPr>
        <p:txBody>
          <a:bodyPr wrap="none" lIns="9144" rIns="9144" tIns="9144" bIns="9144" anchor="t">
            <a:spAutoFit/>
          </a:bodyPr>
          <a:lstStyle/>
          <a:p>
            <a:pPr algn="r">
              <a:spcAft>
                <a:spcPts val="0"/>
              </a:spcAft>
              <a:defRPr sz="650" b="0">
                <a:solidFill>
                  <a:srgbClr val="8A94A1"/>
                </a:solidFill>
                <a:latin typeface="Inter"/>
              </a:defRPr>
            </a:pPr>
            <a:r>
              <a:rPr>
                <a:latin typeface="Inter"/>
              </a:rPr>
              <a:t>23</a:t>
            </a:r>
          </a:p>
        </p:txBody>
      </p:sp>
    </p:spTree>
  </p:cSld>
  <p:clrMapOvr>
    <a:masterClrMapping/>
  </p:clrMapOvr>
</p:sld>
</file>

<file path=ppt/theme/theme1.xml><?xml version="1.0" encoding="utf-8"?>
<a:theme xmlns:a="http://schemas.openxmlformats.org/drawingml/2006/main" name="Office Theme">
  <a:themeElements>
    <a:clrScheme name="Office">
      <a:dk1>
        <a:srgbClr val="0D1117"/>
      </a:dk1>
      <a:lt1>
        <a:srgbClr val="FFFFFF"/>
      </a:lt1>
      <a:dk2>
        <a:srgbClr val="161C24"/>
      </a:dk2>
      <a:lt2>
        <a:srgbClr val="F5F7F9"/>
      </a:lt2>
      <a:accent1>
        <a:srgbClr val="C6F432"/>
      </a:accent1>
      <a:accent2>
        <a:srgbClr val="4F6B00"/>
      </a:accent2>
      <a:accent3>
        <a:srgbClr val="F2A93B"/>
      </a:accent3>
      <a:accent4>
        <a:srgbClr val="5B8DEF"/>
      </a:accent4>
      <a:accent5>
        <a:srgbClr val="FF6B5E"/>
      </a:accent5>
      <a:accent6>
        <a:srgbClr val="3FB8AF"/>
      </a:accent6>
      <a:hlink>
        <a:srgbClr val="0000FF"/>
      </a:hlink>
      <a:folHlink>
        <a:srgbClr val="800080"/>
      </a:folHlink>
    </a:clrScheme>
    <a:fontScheme name="Office">
      <a:majorFont>
        <a:latin typeface="Inter"/>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Total Plan - Demo Portfolio (Illustrative, Gradient Maintained) Attribution Comparison</dc:title>
  <dc:subject>Attribution Comparison</dc:subject>
  <dc:creator>GradientCIO</dc:creator>
  <cp:keywords>Gradient report theme 2.2.0</cp:keywords>
  <dc:description>generated using python-pptx</dc:description>
  <cp:lastModifiedBy>GradientCIO</cp:lastModifiedBy>
  <cp:revision>1</cp:revision>
  <dcterms:created xsi:type="dcterms:W3CDTF">2020-01-01T00:00:00Z</dcterms:created>
  <dcterms:modified xsi:type="dcterms:W3CDTF">2020-01-01T00:00:00Z</dcterms:modified>
  <cp:category/>
</cp:coreProperties>
</file>